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329" r:id="rId2"/>
    <p:sldId id="358" r:id="rId3"/>
    <p:sldId id="359" r:id="rId4"/>
    <p:sldId id="361" r:id="rId5"/>
    <p:sldId id="360" r:id="rId6"/>
    <p:sldId id="362" r:id="rId7"/>
    <p:sldId id="364" r:id="rId8"/>
    <p:sldId id="363" r:id="rId9"/>
    <p:sldId id="368" r:id="rId10"/>
    <p:sldId id="374" r:id="rId11"/>
    <p:sldId id="365" r:id="rId12"/>
    <p:sldId id="369" r:id="rId13"/>
    <p:sldId id="370" r:id="rId14"/>
    <p:sldId id="380" r:id="rId15"/>
    <p:sldId id="371" r:id="rId16"/>
    <p:sldId id="372" r:id="rId17"/>
    <p:sldId id="373" r:id="rId18"/>
    <p:sldId id="375" r:id="rId19"/>
    <p:sldId id="366" r:id="rId20"/>
    <p:sldId id="377" r:id="rId21"/>
    <p:sldId id="378" r:id="rId22"/>
    <p:sldId id="379" r:id="rId23"/>
    <p:sldId id="382" r:id="rId24"/>
    <p:sldId id="383" r:id="rId25"/>
    <p:sldId id="376" r:id="rId26"/>
    <p:sldId id="367" r:id="rId27"/>
    <p:sldId id="384" r:id="rId28"/>
    <p:sldId id="381" r:id="rId29"/>
    <p:sldId id="385" r:id="rId30"/>
    <p:sldId id="386" r:id="rId31"/>
    <p:sldId id="387" r:id="rId32"/>
    <p:sldId id="388" r:id="rId33"/>
    <p:sldId id="260" r:id="rId34"/>
    <p:sldId id="389" r:id="rId35"/>
    <p:sldId id="390" r:id="rId36"/>
    <p:sldId id="393" r:id="rId37"/>
    <p:sldId id="392" r:id="rId38"/>
    <p:sldId id="391" r:id="rId39"/>
    <p:sldId id="399" r:id="rId40"/>
    <p:sldId id="398" r:id="rId41"/>
    <p:sldId id="400" r:id="rId42"/>
    <p:sldId id="401" r:id="rId43"/>
    <p:sldId id="402" r:id="rId44"/>
    <p:sldId id="403" r:id="rId45"/>
    <p:sldId id="404" r:id="rId46"/>
    <p:sldId id="310" r:id="rId47"/>
    <p:sldId id="405" r:id="rId48"/>
    <p:sldId id="406" r:id="rId49"/>
    <p:sldId id="407" r:id="rId50"/>
    <p:sldId id="408" r:id="rId51"/>
    <p:sldId id="316" r:id="rId52"/>
    <p:sldId id="409" r:id="rId53"/>
    <p:sldId id="271" r:id="rId54"/>
    <p:sldId id="410" r:id="rId55"/>
    <p:sldId id="262" r:id="rId56"/>
    <p:sldId id="411" r:id="rId57"/>
    <p:sldId id="412" r:id="rId58"/>
    <p:sldId id="413" r:id="rId59"/>
    <p:sldId id="414" r:id="rId60"/>
    <p:sldId id="415" r:id="rId61"/>
    <p:sldId id="416" r:id="rId62"/>
    <p:sldId id="417" r:id="rId63"/>
    <p:sldId id="418" r:id="rId64"/>
    <p:sldId id="419" r:id="rId65"/>
    <p:sldId id="420" r:id="rId66"/>
    <p:sldId id="421" r:id="rId67"/>
  </p:sldIdLst>
  <p:sldSz cx="9144000" cy="6858000" type="screen4x3"/>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73" autoAdjust="0"/>
    <p:restoredTop sz="90387" autoAdjust="0"/>
  </p:normalViewPr>
  <p:slideViewPr>
    <p:cSldViewPr>
      <p:cViewPr varScale="1">
        <p:scale>
          <a:sx n="83" d="100"/>
          <a:sy n="83" d="100"/>
        </p:scale>
        <p:origin x="1421"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06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1"/>
            <a:ext cx="2945659" cy="493713"/>
          </a:xfrm>
          <a:prstGeom prst="rect">
            <a:avLst/>
          </a:prstGeom>
        </p:spPr>
        <p:txBody>
          <a:bodyPr vert="horz" lIns="91440" tIns="45720" rIns="91440" bIns="45720" rtlCol="0"/>
          <a:lstStyle>
            <a:lvl1pPr algn="r">
              <a:defRPr sz="1200"/>
            </a:lvl1pPr>
          </a:lstStyle>
          <a:p>
            <a:fld id="{586E5146-FD07-4142-91E5-F4903203624F}" type="datetimeFigureOut">
              <a:rPr lang="en-US" smtClean="0"/>
              <a:pPr/>
              <a:t>7/24/2025</a:t>
            </a:fld>
            <a:endParaRPr lang="en-US"/>
          </a:p>
        </p:txBody>
      </p:sp>
      <p:sp>
        <p:nvSpPr>
          <p:cNvPr id="4" name="Slide Image Placeholder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690270"/>
            <a:ext cx="5438140" cy="44434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5"/>
            <a:ext cx="2945659" cy="4937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378825"/>
            <a:ext cx="2945659" cy="493713"/>
          </a:xfrm>
          <a:prstGeom prst="rect">
            <a:avLst/>
          </a:prstGeom>
        </p:spPr>
        <p:txBody>
          <a:bodyPr vert="horz" lIns="91440" tIns="45720" rIns="91440" bIns="45720" rtlCol="0" anchor="b"/>
          <a:lstStyle>
            <a:lvl1pPr algn="r">
              <a:defRPr sz="1200"/>
            </a:lvl1pPr>
          </a:lstStyle>
          <a:p>
            <a:fld id="{D923E61B-9923-41E8-A048-1B57D195D0C6}" type="slidenum">
              <a:rPr lang="en-US" smtClean="0"/>
              <a:pPr/>
              <a:t>‹#›</a:t>
            </a:fld>
            <a:endParaRPr lang="en-US"/>
          </a:p>
        </p:txBody>
      </p:sp>
    </p:spTree>
    <p:extLst>
      <p:ext uri="{BB962C8B-B14F-4D97-AF65-F5344CB8AC3E}">
        <p14:creationId xmlns:p14="http://schemas.microsoft.com/office/powerpoint/2010/main" val="664279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13</a:t>
            </a:fld>
            <a:endParaRPr lang="en-US"/>
          </a:p>
        </p:txBody>
      </p:sp>
    </p:spTree>
    <p:extLst>
      <p:ext uri="{BB962C8B-B14F-4D97-AF65-F5344CB8AC3E}">
        <p14:creationId xmlns:p14="http://schemas.microsoft.com/office/powerpoint/2010/main" val="587855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37268E00-42F3-4E29-9D29-559DF3C9F2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0F81C420-9890-4D12-9C22-9CB21CD740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MS Pゴシック" charset="0"/>
              <a:cs typeface="MS Pゴシック" charset="0"/>
            </a:endParaRPr>
          </a:p>
        </p:txBody>
      </p:sp>
      <p:sp>
        <p:nvSpPr>
          <p:cNvPr id="22532" name="Slide Number Placeholder 3">
            <a:extLst>
              <a:ext uri="{FF2B5EF4-FFF2-40B4-BE49-F238E27FC236}">
                <a16:creationId xmlns:a16="http://schemas.microsoft.com/office/drawing/2014/main" id="{C70B5000-B836-427C-A9BA-BA7C4A99A1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fld id="{A77F6CC2-CEBE-47EB-BD8E-2FCFD047C870}" type="slidenum">
              <a:rPr lang="en-US" altLang="en-US" smtClean="0">
                <a:ea typeface="Osaka" charset="-128"/>
              </a:rPr>
              <a:pPr eaLnBrk="0" hangingPunct="0"/>
              <a:t>42</a:t>
            </a:fld>
            <a:endParaRPr lang="en-US" altLang="en-US">
              <a:ea typeface="Osaka"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Choose the service you need.</a:t>
            </a:r>
          </a:p>
        </p:txBody>
      </p:sp>
      <p:pic>
        <p:nvPicPr>
          <p:cNvPr id="84996" name="Picture 4" descr="http://www.wexla.com/images/service_concierge.jpg"/>
          <p:cNvPicPr>
            <a:picLocks noChangeAspect="1" noChangeArrowheads="1"/>
          </p:cNvPicPr>
          <p:nvPr/>
        </p:nvPicPr>
        <p:blipFill>
          <a:blip r:embed="rId2" cstate="print"/>
          <a:srcRect r="7570"/>
          <a:stretch>
            <a:fillRect/>
          </a:stretch>
        </p:blipFill>
        <p:spPr bwMode="auto">
          <a:xfrm flipH="1">
            <a:off x="2598754" y="381000"/>
            <a:ext cx="6164246" cy="3124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C:\Users\Andy\AppData\Local\Microsoft\Windows\Temporary Internet Files\Content.IE5\IBKPY4TO\MPj04422330000[1].jpg"/>
          <p:cNvPicPr>
            <a:picLocks noChangeAspect="1" noChangeArrowheads="1"/>
          </p:cNvPicPr>
          <p:nvPr/>
        </p:nvPicPr>
        <p:blipFill>
          <a:blip r:embed="rId2" cstate="print"/>
          <a:srcRect r="6587" b="6666"/>
          <a:stretch>
            <a:fillRect/>
          </a:stretch>
        </p:blipFill>
        <p:spPr bwMode="auto">
          <a:xfrm>
            <a:off x="5105400" y="1371600"/>
            <a:ext cx="3733800" cy="5341408"/>
          </a:xfrm>
          <a:prstGeom prst="roundRect">
            <a:avLst>
              <a:gd name="adj" fmla="val 603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1971769" y="228600"/>
            <a:ext cx="520046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 Simple Analogy</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Rectangle 4"/>
          <p:cNvSpPr/>
          <p:nvPr/>
        </p:nvSpPr>
        <p:spPr>
          <a:xfrm>
            <a:off x="457200" y="2360474"/>
            <a:ext cx="5791200" cy="1754326"/>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Say, you just moved to a city and you are looking for a place to live.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Andy\AppData\Local\Microsoft\Windows\Temporary Internet Files\Content.IE5\T087QNPU\MPj04225340000[1].jpg"/>
          <p:cNvPicPr>
            <a:picLocks noChangeAspect="1" noChangeArrowheads="1"/>
          </p:cNvPicPr>
          <p:nvPr/>
        </p:nvPicPr>
        <p:blipFill>
          <a:blip r:embed="rId2" cstate="print"/>
          <a:srcRect b="6836"/>
          <a:stretch>
            <a:fillRect/>
          </a:stretch>
        </p:blipFill>
        <p:spPr bwMode="auto">
          <a:xfrm>
            <a:off x="1828800" y="1219200"/>
            <a:ext cx="6908799" cy="5181600"/>
          </a:xfrm>
          <a:prstGeom prst="roundRect">
            <a:avLst>
              <a:gd name="adj" fmla="val 501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1417647" y="228600"/>
            <a:ext cx="6308715"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What is your choice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639076" y="4113074"/>
            <a:ext cx="4409990" cy="1754326"/>
          </a:xfrm>
          <a:prstGeom prst="rect">
            <a:avLst/>
          </a:prstGeom>
          <a:noFill/>
        </p:spPr>
        <p:txBody>
          <a:bodyPr wrap="none" lIns="91440" tIns="45720" rIns="91440" bIns="45720">
            <a:spAutoFit/>
          </a:bodyPr>
          <a:lstStyle/>
          <a:p>
            <a:r>
              <a:rPr lang="en-US" sz="3600" b="1" dirty="0">
                <a:ln w="18415" cmpd="sng">
                  <a:solidFill>
                    <a:srgbClr val="FFFFFF"/>
                  </a:solidFill>
                  <a:prstDash val="solid"/>
                </a:ln>
                <a:effectLst>
                  <a:outerShdw blurRad="63500" dir="3600000" algn="tl" rotWithShape="0">
                    <a:srgbClr val="000000">
                      <a:alpha val="70000"/>
                    </a:srgbClr>
                  </a:outerShdw>
                </a:effectLst>
              </a:rPr>
              <a:t>Built a new house ?</a:t>
            </a:r>
          </a:p>
          <a:p>
            <a:r>
              <a:rPr lang="en-US" sz="3600" b="1" dirty="0">
                <a:ln w="18415" cmpd="sng">
                  <a:solidFill>
                    <a:srgbClr val="FFFFFF"/>
                  </a:solidFill>
                  <a:prstDash val="solid"/>
                </a:ln>
                <a:effectLst>
                  <a:outerShdw blurRad="63500" dir="3600000" algn="tl" rotWithShape="0">
                    <a:srgbClr val="000000">
                      <a:alpha val="70000"/>
                    </a:srgbClr>
                  </a:outerShdw>
                </a:effectLst>
              </a:rPr>
              <a:t>Buy an empty house ?</a:t>
            </a:r>
          </a:p>
          <a:p>
            <a:r>
              <a:rPr lang="en-US" sz="3600" b="1" dirty="0">
                <a:ln w="18415" cmpd="sng">
                  <a:solidFill>
                    <a:srgbClr val="FFFFFF"/>
                  </a:solidFill>
                  <a:prstDash val="solid"/>
                </a:ln>
                <a:effectLst>
                  <a:outerShdw blurRad="63500" dir="3600000" algn="tl" rotWithShape="0">
                    <a:srgbClr val="000000">
                      <a:alpha val="70000"/>
                    </a:srgbClr>
                  </a:outerShdw>
                </a:effectLst>
              </a:rPr>
              <a:t>Live in a hotel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7129" y="228600"/>
            <a:ext cx="736977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built a new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PQCBMZKS\MPj04393130000[1].jpg"/>
          <p:cNvPicPr>
            <a:picLocks noChangeAspect="1" noChangeArrowheads="1"/>
          </p:cNvPicPr>
          <p:nvPr/>
        </p:nvPicPr>
        <p:blipFill>
          <a:blip r:embed="rId2" cstate="print"/>
          <a:srcRect/>
          <a:stretch>
            <a:fillRect/>
          </a:stretch>
        </p:blipFill>
        <p:spPr bwMode="auto">
          <a:xfrm>
            <a:off x="3581400" y="2647950"/>
            <a:ext cx="5312664" cy="3984498"/>
          </a:xfrm>
          <a:prstGeom prst="roundRect">
            <a:avLst>
              <a:gd name="adj" fmla="val 401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371600"/>
            <a:ext cx="7696200" cy="1754326"/>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You can fully control everything your like your new house to have. But that is a hard work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Andy\AppData\Local\Microsoft\Windows\Temporary Internet Files\Content.IE5\T087QNPU\MPj04410350000[1].jpg"/>
          <p:cNvPicPr>
            <a:picLocks noChangeAspect="1" noChangeArrowheads="1"/>
          </p:cNvPicPr>
          <p:nvPr/>
        </p:nvPicPr>
        <p:blipFill>
          <a:blip r:embed="rId2" cstate="print"/>
          <a:srcRect b="16246"/>
          <a:stretch>
            <a:fillRect/>
          </a:stretch>
        </p:blipFill>
        <p:spPr bwMode="auto">
          <a:xfrm>
            <a:off x="1115568" y="1295400"/>
            <a:ext cx="6912864" cy="4343400"/>
          </a:xfrm>
          <a:prstGeom prst="roundRect">
            <a:avLst>
              <a:gd name="adj" fmla="val 580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426744" y="228600"/>
            <a:ext cx="829053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If you buy an empty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1447800" y="4494074"/>
            <a:ext cx="6172200" cy="1754326"/>
          </a:xfrm>
          <a:prstGeom prst="rect">
            <a:avLst/>
          </a:prstGeom>
          <a:noFill/>
        </p:spPr>
        <p:txBody>
          <a:bodyPr wrap="square" lIns="91440" tIns="45720" rIns="91440" bIns="45720">
            <a:spAutoFit/>
          </a:bodyPr>
          <a:lstStyle/>
          <a:p>
            <a:r>
              <a:rPr lang="en-US" sz="3600" b="1" dirty="0">
                <a:ln w="18415" cmpd="sng">
                  <a:solidFill>
                    <a:srgbClr val="FFFFFF"/>
                  </a:solidFill>
                  <a:prstDash val="solid"/>
                </a:ln>
                <a:effectLst>
                  <a:outerShdw blurRad="63500" dir="3600000" algn="tl" rotWithShape="0">
                    <a:srgbClr val="000000">
                      <a:alpha val="70000"/>
                    </a:srgbClr>
                  </a:outerShdw>
                </a:effectLst>
              </a:rPr>
              <a:t>You can customize some part of your house. But never change the original architecture.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4591" y="228600"/>
            <a:ext cx="785484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How about live in a hotel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01OK34JN\MPj04424560000[1].jpg"/>
          <p:cNvPicPr>
            <a:picLocks noChangeAspect="1" noChangeArrowheads="1"/>
          </p:cNvPicPr>
          <p:nvPr/>
        </p:nvPicPr>
        <p:blipFill>
          <a:blip r:embed="rId2" cstate="print"/>
          <a:srcRect/>
          <a:stretch>
            <a:fillRect/>
          </a:stretch>
        </p:blipFill>
        <p:spPr bwMode="auto">
          <a:xfrm>
            <a:off x="1115568" y="2971800"/>
            <a:ext cx="6912864" cy="3631919"/>
          </a:xfrm>
          <a:prstGeom prst="roundRect">
            <a:avLst>
              <a:gd name="adj" fmla="val 547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219200"/>
            <a:ext cx="7696200" cy="2308324"/>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Live in a hotel will be a good idea if the only thing you care is enjoy your life!! There is nothing you can do with the house except living in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2052" y="2551837"/>
            <a:ext cx="575991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translate to</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Cloud Computing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 Overview</a:t>
            </a:r>
          </a:p>
        </p:txBody>
      </p:sp>
      <p:sp>
        <p:nvSpPr>
          <p:cNvPr id="3" name="Content Placeholder 2"/>
          <p:cNvSpPr>
            <a:spLocks noGrp="1"/>
          </p:cNvSpPr>
          <p:nvPr>
            <p:ph idx="1"/>
          </p:nvPr>
        </p:nvSpPr>
        <p:spPr>
          <a:xfrm>
            <a:off x="457200" y="1600200"/>
            <a:ext cx="7924800" cy="4876800"/>
          </a:xfrm>
        </p:spPr>
        <p:txBody>
          <a:bodyPr>
            <a:normAutofit/>
          </a:bodyPr>
          <a:lstStyle/>
          <a:p>
            <a:r>
              <a:rPr lang="en-US" dirty="0"/>
              <a:t>What if you want to have an IT department ?</a:t>
            </a:r>
          </a:p>
          <a:p>
            <a:pPr lvl="1"/>
            <a:r>
              <a:rPr lang="en-US" dirty="0"/>
              <a:t>Similar to </a:t>
            </a:r>
            <a:r>
              <a:rPr lang="en-US" b="1" i="1" dirty="0"/>
              <a:t>build a new house </a:t>
            </a:r>
            <a:r>
              <a:rPr lang="en-US" dirty="0"/>
              <a:t>in previous analogy</a:t>
            </a:r>
          </a:p>
          <a:p>
            <a:pPr lvl="2"/>
            <a:r>
              <a:rPr lang="en-US" dirty="0"/>
              <a:t>You can rent some virtualized infrastructure and build up your own IT system among those resources, which may be fully controlled.</a:t>
            </a:r>
          </a:p>
          <a:p>
            <a:pPr lvl="2"/>
            <a:r>
              <a:rPr lang="en-US" dirty="0"/>
              <a:t>Technical speaking, use the </a:t>
            </a:r>
            <a:r>
              <a:rPr lang="en-US" b="1" i="1" dirty="0"/>
              <a:t>Infrastructure as a Service (</a:t>
            </a:r>
            <a:r>
              <a:rPr lang="en-US" b="1" i="1" dirty="0" err="1"/>
              <a:t>IaaS</a:t>
            </a:r>
            <a:r>
              <a:rPr lang="en-US" b="1" i="1" dirty="0"/>
              <a:t>)</a:t>
            </a:r>
            <a:r>
              <a:rPr lang="en-US" dirty="0"/>
              <a:t> solution.</a:t>
            </a:r>
          </a:p>
          <a:p>
            <a:pPr lvl="1"/>
            <a:r>
              <a:rPr lang="en-US" dirty="0"/>
              <a:t>Similar to </a:t>
            </a:r>
            <a:r>
              <a:rPr lang="en-US" b="1" i="1" dirty="0"/>
              <a:t>buy an empty house </a:t>
            </a:r>
            <a:r>
              <a:rPr lang="en-US" dirty="0"/>
              <a:t>in previous analogy</a:t>
            </a:r>
          </a:p>
          <a:p>
            <a:pPr lvl="2"/>
            <a:r>
              <a:rPr lang="en-US" dirty="0"/>
              <a:t>You can directly develop your IT system through one cloud platform, and do not care about any lower level resource management.</a:t>
            </a:r>
          </a:p>
          <a:p>
            <a:pPr lvl="2"/>
            <a:r>
              <a:rPr lang="en-US" dirty="0"/>
              <a:t>Technical speaking, use the </a:t>
            </a:r>
            <a:r>
              <a:rPr lang="en-US" b="1" i="1" dirty="0"/>
              <a:t>Platform as a Service (</a:t>
            </a:r>
            <a:r>
              <a:rPr lang="en-US" b="1" i="1" dirty="0" err="1"/>
              <a:t>PaaS</a:t>
            </a:r>
            <a:r>
              <a:rPr lang="en-US" b="1" i="1" dirty="0"/>
              <a:t>)</a:t>
            </a:r>
            <a:r>
              <a:rPr lang="en-US" dirty="0"/>
              <a:t> solution.</a:t>
            </a:r>
          </a:p>
          <a:p>
            <a:pPr lvl="1"/>
            <a:r>
              <a:rPr lang="en-US" dirty="0"/>
              <a:t>Similar to </a:t>
            </a:r>
            <a:r>
              <a:rPr lang="en-US" b="1" i="1" dirty="0"/>
              <a:t>live in a hotel </a:t>
            </a:r>
            <a:r>
              <a:rPr lang="en-US" dirty="0"/>
              <a:t>in previous analogy</a:t>
            </a:r>
          </a:p>
          <a:p>
            <a:pPr lvl="2"/>
            <a:r>
              <a:rPr lang="en-US" dirty="0"/>
              <a:t>You can directly use some existed IT system solutions, which were provided by some cloud application service provider, without knowing any detail technique about how these service was achieved.</a:t>
            </a:r>
          </a:p>
          <a:p>
            <a:pPr lvl="2"/>
            <a:r>
              <a:rPr lang="en-US" dirty="0"/>
              <a:t>Technical speaking, use the </a:t>
            </a:r>
            <a:r>
              <a:rPr lang="en-US" b="1" i="1" dirty="0"/>
              <a:t>Software as a Service (</a:t>
            </a:r>
            <a:r>
              <a:rPr lang="en-US" b="1" i="1" dirty="0" err="1"/>
              <a:t>SaaS</a:t>
            </a:r>
            <a:r>
              <a:rPr lang="en-US" b="1" i="1" dirty="0"/>
              <a:t>)</a:t>
            </a:r>
            <a:r>
              <a:rPr lang="en-US" dirty="0"/>
              <a:t> solution.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298450" y="1371600"/>
            <a:ext cx="8547100" cy="5383213"/>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Service Model Overview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Infrastructure as a Service</a:t>
            </a:r>
          </a:p>
          <a:p>
            <a:r>
              <a:rPr lang="en-US" dirty="0"/>
              <a:t>Platform as a Service</a:t>
            </a:r>
          </a:p>
          <a:p>
            <a:r>
              <a:rPr lang="en-US" dirty="0"/>
              <a:t>Software as a Service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600200"/>
            <a:ext cx="8229600" cy="4953000"/>
          </a:xfrm>
        </p:spPr>
        <p:txBody>
          <a:bodyPr>
            <a:noAutofit/>
          </a:bodyPr>
          <a:lstStyle/>
          <a:p>
            <a:r>
              <a:rPr lang="en-US" dirty="0"/>
              <a:t>Infrastructure as a Service - </a:t>
            </a:r>
            <a:r>
              <a:rPr lang="en-US" dirty="0" err="1"/>
              <a:t>IaaS</a:t>
            </a:r>
            <a:endParaRPr lang="en-US" dirty="0"/>
          </a:p>
          <a:p>
            <a:pPr lvl="1"/>
            <a:r>
              <a:rPr lang="en-US" dirty="0"/>
              <a:t>The capability provided to the consumer is to provision processing, </a:t>
            </a:r>
            <a:r>
              <a:rPr lang="en-US" b="1" dirty="0">
                <a:solidFill>
                  <a:srgbClr val="FF0000"/>
                </a:solidFill>
              </a:rPr>
              <a:t>storage, networks</a:t>
            </a:r>
            <a:r>
              <a:rPr lang="en-US" dirty="0"/>
              <a:t>, and other fundamental computing resources where the consumer is able to </a:t>
            </a:r>
            <a:r>
              <a:rPr lang="en-US" b="1" dirty="0">
                <a:solidFill>
                  <a:srgbClr val="FF0000"/>
                </a:solidFill>
              </a:rPr>
              <a:t>deploy and run arbitrary </a:t>
            </a:r>
            <a:r>
              <a:rPr lang="en-US" dirty="0"/>
              <a:t>software, which can include operating systems and applications.</a:t>
            </a:r>
          </a:p>
          <a:p>
            <a:pPr lvl="1"/>
            <a:r>
              <a:rPr lang="en-US" dirty="0"/>
              <a:t>The consumer does not manage or control the underlying cloud infrastructure but </a:t>
            </a:r>
            <a:r>
              <a:rPr lang="en-US" b="1" dirty="0">
                <a:solidFill>
                  <a:srgbClr val="FF0000"/>
                </a:solidFill>
              </a:rPr>
              <a:t>has control over operating systems, storage, deployed applications, and possibly limited control of select networking components </a:t>
            </a:r>
            <a:r>
              <a:rPr lang="en-US" dirty="0"/>
              <a:t>.</a:t>
            </a:r>
          </a:p>
          <a:p>
            <a:r>
              <a:rPr lang="en-US" dirty="0"/>
              <a:t>Examples :</a:t>
            </a:r>
          </a:p>
          <a:p>
            <a:pPr lvl="1"/>
            <a:r>
              <a:rPr lang="en-US" dirty="0"/>
              <a:t>Amazon EC2</a:t>
            </a:r>
          </a:p>
          <a:p>
            <a:pPr lvl="1"/>
            <a:r>
              <a:rPr lang="en-US" dirty="0" err="1"/>
              <a:t>Eucalyputs</a:t>
            </a:r>
            <a:endParaRPr lang="en-US" dirty="0"/>
          </a:p>
          <a:p>
            <a:pPr lvl="1"/>
            <a:r>
              <a:rPr lang="en-US" dirty="0" err="1"/>
              <a:t>OpenNebula</a:t>
            </a:r>
            <a:endParaRPr lang="en-US" dirty="0"/>
          </a:p>
          <a:p>
            <a:pPr lvl="1"/>
            <a:r>
              <a:rPr lang="en-US" dirty="0"/>
              <a:t>… etc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cstate="print"/>
          <a:srcRect/>
          <a:stretch>
            <a:fillRect/>
          </a:stretch>
        </p:blipFill>
        <p:spPr bwMode="auto">
          <a:xfrm>
            <a:off x="990600" y="2133600"/>
            <a:ext cx="7315200" cy="4595517"/>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Infrastructure as a Service</a:t>
            </a:r>
          </a:p>
        </p:txBody>
      </p:sp>
      <p:sp>
        <p:nvSpPr>
          <p:cNvPr id="25" name="Content Placeholder 2"/>
          <p:cNvSpPr>
            <a:spLocks noGrp="1"/>
          </p:cNvSpPr>
          <p:nvPr>
            <p:ph idx="1"/>
          </p:nvPr>
        </p:nvSpPr>
        <p:spPr>
          <a:xfrm>
            <a:off x="457200" y="1600201"/>
            <a:ext cx="8229600" cy="533399"/>
          </a:xfrm>
        </p:spPr>
        <p:txBody>
          <a:bodyPr/>
          <a:lstStyle/>
          <a:p>
            <a:r>
              <a:rPr lang="en-US" dirty="0"/>
              <a:t>System architecture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341437"/>
            <a:ext cx="8229600" cy="2163763"/>
          </a:xfrm>
        </p:spPr>
        <p:txBody>
          <a:bodyPr/>
          <a:lstStyle/>
          <a:p>
            <a:r>
              <a:rPr lang="en-US" dirty="0"/>
              <a:t>Enabling technique - </a:t>
            </a:r>
            <a:r>
              <a:rPr lang="en-US" b="1" i="1" dirty="0"/>
              <a:t>Virtualization</a:t>
            </a:r>
          </a:p>
          <a:p>
            <a:pPr lvl="1"/>
            <a:r>
              <a:rPr lang="en-US" dirty="0"/>
              <a:t>Virtualization is an </a:t>
            </a:r>
            <a:r>
              <a:rPr lang="en-US" b="1" dirty="0">
                <a:solidFill>
                  <a:srgbClr val="FF0000"/>
                </a:solidFill>
              </a:rPr>
              <a:t>abstraction of logical resources</a:t>
            </a:r>
            <a:r>
              <a:rPr lang="en-US" dirty="0"/>
              <a:t> away from underlying physical resources.</a:t>
            </a:r>
          </a:p>
          <a:p>
            <a:pPr lvl="2"/>
            <a:r>
              <a:rPr lang="en-US" dirty="0"/>
              <a:t>Virtualization technique shift OS onto hypervisor.</a:t>
            </a:r>
          </a:p>
          <a:p>
            <a:pPr lvl="2"/>
            <a:r>
              <a:rPr lang="en-US" dirty="0"/>
              <a:t>Multiple OS share the physical hardware and provide different services.</a:t>
            </a:r>
          </a:p>
          <a:p>
            <a:pPr lvl="2"/>
            <a:r>
              <a:rPr lang="en-US" dirty="0"/>
              <a:t>Improve utilization, availability, security and convenience.</a:t>
            </a:r>
          </a:p>
        </p:txBody>
      </p:sp>
      <p:pic>
        <p:nvPicPr>
          <p:cNvPr id="4" name="Picture 2"/>
          <p:cNvPicPr>
            <a:picLocks noChangeAspect="1" noChangeArrowheads="1"/>
          </p:cNvPicPr>
          <p:nvPr/>
        </p:nvPicPr>
        <p:blipFill>
          <a:blip r:embed="rId3" cstate="print"/>
          <a:srcRect/>
          <a:stretch>
            <a:fillRect/>
          </a:stretch>
        </p:blipFill>
        <p:spPr bwMode="auto">
          <a:xfrm>
            <a:off x="4495800" y="4127500"/>
            <a:ext cx="3276600" cy="2578100"/>
          </a:xfrm>
          <a:prstGeom prst="rect">
            <a:avLst/>
          </a:prstGeom>
          <a:noFill/>
          <a:ln w="9525">
            <a:noFill/>
            <a:miter lim="800000"/>
            <a:headEnd/>
            <a:tailEnd/>
          </a:ln>
          <a:effectLst/>
        </p:spPr>
      </p:pic>
      <p:pic>
        <p:nvPicPr>
          <p:cNvPr id="5" name="Picture 3"/>
          <p:cNvPicPr>
            <a:picLocks noChangeAspect="1" noChangeArrowheads="1"/>
          </p:cNvPicPr>
          <p:nvPr/>
        </p:nvPicPr>
        <p:blipFill>
          <a:blip r:embed="rId4" cstate="print"/>
          <a:srcRect/>
          <a:stretch>
            <a:fillRect/>
          </a:stretch>
        </p:blipFill>
        <p:spPr bwMode="auto">
          <a:xfrm>
            <a:off x="1371600" y="4660900"/>
            <a:ext cx="2620963" cy="2036763"/>
          </a:xfrm>
          <a:prstGeom prst="rect">
            <a:avLst/>
          </a:prstGeom>
          <a:noFill/>
          <a:ln w="9525">
            <a:noFill/>
            <a:miter lim="800000"/>
            <a:headEnd/>
            <a:tailEnd/>
          </a:ln>
          <a:effectLst/>
        </p:spPr>
      </p:pic>
      <p:sp>
        <p:nvSpPr>
          <p:cNvPr id="6" name="Rounded Rectangle 5"/>
          <p:cNvSpPr/>
          <p:nvPr/>
        </p:nvSpPr>
        <p:spPr bwMode="auto">
          <a:xfrm>
            <a:off x="4495800"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C00000"/>
                </a:solidFill>
                <a:effectLst/>
                <a:latin typeface="Cambria" pitchFamily="18" charset="0"/>
              </a:rPr>
              <a:t>VM1</a:t>
            </a:r>
          </a:p>
        </p:txBody>
      </p:sp>
      <p:sp>
        <p:nvSpPr>
          <p:cNvPr id="7" name="Rounded Rectangle 6"/>
          <p:cNvSpPr/>
          <p:nvPr/>
        </p:nvSpPr>
        <p:spPr bwMode="auto">
          <a:xfrm>
            <a:off x="5588358"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latin typeface="Cambria" pitchFamily="18" charset="0"/>
              </a:rPr>
              <a:t>VM2</a:t>
            </a:r>
          </a:p>
        </p:txBody>
      </p:sp>
      <p:sp>
        <p:nvSpPr>
          <p:cNvPr id="8" name="Rounded Rectangle 7"/>
          <p:cNvSpPr/>
          <p:nvPr/>
        </p:nvSpPr>
        <p:spPr bwMode="auto">
          <a:xfrm>
            <a:off x="6692721"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latin typeface="Cambria" pitchFamily="18" charset="0"/>
              </a:rPr>
              <a:t>VM3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828800"/>
            <a:ext cx="8229600" cy="1752600"/>
          </a:xfrm>
        </p:spPr>
        <p:txBody>
          <a:bodyPr/>
          <a:lstStyle/>
          <a:p>
            <a:r>
              <a:rPr lang="en-US" dirty="0"/>
              <a:t>Properties supported by virtualization technique :</a:t>
            </a:r>
          </a:p>
          <a:p>
            <a:pPr lvl="1"/>
            <a:r>
              <a:rPr lang="en-US" dirty="0"/>
              <a:t>Manageability and Interoperability</a:t>
            </a:r>
          </a:p>
          <a:p>
            <a:pPr lvl="1"/>
            <a:r>
              <a:rPr lang="en-US" dirty="0"/>
              <a:t>Availability and Reliability</a:t>
            </a:r>
          </a:p>
          <a:p>
            <a:pPr lvl="1"/>
            <a:r>
              <a:rPr lang="en-US" dirty="0"/>
              <a:t>Scalability and Elasticity</a:t>
            </a:r>
          </a:p>
        </p:txBody>
      </p:sp>
      <p:pic>
        <p:nvPicPr>
          <p:cNvPr id="5122" name="Picture 2"/>
          <p:cNvPicPr>
            <a:picLocks noChangeAspect="1" noChangeArrowheads="1"/>
          </p:cNvPicPr>
          <p:nvPr/>
        </p:nvPicPr>
        <p:blipFill>
          <a:blip r:embed="rId2" cstate="print"/>
          <a:srcRect/>
          <a:stretch>
            <a:fillRect/>
          </a:stretch>
        </p:blipFill>
        <p:spPr bwMode="auto">
          <a:xfrm>
            <a:off x="4267200" y="3200400"/>
            <a:ext cx="4700016" cy="3485354"/>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600200"/>
            <a:ext cx="8305800" cy="4525963"/>
          </a:xfrm>
        </p:spPr>
        <p:txBody>
          <a:bodyPr/>
          <a:lstStyle/>
          <a:p>
            <a:r>
              <a:rPr lang="en-US" dirty="0"/>
              <a:t>Provide service –</a:t>
            </a:r>
            <a:r>
              <a:rPr lang="en-US" b="1" dirty="0"/>
              <a:t>Resource Management Interface</a:t>
            </a:r>
          </a:p>
          <a:p>
            <a:pPr lvl="1"/>
            <a:r>
              <a:rPr lang="en-US" dirty="0"/>
              <a:t>Several types of virtualized resource :</a:t>
            </a:r>
          </a:p>
          <a:p>
            <a:pPr lvl="2"/>
            <a:r>
              <a:rPr lang="en-US" b="1" i="1" dirty="0"/>
              <a:t>Virtual Machine </a:t>
            </a:r>
            <a:r>
              <a:rPr lang="en-US" dirty="0"/>
              <a:t>– As an </a:t>
            </a:r>
            <a:r>
              <a:rPr lang="en-US" dirty="0" err="1"/>
              <a:t>IaaS</a:t>
            </a:r>
            <a:r>
              <a:rPr lang="en-US" dirty="0"/>
              <a:t> provider, we should be able to provide the </a:t>
            </a:r>
            <a:r>
              <a:rPr lang="en-US" b="1" dirty="0">
                <a:solidFill>
                  <a:srgbClr val="FF0000"/>
                </a:solidFill>
              </a:rPr>
              <a:t>basic virtual machine operations</a:t>
            </a:r>
            <a:r>
              <a:rPr lang="en-US" dirty="0"/>
              <a:t>, such as </a:t>
            </a:r>
            <a:r>
              <a:rPr lang="en-US" i="1" dirty="0">
                <a:solidFill>
                  <a:srgbClr val="C00000"/>
                </a:solidFill>
              </a:rPr>
              <a:t>creation</a:t>
            </a:r>
            <a:r>
              <a:rPr lang="en-US" dirty="0"/>
              <a:t>, </a:t>
            </a:r>
            <a:r>
              <a:rPr lang="en-US" i="1" dirty="0">
                <a:solidFill>
                  <a:srgbClr val="C00000"/>
                </a:solidFill>
              </a:rPr>
              <a:t>suspension</a:t>
            </a:r>
            <a:r>
              <a:rPr lang="en-US" dirty="0"/>
              <a:t>, </a:t>
            </a:r>
            <a:r>
              <a:rPr lang="en-US" i="1" dirty="0">
                <a:solidFill>
                  <a:srgbClr val="C00000"/>
                </a:solidFill>
              </a:rPr>
              <a:t>resumption</a:t>
            </a:r>
            <a:r>
              <a:rPr lang="en-US" dirty="0"/>
              <a:t> and </a:t>
            </a:r>
            <a:r>
              <a:rPr lang="en-US" i="1" dirty="0">
                <a:solidFill>
                  <a:srgbClr val="C00000"/>
                </a:solidFill>
              </a:rPr>
              <a:t>termination</a:t>
            </a:r>
            <a:r>
              <a:rPr lang="en-US" dirty="0"/>
              <a:t>, …etc.</a:t>
            </a:r>
          </a:p>
          <a:p>
            <a:pPr lvl="2"/>
            <a:r>
              <a:rPr lang="en-US" b="1" i="1" dirty="0"/>
              <a:t>Virtual Storage </a:t>
            </a:r>
            <a:r>
              <a:rPr lang="en-US" dirty="0"/>
              <a:t>– As an </a:t>
            </a:r>
            <a:r>
              <a:rPr lang="en-US" dirty="0" err="1"/>
              <a:t>IaaS</a:t>
            </a:r>
            <a:r>
              <a:rPr lang="en-US" dirty="0"/>
              <a:t> provider, we should be able to provide the basic </a:t>
            </a:r>
            <a:r>
              <a:rPr lang="en-US" b="1" dirty="0">
                <a:solidFill>
                  <a:srgbClr val="FF0000"/>
                </a:solidFill>
              </a:rPr>
              <a:t>virtual storage </a:t>
            </a:r>
            <a:r>
              <a:rPr lang="en-US" dirty="0"/>
              <a:t>operations, such as </a:t>
            </a:r>
            <a:r>
              <a:rPr lang="en-US" i="1" dirty="0">
                <a:solidFill>
                  <a:srgbClr val="C00000"/>
                </a:solidFill>
              </a:rPr>
              <a:t>space allocation</a:t>
            </a:r>
            <a:r>
              <a:rPr lang="en-US" dirty="0"/>
              <a:t>, </a:t>
            </a:r>
            <a:r>
              <a:rPr lang="en-US" i="1" dirty="0">
                <a:solidFill>
                  <a:srgbClr val="C00000"/>
                </a:solidFill>
              </a:rPr>
              <a:t>space release</a:t>
            </a:r>
            <a:r>
              <a:rPr lang="en-US" dirty="0"/>
              <a:t>, </a:t>
            </a:r>
            <a:r>
              <a:rPr lang="en-US" i="1" dirty="0">
                <a:solidFill>
                  <a:srgbClr val="C00000"/>
                </a:solidFill>
              </a:rPr>
              <a:t>data writing </a:t>
            </a:r>
            <a:r>
              <a:rPr lang="en-US" dirty="0"/>
              <a:t>and </a:t>
            </a:r>
            <a:r>
              <a:rPr lang="en-US" i="1" dirty="0">
                <a:solidFill>
                  <a:srgbClr val="C00000"/>
                </a:solidFill>
              </a:rPr>
              <a:t>data reading</a:t>
            </a:r>
            <a:r>
              <a:rPr lang="en-US" dirty="0"/>
              <a:t>, …etc.</a:t>
            </a:r>
          </a:p>
          <a:p>
            <a:pPr lvl="2"/>
            <a:r>
              <a:rPr lang="en-US" b="1" i="1" dirty="0"/>
              <a:t>Virtual Network</a:t>
            </a:r>
            <a:r>
              <a:rPr lang="en-US" dirty="0"/>
              <a:t> – As an </a:t>
            </a:r>
            <a:r>
              <a:rPr lang="en-US" dirty="0" err="1"/>
              <a:t>IaaS</a:t>
            </a:r>
            <a:r>
              <a:rPr lang="en-US" dirty="0"/>
              <a:t> provider, we should be able to provide the basic virtual network operations, such as </a:t>
            </a:r>
            <a:r>
              <a:rPr lang="en-US" i="1" dirty="0">
                <a:solidFill>
                  <a:srgbClr val="C00000"/>
                </a:solidFill>
              </a:rPr>
              <a:t>IP address allocation</a:t>
            </a:r>
            <a:r>
              <a:rPr lang="en-US" dirty="0"/>
              <a:t>, </a:t>
            </a:r>
            <a:r>
              <a:rPr lang="en-US" i="1" dirty="0">
                <a:solidFill>
                  <a:srgbClr val="C00000"/>
                </a:solidFill>
              </a:rPr>
              <a:t>domain name register</a:t>
            </a:r>
            <a:r>
              <a:rPr lang="en-US" dirty="0"/>
              <a:t>, </a:t>
            </a:r>
            <a:r>
              <a:rPr lang="en-US" i="1" dirty="0">
                <a:solidFill>
                  <a:srgbClr val="C00000"/>
                </a:solidFill>
              </a:rPr>
              <a:t>connection establishment </a:t>
            </a:r>
            <a:r>
              <a:rPr lang="en-US" dirty="0"/>
              <a:t>and </a:t>
            </a:r>
            <a:r>
              <a:rPr lang="en-US" i="1" dirty="0">
                <a:solidFill>
                  <a:srgbClr val="C00000"/>
                </a:solidFill>
              </a:rPr>
              <a:t>bandwidth provision</a:t>
            </a:r>
            <a:r>
              <a:rPr lang="en-US" dirty="0"/>
              <a:t>,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p:txBody>
          <a:bodyPr/>
          <a:lstStyle/>
          <a:p>
            <a:r>
              <a:rPr lang="en-US" dirty="0"/>
              <a:t>Provide service – </a:t>
            </a:r>
            <a:r>
              <a:rPr lang="en-US" b="1" dirty="0"/>
              <a:t>System Monitoring Interface</a:t>
            </a:r>
          </a:p>
          <a:p>
            <a:pPr lvl="1"/>
            <a:r>
              <a:rPr lang="en-US" dirty="0"/>
              <a:t>Several types of monitoring metrics :</a:t>
            </a:r>
          </a:p>
          <a:p>
            <a:pPr lvl="2"/>
            <a:r>
              <a:rPr lang="en-US" b="1" i="1" dirty="0"/>
              <a:t>Virtual Machine </a:t>
            </a:r>
            <a:r>
              <a:rPr lang="en-US" dirty="0"/>
              <a:t>– As an </a:t>
            </a:r>
            <a:r>
              <a:rPr lang="en-US" dirty="0" err="1"/>
              <a:t>IaaS</a:t>
            </a:r>
            <a:r>
              <a:rPr lang="en-US" dirty="0"/>
              <a:t> provider, we should be able to monitor some system states of each virtual machine, such as </a:t>
            </a:r>
            <a:r>
              <a:rPr lang="en-US" i="1" dirty="0">
                <a:solidFill>
                  <a:srgbClr val="C00000"/>
                </a:solidFill>
              </a:rPr>
              <a:t>CPU loading</a:t>
            </a:r>
            <a:r>
              <a:rPr lang="en-US" dirty="0"/>
              <a:t>, </a:t>
            </a:r>
            <a:r>
              <a:rPr lang="en-US" i="1" dirty="0">
                <a:solidFill>
                  <a:srgbClr val="C00000"/>
                </a:solidFill>
              </a:rPr>
              <a:t>memory utilization</a:t>
            </a:r>
            <a:r>
              <a:rPr lang="en-US" dirty="0"/>
              <a:t>, </a:t>
            </a:r>
            <a:r>
              <a:rPr lang="en-US" i="1" dirty="0">
                <a:solidFill>
                  <a:srgbClr val="C00000"/>
                </a:solidFill>
              </a:rPr>
              <a:t>IO loading </a:t>
            </a:r>
            <a:r>
              <a:rPr lang="en-US" dirty="0"/>
              <a:t>and </a:t>
            </a:r>
            <a:r>
              <a:rPr lang="en-US" i="1" dirty="0">
                <a:solidFill>
                  <a:srgbClr val="C00000"/>
                </a:solidFill>
              </a:rPr>
              <a:t>internal network loading</a:t>
            </a:r>
            <a:r>
              <a:rPr lang="en-US" dirty="0"/>
              <a:t>, …etc.</a:t>
            </a:r>
          </a:p>
          <a:p>
            <a:pPr lvl="2"/>
            <a:r>
              <a:rPr lang="en-US" b="1" i="1" dirty="0"/>
              <a:t>Virtual Storage </a:t>
            </a:r>
            <a:r>
              <a:rPr lang="en-US" dirty="0"/>
              <a:t>– As an </a:t>
            </a:r>
            <a:r>
              <a:rPr lang="en-US" dirty="0" err="1"/>
              <a:t>IaaS</a:t>
            </a:r>
            <a:r>
              <a:rPr lang="en-US" dirty="0"/>
              <a:t> provider, we should be able to monitor some storage states of each virtual storage, such as </a:t>
            </a:r>
            <a:r>
              <a:rPr lang="en-US" i="1" dirty="0">
                <a:solidFill>
                  <a:srgbClr val="C00000"/>
                </a:solidFill>
              </a:rPr>
              <a:t>virtual space utilization</a:t>
            </a:r>
            <a:r>
              <a:rPr lang="en-US" dirty="0"/>
              <a:t>, </a:t>
            </a:r>
            <a:r>
              <a:rPr lang="en-US" i="1" dirty="0">
                <a:solidFill>
                  <a:srgbClr val="C00000"/>
                </a:solidFill>
              </a:rPr>
              <a:t>data duplication</a:t>
            </a:r>
            <a:r>
              <a:rPr lang="en-US" dirty="0"/>
              <a:t> and </a:t>
            </a:r>
            <a:r>
              <a:rPr lang="en-US" i="1" dirty="0">
                <a:solidFill>
                  <a:srgbClr val="C00000"/>
                </a:solidFill>
              </a:rPr>
              <a:t>storage device access bandwidth</a:t>
            </a:r>
            <a:r>
              <a:rPr lang="en-US" dirty="0"/>
              <a:t>, …etc.</a:t>
            </a:r>
          </a:p>
          <a:p>
            <a:pPr lvl="2"/>
            <a:r>
              <a:rPr lang="en-US" b="1" i="1" dirty="0"/>
              <a:t>Virtual Network </a:t>
            </a:r>
            <a:r>
              <a:rPr lang="en-US" dirty="0"/>
              <a:t>– As an </a:t>
            </a:r>
            <a:r>
              <a:rPr lang="en-US" dirty="0" err="1"/>
              <a:t>IaaS</a:t>
            </a:r>
            <a:r>
              <a:rPr lang="en-US" dirty="0"/>
              <a:t> provider, we should be able to monitor some network states of each virtual network, such as </a:t>
            </a:r>
            <a:r>
              <a:rPr lang="en-US" i="1" dirty="0">
                <a:solidFill>
                  <a:srgbClr val="C00000"/>
                </a:solidFill>
              </a:rPr>
              <a:t>virtual network bandwidth</a:t>
            </a:r>
            <a:r>
              <a:rPr lang="en-US" dirty="0"/>
              <a:t>, </a:t>
            </a:r>
            <a:r>
              <a:rPr lang="en-US" i="1" dirty="0">
                <a:solidFill>
                  <a:srgbClr val="C00000"/>
                </a:solidFill>
              </a:rPr>
              <a:t>network connectivity </a:t>
            </a:r>
            <a:r>
              <a:rPr lang="en-US" dirty="0"/>
              <a:t>and </a:t>
            </a:r>
            <a:r>
              <a:rPr lang="en-US" i="1" dirty="0">
                <a:solidFill>
                  <a:srgbClr val="C00000"/>
                </a:solidFill>
              </a:rPr>
              <a:t>network load balancing</a:t>
            </a:r>
            <a:r>
              <a:rPr lang="en-US" dirty="0"/>
              <a:t>, …etc.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IaaS</a:t>
            </a:r>
            <a:r>
              <a:rPr lang="en-US" dirty="0"/>
              <a:t> - Summary</a:t>
            </a:r>
          </a:p>
        </p:txBody>
      </p:sp>
      <p:sp>
        <p:nvSpPr>
          <p:cNvPr id="3" name="Content Placeholder 2"/>
          <p:cNvSpPr>
            <a:spLocks noGrp="1"/>
          </p:cNvSpPr>
          <p:nvPr>
            <p:ph idx="1"/>
          </p:nvPr>
        </p:nvSpPr>
        <p:spPr/>
        <p:txBody>
          <a:bodyPr/>
          <a:lstStyle/>
          <a:p>
            <a:r>
              <a:rPr lang="en-US" sz="2000" b="1" dirty="0" err="1"/>
              <a:t>IaaS</a:t>
            </a:r>
            <a:r>
              <a:rPr lang="en-US" sz="2000" b="1" dirty="0"/>
              <a:t> is the deployment platform that abstract the infrastructure.</a:t>
            </a:r>
            <a:br>
              <a:rPr lang="en-US" dirty="0"/>
            </a:br>
            <a:endParaRPr lang="en-US" dirty="0"/>
          </a:p>
          <a:p>
            <a:r>
              <a:rPr lang="en-US" dirty="0" err="1"/>
              <a:t>IaaS</a:t>
            </a:r>
            <a:r>
              <a:rPr lang="en-US" dirty="0"/>
              <a:t> enabling technique</a:t>
            </a:r>
          </a:p>
          <a:p>
            <a:pPr lvl="1"/>
            <a:r>
              <a:rPr lang="en-US" dirty="0"/>
              <a:t>Virtualization</a:t>
            </a:r>
          </a:p>
          <a:p>
            <a:pPr lvl="2"/>
            <a:r>
              <a:rPr lang="en-US" dirty="0"/>
              <a:t>Server Virtualization</a:t>
            </a:r>
          </a:p>
          <a:p>
            <a:pPr lvl="2"/>
            <a:r>
              <a:rPr lang="en-US" dirty="0"/>
              <a:t>Storage Virtualization</a:t>
            </a:r>
          </a:p>
          <a:p>
            <a:pPr lvl="2"/>
            <a:r>
              <a:rPr lang="en-US" dirty="0"/>
              <a:t>Network Virtualization</a:t>
            </a:r>
            <a:br>
              <a:rPr lang="en-US" dirty="0"/>
            </a:br>
            <a:endParaRPr lang="en-US" dirty="0"/>
          </a:p>
          <a:p>
            <a:r>
              <a:rPr lang="en-US" dirty="0" err="1"/>
              <a:t>IaaS</a:t>
            </a:r>
            <a:r>
              <a:rPr lang="en-US" dirty="0"/>
              <a:t> provided services</a:t>
            </a:r>
          </a:p>
          <a:p>
            <a:pPr lvl="1"/>
            <a:r>
              <a:rPr lang="en-US" dirty="0"/>
              <a:t>Resource Management Interface</a:t>
            </a:r>
          </a:p>
          <a:p>
            <a:pPr lvl="1"/>
            <a:r>
              <a:rPr lang="en-US" dirty="0"/>
              <a:t>System Monitoring Interface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solidFill>
                  <a:srgbClr val="C00000"/>
                </a:solidFill>
              </a:rPr>
              <a:t>Platform as a Service</a:t>
            </a:r>
          </a:p>
          <a:p>
            <a:r>
              <a:rPr lang="en-US" dirty="0"/>
              <a:t>Software as a Service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a:t>
            </a:r>
          </a:p>
        </p:txBody>
      </p:sp>
      <p:sp>
        <p:nvSpPr>
          <p:cNvPr id="3" name="Content Placeholder 2"/>
          <p:cNvSpPr>
            <a:spLocks noGrp="1"/>
          </p:cNvSpPr>
          <p:nvPr>
            <p:ph idx="1"/>
          </p:nvPr>
        </p:nvSpPr>
        <p:spPr>
          <a:xfrm>
            <a:off x="457200" y="1600200"/>
            <a:ext cx="8229600" cy="5105400"/>
          </a:xfrm>
        </p:spPr>
        <p:txBody>
          <a:bodyPr>
            <a:noAutofit/>
          </a:bodyPr>
          <a:lstStyle/>
          <a:p>
            <a:r>
              <a:rPr lang="en-US" dirty="0"/>
              <a:t>Platform as a Service - </a:t>
            </a:r>
            <a:r>
              <a:rPr lang="en-US" dirty="0" err="1"/>
              <a:t>PaaS</a:t>
            </a:r>
            <a:endParaRPr lang="en-US" dirty="0"/>
          </a:p>
          <a:p>
            <a:pPr lvl="1"/>
            <a:r>
              <a:rPr lang="en-US" dirty="0"/>
              <a:t>The capability provided to the consumer is </a:t>
            </a:r>
            <a:r>
              <a:rPr lang="en-US" b="1" dirty="0">
                <a:solidFill>
                  <a:srgbClr val="FF0000"/>
                </a:solidFill>
              </a:rPr>
              <a:t>to deploy onto the cloud </a:t>
            </a:r>
            <a:r>
              <a:rPr lang="en-US" dirty="0"/>
              <a:t>infrastructure consumer-created or acquired applications created using </a:t>
            </a:r>
            <a:r>
              <a:rPr lang="en-US" b="1" dirty="0">
                <a:solidFill>
                  <a:srgbClr val="FF0000"/>
                </a:solidFill>
              </a:rPr>
              <a:t>programming languages and tools supported by the provider.</a:t>
            </a:r>
          </a:p>
          <a:p>
            <a:pPr lvl="1"/>
            <a:r>
              <a:rPr lang="en-US" b="1" dirty="0">
                <a:solidFill>
                  <a:srgbClr val="FF0000"/>
                </a:solidFill>
              </a:rPr>
              <a:t>The consumer does not manage or control the underlying cloud infrastructure </a:t>
            </a:r>
            <a:r>
              <a:rPr lang="en-US" dirty="0"/>
              <a:t>including network, servers, operating systems, or storage</a:t>
            </a:r>
            <a:r>
              <a:rPr lang="en-US" b="1" dirty="0">
                <a:solidFill>
                  <a:srgbClr val="FF0000"/>
                </a:solidFill>
              </a:rPr>
              <a:t>, but has control over the deployed applications </a:t>
            </a:r>
            <a:r>
              <a:rPr lang="en-US" dirty="0"/>
              <a:t>and possibly application hosting environment configurations.</a:t>
            </a:r>
          </a:p>
          <a:p>
            <a:r>
              <a:rPr lang="en-US" dirty="0"/>
              <a:t>Examples :</a:t>
            </a:r>
          </a:p>
          <a:p>
            <a:pPr lvl="1"/>
            <a:r>
              <a:rPr lang="en-US" dirty="0"/>
              <a:t>Microsoft Windows Azure</a:t>
            </a:r>
          </a:p>
          <a:p>
            <a:pPr lvl="1"/>
            <a:r>
              <a:rPr lang="en-US" dirty="0"/>
              <a:t>Google App Engine</a:t>
            </a:r>
          </a:p>
          <a:p>
            <a:pPr lvl="1"/>
            <a:r>
              <a:rPr lang="en-US" dirty="0" err="1"/>
              <a:t>Hadoop</a:t>
            </a:r>
            <a:endParaRPr lang="en-US" dirty="0"/>
          </a:p>
          <a:p>
            <a:pPr lvl="1"/>
            <a:r>
              <a:rPr lang="en-US" altLang="zh-TW" dirty="0"/>
              <a:t>… etc</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914400" y="2339835"/>
            <a:ext cx="7315200" cy="444196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Platform as a Service</a:t>
            </a:r>
          </a:p>
        </p:txBody>
      </p:sp>
      <p:sp>
        <p:nvSpPr>
          <p:cNvPr id="4" name="Content Placeholder 2"/>
          <p:cNvSpPr>
            <a:spLocks noGrp="1"/>
          </p:cNvSpPr>
          <p:nvPr>
            <p:ph idx="1"/>
          </p:nvPr>
        </p:nvSpPr>
        <p:spPr>
          <a:xfrm>
            <a:off x="457200" y="1600201"/>
            <a:ext cx="8229600" cy="533400"/>
          </a:xfrm>
        </p:spPr>
        <p:txBody>
          <a:bodyPr/>
          <a:lstStyle/>
          <a:p>
            <a:r>
              <a:rPr lang="en-US" dirty="0"/>
              <a:t>System architecture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a:t>
            </a:r>
          </a:p>
        </p:txBody>
      </p:sp>
      <p:sp>
        <p:nvSpPr>
          <p:cNvPr id="3" name="Content Placeholder 2"/>
          <p:cNvSpPr>
            <a:spLocks noGrp="1"/>
          </p:cNvSpPr>
          <p:nvPr>
            <p:ph idx="1"/>
          </p:nvPr>
        </p:nvSpPr>
        <p:spPr>
          <a:xfrm>
            <a:off x="457200" y="1570037"/>
            <a:ext cx="8229600" cy="4525963"/>
          </a:xfrm>
        </p:spPr>
        <p:txBody>
          <a:bodyPr>
            <a:noAutofit/>
          </a:bodyPr>
          <a:lstStyle/>
          <a:p>
            <a:r>
              <a:rPr lang="en-US" dirty="0"/>
              <a:t>Enabling technique – </a:t>
            </a:r>
            <a:r>
              <a:rPr lang="en-US" b="1" dirty="0"/>
              <a:t>Runtime Environment Design</a:t>
            </a:r>
          </a:p>
          <a:p>
            <a:pPr lvl="1"/>
            <a:r>
              <a:rPr lang="en-US" dirty="0"/>
              <a:t>Runtime environment refers to collection of </a:t>
            </a:r>
            <a:r>
              <a:rPr lang="en-US" b="1" dirty="0">
                <a:solidFill>
                  <a:srgbClr val="FF0000"/>
                </a:solidFill>
              </a:rPr>
              <a:t>software services available. </a:t>
            </a:r>
            <a:r>
              <a:rPr lang="en-US" dirty="0"/>
              <a:t>Usually implemented by a </a:t>
            </a:r>
            <a:r>
              <a:rPr lang="en-US" b="1" dirty="0">
                <a:solidFill>
                  <a:srgbClr val="FF0000"/>
                </a:solidFill>
              </a:rPr>
              <a:t>collection of program </a:t>
            </a:r>
            <a:r>
              <a:rPr lang="en-US" dirty="0"/>
              <a:t>libraries.</a:t>
            </a:r>
          </a:p>
          <a:p>
            <a:r>
              <a:rPr lang="en-US" dirty="0"/>
              <a:t>Common properties in Runtime Environment :</a:t>
            </a:r>
          </a:p>
          <a:p>
            <a:pPr lvl="1"/>
            <a:r>
              <a:rPr lang="en-US" dirty="0"/>
              <a:t>Manageability and Interoperability</a:t>
            </a:r>
          </a:p>
          <a:p>
            <a:pPr lvl="1"/>
            <a:r>
              <a:rPr lang="en-US" dirty="0"/>
              <a:t>Performance and Optimization</a:t>
            </a:r>
          </a:p>
          <a:p>
            <a:pPr lvl="1"/>
            <a:r>
              <a:rPr lang="en-US" dirty="0"/>
              <a:t>Availability and Reliability</a:t>
            </a:r>
          </a:p>
          <a:p>
            <a:pPr lvl="1"/>
            <a:r>
              <a:rPr lang="en-US" dirty="0"/>
              <a:t>Scalability and Elasticity</a:t>
            </a:r>
          </a:p>
        </p:txBody>
      </p:sp>
      <p:pic>
        <p:nvPicPr>
          <p:cNvPr id="4098" name="Picture 2"/>
          <p:cNvPicPr>
            <a:picLocks noChangeAspect="1" noChangeArrowheads="1"/>
          </p:cNvPicPr>
          <p:nvPr/>
        </p:nvPicPr>
        <p:blipFill>
          <a:blip r:embed="rId2" cstate="print"/>
          <a:srcRect/>
          <a:stretch>
            <a:fillRect/>
          </a:stretch>
        </p:blipFill>
        <p:spPr bwMode="auto">
          <a:xfrm>
            <a:off x="4267200" y="3181394"/>
            <a:ext cx="4695258" cy="3524207"/>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a:t>
            </a:r>
          </a:p>
        </p:txBody>
      </p:sp>
      <p:sp>
        <p:nvSpPr>
          <p:cNvPr id="3" name="Content Placeholder 2"/>
          <p:cNvSpPr>
            <a:spLocks noGrp="1"/>
          </p:cNvSpPr>
          <p:nvPr>
            <p:ph idx="1"/>
          </p:nvPr>
        </p:nvSpPr>
        <p:spPr/>
        <p:txBody>
          <a:bodyPr/>
          <a:lstStyle/>
          <a:p>
            <a:r>
              <a:rPr lang="en-US" dirty="0"/>
              <a:t>Provide service – </a:t>
            </a:r>
            <a:r>
              <a:rPr lang="en-US" b="1" dirty="0"/>
              <a:t>Programming IDE</a:t>
            </a:r>
          </a:p>
          <a:p>
            <a:pPr lvl="1"/>
            <a:r>
              <a:rPr lang="en-US" dirty="0"/>
              <a:t>Users make use of </a:t>
            </a:r>
            <a:r>
              <a:rPr lang="en-US" b="1" dirty="0">
                <a:solidFill>
                  <a:srgbClr val="FF0000"/>
                </a:solidFill>
              </a:rPr>
              <a:t>programming IDE </a:t>
            </a:r>
            <a:r>
              <a:rPr lang="en-US" dirty="0"/>
              <a:t>to develop their service among </a:t>
            </a:r>
            <a:r>
              <a:rPr lang="en-US" dirty="0" err="1"/>
              <a:t>PaaS</a:t>
            </a:r>
            <a:r>
              <a:rPr lang="en-US" dirty="0"/>
              <a:t>.</a:t>
            </a:r>
          </a:p>
          <a:p>
            <a:pPr lvl="2"/>
            <a:r>
              <a:rPr lang="en-US" dirty="0"/>
              <a:t>This IDE should integrate the </a:t>
            </a:r>
            <a:r>
              <a:rPr lang="en-US" b="1" dirty="0">
                <a:solidFill>
                  <a:srgbClr val="FF0000"/>
                </a:solidFill>
              </a:rPr>
              <a:t>full functionalities </a:t>
            </a:r>
            <a:r>
              <a:rPr lang="en-US" dirty="0"/>
              <a:t>which supported from the underling runtime environment.</a:t>
            </a:r>
          </a:p>
          <a:p>
            <a:pPr lvl="2"/>
            <a:r>
              <a:rPr lang="en-US" dirty="0"/>
              <a:t>This IDE should also provide some </a:t>
            </a:r>
            <a:r>
              <a:rPr lang="en-US" b="1" dirty="0">
                <a:solidFill>
                  <a:srgbClr val="FF0000"/>
                </a:solidFill>
              </a:rPr>
              <a:t>development tools</a:t>
            </a:r>
            <a:r>
              <a:rPr lang="en-US" dirty="0"/>
              <a:t>, such as </a:t>
            </a:r>
            <a:r>
              <a:rPr lang="en-US" b="1" dirty="0">
                <a:solidFill>
                  <a:srgbClr val="FF0000"/>
                </a:solidFill>
              </a:rPr>
              <a:t>profiler, debugger and testing environment.</a:t>
            </a:r>
          </a:p>
          <a:p>
            <a:pPr lvl="1"/>
            <a:r>
              <a:rPr lang="en-US" dirty="0"/>
              <a:t>The programming APIs supported from runtime environment may be various between different cloud providers, but there are still some common operating functions.</a:t>
            </a:r>
          </a:p>
          <a:p>
            <a:pPr lvl="2"/>
            <a:r>
              <a:rPr lang="en-US" dirty="0"/>
              <a:t>Computation, storage and communication resource operation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 </a:t>
            </a:r>
          </a:p>
        </p:txBody>
      </p:sp>
      <p:sp>
        <p:nvSpPr>
          <p:cNvPr id="3" name="Content Placeholder 2"/>
          <p:cNvSpPr>
            <a:spLocks noGrp="1"/>
          </p:cNvSpPr>
          <p:nvPr>
            <p:ph idx="1"/>
          </p:nvPr>
        </p:nvSpPr>
        <p:spPr/>
        <p:txBody>
          <a:bodyPr/>
          <a:lstStyle/>
          <a:p>
            <a:r>
              <a:rPr lang="en-US" dirty="0"/>
              <a:t>Provide service – </a:t>
            </a:r>
            <a:r>
              <a:rPr lang="en-US" b="1" dirty="0"/>
              <a:t>System Control Interface</a:t>
            </a:r>
          </a:p>
          <a:p>
            <a:pPr lvl="1"/>
            <a:r>
              <a:rPr lang="en-US" dirty="0"/>
              <a:t>Police-Based Control</a:t>
            </a:r>
          </a:p>
          <a:p>
            <a:pPr lvl="2"/>
            <a:r>
              <a:rPr lang="en-US" dirty="0"/>
              <a:t>Typically described as a </a:t>
            </a:r>
            <a:r>
              <a:rPr lang="en-US" b="1" dirty="0">
                <a:solidFill>
                  <a:srgbClr val="FF0000"/>
                </a:solidFill>
              </a:rPr>
              <a:t>principle or rule to guide decisions </a:t>
            </a:r>
            <a:r>
              <a:rPr lang="en-US" dirty="0"/>
              <a:t>and achieve rational outcome(s)</a:t>
            </a:r>
          </a:p>
          <a:p>
            <a:pPr lvl="2"/>
            <a:r>
              <a:rPr lang="en-US" dirty="0"/>
              <a:t>Make </a:t>
            </a:r>
            <a:r>
              <a:rPr lang="en-US" b="1" dirty="0">
                <a:solidFill>
                  <a:srgbClr val="FF0000"/>
                </a:solidFill>
              </a:rPr>
              <a:t>the decision according to some requirements</a:t>
            </a:r>
          </a:p>
          <a:p>
            <a:pPr lvl="1"/>
            <a:r>
              <a:rPr lang="en-US" dirty="0"/>
              <a:t>Workflow Control</a:t>
            </a:r>
          </a:p>
          <a:p>
            <a:pPr lvl="2"/>
            <a:r>
              <a:rPr lang="en-US" dirty="0"/>
              <a:t>Describe the </a:t>
            </a:r>
            <a:r>
              <a:rPr lang="en-US" b="1" dirty="0">
                <a:solidFill>
                  <a:srgbClr val="FF0000"/>
                </a:solidFill>
              </a:rPr>
              <a:t>flow of installation and configuration </a:t>
            </a:r>
            <a:r>
              <a:rPr lang="en-US" dirty="0"/>
              <a:t>of resources</a:t>
            </a:r>
          </a:p>
          <a:p>
            <a:pPr lvl="2"/>
            <a:r>
              <a:rPr lang="en-US" dirty="0"/>
              <a:t>Workflow processing daemon delivers </a:t>
            </a:r>
            <a:r>
              <a:rPr lang="en-US" b="1" dirty="0">
                <a:solidFill>
                  <a:srgbClr val="FF0000"/>
                </a:solidFill>
              </a:rPr>
              <a:t>speedy and efficient construction and management</a:t>
            </a:r>
            <a:r>
              <a:rPr lang="en-US" dirty="0"/>
              <a:t> of cloud resources</a:t>
            </a:r>
          </a:p>
          <a:p>
            <a:pPr lvl="2"/>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PaaS</a:t>
            </a:r>
            <a:r>
              <a:rPr lang="en-US" dirty="0"/>
              <a:t> - Summary</a:t>
            </a:r>
          </a:p>
        </p:txBody>
      </p:sp>
      <p:sp>
        <p:nvSpPr>
          <p:cNvPr id="3" name="Content Placeholder 2"/>
          <p:cNvSpPr>
            <a:spLocks noGrp="1"/>
          </p:cNvSpPr>
          <p:nvPr>
            <p:ph idx="1"/>
          </p:nvPr>
        </p:nvSpPr>
        <p:spPr>
          <a:xfrm>
            <a:off x="457200" y="1600200"/>
            <a:ext cx="8229600" cy="4724400"/>
          </a:xfrm>
        </p:spPr>
        <p:txBody>
          <a:bodyPr/>
          <a:lstStyle/>
          <a:p>
            <a:r>
              <a:rPr lang="en-US" sz="2000" b="1" dirty="0" err="1"/>
              <a:t>PaaS</a:t>
            </a:r>
            <a:r>
              <a:rPr lang="en-US" sz="2000" b="1" dirty="0"/>
              <a:t> is the development platform that abstract the infrastructure, OS, and middleware to drive developer productivity.</a:t>
            </a:r>
            <a:br>
              <a:rPr lang="en-US" sz="2000" b="1" dirty="0"/>
            </a:br>
            <a:endParaRPr lang="en-US" sz="2000" b="1" dirty="0"/>
          </a:p>
          <a:p>
            <a:r>
              <a:rPr lang="en-US" dirty="0" err="1"/>
              <a:t>PaaS</a:t>
            </a:r>
            <a:r>
              <a:rPr lang="en-US" dirty="0"/>
              <a:t> enabling technique</a:t>
            </a:r>
          </a:p>
          <a:p>
            <a:pPr lvl="1"/>
            <a:r>
              <a:rPr lang="en-US" dirty="0"/>
              <a:t>Runtime Environment</a:t>
            </a:r>
            <a:br>
              <a:rPr lang="en-US" dirty="0"/>
            </a:br>
            <a:endParaRPr lang="en-US" dirty="0"/>
          </a:p>
          <a:p>
            <a:r>
              <a:rPr lang="en-US" dirty="0" err="1"/>
              <a:t>PaaS</a:t>
            </a:r>
            <a:r>
              <a:rPr lang="en-US" dirty="0"/>
              <a:t> provide services</a:t>
            </a:r>
          </a:p>
          <a:p>
            <a:pPr lvl="1"/>
            <a:r>
              <a:rPr lang="en-US" dirty="0"/>
              <a:t>Programming IDE</a:t>
            </a:r>
          </a:p>
          <a:p>
            <a:pPr lvl="2"/>
            <a:r>
              <a:rPr lang="en-US" dirty="0"/>
              <a:t>Programming APIs</a:t>
            </a:r>
          </a:p>
          <a:p>
            <a:pPr lvl="2"/>
            <a:r>
              <a:rPr lang="en-US" dirty="0"/>
              <a:t>Development tools</a:t>
            </a:r>
          </a:p>
          <a:p>
            <a:pPr lvl="1"/>
            <a:r>
              <a:rPr lang="en-US" dirty="0"/>
              <a:t>System Control Interface</a:t>
            </a:r>
          </a:p>
          <a:p>
            <a:pPr lvl="2"/>
            <a:r>
              <a:rPr lang="en-US" dirty="0"/>
              <a:t>Policy based approach</a:t>
            </a:r>
          </a:p>
          <a:p>
            <a:pPr lvl="2"/>
            <a:r>
              <a:rPr lang="en-US" dirty="0"/>
              <a:t>Workflow based approach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t>Platform as a Service</a:t>
            </a:r>
          </a:p>
          <a:p>
            <a:r>
              <a:rPr lang="en-US" dirty="0">
                <a:solidFill>
                  <a:srgbClr val="C00000"/>
                </a:solidFill>
              </a:rPr>
              <a:t>Software as a Service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a:xfrm>
            <a:off x="457200" y="1371600"/>
            <a:ext cx="8229600" cy="5257800"/>
          </a:xfrm>
        </p:spPr>
        <p:txBody>
          <a:bodyPr>
            <a:noAutofit/>
          </a:bodyPr>
          <a:lstStyle/>
          <a:p>
            <a:r>
              <a:rPr lang="en-US" dirty="0"/>
              <a:t>Software as a Service - </a:t>
            </a:r>
            <a:r>
              <a:rPr lang="en-US" dirty="0" err="1"/>
              <a:t>SaaS</a:t>
            </a:r>
            <a:endParaRPr lang="en-US" dirty="0"/>
          </a:p>
          <a:p>
            <a:pPr lvl="1"/>
            <a:r>
              <a:rPr lang="en-US" dirty="0"/>
              <a:t>The capability provided to the consumer is to use the </a:t>
            </a:r>
            <a:r>
              <a:rPr lang="en-US" b="1" dirty="0">
                <a:solidFill>
                  <a:srgbClr val="FF0000"/>
                </a:solidFill>
              </a:rPr>
              <a:t>provider’s applications running on a cloud infrastructure</a:t>
            </a:r>
            <a:r>
              <a:rPr lang="en-US" dirty="0"/>
              <a:t>. The applications are accessible from various client devices through a thin client interface such as a </a:t>
            </a:r>
            <a:r>
              <a:rPr lang="en-US" b="1" dirty="0">
                <a:solidFill>
                  <a:srgbClr val="FF0000"/>
                </a:solidFill>
              </a:rPr>
              <a:t>web browser </a:t>
            </a:r>
            <a:r>
              <a:rPr lang="en-US" dirty="0"/>
              <a:t>(e.g., web-based email).</a:t>
            </a:r>
          </a:p>
          <a:p>
            <a:pPr lvl="1"/>
            <a:r>
              <a:rPr lang="en-US" dirty="0"/>
              <a:t>The consumer </a:t>
            </a:r>
            <a:r>
              <a:rPr lang="en-US" b="1" dirty="0">
                <a:solidFill>
                  <a:srgbClr val="FF0000"/>
                </a:solidFill>
              </a:rPr>
              <a:t>does not manage or control the underlying cloud infrastructure</a:t>
            </a:r>
            <a:r>
              <a:rPr lang="en-US" dirty="0"/>
              <a:t> including network, servers, operating systems, storage, or even individual application capabilities, with the possible exception of limited user-specific application configuration settings.</a:t>
            </a:r>
          </a:p>
          <a:p>
            <a:r>
              <a:rPr lang="en-US" dirty="0"/>
              <a:t>Examples :</a:t>
            </a:r>
          </a:p>
          <a:p>
            <a:pPr lvl="1"/>
            <a:r>
              <a:rPr lang="en-US" dirty="0"/>
              <a:t>Google Apps (e.g., Gmail, Google Docs, Google sites, …etc)</a:t>
            </a:r>
          </a:p>
          <a:p>
            <a:pPr lvl="1"/>
            <a:r>
              <a:rPr lang="en-US" dirty="0"/>
              <a:t>SalesForce.com</a:t>
            </a:r>
          </a:p>
          <a:p>
            <a:pPr lvl="1"/>
            <a:r>
              <a:rPr lang="en-US" dirty="0" err="1"/>
              <a:t>EyeOS</a:t>
            </a:r>
            <a:endParaRPr lang="en-US" dirty="0"/>
          </a:p>
          <a:p>
            <a:pPr lvl="1"/>
            <a:r>
              <a:rPr lang="en-US" altLang="zh-TW" dirty="0"/>
              <a:t>… etc</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pic>
        <p:nvPicPr>
          <p:cNvPr id="6146" name="Picture 2"/>
          <p:cNvPicPr>
            <a:picLocks noChangeAspect="1" noChangeArrowheads="1"/>
          </p:cNvPicPr>
          <p:nvPr/>
        </p:nvPicPr>
        <p:blipFill>
          <a:blip r:embed="rId2" cstate="print"/>
          <a:srcRect/>
          <a:stretch>
            <a:fillRect/>
          </a:stretch>
        </p:blipFill>
        <p:spPr bwMode="auto">
          <a:xfrm>
            <a:off x="990600" y="1219200"/>
            <a:ext cx="7315200" cy="5817022"/>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a:xfrm>
            <a:off x="457200" y="1143000"/>
            <a:ext cx="8229600" cy="4525963"/>
          </a:xfrm>
        </p:spPr>
        <p:txBody>
          <a:bodyPr/>
          <a:lstStyle/>
          <a:p>
            <a:r>
              <a:rPr lang="en-US" dirty="0"/>
              <a:t>Enabling Technique – </a:t>
            </a:r>
            <a:r>
              <a:rPr lang="en-US" b="1" dirty="0"/>
              <a:t>Web Service</a:t>
            </a:r>
          </a:p>
          <a:p>
            <a:pPr lvl="1"/>
            <a:r>
              <a:rPr lang="en-US" dirty="0"/>
              <a:t>Web 2.0 is the trend of using the full potential of the web</a:t>
            </a:r>
          </a:p>
          <a:p>
            <a:pPr lvl="2"/>
            <a:r>
              <a:rPr lang="en-US" dirty="0"/>
              <a:t>Viewing the Internet as a computing platform</a:t>
            </a:r>
          </a:p>
          <a:p>
            <a:pPr lvl="2"/>
            <a:r>
              <a:rPr lang="en-US" b="1" dirty="0">
                <a:solidFill>
                  <a:srgbClr val="FF0000"/>
                </a:solidFill>
              </a:rPr>
              <a:t>Running interactive applications </a:t>
            </a:r>
            <a:r>
              <a:rPr lang="en-US" dirty="0"/>
              <a:t>through a </a:t>
            </a:r>
            <a:r>
              <a:rPr lang="en-US" b="1" dirty="0">
                <a:solidFill>
                  <a:srgbClr val="FF0000"/>
                </a:solidFill>
              </a:rPr>
              <a:t>web browser</a:t>
            </a:r>
          </a:p>
          <a:p>
            <a:pPr lvl="2"/>
            <a:r>
              <a:rPr lang="en-US" dirty="0"/>
              <a:t>Leveraging </a:t>
            </a:r>
            <a:r>
              <a:rPr lang="en-US" b="1" dirty="0">
                <a:solidFill>
                  <a:srgbClr val="FF0000"/>
                </a:solidFill>
              </a:rPr>
              <a:t>interconnectivity</a:t>
            </a:r>
            <a:r>
              <a:rPr lang="en-US" dirty="0"/>
              <a:t> and mobility of devices</a:t>
            </a:r>
          </a:p>
          <a:p>
            <a:pPr lvl="2"/>
            <a:r>
              <a:rPr lang="en-US" dirty="0"/>
              <a:t>Enhanced effectiveness with greater human participation</a:t>
            </a:r>
          </a:p>
          <a:p>
            <a:r>
              <a:rPr lang="en-US" dirty="0"/>
              <a:t>Properties provided by Internet :</a:t>
            </a:r>
          </a:p>
          <a:p>
            <a:pPr lvl="1"/>
            <a:r>
              <a:rPr lang="en-US" dirty="0"/>
              <a:t>Accessibility and Portability</a:t>
            </a:r>
          </a:p>
          <a:p>
            <a:pPr lvl="1"/>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4367784" y="3276600"/>
            <a:ext cx="4700016" cy="3527779"/>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p:txBody>
          <a:bodyPr/>
          <a:lstStyle/>
          <a:p>
            <a:r>
              <a:rPr lang="en-US" dirty="0"/>
              <a:t>Provide service – </a:t>
            </a:r>
            <a:r>
              <a:rPr lang="en-US" b="1" dirty="0"/>
              <a:t>Web-based Applications</a:t>
            </a:r>
          </a:p>
          <a:p>
            <a:pPr lvl="1"/>
            <a:r>
              <a:rPr lang="en-US" b="1" dirty="0">
                <a:solidFill>
                  <a:srgbClr val="FF0000"/>
                </a:solidFill>
              </a:rPr>
              <a:t>Conventional applications </a:t>
            </a:r>
            <a:r>
              <a:rPr lang="en-US" dirty="0"/>
              <a:t>should translate their access interface onto </a:t>
            </a:r>
            <a:r>
              <a:rPr lang="en-US" b="1" dirty="0">
                <a:solidFill>
                  <a:srgbClr val="FF0000"/>
                </a:solidFill>
              </a:rPr>
              <a:t>web-based platform.</a:t>
            </a:r>
          </a:p>
          <a:p>
            <a:pPr lvl="1"/>
            <a:r>
              <a:rPr lang="en-US" dirty="0"/>
              <a:t>Applications in different domains</a:t>
            </a:r>
          </a:p>
          <a:p>
            <a:pPr lvl="2"/>
            <a:r>
              <a:rPr lang="en-US" b="1" i="1" dirty="0"/>
              <a:t>General Applications </a:t>
            </a:r>
            <a:r>
              <a:rPr lang="en-US" dirty="0"/>
              <a:t>– Applications which are designed for general propose, such as </a:t>
            </a:r>
            <a:r>
              <a:rPr lang="en-US" dirty="0">
                <a:solidFill>
                  <a:srgbClr val="C00000"/>
                </a:solidFill>
              </a:rPr>
              <a:t>office suit</a:t>
            </a:r>
            <a:r>
              <a:rPr lang="en-US" dirty="0"/>
              <a:t>, </a:t>
            </a:r>
            <a:r>
              <a:rPr lang="en-US" i="1" dirty="0">
                <a:solidFill>
                  <a:srgbClr val="C00000"/>
                </a:solidFill>
              </a:rPr>
              <a:t>multimedia</a:t>
            </a:r>
            <a:r>
              <a:rPr lang="en-US" dirty="0"/>
              <a:t> and </a:t>
            </a:r>
            <a:r>
              <a:rPr lang="en-US" i="1" dirty="0">
                <a:solidFill>
                  <a:srgbClr val="C00000"/>
                </a:solidFill>
              </a:rPr>
              <a:t>instant message</a:t>
            </a:r>
            <a:r>
              <a:rPr lang="en-US" dirty="0"/>
              <a:t>, …etc.</a:t>
            </a:r>
          </a:p>
          <a:p>
            <a:pPr lvl="2"/>
            <a:r>
              <a:rPr lang="en-US" b="1" i="1" dirty="0"/>
              <a:t>Business Applications </a:t>
            </a:r>
            <a:r>
              <a:rPr lang="en-US" dirty="0"/>
              <a:t>– Application which are designed for business propose, such as </a:t>
            </a:r>
            <a:r>
              <a:rPr lang="en-US" i="1" dirty="0">
                <a:solidFill>
                  <a:srgbClr val="C00000"/>
                </a:solidFill>
              </a:rPr>
              <a:t>ERP</a:t>
            </a:r>
            <a:r>
              <a:rPr lang="en-US" dirty="0"/>
              <a:t>, </a:t>
            </a:r>
            <a:r>
              <a:rPr lang="en-US" i="1" dirty="0">
                <a:solidFill>
                  <a:srgbClr val="C00000"/>
                </a:solidFill>
              </a:rPr>
              <a:t>CRM</a:t>
            </a:r>
            <a:r>
              <a:rPr lang="en-US" dirty="0"/>
              <a:t> and </a:t>
            </a:r>
            <a:r>
              <a:rPr lang="en-US" i="1" dirty="0">
                <a:solidFill>
                  <a:srgbClr val="C00000"/>
                </a:solidFill>
              </a:rPr>
              <a:t>market trading system</a:t>
            </a:r>
            <a:r>
              <a:rPr lang="en-US" dirty="0"/>
              <a:t>, …etc.</a:t>
            </a:r>
          </a:p>
          <a:p>
            <a:pPr lvl="2"/>
            <a:r>
              <a:rPr lang="en-US" b="1" i="1" dirty="0"/>
              <a:t>Scientific Applications </a:t>
            </a:r>
            <a:r>
              <a:rPr lang="en-US" dirty="0"/>
              <a:t>– Application which are designed for scientific propose, such as </a:t>
            </a:r>
            <a:r>
              <a:rPr lang="en-US" i="1" dirty="0">
                <a:solidFill>
                  <a:srgbClr val="C00000"/>
                </a:solidFill>
              </a:rPr>
              <a:t>aerospace simulation </a:t>
            </a:r>
            <a:r>
              <a:rPr lang="en-US" dirty="0"/>
              <a:t>and </a:t>
            </a:r>
            <a:r>
              <a:rPr lang="en-US" i="1" dirty="0">
                <a:solidFill>
                  <a:srgbClr val="C00000"/>
                </a:solidFill>
              </a:rPr>
              <a:t>biochemistry simulation</a:t>
            </a:r>
            <a:r>
              <a:rPr lang="en-US" dirty="0"/>
              <a:t>, …etc.</a:t>
            </a:r>
          </a:p>
          <a:p>
            <a:pPr lvl="2"/>
            <a:r>
              <a:rPr lang="en-US" b="1" i="1" dirty="0"/>
              <a:t>Government Applications</a:t>
            </a:r>
            <a:r>
              <a:rPr lang="en-US" dirty="0"/>
              <a:t> – Applications which are designed for government propose, such as </a:t>
            </a:r>
            <a:r>
              <a:rPr lang="en-US" i="1" dirty="0">
                <a:solidFill>
                  <a:srgbClr val="C00000"/>
                </a:solidFill>
              </a:rPr>
              <a:t>national medical system </a:t>
            </a:r>
            <a:r>
              <a:rPr lang="en-US" dirty="0"/>
              <a:t>and </a:t>
            </a:r>
            <a:r>
              <a:rPr lang="en-US" i="1" dirty="0">
                <a:solidFill>
                  <a:srgbClr val="C00000"/>
                </a:solidFill>
              </a:rPr>
              <a:t>public transportation system service</a:t>
            </a:r>
            <a:r>
              <a:rPr lang="en-US" dirty="0"/>
              <a:t>, …etc.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p:txBody>
          <a:bodyPr/>
          <a:lstStyle/>
          <a:p>
            <a:r>
              <a:rPr lang="en-US" dirty="0"/>
              <a:t>Provide service – </a:t>
            </a:r>
            <a:r>
              <a:rPr lang="en-US" b="1" dirty="0"/>
              <a:t>Web Portal</a:t>
            </a:r>
          </a:p>
          <a:p>
            <a:pPr lvl="1"/>
            <a:r>
              <a:rPr lang="en-US" dirty="0"/>
              <a:t>Apart from the standard </a:t>
            </a:r>
            <a:r>
              <a:rPr lang="en-US" b="1" dirty="0">
                <a:solidFill>
                  <a:srgbClr val="FF0000"/>
                </a:solidFill>
              </a:rPr>
              <a:t>search engine feature</a:t>
            </a:r>
            <a:r>
              <a:rPr lang="en-US" dirty="0"/>
              <a:t>, web portals offer other services such as </a:t>
            </a:r>
            <a:r>
              <a:rPr lang="en-US" b="1" dirty="0">
                <a:solidFill>
                  <a:srgbClr val="FF0000"/>
                </a:solidFill>
              </a:rPr>
              <a:t>e-mail, news, stock prices, information, databases and entertainment.</a:t>
            </a:r>
          </a:p>
          <a:p>
            <a:pPr lvl="1"/>
            <a:r>
              <a:rPr lang="en-US" dirty="0"/>
              <a:t>Portals provide a way for enterprises to provide a consistent look and feel with access control and procedures for multiple applications and databases, which otherwise would have been different entities altogether.</a:t>
            </a:r>
          </a:p>
          <a:p>
            <a:pPr lvl="1"/>
            <a:r>
              <a:rPr lang="en-US" dirty="0"/>
              <a:t>Some examples :</a:t>
            </a:r>
          </a:p>
          <a:p>
            <a:pPr lvl="2"/>
            <a:r>
              <a:rPr lang="en-US" dirty="0" err="1"/>
              <a:t>iGoogle</a:t>
            </a:r>
            <a:endParaRPr lang="en-US" dirty="0"/>
          </a:p>
          <a:p>
            <a:pPr lvl="2"/>
            <a:r>
              <a:rPr lang="en-US" dirty="0"/>
              <a:t>MSNBC</a:t>
            </a:r>
          </a:p>
          <a:p>
            <a:pPr lvl="2"/>
            <a:r>
              <a:rPr lang="en-US" dirty="0" err="1"/>
              <a:t>Netvibes</a:t>
            </a:r>
            <a:endParaRPr lang="en-US" dirty="0"/>
          </a:p>
          <a:p>
            <a:pPr lvl="2"/>
            <a:r>
              <a:rPr lang="en-US" dirty="0"/>
              <a:t>Yahoo!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SaaS</a:t>
            </a:r>
            <a:r>
              <a:rPr lang="en-US" dirty="0"/>
              <a:t> - Summary</a:t>
            </a:r>
          </a:p>
        </p:txBody>
      </p:sp>
      <p:sp>
        <p:nvSpPr>
          <p:cNvPr id="3" name="Content Placeholder 2"/>
          <p:cNvSpPr>
            <a:spLocks noGrp="1"/>
          </p:cNvSpPr>
          <p:nvPr>
            <p:ph idx="1"/>
          </p:nvPr>
        </p:nvSpPr>
        <p:spPr/>
        <p:txBody>
          <a:bodyPr>
            <a:normAutofit/>
          </a:bodyPr>
          <a:lstStyle/>
          <a:p>
            <a:r>
              <a:rPr lang="en-US" sz="2000" b="1" dirty="0" err="1"/>
              <a:t>SaaS</a:t>
            </a:r>
            <a:r>
              <a:rPr lang="en-US" sz="2000" b="1" dirty="0"/>
              <a:t> is the finished applications that you rent and customize.</a:t>
            </a:r>
            <a:br>
              <a:rPr lang="en-US" sz="2000" b="1" dirty="0"/>
            </a:br>
            <a:endParaRPr lang="en-US" sz="2000" b="1" dirty="0"/>
          </a:p>
          <a:p>
            <a:r>
              <a:rPr lang="en-US" dirty="0" err="1"/>
              <a:t>SaaS</a:t>
            </a:r>
            <a:r>
              <a:rPr lang="en-US" dirty="0"/>
              <a:t> enabling technique</a:t>
            </a:r>
          </a:p>
          <a:p>
            <a:pPr lvl="1"/>
            <a:r>
              <a:rPr lang="en-US" dirty="0"/>
              <a:t>Web Service</a:t>
            </a:r>
            <a:br>
              <a:rPr lang="en-US" dirty="0"/>
            </a:br>
            <a:endParaRPr lang="en-US" dirty="0"/>
          </a:p>
          <a:p>
            <a:r>
              <a:rPr lang="en-US" dirty="0" err="1"/>
              <a:t>SaaS</a:t>
            </a:r>
            <a:r>
              <a:rPr lang="en-US" dirty="0"/>
              <a:t> provide services</a:t>
            </a:r>
          </a:p>
          <a:p>
            <a:pPr lvl="1"/>
            <a:r>
              <a:rPr lang="en-US" dirty="0"/>
              <a:t>Web-based Applications</a:t>
            </a:r>
          </a:p>
          <a:p>
            <a:pPr lvl="2"/>
            <a:r>
              <a:rPr lang="en-US" dirty="0"/>
              <a:t>General applications</a:t>
            </a:r>
          </a:p>
          <a:p>
            <a:pPr lvl="2"/>
            <a:r>
              <a:rPr lang="en-US" dirty="0"/>
              <a:t>Business applications</a:t>
            </a:r>
          </a:p>
          <a:p>
            <a:pPr lvl="2"/>
            <a:r>
              <a:rPr lang="en-US" dirty="0"/>
              <a:t>Scientific applications</a:t>
            </a:r>
          </a:p>
          <a:p>
            <a:pPr lvl="2"/>
            <a:r>
              <a:rPr lang="en-US" dirty="0"/>
              <a:t>Government applications</a:t>
            </a:r>
          </a:p>
          <a:p>
            <a:pPr lvl="1"/>
            <a:r>
              <a:rPr lang="en-US" dirty="0"/>
              <a:t>Web Portal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models</a:t>
            </a:r>
          </a:p>
        </p:txBody>
      </p:sp>
      <p:sp>
        <p:nvSpPr>
          <p:cNvPr id="3" name="Text Placeholder 2"/>
          <p:cNvSpPr>
            <a:spLocks noGrp="1"/>
          </p:cNvSpPr>
          <p:nvPr>
            <p:ph type="body" idx="1"/>
          </p:nvPr>
        </p:nvSpPr>
        <p:spPr/>
        <p:txBody>
          <a:bodyPr/>
          <a:lstStyle/>
          <a:p>
            <a:r>
              <a:rPr lang="en-US" dirty="0">
                <a:solidFill>
                  <a:srgbClr val="C00000"/>
                </a:solidFill>
              </a:rPr>
              <a:t>How to deploy a cloud system ?</a:t>
            </a:r>
          </a:p>
        </p:txBody>
      </p:sp>
      <p:pic>
        <p:nvPicPr>
          <p:cNvPr id="4" name="Picture 6" descr="C:\Users\Andy\AppData\Local\Microsoft\Windows\Temporary Internet Files\Content.IE5\OHTRCXWF\MPj04308910000[1].jpg"/>
          <p:cNvPicPr>
            <a:picLocks noChangeAspect="1" noChangeArrowheads="1"/>
          </p:cNvPicPr>
          <p:nvPr/>
        </p:nvPicPr>
        <p:blipFill>
          <a:blip r:embed="rId2" cstate="print"/>
          <a:srcRect/>
          <a:stretch>
            <a:fillRect/>
          </a:stretch>
        </p:blipFill>
        <p:spPr bwMode="auto">
          <a:xfrm>
            <a:off x="5729957" y="228600"/>
            <a:ext cx="3185442" cy="434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a:t>
            </a:r>
          </a:p>
        </p:txBody>
      </p:sp>
      <p:sp>
        <p:nvSpPr>
          <p:cNvPr id="3" name="Content Placeholder 2"/>
          <p:cNvSpPr>
            <a:spLocks noGrp="1"/>
          </p:cNvSpPr>
          <p:nvPr>
            <p:ph idx="1"/>
          </p:nvPr>
        </p:nvSpPr>
        <p:spPr/>
        <p:txBody>
          <a:bodyPr/>
          <a:lstStyle/>
          <a:p>
            <a:r>
              <a:rPr lang="en-US" dirty="0"/>
              <a:t>There are four primary cloud deployment models :</a:t>
            </a:r>
          </a:p>
          <a:p>
            <a:pPr lvl="1"/>
            <a:r>
              <a:rPr lang="en-US" dirty="0"/>
              <a:t>Public Cloud</a:t>
            </a:r>
          </a:p>
          <a:p>
            <a:pPr lvl="1"/>
            <a:r>
              <a:rPr lang="en-US" dirty="0"/>
              <a:t>Private Cloud</a:t>
            </a:r>
          </a:p>
          <a:p>
            <a:pPr lvl="1"/>
            <a:r>
              <a:rPr lang="en-US" dirty="0"/>
              <a:t>Community Cloud</a:t>
            </a:r>
          </a:p>
          <a:p>
            <a:pPr lvl="1"/>
            <a:r>
              <a:rPr lang="en-US" dirty="0"/>
              <a:t>Hybrid Cloud</a:t>
            </a:r>
            <a:br>
              <a:rPr lang="en-US" dirty="0"/>
            </a:br>
            <a:endParaRPr lang="en-US" dirty="0"/>
          </a:p>
          <a:p>
            <a:r>
              <a:rPr lang="en-US" dirty="0"/>
              <a:t>Each can exhibit the previously discussed characteristics; their differences lie primarily in the scope and access of published cloud services, as they are made available to service consumers.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Cloud</a:t>
            </a:r>
          </a:p>
        </p:txBody>
      </p:sp>
      <p:sp>
        <p:nvSpPr>
          <p:cNvPr id="3" name="Content Placeholder 2"/>
          <p:cNvSpPr>
            <a:spLocks noGrp="1"/>
          </p:cNvSpPr>
          <p:nvPr>
            <p:ph idx="1"/>
          </p:nvPr>
        </p:nvSpPr>
        <p:spPr>
          <a:xfrm>
            <a:off x="457200" y="1600200"/>
            <a:ext cx="8382000" cy="4525963"/>
          </a:xfrm>
        </p:spPr>
        <p:txBody>
          <a:bodyPr/>
          <a:lstStyle/>
          <a:p>
            <a:r>
              <a:rPr lang="en-US" dirty="0"/>
              <a:t>Public cloud definition</a:t>
            </a:r>
          </a:p>
          <a:p>
            <a:pPr lvl="1"/>
            <a:r>
              <a:rPr lang="en-US" dirty="0"/>
              <a:t>The cloud infrastructure is </a:t>
            </a:r>
            <a:r>
              <a:rPr lang="en-US" b="1" dirty="0">
                <a:solidFill>
                  <a:srgbClr val="FF0000"/>
                </a:solidFill>
              </a:rPr>
              <a:t>made available to the general public </a:t>
            </a:r>
            <a:r>
              <a:rPr lang="en-US" dirty="0"/>
              <a:t>or </a:t>
            </a:r>
            <a:r>
              <a:rPr lang="en-US" dirty="0">
                <a:solidFill>
                  <a:srgbClr val="FF0000"/>
                </a:solidFill>
              </a:rPr>
              <a:t>a large industry group </a:t>
            </a:r>
            <a:r>
              <a:rPr lang="en-US" dirty="0"/>
              <a:t>and is owned by an organization selling cloud services.</a:t>
            </a:r>
          </a:p>
          <a:p>
            <a:pPr lvl="1"/>
            <a:r>
              <a:rPr lang="en-US" dirty="0"/>
              <a:t>Also known as </a:t>
            </a:r>
            <a:r>
              <a:rPr lang="en-US" b="1" dirty="0">
                <a:solidFill>
                  <a:srgbClr val="FF0000"/>
                </a:solidFill>
              </a:rPr>
              <a:t>external cloud or multi-tenant cloud</a:t>
            </a:r>
            <a:r>
              <a:rPr lang="en-US" dirty="0"/>
              <a:t>, this model essentially represents a cloud environment that is openly accessible.</a:t>
            </a:r>
          </a:p>
          <a:p>
            <a:pPr lvl="1"/>
            <a:r>
              <a:rPr lang="en-US" dirty="0"/>
              <a:t>Basic characteristics :</a:t>
            </a:r>
          </a:p>
          <a:p>
            <a:pPr lvl="2"/>
            <a:r>
              <a:rPr lang="en-US" dirty="0"/>
              <a:t>Homogeneous infrastructure</a:t>
            </a:r>
          </a:p>
          <a:p>
            <a:pPr lvl="2"/>
            <a:r>
              <a:rPr lang="en-US" dirty="0"/>
              <a:t>Common policies</a:t>
            </a:r>
          </a:p>
          <a:p>
            <a:pPr lvl="2"/>
            <a:r>
              <a:rPr lang="en-US" dirty="0"/>
              <a:t>Shared resources and multi-tenant</a:t>
            </a:r>
          </a:p>
          <a:p>
            <a:pPr lvl="2"/>
            <a:r>
              <a:rPr lang="en-US" dirty="0"/>
              <a:t>Leased or rented infrastructure</a:t>
            </a:r>
          </a:p>
          <a:p>
            <a:pPr lvl="2"/>
            <a:r>
              <a:rPr lang="en-US" dirty="0"/>
              <a:t>Economies of scale</a:t>
            </a:r>
          </a:p>
        </p:txBody>
      </p:sp>
      <p:pic>
        <p:nvPicPr>
          <p:cNvPr id="1026" name="Picture 2"/>
          <p:cNvPicPr>
            <a:picLocks noChangeAspect="1" noChangeArrowheads="1"/>
          </p:cNvPicPr>
          <p:nvPr/>
        </p:nvPicPr>
        <p:blipFill>
          <a:blip r:embed="rId2" cstate="print"/>
          <a:srcRect/>
          <a:stretch>
            <a:fillRect/>
          </a:stretch>
        </p:blipFill>
        <p:spPr bwMode="auto">
          <a:xfrm>
            <a:off x="5562600" y="3634423"/>
            <a:ext cx="3039503" cy="25146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Cloud</a:t>
            </a:r>
          </a:p>
        </p:txBody>
      </p:sp>
      <p:sp>
        <p:nvSpPr>
          <p:cNvPr id="3" name="Content Placeholder 2"/>
          <p:cNvSpPr>
            <a:spLocks noGrp="1"/>
          </p:cNvSpPr>
          <p:nvPr>
            <p:ph idx="1"/>
          </p:nvPr>
        </p:nvSpPr>
        <p:spPr>
          <a:xfrm>
            <a:off x="457200" y="1295400"/>
            <a:ext cx="8229600" cy="4800600"/>
          </a:xfrm>
        </p:spPr>
        <p:txBody>
          <a:bodyPr>
            <a:noAutofit/>
          </a:bodyPr>
          <a:lstStyle/>
          <a:p>
            <a:r>
              <a:rPr lang="en-US" dirty="0"/>
              <a:t>Private cloud definition</a:t>
            </a:r>
          </a:p>
          <a:p>
            <a:pPr lvl="1"/>
            <a:r>
              <a:rPr lang="en-US" dirty="0"/>
              <a:t>The cloud infrastructure is operated </a:t>
            </a:r>
            <a:r>
              <a:rPr lang="en-US" b="1" dirty="0">
                <a:solidFill>
                  <a:srgbClr val="FF0000"/>
                </a:solidFill>
              </a:rPr>
              <a:t>solely for an organization</a:t>
            </a:r>
            <a:r>
              <a:rPr lang="en-US" dirty="0"/>
              <a:t>. It may be managed by the organization or a third party and may exist on premise or off premise.</a:t>
            </a:r>
          </a:p>
          <a:p>
            <a:pPr lvl="1"/>
            <a:r>
              <a:rPr lang="en-US" dirty="0"/>
              <a:t>Also referred to as internal cloud or on-premise cloud, a private cloud intentionally limits access to its resources to service consumers that belong to the same organization that owns the cloud.</a:t>
            </a:r>
          </a:p>
          <a:p>
            <a:pPr lvl="1"/>
            <a:r>
              <a:rPr lang="en-US" dirty="0"/>
              <a:t>Basic characteristics :</a:t>
            </a:r>
          </a:p>
          <a:p>
            <a:pPr lvl="2"/>
            <a:r>
              <a:rPr lang="en-US" dirty="0"/>
              <a:t>Heterogeneous infrastructure</a:t>
            </a:r>
          </a:p>
          <a:p>
            <a:pPr lvl="2"/>
            <a:r>
              <a:rPr lang="en-US" dirty="0"/>
              <a:t>Customized and tailored policies</a:t>
            </a:r>
          </a:p>
          <a:p>
            <a:pPr lvl="2"/>
            <a:r>
              <a:rPr lang="en-US" dirty="0"/>
              <a:t>Dedicated resources</a:t>
            </a:r>
          </a:p>
          <a:p>
            <a:pPr lvl="2"/>
            <a:r>
              <a:rPr lang="en-US" dirty="0"/>
              <a:t>In-house infrastructure</a:t>
            </a:r>
          </a:p>
          <a:p>
            <a:pPr lvl="2"/>
            <a:r>
              <a:rPr lang="en-US" dirty="0"/>
              <a:t>End-to-end control </a:t>
            </a:r>
          </a:p>
        </p:txBody>
      </p:sp>
      <p:pic>
        <p:nvPicPr>
          <p:cNvPr id="2050" name="Picture 2"/>
          <p:cNvPicPr>
            <a:picLocks noChangeAspect="1" noChangeArrowheads="1"/>
          </p:cNvPicPr>
          <p:nvPr/>
        </p:nvPicPr>
        <p:blipFill>
          <a:blip r:embed="rId2" cstate="print"/>
          <a:srcRect/>
          <a:stretch>
            <a:fillRect/>
          </a:stretch>
        </p:blipFill>
        <p:spPr bwMode="auto">
          <a:xfrm>
            <a:off x="5791200" y="3666392"/>
            <a:ext cx="3120776" cy="2429608"/>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vs. Private</a:t>
            </a:r>
          </a:p>
        </p:txBody>
      </p:sp>
      <p:sp>
        <p:nvSpPr>
          <p:cNvPr id="3" name="Content Placeholder 2"/>
          <p:cNvSpPr>
            <a:spLocks noGrp="1"/>
          </p:cNvSpPr>
          <p:nvPr>
            <p:ph idx="1"/>
          </p:nvPr>
        </p:nvSpPr>
        <p:spPr>
          <a:xfrm>
            <a:off x="457200" y="1600201"/>
            <a:ext cx="8229600" cy="609600"/>
          </a:xfrm>
        </p:spPr>
        <p:txBody>
          <a:bodyPr/>
          <a:lstStyle/>
          <a:p>
            <a:r>
              <a:rPr lang="en-US" dirty="0"/>
              <a:t>Comparison :</a:t>
            </a:r>
          </a:p>
        </p:txBody>
      </p:sp>
      <p:graphicFrame>
        <p:nvGraphicFramePr>
          <p:cNvPr id="5" name="Table 4"/>
          <p:cNvGraphicFramePr>
            <a:graphicFrameLocks noGrp="1"/>
          </p:cNvGraphicFramePr>
          <p:nvPr/>
        </p:nvGraphicFramePr>
        <p:xfrm>
          <a:off x="990600" y="2575560"/>
          <a:ext cx="7162800" cy="2225040"/>
        </p:xfrm>
        <a:graphic>
          <a:graphicData uri="http://schemas.openxmlformats.org/drawingml/2006/table">
            <a:tbl>
              <a:tblPr firstRow="1" bandRow="1">
                <a:tableStyleId>{7DF18680-E054-41AD-8BC1-D1AEF772440D}</a:tableStyleId>
              </a:tblPr>
              <a:tblGrid>
                <a:gridCol w="17526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Public Cloud</a:t>
                      </a:r>
                    </a:p>
                  </a:txBody>
                  <a:tcPr/>
                </a:tc>
                <a:tc>
                  <a:txBody>
                    <a:bodyPr/>
                    <a:lstStyle/>
                    <a:p>
                      <a:r>
                        <a:rPr lang="en-US" dirty="0"/>
                        <a:t>Private Cloud</a:t>
                      </a:r>
                    </a:p>
                  </a:txBody>
                  <a:tcPr/>
                </a:tc>
                <a:extLst>
                  <a:ext uri="{0D108BD9-81ED-4DB2-BD59-A6C34878D82A}">
                    <a16:rowId xmlns:a16="http://schemas.microsoft.com/office/drawing/2014/main" val="10000"/>
                  </a:ext>
                </a:extLst>
              </a:tr>
              <a:tr h="370840">
                <a:tc>
                  <a:txBody>
                    <a:bodyPr/>
                    <a:lstStyle/>
                    <a:p>
                      <a:r>
                        <a:rPr lang="en-US" b="1" i="1" dirty="0"/>
                        <a:t>Infrastructure</a:t>
                      </a:r>
                    </a:p>
                  </a:txBody>
                  <a:tcPr anchor="ctr"/>
                </a:tc>
                <a:tc>
                  <a:txBody>
                    <a:bodyPr/>
                    <a:lstStyle/>
                    <a:p>
                      <a:pPr algn="l"/>
                      <a:r>
                        <a:rPr lang="en-US" sz="1800" i="1" kern="1200" dirty="0">
                          <a:solidFill>
                            <a:schemeClr val="tx1"/>
                          </a:solidFill>
                          <a:latin typeface="+mn-lt"/>
                          <a:ea typeface="+mn-ea"/>
                          <a:cs typeface="+mn-cs"/>
                        </a:rPr>
                        <a:t>Homogeneous </a:t>
                      </a:r>
                    </a:p>
                  </a:txBody>
                  <a:tcPr anchor="ctr"/>
                </a:tc>
                <a:tc>
                  <a:txBody>
                    <a:bodyPr/>
                    <a:lstStyle/>
                    <a:p>
                      <a:pPr algn="l"/>
                      <a:r>
                        <a:rPr lang="en-US" sz="1800" i="1" kern="1200" dirty="0">
                          <a:solidFill>
                            <a:schemeClr val="tx1"/>
                          </a:solidFill>
                          <a:latin typeface="+mn-lt"/>
                          <a:ea typeface="+mn-ea"/>
                          <a:cs typeface="+mn-cs"/>
                        </a:rPr>
                        <a:t>Heterogeneous</a:t>
                      </a:r>
                    </a:p>
                  </a:txBody>
                  <a:tcPr anchor="ctr"/>
                </a:tc>
                <a:extLst>
                  <a:ext uri="{0D108BD9-81ED-4DB2-BD59-A6C34878D82A}">
                    <a16:rowId xmlns:a16="http://schemas.microsoft.com/office/drawing/2014/main" val="10001"/>
                  </a:ext>
                </a:extLst>
              </a:tr>
              <a:tr h="370840">
                <a:tc>
                  <a:txBody>
                    <a:bodyPr/>
                    <a:lstStyle/>
                    <a:p>
                      <a:r>
                        <a:rPr lang="en-US" b="1" i="1" dirty="0"/>
                        <a:t>Policy Model</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a:solidFill>
                            <a:schemeClr val="tx1"/>
                          </a:solidFill>
                          <a:latin typeface="+mn-lt"/>
                          <a:ea typeface="+mn-ea"/>
                          <a:cs typeface="+mn-cs"/>
                        </a:rPr>
                        <a:t>Common defined</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a:solidFill>
                            <a:schemeClr val="tx1"/>
                          </a:solidFill>
                          <a:latin typeface="+mn-lt"/>
                          <a:ea typeface="+mn-ea"/>
                          <a:cs typeface="+mn-cs"/>
                        </a:rPr>
                        <a:t>Customized &amp; Tailored </a:t>
                      </a:r>
                    </a:p>
                  </a:txBody>
                  <a:tcPr anchor="ctr"/>
                </a:tc>
                <a:extLst>
                  <a:ext uri="{0D108BD9-81ED-4DB2-BD59-A6C34878D82A}">
                    <a16:rowId xmlns:a16="http://schemas.microsoft.com/office/drawing/2014/main" val="10002"/>
                  </a:ext>
                </a:extLst>
              </a:tr>
              <a:tr h="370840">
                <a:tc>
                  <a:txBody>
                    <a:bodyPr/>
                    <a:lstStyle/>
                    <a:p>
                      <a:r>
                        <a:rPr lang="en-US" b="1" i="1" dirty="0"/>
                        <a:t>Resource Model</a:t>
                      </a:r>
                    </a:p>
                  </a:txBody>
                  <a:tcPr anchor="ctr"/>
                </a:tc>
                <a:tc>
                  <a:txBody>
                    <a:bodyPr/>
                    <a:lstStyle/>
                    <a:p>
                      <a:pPr algn="l"/>
                      <a:r>
                        <a:rPr lang="en-US" sz="1800" i="1" kern="1200" dirty="0">
                          <a:solidFill>
                            <a:schemeClr val="tx1"/>
                          </a:solidFill>
                          <a:latin typeface="+mn-lt"/>
                          <a:ea typeface="+mn-ea"/>
                          <a:cs typeface="+mn-cs"/>
                        </a:rPr>
                        <a:t>Shared &amp; Multi-tenant</a:t>
                      </a:r>
                    </a:p>
                  </a:txBody>
                  <a:tcPr anchor="ctr"/>
                </a:tc>
                <a:tc>
                  <a:txBody>
                    <a:bodyPr/>
                    <a:lstStyle/>
                    <a:p>
                      <a:pPr algn="l"/>
                      <a:r>
                        <a:rPr lang="en-US" sz="1800" i="1" kern="1200" dirty="0">
                          <a:solidFill>
                            <a:schemeClr val="tx1"/>
                          </a:solidFill>
                          <a:latin typeface="+mn-lt"/>
                          <a:ea typeface="+mn-ea"/>
                          <a:cs typeface="+mn-cs"/>
                        </a:rPr>
                        <a:t>Dedicated</a:t>
                      </a:r>
                    </a:p>
                  </a:txBody>
                  <a:tcPr anchor="ctr"/>
                </a:tc>
                <a:extLst>
                  <a:ext uri="{0D108BD9-81ED-4DB2-BD59-A6C34878D82A}">
                    <a16:rowId xmlns:a16="http://schemas.microsoft.com/office/drawing/2014/main" val="10003"/>
                  </a:ext>
                </a:extLst>
              </a:tr>
              <a:tr h="370840">
                <a:tc>
                  <a:txBody>
                    <a:bodyPr/>
                    <a:lstStyle/>
                    <a:p>
                      <a:r>
                        <a:rPr lang="en-US" b="1" i="1" dirty="0"/>
                        <a:t>Cost Model</a:t>
                      </a:r>
                    </a:p>
                  </a:txBody>
                  <a:tcPr anchor="ctr"/>
                </a:tc>
                <a:tc>
                  <a:txBody>
                    <a:bodyPr/>
                    <a:lstStyle/>
                    <a:p>
                      <a:pPr algn="l"/>
                      <a:r>
                        <a:rPr lang="en-US" sz="1800" i="1" kern="1200" dirty="0">
                          <a:solidFill>
                            <a:schemeClr val="tx1"/>
                          </a:solidFill>
                          <a:latin typeface="+mn-lt"/>
                          <a:ea typeface="+mn-ea"/>
                          <a:cs typeface="+mn-cs"/>
                        </a:rPr>
                        <a:t>Operational</a:t>
                      </a:r>
                      <a:r>
                        <a:rPr lang="en-US" sz="1800" i="1" kern="1200" baseline="0" dirty="0">
                          <a:solidFill>
                            <a:schemeClr val="tx1"/>
                          </a:solidFill>
                          <a:latin typeface="+mn-lt"/>
                          <a:ea typeface="+mn-ea"/>
                          <a:cs typeface="+mn-cs"/>
                        </a:rPr>
                        <a:t> expenditure</a:t>
                      </a:r>
                      <a:endParaRPr lang="en-US" sz="1800" i="1" kern="1200" dirty="0">
                        <a:solidFill>
                          <a:schemeClr val="tx1"/>
                        </a:solidFill>
                        <a:latin typeface="+mn-lt"/>
                        <a:ea typeface="+mn-ea"/>
                        <a:cs typeface="+mn-cs"/>
                      </a:endParaRPr>
                    </a:p>
                  </a:txBody>
                  <a:tcPr anchor="ctr"/>
                </a:tc>
                <a:tc>
                  <a:txBody>
                    <a:bodyPr/>
                    <a:lstStyle/>
                    <a:p>
                      <a:pPr algn="l"/>
                      <a:r>
                        <a:rPr lang="en-US" sz="1800" i="1" kern="1200" dirty="0">
                          <a:solidFill>
                            <a:schemeClr val="tx1"/>
                          </a:solidFill>
                          <a:latin typeface="+mn-lt"/>
                          <a:ea typeface="+mn-ea"/>
                          <a:cs typeface="+mn-cs"/>
                        </a:rPr>
                        <a:t>Capital</a:t>
                      </a:r>
                      <a:r>
                        <a:rPr lang="en-US" sz="1800" i="1" kern="1200" baseline="0" dirty="0">
                          <a:solidFill>
                            <a:schemeClr val="tx1"/>
                          </a:solidFill>
                          <a:latin typeface="+mn-lt"/>
                          <a:ea typeface="+mn-ea"/>
                          <a:cs typeface="+mn-cs"/>
                        </a:rPr>
                        <a:t> expenditure</a:t>
                      </a:r>
                      <a:endParaRPr lang="en-US" sz="1800" i="1" kern="1200" dirty="0">
                        <a:solidFill>
                          <a:schemeClr val="tx1"/>
                        </a:solidFill>
                        <a:latin typeface="+mn-lt"/>
                        <a:ea typeface="+mn-ea"/>
                        <a:cs typeface="+mn-cs"/>
                      </a:endParaRPr>
                    </a:p>
                  </a:txBody>
                  <a:tcPr anchor="ctr"/>
                </a:tc>
                <a:extLst>
                  <a:ext uri="{0D108BD9-81ED-4DB2-BD59-A6C34878D82A}">
                    <a16:rowId xmlns:a16="http://schemas.microsoft.com/office/drawing/2014/main" val="10004"/>
                  </a:ext>
                </a:extLst>
              </a:tr>
              <a:tr h="370840">
                <a:tc>
                  <a:txBody>
                    <a:bodyPr/>
                    <a:lstStyle/>
                    <a:p>
                      <a:r>
                        <a:rPr lang="en-US" b="1" i="1" dirty="0"/>
                        <a:t>Economy</a:t>
                      </a:r>
                      <a:r>
                        <a:rPr lang="en-US" b="1" i="1" baseline="0" dirty="0"/>
                        <a:t> Model</a:t>
                      </a:r>
                      <a:endParaRPr lang="en-US" b="1" i="1" dirty="0"/>
                    </a:p>
                  </a:txBody>
                  <a:tcPr anchor="ctr"/>
                </a:tc>
                <a:tc>
                  <a:txBody>
                    <a:bodyPr/>
                    <a:lstStyle/>
                    <a:p>
                      <a:pPr algn="l"/>
                      <a:r>
                        <a:rPr lang="en-US" sz="1800" i="1" kern="1200" dirty="0">
                          <a:solidFill>
                            <a:schemeClr val="tx1"/>
                          </a:solidFill>
                          <a:latin typeface="+mn-lt"/>
                          <a:ea typeface="+mn-ea"/>
                          <a:cs typeface="+mn-cs"/>
                        </a:rPr>
                        <a:t>Large</a:t>
                      </a:r>
                      <a:r>
                        <a:rPr lang="en-US" sz="1800" i="1" kern="1200" baseline="0" dirty="0">
                          <a:solidFill>
                            <a:schemeClr val="tx1"/>
                          </a:solidFill>
                          <a:latin typeface="+mn-lt"/>
                          <a:ea typeface="+mn-ea"/>
                          <a:cs typeface="+mn-cs"/>
                        </a:rPr>
                        <a:t> economy of scale</a:t>
                      </a:r>
                      <a:endParaRPr lang="en-US" sz="1800" i="1" kern="1200" dirty="0">
                        <a:solidFill>
                          <a:schemeClr val="tx1"/>
                        </a:solidFill>
                        <a:latin typeface="+mn-lt"/>
                        <a:ea typeface="+mn-ea"/>
                        <a:cs typeface="+mn-cs"/>
                      </a:endParaRPr>
                    </a:p>
                  </a:txBody>
                  <a:tcPr anchor="ctr"/>
                </a:tc>
                <a:tc>
                  <a:txBody>
                    <a:bodyPr/>
                    <a:lstStyle/>
                    <a:p>
                      <a:pPr algn="l"/>
                      <a:r>
                        <a:rPr lang="en-US" sz="1800" i="1" kern="1200" dirty="0">
                          <a:solidFill>
                            <a:schemeClr val="tx1"/>
                          </a:solidFill>
                          <a:latin typeface="+mn-lt"/>
                          <a:ea typeface="+mn-ea"/>
                          <a:cs typeface="+mn-cs"/>
                        </a:rPr>
                        <a:t>End-to-end</a:t>
                      </a:r>
                      <a:r>
                        <a:rPr lang="en-US" sz="1800" i="1" kern="1200" baseline="0" dirty="0">
                          <a:solidFill>
                            <a:schemeClr val="tx1"/>
                          </a:solidFill>
                          <a:latin typeface="+mn-lt"/>
                          <a:ea typeface="+mn-ea"/>
                          <a:cs typeface="+mn-cs"/>
                        </a:rPr>
                        <a:t> control</a:t>
                      </a:r>
                      <a:endParaRPr lang="en-US" sz="1800" i="1" kern="1200" dirty="0">
                        <a:solidFill>
                          <a:schemeClr val="tx1"/>
                        </a:solidFill>
                        <a:latin typeface="+mn-lt"/>
                        <a:ea typeface="+mn-ea"/>
                        <a:cs typeface="+mn-cs"/>
                      </a:endParaRP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Community Cloud</a:t>
            </a:r>
          </a:p>
        </p:txBody>
      </p:sp>
      <p:sp>
        <p:nvSpPr>
          <p:cNvPr id="3" name="Content Placeholder 2"/>
          <p:cNvSpPr>
            <a:spLocks noGrp="1"/>
          </p:cNvSpPr>
          <p:nvPr>
            <p:ph idx="1"/>
          </p:nvPr>
        </p:nvSpPr>
        <p:spPr/>
        <p:txBody>
          <a:bodyPr/>
          <a:lstStyle/>
          <a:p>
            <a:r>
              <a:rPr lang="en-US" dirty="0"/>
              <a:t>Community cloud definition</a:t>
            </a:r>
          </a:p>
          <a:p>
            <a:pPr lvl="1"/>
            <a:r>
              <a:rPr lang="en-US" dirty="0"/>
              <a:t>The cloud infrastructure is shared by several </a:t>
            </a:r>
            <a:r>
              <a:rPr lang="en-US" b="1" dirty="0">
                <a:solidFill>
                  <a:srgbClr val="FF0000"/>
                </a:solidFill>
              </a:rPr>
              <a:t>organizations and supports a specific community </a:t>
            </a:r>
            <a:r>
              <a:rPr lang="en-US" dirty="0"/>
              <a:t>that has shared concerns (e.g., mission, security requirements, policy, and compliance considerations). </a:t>
            </a:r>
          </a:p>
        </p:txBody>
      </p:sp>
      <p:pic>
        <p:nvPicPr>
          <p:cNvPr id="10244" name="Picture 4" descr="[14.PNG]"/>
          <p:cNvPicPr>
            <a:picLocks noChangeAspect="1" noChangeArrowheads="1"/>
          </p:cNvPicPr>
          <p:nvPr/>
        </p:nvPicPr>
        <p:blipFill>
          <a:blip r:embed="rId2" cstate="print"/>
          <a:srcRect/>
          <a:stretch>
            <a:fillRect/>
          </a:stretch>
        </p:blipFill>
        <p:spPr bwMode="auto">
          <a:xfrm>
            <a:off x="3733800" y="3200400"/>
            <a:ext cx="5295992" cy="36576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Hybrid Cloud</a:t>
            </a:r>
          </a:p>
        </p:txBody>
      </p:sp>
      <p:sp>
        <p:nvSpPr>
          <p:cNvPr id="3" name="Content Placeholder 2"/>
          <p:cNvSpPr>
            <a:spLocks noGrp="1"/>
          </p:cNvSpPr>
          <p:nvPr>
            <p:ph idx="1"/>
          </p:nvPr>
        </p:nvSpPr>
        <p:spPr/>
        <p:txBody>
          <a:bodyPr/>
          <a:lstStyle/>
          <a:p>
            <a:r>
              <a:rPr lang="en-US" dirty="0"/>
              <a:t>Hybrid cloud definition</a:t>
            </a:r>
          </a:p>
          <a:p>
            <a:pPr lvl="1"/>
            <a:r>
              <a:rPr lang="en-US" dirty="0"/>
              <a:t>The cloud infrastructure is a composition of </a:t>
            </a:r>
            <a:r>
              <a:rPr lang="en-US" b="1" dirty="0">
                <a:solidFill>
                  <a:srgbClr val="FF0000"/>
                </a:solidFill>
              </a:rPr>
              <a:t>two or more clouds </a:t>
            </a:r>
            <a:r>
              <a:rPr lang="en-US" dirty="0"/>
              <a:t>(private, community, or public) that remain unique entities but are bound together by standardized or proprietary technology that enables data and application</a:t>
            </a:r>
            <a:br>
              <a:rPr lang="en-US" dirty="0"/>
            </a:br>
            <a:r>
              <a:rPr lang="en-US" dirty="0"/>
              <a:t>portability (e.g., cloud bursting</a:t>
            </a:r>
            <a:br>
              <a:rPr lang="en-US" dirty="0"/>
            </a:br>
            <a:r>
              <a:rPr lang="en-US" dirty="0"/>
              <a:t>for load-balancing between</a:t>
            </a:r>
            <a:br>
              <a:rPr lang="en-US" dirty="0"/>
            </a:br>
            <a:r>
              <a:rPr lang="en-US" dirty="0"/>
              <a:t>clouds).</a:t>
            </a:r>
          </a:p>
        </p:txBody>
      </p:sp>
      <p:pic>
        <p:nvPicPr>
          <p:cNvPr id="11268" name="Picture 4" descr="[13.PNG]"/>
          <p:cNvPicPr>
            <a:picLocks noChangeAspect="1" noChangeArrowheads="1"/>
          </p:cNvPicPr>
          <p:nvPr/>
        </p:nvPicPr>
        <p:blipFill>
          <a:blip r:embed="rId2" cstate="print"/>
          <a:srcRect/>
          <a:stretch>
            <a:fillRect/>
          </a:stretch>
        </p:blipFill>
        <p:spPr bwMode="auto">
          <a:xfrm>
            <a:off x="5029200" y="3048000"/>
            <a:ext cx="3929763" cy="36576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Cloud Ecosystem</a:t>
            </a:r>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1367028" y="1198710"/>
            <a:ext cx="6710171" cy="5567215"/>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Summary </a:t>
            </a:r>
            <a:endParaRPr lang="zh-TW" altLang="en-US" dirty="0"/>
          </a:p>
        </p:txBody>
      </p:sp>
      <p:sp>
        <p:nvSpPr>
          <p:cNvPr id="3" name="內容版面配置區 2"/>
          <p:cNvSpPr>
            <a:spLocks noGrp="1"/>
          </p:cNvSpPr>
          <p:nvPr>
            <p:ph idx="1"/>
          </p:nvPr>
        </p:nvSpPr>
        <p:spPr>
          <a:xfrm>
            <a:off x="457200" y="1600200"/>
            <a:ext cx="8229600" cy="5029200"/>
          </a:xfrm>
        </p:spPr>
        <p:txBody>
          <a:bodyPr>
            <a:normAutofit/>
          </a:bodyPr>
          <a:lstStyle/>
          <a:p>
            <a:r>
              <a:rPr lang="en-US" altLang="zh-TW" dirty="0"/>
              <a:t>What is cloud computing in your mind</a:t>
            </a:r>
          </a:p>
          <a:p>
            <a:pPr lvl="1"/>
            <a:r>
              <a:rPr lang="en-US" altLang="zh-TW" dirty="0"/>
              <a:t>Clear or Cloudy?</a:t>
            </a:r>
          </a:p>
          <a:p>
            <a:pPr lvl="1"/>
            <a:endParaRPr lang="en-US" altLang="zh-TW" dirty="0"/>
          </a:p>
          <a:p>
            <a:r>
              <a:rPr lang="en-US" altLang="zh-TW" dirty="0"/>
              <a:t>Cloud computing is </a:t>
            </a:r>
            <a:r>
              <a:rPr lang="en-US" altLang="zh-TW" b="1" dirty="0">
                <a:solidFill>
                  <a:srgbClr val="FF0000"/>
                </a:solidFill>
              </a:rPr>
              <a:t>a new paradigm </a:t>
            </a:r>
            <a:r>
              <a:rPr lang="en-US" altLang="zh-TW" dirty="0"/>
              <a:t>shift of computing </a:t>
            </a:r>
          </a:p>
          <a:p>
            <a:r>
              <a:rPr lang="en-US" altLang="zh-TW" dirty="0"/>
              <a:t>Cloud computing can provide </a:t>
            </a:r>
            <a:r>
              <a:rPr lang="en-US" altLang="zh-TW" b="1" dirty="0">
                <a:solidFill>
                  <a:srgbClr val="FF0000"/>
                </a:solidFill>
              </a:rPr>
              <a:t>high quality of properties and characteristics</a:t>
            </a:r>
            <a:r>
              <a:rPr lang="en-US" altLang="zh-TW" dirty="0"/>
              <a:t> based on essentially central ideas</a:t>
            </a:r>
          </a:p>
          <a:p>
            <a:pPr lvl="1"/>
            <a:endParaRPr lang="en-US" altLang="zh-TW" dirty="0"/>
          </a:p>
          <a:p>
            <a:r>
              <a:rPr lang="en-US" altLang="zh-TW" dirty="0"/>
              <a:t>Service models and deployment models provide services that can be used to</a:t>
            </a:r>
          </a:p>
          <a:p>
            <a:pPr lvl="1"/>
            <a:r>
              <a:rPr lang="en-US" altLang="zh-TW" dirty="0"/>
              <a:t>Rent fundamental computing resources</a:t>
            </a:r>
          </a:p>
          <a:p>
            <a:pPr lvl="1"/>
            <a:r>
              <a:rPr lang="en-US" altLang="ja-JP" dirty="0">
                <a:ea typeface="ＭＳ Ｐゴシック" pitchFamily="34" charset="-128"/>
              </a:rPr>
              <a:t>Deploy and develop </a:t>
            </a:r>
            <a:r>
              <a:rPr lang="en-US" altLang="zh-TW" dirty="0">
                <a:ea typeface="新細明體" pitchFamily="18" charset="-120"/>
              </a:rPr>
              <a:t>customer-created applications on clouds </a:t>
            </a:r>
            <a:endParaRPr lang="en-US" altLang="ja-JP" dirty="0">
              <a:ea typeface="ＭＳ Ｐゴシック" pitchFamily="34" charset="-128"/>
            </a:endParaRPr>
          </a:p>
          <a:p>
            <a:pPr lvl="1"/>
            <a:r>
              <a:rPr lang="en-US" altLang="ja-JP" dirty="0">
                <a:ea typeface="ＭＳ Ｐゴシック" pitchFamily="34" charset="-128"/>
              </a:rPr>
              <a:t>Access provider’s applications over network (wired or wireless)</a:t>
            </a:r>
          </a:p>
          <a:p>
            <a:endParaRPr lang="en-US" altLang="zh-TW" dirty="0"/>
          </a:p>
          <a:p>
            <a:endParaRPr lang="en-US" altLang="zh-TW" dirty="0"/>
          </a:p>
          <a:p>
            <a:endParaRPr lang="en-US" altLang="zh-TW" dirty="0"/>
          </a:p>
          <a:p>
            <a:endParaRPr lang="en-US" altLang="zh-TW" dirty="0"/>
          </a:p>
          <a:p>
            <a:endParaRPr lang="zh-TW"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7FE3B-48A8-468E-B99D-3E1FF4C9FDE0}"/>
              </a:ext>
            </a:extLst>
          </p:cNvPr>
          <p:cNvSpPr>
            <a:spLocks noGrp="1"/>
          </p:cNvSpPr>
          <p:nvPr>
            <p:ph type="title"/>
          </p:nvPr>
        </p:nvSpPr>
        <p:spPr/>
        <p:txBody>
          <a:bodyPr>
            <a:normAutofit fontScale="90000"/>
          </a:bodyPr>
          <a:lstStyle/>
          <a:p>
            <a:pPr algn="ctr" eaLnBrk="1" fontAlgn="auto" hangingPunct="1">
              <a:spcAft>
                <a:spcPts val="0"/>
              </a:spcAft>
              <a:defRPr/>
            </a:pPr>
            <a:r>
              <a:rPr lang="en-US" dirty="0">
                <a:solidFill>
                  <a:schemeClr val="tx2">
                    <a:satMod val="130000"/>
                  </a:schemeClr>
                </a:solidFill>
              </a:rPr>
              <a:t>Architectural Layers of Cloud Computing</a:t>
            </a:r>
          </a:p>
        </p:txBody>
      </p:sp>
      <p:sp>
        <p:nvSpPr>
          <p:cNvPr id="20483" name="Rectangle 17">
            <a:extLst>
              <a:ext uri="{FF2B5EF4-FFF2-40B4-BE49-F238E27FC236}">
                <a16:creationId xmlns:a16="http://schemas.microsoft.com/office/drawing/2014/main" id="{2FFA80E7-FE7C-44C3-ADD3-0A738A573B0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484" name="Rounded Rectangle 27">
            <a:extLst>
              <a:ext uri="{FF2B5EF4-FFF2-40B4-BE49-F238E27FC236}">
                <a16:creationId xmlns:a16="http://schemas.microsoft.com/office/drawing/2014/main" id="{BF17FB52-1448-43D4-B92D-2CA99A7C90E4}"/>
              </a:ext>
            </a:extLst>
          </p:cNvPr>
          <p:cNvSpPr>
            <a:spLocks noChangeArrowheads="1"/>
          </p:cNvSpPr>
          <p:nvPr/>
        </p:nvSpPr>
        <p:spPr bwMode="auto">
          <a:xfrm>
            <a:off x="1219200" y="1676400"/>
            <a:ext cx="7772400" cy="50292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Gill Sans MT" panose="020B0502020104020203" pitchFamily="34" charset="0"/>
              </a:rPr>
              <a:t>In the cloud computing stack, there are three basic layers </a:t>
            </a:r>
          </a:p>
          <a:p>
            <a:pPr eaLnBrk="1" hangingPunct="1"/>
            <a:r>
              <a:rPr lang="en-US" altLang="en-US" sz="2400">
                <a:latin typeface="Gill Sans MT" panose="020B0502020104020203" pitchFamily="34" charset="0"/>
              </a:rPr>
              <a:t>that together create cloud environment. They are:</a:t>
            </a:r>
          </a:p>
          <a:p>
            <a:pPr eaLnBrk="1" hangingPunct="1"/>
            <a:endParaRPr lang="en-US" altLang="en-US" sz="2400">
              <a:latin typeface="Gill Sans MT" panose="020B0502020104020203" pitchFamily="34" charset="0"/>
            </a:endParaRPr>
          </a:p>
          <a:p>
            <a:pPr eaLnBrk="1" hangingPunct="1">
              <a:buFont typeface="Gill Sans MT" panose="020B0502020104020203" pitchFamily="34" charset="0"/>
              <a:buAutoNum type="arabicPeriod"/>
            </a:pPr>
            <a:r>
              <a:rPr lang="en-US" altLang="en-US" sz="2400">
                <a:latin typeface="Gill Sans MT" panose="020B0502020104020203" pitchFamily="34" charset="0"/>
              </a:rPr>
              <a:t>Infrastructure as a Service(IaaS)</a:t>
            </a:r>
          </a:p>
          <a:p>
            <a:pPr eaLnBrk="1" hangingPunct="1">
              <a:buFont typeface="Gill Sans MT" panose="020B0502020104020203" pitchFamily="34" charset="0"/>
              <a:buAutoNum type="arabicPeriod"/>
            </a:pPr>
            <a:r>
              <a:rPr lang="en-US" altLang="en-US" sz="2400">
                <a:latin typeface="Gill Sans MT" panose="020B0502020104020203" pitchFamily="34" charset="0"/>
              </a:rPr>
              <a:t>Platform as a Service (PaaS)</a:t>
            </a:r>
          </a:p>
          <a:p>
            <a:pPr eaLnBrk="1" hangingPunct="1">
              <a:buFont typeface="Gill Sans MT" panose="020B0502020104020203" pitchFamily="34" charset="0"/>
              <a:buAutoNum type="arabicPeriod"/>
            </a:pPr>
            <a:r>
              <a:rPr lang="en-US" altLang="en-US" sz="2400">
                <a:latin typeface="Gill Sans MT" panose="020B0502020104020203" pitchFamily="34" charset="0"/>
              </a:rPr>
              <a:t>Software as a  Service (SaaS)</a:t>
            </a:r>
          </a:p>
        </p:txBody>
      </p:sp>
      <p:sp>
        <p:nvSpPr>
          <p:cNvPr id="20485" name="Rectangle 3">
            <a:extLst>
              <a:ext uri="{FF2B5EF4-FFF2-40B4-BE49-F238E27FC236}">
                <a16:creationId xmlns:a16="http://schemas.microsoft.com/office/drawing/2014/main" id="{742FFCA9-5CE9-4933-893A-8C31D600CDD7}"/>
              </a:ext>
            </a:extLst>
          </p:cNvPr>
          <p:cNvSpPr>
            <a:spLocks noChangeArrowheads="1"/>
          </p:cNvSpPr>
          <p:nvPr/>
        </p:nvSpPr>
        <p:spPr bwMode="auto">
          <a:xfrm>
            <a:off x="7010400" y="4267200"/>
            <a:ext cx="1028700" cy="41910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latin typeface="Gill Sans MT" panose="020B0502020104020203" pitchFamily="34" charset="0"/>
              </a:rPr>
              <a:t>SaaS</a:t>
            </a:r>
            <a:endParaRPr lang="en-US" altLang="en-US"/>
          </a:p>
        </p:txBody>
      </p:sp>
      <p:sp>
        <p:nvSpPr>
          <p:cNvPr id="20486" name="Rectangle 3">
            <a:extLst>
              <a:ext uri="{FF2B5EF4-FFF2-40B4-BE49-F238E27FC236}">
                <a16:creationId xmlns:a16="http://schemas.microsoft.com/office/drawing/2014/main" id="{7184521D-0181-4006-B080-1783D4234B70}"/>
              </a:ext>
            </a:extLst>
          </p:cNvPr>
          <p:cNvSpPr>
            <a:spLocks noChangeArrowheads="1"/>
          </p:cNvSpPr>
          <p:nvPr/>
        </p:nvSpPr>
        <p:spPr bwMode="auto">
          <a:xfrm>
            <a:off x="7010400" y="4648200"/>
            <a:ext cx="1028700" cy="45720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latin typeface="Gill Sans MT" panose="020B0502020104020203" pitchFamily="34" charset="0"/>
              </a:rPr>
              <a:t>PaaS</a:t>
            </a:r>
            <a:endParaRPr lang="en-US" altLang="en-US"/>
          </a:p>
        </p:txBody>
      </p:sp>
      <p:sp>
        <p:nvSpPr>
          <p:cNvPr id="20487" name="Rectangle 3">
            <a:extLst>
              <a:ext uri="{FF2B5EF4-FFF2-40B4-BE49-F238E27FC236}">
                <a16:creationId xmlns:a16="http://schemas.microsoft.com/office/drawing/2014/main" id="{68031BFC-9C55-4268-B19F-0E074154F5CC}"/>
              </a:ext>
            </a:extLst>
          </p:cNvPr>
          <p:cNvSpPr>
            <a:spLocks noChangeArrowheads="1"/>
          </p:cNvSpPr>
          <p:nvPr/>
        </p:nvSpPr>
        <p:spPr bwMode="auto">
          <a:xfrm>
            <a:off x="7010400" y="5105400"/>
            <a:ext cx="1028700" cy="41910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latin typeface="Gill Sans MT" panose="020B0502020104020203" pitchFamily="34" charset="0"/>
              </a:rPr>
              <a:t>IaaS</a:t>
            </a: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984A76E-A89A-4FD1-A36A-C5924C4E61A3}"/>
              </a:ext>
            </a:extLst>
          </p:cNvPr>
          <p:cNvGraphicFramePr>
            <a:graphicFrameLocks noGrp="1"/>
          </p:cNvGraphicFramePr>
          <p:nvPr/>
        </p:nvGraphicFramePr>
        <p:xfrm>
          <a:off x="3038475" y="2171700"/>
          <a:ext cx="5829300" cy="3936999"/>
        </p:xfrm>
        <a:graphic>
          <a:graphicData uri="http://schemas.openxmlformats.org/drawingml/2006/table">
            <a:tbl>
              <a:tblPr firstRow="1" bandRow="1">
                <a:tableStyleId>{5DA37D80-6434-44D0-A028-1B22A696006F}</a:tableStyleId>
              </a:tblPr>
              <a:tblGrid>
                <a:gridCol w="1457325">
                  <a:extLst>
                    <a:ext uri="{9D8B030D-6E8A-4147-A177-3AD203B41FA5}">
                      <a16:colId xmlns:a16="http://schemas.microsoft.com/office/drawing/2014/main" val="20000"/>
                    </a:ext>
                  </a:extLst>
                </a:gridCol>
                <a:gridCol w="1457325">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1457325">
                  <a:extLst>
                    <a:ext uri="{9D8B030D-6E8A-4147-A177-3AD203B41FA5}">
                      <a16:colId xmlns:a16="http://schemas.microsoft.com/office/drawing/2014/main" val="20003"/>
                    </a:ext>
                  </a:extLst>
                </a:gridCol>
              </a:tblGrid>
              <a:tr h="1312333">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extLst>
                  <a:ext uri="{0D108BD9-81ED-4DB2-BD59-A6C34878D82A}">
                    <a16:rowId xmlns:a16="http://schemas.microsoft.com/office/drawing/2014/main" val="10000"/>
                  </a:ext>
                </a:extLst>
              </a:tr>
              <a:tr h="1312333">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solidFill>
                      <a:schemeClr val="bg1">
                        <a:lumMod val="75000"/>
                        <a:alpha val="20000"/>
                      </a:schemeClr>
                    </a:solidFill>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solidFill>
                      <a:schemeClr val="bg1">
                        <a:lumMod val="75000"/>
                        <a:alpha val="20000"/>
                      </a:schemeClr>
                    </a:solidFill>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solidFill>
                      <a:schemeClr val="bg1">
                        <a:lumMod val="75000"/>
                        <a:alpha val="20000"/>
                      </a:schemeClr>
                    </a:solidFill>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solidFill>
                      <a:schemeClr val="bg1">
                        <a:lumMod val="75000"/>
                        <a:alpha val="20000"/>
                      </a:schemeClr>
                    </a:solidFill>
                  </a:tcPr>
                </a:tc>
                <a:extLst>
                  <a:ext uri="{0D108BD9-81ED-4DB2-BD59-A6C34878D82A}">
                    <a16:rowId xmlns:a16="http://schemas.microsoft.com/office/drawing/2014/main" val="10001"/>
                  </a:ext>
                </a:extLst>
              </a:tr>
              <a:tr h="1312333">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tc>
                  <a:txBody>
                    <a:bodyPr/>
                    <a:lstStyle/>
                    <a:p>
                      <a:endParaRPr lang="en-US" sz="1800" dirty="0"/>
                    </a:p>
                  </a:txBody>
                  <a:tcPr>
                    <a:lnL w="19050" cap="flat" cmpd="sng" algn="ctr">
                      <a:solidFill>
                        <a:prstClr val="white">
                          <a:lumMod val="65000"/>
                        </a:prstClr>
                      </a:solidFill>
                      <a:prstDash val="solid"/>
                      <a:round/>
                      <a:headEnd type="none" w="med" len="med"/>
                      <a:tailEnd type="none" w="med" len="med"/>
                    </a:lnL>
                    <a:lnR w="19050" cap="flat" cmpd="sng" algn="ctr">
                      <a:solidFill>
                        <a:prstClr val="white">
                          <a:lumMod val="65000"/>
                        </a:prstClr>
                      </a:solidFill>
                      <a:prstDash val="solid"/>
                      <a:round/>
                      <a:headEnd type="none" w="med" len="med"/>
                      <a:tailEnd type="none" w="med" len="med"/>
                    </a:lnR>
                    <a:lnT w="19050" cap="flat" cmpd="sng" algn="ctr">
                      <a:solidFill>
                        <a:prstClr val="white">
                          <a:lumMod val="65000"/>
                        </a:prstClr>
                      </a:solidFill>
                      <a:prstDash val="solid"/>
                      <a:round/>
                      <a:headEnd type="none" w="med" len="med"/>
                      <a:tailEnd type="none" w="med" len="med"/>
                    </a:lnT>
                    <a:lnB w="19050" cap="flat" cmpd="sng" algn="ctr">
                      <a:solidFill>
                        <a:prstClr val="white">
                          <a:lumMod val="65000"/>
                        </a:prst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1528" name="TextBox 9">
            <a:extLst>
              <a:ext uri="{FF2B5EF4-FFF2-40B4-BE49-F238E27FC236}">
                <a16:creationId xmlns:a16="http://schemas.microsoft.com/office/drawing/2014/main" id="{06A9F46B-6F9B-479F-A402-F02B38D3BDD3}"/>
              </a:ext>
            </a:extLst>
          </p:cNvPr>
          <p:cNvSpPr txBox="1">
            <a:spLocks noChangeArrowheads="1"/>
          </p:cNvSpPr>
          <p:nvPr/>
        </p:nvSpPr>
        <p:spPr bwMode="auto">
          <a:xfrm>
            <a:off x="2197100" y="2625725"/>
            <a:ext cx="711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SaaS</a:t>
            </a:r>
          </a:p>
        </p:txBody>
      </p:sp>
      <p:sp>
        <p:nvSpPr>
          <p:cNvPr id="21529" name="TextBox 10">
            <a:extLst>
              <a:ext uri="{FF2B5EF4-FFF2-40B4-BE49-F238E27FC236}">
                <a16:creationId xmlns:a16="http://schemas.microsoft.com/office/drawing/2014/main" id="{12B23444-7FC9-46D1-A98E-127BF9054D26}"/>
              </a:ext>
            </a:extLst>
          </p:cNvPr>
          <p:cNvSpPr txBox="1">
            <a:spLocks noChangeArrowheads="1"/>
          </p:cNvSpPr>
          <p:nvPr/>
        </p:nvSpPr>
        <p:spPr bwMode="auto">
          <a:xfrm>
            <a:off x="2197100" y="3989388"/>
            <a:ext cx="711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PaaS</a:t>
            </a:r>
          </a:p>
        </p:txBody>
      </p:sp>
      <p:sp>
        <p:nvSpPr>
          <p:cNvPr id="21530" name="TextBox 11">
            <a:extLst>
              <a:ext uri="{FF2B5EF4-FFF2-40B4-BE49-F238E27FC236}">
                <a16:creationId xmlns:a16="http://schemas.microsoft.com/office/drawing/2014/main" id="{8E263803-CA27-4769-8112-7E69DEE050B2}"/>
              </a:ext>
            </a:extLst>
          </p:cNvPr>
          <p:cNvSpPr txBox="1">
            <a:spLocks noChangeArrowheads="1"/>
          </p:cNvSpPr>
          <p:nvPr/>
        </p:nvSpPr>
        <p:spPr bwMode="auto">
          <a:xfrm>
            <a:off x="2197100" y="5373688"/>
            <a:ext cx="711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IaaS</a:t>
            </a:r>
          </a:p>
        </p:txBody>
      </p:sp>
      <p:sp>
        <p:nvSpPr>
          <p:cNvPr id="21531" name="TextBox 12">
            <a:extLst>
              <a:ext uri="{FF2B5EF4-FFF2-40B4-BE49-F238E27FC236}">
                <a16:creationId xmlns:a16="http://schemas.microsoft.com/office/drawing/2014/main" id="{86CD39CA-039E-486E-B7CA-E136A36FEB89}"/>
              </a:ext>
            </a:extLst>
          </p:cNvPr>
          <p:cNvSpPr txBox="1">
            <a:spLocks noChangeArrowheads="1"/>
          </p:cNvSpPr>
          <p:nvPr/>
        </p:nvSpPr>
        <p:spPr bwMode="auto">
          <a:xfrm>
            <a:off x="3314700" y="1714500"/>
            <a:ext cx="10541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Amazon</a:t>
            </a:r>
          </a:p>
        </p:txBody>
      </p:sp>
      <p:sp>
        <p:nvSpPr>
          <p:cNvPr id="21532" name="TextBox 13">
            <a:extLst>
              <a:ext uri="{FF2B5EF4-FFF2-40B4-BE49-F238E27FC236}">
                <a16:creationId xmlns:a16="http://schemas.microsoft.com/office/drawing/2014/main" id="{D2B8763F-AD37-4FFC-88CE-F1735706A26D}"/>
              </a:ext>
            </a:extLst>
          </p:cNvPr>
          <p:cNvSpPr txBox="1">
            <a:spLocks noChangeArrowheads="1"/>
          </p:cNvSpPr>
          <p:nvPr/>
        </p:nvSpPr>
        <p:spPr bwMode="auto">
          <a:xfrm>
            <a:off x="4762500" y="1728788"/>
            <a:ext cx="9017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Google</a:t>
            </a:r>
          </a:p>
        </p:txBody>
      </p:sp>
      <p:sp>
        <p:nvSpPr>
          <p:cNvPr id="21533" name="TextBox 14">
            <a:extLst>
              <a:ext uri="{FF2B5EF4-FFF2-40B4-BE49-F238E27FC236}">
                <a16:creationId xmlns:a16="http://schemas.microsoft.com/office/drawing/2014/main" id="{CCD8EBEC-BC59-4D45-9BB0-DD72DDD7F72B}"/>
              </a:ext>
            </a:extLst>
          </p:cNvPr>
          <p:cNvSpPr txBox="1">
            <a:spLocks noChangeArrowheads="1"/>
          </p:cNvSpPr>
          <p:nvPr/>
        </p:nvSpPr>
        <p:spPr bwMode="auto">
          <a:xfrm>
            <a:off x="6126163" y="1743075"/>
            <a:ext cx="1103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Microsoft</a:t>
            </a:r>
          </a:p>
        </p:txBody>
      </p:sp>
      <p:sp>
        <p:nvSpPr>
          <p:cNvPr id="21534" name="TextBox 16">
            <a:extLst>
              <a:ext uri="{FF2B5EF4-FFF2-40B4-BE49-F238E27FC236}">
                <a16:creationId xmlns:a16="http://schemas.microsoft.com/office/drawing/2014/main" id="{6DB54DC1-7368-4C58-B3C0-EEDD200966C6}"/>
              </a:ext>
            </a:extLst>
          </p:cNvPr>
          <p:cNvSpPr txBox="1">
            <a:spLocks noChangeArrowheads="1"/>
          </p:cNvSpPr>
          <p:nvPr/>
        </p:nvSpPr>
        <p:spPr bwMode="auto">
          <a:xfrm>
            <a:off x="7480300" y="1739900"/>
            <a:ext cx="1333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600">
                <a:latin typeface="Helvetica" panose="020B0604020202020204" pitchFamily="34" charset="0"/>
                <a:ea typeface="Osaka" charset="-128"/>
                <a:cs typeface="Helvetica" panose="020B0604020202020204" pitchFamily="34" charset="0"/>
              </a:rPr>
              <a:t>Salesforce</a:t>
            </a:r>
          </a:p>
        </p:txBody>
      </p:sp>
      <p:pic>
        <p:nvPicPr>
          <p:cNvPr id="21535" name="Picture 3" descr="google">
            <a:extLst>
              <a:ext uri="{FF2B5EF4-FFF2-40B4-BE49-F238E27FC236}">
                <a16:creationId xmlns:a16="http://schemas.microsoft.com/office/drawing/2014/main" id="{C13517AB-454D-4857-8019-185812FE66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866" t="7903" r="53281" b="62309"/>
          <a:stretch>
            <a:fillRect/>
          </a:stretch>
        </p:blipFill>
        <p:spPr bwMode="auto">
          <a:xfrm>
            <a:off x="4610100" y="2184400"/>
            <a:ext cx="12192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a:extLst>
              <a:ext uri="{FF2B5EF4-FFF2-40B4-BE49-F238E27FC236}">
                <a16:creationId xmlns:a16="http://schemas.microsoft.com/office/drawing/2014/main" id="{3C46072E-E7C5-46C4-A954-FD8CA9234BA3}"/>
              </a:ext>
            </a:extLst>
          </p:cNvPr>
          <p:cNvSpPr/>
          <p:nvPr/>
        </p:nvSpPr>
        <p:spPr>
          <a:xfrm>
            <a:off x="4610100" y="2197100"/>
            <a:ext cx="1219200" cy="8255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pic>
        <p:nvPicPr>
          <p:cNvPr id="21537" name="Picture 3" descr="salesforce">
            <a:extLst>
              <a:ext uri="{FF2B5EF4-FFF2-40B4-BE49-F238E27FC236}">
                <a16:creationId xmlns:a16="http://schemas.microsoft.com/office/drawing/2014/main" id="{35C60E1A-9761-4D66-B8C2-6BB6B9CB9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729" t="7903" r="38129" b="62309"/>
          <a:stretch>
            <a:fillRect/>
          </a:stretch>
        </p:blipFill>
        <p:spPr bwMode="auto">
          <a:xfrm>
            <a:off x="7518400" y="2133600"/>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a:extLst>
              <a:ext uri="{FF2B5EF4-FFF2-40B4-BE49-F238E27FC236}">
                <a16:creationId xmlns:a16="http://schemas.microsoft.com/office/drawing/2014/main" id="{A3B65168-F5A5-49EC-B347-D1E4BB814F27}"/>
              </a:ext>
            </a:extLst>
          </p:cNvPr>
          <p:cNvSpPr/>
          <p:nvPr/>
        </p:nvSpPr>
        <p:spPr>
          <a:xfrm>
            <a:off x="7315200" y="2197100"/>
            <a:ext cx="1244600" cy="8255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pic>
        <p:nvPicPr>
          <p:cNvPr id="21539" name="Picture 3" descr="force.com">
            <a:extLst>
              <a:ext uri="{FF2B5EF4-FFF2-40B4-BE49-F238E27FC236}">
                <a16:creationId xmlns:a16="http://schemas.microsoft.com/office/drawing/2014/main" id="{966D8755-C3C7-427F-B736-D1C12E9A1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729" t="39514" r="38417" b="41187"/>
          <a:stretch>
            <a:fillRect/>
          </a:stretch>
        </p:blipFill>
        <p:spPr bwMode="auto">
          <a:xfrm>
            <a:off x="7518400" y="3743325"/>
            <a:ext cx="121920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40" name="Picture 3" descr="http://content.screencast.com/users/bnara/folders/Jing/media/e449de50-9f4f-474a-9e78-d2b80ec6fad5/2009-04-16_1546.png">
            <a:extLst>
              <a:ext uri="{FF2B5EF4-FFF2-40B4-BE49-F238E27FC236}">
                <a16:creationId xmlns:a16="http://schemas.microsoft.com/office/drawing/2014/main" id="{94B9F4FB-923C-441A-84DA-E265279B4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058" t="50050" r="53185" b="20364"/>
          <a:stretch>
            <a:fillRect/>
          </a:stretch>
        </p:blipFill>
        <p:spPr bwMode="auto">
          <a:xfrm>
            <a:off x="4610100" y="3971925"/>
            <a:ext cx="1211263"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41" name="Picture 3" descr="Amazon web services">
            <a:extLst>
              <a:ext uri="{FF2B5EF4-FFF2-40B4-BE49-F238E27FC236}">
                <a16:creationId xmlns:a16="http://schemas.microsoft.com/office/drawing/2014/main" id="{D12008F1-1536-412F-8207-ED3C26DD4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857" t="67857" r="67905" b="3445"/>
          <a:stretch>
            <a:fillRect/>
          </a:stretch>
        </p:blipFill>
        <p:spPr bwMode="auto">
          <a:xfrm>
            <a:off x="3141663" y="4872038"/>
            <a:ext cx="1252537"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a:extLst>
              <a:ext uri="{FF2B5EF4-FFF2-40B4-BE49-F238E27FC236}">
                <a16:creationId xmlns:a16="http://schemas.microsoft.com/office/drawing/2014/main" id="{C671BEB8-4BE4-4D69-AC24-EC79EAFE768C}"/>
              </a:ext>
            </a:extLst>
          </p:cNvPr>
          <p:cNvSpPr/>
          <p:nvPr/>
        </p:nvSpPr>
        <p:spPr>
          <a:xfrm>
            <a:off x="3141663" y="6015038"/>
            <a:ext cx="1252537" cy="46037"/>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25" name="Rounded Rectangle 24">
            <a:extLst>
              <a:ext uri="{FF2B5EF4-FFF2-40B4-BE49-F238E27FC236}">
                <a16:creationId xmlns:a16="http://schemas.microsoft.com/office/drawing/2014/main" id="{5D78E4D4-0533-40F4-BF86-789E9B6E1305}"/>
              </a:ext>
            </a:extLst>
          </p:cNvPr>
          <p:cNvSpPr/>
          <p:nvPr/>
        </p:nvSpPr>
        <p:spPr>
          <a:xfrm>
            <a:off x="6126163" y="3971925"/>
            <a:ext cx="1103312" cy="1865313"/>
          </a:xfrm>
          <a:prstGeom prst="roundRect">
            <a:avLst/>
          </a:prstGeom>
          <a:solidFill>
            <a:schemeClr val="bg1"/>
          </a:solidFill>
          <a:ln w="25400" cap="flat" cmpd="sng" algn="ctr">
            <a:solidFill>
              <a:srgbClr val="008000"/>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pic>
        <p:nvPicPr>
          <p:cNvPr id="21544" name="Picture 31" descr="Windows Azure">
            <a:extLst>
              <a:ext uri="{FF2B5EF4-FFF2-40B4-BE49-F238E27FC236}">
                <a16:creationId xmlns:a16="http://schemas.microsoft.com/office/drawing/2014/main" id="{3A0918ED-AB4B-411C-AF30-FF93926FE650}"/>
              </a:ext>
            </a:extLst>
          </p:cNvPr>
          <p:cNvPicPr>
            <a:picLocks noChangeAspect="1"/>
          </p:cNvPicPr>
          <p:nvPr/>
        </p:nvPicPr>
        <p:blipFill>
          <a:blip r:embed="rId4" cstate="print">
            <a:extLst>
              <a:ext uri="{28A0092B-C50C-407E-A947-70E740481C1C}">
                <a14:useLocalDpi xmlns:a14="http://schemas.microsoft.com/office/drawing/2010/main" val="0"/>
              </a:ext>
            </a:extLst>
          </a:blip>
          <a:srcRect l="9972" t="111" r="6812"/>
          <a:stretch>
            <a:fillRect/>
          </a:stretch>
        </p:blipFill>
        <p:spPr bwMode="auto">
          <a:xfrm>
            <a:off x="6184900" y="4518025"/>
            <a:ext cx="99377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45" name="Picture 32" descr="google-app-engine">
            <a:extLst>
              <a:ext uri="{FF2B5EF4-FFF2-40B4-BE49-F238E27FC236}">
                <a16:creationId xmlns:a16="http://schemas.microsoft.com/office/drawing/2014/main" id="{BE9A9F0C-F85F-4D21-ABB1-344103B6D76E}"/>
              </a:ext>
            </a:extLst>
          </p:cNvPr>
          <p:cNvPicPr>
            <a:picLocks noChangeAspect="1"/>
          </p:cNvPicPr>
          <p:nvPr/>
        </p:nvPicPr>
        <p:blipFill>
          <a:blip r:embed="rId5">
            <a:extLst>
              <a:ext uri="{28A0092B-C50C-407E-A947-70E740481C1C}">
                <a14:useLocalDpi xmlns:a14="http://schemas.microsoft.com/office/drawing/2010/main" val="0"/>
              </a:ext>
            </a:extLst>
          </a:blip>
          <a:srcRect r="9258"/>
          <a:stretch>
            <a:fillRect/>
          </a:stretch>
        </p:blipFill>
        <p:spPr bwMode="auto">
          <a:xfrm>
            <a:off x="4686300" y="4300538"/>
            <a:ext cx="1058863"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a:extLst>
              <a:ext uri="{FF2B5EF4-FFF2-40B4-BE49-F238E27FC236}">
                <a16:creationId xmlns:a16="http://schemas.microsoft.com/office/drawing/2014/main" id="{1A47F26A-0D45-451B-907F-D58B4DD1A8FB}"/>
              </a:ext>
            </a:extLst>
          </p:cNvPr>
          <p:cNvSpPr txBox="1">
            <a:spLocks/>
          </p:cNvSpPr>
          <p:nvPr/>
        </p:nvSpPr>
        <p:spPr>
          <a:xfrm>
            <a:off x="2310408" y="850993"/>
            <a:ext cx="6909792" cy="584776"/>
          </a:xfrm>
          <a:prstGeom prst="rect">
            <a:avLst/>
          </a:prstGeom>
          <a:noFill/>
          <a:effectLst/>
          <a:scene3d>
            <a:camera prst="orthographicFront"/>
            <a:lightRig rig="threePt" dir="t"/>
          </a:scene3d>
          <a:sp3d>
            <a:bevelT w="0"/>
          </a:sp3d>
        </p:spPr>
        <p:txBody>
          <a:bodyPr anchor="b">
            <a:spAutoFit/>
          </a:bodyPr>
          <a:lstStyle/>
          <a:p>
            <a:pPr>
              <a:spcAft>
                <a:spcPts val="600"/>
              </a:spcAft>
              <a:defRPr/>
            </a:pPr>
            <a:r>
              <a:rPr lang="en-US" sz="3200" b="1">
                <a:latin typeface="Helvetica" charset="0"/>
                <a:cs typeface="Helvetica" charset="0"/>
              </a:rPr>
              <a:t>Service Delivery Model Examples</a:t>
            </a:r>
          </a:p>
        </p:txBody>
      </p:sp>
      <p:sp>
        <p:nvSpPr>
          <p:cNvPr id="21549" name="TextBox 30">
            <a:extLst>
              <a:ext uri="{FF2B5EF4-FFF2-40B4-BE49-F238E27FC236}">
                <a16:creationId xmlns:a16="http://schemas.microsoft.com/office/drawing/2014/main" id="{CC5F0EBC-DE0A-4328-96EE-53D602D9A2E0}"/>
              </a:ext>
            </a:extLst>
          </p:cNvPr>
          <p:cNvSpPr txBox="1">
            <a:spLocks noChangeArrowheads="1"/>
          </p:cNvSpPr>
          <p:nvPr/>
        </p:nvSpPr>
        <p:spPr bwMode="auto">
          <a:xfrm>
            <a:off x="2781300" y="6197600"/>
            <a:ext cx="6275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i="1">
                <a:ea typeface="Osaka" charset="-128"/>
              </a:rPr>
              <a:t>Products and companies shown for illustrative purposes only and should not be construed as an endorsement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4AB3-F27D-45F4-AE59-099C03EB889E}"/>
              </a:ext>
            </a:extLst>
          </p:cNvPr>
          <p:cNvSpPr>
            <a:spLocks noGrp="1"/>
          </p:cNvSpPr>
          <p:nvPr>
            <p:ph type="title"/>
          </p:nvPr>
        </p:nvSpPr>
        <p:spPr/>
        <p:txBody>
          <a:bodyPr/>
          <a:lstStyle/>
          <a:p>
            <a:pPr eaLnBrk="1" fontAlgn="auto" hangingPunct="1">
              <a:spcAft>
                <a:spcPts val="0"/>
              </a:spcAft>
              <a:defRPr/>
            </a:pPr>
            <a:r>
              <a:rPr lang="en-US" dirty="0">
                <a:solidFill>
                  <a:schemeClr val="tx2">
                    <a:satMod val="130000"/>
                  </a:schemeClr>
                </a:solidFill>
              </a:rPr>
              <a:t>Framework of cloud computing</a:t>
            </a:r>
            <a:endParaRPr lang="en-IN" dirty="0">
              <a:solidFill>
                <a:schemeClr val="tx2">
                  <a:satMod val="130000"/>
                </a:schemeClr>
              </a:solidFill>
            </a:endParaRPr>
          </a:p>
        </p:txBody>
      </p:sp>
      <p:sp>
        <p:nvSpPr>
          <p:cNvPr id="4" name="Rounded Rectangle 3">
            <a:extLst>
              <a:ext uri="{FF2B5EF4-FFF2-40B4-BE49-F238E27FC236}">
                <a16:creationId xmlns:a16="http://schemas.microsoft.com/office/drawing/2014/main" id="{EC728CDF-F69B-4BCE-AC72-D10842680D87}"/>
              </a:ext>
            </a:extLst>
          </p:cNvPr>
          <p:cNvSpPr/>
          <p:nvPr/>
        </p:nvSpPr>
        <p:spPr>
          <a:xfrm>
            <a:off x="3635375" y="1412875"/>
            <a:ext cx="1944688" cy="360363"/>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p>
        </p:txBody>
      </p:sp>
      <p:sp>
        <p:nvSpPr>
          <p:cNvPr id="6" name="Rounded Rectangle 5">
            <a:extLst>
              <a:ext uri="{FF2B5EF4-FFF2-40B4-BE49-F238E27FC236}">
                <a16:creationId xmlns:a16="http://schemas.microsoft.com/office/drawing/2014/main" id="{1B67388C-E44F-4387-872B-EB0119DB78D2}"/>
              </a:ext>
            </a:extLst>
          </p:cNvPr>
          <p:cNvSpPr/>
          <p:nvPr/>
        </p:nvSpPr>
        <p:spPr>
          <a:xfrm>
            <a:off x="1187450" y="2852738"/>
            <a:ext cx="1008063"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p>
        </p:txBody>
      </p:sp>
      <p:sp>
        <p:nvSpPr>
          <p:cNvPr id="8" name="Rounded Rectangle 7">
            <a:extLst>
              <a:ext uri="{FF2B5EF4-FFF2-40B4-BE49-F238E27FC236}">
                <a16:creationId xmlns:a16="http://schemas.microsoft.com/office/drawing/2014/main" id="{15A6DAA3-8C86-4CED-9656-F5630CDD7431}"/>
              </a:ext>
            </a:extLst>
          </p:cNvPr>
          <p:cNvSpPr/>
          <p:nvPr/>
        </p:nvSpPr>
        <p:spPr>
          <a:xfrm>
            <a:off x="6875463" y="1700213"/>
            <a:ext cx="1081087"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p>
        </p:txBody>
      </p:sp>
      <p:sp>
        <p:nvSpPr>
          <p:cNvPr id="24" name="Rounded Rectangle 23">
            <a:extLst>
              <a:ext uri="{FF2B5EF4-FFF2-40B4-BE49-F238E27FC236}">
                <a16:creationId xmlns:a16="http://schemas.microsoft.com/office/drawing/2014/main" id="{DAA878D6-7F3C-4DBE-8D0B-628F3B7828C8}"/>
              </a:ext>
            </a:extLst>
          </p:cNvPr>
          <p:cNvSpPr/>
          <p:nvPr/>
        </p:nvSpPr>
        <p:spPr>
          <a:xfrm>
            <a:off x="2981325" y="3933825"/>
            <a:ext cx="2124075" cy="935038"/>
          </a:xfrm>
          <a:prstGeom prst="roundRect">
            <a:avLst/>
          </a:prstGeom>
          <a:solidFill>
            <a:schemeClr val="lt1">
              <a:alpha val="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fontAlgn="auto" hangingPunct="1">
              <a:spcBef>
                <a:spcPts val="0"/>
              </a:spcBef>
              <a:spcAft>
                <a:spcPts val="0"/>
              </a:spcAft>
              <a:defRPr/>
            </a:pPr>
            <a:endParaRPr lang="en-IN" dirty="0"/>
          </a:p>
        </p:txBody>
      </p:sp>
      <p:sp>
        <p:nvSpPr>
          <p:cNvPr id="25" name="Rounded Rectangle 24">
            <a:extLst>
              <a:ext uri="{FF2B5EF4-FFF2-40B4-BE49-F238E27FC236}">
                <a16:creationId xmlns:a16="http://schemas.microsoft.com/office/drawing/2014/main" id="{E4703185-BEB7-4BA5-A7CD-8089C68561BD}"/>
              </a:ext>
            </a:extLst>
          </p:cNvPr>
          <p:cNvSpPr/>
          <p:nvPr/>
        </p:nvSpPr>
        <p:spPr>
          <a:xfrm>
            <a:off x="5257800" y="3933825"/>
            <a:ext cx="2124075" cy="935038"/>
          </a:xfrm>
          <a:prstGeom prst="roundRect">
            <a:avLst/>
          </a:prstGeom>
          <a:solidFill>
            <a:schemeClr val="lt1">
              <a:alpha val="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fontAlgn="auto" hangingPunct="1">
              <a:spcBef>
                <a:spcPts val="0"/>
              </a:spcBef>
              <a:spcAft>
                <a:spcPts val="0"/>
              </a:spcAft>
              <a:defRPr/>
            </a:pPr>
            <a:endParaRPr lang="en-IN" dirty="0"/>
          </a:p>
        </p:txBody>
      </p:sp>
      <p:sp>
        <p:nvSpPr>
          <p:cNvPr id="26" name="Rounded Rectangle 25">
            <a:extLst>
              <a:ext uri="{FF2B5EF4-FFF2-40B4-BE49-F238E27FC236}">
                <a16:creationId xmlns:a16="http://schemas.microsoft.com/office/drawing/2014/main" id="{C722DE83-C09B-45E3-ACBE-6AD313B47036}"/>
              </a:ext>
            </a:extLst>
          </p:cNvPr>
          <p:cNvSpPr/>
          <p:nvPr/>
        </p:nvSpPr>
        <p:spPr>
          <a:xfrm>
            <a:off x="3124200" y="3962400"/>
            <a:ext cx="1873250" cy="21590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400" dirty="0"/>
              <a:t>Virtualized resources</a:t>
            </a:r>
            <a:endParaRPr lang="en-IN" sz="1400" dirty="0"/>
          </a:p>
        </p:txBody>
      </p:sp>
      <p:sp>
        <p:nvSpPr>
          <p:cNvPr id="27" name="Rounded Rectangle 26">
            <a:extLst>
              <a:ext uri="{FF2B5EF4-FFF2-40B4-BE49-F238E27FC236}">
                <a16:creationId xmlns:a16="http://schemas.microsoft.com/office/drawing/2014/main" id="{A1C0F8F6-5CB9-4EF3-A486-3009C5E9AE4E}"/>
              </a:ext>
            </a:extLst>
          </p:cNvPr>
          <p:cNvSpPr/>
          <p:nvPr/>
        </p:nvSpPr>
        <p:spPr>
          <a:xfrm>
            <a:off x="3097213" y="4221163"/>
            <a:ext cx="865187" cy="28733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sz="1400" dirty="0">
                <a:solidFill>
                  <a:schemeClr val="tx1"/>
                </a:solidFill>
              </a:rPr>
              <a:t>Compute</a:t>
            </a:r>
            <a:endParaRPr lang="en-IN" sz="1400" dirty="0">
              <a:solidFill>
                <a:schemeClr val="tx1"/>
              </a:solidFill>
            </a:endParaRPr>
          </a:p>
        </p:txBody>
      </p:sp>
      <p:sp>
        <p:nvSpPr>
          <p:cNvPr id="28" name="Rounded Rectangle 27">
            <a:extLst>
              <a:ext uri="{FF2B5EF4-FFF2-40B4-BE49-F238E27FC236}">
                <a16:creationId xmlns:a16="http://schemas.microsoft.com/office/drawing/2014/main" id="{78B940A4-E6CB-45FA-9F41-602F26923B84}"/>
              </a:ext>
            </a:extLst>
          </p:cNvPr>
          <p:cNvSpPr/>
          <p:nvPr/>
        </p:nvSpPr>
        <p:spPr>
          <a:xfrm>
            <a:off x="4021138" y="4221163"/>
            <a:ext cx="1008062" cy="28733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sz="1400" dirty="0">
                <a:solidFill>
                  <a:schemeClr val="tx1"/>
                </a:solidFill>
              </a:rPr>
              <a:t>Networking</a:t>
            </a:r>
            <a:endParaRPr lang="en-IN" sz="1400" dirty="0">
              <a:solidFill>
                <a:schemeClr val="tx1"/>
              </a:solidFill>
            </a:endParaRPr>
          </a:p>
        </p:txBody>
      </p:sp>
      <p:sp>
        <p:nvSpPr>
          <p:cNvPr id="29" name="Rounded Rectangle 28">
            <a:extLst>
              <a:ext uri="{FF2B5EF4-FFF2-40B4-BE49-F238E27FC236}">
                <a16:creationId xmlns:a16="http://schemas.microsoft.com/office/drawing/2014/main" id="{F6BD861B-F4B9-4D37-92CB-486A23CDC907}"/>
              </a:ext>
            </a:extLst>
          </p:cNvPr>
          <p:cNvSpPr/>
          <p:nvPr/>
        </p:nvSpPr>
        <p:spPr>
          <a:xfrm>
            <a:off x="3554413" y="4581525"/>
            <a:ext cx="865187" cy="2159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sz="1400" dirty="0">
                <a:solidFill>
                  <a:schemeClr val="tx1"/>
                </a:solidFill>
              </a:rPr>
              <a:t>Storage</a:t>
            </a:r>
            <a:endParaRPr lang="en-IN" sz="1400" dirty="0">
              <a:solidFill>
                <a:schemeClr val="tx1"/>
              </a:solidFill>
            </a:endParaRPr>
          </a:p>
        </p:txBody>
      </p:sp>
      <p:sp>
        <p:nvSpPr>
          <p:cNvPr id="31" name="Rounded Rectangle 30">
            <a:extLst>
              <a:ext uri="{FF2B5EF4-FFF2-40B4-BE49-F238E27FC236}">
                <a16:creationId xmlns:a16="http://schemas.microsoft.com/office/drawing/2014/main" id="{5175DFC0-4E68-44C3-84EB-0F77A77541D3}"/>
              </a:ext>
            </a:extLst>
          </p:cNvPr>
          <p:cNvSpPr/>
          <p:nvPr/>
        </p:nvSpPr>
        <p:spPr>
          <a:xfrm>
            <a:off x="5511800" y="4292600"/>
            <a:ext cx="1727200" cy="2159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sz="1400" dirty="0">
                <a:solidFill>
                  <a:schemeClr val="tx1"/>
                </a:solidFill>
              </a:rPr>
              <a:t>Image Metadata</a:t>
            </a:r>
            <a:endParaRPr lang="en-IN" sz="1400" dirty="0">
              <a:solidFill>
                <a:schemeClr val="tx1"/>
              </a:solidFill>
            </a:endParaRPr>
          </a:p>
        </p:txBody>
      </p:sp>
      <p:sp>
        <p:nvSpPr>
          <p:cNvPr id="32" name="Rounded Rectangle 31">
            <a:extLst>
              <a:ext uri="{FF2B5EF4-FFF2-40B4-BE49-F238E27FC236}">
                <a16:creationId xmlns:a16="http://schemas.microsoft.com/office/drawing/2014/main" id="{9E72D49D-1B39-41CC-B03D-6103B604B0AD}"/>
              </a:ext>
            </a:extLst>
          </p:cNvPr>
          <p:cNvSpPr/>
          <p:nvPr/>
        </p:nvSpPr>
        <p:spPr>
          <a:xfrm>
            <a:off x="5511800" y="4581525"/>
            <a:ext cx="1727200" cy="2159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sz="1400" dirty="0">
                <a:solidFill>
                  <a:schemeClr val="tx1"/>
                </a:solidFill>
              </a:rPr>
              <a:t>Image</a:t>
            </a:r>
            <a:endParaRPr lang="en-IN" sz="1400" dirty="0">
              <a:solidFill>
                <a:schemeClr val="tx1"/>
              </a:solidFill>
            </a:endParaRPr>
          </a:p>
        </p:txBody>
      </p:sp>
      <p:sp>
        <p:nvSpPr>
          <p:cNvPr id="33" name="Rounded Rectangle 32">
            <a:extLst>
              <a:ext uri="{FF2B5EF4-FFF2-40B4-BE49-F238E27FC236}">
                <a16:creationId xmlns:a16="http://schemas.microsoft.com/office/drawing/2014/main" id="{96727B66-7615-4BE4-A2E2-BD725E791590}"/>
              </a:ext>
            </a:extLst>
          </p:cNvPr>
          <p:cNvSpPr/>
          <p:nvPr/>
        </p:nvSpPr>
        <p:spPr>
          <a:xfrm>
            <a:off x="5334000" y="4038600"/>
            <a:ext cx="1873250" cy="21590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400" dirty="0"/>
              <a:t>Virtualized images</a:t>
            </a:r>
            <a:endParaRPr lang="en-IN" sz="1400" dirty="0"/>
          </a:p>
        </p:txBody>
      </p:sp>
      <p:sp>
        <p:nvSpPr>
          <p:cNvPr id="34" name="Rounded Rectangle 33">
            <a:extLst>
              <a:ext uri="{FF2B5EF4-FFF2-40B4-BE49-F238E27FC236}">
                <a16:creationId xmlns:a16="http://schemas.microsoft.com/office/drawing/2014/main" id="{B66EE84F-0B40-4584-A5F8-FD7B78B7B0BE}"/>
              </a:ext>
            </a:extLst>
          </p:cNvPr>
          <p:cNvSpPr/>
          <p:nvPr/>
        </p:nvSpPr>
        <p:spPr>
          <a:xfrm>
            <a:off x="3048000" y="5029200"/>
            <a:ext cx="4319588" cy="43180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fontAlgn="auto" hangingPunct="1">
              <a:spcBef>
                <a:spcPts val="0"/>
              </a:spcBef>
              <a:spcAft>
                <a:spcPts val="0"/>
              </a:spcAft>
              <a:defRPr/>
            </a:pPr>
            <a:r>
              <a:rPr lang="en-US" dirty="0"/>
              <a:t>Software kernel (OS. VM Manager)</a:t>
            </a:r>
            <a:endParaRPr lang="en-IN" dirty="0"/>
          </a:p>
        </p:txBody>
      </p:sp>
      <p:sp>
        <p:nvSpPr>
          <p:cNvPr id="35" name="Rounded Rectangle 34">
            <a:extLst>
              <a:ext uri="{FF2B5EF4-FFF2-40B4-BE49-F238E27FC236}">
                <a16:creationId xmlns:a16="http://schemas.microsoft.com/office/drawing/2014/main" id="{97FA9BE7-3371-4EF3-B67E-B7DBCF2592C0}"/>
              </a:ext>
            </a:extLst>
          </p:cNvPr>
          <p:cNvSpPr/>
          <p:nvPr/>
        </p:nvSpPr>
        <p:spPr>
          <a:xfrm>
            <a:off x="3048000" y="5589588"/>
            <a:ext cx="4319588" cy="43180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hangingPunct="1">
              <a:defRPr/>
            </a:pPr>
            <a:r>
              <a:rPr lang="en-US">
                <a:solidFill>
                  <a:srgbClr val="000000"/>
                </a:solidFill>
                <a:cs typeface="Arial" charset="0"/>
              </a:rPr>
              <a:t>Hardware</a:t>
            </a:r>
            <a:endParaRPr lang="en-IN">
              <a:solidFill>
                <a:srgbClr val="000000"/>
              </a:solidFill>
              <a:cs typeface="Arial" charset="0"/>
            </a:endParaRPr>
          </a:p>
        </p:txBody>
      </p:sp>
      <p:sp>
        <p:nvSpPr>
          <p:cNvPr id="36" name="Rounded Rectangle 35">
            <a:extLst>
              <a:ext uri="{FF2B5EF4-FFF2-40B4-BE49-F238E27FC236}">
                <a16:creationId xmlns:a16="http://schemas.microsoft.com/office/drawing/2014/main" id="{198F3FAA-2D72-4749-A30C-15FA55702069}"/>
              </a:ext>
            </a:extLst>
          </p:cNvPr>
          <p:cNvSpPr/>
          <p:nvPr/>
        </p:nvSpPr>
        <p:spPr>
          <a:xfrm>
            <a:off x="1143000" y="1524000"/>
            <a:ext cx="1752600" cy="4572000"/>
          </a:xfrm>
          <a:prstGeom prst="round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chemeClr val="tx1"/>
              </a:solidFill>
            </a:endParaRPr>
          </a:p>
        </p:txBody>
      </p:sp>
      <p:cxnSp>
        <p:nvCxnSpPr>
          <p:cNvPr id="42" name="Straight Connector 41">
            <a:extLst>
              <a:ext uri="{FF2B5EF4-FFF2-40B4-BE49-F238E27FC236}">
                <a16:creationId xmlns:a16="http://schemas.microsoft.com/office/drawing/2014/main" id="{338614E0-FD39-4DD0-ABF6-1F948AD334C7}"/>
              </a:ext>
            </a:extLst>
          </p:cNvPr>
          <p:cNvCxnSpPr/>
          <p:nvPr/>
        </p:nvCxnSpPr>
        <p:spPr>
          <a:xfrm>
            <a:off x="1143000" y="2286000"/>
            <a:ext cx="1752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1DED05-3823-428B-A134-D6429810A82E}"/>
              </a:ext>
            </a:extLst>
          </p:cNvPr>
          <p:cNvCxnSpPr/>
          <p:nvPr/>
        </p:nvCxnSpPr>
        <p:spPr>
          <a:xfrm>
            <a:off x="1143000" y="3960813"/>
            <a:ext cx="175260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2C29095B-378B-4B09-A8AE-B8D297758A3F}"/>
              </a:ext>
            </a:extLst>
          </p:cNvPr>
          <p:cNvSpPr/>
          <p:nvPr/>
        </p:nvSpPr>
        <p:spPr>
          <a:xfrm>
            <a:off x="1371600" y="1600200"/>
            <a:ext cx="1295400" cy="533400"/>
          </a:xfrm>
          <a:prstGeom prst="roundRect">
            <a:avLst/>
          </a:prstGeom>
          <a:solidFill>
            <a:schemeClr val="bg1"/>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dirty="0">
                <a:solidFill>
                  <a:schemeClr val="tx1"/>
                </a:solidFill>
              </a:rPr>
              <a:t>Application</a:t>
            </a:r>
            <a:endParaRPr lang="en-IN" dirty="0">
              <a:solidFill>
                <a:schemeClr val="tx1"/>
              </a:solidFill>
            </a:endParaRPr>
          </a:p>
        </p:txBody>
      </p:sp>
      <p:sp>
        <p:nvSpPr>
          <p:cNvPr id="47" name="Rounded Rectangle 46">
            <a:extLst>
              <a:ext uri="{FF2B5EF4-FFF2-40B4-BE49-F238E27FC236}">
                <a16:creationId xmlns:a16="http://schemas.microsoft.com/office/drawing/2014/main" id="{7C6B446B-90AE-4172-BD80-32081B99D70F}"/>
              </a:ext>
            </a:extLst>
          </p:cNvPr>
          <p:cNvSpPr/>
          <p:nvPr/>
        </p:nvSpPr>
        <p:spPr>
          <a:xfrm>
            <a:off x="1447800" y="2971800"/>
            <a:ext cx="1008063" cy="287338"/>
          </a:xfrm>
          <a:prstGeom prst="roundRect">
            <a:avLst/>
          </a:prstGeom>
          <a:solidFill>
            <a:schemeClr val="bg1">
              <a:alpha val="0"/>
            </a:schemeClr>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dirty="0">
                <a:solidFill>
                  <a:schemeClr val="tx1"/>
                </a:solidFill>
              </a:rPr>
              <a:t>Platform</a:t>
            </a:r>
            <a:endParaRPr lang="en-IN" dirty="0">
              <a:solidFill>
                <a:schemeClr val="tx1"/>
              </a:solidFill>
            </a:endParaRPr>
          </a:p>
        </p:txBody>
      </p:sp>
      <p:sp>
        <p:nvSpPr>
          <p:cNvPr id="48" name="Rounded Rectangle 47">
            <a:extLst>
              <a:ext uri="{FF2B5EF4-FFF2-40B4-BE49-F238E27FC236}">
                <a16:creationId xmlns:a16="http://schemas.microsoft.com/office/drawing/2014/main" id="{8D092EDD-2200-4695-9B29-585B7942B6FE}"/>
              </a:ext>
            </a:extLst>
          </p:cNvPr>
          <p:cNvSpPr/>
          <p:nvPr/>
        </p:nvSpPr>
        <p:spPr>
          <a:xfrm>
            <a:off x="1295400" y="4343400"/>
            <a:ext cx="1447800" cy="381000"/>
          </a:xfrm>
          <a:prstGeom prst="roundRect">
            <a:avLst/>
          </a:prstGeom>
          <a:solidFill>
            <a:schemeClr val="bg1"/>
          </a:solid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lIns="0" anchor="ctr"/>
          <a:lstStyle/>
          <a:p>
            <a:pPr algn="ctr" eaLnBrk="1" fontAlgn="auto" hangingPunct="1">
              <a:spcBef>
                <a:spcPts val="0"/>
              </a:spcBef>
              <a:spcAft>
                <a:spcPts val="0"/>
              </a:spcAft>
              <a:defRPr/>
            </a:pPr>
            <a:r>
              <a:rPr lang="en-US" dirty="0">
                <a:solidFill>
                  <a:schemeClr val="tx1"/>
                </a:solidFill>
              </a:rPr>
              <a:t>Infrastructure</a:t>
            </a:r>
            <a:endParaRPr lang="en-IN" dirty="0">
              <a:solidFill>
                <a:schemeClr val="tx1"/>
              </a:solidFill>
            </a:endParaRPr>
          </a:p>
        </p:txBody>
      </p:sp>
      <p:sp>
        <p:nvSpPr>
          <p:cNvPr id="51" name="Rounded Rectangle 50">
            <a:extLst>
              <a:ext uri="{FF2B5EF4-FFF2-40B4-BE49-F238E27FC236}">
                <a16:creationId xmlns:a16="http://schemas.microsoft.com/office/drawing/2014/main" id="{1BCF6058-4C76-4339-B8C7-8BD00DFE4859}"/>
              </a:ext>
            </a:extLst>
          </p:cNvPr>
          <p:cNvSpPr/>
          <p:nvPr/>
        </p:nvSpPr>
        <p:spPr>
          <a:xfrm>
            <a:off x="3048000" y="3124200"/>
            <a:ext cx="4267200" cy="685800"/>
          </a:xfrm>
          <a:prstGeom prst="round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000000"/>
                </a:solidFill>
              </a:rPr>
              <a:t>Basic  middleware</a:t>
            </a:r>
          </a:p>
          <a:p>
            <a:pPr algn="ctr" eaLnBrk="1" hangingPunct="1">
              <a:defRPr/>
            </a:pPr>
            <a:r>
              <a:rPr lang="en-US" dirty="0">
                <a:solidFill>
                  <a:srgbClr val="000000"/>
                </a:solidFill>
              </a:rPr>
              <a:t>(database services ,  application server </a:t>
            </a:r>
            <a:r>
              <a:rPr lang="en-US" dirty="0"/>
              <a:t>)</a:t>
            </a:r>
          </a:p>
        </p:txBody>
      </p:sp>
      <p:sp>
        <p:nvSpPr>
          <p:cNvPr id="52" name="Rounded Rectangle 51">
            <a:extLst>
              <a:ext uri="{FF2B5EF4-FFF2-40B4-BE49-F238E27FC236}">
                <a16:creationId xmlns:a16="http://schemas.microsoft.com/office/drawing/2014/main" id="{1F233331-D953-424F-8FE1-4B29D146B701}"/>
              </a:ext>
            </a:extLst>
          </p:cNvPr>
          <p:cNvSpPr/>
          <p:nvPr/>
        </p:nvSpPr>
        <p:spPr>
          <a:xfrm>
            <a:off x="3048000" y="2362200"/>
            <a:ext cx="4267200" cy="685800"/>
          </a:xfrm>
          <a:prstGeom prst="round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solidFill>
                  <a:srgbClr val="000000"/>
                </a:solidFill>
                <a:cs typeface="Arial" charset="0"/>
              </a:rPr>
              <a:t>Developments tools</a:t>
            </a:r>
            <a:endParaRPr lang="en-US">
              <a:solidFill>
                <a:srgbClr val="FFFFFF"/>
              </a:solidFill>
              <a:cs typeface="Arial" charset="0"/>
            </a:endParaRPr>
          </a:p>
        </p:txBody>
      </p:sp>
      <p:sp>
        <p:nvSpPr>
          <p:cNvPr id="53" name="Rounded Rectangle 52">
            <a:extLst>
              <a:ext uri="{FF2B5EF4-FFF2-40B4-BE49-F238E27FC236}">
                <a16:creationId xmlns:a16="http://schemas.microsoft.com/office/drawing/2014/main" id="{05D73CA0-87F7-42CA-885F-EB1014E26C5E}"/>
              </a:ext>
            </a:extLst>
          </p:cNvPr>
          <p:cNvSpPr/>
          <p:nvPr/>
        </p:nvSpPr>
        <p:spPr>
          <a:xfrm>
            <a:off x="3048000" y="1524000"/>
            <a:ext cx="4267200" cy="762000"/>
          </a:xfrm>
          <a:prstGeom prst="round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rgbClr val="000000"/>
                </a:solidFill>
              </a:rPr>
              <a:t>Services and built in functionality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0C80-D7B4-435B-B29B-677C6CE47BBF}"/>
              </a:ext>
            </a:extLst>
          </p:cNvPr>
          <p:cNvSpPr>
            <a:spLocks noGrp="1"/>
          </p:cNvSpPr>
          <p:nvPr>
            <p:ph type="title" idx="4294967295"/>
          </p:nvPr>
        </p:nvSpPr>
        <p:spPr/>
        <p:txBody>
          <a:bodyPr>
            <a:normAutofit fontScale="90000"/>
          </a:bodyPr>
          <a:lstStyle/>
          <a:p>
            <a:pPr algn="ctr">
              <a:defRPr/>
            </a:pPr>
            <a:r>
              <a:rPr lang="en-US" dirty="0"/>
              <a:t>Virtual infrastructure management and Cloud Computing</a:t>
            </a:r>
          </a:p>
        </p:txBody>
      </p:sp>
      <p:sp>
        <p:nvSpPr>
          <p:cNvPr id="4" name="Rounded Rectangle 3">
            <a:extLst>
              <a:ext uri="{FF2B5EF4-FFF2-40B4-BE49-F238E27FC236}">
                <a16:creationId xmlns:a16="http://schemas.microsoft.com/office/drawing/2014/main" id="{9B0BE0A9-A635-4856-A7B4-753041957257}"/>
              </a:ext>
            </a:extLst>
          </p:cNvPr>
          <p:cNvSpPr/>
          <p:nvPr/>
        </p:nvSpPr>
        <p:spPr>
          <a:xfrm>
            <a:off x="1143000" y="1828800"/>
            <a:ext cx="7848600" cy="480060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buFont typeface="Wingdings" pitchFamily="2" charset="2"/>
              <a:buChar char="Ø"/>
              <a:defRPr/>
            </a:pPr>
            <a:r>
              <a:rPr lang="en-US" sz="2400" dirty="0">
                <a:solidFill>
                  <a:srgbClr val="000000"/>
                </a:solidFill>
              </a:rPr>
              <a:t>For building the cloud environment a </a:t>
            </a:r>
            <a:r>
              <a:rPr lang="en-US" sz="2400" b="1" dirty="0">
                <a:solidFill>
                  <a:srgbClr val="FF0000"/>
                </a:solidFill>
              </a:rPr>
              <a:t>variety of requirements must be met </a:t>
            </a:r>
            <a:r>
              <a:rPr lang="en-US" sz="2400" dirty="0">
                <a:solidFill>
                  <a:srgbClr val="000000"/>
                </a:solidFill>
              </a:rPr>
              <a:t>to provide a uniform and homogeneous view of the virtualized resources.</a:t>
            </a:r>
          </a:p>
          <a:p>
            <a:pPr algn="just" eaLnBrk="1" hangingPunct="1">
              <a:defRPr/>
            </a:pPr>
            <a:endParaRPr lang="en-US" sz="2400" dirty="0">
              <a:solidFill>
                <a:srgbClr val="000000"/>
              </a:solidFill>
            </a:endParaRPr>
          </a:p>
          <a:p>
            <a:pPr algn="just" eaLnBrk="1" hangingPunct="1">
              <a:buFont typeface="Wingdings" pitchFamily="2" charset="2"/>
              <a:buChar char="Ø"/>
              <a:defRPr/>
            </a:pPr>
            <a:r>
              <a:rPr lang="en-US" sz="2400" dirty="0">
                <a:solidFill>
                  <a:srgbClr val="000000"/>
                </a:solidFill>
              </a:rPr>
              <a:t>Virtual Infrastructure Management is the key component to build the cloud environment which does the dynamic orchestration of virtual machines on a pool of physical resources.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E022A64-2F53-4383-B928-F047E89D8EF1}"/>
              </a:ext>
            </a:extLst>
          </p:cNvPr>
          <p:cNvSpPr/>
          <p:nvPr/>
        </p:nvSpPr>
        <p:spPr>
          <a:xfrm>
            <a:off x="1219200" y="1524000"/>
            <a:ext cx="7620000" cy="487680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buFont typeface="Wingdings" pitchFamily="2" charset="2"/>
              <a:buChar char="Ø"/>
              <a:defRPr/>
            </a:pPr>
            <a:r>
              <a:rPr lang="en-US" sz="2400" dirty="0">
                <a:solidFill>
                  <a:srgbClr val="000000"/>
                </a:solidFill>
              </a:rPr>
              <a:t>Virtual infrastructure management provide primitives to schedule and manage VMs across multiple physical hosts.</a:t>
            </a:r>
          </a:p>
          <a:p>
            <a:pPr algn="just" eaLnBrk="1" hangingPunct="1">
              <a:buFont typeface="Wingdings" pitchFamily="2" charset="2"/>
              <a:buChar char="Ø"/>
              <a:defRPr/>
            </a:pPr>
            <a:endParaRPr lang="en-US" sz="2400" dirty="0">
              <a:solidFill>
                <a:srgbClr val="000000"/>
              </a:solidFill>
            </a:endParaRPr>
          </a:p>
          <a:p>
            <a:pPr algn="just" eaLnBrk="1" hangingPunct="1">
              <a:buFont typeface="Wingdings" pitchFamily="2" charset="2"/>
              <a:buChar char="Ø"/>
              <a:defRPr/>
            </a:pPr>
            <a:r>
              <a:rPr lang="en-US" sz="2400" dirty="0">
                <a:solidFill>
                  <a:srgbClr val="000000"/>
                </a:solidFill>
              </a:rPr>
              <a:t>Cloud management provide remote and secure interface for creating controlling and monitoring virtualized resources on </a:t>
            </a:r>
            <a:r>
              <a:rPr lang="en-US" sz="2400" dirty="0" err="1">
                <a:solidFill>
                  <a:srgbClr val="000000"/>
                </a:solidFill>
              </a:rPr>
              <a:t>IaaS</a:t>
            </a:r>
            <a:r>
              <a:rPr lang="en-US" sz="2400" dirty="0"/>
              <a:t>.</a:t>
            </a:r>
          </a:p>
        </p:txBody>
      </p:sp>
      <p:sp>
        <p:nvSpPr>
          <p:cNvPr id="2" name="Title 1">
            <a:extLst>
              <a:ext uri="{FF2B5EF4-FFF2-40B4-BE49-F238E27FC236}">
                <a16:creationId xmlns:a16="http://schemas.microsoft.com/office/drawing/2014/main" id="{4B56F298-6AE3-48D1-8D56-0903C078232A}"/>
              </a:ext>
            </a:extLst>
          </p:cNvPr>
          <p:cNvSpPr>
            <a:spLocks/>
          </p:cNvSpPr>
          <p:nvPr/>
        </p:nvSpPr>
        <p:spPr bwMode="auto">
          <a:xfrm>
            <a:off x="1435100" y="274638"/>
            <a:ext cx="7499350" cy="715962"/>
          </a:xfrm>
          <a:prstGeom prst="rect">
            <a:avLst/>
          </a:prstGeom>
          <a:noFill/>
          <a:ln w="9525">
            <a:noFill/>
            <a:miter lim="800000"/>
            <a:headEnd/>
            <a:tailEnd/>
          </a:ln>
        </p:spPr>
        <p:txBody>
          <a:bodyPr anchor="ctr"/>
          <a:lstStyle/>
          <a:p>
            <a:pPr algn="ctr">
              <a:defRPr/>
            </a:pPr>
            <a:r>
              <a:rPr lang="en-US" sz="4000" dirty="0">
                <a:solidFill>
                  <a:srgbClr val="572314"/>
                </a:solidFill>
                <a:effectLst>
                  <a:outerShdw blurRad="50000" dist="30000" dir="5400000" algn="tl" rotWithShape="0">
                    <a:srgbClr val="000000">
                      <a:alpha val="30000"/>
                    </a:srgbClr>
                  </a:outerShdw>
                </a:effectLst>
                <a:latin typeface="+mj-lt"/>
                <a:ea typeface="+mj-ea"/>
                <a:cs typeface="+mj-cs"/>
              </a:rPr>
              <a:t>Virtual infrastructure management and Cloud Computing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CDD4D-AACA-4B2D-8DD1-01C42E81F14F}"/>
              </a:ext>
            </a:extLst>
          </p:cNvPr>
          <p:cNvSpPr>
            <a:spLocks noGrp="1"/>
          </p:cNvSpPr>
          <p:nvPr>
            <p:ph type="title" idx="4294967295"/>
          </p:nvPr>
        </p:nvSpPr>
        <p:spPr>
          <a:xfrm>
            <a:off x="1331913" y="115888"/>
            <a:ext cx="7497762" cy="850900"/>
          </a:xfrm>
        </p:spPr>
        <p:txBody>
          <a:bodyPr/>
          <a:lstStyle/>
          <a:p>
            <a:pPr algn="ctr">
              <a:defRPr/>
            </a:pPr>
            <a:r>
              <a:rPr lang="en-US" sz="3600" dirty="0"/>
              <a:t>View of Cloud Deployment</a:t>
            </a:r>
            <a:endParaRPr lang="en-IN" sz="3600" dirty="0"/>
          </a:p>
        </p:txBody>
      </p:sp>
      <p:sp>
        <p:nvSpPr>
          <p:cNvPr id="4" name="Rectangle 3">
            <a:extLst>
              <a:ext uri="{FF2B5EF4-FFF2-40B4-BE49-F238E27FC236}">
                <a16:creationId xmlns:a16="http://schemas.microsoft.com/office/drawing/2014/main" id="{73004D6C-93E2-4ED5-9C9F-9E9CB6E92689}"/>
              </a:ext>
            </a:extLst>
          </p:cNvPr>
          <p:cNvSpPr/>
          <p:nvPr/>
        </p:nvSpPr>
        <p:spPr>
          <a:xfrm>
            <a:off x="1042988" y="1125538"/>
            <a:ext cx="1296987" cy="7905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Cloud Application</a:t>
            </a:r>
            <a:endParaRPr lang="en-IN" dirty="0">
              <a:solidFill>
                <a:schemeClr val="tx1"/>
              </a:solidFill>
            </a:endParaRPr>
          </a:p>
        </p:txBody>
      </p:sp>
      <p:sp>
        <p:nvSpPr>
          <p:cNvPr id="5" name="Flowchart: Decision 4">
            <a:extLst>
              <a:ext uri="{FF2B5EF4-FFF2-40B4-BE49-F238E27FC236}">
                <a16:creationId xmlns:a16="http://schemas.microsoft.com/office/drawing/2014/main" id="{83C174C9-2FC3-4E60-BE8F-964103A59B98}"/>
              </a:ext>
            </a:extLst>
          </p:cNvPr>
          <p:cNvSpPr/>
          <p:nvPr/>
        </p:nvSpPr>
        <p:spPr>
          <a:xfrm>
            <a:off x="1042988" y="2438400"/>
            <a:ext cx="1296987" cy="504825"/>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schemeClr val="tx1"/>
              </a:solidFill>
              <a:cs typeface="Arial" charset="0"/>
            </a:endParaRPr>
          </a:p>
        </p:txBody>
      </p:sp>
      <p:sp>
        <p:nvSpPr>
          <p:cNvPr id="6" name="Flowchart: Decision 5">
            <a:extLst>
              <a:ext uri="{FF2B5EF4-FFF2-40B4-BE49-F238E27FC236}">
                <a16:creationId xmlns:a16="http://schemas.microsoft.com/office/drawing/2014/main" id="{42050905-CE3C-4470-9A76-AC31E37E0085}"/>
              </a:ext>
            </a:extLst>
          </p:cNvPr>
          <p:cNvSpPr/>
          <p:nvPr/>
        </p:nvSpPr>
        <p:spPr>
          <a:xfrm>
            <a:off x="1042988" y="3581400"/>
            <a:ext cx="1296987" cy="504825"/>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schemeClr val="tx1"/>
              </a:solidFill>
              <a:cs typeface="Arial" charset="0"/>
            </a:endParaRPr>
          </a:p>
        </p:txBody>
      </p:sp>
      <p:sp>
        <p:nvSpPr>
          <p:cNvPr id="7" name="Flowchart: Decision 6">
            <a:extLst>
              <a:ext uri="{FF2B5EF4-FFF2-40B4-BE49-F238E27FC236}">
                <a16:creationId xmlns:a16="http://schemas.microsoft.com/office/drawing/2014/main" id="{6C16F283-23F5-4DBC-967F-1D1BF2E25309}"/>
              </a:ext>
            </a:extLst>
          </p:cNvPr>
          <p:cNvSpPr/>
          <p:nvPr/>
        </p:nvSpPr>
        <p:spPr>
          <a:xfrm>
            <a:off x="1042988" y="4953000"/>
            <a:ext cx="1296987" cy="504825"/>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schemeClr val="tx1"/>
              </a:solidFill>
              <a:cs typeface="Arial" charset="0"/>
            </a:endParaRPr>
          </a:p>
        </p:txBody>
      </p:sp>
      <p:sp>
        <p:nvSpPr>
          <p:cNvPr id="8" name="Rectangle 7">
            <a:extLst>
              <a:ext uri="{FF2B5EF4-FFF2-40B4-BE49-F238E27FC236}">
                <a16:creationId xmlns:a16="http://schemas.microsoft.com/office/drawing/2014/main" id="{6D93CB45-C662-463E-B056-1F488BFA85AC}"/>
              </a:ext>
            </a:extLst>
          </p:cNvPr>
          <p:cNvSpPr/>
          <p:nvPr/>
        </p:nvSpPr>
        <p:spPr>
          <a:xfrm>
            <a:off x="2771775" y="2349500"/>
            <a:ext cx="2808288" cy="7921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eaLnBrk="1" hangingPunct="1">
              <a:defRPr/>
            </a:pPr>
            <a:r>
              <a:rPr lang="en-US" sz="1200" b="1">
                <a:solidFill>
                  <a:schemeClr val="tx1"/>
                </a:solidFill>
                <a:cs typeface="Arial" charset="0"/>
              </a:rPr>
              <a:t>                 </a:t>
            </a:r>
            <a:endParaRPr lang="en-IN" sz="1200">
              <a:solidFill>
                <a:schemeClr val="tx1"/>
              </a:solidFill>
              <a:cs typeface="Arial" charset="0"/>
            </a:endParaRPr>
          </a:p>
        </p:txBody>
      </p:sp>
      <p:sp>
        <p:nvSpPr>
          <p:cNvPr id="9" name="Rectangle 8">
            <a:extLst>
              <a:ext uri="{FF2B5EF4-FFF2-40B4-BE49-F238E27FC236}">
                <a16:creationId xmlns:a16="http://schemas.microsoft.com/office/drawing/2014/main" id="{5F41D094-2777-4515-ABDD-9690AE04170E}"/>
              </a:ext>
            </a:extLst>
          </p:cNvPr>
          <p:cNvSpPr/>
          <p:nvPr/>
        </p:nvSpPr>
        <p:spPr>
          <a:xfrm>
            <a:off x="2771775" y="3500438"/>
            <a:ext cx="2808288" cy="7921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eaLnBrk="1" hangingPunct="1">
              <a:defRPr/>
            </a:pPr>
            <a:endParaRPr lang="en-IN" sz="1200">
              <a:solidFill>
                <a:schemeClr val="tx1"/>
              </a:solidFill>
              <a:cs typeface="Arial" charset="0"/>
            </a:endParaRPr>
          </a:p>
        </p:txBody>
      </p:sp>
      <p:sp>
        <p:nvSpPr>
          <p:cNvPr id="10" name="Rectangle 9">
            <a:extLst>
              <a:ext uri="{FF2B5EF4-FFF2-40B4-BE49-F238E27FC236}">
                <a16:creationId xmlns:a16="http://schemas.microsoft.com/office/drawing/2014/main" id="{5E364631-9630-4306-B192-8A6EC1D6A45F}"/>
              </a:ext>
            </a:extLst>
          </p:cNvPr>
          <p:cNvSpPr/>
          <p:nvPr/>
        </p:nvSpPr>
        <p:spPr>
          <a:xfrm>
            <a:off x="2843213" y="4567238"/>
            <a:ext cx="2736850" cy="12239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eaLnBrk="1" hangingPunct="1">
              <a:defRPr/>
            </a:pPr>
            <a:endParaRPr lang="en-IN" sz="1200">
              <a:solidFill>
                <a:schemeClr val="tx1"/>
              </a:solidFill>
              <a:cs typeface="Arial" charset="0"/>
            </a:endParaRPr>
          </a:p>
        </p:txBody>
      </p:sp>
      <p:sp>
        <p:nvSpPr>
          <p:cNvPr id="11" name="Rounded Rectangle 10">
            <a:extLst>
              <a:ext uri="{FF2B5EF4-FFF2-40B4-BE49-F238E27FC236}">
                <a16:creationId xmlns:a16="http://schemas.microsoft.com/office/drawing/2014/main" id="{E4BAB0A4-F686-4B78-B4BC-E9025BBABFAF}"/>
              </a:ext>
            </a:extLst>
          </p:cNvPr>
          <p:cNvSpPr/>
          <p:nvPr/>
        </p:nvSpPr>
        <p:spPr>
          <a:xfrm>
            <a:off x="6156325" y="1196975"/>
            <a:ext cx="2808288" cy="792163"/>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solidFill>
                  <a:schemeClr val="tx1"/>
                </a:solidFill>
              </a:rPr>
              <a:t>Client </a:t>
            </a:r>
          </a:p>
          <a:p>
            <a:pPr algn="ctr" eaLnBrk="1" hangingPunct="1">
              <a:defRPr/>
            </a:pPr>
            <a:r>
              <a:rPr lang="en-US" dirty="0">
                <a:solidFill>
                  <a:schemeClr val="tx1"/>
                </a:solidFill>
              </a:rPr>
              <a:t>Infrastructure</a:t>
            </a:r>
            <a:endParaRPr lang="en-IN" dirty="0">
              <a:solidFill>
                <a:schemeClr val="tx1"/>
              </a:solidFill>
            </a:endParaRPr>
          </a:p>
        </p:txBody>
      </p:sp>
      <p:sp>
        <p:nvSpPr>
          <p:cNvPr id="12" name="Rounded Rectangle 11">
            <a:extLst>
              <a:ext uri="{FF2B5EF4-FFF2-40B4-BE49-F238E27FC236}">
                <a16:creationId xmlns:a16="http://schemas.microsoft.com/office/drawing/2014/main" id="{194F3B00-79F7-4810-82BA-C16795CAEF35}"/>
              </a:ext>
            </a:extLst>
          </p:cNvPr>
          <p:cNvSpPr/>
          <p:nvPr/>
        </p:nvSpPr>
        <p:spPr>
          <a:xfrm>
            <a:off x="6011863" y="2276475"/>
            <a:ext cx="2952750" cy="647700"/>
          </a:xfrm>
          <a:prstGeom prst="roundRect">
            <a:avLst/>
          </a:prstGeom>
        </p:spPr>
        <p:style>
          <a:lnRef idx="2">
            <a:schemeClr val="accent6"/>
          </a:lnRef>
          <a:fillRef idx="1">
            <a:schemeClr val="lt1"/>
          </a:fillRef>
          <a:effectRef idx="0">
            <a:schemeClr val="accent6"/>
          </a:effectRef>
          <a:fontRef idx="minor">
            <a:schemeClr val="dk1"/>
          </a:fontRef>
        </p:style>
        <p:txBody>
          <a:bodyPr lIns="0" tIns="0" rIns="0" bIns="0" anchor="ctr"/>
          <a:lstStyle/>
          <a:p>
            <a:pPr algn="ctr" eaLnBrk="1" hangingPunct="1">
              <a:defRPr/>
            </a:pPr>
            <a:endParaRPr lang="en-IN" dirty="0">
              <a:solidFill>
                <a:schemeClr val="tx1"/>
              </a:solidFill>
            </a:endParaRPr>
          </a:p>
        </p:txBody>
      </p:sp>
      <p:sp>
        <p:nvSpPr>
          <p:cNvPr id="13" name="Rectangle 12">
            <a:extLst>
              <a:ext uri="{FF2B5EF4-FFF2-40B4-BE49-F238E27FC236}">
                <a16:creationId xmlns:a16="http://schemas.microsoft.com/office/drawing/2014/main" id="{B454AB6B-4DD3-443D-AD38-B928B02F7F36}"/>
              </a:ext>
            </a:extLst>
          </p:cNvPr>
          <p:cNvSpPr/>
          <p:nvPr/>
        </p:nvSpPr>
        <p:spPr>
          <a:xfrm>
            <a:off x="6084888" y="2349500"/>
            <a:ext cx="1655762" cy="503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Application</a:t>
            </a:r>
            <a:endParaRPr lang="en-IN" dirty="0">
              <a:solidFill>
                <a:schemeClr val="tx1"/>
              </a:solidFill>
            </a:endParaRPr>
          </a:p>
        </p:txBody>
      </p:sp>
      <p:sp>
        <p:nvSpPr>
          <p:cNvPr id="15" name="Rounded Rectangle 14">
            <a:extLst>
              <a:ext uri="{FF2B5EF4-FFF2-40B4-BE49-F238E27FC236}">
                <a16:creationId xmlns:a16="http://schemas.microsoft.com/office/drawing/2014/main" id="{768BA85F-C790-4464-8CB7-0DE2AC4E51DA}"/>
              </a:ext>
            </a:extLst>
          </p:cNvPr>
          <p:cNvSpPr/>
          <p:nvPr/>
        </p:nvSpPr>
        <p:spPr>
          <a:xfrm>
            <a:off x="6011863" y="2997200"/>
            <a:ext cx="2952750" cy="1727200"/>
          </a:xfrm>
          <a:prstGeom prst="roundRect">
            <a:avLst/>
          </a:prstGeom>
        </p:spPr>
        <p:style>
          <a:lnRef idx="2">
            <a:schemeClr val="accent6"/>
          </a:lnRef>
          <a:fillRef idx="1">
            <a:schemeClr val="lt1"/>
          </a:fillRef>
          <a:effectRef idx="0">
            <a:schemeClr val="accent6"/>
          </a:effectRef>
          <a:fontRef idx="minor">
            <a:schemeClr val="dk1"/>
          </a:fontRef>
        </p:style>
        <p:txBody>
          <a:bodyPr lIns="0" tIns="0" rIns="0" bIns="0" anchor="ctr"/>
          <a:lstStyle/>
          <a:p>
            <a:pPr algn="ctr" eaLnBrk="1" hangingPunct="1">
              <a:defRPr/>
            </a:pPr>
            <a:endParaRPr lang="en-IN" dirty="0">
              <a:solidFill>
                <a:schemeClr val="tx1"/>
              </a:solidFill>
            </a:endParaRPr>
          </a:p>
        </p:txBody>
      </p:sp>
      <p:sp>
        <p:nvSpPr>
          <p:cNvPr id="16" name="Rounded Rectangle 15">
            <a:extLst>
              <a:ext uri="{FF2B5EF4-FFF2-40B4-BE49-F238E27FC236}">
                <a16:creationId xmlns:a16="http://schemas.microsoft.com/office/drawing/2014/main" id="{30673649-62E5-4841-A1D8-5499F669BF21}"/>
              </a:ext>
            </a:extLst>
          </p:cNvPr>
          <p:cNvSpPr/>
          <p:nvPr/>
        </p:nvSpPr>
        <p:spPr>
          <a:xfrm>
            <a:off x="3657600" y="3678238"/>
            <a:ext cx="1066800"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2400">
                <a:solidFill>
                  <a:srgbClr val="000000"/>
                </a:solidFill>
                <a:cs typeface="Arial" charset="0"/>
              </a:rPr>
              <a:t>PaaS</a:t>
            </a:r>
            <a:endParaRPr lang="en-IN" sz="2400">
              <a:solidFill>
                <a:srgbClr val="000000"/>
              </a:solidFill>
              <a:cs typeface="Arial" charset="0"/>
            </a:endParaRPr>
          </a:p>
        </p:txBody>
      </p:sp>
      <p:sp>
        <p:nvSpPr>
          <p:cNvPr id="17" name="Rectangle 16">
            <a:extLst>
              <a:ext uri="{FF2B5EF4-FFF2-40B4-BE49-F238E27FC236}">
                <a16:creationId xmlns:a16="http://schemas.microsoft.com/office/drawing/2014/main" id="{50031FAD-AB72-4291-8B03-147DBFA47392}"/>
              </a:ext>
            </a:extLst>
          </p:cNvPr>
          <p:cNvSpPr/>
          <p:nvPr/>
        </p:nvSpPr>
        <p:spPr>
          <a:xfrm>
            <a:off x="7820025" y="2349500"/>
            <a:ext cx="496888" cy="23034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eaLnBrk="1" hangingPunct="1">
              <a:defRPr/>
            </a:pPr>
            <a:r>
              <a:rPr lang="en-US" dirty="0">
                <a:solidFill>
                  <a:schemeClr val="tx1"/>
                </a:solidFill>
              </a:rPr>
              <a:t>Virtualized  Application</a:t>
            </a:r>
            <a:endParaRPr lang="en-IN" dirty="0">
              <a:solidFill>
                <a:schemeClr val="tx1"/>
              </a:solidFill>
            </a:endParaRPr>
          </a:p>
        </p:txBody>
      </p:sp>
      <p:sp>
        <p:nvSpPr>
          <p:cNvPr id="18" name="L-Shape 17">
            <a:extLst>
              <a:ext uri="{FF2B5EF4-FFF2-40B4-BE49-F238E27FC236}">
                <a16:creationId xmlns:a16="http://schemas.microsoft.com/office/drawing/2014/main" id="{0033B08B-24C2-489C-8A5B-C3DA4BE69146}"/>
              </a:ext>
            </a:extLst>
          </p:cNvPr>
          <p:cNvSpPr/>
          <p:nvPr/>
        </p:nvSpPr>
        <p:spPr>
          <a:xfrm>
            <a:off x="6156325" y="3068638"/>
            <a:ext cx="1008063" cy="1584325"/>
          </a:xfrm>
          <a:prstGeom prst="corner">
            <a:avLst>
              <a:gd name="adj1" fmla="val 69784"/>
              <a:gd name="adj2" fmla="val 5020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p>
        </p:txBody>
      </p:sp>
      <p:sp>
        <p:nvSpPr>
          <p:cNvPr id="19" name="Rounded Rectangle 18">
            <a:extLst>
              <a:ext uri="{FF2B5EF4-FFF2-40B4-BE49-F238E27FC236}">
                <a16:creationId xmlns:a16="http://schemas.microsoft.com/office/drawing/2014/main" id="{509EE290-91FD-42DE-B940-D5B339C56F10}"/>
              </a:ext>
            </a:extLst>
          </p:cNvPr>
          <p:cNvSpPr/>
          <p:nvPr/>
        </p:nvSpPr>
        <p:spPr>
          <a:xfrm>
            <a:off x="6156325" y="4149725"/>
            <a:ext cx="1008063" cy="358775"/>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Platform</a:t>
            </a:r>
            <a:endParaRPr lang="en-IN" dirty="0"/>
          </a:p>
        </p:txBody>
      </p:sp>
      <p:sp>
        <p:nvSpPr>
          <p:cNvPr id="20" name="L-Shape 19">
            <a:extLst>
              <a:ext uri="{FF2B5EF4-FFF2-40B4-BE49-F238E27FC236}">
                <a16:creationId xmlns:a16="http://schemas.microsoft.com/office/drawing/2014/main" id="{67667274-B9E6-40ED-837B-08F4FF4DA2DE}"/>
              </a:ext>
            </a:extLst>
          </p:cNvPr>
          <p:cNvSpPr/>
          <p:nvPr/>
        </p:nvSpPr>
        <p:spPr>
          <a:xfrm rot="10800000">
            <a:off x="6732588" y="3068638"/>
            <a:ext cx="1008062" cy="1584325"/>
          </a:xfrm>
          <a:prstGeom prst="corner">
            <a:avLst>
              <a:gd name="adj1" fmla="val 76939"/>
              <a:gd name="adj2" fmla="val 4828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p>
        </p:txBody>
      </p:sp>
      <p:sp>
        <p:nvSpPr>
          <p:cNvPr id="21" name="Rounded Rectangle 20">
            <a:extLst>
              <a:ext uri="{FF2B5EF4-FFF2-40B4-BE49-F238E27FC236}">
                <a16:creationId xmlns:a16="http://schemas.microsoft.com/office/drawing/2014/main" id="{0016E471-7B8A-4352-95B8-0C9CAFB0EAF0}"/>
              </a:ext>
            </a:extLst>
          </p:cNvPr>
          <p:cNvSpPr/>
          <p:nvPr/>
        </p:nvSpPr>
        <p:spPr>
          <a:xfrm>
            <a:off x="6732588" y="3213100"/>
            <a:ext cx="1008062" cy="360363"/>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Service</a:t>
            </a:r>
            <a:endParaRPr lang="en-IN" dirty="0"/>
          </a:p>
        </p:txBody>
      </p:sp>
      <p:sp>
        <p:nvSpPr>
          <p:cNvPr id="22" name="Rounded Rectangle 21">
            <a:extLst>
              <a:ext uri="{FF2B5EF4-FFF2-40B4-BE49-F238E27FC236}">
                <a16:creationId xmlns:a16="http://schemas.microsoft.com/office/drawing/2014/main" id="{0B937A0A-F25F-4565-9F50-01568F7A20E0}"/>
              </a:ext>
            </a:extLst>
          </p:cNvPr>
          <p:cNvSpPr/>
          <p:nvPr/>
        </p:nvSpPr>
        <p:spPr>
          <a:xfrm>
            <a:off x="6011863" y="4797425"/>
            <a:ext cx="2952750" cy="863600"/>
          </a:xfrm>
          <a:prstGeom prst="roundRect">
            <a:avLst/>
          </a:prstGeom>
        </p:spPr>
        <p:style>
          <a:lnRef idx="2">
            <a:schemeClr val="accent6"/>
          </a:lnRef>
          <a:fillRef idx="1">
            <a:schemeClr val="lt1"/>
          </a:fillRef>
          <a:effectRef idx="0">
            <a:schemeClr val="accent6"/>
          </a:effectRef>
          <a:fontRef idx="minor">
            <a:schemeClr val="dk1"/>
          </a:fontRef>
        </p:style>
        <p:txBody>
          <a:bodyPr lIns="0" tIns="0" rIns="0" bIns="0" anchor="ctr"/>
          <a:lstStyle/>
          <a:p>
            <a:pPr algn="ctr" eaLnBrk="1" hangingPunct="1">
              <a:defRPr/>
            </a:pPr>
            <a:endParaRPr lang="en-IN" dirty="0">
              <a:solidFill>
                <a:schemeClr val="tx1"/>
              </a:solidFill>
            </a:endParaRPr>
          </a:p>
        </p:txBody>
      </p:sp>
      <p:sp>
        <p:nvSpPr>
          <p:cNvPr id="23" name="Rounded Rectangle 22">
            <a:extLst>
              <a:ext uri="{FF2B5EF4-FFF2-40B4-BE49-F238E27FC236}">
                <a16:creationId xmlns:a16="http://schemas.microsoft.com/office/drawing/2014/main" id="{384F3A1B-6889-49A5-BC4B-85588A641B24}"/>
              </a:ext>
            </a:extLst>
          </p:cNvPr>
          <p:cNvSpPr/>
          <p:nvPr/>
        </p:nvSpPr>
        <p:spPr>
          <a:xfrm>
            <a:off x="3581400" y="4897438"/>
            <a:ext cx="1219200" cy="3603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2400">
                <a:solidFill>
                  <a:srgbClr val="000000"/>
                </a:solidFill>
                <a:cs typeface="Arial" charset="0"/>
              </a:rPr>
              <a:t>IaaS</a:t>
            </a:r>
            <a:endParaRPr lang="en-IN" sz="2400">
              <a:solidFill>
                <a:srgbClr val="000000"/>
              </a:solidFill>
              <a:cs typeface="Arial" charset="0"/>
            </a:endParaRPr>
          </a:p>
        </p:txBody>
      </p:sp>
      <p:sp>
        <p:nvSpPr>
          <p:cNvPr id="24" name="L-Shape 23">
            <a:extLst>
              <a:ext uri="{FF2B5EF4-FFF2-40B4-BE49-F238E27FC236}">
                <a16:creationId xmlns:a16="http://schemas.microsoft.com/office/drawing/2014/main" id="{A81D7C9A-8A5F-43D9-9F9D-6C26216B3916}"/>
              </a:ext>
            </a:extLst>
          </p:cNvPr>
          <p:cNvSpPr/>
          <p:nvPr/>
        </p:nvSpPr>
        <p:spPr>
          <a:xfrm>
            <a:off x="6084888" y="4868863"/>
            <a:ext cx="2159000" cy="720725"/>
          </a:xfrm>
          <a:prstGeom prst="corner">
            <a:avLst>
              <a:gd name="adj1" fmla="val 38498"/>
              <a:gd name="adj2" fmla="val 7413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p>
        </p:txBody>
      </p:sp>
      <p:sp>
        <p:nvSpPr>
          <p:cNvPr id="25" name="Rounded Rectangle 24">
            <a:extLst>
              <a:ext uri="{FF2B5EF4-FFF2-40B4-BE49-F238E27FC236}">
                <a16:creationId xmlns:a16="http://schemas.microsoft.com/office/drawing/2014/main" id="{AF1B4741-F9C6-46C9-917E-4E9068E6268D}"/>
              </a:ext>
            </a:extLst>
          </p:cNvPr>
          <p:cNvSpPr/>
          <p:nvPr/>
        </p:nvSpPr>
        <p:spPr>
          <a:xfrm>
            <a:off x="6237288" y="5300663"/>
            <a:ext cx="1647825" cy="3603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Infrastructure</a:t>
            </a:r>
            <a:endParaRPr lang="en-IN" dirty="0"/>
          </a:p>
        </p:txBody>
      </p:sp>
      <p:sp>
        <p:nvSpPr>
          <p:cNvPr id="26" name="Rectangle 25">
            <a:extLst>
              <a:ext uri="{FF2B5EF4-FFF2-40B4-BE49-F238E27FC236}">
                <a16:creationId xmlns:a16="http://schemas.microsoft.com/office/drawing/2014/main" id="{D536D8F6-FFB5-4D74-971A-21F1A6992FCA}"/>
              </a:ext>
            </a:extLst>
          </p:cNvPr>
          <p:cNvSpPr/>
          <p:nvPr/>
        </p:nvSpPr>
        <p:spPr>
          <a:xfrm>
            <a:off x="7740650" y="4868863"/>
            <a:ext cx="503238" cy="431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solidFill>
                <a:schemeClr val="tx1"/>
              </a:solidFill>
            </a:endParaRPr>
          </a:p>
        </p:txBody>
      </p:sp>
      <p:sp>
        <p:nvSpPr>
          <p:cNvPr id="27" name="Rectangle 26">
            <a:extLst>
              <a:ext uri="{FF2B5EF4-FFF2-40B4-BE49-F238E27FC236}">
                <a16:creationId xmlns:a16="http://schemas.microsoft.com/office/drawing/2014/main" id="{5E0CC96A-A757-4CDC-A973-C9C609CECE81}"/>
              </a:ext>
            </a:extLst>
          </p:cNvPr>
          <p:cNvSpPr/>
          <p:nvPr/>
        </p:nvSpPr>
        <p:spPr>
          <a:xfrm>
            <a:off x="6732588" y="4868863"/>
            <a:ext cx="935037" cy="3603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Storage</a:t>
            </a:r>
            <a:endParaRPr lang="en-IN" dirty="0">
              <a:solidFill>
                <a:schemeClr val="tx1"/>
              </a:solidFill>
            </a:endParaRPr>
          </a:p>
        </p:txBody>
      </p:sp>
      <p:sp>
        <p:nvSpPr>
          <p:cNvPr id="28" name="Right Arrow 27">
            <a:extLst>
              <a:ext uri="{FF2B5EF4-FFF2-40B4-BE49-F238E27FC236}">
                <a16:creationId xmlns:a16="http://schemas.microsoft.com/office/drawing/2014/main" id="{12CF6185-4393-437F-809A-4479D8D31175}"/>
              </a:ext>
            </a:extLst>
          </p:cNvPr>
          <p:cNvSpPr/>
          <p:nvPr/>
        </p:nvSpPr>
        <p:spPr>
          <a:xfrm>
            <a:off x="5651500" y="2492375"/>
            <a:ext cx="288925" cy="360363"/>
          </a:xfrm>
          <a:prstGeom prst="rightArrow">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29" name="Right Arrow 28">
            <a:extLst>
              <a:ext uri="{FF2B5EF4-FFF2-40B4-BE49-F238E27FC236}">
                <a16:creationId xmlns:a16="http://schemas.microsoft.com/office/drawing/2014/main" id="{877C4E56-01C5-4C52-AA68-0C0CC45D4569}"/>
              </a:ext>
            </a:extLst>
          </p:cNvPr>
          <p:cNvSpPr/>
          <p:nvPr/>
        </p:nvSpPr>
        <p:spPr>
          <a:xfrm>
            <a:off x="5651500" y="3716338"/>
            <a:ext cx="288925" cy="360362"/>
          </a:xfrm>
          <a:prstGeom prst="rightArrow">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30" name="Right Arrow 29">
            <a:extLst>
              <a:ext uri="{FF2B5EF4-FFF2-40B4-BE49-F238E27FC236}">
                <a16:creationId xmlns:a16="http://schemas.microsoft.com/office/drawing/2014/main" id="{E1DABF96-8FBF-4AFE-9088-64FB6D5FA181}"/>
              </a:ext>
            </a:extLst>
          </p:cNvPr>
          <p:cNvSpPr/>
          <p:nvPr/>
        </p:nvSpPr>
        <p:spPr>
          <a:xfrm>
            <a:off x="5651500" y="5013325"/>
            <a:ext cx="288925" cy="360363"/>
          </a:xfrm>
          <a:prstGeom prst="rightArrow">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cxnSp>
        <p:nvCxnSpPr>
          <p:cNvPr id="32" name="Straight Connector 31">
            <a:extLst>
              <a:ext uri="{FF2B5EF4-FFF2-40B4-BE49-F238E27FC236}">
                <a16:creationId xmlns:a16="http://schemas.microsoft.com/office/drawing/2014/main" id="{437CC56C-5966-4179-AFDC-183E34A35F05}"/>
              </a:ext>
            </a:extLst>
          </p:cNvPr>
          <p:cNvCxnSpPr>
            <a:stCxn id="4" idx="2"/>
            <a:endCxn id="5" idx="0"/>
          </p:cNvCxnSpPr>
          <p:nvPr/>
        </p:nvCxnSpPr>
        <p:spPr>
          <a:xfrm rot="5400000">
            <a:off x="1430338" y="2178050"/>
            <a:ext cx="522288" cy="158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568CF7B-B351-4501-A870-E15732C19213}"/>
              </a:ext>
            </a:extLst>
          </p:cNvPr>
          <p:cNvCxnSpPr>
            <a:endCxn id="6" idx="0"/>
          </p:cNvCxnSpPr>
          <p:nvPr/>
        </p:nvCxnSpPr>
        <p:spPr>
          <a:xfrm rot="16200000" flipH="1">
            <a:off x="1352551" y="3241675"/>
            <a:ext cx="665162" cy="1428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90E8A4-99EB-4CFC-BB05-8C77692AF9AC}"/>
              </a:ext>
            </a:extLst>
          </p:cNvPr>
          <p:cNvCxnSpPr>
            <a:stCxn id="6" idx="2"/>
          </p:cNvCxnSpPr>
          <p:nvPr/>
        </p:nvCxnSpPr>
        <p:spPr>
          <a:xfrm rot="5400000">
            <a:off x="1233488" y="4529137"/>
            <a:ext cx="901700" cy="1587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C336AB9-97FB-441C-B17E-0691DDDAD8E4}"/>
              </a:ext>
            </a:extLst>
          </p:cNvPr>
          <p:cNvCxnSpPr>
            <a:stCxn id="5" idx="3"/>
          </p:cNvCxnSpPr>
          <p:nvPr/>
        </p:nvCxnSpPr>
        <p:spPr>
          <a:xfrm>
            <a:off x="2339975" y="2690813"/>
            <a:ext cx="403225" cy="635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ADA9742-7189-47A9-8EE1-1C4719E21E0B}"/>
              </a:ext>
            </a:extLst>
          </p:cNvPr>
          <p:cNvCxnSpPr/>
          <p:nvPr/>
        </p:nvCxnSpPr>
        <p:spPr>
          <a:xfrm>
            <a:off x="2286000" y="3810000"/>
            <a:ext cx="457200" cy="158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7772DEE-E613-4BA0-94D6-F4A6D346126B}"/>
              </a:ext>
            </a:extLst>
          </p:cNvPr>
          <p:cNvCxnSpPr/>
          <p:nvPr/>
        </p:nvCxnSpPr>
        <p:spPr>
          <a:xfrm>
            <a:off x="2286000" y="5180013"/>
            <a:ext cx="549275" cy="158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63D25D68-DBBC-4FF7-8316-9313BCBB2C7D}"/>
              </a:ext>
            </a:extLst>
          </p:cNvPr>
          <p:cNvSpPr/>
          <p:nvPr/>
        </p:nvSpPr>
        <p:spPr>
          <a:xfrm>
            <a:off x="3657600" y="2536825"/>
            <a:ext cx="990600" cy="358775"/>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2400">
                <a:solidFill>
                  <a:srgbClr val="000000"/>
                </a:solidFill>
                <a:cs typeface="Arial" charset="0"/>
              </a:rPr>
              <a:t>SaaS</a:t>
            </a:r>
            <a:endParaRPr lang="en-IN" sz="2400">
              <a:solidFill>
                <a:srgbClr val="000000"/>
              </a:solidFill>
              <a:cs typeface="Arial"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A7643-DA57-43DB-AA91-3C59150BCBC7}"/>
              </a:ext>
            </a:extLst>
          </p:cNvPr>
          <p:cNvSpPr>
            <a:spLocks noGrp="1"/>
          </p:cNvSpPr>
          <p:nvPr>
            <p:ph type="title"/>
          </p:nvPr>
        </p:nvSpPr>
        <p:spPr/>
        <p:txBody>
          <a:bodyPr/>
          <a:lstStyle/>
          <a:p>
            <a:pPr algn="ctr">
              <a:defRPr/>
            </a:pPr>
            <a:r>
              <a:rPr lang="en-US" dirty="0"/>
              <a:t>Software as a Service</a:t>
            </a:r>
          </a:p>
        </p:txBody>
      </p:sp>
      <p:sp>
        <p:nvSpPr>
          <p:cNvPr id="4" name="Rounded Rectangle 3">
            <a:extLst>
              <a:ext uri="{FF2B5EF4-FFF2-40B4-BE49-F238E27FC236}">
                <a16:creationId xmlns:a16="http://schemas.microsoft.com/office/drawing/2014/main" id="{28E3AB29-6B8A-4AD4-B767-5CA7F190EEB7}"/>
              </a:ext>
            </a:extLst>
          </p:cNvPr>
          <p:cNvSpPr/>
          <p:nvPr/>
        </p:nvSpPr>
        <p:spPr>
          <a:xfrm>
            <a:off x="1219200" y="1524000"/>
            <a:ext cx="7696200" cy="510540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buFont typeface="Wingdings" pitchFamily="2" charset="2"/>
              <a:buChar char="v"/>
              <a:defRPr/>
            </a:pPr>
            <a:r>
              <a:rPr lang="en-US" sz="2400" dirty="0">
                <a:solidFill>
                  <a:schemeClr val="tx1"/>
                </a:solidFill>
              </a:rPr>
              <a:t> </a:t>
            </a:r>
            <a:r>
              <a:rPr lang="en-US" sz="2400" b="1" dirty="0">
                <a:solidFill>
                  <a:schemeClr val="tx1"/>
                </a:solidFill>
              </a:rPr>
              <a:t>It is  a Deployment/Delivery model</a:t>
            </a:r>
          </a:p>
          <a:p>
            <a:pPr algn="just" eaLnBrk="1" hangingPunct="1">
              <a:buFont typeface="Arial" pitchFamily="34" charset="0"/>
              <a:buChar char="•"/>
              <a:defRPr/>
            </a:pPr>
            <a:r>
              <a:rPr lang="en-US" sz="2400" dirty="0">
                <a:solidFill>
                  <a:schemeClr val="tx1"/>
                </a:solidFill>
              </a:rPr>
              <a:t>    Hosted and managed by vendor</a:t>
            </a:r>
          </a:p>
          <a:p>
            <a:pPr algn="just" eaLnBrk="1" hangingPunct="1">
              <a:buFont typeface="Arial" pitchFamily="34" charset="0"/>
              <a:buChar char="•"/>
              <a:defRPr/>
            </a:pPr>
            <a:r>
              <a:rPr lang="en-US" sz="2400" dirty="0">
                <a:solidFill>
                  <a:schemeClr val="tx1"/>
                </a:solidFill>
              </a:rPr>
              <a:t>    Delivered across the internet </a:t>
            </a:r>
          </a:p>
          <a:p>
            <a:pPr algn="just" eaLnBrk="1" hangingPunct="1">
              <a:buFont typeface="Arial" pitchFamily="34" charset="0"/>
              <a:buChar char="•"/>
              <a:defRPr/>
            </a:pPr>
            <a:endParaRPr lang="en-US" sz="2400" dirty="0">
              <a:solidFill>
                <a:schemeClr val="tx1"/>
              </a:solidFill>
            </a:endParaRPr>
          </a:p>
          <a:p>
            <a:pPr algn="just" eaLnBrk="1" hangingPunct="1">
              <a:buFont typeface="Wingdings" pitchFamily="2" charset="2"/>
              <a:buChar char="v"/>
              <a:defRPr/>
            </a:pPr>
            <a:r>
              <a:rPr lang="en-US" sz="2400" b="1" dirty="0">
                <a:solidFill>
                  <a:schemeClr val="tx1"/>
                </a:solidFill>
              </a:rPr>
              <a:t> It is a Business Model : usage-based pricing(vs. perpetual license model of    on –premise software).Examples:</a:t>
            </a:r>
          </a:p>
          <a:p>
            <a:pPr algn="just" eaLnBrk="1" hangingPunct="1">
              <a:buFont typeface="Arial" pitchFamily="34" charset="0"/>
              <a:buChar char="•"/>
              <a:defRPr/>
            </a:pPr>
            <a:r>
              <a:rPr lang="en-US" sz="2400" dirty="0">
                <a:solidFill>
                  <a:schemeClr val="tx1"/>
                </a:solidFill>
              </a:rPr>
              <a:t>   Per user per month</a:t>
            </a:r>
          </a:p>
          <a:p>
            <a:pPr algn="just" eaLnBrk="1" hangingPunct="1">
              <a:buFont typeface="Arial" pitchFamily="34" charset="0"/>
              <a:buChar char="•"/>
              <a:defRPr/>
            </a:pPr>
            <a:r>
              <a:rPr lang="en-US" sz="2400" dirty="0">
                <a:solidFill>
                  <a:schemeClr val="tx1"/>
                </a:solidFill>
              </a:rPr>
              <a:t>   Per transaction</a:t>
            </a:r>
          </a:p>
          <a:p>
            <a:pPr algn="just" eaLnBrk="1" hangingPunct="1">
              <a:buFont typeface="Arial" pitchFamily="34" charset="0"/>
              <a:buChar char="•"/>
              <a:defRPr/>
            </a:pPr>
            <a:r>
              <a:rPr lang="en-US" sz="2400" dirty="0">
                <a:solidFill>
                  <a:schemeClr val="tx1"/>
                </a:solidFill>
              </a:rPr>
              <a:t>   Per GB of storage per month</a:t>
            </a:r>
          </a:p>
          <a:p>
            <a:pPr algn="just" eaLnBrk="1" hangingPunct="1">
              <a:buFont typeface="Arial" pitchFamily="34" charset="0"/>
              <a:buChar char="•"/>
              <a:defRPr/>
            </a:pPr>
            <a:endParaRPr lang="en-US" dirty="0"/>
          </a:p>
          <a:p>
            <a:pPr algn="just" eaLnBrk="1" hangingPunct="1">
              <a:buFont typeface="Arial" pitchFamily="34" charset="0"/>
              <a:buChar char="•"/>
              <a:defRPr/>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8B2ED-78FE-47E9-835A-560B95CA8BBD}"/>
              </a:ext>
            </a:extLst>
          </p:cNvPr>
          <p:cNvSpPr>
            <a:spLocks noGrp="1"/>
          </p:cNvSpPr>
          <p:nvPr>
            <p:ph type="title"/>
          </p:nvPr>
        </p:nvSpPr>
        <p:spPr/>
        <p:txBody>
          <a:bodyPr vert="horz" wrap="square" lIns="91440" tIns="45720" rIns="91440" bIns="45720" numCol="1" anchorCtr="0" compatLnSpc="1">
            <a:prstTxWarp prst="textNoShape">
              <a:avLst/>
            </a:prstTxWarp>
          </a:bodyPr>
          <a:lstStyle/>
          <a:p>
            <a:pPr algn="ctr">
              <a:defRPr/>
            </a:pPr>
            <a:r>
              <a:rPr lang="en-US">
                <a:effectLst>
                  <a:outerShdw blurRad="38100" dist="38100" dir="2700000" algn="tl">
                    <a:srgbClr val="C0C0C0"/>
                  </a:outerShdw>
                </a:effectLst>
              </a:rPr>
              <a:t>Software as a Service</a:t>
            </a:r>
          </a:p>
        </p:txBody>
      </p:sp>
      <p:sp>
        <p:nvSpPr>
          <p:cNvPr id="5" name="Rounded Rectangle 4">
            <a:extLst>
              <a:ext uri="{FF2B5EF4-FFF2-40B4-BE49-F238E27FC236}">
                <a16:creationId xmlns:a16="http://schemas.microsoft.com/office/drawing/2014/main" id="{1EF32D49-0CC4-42F1-A477-5BAC5769DB1A}"/>
              </a:ext>
            </a:extLst>
          </p:cNvPr>
          <p:cNvSpPr/>
          <p:nvPr/>
        </p:nvSpPr>
        <p:spPr>
          <a:xfrm>
            <a:off x="1295400" y="2286000"/>
            <a:ext cx="3657600" cy="2743200"/>
          </a:xfrm>
          <a:prstGeom prst="round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US" sz="2400" b="1" dirty="0">
                <a:solidFill>
                  <a:schemeClr val="tx1"/>
                </a:solidFill>
              </a:rPr>
              <a:t>Architectural</a:t>
            </a:r>
          </a:p>
          <a:p>
            <a:pPr algn="just" eaLnBrk="1" hangingPunct="1">
              <a:buFont typeface="Wingdings" pitchFamily="2" charset="2"/>
              <a:buChar char="§"/>
              <a:defRPr/>
            </a:pPr>
            <a:r>
              <a:rPr lang="en-US" sz="2400" dirty="0">
                <a:solidFill>
                  <a:schemeClr val="tx1"/>
                </a:solidFill>
              </a:rPr>
              <a:t>   Multi-tenancy</a:t>
            </a:r>
          </a:p>
          <a:p>
            <a:pPr algn="just" eaLnBrk="1" hangingPunct="1">
              <a:buFont typeface="Wingdings" pitchFamily="2" charset="2"/>
              <a:buChar char="§"/>
              <a:defRPr/>
            </a:pPr>
            <a:r>
              <a:rPr lang="en-US" sz="2400" dirty="0">
                <a:solidFill>
                  <a:schemeClr val="tx1"/>
                </a:solidFill>
              </a:rPr>
              <a:t>   Scalability</a:t>
            </a:r>
          </a:p>
          <a:p>
            <a:pPr algn="just" eaLnBrk="1" hangingPunct="1">
              <a:buFont typeface="Wingdings" pitchFamily="2" charset="2"/>
              <a:buChar char="§"/>
              <a:defRPr/>
            </a:pPr>
            <a:r>
              <a:rPr lang="en-US" sz="2400" dirty="0">
                <a:solidFill>
                  <a:schemeClr val="tx1"/>
                </a:solidFill>
              </a:rPr>
              <a:t>   Security</a:t>
            </a:r>
          </a:p>
          <a:p>
            <a:pPr algn="just" eaLnBrk="1" hangingPunct="1">
              <a:buFont typeface="Wingdings" pitchFamily="2" charset="2"/>
              <a:buChar char="§"/>
              <a:defRPr/>
            </a:pPr>
            <a:r>
              <a:rPr lang="en-US" sz="2400" dirty="0">
                <a:solidFill>
                  <a:schemeClr val="tx1"/>
                </a:solidFill>
              </a:rPr>
              <a:t>   Performance</a:t>
            </a:r>
          </a:p>
        </p:txBody>
      </p:sp>
      <p:sp>
        <p:nvSpPr>
          <p:cNvPr id="6" name="Rounded Rectangle 5">
            <a:extLst>
              <a:ext uri="{FF2B5EF4-FFF2-40B4-BE49-F238E27FC236}">
                <a16:creationId xmlns:a16="http://schemas.microsoft.com/office/drawing/2014/main" id="{D1AA8430-7552-4E16-8D87-EF5104603CD3}"/>
              </a:ext>
            </a:extLst>
          </p:cNvPr>
          <p:cNvSpPr/>
          <p:nvPr/>
        </p:nvSpPr>
        <p:spPr>
          <a:xfrm>
            <a:off x="5257800" y="2286000"/>
            <a:ext cx="3657600" cy="2743200"/>
          </a:xfrm>
          <a:prstGeom prst="round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US" sz="2400" b="1" dirty="0">
                <a:solidFill>
                  <a:schemeClr val="tx1"/>
                </a:solidFill>
              </a:rPr>
              <a:t>Functional </a:t>
            </a:r>
          </a:p>
          <a:p>
            <a:pPr algn="just" eaLnBrk="1" hangingPunct="1">
              <a:buFont typeface="Wingdings" pitchFamily="2" charset="2"/>
              <a:buChar char="§"/>
              <a:defRPr/>
            </a:pPr>
            <a:r>
              <a:rPr lang="en-US" sz="2400" dirty="0">
                <a:solidFill>
                  <a:schemeClr val="tx1"/>
                </a:solidFill>
              </a:rPr>
              <a:t>  Provisioning</a:t>
            </a:r>
          </a:p>
          <a:p>
            <a:pPr algn="just" eaLnBrk="1" hangingPunct="1">
              <a:buFont typeface="Wingdings" pitchFamily="2" charset="2"/>
              <a:buChar char="§"/>
              <a:defRPr/>
            </a:pPr>
            <a:r>
              <a:rPr lang="en-US" sz="2400" dirty="0">
                <a:solidFill>
                  <a:schemeClr val="tx1"/>
                </a:solidFill>
              </a:rPr>
              <a:t>  Billing</a:t>
            </a:r>
          </a:p>
          <a:p>
            <a:pPr algn="just" eaLnBrk="1" hangingPunct="1">
              <a:buFont typeface="Wingdings" pitchFamily="2" charset="2"/>
              <a:buChar char="§"/>
              <a:defRPr/>
            </a:pPr>
            <a:r>
              <a:rPr lang="en-US" sz="2400" dirty="0">
                <a:solidFill>
                  <a:schemeClr val="tx1"/>
                </a:solidFill>
              </a:rPr>
              <a:t>  Metering</a:t>
            </a:r>
          </a:p>
          <a:p>
            <a:pPr algn="just" eaLnBrk="1" hangingPunct="1">
              <a:buFont typeface="Wingdings" pitchFamily="2" charset="2"/>
              <a:buChar char="§"/>
              <a:defRPr/>
            </a:pPr>
            <a:r>
              <a:rPr lang="en-US" sz="2400" dirty="0">
                <a:solidFill>
                  <a:schemeClr val="tx1"/>
                </a:solidFill>
              </a:rPr>
              <a:t>  Monitoring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3AF02-855F-4CC6-B1B6-FD18DCA009D9}"/>
              </a:ext>
            </a:extLst>
          </p:cNvPr>
          <p:cNvSpPr>
            <a:spLocks noGrp="1"/>
          </p:cNvSpPr>
          <p:nvPr>
            <p:ph type="title"/>
          </p:nvPr>
        </p:nvSpPr>
        <p:spPr/>
        <p:txBody>
          <a:bodyPr/>
          <a:lstStyle/>
          <a:p>
            <a:pPr algn="ctr" eaLnBrk="1" hangingPunct="1">
              <a:defRPr/>
            </a:pPr>
            <a:r>
              <a:rPr lang="en-US" dirty="0"/>
              <a:t>MULTI-TENANCY</a:t>
            </a:r>
          </a:p>
        </p:txBody>
      </p:sp>
      <p:sp>
        <p:nvSpPr>
          <p:cNvPr id="29699" name="Rounded Rectangle 3">
            <a:extLst>
              <a:ext uri="{FF2B5EF4-FFF2-40B4-BE49-F238E27FC236}">
                <a16:creationId xmlns:a16="http://schemas.microsoft.com/office/drawing/2014/main" id="{49BC5ACB-B269-43E1-A32A-DD80F32686EA}"/>
              </a:ext>
            </a:extLst>
          </p:cNvPr>
          <p:cNvSpPr>
            <a:spLocks noChangeArrowheads="1"/>
          </p:cNvSpPr>
          <p:nvPr/>
        </p:nvSpPr>
        <p:spPr bwMode="auto">
          <a:xfrm>
            <a:off x="1219200" y="1371600"/>
            <a:ext cx="7696200" cy="51816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a:latin typeface="Gill Sans MT" panose="020B0502020104020203" pitchFamily="34" charset="0"/>
              </a:rPr>
              <a:t> Multi-tenancy is an </a:t>
            </a:r>
            <a:r>
              <a:rPr lang="en-US" altLang="en-US" sz="2400">
                <a:solidFill>
                  <a:srgbClr val="FF0000"/>
                </a:solidFill>
                <a:latin typeface="Gill Sans MT" panose="020B0502020104020203" pitchFamily="34" charset="0"/>
              </a:rPr>
              <a:t>architectural pattern </a:t>
            </a:r>
          </a:p>
          <a:p>
            <a:pPr algn="just" eaLnBrk="1" hangingPunct="1">
              <a:buFont typeface="Wingdings" panose="05000000000000000000" pitchFamily="2" charset="2"/>
              <a:buChar char="Ø"/>
            </a:pPr>
            <a:r>
              <a:rPr lang="en-US" altLang="en-US" sz="2400">
                <a:latin typeface="Gill Sans MT" panose="020B0502020104020203" pitchFamily="34" charset="0"/>
              </a:rPr>
              <a:t> A single instance of the software is run on the service provider’s infrastructure</a:t>
            </a:r>
          </a:p>
          <a:p>
            <a:pPr algn="just" eaLnBrk="1" hangingPunct="1">
              <a:buFont typeface="Wingdings" panose="05000000000000000000" pitchFamily="2" charset="2"/>
              <a:buChar char="Ø"/>
            </a:pPr>
            <a:r>
              <a:rPr lang="en-US" altLang="en-US" sz="2400">
                <a:latin typeface="Gill Sans MT" panose="020B0502020104020203" pitchFamily="34" charset="0"/>
              </a:rPr>
              <a:t> Multiple tenants access the same instance. </a:t>
            </a:r>
          </a:p>
          <a:p>
            <a:pPr algn="just" eaLnBrk="1" hangingPunct="1">
              <a:buFont typeface="Wingdings" panose="05000000000000000000" pitchFamily="2" charset="2"/>
              <a:buChar char="Ø"/>
            </a:pPr>
            <a:r>
              <a:rPr lang="en-US" altLang="en-US" sz="2400">
                <a:latin typeface="Gill Sans MT" panose="020B0502020104020203" pitchFamily="34" charset="0"/>
              </a:rPr>
              <a:t> In contrast to the multi-user model, multi-tenancy requires customizing the single instance according to the multi-faceted requirements of many tenants.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ounded Rectangle 3">
            <a:extLst>
              <a:ext uri="{FF2B5EF4-FFF2-40B4-BE49-F238E27FC236}">
                <a16:creationId xmlns:a16="http://schemas.microsoft.com/office/drawing/2014/main" id="{C31331A6-AC84-48E0-9277-07C416572339}"/>
              </a:ext>
            </a:extLst>
          </p:cNvPr>
          <p:cNvSpPr>
            <a:spLocks noChangeArrowheads="1"/>
          </p:cNvSpPr>
          <p:nvPr/>
        </p:nvSpPr>
        <p:spPr bwMode="auto">
          <a:xfrm>
            <a:off x="1143000" y="914400"/>
            <a:ext cx="7848600" cy="56388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a:latin typeface="Gill Sans MT" panose="020B0502020104020203" pitchFamily="34" charset="0"/>
              </a:rPr>
              <a:t>A Multi-tenants application lets customers (tenants) share the same hardware resources, by offering them one shared application and database instance ,while allowing them to configure the application to fit there needs as if it runs on dedicated environment.</a:t>
            </a:r>
          </a:p>
          <a:p>
            <a:pPr algn="just" eaLnBrk="1" hangingPunct="1"/>
            <a:endParaRPr lang="en-US" altLang="en-US" sz="2400">
              <a:latin typeface="Gill Sans MT" panose="020B0502020104020203" pitchFamily="34" charset="0"/>
            </a:endParaRPr>
          </a:p>
          <a:p>
            <a:pPr algn="just" eaLnBrk="1" hangingPunct="1"/>
            <a:r>
              <a:rPr lang="en-US" altLang="en-US" sz="2400">
                <a:latin typeface="Gill Sans MT" panose="020B0502020104020203" pitchFamily="34" charset="0"/>
              </a:rPr>
              <a:t>These definition focus on what we believe to be the key aspects of multi tenancy:</a:t>
            </a:r>
          </a:p>
          <a:p>
            <a:pPr algn="just" eaLnBrk="1" hangingPunct="1">
              <a:buFont typeface="Gill Sans MT" panose="020B0502020104020203" pitchFamily="34" charset="0"/>
              <a:buAutoNum type="arabicPeriod"/>
            </a:pPr>
            <a:r>
              <a:rPr lang="en-US" altLang="en-US" sz="2400">
                <a:latin typeface="Gill Sans MT" panose="020B0502020104020203" pitchFamily="34" charset="0"/>
              </a:rPr>
              <a:t>The ability of the application to share hardware resources.</a:t>
            </a:r>
          </a:p>
          <a:p>
            <a:pPr algn="just" eaLnBrk="1" hangingPunct="1">
              <a:buFont typeface="Gill Sans MT" panose="020B0502020104020203" pitchFamily="34" charset="0"/>
              <a:buAutoNum type="arabicPeriod"/>
            </a:pPr>
            <a:r>
              <a:rPr lang="en-US" altLang="en-US" sz="2400">
                <a:latin typeface="Gill Sans MT" panose="020B0502020104020203" pitchFamily="34" charset="0"/>
              </a:rPr>
              <a:t>The offering of a high degree of configurability of the software.</a:t>
            </a:r>
          </a:p>
          <a:p>
            <a:pPr algn="just" eaLnBrk="1" hangingPunct="1">
              <a:buFont typeface="Gill Sans MT" panose="020B0502020104020203" pitchFamily="34" charset="0"/>
              <a:buAutoNum type="arabicPeriod"/>
            </a:pPr>
            <a:r>
              <a:rPr lang="en-US" altLang="en-US" sz="2400">
                <a:latin typeface="Gill Sans MT" panose="020B0502020104020203" pitchFamily="34" charset="0"/>
              </a:rPr>
              <a:t>The architectural approach in which the tenants make use of a single application and database instance.</a:t>
            </a:r>
          </a:p>
        </p:txBody>
      </p:sp>
      <p:sp>
        <p:nvSpPr>
          <p:cNvPr id="2" name="Title 1">
            <a:extLst>
              <a:ext uri="{FF2B5EF4-FFF2-40B4-BE49-F238E27FC236}">
                <a16:creationId xmlns:a16="http://schemas.microsoft.com/office/drawing/2014/main" id="{FC66D08E-0CE4-4274-B940-9316CE11E2FF}"/>
              </a:ext>
            </a:extLst>
          </p:cNvPr>
          <p:cNvSpPr>
            <a:spLocks/>
          </p:cNvSpPr>
          <p:nvPr/>
        </p:nvSpPr>
        <p:spPr bwMode="auto">
          <a:xfrm>
            <a:off x="1219200" y="0"/>
            <a:ext cx="7499350" cy="1143000"/>
          </a:xfrm>
          <a:prstGeom prst="rect">
            <a:avLst/>
          </a:prstGeom>
          <a:noFill/>
          <a:ln w="9525">
            <a:noFill/>
            <a:miter lim="800000"/>
            <a:headEnd/>
            <a:tailEnd/>
          </a:ln>
        </p:spPr>
        <p:txBody>
          <a:bodyPr anchor="ctr"/>
          <a:lstStyle/>
          <a:p>
            <a:pPr algn="ctr" eaLnBrk="1" hangingPunct="1">
              <a:defRPr/>
            </a:pPr>
            <a:r>
              <a:rPr lang="en-US" sz="4300" dirty="0">
                <a:solidFill>
                  <a:srgbClr val="572314"/>
                </a:solidFill>
                <a:effectLst>
                  <a:outerShdw blurRad="50000" dist="30000" dir="5400000" algn="tl" rotWithShape="0">
                    <a:srgbClr val="000000">
                      <a:alpha val="30000"/>
                    </a:srgbClr>
                  </a:outerShdw>
                </a:effectLst>
                <a:latin typeface="+mj-lt"/>
                <a:ea typeface="+mj-ea"/>
                <a:cs typeface="+mj-cs"/>
              </a:rPr>
              <a:t>MULTI-TENANCY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9CFD-B339-4B17-B2D4-C30F7D83BF06}"/>
              </a:ext>
            </a:extLst>
          </p:cNvPr>
          <p:cNvSpPr>
            <a:spLocks noGrp="1"/>
          </p:cNvSpPr>
          <p:nvPr>
            <p:ph type="title" idx="4294967295"/>
          </p:nvPr>
        </p:nvSpPr>
        <p:spPr>
          <a:xfrm>
            <a:off x="1435100" y="198438"/>
            <a:ext cx="7499350" cy="1143000"/>
          </a:xfrm>
        </p:spPr>
        <p:txBody>
          <a:bodyPr>
            <a:normAutofit fontScale="90000"/>
          </a:bodyPr>
          <a:lstStyle/>
          <a:p>
            <a:pPr algn="ctr">
              <a:defRPr/>
            </a:pPr>
            <a:r>
              <a:rPr lang="en-US" dirty="0"/>
              <a:t>Multi-tenants Deployment Modes for Application Server </a:t>
            </a:r>
            <a:endParaRPr lang="en-IN" dirty="0"/>
          </a:p>
        </p:txBody>
      </p:sp>
      <p:sp>
        <p:nvSpPr>
          <p:cNvPr id="9" name="Oval 8">
            <a:extLst>
              <a:ext uri="{FF2B5EF4-FFF2-40B4-BE49-F238E27FC236}">
                <a16:creationId xmlns:a16="http://schemas.microsoft.com/office/drawing/2014/main" id="{13EBB18F-29AB-4721-9C47-E0DA00063F0F}"/>
              </a:ext>
            </a:extLst>
          </p:cNvPr>
          <p:cNvSpPr/>
          <p:nvPr/>
        </p:nvSpPr>
        <p:spPr>
          <a:xfrm>
            <a:off x="5486400" y="16764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Oval 10">
            <a:extLst>
              <a:ext uri="{FF2B5EF4-FFF2-40B4-BE49-F238E27FC236}">
                <a16:creationId xmlns:a16="http://schemas.microsoft.com/office/drawing/2014/main" id="{8DE3EEB8-318A-498D-88C4-044F48AD40C0}"/>
              </a:ext>
            </a:extLst>
          </p:cNvPr>
          <p:cNvSpPr/>
          <p:nvPr/>
        </p:nvSpPr>
        <p:spPr>
          <a:xfrm>
            <a:off x="5638800" y="17526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Oval 11">
            <a:extLst>
              <a:ext uri="{FF2B5EF4-FFF2-40B4-BE49-F238E27FC236}">
                <a16:creationId xmlns:a16="http://schemas.microsoft.com/office/drawing/2014/main" id="{11C8F327-BFFE-4A09-950E-137185DD325F}"/>
              </a:ext>
            </a:extLst>
          </p:cNvPr>
          <p:cNvSpPr/>
          <p:nvPr/>
        </p:nvSpPr>
        <p:spPr>
          <a:xfrm>
            <a:off x="5486400" y="22860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13" name="Oval 12">
            <a:extLst>
              <a:ext uri="{FF2B5EF4-FFF2-40B4-BE49-F238E27FC236}">
                <a16:creationId xmlns:a16="http://schemas.microsoft.com/office/drawing/2014/main" id="{4C460582-A9BA-4ED0-9ED3-8285D68517EF}"/>
              </a:ext>
            </a:extLst>
          </p:cNvPr>
          <p:cNvSpPr/>
          <p:nvPr/>
        </p:nvSpPr>
        <p:spPr>
          <a:xfrm>
            <a:off x="5638800" y="23622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16" name="Oval 15">
            <a:extLst>
              <a:ext uri="{FF2B5EF4-FFF2-40B4-BE49-F238E27FC236}">
                <a16:creationId xmlns:a16="http://schemas.microsoft.com/office/drawing/2014/main" id="{9B94F815-D275-47A4-8DCF-BAEAAF00493C}"/>
              </a:ext>
            </a:extLst>
          </p:cNvPr>
          <p:cNvSpPr/>
          <p:nvPr/>
        </p:nvSpPr>
        <p:spPr>
          <a:xfrm>
            <a:off x="7772400" y="1600200"/>
            <a:ext cx="685800" cy="5334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18" name="Oval 17">
            <a:extLst>
              <a:ext uri="{FF2B5EF4-FFF2-40B4-BE49-F238E27FC236}">
                <a16:creationId xmlns:a16="http://schemas.microsoft.com/office/drawing/2014/main" id="{77710F67-C32B-4CA3-906E-08C6B0096AD9}"/>
              </a:ext>
            </a:extLst>
          </p:cNvPr>
          <p:cNvSpPr/>
          <p:nvPr/>
        </p:nvSpPr>
        <p:spPr>
          <a:xfrm>
            <a:off x="7772400" y="2209800"/>
            <a:ext cx="685800" cy="5334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1753" name="TextBox 19">
            <a:extLst>
              <a:ext uri="{FF2B5EF4-FFF2-40B4-BE49-F238E27FC236}">
                <a16:creationId xmlns:a16="http://schemas.microsoft.com/office/drawing/2014/main" id="{A55AE9EB-0557-47A1-B5AC-B2A17CEB5BEE}"/>
              </a:ext>
            </a:extLst>
          </p:cNvPr>
          <p:cNvSpPr txBox="1">
            <a:spLocks noChangeArrowheads="1"/>
          </p:cNvSpPr>
          <p:nvPr/>
        </p:nvSpPr>
        <p:spPr bwMode="auto">
          <a:xfrm>
            <a:off x="5334000" y="19812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A</a:t>
            </a:r>
            <a:endParaRPr lang="en-IN" altLang="en-US" sz="1200"/>
          </a:p>
        </p:txBody>
      </p:sp>
      <p:graphicFrame>
        <p:nvGraphicFramePr>
          <p:cNvPr id="65546" name="Group 10">
            <a:extLst>
              <a:ext uri="{FF2B5EF4-FFF2-40B4-BE49-F238E27FC236}">
                <a16:creationId xmlns:a16="http://schemas.microsoft.com/office/drawing/2014/main" id="{D7FA87D5-4710-4417-AD7B-CB4C37CEBA2B}"/>
              </a:ext>
            </a:extLst>
          </p:cNvPr>
          <p:cNvGraphicFramePr>
            <a:graphicFrameLocks noGrp="1"/>
          </p:cNvGraphicFramePr>
          <p:nvPr/>
        </p:nvGraphicFramePr>
        <p:xfrm>
          <a:off x="1044575" y="1524000"/>
          <a:ext cx="7939088" cy="5168900"/>
        </p:xfrm>
        <a:graphic>
          <a:graphicData uri="http://schemas.openxmlformats.org/drawingml/2006/table">
            <a:tbl>
              <a:tblPr/>
              <a:tblGrid>
                <a:gridCol w="3970338">
                  <a:extLst>
                    <a:ext uri="{9D8B030D-6E8A-4147-A177-3AD203B41FA5}">
                      <a16:colId xmlns:a16="http://schemas.microsoft.com/office/drawing/2014/main" val="20000"/>
                    </a:ext>
                  </a:extLst>
                </a:gridCol>
                <a:gridCol w="3968750">
                  <a:extLst>
                    <a:ext uri="{9D8B030D-6E8A-4147-A177-3AD203B41FA5}">
                      <a16:colId xmlns:a16="http://schemas.microsoft.com/office/drawing/2014/main" val="20001"/>
                    </a:ext>
                  </a:extLst>
                </a:gridCol>
              </a:tblGrid>
              <a:tr h="1292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Gill Sans MT" pitchFamily="34" charset="0"/>
                          <a:cs typeface="Arial" charset="0"/>
                        </a:rPr>
                        <a:t>Fully isolated Application server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Gill Sans MT" pitchFamily="34" charset="0"/>
                          <a:cs typeface="Arial" charset="0"/>
                        </a:rPr>
                        <a:t>Each tenant accesses an application server running on a dedicated servers.</a:t>
                      </a:r>
                      <a:endParaRPr kumimoji="0" lang="en-IN" sz="1800" b="0" i="0" u="none" strike="noStrike" cap="none" normalizeH="0" baseline="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92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Gill Sans MT" pitchFamily="34" charset="0"/>
                          <a:cs typeface="Arial" charset="0"/>
                        </a:rPr>
                        <a:t>Virtualized Application Server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Gill Sans MT" pitchFamily="34" charset="0"/>
                          <a:cs typeface="Arial" charset="0"/>
                        </a:rPr>
                        <a:t>Each tenant accesses a dedicated application running on a separate virtual machine.</a:t>
                      </a:r>
                      <a:endParaRPr kumimoji="0" lang="en-IN" sz="1800" b="0" i="0" u="none" strike="noStrike" cap="none" normalizeH="0" baseline="0" dirty="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92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Gill Sans MT" pitchFamily="34" charset="0"/>
                          <a:cs typeface="Arial" charset="0"/>
                        </a:rPr>
                        <a:t>Shared Virtual Server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Gill Sans MT" pitchFamily="34" charset="0"/>
                          <a:cs typeface="Arial" charset="0"/>
                        </a:rPr>
                        <a:t>Each tenant accesses a dedicated application server running on a shared virtual machine. </a:t>
                      </a:r>
                      <a:endParaRPr kumimoji="0" lang="en-IN" sz="1800" b="0" i="0" u="none" strike="noStrike" cap="none" normalizeH="0" baseline="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2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Gill Sans MT" pitchFamily="34" charset="0"/>
                          <a:cs typeface="Arial" charset="0"/>
                        </a:rPr>
                        <a:t>Shared Application Server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Gill Sans MT" pitchFamily="34" charset="0"/>
                          <a:cs typeface="Arial" charset="0"/>
                        </a:rPr>
                        <a:t>The tenant shared the application server and access application resources through separate session or threads.</a:t>
                      </a:r>
                      <a:endParaRPr kumimoji="0" lang="en-IN" sz="1800" b="0" i="0" u="none" strike="noStrike" cap="none" normalizeH="0" baseline="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dirty="0">
                        <a:ln>
                          <a:noFill/>
                        </a:ln>
                        <a:solidFill>
                          <a:schemeClr val="tx1"/>
                        </a:solidFill>
                        <a:effectLst/>
                        <a:latin typeface="Gill Sans MT"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771" name="TextBox 21">
            <a:extLst>
              <a:ext uri="{FF2B5EF4-FFF2-40B4-BE49-F238E27FC236}">
                <a16:creationId xmlns:a16="http://schemas.microsoft.com/office/drawing/2014/main" id="{03715FCF-161A-484F-9096-8A9178A56F0E}"/>
              </a:ext>
            </a:extLst>
          </p:cNvPr>
          <p:cNvSpPr txBox="1">
            <a:spLocks noChangeArrowheads="1"/>
          </p:cNvSpPr>
          <p:nvPr/>
        </p:nvSpPr>
        <p:spPr bwMode="auto">
          <a:xfrm>
            <a:off x="5334000" y="25908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B</a:t>
            </a:r>
            <a:endParaRPr lang="en-IN" altLang="en-US" sz="1200"/>
          </a:p>
        </p:txBody>
      </p:sp>
      <p:sp>
        <p:nvSpPr>
          <p:cNvPr id="31772" name="TextBox 22">
            <a:extLst>
              <a:ext uri="{FF2B5EF4-FFF2-40B4-BE49-F238E27FC236}">
                <a16:creationId xmlns:a16="http://schemas.microsoft.com/office/drawing/2014/main" id="{113ADAE6-3203-42A7-B594-397537F681A6}"/>
              </a:ext>
            </a:extLst>
          </p:cNvPr>
          <p:cNvSpPr txBox="1">
            <a:spLocks noChangeArrowheads="1"/>
          </p:cNvSpPr>
          <p:nvPr/>
        </p:nvSpPr>
        <p:spPr bwMode="auto">
          <a:xfrm>
            <a:off x="6324600" y="16002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Application Server</a:t>
            </a:r>
            <a:endParaRPr lang="en-IN" altLang="en-US" sz="1200"/>
          </a:p>
        </p:txBody>
      </p:sp>
      <p:sp>
        <p:nvSpPr>
          <p:cNvPr id="31773" name="TextBox 23">
            <a:extLst>
              <a:ext uri="{FF2B5EF4-FFF2-40B4-BE49-F238E27FC236}">
                <a16:creationId xmlns:a16="http://schemas.microsoft.com/office/drawing/2014/main" id="{9F66DA9D-B0B2-4011-93EC-48D6E5994C7C}"/>
              </a:ext>
            </a:extLst>
          </p:cNvPr>
          <p:cNvSpPr txBox="1">
            <a:spLocks noChangeArrowheads="1"/>
          </p:cNvSpPr>
          <p:nvPr/>
        </p:nvSpPr>
        <p:spPr bwMode="auto">
          <a:xfrm>
            <a:off x="6324600" y="25146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Application server</a:t>
            </a:r>
            <a:endParaRPr lang="en-IN" altLang="en-US" sz="1200"/>
          </a:p>
        </p:txBody>
      </p:sp>
      <p:sp>
        <p:nvSpPr>
          <p:cNvPr id="26" name="Oval 25">
            <a:extLst>
              <a:ext uri="{FF2B5EF4-FFF2-40B4-BE49-F238E27FC236}">
                <a16:creationId xmlns:a16="http://schemas.microsoft.com/office/drawing/2014/main" id="{077F19FA-B73A-4538-9817-8464A16CD513}"/>
              </a:ext>
            </a:extLst>
          </p:cNvPr>
          <p:cNvSpPr/>
          <p:nvPr/>
        </p:nvSpPr>
        <p:spPr>
          <a:xfrm>
            <a:off x="5486400" y="28956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27" name="Oval 26">
            <a:extLst>
              <a:ext uri="{FF2B5EF4-FFF2-40B4-BE49-F238E27FC236}">
                <a16:creationId xmlns:a16="http://schemas.microsoft.com/office/drawing/2014/main" id="{7BFC71AF-91D6-4282-AA99-6901D34E9288}"/>
              </a:ext>
            </a:extLst>
          </p:cNvPr>
          <p:cNvSpPr/>
          <p:nvPr/>
        </p:nvSpPr>
        <p:spPr>
          <a:xfrm>
            <a:off x="5638800" y="29718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28" name="Oval 27">
            <a:extLst>
              <a:ext uri="{FF2B5EF4-FFF2-40B4-BE49-F238E27FC236}">
                <a16:creationId xmlns:a16="http://schemas.microsoft.com/office/drawing/2014/main" id="{1CEEE603-3CAB-4003-9219-D9E6DDC4A89A}"/>
              </a:ext>
            </a:extLst>
          </p:cNvPr>
          <p:cNvSpPr/>
          <p:nvPr/>
        </p:nvSpPr>
        <p:spPr>
          <a:xfrm>
            <a:off x="5486400" y="35052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29" name="Oval 28">
            <a:extLst>
              <a:ext uri="{FF2B5EF4-FFF2-40B4-BE49-F238E27FC236}">
                <a16:creationId xmlns:a16="http://schemas.microsoft.com/office/drawing/2014/main" id="{9AEA7DDC-0275-4BAD-AC76-52C73BE178FD}"/>
              </a:ext>
            </a:extLst>
          </p:cNvPr>
          <p:cNvSpPr/>
          <p:nvPr/>
        </p:nvSpPr>
        <p:spPr>
          <a:xfrm>
            <a:off x="5638800" y="35814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cxnSp>
        <p:nvCxnSpPr>
          <p:cNvPr id="31" name="Straight Connector 30">
            <a:extLst>
              <a:ext uri="{FF2B5EF4-FFF2-40B4-BE49-F238E27FC236}">
                <a16:creationId xmlns:a16="http://schemas.microsoft.com/office/drawing/2014/main" id="{83506920-A595-4445-A5E8-6F68F0B5755A}"/>
              </a:ext>
            </a:extLst>
          </p:cNvPr>
          <p:cNvCxnSpPr>
            <a:stCxn id="11" idx="6"/>
          </p:cNvCxnSpPr>
          <p:nvPr/>
        </p:nvCxnSpPr>
        <p:spPr>
          <a:xfrm>
            <a:off x="5943600" y="1905000"/>
            <a:ext cx="1828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1D36587-4BE6-4AF2-87B3-B6D34B9E2401}"/>
              </a:ext>
            </a:extLst>
          </p:cNvPr>
          <p:cNvCxnSpPr/>
          <p:nvPr/>
        </p:nvCxnSpPr>
        <p:spPr>
          <a:xfrm>
            <a:off x="5943600" y="2514600"/>
            <a:ext cx="1828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DD43DD59-0DF1-4C5F-B1BB-EF117F3354E5}"/>
              </a:ext>
            </a:extLst>
          </p:cNvPr>
          <p:cNvSpPr/>
          <p:nvPr/>
        </p:nvSpPr>
        <p:spPr>
          <a:xfrm>
            <a:off x="7620000" y="2895600"/>
            <a:ext cx="1219200" cy="457200"/>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Virtual machine</a:t>
            </a:r>
            <a:endParaRPr lang="en-IN" sz="1600" dirty="0">
              <a:solidFill>
                <a:schemeClr val="tx1"/>
              </a:solidFill>
            </a:endParaRPr>
          </a:p>
        </p:txBody>
      </p:sp>
      <p:sp>
        <p:nvSpPr>
          <p:cNvPr id="35" name="Rectangle 34">
            <a:extLst>
              <a:ext uri="{FF2B5EF4-FFF2-40B4-BE49-F238E27FC236}">
                <a16:creationId xmlns:a16="http://schemas.microsoft.com/office/drawing/2014/main" id="{7711A95B-F10A-4BA9-AF1A-C26AD5B9DFE2}"/>
              </a:ext>
            </a:extLst>
          </p:cNvPr>
          <p:cNvSpPr/>
          <p:nvPr/>
        </p:nvSpPr>
        <p:spPr>
          <a:xfrm>
            <a:off x="7620000" y="3505200"/>
            <a:ext cx="1219200" cy="457200"/>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Virtual machine</a:t>
            </a:r>
            <a:endParaRPr lang="en-IN" sz="1600" dirty="0">
              <a:solidFill>
                <a:schemeClr val="tx1"/>
              </a:solidFill>
            </a:endParaRPr>
          </a:p>
        </p:txBody>
      </p:sp>
      <p:cxnSp>
        <p:nvCxnSpPr>
          <p:cNvPr id="39" name="Straight Connector 38">
            <a:extLst>
              <a:ext uri="{FF2B5EF4-FFF2-40B4-BE49-F238E27FC236}">
                <a16:creationId xmlns:a16="http://schemas.microsoft.com/office/drawing/2014/main" id="{B9B12576-690E-4757-BBE0-5E212EBE9BEC}"/>
              </a:ext>
            </a:extLst>
          </p:cNvPr>
          <p:cNvCxnSpPr>
            <a:stCxn id="27" idx="6"/>
            <a:endCxn id="34" idx="1"/>
          </p:cNvCxnSpPr>
          <p:nvPr/>
        </p:nvCxnSpPr>
        <p:spPr>
          <a:xfrm>
            <a:off x="5943600" y="3124200"/>
            <a:ext cx="1676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FC05CC4-DA8F-452F-94B8-39B64681A773}"/>
              </a:ext>
            </a:extLst>
          </p:cNvPr>
          <p:cNvCxnSpPr/>
          <p:nvPr/>
        </p:nvCxnSpPr>
        <p:spPr>
          <a:xfrm>
            <a:off x="5943600" y="3733800"/>
            <a:ext cx="1676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1784" name="TextBox 41">
            <a:extLst>
              <a:ext uri="{FF2B5EF4-FFF2-40B4-BE49-F238E27FC236}">
                <a16:creationId xmlns:a16="http://schemas.microsoft.com/office/drawing/2014/main" id="{43F979C2-5E75-42CC-8665-4A61AC9A8123}"/>
              </a:ext>
            </a:extLst>
          </p:cNvPr>
          <p:cNvSpPr txBox="1">
            <a:spLocks noChangeArrowheads="1"/>
          </p:cNvSpPr>
          <p:nvPr/>
        </p:nvSpPr>
        <p:spPr bwMode="auto">
          <a:xfrm>
            <a:off x="6248400" y="28194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Application server</a:t>
            </a:r>
            <a:endParaRPr lang="en-IN" altLang="en-US" sz="1200"/>
          </a:p>
        </p:txBody>
      </p:sp>
      <p:sp>
        <p:nvSpPr>
          <p:cNvPr id="31785" name="TextBox 42">
            <a:extLst>
              <a:ext uri="{FF2B5EF4-FFF2-40B4-BE49-F238E27FC236}">
                <a16:creationId xmlns:a16="http://schemas.microsoft.com/office/drawing/2014/main" id="{0990F04B-0B92-4A9A-B46D-E925E5EBB44E}"/>
              </a:ext>
            </a:extLst>
          </p:cNvPr>
          <p:cNvSpPr txBox="1">
            <a:spLocks noChangeArrowheads="1"/>
          </p:cNvSpPr>
          <p:nvPr/>
        </p:nvSpPr>
        <p:spPr bwMode="auto">
          <a:xfrm>
            <a:off x="5334000" y="32004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A</a:t>
            </a:r>
            <a:endParaRPr lang="en-IN" altLang="en-US" sz="1200"/>
          </a:p>
        </p:txBody>
      </p:sp>
      <p:sp>
        <p:nvSpPr>
          <p:cNvPr id="31786" name="TextBox 43">
            <a:extLst>
              <a:ext uri="{FF2B5EF4-FFF2-40B4-BE49-F238E27FC236}">
                <a16:creationId xmlns:a16="http://schemas.microsoft.com/office/drawing/2014/main" id="{6826DECB-54B0-4C7E-A5D9-A9579A6E7DB0}"/>
              </a:ext>
            </a:extLst>
          </p:cNvPr>
          <p:cNvSpPr txBox="1">
            <a:spLocks noChangeArrowheads="1"/>
          </p:cNvSpPr>
          <p:nvPr/>
        </p:nvSpPr>
        <p:spPr bwMode="auto">
          <a:xfrm>
            <a:off x="5334000" y="38100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B</a:t>
            </a:r>
            <a:endParaRPr lang="en-IN" altLang="en-US" sz="1200"/>
          </a:p>
        </p:txBody>
      </p:sp>
      <p:sp>
        <p:nvSpPr>
          <p:cNvPr id="45" name="Oval 44">
            <a:extLst>
              <a:ext uri="{FF2B5EF4-FFF2-40B4-BE49-F238E27FC236}">
                <a16:creationId xmlns:a16="http://schemas.microsoft.com/office/drawing/2014/main" id="{B489C41E-0790-497D-A62E-366D0B4E5EB6}"/>
              </a:ext>
            </a:extLst>
          </p:cNvPr>
          <p:cNvSpPr/>
          <p:nvPr/>
        </p:nvSpPr>
        <p:spPr>
          <a:xfrm>
            <a:off x="5486400" y="41910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dirty="0"/>
          </a:p>
        </p:txBody>
      </p:sp>
      <p:sp>
        <p:nvSpPr>
          <p:cNvPr id="46" name="Oval 45">
            <a:extLst>
              <a:ext uri="{FF2B5EF4-FFF2-40B4-BE49-F238E27FC236}">
                <a16:creationId xmlns:a16="http://schemas.microsoft.com/office/drawing/2014/main" id="{85DE263C-03A1-470F-A6DE-B2F9A2E75388}"/>
              </a:ext>
            </a:extLst>
          </p:cNvPr>
          <p:cNvSpPr/>
          <p:nvPr/>
        </p:nvSpPr>
        <p:spPr>
          <a:xfrm>
            <a:off x="5638800" y="42672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47" name="Oval 46">
            <a:extLst>
              <a:ext uri="{FF2B5EF4-FFF2-40B4-BE49-F238E27FC236}">
                <a16:creationId xmlns:a16="http://schemas.microsoft.com/office/drawing/2014/main" id="{787087FE-9113-4A32-8FE0-5E0A487DA43D}"/>
              </a:ext>
            </a:extLst>
          </p:cNvPr>
          <p:cNvSpPr/>
          <p:nvPr/>
        </p:nvSpPr>
        <p:spPr>
          <a:xfrm>
            <a:off x="5486400" y="48006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48" name="Oval 47">
            <a:extLst>
              <a:ext uri="{FF2B5EF4-FFF2-40B4-BE49-F238E27FC236}">
                <a16:creationId xmlns:a16="http://schemas.microsoft.com/office/drawing/2014/main" id="{C2E1FDEA-DD73-48C4-96A7-10E06A6DA96B}"/>
              </a:ext>
            </a:extLst>
          </p:cNvPr>
          <p:cNvSpPr/>
          <p:nvPr/>
        </p:nvSpPr>
        <p:spPr>
          <a:xfrm>
            <a:off x="5638800" y="48768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53" name="Oval 52">
            <a:extLst>
              <a:ext uri="{FF2B5EF4-FFF2-40B4-BE49-F238E27FC236}">
                <a16:creationId xmlns:a16="http://schemas.microsoft.com/office/drawing/2014/main" id="{68851FBE-2306-4A6F-A53A-07A33A6BC11B}"/>
              </a:ext>
            </a:extLst>
          </p:cNvPr>
          <p:cNvSpPr/>
          <p:nvPr/>
        </p:nvSpPr>
        <p:spPr>
          <a:xfrm>
            <a:off x="6781800" y="4191000"/>
            <a:ext cx="990600" cy="990600"/>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54" name="Rectangle 53">
            <a:extLst>
              <a:ext uri="{FF2B5EF4-FFF2-40B4-BE49-F238E27FC236}">
                <a16:creationId xmlns:a16="http://schemas.microsoft.com/office/drawing/2014/main" id="{9DF9C903-027C-42D0-A462-D7737A0F2917}"/>
              </a:ext>
            </a:extLst>
          </p:cNvPr>
          <p:cNvSpPr/>
          <p:nvPr/>
        </p:nvSpPr>
        <p:spPr>
          <a:xfrm>
            <a:off x="7239000" y="4419600"/>
            <a:ext cx="14478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Virtual machine</a:t>
            </a:r>
            <a:endParaRPr lang="en-IN" dirty="0"/>
          </a:p>
        </p:txBody>
      </p:sp>
      <p:cxnSp>
        <p:nvCxnSpPr>
          <p:cNvPr id="64" name="Straight Connector 63">
            <a:extLst>
              <a:ext uri="{FF2B5EF4-FFF2-40B4-BE49-F238E27FC236}">
                <a16:creationId xmlns:a16="http://schemas.microsoft.com/office/drawing/2014/main" id="{C69020ED-BCB8-441C-8542-78CAC59AA7C2}"/>
              </a:ext>
            </a:extLst>
          </p:cNvPr>
          <p:cNvCxnSpPr>
            <a:stCxn id="48" idx="6"/>
            <a:endCxn id="53" idx="3"/>
          </p:cNvCxnSpPr>
          <p:nvPr/>
        </p:nvCxnSpPr>
        <p:spPr>
          <a:xfrm>
            <a:off x="5943600" y="5029200"/>
            <a:ext cx="982663" cy="7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177BEA-35D1-49F0-8EDF-02AB105B6D6F}"/>
              </a:ext>
            </a:extLst>
          </p:cNvPr>
          <p:cNvCxnSpPr>
            <a:stCxn id="46" idx="6"/>
          </p:cNvCxnSpPr>
          <p:nvPr/>
        </p:nvCxnSpPr>
        <p:spPr>
          <a:xfrm>
            <a:off x="5943600" y="4419600"/>
            <a:ext cx="914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24F8612F-579F-4E0F-A6B5-8E2FED36A901}"/>
              </a:ext>
            </a:extLst>
          </p:cNvPr>
          <p:cNvSpPr/>
          <p:nvPr/>
        </p:nvSpPr>
        <p:spPr>
          <a:xfrm>
            <a:off x="5486400" y="54102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68" name="Oval 67">
            <a:extLst>
              <a:ext uri="{FF2B5EF4-FFF2-40B4-BE49-F238E27FC236}">
                <a16:creationId xmlns:a16="http://schemas.microsoft.com/office/drawing/2014/main" id="{56902DA1-5505-4FBD-984F-968B310545CA}"/>
              </a:ext>
            </a:extLst>
          </p:cNvPr>
          <p:cNvSpPr/>
          <p:nvPr/>
        </p:nvSpPr>
        <p:spPr>
          <a:xfrm>
            <a:off x="5638800" y="54864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69" name="Oval 68">
            <a:extLst>
              <a:ext uri="{FF2B5EF4-FFF2-40B4-BE49-F238E27FC236}">
                <a16:creationId xmlns:a16="http://schemas.microsoft.com/office/drawing/2014/main" id="{E9B92C64-BBFA-44CF-8B41-13B5C40EF735}"/>
              </a:ext>
            </a:extLst>
          </p:cNvPr>
          <p:cNvSpPr/>
          <p:nvPr/>
        </p:nvSpPr>
        <p:spPr>
          <a:xfrm>
            <a:off x="5486400" y="60198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70" name="Oval 69">
            <a:extLst>
              <a:ext uri="{FF2B5EF4-FFF2-40B4-BE49-F238E27FC236}">
                <a16:creationId xmlns:a16="http://schemas.microsoft.com/office/drawing/2014/main" id="{5DD21B31-735E-4E3E-AE89-8C1776311A54}"/>
              </a:ext>
            </a:extLst>
          </p:cNvPr>
          <p:cNvSpPr/>
          <p:nvPr/>
        </p:nvSpPr>
        <p:spPr>
          <a:xfrm>
            <a:off x="5638800" y="609600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IN"/>
          </a:p>
        </p:txBody>
      </p:sp>
      <p:sp>
        <p:nvSpPr>
          <p:cNvPr id="71" name="Oval 70">
            <a:extLst>
              <a:ext uri="{FF2B5EF4-FFF2-40B4-BE49-F238E27FC236}">
                <a16:creationId xmlns:a16="http://schemas.microsoft.com/office/drawing/2014/main" id="{7F06DD43-A082-4561-A3DB-4641FA358B42}"/>
              </a:ext>
            </a:extLst>
          </p:cNvPr>
          <p:cNvSpPr/>
          <p:nvPr/>
        </p:nvSpPr>
        <p:spPr>
          <a:xfrm>
            <a:off x="7010400" y="5486400"/>
            <a:ext cx="838200" cy="838200"/>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31800" name="TextBox 76">
            <a:extLst>
              <a:ext uri="{FF2B5EF4-FFF2-40B4-BE49-F238E27FC236}">
                <a16:creationId xmlns:a16="http://schemas.microsoft.com/office/drawing/2014/main" id="{3040C1D0-C3F0-4CC3-BB04-5996BFEFBF8D}"/>
              </a:ext>
            </a:extLst>
          </p:cNvPr>
          <p:cNvSpPr txBox="1">
            <a:spLocks noChangeArrowheads="1"/>
          </p:cNvSpPr>
          <p:nvPr/>
        </p:nvSpPr>
        <p:spPr bwMode="auto">
          <a:xfrm>
            <a:off x="5334000" y="45243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A</a:t>
            </a:r>
            <a:endParaRPr lang="en-IN" altLang="en-US" sz="1200"/>
          </a:p>
        </p:txBody>
      </p:sp>
      <p:sp>
        <p:nvSpPr>
          <p:cNvPr id="31801" name="TextBox 77">
            <a:extLst>
              <a:ext uri="{FF2B5EF4-FFF2-40B4-BE49-F238E27FC236}">
                <a16:creationId xmlns:a16="http://schemas.microsoft.com/office/drawing/2014/main" id="{FF1F6BF7-4440-4D9C-B8DF-37921299BAE7}"/>
              </a:ext>
            </a:extLst>
          </p:cNvPr>
          <p:cNvSpPr txBox="1">
            <a:spLocks noChangeArrowheads="1"/>
          </p:cNvSpPr>
          <p:nvPr/>
        </p:nvSpPr>
        <p:spPr bwMode="auto">
          <a:xfrm>
            <a:off x="5334000" y="51339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B</a:t>
            </a:r>
            <a:endParaRPr lang="en-IN" altLang="en-US" sz="1200"/>
          </a:p>
        </p:txBody>
      </p:sp>
      <p:sp>
        <p:nvSpPr>
          <p:cNvPr id="79" name="Curved Right Arrow 78">
            <a:extLst>
              <a:ext uri="{FF2B5EF4-FFF2-40B4-BE49-F238E27FC236}">
                <a16:creationId xmlns:a16="http://schemas.microsoft.com/office/drawing/2014/main" id="{0A1F8C24-6F19-4C9A-A95A-21BE07292AA2}"/>
              </a:ext>
            </a:extLst>
          </p:cNvPr>
          <p:cNvSpPr/>
          <p:nvPr/>
        </p:nvSpPr>
        <p:spPr>
          <a:xfrm>
            <a:off x="7772400" y="5410200"/>
            <a:ext cx="152400" cy="2286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solidFill>
                <a:schemeClr val="tx1"/>
              </a:solidFill>
            </a:endParaRPr>
          </a:p>
        </p:txBody>
      </p:sp>
      <p:sp>
        <p:nvSpPr>
          <p:cNvPr id="80" name="Curved Left Arrow 79">
            <a:extLst>
              <a:ext uri="{FF2B5EF4-FFF2-40B4-BE49-F238E27FC236}">
                <a16:creationId xmlns:a16="http://schemas.microsoft.com/office/drawing/2014/main" id="{934CF988-27BA-4D83-A812-7204F31790CD}"/>
              </a:ext>
            </a:extLst>
          </p:cNvPr>
          <p:cNvSpPr/>
          <p:nvPr/>
        </p:nvSpPr>
        <p:spPr>
          <a:xfrm>
            <a:off x="7924800" y="5410200"/>
            <a:ext cx="152400" cy="2286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solidFill>
                <a:schemeClr val="tx1"/>
              </a:solidFill>
            </a:endParaRPr>
          </a:p>
        </p:txBody>
      </p:sp>
      <p:sp>
        <p:nvSpPr>
          <p:cNvPr id="81" name="Curved Right Arrow 80">
            <a:extLst>
              <a:ext uri="{FF2B5EF4-FFF2-40B4-BE49-F238E27FC236}">
                <a16:creationId xmlns:a16="http://schemas.microsoft.com/office/drawing/2014/main" id="{6C3409E9-5899-4B0E-BC4E-BC3185604290}"/>
              </a:ext>
            </a:extLst>
          </p:cNvPr>
          <p:cNvSpPr/>
          <p:nvPr/>
        </p:nvSpPr>
        <p:spPr>
          <a:xfrm>
            <a:off x="7772400" y="6324600"/>
            <a:ext cx="152400" cy="2286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schemeClr val="tx1"/>
              </a:solidFill>
            </a:endParaRPr>
          </a:p>
        </p:txBody>
      </p:sp>
      <p:sp>
        <p:nvSpPr>
          <p:cNvPr id="83" name="Curved Left Arrow 82">
            <a:extLst>
              <a:ext uri="{FF2B5EF4-FFF2-40B4-BE49-F238E27FC236}">
                <a16:creationId xmlns:a16="http://schemas.microsoft.com/office/drawing/2014/main" id="{2D380A81-C420-4510-AE4A-F6FA80054DD5}"/>
              </a:ext>
            </a:extLst>
          </p:cNvPr>
          <p:cNvSpPr/>
          <p:nvPr/>
        </p:nvSpPr>
        <p:spPr>
          <a:xfrm>
            <a:off x="7924800" y="6324600"/>
            <a:ext cx="152400" cy="2286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solidFill>
                <a:schemeClr val="tx1"/>
              </a:solidFill>
            </a:endParaRPr>
          </a:p>
        </p:txBody>
      </p:sp>
      <p:sp>
        <p:nvSpPr>
          <p:cNvPr id="84" name="Curved Right Arrow 83">
            <a:extLst>
              <a:ext uri="{FF2B5EF4-FFF2-40B4-BE49-F238E27FC236}">
                <a16:creationId xmlns:a16="http://schemas.microsoft.com/office/drawing/2014/main" id="{599C0784-3E1E-4CDB-B731-CEE7766BE44C}"/>
              </a:ext>
            </a:extLst>
          </p:cNvPr>
          <p:cNvSpPr/>
          <p:nvPr/>
        </p:nvSpPr>
        <p:spPr>
          <a:xfrm>
            <a:off x="8077200" y="5791200"/>
            <a:ext cx="228600" cy="3048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schemeClr val="tx1"/>
              </a:solidFill>
            </a:endParaRPr>
          </a:p>
        </p:txBody>
      </p:sp>
      <p:sp>
        <p:nvSpPr>
          <p:cNvPr id="85" name="Curved Left Arrow 84">
            <a:extLst>
              <a:ext uri="{FF2B5EF4-FFF2-40B4-BE49-F238E27FC236}">
                <a16:creationId xmlns:a16="http://schemas.microsoft.com/office/drawing/2014/main" id="{29572BC3-65FB-4AEE-B305-390B453B289E}"/>
              </a:ext>
            </a:extLst>
          </p:cNvPr>
          <p:cNvSpPr/>
          <p:nvPr/>
        </p:nvSpPr>
        <p:spPr>
          <a:xfrm>
            <a:off x="8305800" y="5791200"/>
            <a:ext cx="228600" cy="3048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solidFill>
                <a:schemeClr val="tx1"/>
              </a:solidFill>
            </a:endParaRPr>
          </a:p>
        </p:txBody>
      </p:sp>
      <p:sp>
        <p:nvSpPr>
          <p:cNvPr id="31808" name="TextBox 86">
            <a:extLst>
              <a:ext uri="{FF2B5EF4-FFF2-40B4-BE49-F238E27FC236}">
                <a16:creationId xmlns:a16="http://schemas.microsoft.com/office/drawing/2014/main" id="{12843335-8993-4F73-B58E-816A213F7D53}"/>
              </a:ext>
            </a:extLst>
          </p:cNvPr>
          <p:cNvSpPr txBox="1">
            <a:spLocks noChangeArrowheads="1"/>
          </p:cNvSpPr>
          <p:nvPr/>
        </p:nvSpPr>
        <p:spPr bwMode="auto">
          <a:xfrm>
            <a:off x="7772400" y="55911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Session thread</a:t>
            </a:r>
            <a:endParaRPr lang="en-IN" altLang="en-US" sz="1200"/>
          </a:p>
        </p:txBody>
      </p:sp>
      <p:sp>
        <p:nvSpPr>
          <p:cNvPr id="31809" name="TextBox 87">
            <a:extLst>
              <a:ext uri="{FF2B5EF4-FFF2-40B4-BE49-F238E27FC236}">
                <a16:creationId xmlns:a16="http://schemas.microsoft.com/office/drawing/2014/main" id="{59A4DA71-F52E-4B4D-843B-9551561651A9}"/>
              </a:ext>
            </a:extLst>
          </p:cNvPr>
          <p:cNvSpPr txBox="1">
            <a:spLocks noChangeArrowheads="1"/>
          </p:cNvSpPr>
          <p:nvPr/>
        </p:nvSpPr>
        <p:spPr bwMode="auto">
          <a:xfrm>
            <a:off x="7772400" y="65055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Session Thread</a:t>
            </a:r>
            <a:endParaRPr lang="en-IN" altLang="en-US" sz="1200"/>
          </a:p>
        </p:txBody>
      </p:sp>
      <p:sp>
        <p:nvSpPr>
          <p:cNvPr id="31810" name="TextBox 88">
            <a:extLst>
              <a:ext uri="{FF2B5EF4-FFF2-40B4-BE49-F238E27FC236}">
                <a16:creationId xmlns:a16="http://schemas.microsoft.com/office/drawing/2014/main" id="{B9314C2F-A582-4368-8974-B99A5B4B2EC2}"/>
              </a:ext>
            </a:extLst>
          </p:cNvPr>
          <p:cNvSpPr txBox="1">
            <a:spLocks noChangeArrowheads="1"/>
          </p:cNvSpPr>
          <p:nvPr/>
        </p:nvSpPr>
        <p:spPr bwMode="auto">
          <a:xfrm>
            <a:off x="7620000" y="60483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Application Server</a:t>
            </a:r>
            <a:endParaRPr lang="en-IN" altLang="en-US" sz="1200"/>
          </a:p>
        </p:txBody>
      </p:sp>
      <p:sp>
        <p:nvSpPr>
          <p:cNvPr id="31811" name="TextBox 89">
            <a:extLst>
              <a:ext uri="{FF2B5EF4-FFF2-40B4-BE49-F238E27FC236}">
                <a16:creationId xmlns:a16="http://schemas.microsoft.com/office/drawing/2014/main" id="{AD67BC39-A84B-4ED9-B73E-AF80C79DC96D}"/>
              </a:ext>
            </a:extLst>
          </p:cNvPr>
          <p:cNvSpPr txBox="1">
            <a:spLocks noChangeArrowheads="1"/>
          </p:cNvSpPr>
          <p:nvPr/>
        </p:nvSpPr>
        <p:spPr bwMode="auto">
          <a:xfrm>
            <a:off x="5334000" y="57435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A</a:t>
            </a:r>
            <a:endParaRPr lang="en-IN" altLang="en-US" sz="1200"/>
          </a:p>
        </p:txBody>
      </p:sp>
      <p:sp>
        <p:nvSpPr>
          <p:cNvPr id="31812" name="TextBox 90">
            <a:extLst>
              <a:ext uri="{FF2B5EF4-FFF2-40B4-BE49-F238E27FC236}">
                <a16:creationId xmlns:a16="http://schemas.microsoft.com/office/drawing/2014/main" id="{859A08A0-5812-44C1-A2C2-E3EE8A346904}"/>
              </a:ext>
            </a:extLst>
          </p:cNvPr>
          <p:cNvSpPr txBox="1">
            <a:spLocks noChangeArrowheads="1"/>
          </p:cNvSpPr>
          <p:nvPr/>
        </p:nvSpPr>
        <p:spPr bwMode="auto">
          <a:xfrm>
            <a:off x="5334000" y="64293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Tenant  B</a:t>
            </a:r>
            <a:endParaRPr lang="en-IN" altLang="en-US" sz="1200"/>
          </a:p>
        </p:txBody>
      </p:sp>
      <p:cxnSp>
        <p:nvCxnSpPr>
          <p:cNvPr id="93" name="Straight Connector 92">
            <a:extLst>
              <a:ext uri="{FF2B5EF4-FFF2-40B4-BE49-F238E27FC236}">
                <a16:creationId xmlns:a16="http://schemas.microsoft.com/office/drawing/2014/main" id="{4D318D7F-034B-42F8-9AC9-EBA9E7B99D2D}"/>
              </a:ext>
            </a:extLst>
          </p:cNvPr>
          <p:cNvCxnSpPr>
            <a:stCxn id="68" idx="6"/>
          </p:cNvCxnSpPr>
          <p:nvPr/>
        </p:nvCxnSpPr>
        <p:spPr>
          <a:xfrm>
            <a:off x="5943600" y="5638800"/>
            <a:ext cx="1066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3487F40-42BB-49C9-8FAA-A1D48A8AC005}"/>
              </a:ext>
            </a:extLst>
          </p:cNvPr>
          <p:cNvCxnSpPr>
            <a:stCxn id="70" idx="6"/>
          </p:cNvCxnSpPr>
          <p:nvPr/>
        </p:nvCxnSpPr>
        <p:spPr>
          <a:xfrm>
            <a:off x="5943600" y="6248400"/>
            <a:ext cx="1295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1815" name="TextBox 97">
            <a:extLst>
              <a:ext uri="{FF2B5EF4-FFF2-40B4-BE49-F238E27FC236}">
                <a16:creationId xmlns:a16="http://schemas.microsoft.com/office/drawing/2014/main" id="{4E358652-50D6-480A-90CA-5C3C2F59D193}"/>
              </a:ext>
            </a:extLst>
          </p:cNvPr>
          <p:cNvSpPr txBox="1">
            <a:spLocks noChangeArrowheads="1"/>
          </p:cNvSpPr>
          <p:nvPr/>
        </p:nvSpPr>
        <p:spPr bwMode="auto">
          <a:xfrm>
            <a:off x="7543800" y="4067175"/>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Application server</a:t>
            </a:r>
            <a:endParaRPr lang="en-IN" altLang="en-US" sz="1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B4077-6F87-49ED-95F2-FFFCFF551C6B}"/>
              </a:ext>
            </a:extLst>
          </p:cNvPr>
          <p:cNvSpPr>
            <a:spLocks noGrp="1"/>
          </p:cNvSpPr>
          <p:nvPr>
            <p:ph type="title" idx="4294967295"/>
          </p:nvPr>
        </p:nvSpPr>
        <p:spPr>
          <a:xfrm>
            <a:off x="1258888" y="-12700"/>
            <a:ext cx="7499350" cy="417513"/>
          </a:xfrm>
        </p:spPr>
        <p:txBody>
          <a:bodyPr>
            <a:noAutofit/>
          </a:bodyPr>
          <a:lstStyle/>
          <a:p>
            <a:pPr>
              <a:defRPr/>
            </a:pPr>
            <a:r>
              <a:rPr lang="en-US" sz="2400" dirty="0"/>
              <a:t>Multi-tenants Deployment Modes in Data Centers</a:t>
            </a:r>
            <a:endParaRPr lang="en-IN" sz="2400" dirty="0"/>
          </a:p>
        </p:txBody>
      </p:sp>
      <p:graphicFrame>
        <p:nvGraphicFramePr>
          <p:cNvPr id="61691" name="Group 251">
            <a:extLst>
              <a:ext uri="{FF2B5EF4-FFF2-40B4-BE49-F238E27FC236}">
                <a16:creationId xmlns:a16="http://schemas.microsoft.com/office/drawing/2014/main" id="{F788EC0B-7B56-405F-8A84-304236B039C7}"/>
              </a:ext>
            </a:extLst>
          </p:cNvPr>
          <p:cNvGraphicFramePr>
            <a:graphicFrameLocks noGrp="1"/>
          </p:cNvGraphicFramePr>
          <p:nvPr/>
        </p:nvGraphicFramePr>
        <p:xfrm>
          <a:off x="1116013" y="541338"/>
          <a:ext cx="7777162" cy="6462712"/>
        </p:xfrm>
        <a:graphic>
          <a:graphicData uri="http://schemas.openxmlformats.org/drawingml/2006/table">
            <a:tbl>
              <a:tblPr/>
              <a:tblGrid>
                <a:gridCol w="3227387">
                  <a:extLst>
                    <a:ext uri="{9D8B030D-6E8A-4147-A177-3AD203B41FA5}">
                      <a16:colId xmlns:a16="http://schemas.microsoft.com/office/drawing/2014/main" val="20000"/>
                    </a:ext>
                  </a:extLst>
                </a:gridCol>
                <a:gridCol w="4549775">
                  <a:extLst>
                    <a:ext uri="{9D8B030D-6E8A-4147-A177-3AD203B41FA5}">
                      <a16:colId xmlns:a16="http://schemas.microsoft.com/office/drawing/2014/main" val="20001"/>
                    </a:ext>
                  </a:extLst>
                </a:gridCol>
              </a:tblGrid>
              <a:tr h="1066852">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Fully isolated data center</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The tenants do not share any data center resources</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IN" sz="1600" b="1"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070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Virtualized servers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The tenants share the same host but access different databases running on separate virtual machines</a:t>
                      </a:r>
                      <a:endParaRPr kumimoji="0" lang="en-IN" sz="1600" b="1"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829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Shared Server</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The tenants share the same server (Hostname or IP) but access different databases</a:t>
                      </a:r>
                      <a:endParaRPr kumimoji="0" lang="en-IN" sz="1600" b="1"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9230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Shared Database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The tenants share the same server and database (shared or different ports) but access different schema(tables)</a:t>
                      </a:r>
                      <a:endParaRPr kumimoji="0" lang="en-IN" sz="1600" b="1"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5455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Shared Schema</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Gill Sans MT" pitchFamily="34" charset="0"/>
                          <a:cs typeface="Arial" charset="0"/>
                        </a:rPr>
                        <a:t>The tenants share the same server, database and schema (tables).  The irrespective data is segregated by key and rows.</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IN" sz="1600" b="1"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Gill Sans MT" pitchFamily="34" charset="0"/>
                        <a:cs typeface="Arial"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Oval 4">
            <a:extLst>
              <a:ext uri="{FF2B5EF4-FFF2-40B4-BE49-F238E27FC236}">
                <a16:creationId xmlns:a16="http://schemas.microsoft.com/office/drawing/2014/main" id="{335BBB20-FE1D-4425-8826-E16CAC6E7698}"/>
              </a:ext>
            </a:extLst>
          </p:cNvPr>
          <p:cNvSpPr/>
          <p:nvPr/>
        </p:nvSpPr>
        <p:spPr>
          <a:xfrm>
            <a:off x="4356100" y="692150"/>
            <a:ext cx="503238" cy="144463"/>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6" name="Oval 5">
            <a:extLst>
              <a:ext uri="{FF2B5EF4-FFF2-40B4-BE49-F238E27FC236}">
                <a16:creationId xmlns:a16="http://schemas.microsoft.com/office/drawing/2014/main" id="{63E37B2A-191B-4792-8387-52FDEA1F013E}"/>
              </a:ext>
            </a:extLst>
          </p:cNvPr>
          <p:cNvSpPr/>
          <p:nvPr/>
        </p:nvSpPr>
        <p:spPr>
          <a:xfrm>
            <a:off x="4572000" y="765175"/>
            <a:ext cx="504825"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7" name="Oval 6">
            <a:extLst>
              <a:ext uri="{FF2B5EF4-FFF2-40B4-BE49-F238E27FC236}">
                <a16:creationId xmlns:a16="http://schemas.microsoft.com/office/drawing/2014/main" id="{C394F8A0-0BB3-491D-82A4-848B5123AD00}"/>
              </a:ext>
            </a:extLst>
          </p:cNvPr>
          <p:cNvSpPr/>
          <p:nvPr/>
        </p:nvSpPr>
        <p:spPr>
          <a:xfrm>
            <a:off x="4427538" y="1196975"/>
            <a:ext cx="504825" cy="144463"/>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8" name="Oval 7">
            <a:extLst>
              <a:ext uri="{FF2B5EF4-FFF2-40B4-BE49-F238E27FC236}">
                <a16:creationId xmlns:a16="http://schemas.microsoft.com/office/drawing/2014/main" id="{B329C129-6470-403C-BFC8-8B8E9B60D6A7}"/>
              </a:ext>
            </a:extLst>
          </p:cNvPr>
          <p:cNvSpPr/>
          <p:nvPr/>
        </p:nvSpPr>
        <p:spPr>
          <a:xfrm>
            <a:off x="4643438" y="1268413"/>
            <a:ext cx="504825"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9" name="Rounded Rectangle 8">
            <a:extLst>
              <a:ext uri="{FF2B5EF4-FFF2-40B4-BE49-F238E27FC236}">
                <a16:creationId xmlns:a16="http://schemas.microsoft.com/office/drawing/2014/main" id="{1E682A31-6F6F-42A0-A2C4-5C9F1052C582}"/>
              </a:ext>
            </a:extLst>
          </p:cNvPr>
          <p:cNvSpPr/>
          <p:nvPr/>
        </p:nvSpPr>
        <p:spPr>
          <a:xfrm>
            <a:off x="4500563" y="908050"/>
            <a:ext cx="1071562" cy="217488"/>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a:t>
            </a:r>
            <a:endParaRPr lang="en-IN" sz="1200" dirty="0"/>
          </a:p>
        </p:txBody>
      </p:sp>
      <p:sp>
        <p:nvSpPr>
          <p:cNvPr id="10" name="Rounded Rectangle 9">
            <a:extLst>
              <a:ext uri="{FF2B5EF4-FFF2-40B4-BE49-F238E27FC236}">
                <a16:creationId xmlns:a16="http://schemas.microsoft.com/office/drawing/2014/main" id="{25BAD7EF-E9A5-4E0C-99FA-DB3363664C9B}"/>
              </a:ext>
            </a:extLst>
          </p:cNvPr>
          <p:cNvSpPr/>
          <p:nvPr/>
        </p:nvSpPr>
        <p:spPr>
          <a:xfrm>
            <a:off x="4652963" y="1412875"/>
            <a:ext cx="1071562"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B</a:t>
            </a:r>
            <a:endParaRPr lang="en-IN" sz="1200" dirty="0"/>
          </a:p>
        </p:txBody>
      </p:sp>
      <p:sp>
        <p:nvSpPr>
          <p:cNvPr id="13" name="Oval 12">
            <a:extLst>
              <a:ext uri="{FF2B5EF4-FFF2-40B4-BE49-F238E27FC236}">
                <a16:creationId xmlns:a16="http://schemas.microsoft.com/office/drawing/2014/main" id="{094005BE-041A-4B0D-A44F-FFCB4A72CD91}"/>
              </a:ext>
            </a:extLst>
          </p:cNvPr>
          <p:cNvSpPr/>
          <p:nvPr/>
        </p:nvSpPr>
        <p:spPr>
          <a:xfrm>
            <a:off x="6948488" y="476250"/>
            <a:ext cx="719137" cy="50482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14" name="Oval 13">
            <a:extLst>
              <a:ext uri="{FF2B5EF4-FFF2-40B4-BE49-F238E27FC236}">
                <a16:creationId xmlns:a16="http://schemas.microsoft.com/office/drawing/2014/main" id="{60C04982-1899-4A9F-AE54-B33DFA20393E}"/>
              </a:ext>
            </a:extLst>
          </p:cNvPr>
          <p:cNvSpPr/>
          <p:nvPr/>
        </p:nvSpPr>
        <p:spPr>
          <a:xfrm>
            <a:off x="7100888" y="1052513"/>
            <a:ext cx="719137" cy="50482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15" name="Flowchart: Magnetic Disk 14">
            <a:extLst>
              <a:ext uri="{FF2B5EF4-FFF2-40B4-BE49-F238E27FC236}">
                <a16:creationId xmlns:a16="http://schemas.microsoft.com/office/drawing/2014/main" id="{5E0B6A10-BEDB-4387-A41C-BB5120E21223}"/>
              </a:ext>
            </a:extLst>
          </p:cNvPr>
          <p:cNvSpPr/>
          <p:nvPr/>
        </p:nvSpPr>
        <p:spPr>
          <a:xfrm>
            <a:off x="7524750" y="549275"/>
            <a:ext cx="792163" cy="431800"/>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16" name="Flowchart: Magnetic Disk 15">
            <a:extLst>
              <a:ext uri="{FF2B5EF4-FFF2-40B4-BE49-F238E27FC236}">
                <a16:creationId xmlns:a16="http://schemas.microsoft.com/office/drawing/2014/main" id="{7ADD5CD4-32BB-446C-B4CF-43A88BCDDC53}"/>
              </a:ext>
            </a:extLst>
          </p:cNvPr>
          <p:cNvSpPr/>
          <p:nvPr/>
        </p:nvSpPr>
        <p:spPr>
          <a:xfrm>
            <a:off x="7596188" y="1052513"/>
            <a:ext cx="792162" cy="431800"/>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cxnSp>
        <p:nvCxnSpPr>
          <p:cNvPr id="19" name="Straight Connector 18">
            <a:extLst>
              <a:ext uri="{FF2B5EF4-FFF2-40B4-BE49-F238E27FC236}">
                <a16:creationId xmlns:a16="http://schemas.microsoft.com/office/drawing/2014/main" id="{B779014F-5690-4C30-ACB8-E9AC7905D46D}"/>
              </a:ext>
            </a:extLst>
          </p:cNvPr>
          <p:cNvCxnSpPr/>
          <p:nvPr/>
        </p:nvCxnSpPr>
        <p:spPr>
          <a:xfrm>
            <a:off x="4860925" y="836613"/>
            <a:ext cx="2087563"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B6FE98-8011-4C55-B1D7-C757CBCA6538}"/>
              </a:ext>
            </a:extLst>
          </p:cNvPr>
          <p:cNvCxnSpPr/>
          <p:nvPr/>
        </p:nvCxnSpPr>
        <p:spPr>
          <a:xfrm>
            <a:off x="5005388" y="1341438"/>
            <a:ext cx="2087562"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713F8A0-A9CB-40E0-8418-872A6B25CC63}"/>
              </a:ext>
            </a:extLst>
          </p:cNvPr>
          <p:cNvSpPr/>
          <p:nvPr/>
        </p:nvSpPr>
        <p:spPr>
          <a:xfrm>
            <a:off x="4498975" y="1700213"/>
            <a:ext cx="504825"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23" name="Oval 22">
            <a:extLst>
              <a:ext uri="{FF2B5EF4-FFF2-40B4-BE49-F238E27FC236}">
                <a16:creationId xmlns:a16="http://schemas.microsoft.com/office/drawing/2014/main" id="{894EF1B9-FB16-40A8-B3FD-6ACDFA033876}"/>
              </a:ext>
            </a:extLst>
          </p:cNvPr>
          <p:cNvSpPr/>
          <p:nvPr/>
        </p:nvSpPr>
        <p:spPr>
          <a:xfrm>
            <a:off x="4714875" y="1773238"/>
            <a:ext cx="504825"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24" name="Oval 23">
            <a:extLst>
              <a:ext uri="{FF2B5EF4-FFF2-40B4-BE49-F238E27FC236}">
                <a16:creationId xmlns:a16="http://schemas.microsoft.com/office/drawing/2014/main" id="{96C98704-3F2C-4263-85A0-944A31D14EB6}"/>
              </a:ext>
            </a:extLst>
          </p:cNvPr>
          <p:cNvSpPr/>
          <p:nvPr/>
        </p:nvSpPr>
        <p:spPr>
          <a:xfrm>
            <a:off x="4500563" y="2565400"/>
            <a:ext cx="503237"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25" name="Oval 24">
            <a:extLst>
              <a:ext uri="{FF2B5EF4-FFF2-40B4-BE49-F238E27FC236}">
                <a16:creationId xmlns:a16="http://schemas.microsoft.com/office/drawing/2014/main" id="{0588F330-C0E6-4D14-BFE7-C8953086DCA2}"/>
              </a:ext>
            </a:extLst>
          </p:cNvPr>
          <p:cNvSpPr/>
          <p:nvPr/>
        </p:nvSpPr>
        <p:spPr>
          <a:xfrm>
            <a:off x="4716463" y="2636838"/>
            <a:ext cx="503237"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26" name="Rounded Rectangle 25">
            <a:extLst>
              <a:ext uri="{FF2B5EF4-FFF2-40B4-BE49-F238E27FC236}">
                <a16:creationId xmlns:a16="http://schemas.microsoft.com/office/drawing/2014/main" id="{4A9D3164-CD63-4A06-A3CA-47B53D1C2CFB}"/>
              </a:ext>
            </a:extLst>
          </p:cNvPr>
          <p:cNvSpPr/>
          <p:nvPr/>
        </p:nvSpPr>
        <p:spPr>
          <a:xfrm>
            <a:off x="4643438" y="1916113"/>
            <a:ext cx="1071562" cy="217487"/>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a:t>
            </a:r>
            <a:endParaRPr lang="en-IN" sz="1200" dirty="0"/>
          </a:p>
        </p:txBody>
      </p:sp>
      <p:sp>
        <p:nvSpPr>
          <p:cNvPr id="27" name="Rounded Rectangle 26">
            <a:extLst>
              <a:ext uri="{FF2B5EF4-FFF2-40B4-BE49-F238E27FC236}">
                <a16:creationId xmlns:a16="http://schemas.microsoft.com/office/drawing/2014/main" id="{F604572A-D89C-45E9-B755-77B3CC8A1C33}"/>
              </a:ext>
            </a:extLst>
          </p:cNvPr>
          <p:cNvSpPr/>
          <p:nvPr/>
        </p:nvSpPr>
        <p:spPr>
          <a:xfrm>
            <a:off x="4724400" y="2781300"/>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B</a:t>
            </a:r>
            <a:endParaRPr lang="en-IN" sz="1200" dirty="0"/>
          </a:p>
        </p:txBody>
      </p:sp>
      <p:cxnSp>
        <p:nvCxnSpPr>
          <p:cNvPr id="32" name="Straight Connector 31">
            <a:extLst>
              <a:ext uri="{FF2B5EF4-FFF2-40B4-BE49-F238E27FC236}">
                <a16:creationId xmlns:a16="http://schemas.microsoft.com/office/drawing/2014/main" id="{3B8279DB-E943-4B66-BE52-1C570B1A32F1}"/>
              </a:ext>
            </a:extLst>
          </p:cNvPr>
          <p:cNvCxnSpPr/>
          <p:nvPr/>
        </p:nvCxnSpPr>
        <p:spPr>
          <a:xfrm>
            <a:off x="5003800" y="1844675"/>
            <a:ext cx="2305050"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770E959-083F-408C-A3A9-82CC831A5DA9}"/>
              </a:ext>
            </a:extLst>
          </p:cNvPr>
          <p:cNvCxnSpPr/>
          <p:nvPr/>
        </p:nvCxnSpPr>
        <p:spPr>
          <a:xfrm>
            <a:off x="5076825" y="2708275"/>
            <a:ext cx="2232025"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D027D5D8-7240-4F92-8B4E-0EEC332090B7}"/>
              </a:ext>
            </a:extLst>
          </p:cNvPr>
          <p:cNvSpPr/>
          <p:nvPr/>
        </p:nvSpPr>
        <p:spPr>
          <a:xfrm>
            <a:off x="4364038" y="4365625"/>
            <a:ext cx="504825"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35" name="Oval 34">
            <a:extLst>
              <a:ext uri="{FF2B5EF4-FFF2-40B4-BE49-F238E27FC236}">
                <a16:creationId xmlns:a16="http://schemas.microsoft.com/office/drawing/2014/main" id="{08C10FB7-F8A6-43DE-8B10-FD99D8266B89}"/>
              </a:ext>
            </a:extLst>
          </p:cNvPr>
          <p:cNvSpPr/>
          <p:nvPr/>
        </p:nvSpPr>
        <p:spPr>
          <a:xfrm>
            <a:off x="4579938" y="4437063"/>
            <a:ext cx="504825"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36" name="Oval 35">
            <a:extLst>
              <a:ext uri="{FF2B5EF4-FFF2-40B4-BE49-F238E27FC236}">
                <a16:creationId xmlns:a16="http://schemas.microsoft.com/office/drawing/2014/main" id="{A4509B24-236C-4D48-A463-1A2720BDAE8A}"/>
              </a:ext>
            </a:extLst>
          </p:cNvPr>
          <p:cNvSpPr/>
          <p:nvPr/>
        </p:nvSpPr>
        <p:spPr>
          <a:xfrm>
            <a:off x="4437063" y="5084763"/>
            <a:ext cx="503237"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37" name="Oval 36">
            <a:extLst>
              <a:ext uri="{FF2B5EF4-FFF2-40B4-BE49-F238E27FC236}">
                <a16:creationId xmlns:a16="http://schemas.microsoft.com/office/drawing/2014/main" id="{55AE1E03-7DC3-4BB8-B287-6493951A109C}"/>
              </a:ext>
            </a:extLst>
          </p:cNvPr>
          <p:cNvSpPr/>
          <p:nvPr/>
        </p:nvSpPr>
        <p:spPr>
          <a:xfrm>
            <a:off x="4652963" y="5157788"/>
            <a:ext cx="503237"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38" name="Rounded Rectangle 37">
            <a:extLst>
              <a:ext uri="{FF2B5EF4-FFF2-40B4-BE49-F238E27FC236}">
                <a16:creationId xmlns:a16="http://schemas.microsoft.com/office/drawing/2014/main" id="{2DEF3FEF-20CA-40A1-8193-FF7652C6DB45}"/>
              </a:ext>
            </a:extLst>
          </p:cNvPr>
          <p:cNvSpPr/>
          <p:nvPr/>
        </p:nvSpPr>
        <p:spPr>
          <a:xfrm>
            <a:off x="4508500" y="4581525"/>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a:t>
            </a:r>
            <a:endParaRPr lang="en-IN" sz="1200" dirty="0"/>
          </a:p>
        </p:txBody>
      </p:sp>
      <p:sp>
        <p:nvSpPr>
          <p:cNvPr id="39" name="Rounded Rectangle 38">
            <a:extLst>
              <a:ext uri="{FF2B5EF4-FFF2-40B4-BE49-F238E27FC236}">
                <a16:creationId xmlns:a16="http://schemas.microsoft.com/office/drawing/2014/main" id="{0B8ED65E-08CD-4B58-A578-DF0595D309B3}"/>
              </a:ext>
            </a:extLst>
          </p:cNvPr>
          <p:cNvSpPr/>
          <p:nvPr/>
        </p:nvSpPr>
        <p:spPr>
          <a:xfrm>
            <a:off x="4660900" y="5300663"/>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B</a:t>
            </a:r>
            <a:endParaRPr lang="en-IN" sz="1200" dirty="0"/>
          </a:p>
        </p:txBody>
      </p:sp>
      <p:sp>
        <p:nvSpPr>
          <p:cNvPr id="40" name="Oval 39">
            <a:extLst>
              <a:ext uri="{FF2B5EF4-FFF2-40B4-BE49-F238E27FC236}">
                <a16:creationId xmlns:a16="http://schemas.microsoft.com/office/drawing/2014/main" id="{A4F33B61-388C-4D45-BE4C-F9B69CF3E65F}"/>
              </a:ext>
            </a:extLst>
          </p:cNvPr>
          <p:cNvSpPr/>
          <p:nvPr/>
        </p:nvSpPr>
        <p:spPr>
          <a:xfrm>
            <a:off x="6156325" y="4508500"/>
            <a:ext cx="855663" cy="72072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42" name="Flowchart: Magnetic Disk 41">
            <a:extLst>
              <a:ext uri="{FF2B5EF4-FFF2-40B4-BE49-F238E27FC236}">
                <a16:creationId xmlns:a16="http://schemas.microsoft.com/office/drawing/2014/main" id="{F6C9214E-1777-49D0-8892-F886FEE42CFA}"/>
              </a:ext>
            </a:extLst>
          </p:cNvPr>
          <p:cNvSpPr/>
          <p:nvPr/>
        </p:nvSpPr>
        <p:spPr>
          <a:xfrm>
            <a:off x="6732588" y="4437063"/>
            <a:ext cx="792162" cy="431800"/>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cxnSp>
        <p:nvCxnSpPr>
          <p:cNvPr id="44" name="Straight Connector 43">
            <a:extLst>
              <a:ext uri="{FF2B5EF4-FFF2-40B4-BE49-F238E27FC236}">
                <a16:creationId xmlns:a16="http://schemas.microsoft.com/office/drawing/2014/main" id="{F06AC2DF-87B7-415F-9889-21FADDE7067A}"/>
              </a:ext>
            </a:extLst>
          </p:cNvPr>
          <p:cNvCxnSpPr/>
          <p:nvPr/>
        </p:nvCxnSpPr>
        <p:spPr>
          <a:xfrm>
            <a:off x="4716463" y="4365625"/>
            <a:ext cx="2555875"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AE4C82B-4D2C-4C63-9764-8E5F1323413D}"/>
              </a:ext>
            </a:extLst>
          </p:cNvPr>
          <p:cNvCxnSpPr/>
          <p:nvPr/>
        </p:nvCxnSpPr>
        <p:spPr>
          <a:xfrm>
            <a:off x="5013325" y="5300663"/>
            <a:ext cx="2087563"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sp>
        <p:nvSpPr>
          <p:cNvPr id="46" name="Cube 45">
            <a:extLst>
              <a:ext uri="{FF2B5EF4-FFF2-40B4-BE49-F238E27FC236}">
                <a16:creationId xmlns:a16="http://schemas.microsoft.com/office/drawing/2014/main" id="{574635A3-874C-491A-9AC9-98024E149607}"/>
              </a:ext>
            </a:extLst>
          </p:cNvPr>
          <p:cNvSpPr/>
          <p:nvPr/>
        </p:nvSpPr>
        <p:spPr>
          <a:xfrm>
            <a:off x="7235825" y="549275"/>
            <a:ext cx="215900" cy="358775"/>
          </a:xfrm>
          <a:prstGeom prst="cub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47" name="Cube 46">
            <a:extLst>
              <a:ext uri="{FF2B5EF4-FFF2-40B4-BE49-F238E27FC236}">
                <a16:creationId xmlns:a16="http://schemas.microsoft.com/office/drawing/2014/main" id="{5BD4272A-7E36-4AB5-A373-0B25AD8ABB74}"/>
              </a:ext>
            </a:extLst>
          </p:cNvPr>
          <p:cNvSpPr/>
          <p:nvPr/>
        </p:nvSpPr>
        <p:spPr>
          <a:xfrm>
            <a:off x="7308850" y="1125538"/>
            <a:ext cx="215900" cy="358775"/>
          </a:xfrm>
          <a:prstGeom prst="cub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51" name="Oval 50">
            <a:extLst>
              <a:ext uri="{FF2B5EF4-FFF2-40B4-BE49-F238E27FC236}">
                <a16:creationId xmlns:a16="http://schemas.microsoft.com/office/drawing/2014/main" id="{6D2F79F8-8197-46F0-B64D-51F65D79363C}"/>
              </a:ext>
            </a:extLst>
          </p:cNvPr>
          <p:cNvSpPr/>
          <p:nvPr/>
        </p:nvSpPr>
        <p:spPr>
          <a:xfrm>
            <a:off x="7253288" y="1989138"/>
            <a:ext cx="855662" cy="719137"/>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54" name="Cube 53">
            <a:extLst>
              <a:ext uri="{FF2B5EF4-FFF2-40B4-BE49-F238E27FC236}">
                <a16:creationId xmlns:a16="http://schemas.microsoft.com/office/drawing/2014/main" id="{6143324A-0E60-4EA0-ABD4-28173D23F72E}"/>
              </a:ext>
            </a:extLst>
          </p:cNvPr>
          <p:cNvSpPr/>
          <p:nvPr/>
        </p:nvSpPr>
        <p:spPr>
          <a:xfrm>
            <a:off x="7388225" y="2060575"/>
            <a:ext cx="352425" cy="504825"/>
          </a:xfrm>
          <a:prstGeom prst="cub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55" name="Rectangle 54">
            <a:extLst>
              <a:ext uri="{FF2B5EF4-FFF2-40B4-BE49-F238E27FC236}">
                <a16:creationId xmlns:a16="http://schemas.microsoft.com/office/drawing/2014/main" id="{69850831-4D10-4252-9E1A-F6AD36246260}"/>
              </a:ext>
            </a:extLst>
          </p:cNvPr>
          <p:cNvSpPr/>
          <p:nvPr/>
        </p:nvSpPr>
        <p:spPr>
          <a:xfrm>
            <a:off x="7019925" y="1700213"/>
            <a:ext cx="1008063" cy="36036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1200" dirty="0"/>
              <a:t>Virtual</a:t>
            </a:r>
          </a:p>
          <a:p>
            <a:pPr algn="ctr" eaLnBrk="1" hangingPunct="1">
              <a:defRPr/>
            </a:pPr>
            <a:r>
              <a:rPr lang="en-US" sz="1200" dirty="0"/>
              <a:t>Machine</a:t>
            </a:r>
            <a:endParaRPr lang="en-IN" sz="1200" dirty="0"/>
          </a:p>
        </p:txBody>
      </p:sp>
      <p:sp>
        <p:nvSpPr>
          <p:cNvPr id="56" name="Flowchart: Magnetic Disk 55">
            <a:extLst>
              <a:ext uri="{FF2B5EF4-FFF2-40B4-BE49-F238E27FC236}">
                <a16:creationId xmlns:a16="http://schemas.microsoft.com/office/drawing/2014/main" id="{4A2B8739-60CC-4F69-BE27-B8C176515F66}"/>
              </a:ext>
            </a:extLst>
          </p:cNvPr>
          <p:cNvSpPr/>
          <p:nvPr/>
        </p:nvSpPr>
        <p:spPr>
          <a:xfrm>
            <a:off x="7885113" y="1628775"/>
            <a:ext cx="863600" cy="576263"/>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1000" dirty="0"/>
              <a:t>Database</a:t>
            </a:r>
            <a:endParaRPr lang="en-IN" sz="1000" dirty="0"/>
          </a:p>
        </p:txBody>
      </p:sp>
      <p:sp>
        <p:nvSpPr>
          <p:cNvPr id="60" name="Rectangle 59">
            <a:extLst>
              <a:ext uri="{FF2B5EF4-FFF2-40B4-BE49-F238E27FC236}">
                <a16:creationId xmlns:a16="http://schemas.microsoft.com/office/drawing/2014/main" id="{58B43C4E-2ECB-4222-A6F2-6787AA9E4955}"/>
              </a:ext>
            </a:extLst>
          </p:cNvPr>
          <p:cNvSpPr/>
          <p:nvPr/>
        </p:nvSpPr>
        <p:spPr>
          <a:xfrm>
            <a:off x="7019925" y="2492375"/>
            <a:ext cx="1008063" cy="360363"/>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1200" dirty="0"/>
              <a:t>Virtual</a:t>
            </a:r>
          </a:p>
          <a:p>
            <a:pPr algn="ctr" eaLnBrk="1" hangingPunct="1">
              <a:defRPr/>
            </a:pPr>
            <a:r>
              <a:rPr lang="en-US" sz="1200" dirty="0"/>
              <a:t>Machine</a:t>
            </a:r>
            <a:endParaRPr lang="en-IN" sz="1200" dirty="0"/>
          </a:p>
        </p:txBody>
      </p:sp>
      <p:sp>
        <p:nvSpPr>
          <p:cNvPr id="61" name="Flowchart: Magnetic Disk 60">
            <a:extLst>
              <a:ext uri="{FF2B5EF4-FFF2-40B4-BE49-F238E27FC236}">
                <a16:creationId xmlns:a16="http://schemas.microsoft.com/office/drawing/2014/main" id="{A8FCCDF1-A086-4052-A421-D0A0B3D0A83A}"/>
              </a:ext>
            </a:extLst>
          </p:cNvPr>
          <p:cNvSpPr/>
          <p:nvPr/>
        </p:nvSpPr>
        <p:spPr>
          <a:xfrm>
            <a:off x="7885113" y="2420938"/>
            <a:ext cx="863600" cy="398462"/>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1000" dirty="0"/>
              <a:t>Database</a:t>
            </a:r>
            <a:endParaRPr lang="en-IN" sz="1000" dirty="0"/>
          </a:p>
        </p:txBody>
      </p:sp>
      <p:sp>
        <p:nvSpPr>
          <p:cNvPr id="62" name="Cube 61">
            <a:extLst>
              <a:ext uri="{FF2B5EF4-FFF2-40B4-BE49-F238E27FC236}">
                <a16:creationId xmlns:a16="http://schemas.microsoft.com/office/drawing/2014/main" id="{ECEFDCCE-E3BE-4507-BCB9-5F82599F95A8}"/>
              </a:ext>
            </a:extLst>
          </p:cNvPr>
          <p:cNvSpPr/>
          <p:nvPr/>
        </p:nvSpPr>
        <p:spPr>
          <a:xfrm>
            <a:off x="6364288" y="4581525"/>
            <a:ext cx="350837" cy="503238"/>
          </a:xfrm>
          <a:prstGeom prst="cub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63" name="Oval 62">
            <a:extLst>
              <a:ext uri="{FF2B5EF4-FFF2-40B4-BE49-F238E27FC236}">
                <a16:creationId xmlns:a16="http://schemas.microsoft.com/office/drawing/2014/main" id="{2FEE574E-DAFD-467F-B6B4-2B0DB009502C}"/>
              </a:ext>
            </a:extLst>
          </p:cNvPr>
          <p:cNvSpPr/>
          <p:nvPr/>
        </p:nvSpPr>
        <p:spPr>
          <a:xfrm>
            <a:off x="4643438" y="3255963"/>
            <a:ext cx="504825"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64" name="Oval 63">
            <a:extLst>
              <a:ext uri="{FF2B5EF4-FFF2-40B4-BE49-F238E27FC236}">
                <a16:creationId xmlns:a16="http://schemas.microsoft.com/office/drawing/2014/main" id="{A6946B30-632E-4F3E-9424-394DEF60EDC1}"/>
              </a:ext>
            </a:extLst>
          </p:cNvPr>
          <p:cNvSpPr/>
          <p:nvPr/>
        </p:nvSpPr>
        <p:spPr>
          <a:xfrm>
            <a:off x="4859338" y="3327400"/>
            <a:ext cx="504825" cy="144463"/>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65" name="Oval 64">
            <a:extLst>
              <a:ext uri="{FF2B5EF4-FFF2-40B4-BE49-F238E27FC236}">
                <a16:creationId xmlns:a16="http://schemas.microsoft.com/office/drawing/2014/main" id="{05BBE58A-C27A-4A69-A4FC-F9EA42A567E5}"/>
              </a:ext>
            </a:extLst>
          </p:cNvPr>
          <p:cNvSpPr/>
          <p:nvPr/>
        </p:nvSpPr>
        <p:spPr>
          <a:xfrm>
            <a:off x="4716463" y="3759200"/>
            <a:ext cx="503237" cy="144463"/>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66" name="Oval 65">
            <a:extLst>
              <a:ext uri="{FF2B5EF4-FFF2-40B4-BE49-F238E27FC236}">
                <a16:creationId xmlns:a16="http://schemas.microsoft.com/office/drawing/2014/main" id="{C914C43F-8C01-482D-AE66-7837BCA1C159}"/>
              </a:ext>
            </a:extLst>
          </p:cNvPr>
          <p:cNvSpPr/>
          <p:nvPr/>
        </p:nvSpPr>
        <p:spPr>
          <a:xfrm>
            <a:off x="4932363" y="3832225"/>
            <a:ext cx="503237"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67" name="Rounded Rectangle 66">
            <a:extLst>
              <a:ext uri="{FF2B5EF4-FFF2-40B4-BE49-F238E27FC236}">
                <a16:creationId xmlns:a16="http://schemas.microsoft.com/office/drawing/2014/main" id="{52D76684-5250-4EDE-9E37-2B5AFC6F6668}"/>
              </a:ext>
            </a:extLst>
          </p:cNvPr>
          <p:cNvSpPr/>
          <p:nvPr/>
        </p:nvSpPr>
        <p:spPr>
          <a:xfrm>
            <a:off x="4787900" y="3471863"/>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a:t>
            </a:r>
            <a:endParaRPr lang="en-IN" sz="1200" dirty="0"/>
          </a:p>
        </p:txBody>
      </p:sp>
      <p:sp>
        <p:nvSpPr>
          <p:cNvPr id="68" name="Rounded Rectangle 67">
            <a:extLst>
              <a:ext uri="{FF2B5EF4-FFF2-40B4-BE49-F238E27FC236}">
                <a16:creationId xmlns:a16="http://schemas.microsoft.com/office/drawing/2014/main" id="{A2426B21-B397-49DC-89D7-B3034CCE5DC2}"/>
              </a:ext>
            </a:extLst>
          </p:cNvPr>
          <p:cNvSpPr/>
          <p:nvPr/>
        </p:nvSpPr>
        <p:spPr>
          <a:xfrm>
            <a:off x="4940300" y="3975100"/>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B</a:t>
            </a:r>
            <a:endParaRPr lang="en-IN" sz="1200" dirty="0"/>
          </a:p>
        </p:txBody>
      </p:sp>
      <p:sp>
        <p:nvSpPr>
          <p:cNvPr id="69" name="Oval 68">
            <a:extLst>
              <a:ext uri="{FF2B5EF4-FFF2-40B4-BE49-F238E27FC236}">
                <a16:creationId xmlns:a16="http://schemas.microsoft.com/office/drawing/2014/main" id="{37C97DEC-41E8-48B3-A0E8-11102CB575D4}"/>
              </a:ext>
            </a:extLst>
          </p:cNvPr>
          <p:cNvSpPr/>
          <p:nvPr/>
        </p:nvSpPr>
        <p:spPr>
          <a:xfrm>
            <a:off x="7235825" y="3255963"/>
            <a:ext cx="855663" cy="719137"/>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70" name="Flowchart: Magnetic Disk 69">
            <a:extLst>
              <a:ext uri="{FF2B5EF4-FFF2-40B4-BE49-F238E27FC236}">
                <a16:creationId xmlns:a16="http://schemas.microsoft.com/office/drawing/2014/main" id="{9ED48959-E3DF-4727-9B20-FC1B69CFD9A3}"/>
              </a:ext>
            </a:extLst>
          </p:cNvPr>
          <p:cNvSpPr/>
          <p:nvPr/>
        </p:nvSpPr>
        <p:spPr>
          <a:xfrm>
            <a:off x="7948613" y="3040063"/>
            <a:ext cx="792162" cy="431800"/>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71" name="Flowchart: Magnetic Disk 70">
            <a:extLst>
              <a:ext uri="{FF2B5EF4-FFF2-40B4-BE49-F238E27FC236}">
                <a16:creationId xmlns:a16="http://schemas.microsoft.com/office/drawing/2014/main" id="{1BB14CBB-8C27-4AC1-8CA9-FF6DAE236C96}"/>
              </a:ext>
            </a:extLst>
          </p:cNvPr>
          <p:cNvSpPr/>
          <p:nvPr/>
        </p:nvSpPr>
        <p:spPr>
          <a:xfrm>
            <a:off x="7885113" y="3614738"/>
            <a:ext cx="790575" cy="433387"/>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cxnSp>
        <p:nvCxnSpPr>
          <p:cNvPr id="72" name="Straight Connector 71">
            <a:extLst>
              <a:ext uri="{FF2B5EF4-FFF2-40B4-BE49-F238E27FC236}">
                <a16:creationId xmlns:a16="http://schemas.microsoft.com/office/drawing/2014/main" id="{1E592997-3395-4878-A792-777052062A61}"/>
              </a:ext>
            </a:extLst>
          </p:cNvPr>
          <p:cNvCxnSpPr/>
          <p:nvPr/>
        </p:nvCxnSpPr>
        <p:spPr>
          <a:xfrm>
            <a:off x="5148263" y="3398838"/>
            <a:ext cx="2160587"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FAF900A-DD6C-432B-8D4A-D8D3EE2BC823}"/>
              </a:ext>
            </a:extLst>
          </p:cNvPr>
          <p:cNvCxnSpPr/>
          <p:nvPr/>
        </p:nvCxnSpPr>
        <p:spPr>
          <a:xfrm>
            <a:off x="5292725" y="3903663"/>
            <a:ext cx="2087563"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sp>
        <p:nvSpPr>
          <p:cNvPr id="74" name="Cube 73">
            <a:extLst>
              <a:ext uri="{FF2B5EF4-FFF2-40B4-BE49-F238E27FC236}">
                <a16:creationId xmlns:a16="http://schemas.microsoft.com/office/drawing/2014/main" id="{E6532174-1203-4F80-8DA3-F63D496CC53A}"/>
              </a:ext>
            </a:extLst>
          </p:cNvPr>
          <p:cNvSpPr/>
          <p:nvPr/>
        </p:nvSpPr>
        <p:spPr>
          <a:xfrm>
            <a:off x="7443788" y="3327400"/>
            <a:ext cx="352425" cy="504825"/>
          </a:xfrm>
          <a:prstGeom prst="cub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graphicFrame>
        <p:nvGraphicFramePr>
          <p:cNvPr id="87" name="Table 86">
            <a:extLst>
              <a:ext uri="{FF2B5EF4-FFF2-40B4-BE49-F238E27FC236}">
                <a16:creationId xmlns:a16="http://schemas.microsoft.com/office/drawing/2014/main" id="{7AEE9415-D783-45A3-A97A-56DEF87DA0A6}"/>
              </a:ext>
            </a:extLst>
          </p:cNvPr>
          <p:cNvGraphicFramePr>
            <a:graphicFrameLocks noGrp="1"/>
          </p:cNvGraphicFramePr>
          <p:nvPr/>
        </p:nvGraphicFramePr>
        <p:xfrm>
          <a:off x="7596188" y="4365625"/>
          <a:ext cx="625476" cy="466728"/>
        </p:xfrm>
        <a:graphic>
          <a:graphicData uri="http://schemas.openxmlformats.org/drawingml/2006/table">
            <a:tbl>
              <a:tblPr firstRow="1" bandRow="1">
                <a:tableStyleId>{5C22544A-7EE6-4342-B048-85BDC9FD1C3A}</a:tableStyleId>
              </a:tblPr>
              <a:tblGrid>
                <a:gridCol w="208492">
                  <a:extLst>
                    <a:ext uri="{9D8B030D-6E8A-4147-A177-3AD203B41FA5}">
                      <a16:colId xmlns:a16="http://schemas.microsoft.com/office/drawing/2014/main" val="20000"/>
                    </a:ext>
                  </a:extLst>
                </a:gridCol>
                <a:gridCol w="208492">
                  <a:extLst>
                    <a:ext uri="{9D8B030D-6E8A-4147-A177-3AD203B41FA5}">
                      <a16:colId xmlns:a16="http://schemas.microsoft.com/office/drawing/2014/main" val="20001"/>
                    </a:ext>
                  </a:extLst>
                </a:gridCol>
                <a:gridCol w="208492">
                  <a:extLst>
                    <a:ext uri="{9D8B030D-6E8A-4147-A177-3AD203B41FA5}">
                      <a16:colId xmlns:a16="http://schemas.microsoft.com/office/drawing/2014/main" val="20002"/>
                    </a:ext>
                  </a:extLst>
                </a:gridCol>
              </a:tblGrid>
              <a:tr h="0">
                <a:tc>
                  <a:txBody>
                    <a:bodyPr/>
                    <a:lstStyle/>
                    <a:p>
                      <a:endParaRPr lang="en-IN" sz="100" dirty="0"/>
                    </a:p>
                  </a:txBody>
                  <a:tcPr marL="91533" marR="91533" marT="45641" marB="45641"/>
                </a:tc>
                <a:tc>
                  <a:txBody>
                    <a:bodyPr/>
                    <a:lstStyle/>
                    <a:p>
                      <a:endParaRPr lang="en-IN" sz="100"/>
                    </a:p>
                  </a:txBody>
                  <a:tcPr marL="91533" marR="91533" marT="45641" marB="45641"/>
                </a:tc>
                <a:tc>
                  <a:txBody>
                    <a:bodyPr/>
                    <a:lstStyle/>
                    <a:p>
                      <a:endParaRPr lang="en-IN" sz="100"/>
                    </a:p>
                  </a:txBody>
                  <a:tcPr marL="91533" marR="91533" marT="45641" marB="45641"/>
                </a:tc>
                <a:extLst>
                  <a:ext uri="{0D108BD9-81ED-4DB2-BD59-A6C34878D82A}">
                    <a16:rowId xmlns:a16="http://schemas.microsoft.com/office/drawing/2014/main" val="10000"/>
                  </a:ext>
                </a:extLst>
              </a:tr>
              <a:tr h="0">
                <a:tc>
                  <a:txBody>
                    <a:bodyPr/>
                    <a:lstStyle/>
                    <a:p>
                      <a:endParaRPr lang="en-IN" sz="100"/>
                    </a:p>
                  </a:txBody>
                  <a:tcPr marL="91533" marR="91533" marT="45641" marB="45641"/>
                </a:tc>
                <a:tc>
                  <a:txBody>
                    <a:bodyPr/>
                    <a:lstStyle/>
                    <a:p>
                      <a:endParaRPr lang="en-IN" sz="100"/>
                    </a:p>
                  </a:txBody>
                  <a:tcPr marL="91533" marR="91533" marT="45641" marB="45641"/>
                </a:tc>
                <a:tc>
                  <a:txBody>
                    <a:bodyPr/>
                    <a:lstStyle/>
                    <a:p>
                      <a:endParaRPr lang="en-IN" sz="100"/>
                    </a:p>
                  </a:txBody>
                  <a:tcPr marL="91533" marR="91533" marT="45641" marB="45641"/>
                </a:tc>
                <a:extLst>
                  <a:ext uri="{0D108BD9-81ED-4DB2-BD59-A6C34878D82A}">
                    <a16:rowId xmlns:a16="http://schemas.microsoft.com/office/drawing/2014/main" val="10001"/>
                  </a:ext>
                </a:extLst>
              </a:tr>
              <a:tr h="0">
                <a:tc>
                  <a:txBody>
                    <a:bodyPr/>
                    <a:lstStyle/>
                    <a:p>
                      <a:endParaRPr lang="en-IN" sz="100"/>
                    </a:p>
                  </a:txBody>
                  <a:tcPr marL="91533" marR="91533" marT="45641" marB="45641"/>
                </a:tc>
                <a:tc>
                  <a:txBody>
                    <a:bodyPr/>
                    <a:lstStyle/>
                    <a:p>
                      <a:endParaRPr lang="en-IN" sz="100"/>
                    </a:p>
                  </a:txBody>
                  <a:tcPr marL="91533" marR="91533" marT="45641" marB="45641"/>
                </a:tc>
                <a:tc>
                  <a:txBody>
                    <a:bodyPr/>
                    <a:lstStyle/>
                    <a:p>
                      <a:endParaRPr lang="en-IN" sz="100"/>
                    </a:p>
                  </a:txBody>
                  <a:tcPr marL="91533" marR="91533" marT="45641" marB="45641"/>
                </a:tc>
                <a:extLst>
                  <a:ext uri="{0D108BD9-81ED-4DB2-BD59-A6C34878D82A}">
                    <a16:rowId xmlns:a16="http://schemas.microsoft.com/office/drawing/2014/main" val="10002"/>
                  </a:ext>
                </a:extLst>
              </a:tr>
              <a:tr h="0">
                <a:tc>
                  <a:txBody>
                    <a:bodyPr/>
                    <a:lstStyle/>
                    <a:p>
                      <a:endParaRPr lang="en-IN" sz="100"/>
                    </a:p>
                  </a:txBody>
                  <a:tcPr marL="91533" marR="91533" marT="45641" marB="45641"/>
                </a:tc>
                <a:tc>
                  <a:txBody>
                    <a:bodyPr/>
                    <a:lstStyle/>
                    <a:p>
                      <a:endParaRPr lang="en-IN" sz="100"/>
                    </a:p>
                  </a:txBody>
                  <a:tcPr marL="91533" marR="91533" marT="45641" marB="45641"/>
                </a:tc>
                <a:tc>
                  <a:txBody>
                    <a:bodyPr/>
                    <a:lstStyle/>
                    <a:p>
                      <a:endParaRPr lang="en-IN" sz="100" dirty="0"/>
                    </a:p>
                  </a:txBody>
                  <a:tcPr marL="91533" marR="91533" marT="45641" marB="45641"/>
                </a:tc>
                <a:extLst>
                  <a:ext uri="{0D108BD9-81ED-4DB2-BD59-A6C34878D82A}">
                    <a16:rowId xmlns:a16="http://schemas.microsoft.com/office/drawing/2014/main" val="10003"/>
                  </a:ext>
                </a:extLst>
              </a:tr>
            </a:tbl>
          </a:graphicData>
        </a:graphic>
      </p:graphicFrame>
      <p:graphicFrame>
        <p:nvGraphicFramePr>
          <p:cNvPr id="88" name="Table 87">
            <a:extLst>
              <a:ext uri="{FF2B5EF4-FFF2-40B4-BE49-F238E27FC236}">
                <a16:creationId xmlns:a16="http://schemas.microsoft.com/office/drawing/2014/main" id="{04832A6A-7F80-4AF9-9906-F56EF695A654}"/>
              </a:ext>
            </a:extLst>
          </p:cNvPr>
          <p:cNvGraphicFramePr>
            <a:graphicFrameLocks noGrp="1"/>
          </p:cNvGraphicFramePr>
          <p:nvPr/>
        </p:nvGraphicFramePr>
        <p:xfrm>
          <a:off x="7748588" y="4518025"/>
          <a:ext cx="671511" cy="466728"/>
        </p:xfrm>
        <a:graphic>
          <a:graphicData uri="http://schemas.openxmlformats.org/drawingml/2006/table">
            <a:tbl>
              <a:tblPr firstRow="1" bandRow="1">
                <a:tableStyleId>{5C22544A-7EE6-4342-B048-85BDC9FD1C3A}</a:tableStyleId>
              </a:tblPr>
              <a:tblGrid>
                <a:gridCol w="223837">
                  <a:extLst>
                    <a:ext uri="{9D8B030D-6E8A-4147-A177-3AD203B41FA5}">
                      <a16:colId xmlns:a16="http://schemas.microsoft.com/office/drawing/2014/main" val="20000"/>
                    </a:ext>
                  </a:extLst>
                </a:gridCol>
                <a:gridCol w="223837">
                  <a:extLst>
                    <a:ext uri="{9D8B030D-6E8A-4147-A177-3AD203B41FA5}">
                      <a16:colId xmlns:a16="http://schemas.microsoft.com/office/drawing/2014/main" val="20001"/>
                    </a:ext>
                  </a:extLst>
                </a:gridCol>
                <a:gridCol w="223837">
                  <a:extLst>
                    <a:ext uri="{9D8B030D-6E8A-4147-A177-3AD203B41FA5}">
                      <a16:colId xmlns:a16="http://schemas.microsoft.com/office/drawing/2014/main" val="20002"/>
                    </a:ext>
                  </a:extLst>
                </a:gridCol>
              </a:tblGrid>
              <a:tr h="0">
                <a:tc>
                  <a:txBody>
                    <a:bodyPr/>
                    <a:lstStyle/>
                    <a:p>
                      <a:endParaRPr lang="en-IN" sz="100" dirty="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0"/>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1"/>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2"/>
                  </a:ext>
                </a:extLst>
              </a:tr>
              <a:tr h="0">
                <a:tc>
                  <a:txBody>
                    <a:bodyPr/>
                    <a:lstStyle/>
                    <a:p>
                      <a:endParaRPr lang="en-IN" sz="100" dirty="0"/>
                    </a:p>
                  </a:txBody>
                  <a:tcPr marL="91410" marR="91410" marT="45641" marB="45641"/>
                </a:tc>
                <a:tc>
                  <a:txBody>
                    <a:bodyPr/>
                    <a:lstStyle/>
                    <a:p>
                      <a:endParaRPr lang="en-IN" sz="100"/>
                    </a:p>
                  </a:txBody>
                  <a:tcPr marL="91410" marR="91410" marT="45641" marB="45641"/>
                </a:tc>
                <a:tc>
                  <a:txBody>
                    <a:bodyPr/>
                    <a:lstStyle/>
                    <a:p>
                      <a:endParaRPr lang="en-IN" sz="100" dirty="0"/>
                    </a:p>
                  </a:txBody>
                  <a:tcPr marL="91410" marR="91410" marT="45641" marB="45641"/>
                </a:tc>
                <a:extLst>
                  <a:ext uri="{0D108BD9-81ED-4DB2-BD59-A6C34878D82A}">
                    <a16:rowId xmlns:a16="http://schemas.microsoft.com/office/drawing/2014/main" val="10003"/>
                  </a:ext>
                </a:extLst>
              </a:tr>
            </a:tbl>
          </a:graphicData>
        </a:graphic>
      </p:graphicFrame>
      <p:graphicFrame>
        <p:nvGraphicFramePr>
          <p:cNvPr id="89" name="Table 88">
            <a:extLst>
              <a:ext uri="{FF2B5EF4-FFF2-40B4-BE49-F238E27FC236}">
                <a16:creationId xmlns:a16="http://schemas.microsoft.com/office/drawing/2014/main" id="{B496AE54-741D-4FA7-9BA5-54F8688AFB1F}"/>
              </a:ext>
            </a:extLst>
          </p:cNvPr>
          <p:cNvGraphicFramePr>
            <a:graphicFrameLocks noGrp="1"/>
          </p:cNvGraphicFramePr>
          <p:nvPr/>
        </p:nvGraphicFramePr>
        <p:xfrm>
          <a:off x="7164388" y="4941888"/>
          <a:ext cx="671511" cy="466728"/>
        </p:xfrm>
        <a:graphic>
          <a:graphicData uri="http://schemas.openxmlformats.org/drawingml/2006/table">
            <a:tbl>
              <a:tblPr firstRow="1" bandRow="1">
                <a:tableStyleId>{5C22544A-7EE6-4342-B048-85BDC9FD1C3A}</a:tableStyleId>
              </a:tblPr>
              <a:tblGrid>
                <a:gridCol w="223837">
                  <a:extLst>
                    <a:ext uri="{9D8B030D-6E8A-4147-A177-3AD203B41FA5}">
                      <a16:colId xmlns:a16="http://schemas.microsoft.com/office/drawing/2014/main" val="20000"/>
                    </a:ext>
                  </a:extLst>
                </a:gridCol>
                <a:gridCol w="223837">
                  <a:extLst>
                    <a:ext uri="{9D8B030D-6E8A-4147-A177-3AD203B41FA5}">
                      <a16:colId xmlns:a16="http://schemas.microsoft.com/office/drawing/2014/main" val="20001"/>
                    </a:ext>
                  </a:extLst>
                </a:gridCol>
                <a:gridCol w="223837">
                  <a:extLst>
                    <a:ext uri="{9D8B030D-6E8A-4147-A177-3AD203B41FA5}">
                      <a16:colId xmlns:a16="http://schemas.microsoft.com/office/drawing/2014/main" val="20002"/>
                    </a:ext>
                  </a:extLst>
                </a:gridCol>
              </a:tblGrid>
              <a:tr h="0">
                <a:tc>
                  <a:txBody>
                    <a:bodyPr/>
                    <a:lstStyle/>
                    <a:p>
                      <a:endParaRPr lang="en-IN" sz="100" dirty="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0"/>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1"/>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2"/>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dirty="0"/>
                    </a:p>
                  </a:txBody>
                  <a:tcPr marL="91410" marR="91410" marT="45641" marB="45641"/>
                </a:tc>
                <a:extLst>
                  <a:ext uri="{0D108BD9-81ED-4DB2-BD59-A6C34878D82A}">
                    <a16:rowId xmlns:a16="http://schemas.microsoft.com/office/drawing/2014/main" val="10003"/>
                  </a:ext>
                </a:extLst>
              </a:tr>
            </a:tbl>
          </a:graphicData>
        </a:graphic>
      </p:graphicFrame>
      <p:graphicFrame>
        <p:nvGraphicFramePr>
          <p:cNvPr id="90" name="Table 89">
            <a:extLst>
              <a:ext uri="{FF2B5EF4-FFF2-40B4-BE49-F238E27FC236}">
                <a16:creationId xmlns:a16="http://schemas.microsoft.com/office/drawing/2014/main" id="{A8443CFF-D189-4423-AFFF-E4E9883EA8EC}"/>
              </a:ext>
            </a:extLst>
          </p:cNvPr>
          <p:cNvGraphicFramePr>
            <a:graphicFrameLocks noGrp="1"/>
          </p:cNvGraphicFramePr>
          <p:nvPr/>
        </p:nvGraphicFramePr>
        <p:xfrm>
          <a:off x="7451725" y="5049838"/>
          <a:ext cx="671514" cy="466728"/>
        </p:xfrm>
        <a:graphic>
          <a:graphicData uri="http://schemas.openxmlformats.org/drawingml/2006/table">
            <a:tbl>
              <a:tblPr firstRow="1" bandRow="1">
                <a:tableStyleId>{5C22544A-7EE6-4342-B048-85BDC9FD1C3A}</a:tableStyleId>
              </a:tblPr>
              <a:tblGrid>
                <a:gridCol w="223838">
                  <a:extLst>
                    <a:ext uri="{9D8B030D-6E8A-4147-A177-3AD203B41FA5}">
                      <a16:colId xmlns:a16="http://schemas.microsoft.com/office/drawing/2014/main" val="20000"/>
                    </a:ext>
                  </a:extLst>
                </a:gridCol>
                <a:gridCol w="223838">
                  <a:extLst>
                    <a:ext uri="{9D8B030D-6E8A-4147-A177-3AD203B41FA5}">
                      <a16:colId xmlns:a16="http://schemas.microsoft.com/office/drawing/2014/main" val="20001"/>
                    </a:ext>
                  </a:extLst>
                </a:gridCol>
                <a:gridCol w="223838">
                  <a:extLst>
                    <a:ext uri="{9D8B030D-6E8A-4147-A177-3AD203B41FA5}">
                      <a16:colId xmlns:a16="http://schemas.microsoft.com/office/drawing/2014/main" val="20002"/>
                    </a:ext>
                  </a:extLst>
                </a:gridCol>
              </a:tblGrid>
              <a:tr h="0">
                <a:tc>
                  <a:txBody>
                    <a:bodyPr/>
                    <a:lstStyle/>
                    <a:p>
                      <a:endParaRPr lang="en-IN" sz="100" dirty="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0"/>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1"/>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a:p>
                  </a:txBody>
                  <a:tcPr marL="91410" marR="91410" marT="45641" marB="45641"/>
                </a:tc>
                <a:extLst>
                  <a:ext uri="{0D108BD9-81ED-4DB2-BD59-A6C34878D82A}">
                    <a16:rowId xmlns:a16="http://schemas.microsoft.com/office/drawing/2014/main" val="10002"/>
                  </a:ext>
                </a:extLst>
              </a:tr>
              <a:tr h="0">
                <a:tc>
                  <a:txBody>
                    <a:bodyPr/>
                    <a:lstStyle/>
                    <a:p>
                      <a:endParaRPr lang="en-IN" sz="100"/>
                    </a:p>
                  </a:txBody>
                  <a:tcPr marL="91410" marR="91410" marT="45641" marB="45641"/>
                </a:tc>
                <a:tc>
                  <a:txBody>
                    <a:bodyPr/>
                    <a:lstStyle/>
                    <a:p>
                      <a:endParaRPr lang="en-IN" sz="100"/>
                    </a:p>
                  </a:txBody>
                  <a:tcPr marL="91410" marR="91410" marT="45641" marB="45641"/>
                </a:tc>
                <a:tc>
                  <a:txBody>
                    <a:bodyPr/>
                    <a:lstStyle/>
                    <a:p>
                      <a:endParaRPr lang="en-IN" sz="100" dirty="0"/>
                    </a:p>
                  </a:txBody>
                  <a:tcPr marL="91410" marR="91410" marT="45641" marB="45641"/>
                </a:tc>
                <a:extLst>
                  <a:ext uri="{0D108BD9-81ED-4DB2-BD59-A6C34878D82A}">
                    <a16:rowId xmlns:a16="http://schemas.microsoft.com/office/drawing/2014/main" val="10003"/>
                  </a:ext>
                </a:extLst>
              </a:tr>
            </a:tbl>
          </a:graphicData>
        </a:graphic>
      </p:graphicFrame>
      <p:sp>
        <p:nvSpPr>
          <p:cNvPr id="91" name="Oval 90">
            <a:extLst>
              <a:ext uri="{FF2B5EF4-FFF2-40B4-BE49-F238E27FC236}">
                <a16:creationId xmlns:a16="http://schemas.microsoft.com/office/drawing/2014/main" id="{86D745C8-73C2-4D01-B290-798DE1E94846}"/>
              </a:ext>
            </a:extLst>
          </p:cNvPr>
          <p:cNvSpPr/>
          <p:nvPr/>
        </p:nvSpPr>
        <p:spPr>
          <a:xfrm>
            <a:off x="4516438" y="5661025"/>
            <a:ext cx="504825" cy="144463"/>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92" name="Oval 91">
            <a:extLst>
              <a:ext uri="{FF2B5EF4-FFF2-40B4-BE49-F238E27FC236}">
                <a16:creationId xmlns:a16="http://schemas.microsoft.com/office/drawing/2014/main" id="{429CC1C1-4B59-4FDC-9B4C-F4DB36FA08CA}"/>
              </a:ext>
            </a:extLst>
          </p:cNvPr>
          <p:cNvSpPr/>
          <p:nvPr/>
        </p:nvSpPr>
        <p:spPr>
          <a:xfrm>
            <a:off x="4732338" y="5732463"/>
            <a:ext cx="504825"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93" name="Oval 92">
            <a:extLst>
              <a:ext uri="{FF2B5EF4-FFF2-40B4-BE49-F238E27FC236}">
                <a16:creationId xmlns:a16="http://schemas.microsoft.com/office/drawing/2014/main" id="{8BC43FB1-E90D-446A-8437-5A49D344D327}"/>
              </a:ext>
            </a:extLst>
          </p:cNvPr>
          <p:cNvSpPr/>
          <p:nvPr/>
        </p:nvSpPr>
        <p:spPr>
          <a:xfrm>
            <a:off x="4589463" y="6381750"/>
            <a:ext cx="503237" cy="14287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94" name="Oval 93">
            <a:extLst>
              <a:ext uri="{FF2B5EF4-FFF2-40B4-BE49-F238E27FC236}">
                <a16:creationId xmlns:a16="http://schemas.microsoft.com/office/drawing/2014/main" id="{CB748194-765B-43AC-A3A1-BEB6F83035A5}"/>
              </a:ext>
            </a:extLst>
          </p:cNvPr>
          <p:cNvSpPr/>
          <p:nvPr/>
        </p:nvSpPr>
        <p:spPr>
          <a:xfrm>
            <a:off x="4805363" y="6453188"/>
            <a:ext cx="503237" cy="144462"/>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dirty="0"/>
          </a:p>
          <a:p>
            <a:pPr algn="ctr" eaLnBrk="1" hangingPunct="1">
              <a:defRPr/>
            </a:pPr>
            <a:endParaRPr lang="en-IN" dirty="0"/>
          </a:p>
        </p:txBody>
      </p:sp>
      <p:sp>
        <p:nvSpPr>
          <p:cNvPr id="95" name="Rounded Rectangle 94">
            <a:extLst>
              <a:ext uri="{FF2B5EF4-FFF2-40B4-BE49-F238E27FC236}">
                <a16:creationId xmlns:a16="http://schemas.microsoft.com/office/drawing/2014/main" id="{E16DBA39-5449-4487-BC8A-F8D02AA396B1}"/>
              </a:ext>
            </a:extLst>
          </p:cNvPr>
          <p:cNvSpPr/>
          <p:nvPr/>
        </p:nvSpPr>
        <p:spPr>
          <a:xfrm>
            <a:off x="4660900" y="5876925"/>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a:t>
            </a:r>
            <a:endParaRPr lang="en-IN" sz="1200" dirty="0"/>
          </a:p>
        </p:txBody>
      </p:sp>
      <p:sp>
        <p:nvSpPr>
          <p:cNvPr id="96" name="Rounded Rectangle 95">
            <a:extLst>
              <a:ext uri="{FF2B5EF4-FFF2-40B4-BE49-F238E27FC236}">
                <a16:creationId xmlns:a16="http://schemas.microsoft.com/office/drawing/2014/main" id="{210179E9-DFAD-4A7B-B3FF-DD34EAA6E486}"/>
              </a:ext>
            </a:extLst>
          </p:cNvPr>
          <p:cNvSpPr/>
          <p:nvPr/>
        </p:nvSpPr>
        <p:spPr>
          <a:xfrm>
            <a:off x="4813300" y="6597650"/>
            <a:ext cx="1071563"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B</a:t>
            </a:r>
            <a:endParaRPr lang="en-IN" sz="1200" dirty="0"/>
          </a:p>
        </p:txBody>
      </p:sp>
      <p:sp>
        <p:nvSpPr>
          <p:cNvPr id="97" name="Oval 96">
            <a:extLst>
              <a:ext uri="{FF2B5EF4-FFF2-40B4-BE49-F238E27FC236}">
                <a16:creationId xmlns:a16="http://schemas.microsoft.com/office/drawing/2014/main" id="{BC76A06C-102B-44FB-8D9E-C2379E6BFE81}"/>
              </a:ext>
            </a:extLst>
          </p:cNvPr>
          <p:cNvSpPr/>
          <p:nvPr/>
        </p:nvSpPr>
        <p:spPr>
          <a:xfrm>
            <a:off x="6308725" y="5805488"/>
            <a:ext cx="855663" cy="719137"/>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sp>
        <p:nvSpPr>
          <p:cNvPr id="98" name="Flowchart: Magnetic Disk 97">
            <a:extLst>
              <a:ext uri="{FF2B5EF4-FFF2-40B4-BE49-F238E27FC236}">
                <a16:creationId xmlns:a16="http://schemas.microsoft.com/office/drawing/2014/main" id="{DCA72CA3-0938-4FB9-9250-B5D1A70C70A8}"/>
              </a:ext>
            </a:extLst>
          </p:cNvPr>
          <p:cNvSpPr/>
          <p:nvPr/>
        </p:nvSpPr>
        <p:spPr>
          <a:xfrm>
            <a:off x="6884988" y="5732463"/>
            <a:ext cx="792162" cy="433387"/>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cxnSp>
        <p:nvCxnSpPr>
          <p:cNvPr id="99" name="Straight Connector 98">
            <a:extLst>
              <a:ext uri="{FF2B5EF4-FFF2-40B4-BE49-F238E27FC236}">
                <a16:creationId xmlns:a16="http://schemas.microsoft.com/office/drawing/2014/main" id="{ADBA0E87-49EF-4A6E-995E-B96421CADCE2}"/>
              </a:ext>
            </a:extLst>
          </p:cNvPr>
          <p:cNvCxnSpPr/>
          <p:nvPr/>
        </p:nvCxnSpPr>
        <p:spPr>
          <a:xfrm>
            <a:off x="4868863" y="5661025"/>
            <a:ext cx="2943225" cy="504825"/>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5C7DE92-E159-41FA-B6C1-A46767DB1A49}"/>
              </a:ext>
            </a:extLst>
          </p:cNvPr>
          <p:cNvCxnSpPr/>
          <p:nvPr/>
        </p:nvCxnSpPr>
        <p:spPr>
          <a:xfrm>
            <a:off x="5165725" y="6597650"/>
            <a:ext cx="2700338" cy="0"/>
          </a:xfrm>
          <a:prstGeom prst="line">
            <a:avLst/>
          </a:prstGeom>
          <a:ln w="15875">
            <a:tailEnd type="none"/>
          </a:ln>
        </p:spPr>
        <p:style>
          <a:lnRef idx="1">
            <a:schemeClr val="accent1"/>
          </a:lnRef>
          <a:fillRef idx="0">
            <a:schemeClr val="accent1"/>
          </a:fillRef>
          <a:effectRef idx="0">
            <a:schemeClr val="accent1"/>
          </a:effectRef>
          <a:fontRef idx="minor">
            <a:schemeClr val="tx1"/>
          </a:fontRef>
        </p:style>
      </p:cxnSp>
      <p:sp>
        <p:nvSpPr>
          <p:cNvPr id="101" name="Cube 100">
            <a:extLst>
              <a:ext uri="{FF2B5EF4-FFF2-40B4-BE49-F238E27FC236}">
                <a16:creationId xmlns:a16="http://schemas.microsoft.com/office/drawing/2014/main" id="{B50A26B1-9350-4060-9CC9-9B0144346211}"/>
              </a:ext>
            </a:extLst>
          </p:cNvPr>
          <p:cNvSpPr/>
          <p:nvPr/>
        </p:nvSpPr>
        <p:spPr>
          <a:xfrm>
            <a:off x="6516688" y="5876925"/>
            <a:ext cx="350837" cy="504825"/>
          </a:xfrm>
          <a:prstGeom prst="cube">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IN"/>
          </a:p>
        </p:txBody>
      </p:sp>
      <p:graphicFrame>
        <p:nvGraphicFramePr>
          <p:cNvPr id="104" name="Table 103">
            <a:extLst>
              <a:ext uri="{FF2B5EF4-FFF2-40B4-BE49-F238E27FC236}">
                <a16:creationId xmlns:a16="http://schemas.microsoft.com/office/drawing/2014/main" id="{E13CD6D0-AFD6-42EA-8CA0-D13196C9ACAC}"/>
              </a:ext>
            </a:extLst>
          </p:cNvPr>
          <p:cNvGraphicFramePr>
            <a:graphicFrameLocks noGrp="1"/>
          </p:cNvGraphicFramePr>
          <p:nvPr/>
        </p:nvGraphicFramePr>
        <p:xfrm>
          <a:off x="7788275" y="5868988"/>
          <a:ext cx="815976" cy="720724"/>
        </p:xfrm>
        <a:graphic>
          <a:graphicData uri="http://schemas.openxmlformats.org/drawingml/2006/table">
            <a:tbl>
              <a:tblPr firstRow="1" bandRow="1">
                <a:tableStyleId>{5C22544A-7EE6-4342-B048-85BDC9FD1C3A}</a:tableStyleId>
              </a:tblPr>
              <a:tblGrid>
                <a:gridCol w="271992">
                  <a:extLst>
                    <a:ext uri="{9D8B030D-6E8A-4147-A177-3AD203B41FA5}">
                      <a16:colId xmlns:a16="http://schemas.microsoft.com/office/drawing/2014/main" val="20000"/>
                    </a:ext>
                  </a:extLst>
                </a:gridCol>
                <a:gridCol w="271992">
                  <a:extLst>
                    <a:ext uri="{9D8B030D-6E8A-4147-A177-3AD203B41FA5}">
                      <a16:colId xmlns:a16="http://schemas.microsoft.com/office/drawing/2014/main" val="20001"/>
                    </a:ext>
                  </a:extLst>
                </a:gridCol>
                <a:gridCol w="271992">
                  <a:extLst>
                    <a:ext uri="{9D8B030D-6E8A-4147-A177-3AD203B41FA5}">
                      <a16:colId xmlns:a16="http://schemas.microsoft.com/office/drawing/2014/main" val="20002"/>
                    </a:ext>
                  </a:extLst>
                </a:gridCol>
              </a:tblGrid>
              <a:tr h="180181">
                <a:tc>
                  <a:txBody>
                    <a:bodyPr/>
                    <a:lstStyle/>
                    <a:p>
                      <a:endParaRPr lang="en-IN" sz="100" dirty="0"/>
                    </a:p>
                  </a:txBody>
                  <a:tcPr marL="91465" marR="91465" marT="45761" marB="45761"/>
                </a:tc>
                <a:tc>
                  <a:txBody>
                    <a:bodyPr/>
                    <a:lstStyle/>
                    <a:p>
                      <a:endParaRPr lang="en-IN" sz="100"/>
                    </a:p>
                  </a:txBody>
                  <a:tcPr marL="91465" marR="91465" marT="45761" marB="45761"/>
                </a:tc>
                <a:tc>
                  <a:txBody>
                    <a:bodyPr/>
                    <a:lstStyle/>
                    <a:p>
                      <a:endParaRPr lang="en-IN" sz="100"/>
                    </a:p>
                  </a:txBody>
                  <a:tcPr marL="91465" marR="91465" marT="45761" marB="45761"/>
                </a:tc>
                <a:extLst>
                  <a:ext uri="{0D108BD9-81ED-4DB2-BD59-A6C34878D82A}">
                    <a16:rowId xmlns:a16="http://schemas.microsoft.com/office/drawing/2014/main" val="10000"/>
                  </a:ext>
                </a:extLst>
              </a:tr>
              <a:tr h="180181">
                <a:tc>
                  <a:txBody>
                    <a:bodyPr/>
                    <a:lstStyle/>
                    <a:p>
                      <a:endParaRPr lang="en-IN" sz="100"/>
                    </a:p>
                  </a:txBody>
                  <a:tcPr marL="91465" marR="91465" marT="45761" marB="45761"/>
                </a:tc>
                <a:tc>
                  <a:txBody>
                    <a:bodyPr/>
                    <a:lstStyle/>
                    <a:p>
                      <a:endParaRPr lang="en-IN" sz="100"/>
                    </a:p>
                  </a:txBody>
                  <a:tcPr marL="91465" marR="91465" marT="45761" marB="45761"/>
                </a:tc>
                <a:tc>
                  <a:txBody>
                    <a:bodyPr/>
                    <a:lstStyle/>
                    <a:p>
                      <a:endParaRPr lang="en-IN" sz="100"/>
                    </a:p>
                  </a:txBody>
                  <a:tcPr marL="91465" marR="91465" marT="45761" marB="45761"/>
                </a:tc>
                <a:extLst>
                  <a:ext uri="{0D108BD9-81ED-4DB2-BD59-A6C34878D82A}">
                    <a16:rowId xmlns:a16="http://schemas.microsoft.com/office/drawing/2014/main" val="10001"/>
                  </a:ext>
                </a:extLst>
              </a:tr>
              <a:tr h="180181">
                <a:tc>
                  <a:txBody>
                    <a:bodyPr/>
                    <a:lstStyle/>
                    <a:p>
                      <a:endParaRPr lang="en-IN" sz="100"/>
                    </a:p>
                  </a:txBody>
                  <a:tcPr marL="91465" marR="91465" marT="45761" marB="45761"/>
                </a:tc>
                <a:tc>
                  <a:txBody>
                    <a:bodyPr/>
                    <a:lstStyle/>
                    <a:p>
                      <a:endParaRPr lang="en-IN" sz="100"/>
                    </a:p>
                  </a:txBody>
                  <a:tcPr marL="91465" marR="91465" marT="45761" marB="45761"/>
                </a:tc>
                <a:tc>
                  <a:txBody>
                    <a:bodyPr/>
                    <a:lstStyle/>
                    <a:p>
                      <a:endParaRPr lang="en-IN" sz="100"/>
                    </a:p>
                  </a:txBody>
                  <a:tcPr marL="91465" marR="91465" marT="45761" marB="45761"/>
                </a:tc>
                <a:extLst>
                  <a:ext uri="{0D108BD9-81ED-4DB2-BD59-A6C34878D82A}">
                    <a16:rowId xmlns:a16="http://schemas.microsoft.com/office/drawing/2014/main" val="10002"/>
                  </a:ext>
                </a:extLst>
              </a:tr>
              <a:tr h="180181">
                <a:tc>
                  <a:txBody>
                    <a:bodyPr/>
                    <a:lstStyle/>
                    <a:p>
                      <a:endParaRPr lang="en-IN" sz="100"/>
                    </a:p>
                  </a:txBody>
                  <a:tcPr marL="91465" marR="91465" marT="45761" marB="45761"/>
                </a:tc>
                <a:tc>
                  <a:txBody>
                    <a:bodyPr/>
                    <a:lstStyle/>
                    <a:p>
                      <a:endParaRPr lang="en-IN" sz="100"/>
                    </a:p>
                  </a:txBody>
                  <a:tcPr marL="91465" marR="91465" marT="45761" marB="45761"/>
                </a:tc>
                <a:tc>
                  <a:txBody>
                    <a:bodyPr/>
                    <a:lstStyle/>
                    <a:p>
                      <a:endParaRPr lang="en-IN" sz="100" dirty="0"/>
                    </a:p>
                  </a:txBody>
                  <a:tcPr marL="91465" marR="91465" marT="45761" marB="45761"/>
                </a:tc>
                <a:extLst>
                  <a:ext uri="{0D108BD9-81ED-4DB2-BD59-A6C34878D82A}">
                    <a16:rowId xmlns:a16="http://schemas.microsoft.com/office/drawing/2014/main" val="10003"/>
                  </a:ext>
                </a:extLst>
              </a:tr>
            </a:tbl>
          </a:graphicData>
        </a:graphic>
      </p:graphicFrame>
      <p:graphicFrame>
        <p:nvGraphicFramePr>
          <p:cNvPr id="107" name="Table 106">
            <a:extLst>
              <a:ext uri="{FF2B5EF4-FFF2-40B4-BE49-F238E27FC236}">
                <a16:creationId xmlns:a16="http://schemas.microsoft.com/office/drawing/2014/main" id="{F775A979-59D1-4D1B-856B-E61E9C934C9A}"/>
              </a:ext>
            </a:extLst>
          </p:cNvPr>
          <p:cNvGraphicFramePr>
            <a:graphicFrameLocks noGrp="1"/>
          </p:cNvGraphicFramePr>
          <p:nvPr/>
        </p:nvGraphicFramePr>
        <p:xfrm>
          <a:off x="7932738" y="6021388"/>
          <a:ext cx="815976" cy="720724"/>
        </p:xfrm>
        <a:graphic>
          <a:graphicData uri="http://schemas.openxmlformats.org/drawingml/2006/table">
            <a:tbl>
              <a:tblPr firstRow="1" bandRow="1">
                <a:tableStyleId>{5C22544A-7EE6-4342-B048-85BDC9FD1C3A}</a:tableStyleId>
              </a:tblPr>
              <a:tblGrid>
                <a:gridCol w="271992">
                  <a:extLst>
                    <a:ext uri="{9D8B030D-6E8A-4147-A177-3AD203B41FA5}">
                      <a16:colId xmlns:a16="http://schemas.microsoft.com/office/drawing/2014/main" val="20000"/>
                    </a:ext>
                  </a:extLst>
                </a:gridCol>
                <a:gridCol w="271992">
                  <a:extLst>
                    <a:ext uri="{9D8B030D-6E8A-4147-A177-3AD203B41FA5}">
                      <a16:colId xmlns:a16="http://schemas.microsoft.com/office/drawing/2014/main" val="20001"/>
                    </a:ext>
                  </a:extLst>
                </a:gridCol>
                <a:gridCol w="271992">
                  <a:extLst>
                    <a:ext uri="{9D8B030D-6E8A-4147-A177-3AD203B41FA5}">
                      <a16:colId xmlns:a16="http://schemas.microsoft.com/office/drawing/2014/main" val="20002"/>
                    </a:ext>
                  </a:extLst>
                </a:gridCol>
              </a:tblGrid>
              <a:tr h="180181">
                <a:tc>
                  <a:txBody>
                    <a:bodyPr/>
                    <a:lstStyle/>
                    <a:p>
                      <a:endParaRPr lang="en-IN" sz="100" dirty="0"/>
                    </a:p>
                  </a:txBody>
                  <a:tcPr marL="91465" marR="91465" marT="45761" marB="45761"/>
                </a:tc>
                <a:tc>
                  <a:txBody>
                    <a:bodyPr/>
                    <a:lstStyle/>
                    <a:p>
                      <a:endParaRPr lang="en-IN" sz="100"/>
                    </a:p>
                  </a:txBody>
                  <a:tcPr marL="91465" marR="91465" marT="45761" marB="45761"/>
                </a:tc>
                <a:tc>
                  <a:txBody>
                    <a:bodyPr/>
                    <a:lstStyle/>
                    <a:p>
                      <a:endParaRPr lang="en-IN" sz="100"/>
                    </a:p>
                  </a:txBody>
                  <a:tcPr marL="91465" marR="91465" marT="45761" marB="45761"/>
                </a:tc>
                <a:extLst>
                  <a:ext uri="{0D108BD9-81ED-4DB2-BD59-A6C34878D82A}">
                    <a16:rowId xmlns:a16="http://schemas.microsoft.com/office/drawing/2014/main" val="10000"/>
                  </a:ext>
                </a:extLst>
              </a:tr>
              <a:tr h="180181">
                <a:tc>
                  <a:txBody>
                    <a:bodyPr/>
                    <a:lstStyle/>
                    <a:p>
                      <a:endParaRPr lang="en-IN" sz="100"/>
                    </a:p>
                  </a:txBody>
                  <a:tcPr marL="91465" marR="91465" marT="45761" marB="45761"/>
                </a:tc>
                <a:tc>
                  <a:txBody>
                    <a:bodyPr/>
                    <a:lstStyle/>
                    <a:p>
                      <a:endParaRPr lang="en-IN" sz="100"/>
                    </a:p>
                  </a:txBody>
                  <a:tcPr marL="91465" marR="91465" marT="45761" marB="45761"/>
                </a:tc>
                <a:tc>
                  <a:txBody>
                    <a:bodyPr/>
                    <a:lstStyle/>
                    <a:p>
                      <a:endParaRPr lang="en-IN" sz="100"/>
                    </a:p>
                  </a:txBody>
                  <a:tcPr marL="91465" marR="91465" marT="45761" marB="45761"/>
                </a:tc>
                <a:extLst>
                  <a:ext uri="{0D108BD9-81ED-4DB2-BD59-A6C34878D82A}">
                    <a16:rowId xmlns:a16="http://schemas.microsoft.com/office/drawing/2014/main" val="10001"/>
                  </a:ext>
                </a:extLst>
              </a:tr>
              <a:tr h="180181">
                <a:tc>
                  <a:txBody>
                    <a:bodyPr/>
                    <a:lstStyle/>
                    <a:p>
                      <a:endParaRPr lang="en-IN" sz="100"/>
                    </a:p>
                  </a:txBody>
                  <a:tcPr marL="91465" marR="91465" marT="45761" marB="45761"/>
                </a:tc>
                <a:tc>
                  <a:txBody>
                    <a:bodyPr/>
                    <a:lstStyle/>
                    <a:p>
                      <a:endParaRPr lang="en-IN" sz="100"/>
                    </a:p>
                  </a:txBody>
                  <a:tcPr marL="91465" marR="91465" marT="45761" marB="45761"/>
                </a:tc>
                <a:tc>
                  <a:txBody>
                    <a:bodyPr/>
                    <a:lstStyle/>
                    <a:p>
                      <a:endParaRPr lang="en-IN" sz="100"/>
                    </a:p>
                  </a:txBody>
                  <a:tcPr marL="91465" marR="91465" marT="45761" marB="45761"/>
                </a:tc>
                <a:extLst>
                  <a:ext uri="{0D108BD9-81ED-4DB2-BD59-A6C34878D82A}">
                    <a16:rowId xmlns:a16="http://schemas.microsoft.com/office/drawing/2014/main" val="10002"/>
                  </a:ext>
                </a:extLst>
              </a:tr>
              <a:tr h="180181">
                <a:tc>
                  <a:txBody>
                    <a:bodyPr/>
                    <a:lstStyle/>
                    <a:p>
                      <a:endParaRPr lang="en-IN" sz="100"/>
                    </a:p>
                  </a:txBody>
                  <a:tcPr marL="91465" marR="91465" marT="45761" marB="45761"/>
                </a:tc>
                <a:tc>
                  <a:txBody>
                    <a:bodyPr/>
                    <a:lstStyle/>
                    <a:p>
                      <a:endParaRPr lang="en-IN" sz="100"/>
                    </a:p>
                  </a:txBody>
                  <a:tcPr marL="91465" marR="91465" marT="45761" marB="45761"/>
                </a:tc>
                <a:tc>
                  <a:txBody>
                    <a:bodyPr/>
                    <a:lstStyle/>
                    <a:p>
                      <a:endParaRPr lang="en-IN" sz="100" dirty="0"/>
                    </a:p>
                  </a:txBody>
                  <a:tcPr marL="91465" marR="91465" marT="45761" marB="45761"/>
                </a:tc>
                <a:extLst>
                  <a:ext uri="{0D108BD9-81ED-4DB2-BD59-A6C34878D82A}">
                    <a16:rowId xmlns:a16="http://schemas.microsoft.com/office/drawing/2014/main" val="10003"/>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B95EA-F0BD-470F-AFED-1F0079705510}"/>
              </a:ext>
            </a:extLst>
          </p:cNvPr>
          <p:cNvSpPr>
            <a:spLocks noGrp="1"/>
          </p:cNvSpPr>
          <p:nvPr>
            <p:ph type="ctrTitle"/>
          </p:nvPr>
        </p:nvSpPr>
        <p:spPr>
          <a:xfrm>
            <a:off x="900113" y="260350"/>
            <a:ext cx="7993062" cy="635000"/>
          </a:xfrm>
        </p:spPr>
        <p:txBody>
          <a:bodyPr/>
          <a:lstStyle/>
          <a:p>
            <a:pPr algn="ctr" eaLnBrk="1" fontAlgn="auto" hangingPunct="1">
              <a:spcAft>
                <a:spcPts val="0"/>
              </a:spcAft>
              <a:defRPr/>
            </a:pPr>
            <a:r>
              <a:rPr lang="en-US" sz="2800" dirty="0">
                <a:solidFill>
                  <a:schemeClr val="tx2">
                    <a:satMod val="130000"/>
                  </a:schemeClr>
                </a:solidFill>
              </a:rPr>
              <a:t>Conceptual framework of Software as a Service</a:t>
            </a:r>
            <a:endParaRPr lang="en-IN" sz="2800" dirty="0">
              <a:solidFill>
                <a:schemeClr val="tx2">
                  <a:satMod val="130000"/>
                </a:schemeClr>
              </a:solidFill>
            </a:endParaRPr>
          </a:p>
        </p:txBody>
      </p:sp>
      <p:sp>
        <p:nvSpPr>
          <p:cNvPr id="4" name="Rounded Rectangle 3">
            <a:extLst>
              <a:ext uri="{FF2B5EF4-FFF2-40B4-BE49-F238E27FC236}">
                <a16:creationId xmlns:a16="http://schemas.microsoft.com/office/drawing/2014/main" id="{BA16861A-1EF1-46FA-902D-EDBCE15B391C}"/>
              </a:ext>
            </a:extLst>
          </p:cNvPr>
          <p:cNvSpPr/>
          <p:nvPr/>
        </p:nvSpPr>
        <p:spPr>
          <a:xfrm>
            <a:off x="1116013" y="908050"/>
            <a:ext cx="7777162" cy="6492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eaLnBrk="1" fontAlgn="auto" hangingPunct="1">
              <a:spcBef>
                <a:spcPts val="0"/>
              </a:spcBef>
              <a:spcAft>
                <a:spcPts val="0"/>
              </a:spcAft>
              <a:defRPr/>
            </a:pPr>
            <a:r>
              <a:rPr lang="en-US" dirty="0">
                <a:solidFill>
                  <a:schemeClr val="tx1"/>
                </a:solidFill>
              </a:rPr>
              <a:t>Presentation</a:t>
            </a:r>
            <a:endParaRPr lang="en-IN" dirty="0">
              <a:solidFill>
                <a:schemeClr val="tx1"/>
              </a:solidFill>
            </a:endParaRPr>
          </a:p>
        </p:txBody>
      </p:sp>
      <p:sp>
        <p:nvSpPr>
          <p:cNvPr id="33796" name="Rounded Rectangle 4">
            <a:extLst>
              <a:ext uri="{FF2B5EF4-FFF2-40B4-BE49-F238E27FC236}">
                <a16:creationId xmlns:a16="http://schemas.microsoft.com/office/drawing/2014/main" id="{DBADE453-87E6-4366-97D7-D1C575ED5981}"/>
              </a:ext>
            </a:extLst>
          </p:cNvPr>
          <p:cNvSpPr>
            <a:spLocks noChangeArrowheads="1"/>
          </p:cNvSpPr>
          <p:nvPr/>
        </p:nvSpPr>
        <p:spPr bwMode="auto">
          <a:xfrm>
            <a:off x="2555875" y="1125538"/>
            <a:ext cx="1871663"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Menu and Navigation</a:t>
            </a:r>
            <a:endParaRPr lang="en-IN" altLang="en-US" sz="1400">
              <a:latin typeface="Gill Sans MT" panose="020B0502020104020203" pitchFamily="34" charset="0"/>
            </a:endParaRPr>
          </a:p>
        </p:txBody>
      </p:sp>
      <p:sp>
        <p:nvSpPr>
          <p:cNvPr id="33797" name="Rounded Rectangle 5">
            <a:extLst>
              <a:ext uri="{FF2B5EF4-FFF2-40B4-BE49-F238E27FC236}">
                <a16:creationId xmlns:a16="http://schemas.microsoft.com/office/drawing/2014/main" id="{4FFAC994-59E8-40B0-983A-052379B50253}"/>
              </a:ext>
            </a:extLst>
          </p:cNvPr>
          <p:cNvSpPr>
            <a:spLocks noChangeArrowheads="1"/>
          </p:cNvSpPr>
          <p:nvPr/>
        </p:nvSpPr>
        <p:spPr bwMode="auto">
          <a:xfrm>
            <a:off x="4500563" y="1125538"/>
            <a:ext cx="1295400"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User Controls</a:t>
            </a:r>
            <a:endParaRPr lang="en-IN" altLang="en-US" sz="1400">
              <a:latin typeface="Gill Sans MT" panose="020B0502020104020203" pitchFamily="34" charset="0"/>
            </a:endParaRPr>
          </a:p>
        </p:txBody>
      </p:sp>
      <p:sp>
        <p:nvSpPr>
          <p:cNvPr id="33798" name="Rounded Rectangle 6">
            <a:extLst>
              <a:ext uri="{FF2B5EF4-FFF2-40B4-BE49-F238E27FC236}">
                <a16:creationId xmlns:a16="http://schemas.microsoft.com/office/drawing/2014/main" id="{B073ECCF-E53C-44FA-8546-850DC47D81D9}"/>
              </a:ext>
            </a:extLst>
          </p:cNvPr>
          <p:cNvSpPr>
            <a:spLocks noChangeArrowheads="1"/>
          </p:cNvSpPr>
          <p:nvPr/>
        </p:nvSpPr>
        <p:spPr bwMode="auto">
          <a:xfrm>
            <a:off x="5867400" y="1125538"/>
            <a:ext cx="1873250"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Display and Rendering</a:t>
            </a:r>
            <a:endParaRPr lang="en-IN" altLang="en-US" sz="1400">
              <a:latin typeface="Gill Sans MT" panose="020B0502020104020203" pitchFamily="34" charset="0"/>
            </a:endParaRPr>
          </a:p>
        </p:txBody>
      </p:sp>
      <p:sp>
        <p:nvSpPr>
          <p:cNvPr id="33799" name="Rounded Rectangle 7">
            <a:extLst>
              <a:ext uri="{FF2B5EF4-FFF2-40B4-BE49-F238E27FC236}">
                <a16:creationId xmlns:a16="http://schemas.microsoft.com/office/drawing/2014/main" id="{FE3292F5-6CF8-41B5-8894-083465883E41}"/>
              </a:ext>
            </a:extLst>
          </p:cNvPr>
          <p:cNvSpPr>
            <a:spLocks noChangeArrowheads="1"/>
          </p:cNvSpPr>
          <p:nvPr/>
        </p:nvSpPr>
        <p:spPr bwMode="auto">
          <a:xfrm>
            <a:off x="7812088" y="1125538"/>
            <a:ext cx="1008062"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Reporting</a:t>
            </a:r>
            <a:endParaRPr lang="en-IN" altLang="en-US" sz="1400">
              <a:latin typeface="Gill Sans MT" panose="020B0502020104020203" pitchFamily="34" charset="0"/>
            </a:endParaRPr>
          </a:p>
        </p:txBody>
      </p:sp>
      <p:sp>
        <p:nvSpPr>
          <p:cNvPr id="9" name="Rounded Rectangle 8">
            <a:extLst>
              <a:ext uri="{FF2B5EF4-FFF2-40B4-BE49-F238E27FC236}">
                <a16:creationId xmlns:a16="http://schemas.microsoft.com/office/drawing/2014/main" id="{43959FAD-3319-443B-B7CF-6C5D7A1881C4}"/>
              </a:ext>
            </a:extLst>
          </p:cNvPr>
          <p:cNvSpPr/>
          <p:nvPr/>
        </p:nvSpPr>
        <p:spPr>
          <a:xfrm>
            <a:off x="1116013" y="1628775"/>
            <a:ext cx="2087562" cy="3887788"/>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fontAlgn="auto" hangingPunct="1">
              <a:spcBef>
                <a:spcPts val="0"/>
              </a:spcBef>
              <a:spcAft>
                <a:spcPts val="0"/>
              </a:spcAft>
              <a:defRPr/>
            </a:pPr>
            <a:endParaRPr lang="en-IN" dirty="0"/>
          </a:p>
        </p:txBody>
      </p:sp>
      <p:sp>
        <p:nvSpPr>
          <p:cNvPr id="10" name="Rounded Rectangle 9">
            <a:extLst>
              <a:ext uri="{FF2B5EF4-FFF2-40B4-BE49-F238E27FC236}">
                <a16:creationId xmlns:a16="http://schemas.microsoft.com/office/drawing/2014/main" id="{46ABAE7A-0B0E-4F4F-8E21-689FF539D508}"/>
              </a:ext>
            </a:extLst>
          </p:cNvPr>
          <p:cNvSpPr/>
          <p:nvPr/>
        </p:nvSpPr>
        <p:spPr>
          <a:xfrm>
            <a:off x="1258888" y="1700213"/>
            <a:ext cx="1081087"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Security</a:t>
            </a:r>
            <a:endParaRPr lang="en-IN" dirty="0"/>
          </a:p>
        </p:txBody>
      </p:sp>
      <p:sp>
        <p:nvSpPr>
          <p:cNvPr id="33802" name="Rounded Rectangle 10">
            <a:extLst>
              <a:ext uri="{FF2B5EF4-FFF2-40B4-BE49-F238E27FC236}">
                <a16:creationId xmlns:a16="http://schemas.microsoft.com/office/drawing/2014/main" id="{FB125737-0D83-44DE-B635-9BA66995D167}"/>
              </a:ext>
            </a:extLst>
          </p:cNvPr>
          <p:cNvSpPr>
            <a:spLocks noChangeArrowheads="1"/>
          </p:cNvSpPr>
          <p:nvPr/>
        </p:nvSpPr>
        <p:spPr bwMode="auto">
          <a:xfrm>
            <a:off x="1258888" y="2060575"/>
            <a:ext cx="1873250" cy="50482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Identity and federation</a:t>
            </a:r>
            <a:endParaRPr lang="en-IN" altLang="en-US" sz="1400">
              <a:latin typeface="Gill Sans MT" panose="020B0502020104020203" pitchFamily="34" charset="0"/>
            </a:endParaRPr>
          </a:p>
        </p:txBody>
      </p:sp>
      <p:sp>
        <p:nvSpPr>
          <p:cNvPr id="33803" name="Rounded Rectangle 11">
            <a:extLst>
              <a:ext uri="{FF2B5EF4-FFF2-40B4-BE49-F238E27FC236}">
                <a16:creationId xmlns:a16="http://schemas.microsoft.com/office/drawing/2014/main" id="{05D4B96E-229E-41EA-A953-AAAEA944590D}"/>
              </a:ext>
            </a:extLst>
          </p:cNvPr>
          <p:cNvSpPr>
            <a:spLocks noChangeArrowheads="1"/>
          </p:cNvSpPr>
          <p:nvPr/>
        </p:nvSpPr>
        <p:spPr bwMode="auto">
          <a:xfrm>
            <a:off x="1258888" y="2636838"/>
            <a:ext cx="1873250" cy="576262"/>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Authentication and Single Sign on</a:t>
            </a:r>
            <a:endParaRPr lang="en-IN" altLang="en-US" sz="1400">
              <a:latin typeface="Gill Sans MT" panose="020B0502020104020203" pitchFamily="34" charset="0"/>
            </a:endParaRPr>
          </a:p>
        </p:txBody>
      </p:sp>
      <p:sp>
        <p:nvSpPr>
          <p:cNvPr id="33804" name="Rounded Rectangle 12">
            <a:extLst>
              <a:ext uri="{FF2B5EF4-FFF2-40B4-BE49-F238E27FC236}">
                <a16:creationId xmlns:a16="http://schemas.microsoft.com/office/drawing/2014/main" id="{44D6A8F1-FEF8-44EB-BC75-4DEE9C72734F}"/>
              </a:ext>
            </a:extLst>
          </p:cNvPr>
          <p:cNvSpPr>
            <a:spLocks noChangeArrowheads="1"/>
          </p:cNvSpPr>
          <p:nvPr/>
        </p:nvSpPr>
        <p:spPr bwMode="auto">
          <a:xfrm>
            <a:off x="1258888" y="3357563"/>
            <a:ext cx="1800225" cy="6477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Authorization and Role-based Access Control</a:t>
            </a:r>
            <a:endParaRPr lang="en-IN" altLang="en-US" sz="1400">
              <a:latin typeface="Gill Sans MT" panose="020B0502020104020203" pitchFamily="34" charset="0"/>
            </a:endParaRPr>
          </a:p>
        </p:txBody>
      </p:sp>
      <p:sp>
        <p:nvSpPr>
          <p:cNvPr id="33805" name="Rounded Rectangle 13">
            <a:extLst>
              <a:ext uri="{FF2B5EF4-FFF2-40B4-BE49-F238E27FC236}">
                <a16:creationId xmlns:a16="http://schemas.microsoft.com/office/drawing/2014/main" id="{DE28F3B5-8674-4582-8D8C-C9C0A1D2722B}"/>
              </a:ext>
            </a:extLst>
          </p:cNvPr>
          <p:cNvSpPr>
            <a:spLocks noChangeArrowheads="1"/>
          </p:cNvSpPr>
          <p:nvPr/>
        </p:nvSpPr>
        <p:spPr bwMode="auto">
          <a:xfrm>
            <a:off x="1258888" y="4221163"/>
            <a:ext cx="1800225" cy="287337"/>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Entitlement</a:t>
            </a:r>
            <a:endParaRPr lang="en-IN" altLang="en-US" sz="1400">
              <a:latin typeface="Gill Sans MT" panose="020B0502020104020203" pitchFamily="34" charset="0"/>
            </a:endParaRPr>
          </a:p>
        </p:txBody>
      </p:sp>
      <p:sp>
        <p:nvSpPr>
          <p:cNvPr id="33806" name="Rounded Rectangle 14">
            <a:extLst>
              <a:ext uri="{FF2B5EF4-FFF2-40B4-BE49-F238E27FC236}">
                <a16:creationId xmlns:a16="http://schemas.microsoft.com/office/drawing/2014/main" id="{1DBCF433-0EB2-427A-BD26-EF622473ABD6}"/>
              </a:ext>
            </a:extLst>
          </p:cNvPr>
          <p:cNvSpPr>
            <a:spLocks noChangeArrowheads="1"/>
          </p:cNvSpPr>
          <p:nvPr/>
        </p:nvSpPr>
        <p:spPr bwMode="auto">
          <a:xfrm>
            <a:off x="1258888" y="4652963"/>
            <a:ext cx="1800225" cy="28892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Encryption</a:t>
            </a:r>
            <a:endParaRPr lang="en-IN" altLang="en-US" sz="1400">
              <a:latin typeface="Gill Sans MT" panose="020B0502020104020203" pitchFamily="34" charset="0"/>
            </a:endParaRPr>
          </a:p>
        </p:txBody>
      </p:sp>
      <p:sp>
        <p:nvSpPr>
          <p:cNvPr id="33807" name="Rounded Rectangle 15">
            <a:extLst>
              <a:ext uri="{FF2B5EF4-FFF2-40B4-BE49-F238E27FC236}">
                <a16:creationId xmlns:a16="http://schemas.microsoft.com/office/drawing/2014/main" id="{BB9DDC08-E48A-4437-AE67-C6313F7F95FD}"/>
              </a:ext>
            </a:extLst>
          </p:cNvPr>
          <p:cNvSpPr>
            <a:spLocks noChangeArrowheads="1"/>
          </p:cNvSpPr>
          <p:nvPr/>
        </p:nvSpPr>
        <p:spPr bwMode="auto">
          <a:xfrm>
            <a:off x="1258888" y="5373688"/>
            <a:ext cx="1800225" cy="287337"/>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Regularity Controls</a:t>
            </a:r>
            <a:endParaRPr lang="en-IN" altLang="en-US" sz="1400">
              <a:latin typeface="Gill Sans MT" panose="020B0502020104020203" pitchFamily="34" charset="0"/>
            </a:endParaRPr>
          </a:p>
        </p:txBody>
      </p:sp>
      <p:sp>
        <p:nvSpPr>
          <p:cNvPr id="18" name="Rounded Rectangle 17">
            <a:extLst>
              <a:ext uri="{FF2B5EF4-FFF2-40B4-BE49-F238E27FC236}">
                <a16:creationId xmlns:a16="http://schemas.microsoft.com/office/drawing/2014/main" id="{8CE2B8D5-B77C-4B1B-BC2A-2B10B59293A1}"/>
              </a:ext>
            </a:extLst>
          </p:cNvPr>
          <p:cNvSpPr/>
          <p:nvPr/>
        </p:nvSpPr>
        <p:spPr>
          <a:xfrm>
            <a:off x="6948488" y="1700213"/>
            <a:ext cx="1223962"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Operation</a:t>
            </a:r>
            <a:endParaRPr lang="en-IN" dirty="0"/>
          </a:p>
        </p:txBody>
      </p:sp>
      <p:sp>
        <p:nvSpPr>
          <p:cNvPr id="33809" name="Rounded Rectangle 18">
            <a:extLst>
              <a:ext uri="{FF2B5EF4-FFF2-40B4-BE49-F238E27FC236}">
                <a16:creationId xmlns:a16="http://schemas.microsoft.com/office/drawing/2014/main" id="{9F3E8220-6B2C-41BA-8321-5EA27CF98AFE}"/>
              </a:ext>
            </a:extLst>
          </p:cNvPr>
          <p:cNvSpPr>
            <a:spLocks noChangeArrowheads="1"/>
          </p:cNvSpPr>
          <p:nvPr/>
        </p:nvSpPr>
        <p:spPr bwMode="auto">
          <a:xfrm>
            <a:off x="6875463" y="2133600"/>
            <a:ext cx="1944687" cy="4572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Monitoring and Altering</a:t>
            </a:r>
            <a:endParaRPr lang="en-IN" altLang="en-US" sz="1400">
              <a:latin typeface="Gill Sans MT" panose="020B0502020104020203" pitchFamily="34" charset="0"/>
            </a:endParaRPr>
          </a:p>
        </p:txBody>
      </p:sp>
      <p:sp>
        <p:nvSpPr>
          <p:cNvPr id="33810" name="Rounded Rectangle 19">
            <a:extLst>
              <a:ext uri="{FF2B5EF4-FFF2-40B4-BE49-F238E27FC236}">
                <a16:creationId xmlns:a16="http://schemas.microsoft.com/office/drawing/2014/main" id="{F84BFE9E-D393-4CF5-9A00-D6C6F66307F9}"/>
              </a:ext>
            </a:extLst>
          </p:cNvPr>
          <p:cNvSpPr>
            <a:spLocks noChangeArrowheads="1"/>
          </p:cNvSpPr>
          <p:nvPr/>
        </p:nvSpPr>
        <p:spPr bwMode="auto">
          <a:xfrm>
            <a:off x="6875463" y="2636838"/>
            <a:ext cx="1944687" cy="360362"/>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Backup and Restore</a:t>
            </a:r>
            <a:endParaRPr lang="en-IN" altLang="en-US" sz="1400">
              <a:latin typeface="Gill Sans MT" panose="020B0502020104020203" pitchFamily="34" charset="0"/>
            </a:endParaRPr>
          </a:p>
        </p:txBody>
      </p:sp>
      <p:sp>
        <p:nvSpPr>
          <p:cNvPr id="33811" name="Rounded Rectangle 20">
            <a:extLst>
              <a:ext uri="{FF2B5EF4-FFF2-40B4-BE49-F238E27FC236}">
                <a16:creationId xmlns:a16="http://schemas.microsoft.com/office/drawing/2014/main" id="{047E25A4-1A7D-4A18-B572-0C4F7FCE9401}"/>
              </a:ext>
            </a:extLst>
          </p:cNvPr>
          <p:cNvSpPr>
            <a:spLocks noChangeArrowheads="1"/>
          </p:cNvSpPr>
          <p:nvPr/>
        </p:nvSpPr>
        <p:spPr bwMode="auto">
          <a:xfrm>
            <a:off x="6875463" y="3284538"/>
            <a:ext cx="1944687" cy="28892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Provisioning</a:t>
            </a:r>
            <a:endParaRPr lang="en-IN" altLang="en-US" sz="1400">
              <a:latin typeface="Gill Sans MT" panose="020B0502020104020203" pitchFamily="34" charset="0"/>
            </a:endParaRPr>
          </a:p>
        </p:txBody>
      </p:sp>
      <p:sp>
        <p:nvSpPr>
          <p:cNvPr id="33812" name="Rounded Rectangle 21">
            <a:extLst>
              <a:ext uri="{FF2B5EF4-FFF2-40B4-BE49-F238E27FC236}">
                <a16:creationId xmlns:a16="http://schemas.microsoft.com/office/drawing/2014/main" id="{47282569-D283-40FE-8E24-B49F6410E351}"/>
              </a:ext>
            </a:extLst>
          </p:cNvPr>
          <p:cNvSpPr>
            <a:spLocks noChangeArrowheads="1"/>
          </p:cNvSpPr>
          <p:nvPr/>
        </p:nvSpPr>
        <p:spPr bwMode="auto">
          <a:xfrm>
            <a:off x="6875463" y="3644900"/>
            <a:ext cx="1944687" cy="576263"/>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Configuration and Customization</a:t>
            </a:r>
            <a:endParaRPr lang="en-IN" altLang="en-US" sz="1400">
              <a:latin typeface="Gill Sans MT" panose="020B0502020104020203" pitchFamily="34" charset="0"/>
            </a:endParaRPr>
          </a:p>
        </p:txBody>
      </p:sp>
      <p:sp>
        <p:nvSpPr>
          <p:cNvPr id="33813" name="Rounded Rectangle 22">
            <a:extLst>
              <a:ext uri="{FF2B5EF4-FFF2-40B4-BE49-F238E27FC236}">
                <a16:creationId xmlns:a16="http://schemas.microsoft.com/office/drawing/2014/main" id="{9B741FCD-01A3-4E4D-922E-D8F2FFC37686}"/>
              </a:ext>
            </a:extLst>
          </p:cNvPr>
          <p:cNvSpPr>
            <a:spLocks noChangeArrowheads="1"/>
          </p:cNvSpPr>
          <p:nvPr/>
        </p:nvSpPr>
        <p:spPr bwMode="auto">
          <a:xfrm>
            <a:off x="6875463" y="4292600"/>
            <a:ext cx="1944687" cy="50482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Performance and Availability</a:t>
            </a:r>
            <a:endParaRPr lang="en-IN" altLang="en-US" sz="1400">
              <a:latin typeface="Gill Sans MT" panose="020B0502020104020203" pitchFamily="34" charset="0"/>
            </a:endParaRPr>
          </a:p>
        </p:txBody>
      </p:sp>
      <p:sp>
        <p:nvSpPr>
          <p:cNvPr id="33814" name="Rounded Rectangle 23">
            <a:extLst>
              <a:ext uri="{FF2B5EF4-FFF2-40B4-BE49-F238E27FC236}">
                <a16:creationId xmlns:a16="http://schemas.microsoft.com/office/drawing/2014/main" id="{99D3CC60-59C2-4A9C-8A38-4F22AABCE6DB}"/>
              </a:ext>
            </a:extLst>
          </p:cNvPr>
          <p:cNvSpPr>
            <a:spLocks noChangeArrowheads="1"/>
          </p:cNvSpPr>
          <p:nvPr/>
        </p:nvSpPr>
        <p:spPr bwMode="auto">
          <a:xfrm>
            <a:off x="6875463" y="4868863"/>
            <a:ext cx="1944687" cy="4318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Metering and Indicators</a:t>
            </a:r>
            <a:endParaRPr lang="en-IN" altLang="en-US" sz="1400">
              <a:latin typeface="Gill Sans MT" panose="020B0502020104020203" pitchFamily="34" charset="0"/>
            </a:endParaRPr>
          </a:p>
        </p:txBody>
      </p:sp>
      <p:sp>
        <p:nvSpPr>
          <p:cNvPr id="25" name="Rounded Rectangle 24">
            <a:extLst>
              <a:ext uri="{FF2B5EF4-FFF2-40B4-BE49-F238E27FC236}">
                <a16:creationId xmlns:a16="http://schemas.microsoft.com/office/drawing/2014/main" id="{852B2515-4235-41A6-A99F-E8B743E4D732}"/>
              </a:ext>
            </a:extLst>
          </p:cNvPr>
          <p:cNvSpPr/>
          <p:nvPr/>
        </p:nvSpPr>
        <p:spPr>
          <a:xfrm>
            <a:off x="1116013" y="5732463"/>
            <a:ext cx="7848600" cy="93662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26" name="Rounded Rectangle 25">
            <a:extLst>
              <a:ext uri="{FF2B5EF4-FFF2-40B4-BE49-F238E27FC236}">
                <a16:creationId xmlns:a16="http://schemas.microsoft.com/office/drawing/2014/main" id="{AD1CCC94-4875-41CA-844F-9B1E86E6A3A9}"/>
              </a:ext>
            </a:extLst>
          </p:cNvPr>
          <p:cNvSpPr/>
          <p:nvPr/>
        </p:nvSpPr>
        <p:spPr>
          <a:xfrm>
            <a:off x="1187450" y="5805488"/>
            <a:ext cx="1584325"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Infrastructure</a:t>
            </a:r>
            <a:endParaRPr lang="en-IN" dirty="0"/>
          </a:p>
        </p:txBody>
      </p:sp>
      <p:sp>
        <p:nvSpPr>
          <p:cNvPr id="33817" name="Rounded Rectangle 26">
            <a:extLst>
              <a:ext uri="{FF2B5EF4-FFF2-40B4-BE49-F238E27FC236}">
                <a16:creationId xmlns:a16="http://schemas.microsoft.com/office/drawing/2014/main" id="{67B6F1C4-6235-472D-B6EC-FC7190709ED8}"/>
              </a:ext>
            </a:extLst>
          </p:cNvPr>
          <p:cNvSpPr>
            <a:spLocks noChangeArrowheads="1"/>
          </p:cNvSpPr>
          <p:nvPr/>
        </p:nvSpPr>
        <p:spPr bwMode="auto">
          <a:xfrm>
            <a:off x="2484438" y="6165850"/>
            <a:ext cx="1511300"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Database</a:t>
            </a:r>
            <a:endParaRPr lang="en-IN" altLang="en-US" sz="1400">
              <a:latin typeface="Gill Sans MT" panose="020B0502020104020203" pitchFamily="34" charset="0"/>
            </a:endParaRPr>
          </a:p>
        </p:txBody>
      </p:sp>
      <p:sp>
        <p:nvSpPr>
          <p:cNvPr id="33818" name="Rounded Rectangle 27">
            <a:extLst>
              <a:ext uri="{FF2B5EF4-FFF2-40B4-BE49-F238E27FC236}">
                <a16:creationId xmlns:a16="http://schemas.microsoft.com/office/drawing/2014/main" id="{C5229ACA-0068-4994-B754-8792708A5935}"/>
              </a:ext>
            </a:extLst>
          </p:cNvPr>
          <p:cNvSpPr>
            <a:spLocks noChangeArrowheads="1"/>
          </p:cNvSpPr>
          <p:nvPr/>
        </p:nvSpPr>
        <p:spPr bwMode="auto">
          <a:xfrm>
            <a:off x="4067175" y="6165850"/>
            <a:ext cx="1512888"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Storage</a:t>
            </a:r>
            <a:endParaRPr lang="en-IN" altLang="en-US" sz="1400">
              <a:latin typeface="Gill Sans MT" panose="020B0502020104020203" pitchFamily="34" charset="0"/>
            </a:endParaRPr>
          </a:p>
        </p:txBody>
      </p:sp>
      <p:sp>
        <p:nvSpPr>
          <p:cNvPr id="33819" name="Rounded Rectangle 28">
            <a:extLst>
              <a:ext uri="{FF2B5EF4-FFF2-40B4-BE49-F238E27FC236}">
                <a16:creationId xmlns:a16="http://schemas.microsoft.com/office/drawing/2014/main" id="{208CC7BD-C681-4FEA-98F4-7C005D72F088}"/>
              </a:ext>
            </a:extLst>
          </p:cNvPr>
          <p:cNvSpPr>
            <a:spLocks noChangeArrowheads="1"/>
          </p:cNvSpPr>
          <p:nvPr/>
        </p:nvSpPr>
        <p:spPr bwMode="auto">
          <a:xfrm>
            <a:off x="5651500" y="6165850"/>
            <a:ext cx="1512888" cy="35877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Computer</a:t>
            </a:r>
            <a:endParaRPr lang="en-IN" altLang="en-US" sz="1400">
              <a:latin typeface="Gill Sans MT" panose="020B0502020104020203" pitchFamily="34" charset="0"/>
            </a:endParaRPr>
          </a:p>
        </p:txBody>
      </p:sp>
      <p:sp>
        <p:nvSpPr>
          <p:cNvPr id="33820" name="Rounded Rectangle 29">
            <a:extLst>
              <a:ext uri="{FF2B5EF4-FFF2-40B4-BE49-F238E27FC236}">
                <a16:creationId xmlns:a16="http://schemas.microsoft.com/office/drawing/2014/main" id="{0C9E978A-27D4-43AE-B1CE-AE03F7F6D262}"/>
              </a:ext>
            </a:extLst>
          </p:cNvPr>
          <p:cNvSpPr>
            <a:spLocks noChangeArrowheads="1"/>
          </p:cNvSpPr>
          <p:nvPr/>
        </p:nvSpPr>
        <p:spPr bwMode="auto">
          <a:xfrm>
            <a:off x="7308850" y="6165850"/>
            <a:ext cx="1511300" cy="4318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Networking and Communications</a:t>
            </a:r>
            <a:endParaRPr lang="en-IN" altLang="en-US" sz="1400">
              <a:latin typeface="Gill Sans MT" panose="020B0502020104020203" pitchFamily="34" charset="0"/>
            </a:endParaRPr>
          </a:p>
        </p:txBody>
      </p:sp>
      <p:sp>
        <p:nvSpPr>
          <p:cNvPr id="31" name="Rounded Rectangle 30">
            <a:extLst>
              <a:ext uri="{FF2B5EF4-FFF2-40B4-BE49-F238E27FC236}">
                <a16:creationId xmlns:a16="http://schemas.microsoft.com/office/drawing/2014/main" id="{F3AF76E0-E173-401C-B362-FF89FF484219}"/>
              </a:ext>
            </a:extLst>
          </p:cNvPr>
          <p:cNvSpPr/>
          <p:nvPr/>
        </p:nvSpPr>
        <p:spPr>
          <a:xfrm>
            <a:off x="3276600" y="1628775"/>
            <a:ext cx="3455988" cy="396081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fontAlgn="auto" hangingPunct="1">
              <a:spcBef>
                <a:spcPts val="0"/>
              </a:spcBef>
              <a:spcAft>
                <a:spcPts val="0"/>
              </a:spcAft>
              <a:defRPr/>
            </a:pPr>
            <a:endParaRPr lang="en-IN" dirty="0"/>
          </a:p>
        </p:txBody>
      </p:sp>
      <p:sp>
        <p:nvSpPr>
          <p:cNvPr id="32" name="Rounded Rectangle 31">
            <a:extLst>
              <a:ext uri="{FF2B5EF4-FFF2-40B4-BE49-F238E27FC236}">
                <a16:creationId xmlns:a16="http://schemas.microsoft.com/office/drawing/2014/main" id="{9F22DAEA-3716-46E3-AF27-0152CF156BED}"/>
              </a:ext>
            </a:extLst>
          </p:cNvPr>
          <p:cNvSpPr/>
          <p:nvPr/>
        </p:nvSpPr>
        <p:spPr>
          <a:xfrm>
            <a:off x="3492500" y="1773238"/>
            <a:ext cx="1584325" cy="360362"/>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400" dirty="0"/>
              <a:t>Application Engine</a:t>
            </a:r>
            <a:endParaRPr lang="en-IN" sz="1400" dirty="0"/>
          </a:p>
        </p:txBody>
      </p:sp>
      <p:sp>
        <p:nvSpPr>
          <p:cNvPr id="33823" name="Rounded Rectangle 32">
            <a:extLst>
              <a:ext uri="{FF2B5EF4-FFF2-40B4-BE49-F238E27FC236}">
                <a16:creationId xmlns:a16="http://schemas.microsoft.com/office/drawing/2014/main" id="{40E933AC-EBB0-4AD5-AFCC-08470FDF277A}"/>
              </a:ext>
            </a:extLst>
          </p:cNvPr>
          <p:cNvSpPr>
            <a:spLocks noChangeArrowheads="1"/>
          </p:cNvSpPr>
          <p:nvPr/>
        </p:nvSpPr>
        <p:spPr bwMode="auto">
          <a:xfrm>
            <a:off x="3348038" y="2212975"/>
            <a:ext cx="1439862" cy="2794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User Profile</a:t>
            </a:r>
            <a:endParaRPr lang="en-IN" altLang="en-US" sz="1400">
              <a:latin typeface="Gill Sans MT" panose="020B0502020104020203" pitchFamily="34" charset="0"/>
            </a:endParaRPr>
          </a:p>
        </p:txBody>
      </p:sp>
      <p:sp>
        <p:nvSpPr>
          <p:cNvPr id="33824" name="Rounded Rectangle 33">
            <a:extLst>
              <a:ext uri="{FF2B5EF4-FFF2-40B4-BE49-F238E27FC236}">
                <a16:creationId xmlns:a16="http://schemas.microsoft.com/office/drawing/2014/main" id="{5870DDBF-9B2F-4197-9715-4CC8F744194E}"/>
              </a:ext>
            </a:extLst>
          </p:cNvPr>
          <p:cNvSpPr>
            <a:spLocks noChangeArrowheads="1"/>
          </p:cNvSpPr>
          <p:nvPr/>
        </p:nvSpPr>
        <p:spPr bwMode="auto">
          <a:xfrm>
            <a:off x="3348038" y="2636838"/>
            <a:ext cx="1439862" cy="576262"/>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Notification and Subscription</a:t>
            </a:r>
            <a:endParaRPr lang="en-IN" altLang="en-US" sz="1400">
              <a:latin typeface="Gill Sans MT" panose="020B0502020104020203" pitchFamily="34" charset="0"/>
            </a:endParaRPr>
          </a:p>
        </p:txBody>
      </p:sp>
      <p:sp>
        <p:nvSpPr>
          <p:cNvPr id="33825" name="Rounded Rectangle 34">
            <a:extLst>
              <a:ext uri="{FF2B5EF4-FFF2-40B4-BE49-F238E27FC236}">
                <a16:creationId xmlns:a16="http://schemas.microsoft.com/office/drawing/2014/main" id="{44B2C4B7-73E8-43A7-B290-FC7F2B51CC29}"/>
              </a:ext>
            </a:extLst>
          </p:cNvPr>
          <p:cNvSpPr>
            <a:spLocks noChangeArrowheads="1"/>
          </p:cNvSpPr>
          <p:nvPr/>
        </p:nvSpPr>
        <p:spPr bwMode="auto">
          <a:xfrm>
            <a:off x="3348038" y="3357563"/>
            <a:ext cx="1439862" cy="6477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Metadata Execution Engine</a:t>
            </a:r>
            <a:endParaRPr lang="en-IN" altLang="en-US" sz="1400">
              <a:latin typeface="Gill Sans MT" panose="020B0502020104020203" pitchFamily="34" charset="0"/>
            </a:endParaRPr>
          </a:p>
        </p:txBody>
      </p:sp>
      <p:sp>
        <p:nvSpPr>
          <p:cNvPr id="33826" name="Rounded Rectangle 35">
            <a:extLst>
              <a:ext uri="{FF2B5EF4-FFF2-40B4-BE49-F238E27FC236}">
                <a16:creationId xmlns:a16="http://schemas.microsoft.com/office/drawing/2014/main" id="{CBCBE1AF-B16F-4F51-9C51-D48F7AFA7FD6}"/>
              </a:ext>
            </a:extLst>
          </p:cNvPr>
          <p:cNvSpPr>
            <a:spLocks noChangeArrowheads="1"/>
          </p:cNvSpPr>
          <p:nvPr/>
        </p:nvSpPr>
        <p:spPr bwMode="auto">
          <a:xfrm>
            <a:off x="3348038" y="4149725"/>
            <a:ext cx="1439862" cy="4318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Metadata Services</a:t>
            </a:r>
            <a:endParaRPr lang="en-IN" altLang="en-US" sz="1400">
              <a:latin typeface="Gill Sans MT" panose="020B0502020104020203" pitchFamily="34" charset="0"/>
            </a:endParaRPr>
          </a:p>
        </p:txBody>
      </p:sp>
      <p:sp>
        <p:nvSpPr>
          <p:cNvPr id="33827" name="Rounded Rectangle 36">
            <a:extLst>
              <a:ext uri="{FF2B5EF4-FFF2-40B4-BE49-F238E27FC236}">
                <a16:creationId xmlns:a16="http://schemas.microsoft.com/office/drawing/2014/main" id="{813025C4-7B0B-4CCA-B8E2-D917940E74E4}"/>
              </a:ext>
            </a:extLst>
          </p:cNvPr>
          <p:cNvSpPr>
            <a:spLocks noChangeArrowheads="1"/>
          </p:cNvSpPr>
          <p:nvPr/>
        </p:nvSpPr>
        <p:spPr bwMode="auto">
          <a:xfrm>
            <a:off x="3348038" y="4724400"/>
            <a:ext cx="1439862" cy="28892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Messaging</a:t>
            </a:r>
            <a:endParaRPr lang="en-IN" altLang="en-US" sz="1400">
              <a:latin typeface="Gill Sans MT" panose="020B0502020104020203" pitchFamily="34" charset="0"/>
            </a:endParaRPr>
          </a:p>
        </p:txBody>
      </p:sp>
      <p:sp>
        <p:nvSpPr>
          <p:cNvPr id="33828" name="Rounded Rectangle 45">
            <a:extLst>
              <a:ext uri="{FF2B5EF4-FFF2-40B4-BE49-F238E27FC236}">
                <a16:creationId xmlns:a16="http://schemas.microsoft.com/office/drawing/2014/main" id="{6E118411-1780-468F-93F2-A01C1D97E340}"/>
              </a:ext>
            </a:extLst>
          </p:cNvPr>
          <p:cNvSpPr>
            <a:spLocks noChangeArrowheads="1"/>
          </p:cNvSpPr>
          <p:nvPr/>
        </p:nvSpPr>
        <p:spPr bwMode="auto">
          <a:xfrm>
            <a:off x="5148263" y="2205038"/>
            <a:ext cx="1439862" cy="2794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Workflow</a:t>
            </a:r>
            <a:endParaRPr lang="en-IN" altLang="en-US" sz="1400">
              <a:latin typeface="Gill Sans MT" panose="020B0502020104020203" pitchFamily="34" charset="0"/>
            </a:endParaRPr>
          </a:p>
        </p:txBody>
      </p:sp>
      <p:sp>
        <p:nvSpPr>
          <p:cNvPr id="33829" name="Rounded Rectangle 46">
            <a:extLst>
              <a:ext uri="{FF2B5EF4-FFF2-40B4-BE49-F238E27FC236}">
                <a16:creationId xmlns:a16="http://schemas.microsoft.com/office/drawing/2014/main" id="{817BD488-4C59-4BCC-A603-932B36CA5B64}"/>
              </a:ext>
            </a:extLst>
          </p:cNvPr>
          <p:cNvSpPr>
            <a:spLocks noChangeArrowheads="1"/>
          </p:cNvSpPr>
          <p:nvPr/>
        </p:nvSpPr>
        <p:spPr bwMode="auto">
          <a:xfrm>
            <a:off x="5148263" y="2628900"/>
            <a:ext cx="1439862" cy="576263"/>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Execution Handling</a:t>
            </a:r>
            <a:endParaRPr lang="en-IN" altLang="en-US" sz="1400">
              <a:latin typeface="Gill Sans MT" panose="020B0502020104020203" pitchFamily="34" charset="0"/>
            </a:endParaRPr>
          </a:p>
        </p:txBody>
      </p:sp>
      <p:sp>
        <p:nvSpPr>
          <p:cNvPr id="33830" name="Rounded Rectangle 47">
            <a:extLst>
              <a:ext uri="{FF2B5EF4-FFF2-40B4-BE49-F238E27FC236}">
                <a16:creationId xmlns:a16="http://schemas.microsoft.com/office/drawing/2014/main" id="{42DF6587-CBBE-4971-9939-CFCA45FB08B2}"/>
              </a:ext>
            </a:extLst>
          </p:cNvPr>
          <p:cNvSpPr>
            <a:spLocks noChangeArrowheads="1"/>
          </p:cNvSpPr>
          <p:nvPr/>
        </p:nvSpPr>
        <p:spPr bwMode="auto">
          <a:xfrm>
            <a:off x="5148263" y="3348038"/>
            <a:ext cx="1439862" cy="441325"/>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Orchestration</a:t>
            </a:r>
            <a:endParaRPr lang="en-IN" altLang="en-US" sz="1400">
              <a:latin typeface="Gill Sans MT" panose="020B0502020104020203" pitchFamily="34" charset="0"/>
            </a:endParaRPr>
          </a:p>
        </p:txBody>
      </p:sp>
      <p:sp>
        <p:nvSpPr>
          <p:cNvPr id="33831" name="Rounded Rectangle 49">
            <a:extLst>
              <a:ext uri="{FF2B5EF4-FFF2-40B4-BE49-F238E27FC236}">
                <a16:creationId xmlns:a16="http://schemas.microsoft.com/office/drawing/2014/main" id="{BFF27F15-0F0C-4C1C-8754-DA6E1DB43FD5}"/>
              </a:ext>
            </a:extLst>
          </p:cNvPr>
          <p:cNvSpPr>
            <a:spLocks noChangeArrowheads="1"/>
          </p:cNvSpPr>
          <p:nvPr/>
        </p:nvSpPr>
        <p:spPr bwMode="auto">
          <a:xfrm>
            <a:off x="5148263" y="4581525"/>
            <a:ext cx="1439862" cy="512763"/>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Gill Sans MT" panose="020B0502020104020203" pitchFamily="34" charset="0"/>
              </a:rPr>
              <a:t>Data Synchronization</a:t>
            </a:r>
            <a:endParaRPr lang="en-IN" altLang="en-US" sz="1400">
              <a:latin typeface="Gill Sans MT" panose="020B0502020104020203" pitchFamily="34" charset="0"/>
            </a:endParaRPr>
          </a:p>
        </p:txBody>
      </p:sp>
      <p:sp>
        <p:nvSpPr>
          <p:cNvPr id="51" name="Rounded Rectangle 50">
            <a:extLst>
              <a:ext uri="{FF2B5EF4-FFF2-40B4-BE49-F238E27FC236}">
                <a16:creationId xmlns:a16="http://schemas.microsoft.com/office/drawing/2014/main" id="{323F8D0A-B9BE-46AD-9247-90B1F476B1C1}"/>
              </a:ext>
            </a:extLst>
          </p:cNvPr>
          <p:cNvSpPr/>
          <p:nvPr/>
        </p:nvSpPr>
        <p:spPr>
          <a:xfrm>
            <a:off x="6826250" y="1628775"/>
            <a:ext cx="2089150" cy="3887788"/>
          </a:xfrm>
          <a:prstGeom prst="roundRect">
            <a:avLst/>
          </a:prstGeom>
          <a:solidFill>
            <a:schemeClr val="lt1">
              <a:alpha val="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wrap="none" tIns="0" anchor="ctr"/>
          <a:lstStyle/>
          <a:p>
            <a:pPr algn="ctr" eaLnBrk="1" fontAlgn="auto" hangingPunct="1">
              <a:spcBef>
                <a:spcPts val="0"/>
              </a:spcBef>
              <a:spcAft>
                <a:spcPts val="0"/>
              </a:spcAft>
              <a:defRPr/>
            </a:pPr>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23BF-80C9-48CF-915F-00D99B2ECFE5}"/>
              </a:ext>
            </a:extLst>
          </p:cNvPr>
          <p:cNvSpPr>
            <a:spLocks noGrp="1"/>
          </p:cNvSpPr>
          <p:nvPr>
            <p:ph type="title"/>
          </p:nvPr>
        </p:nvSpPr>
        <p:spPr/>
        <p:txBody>
          <a:bodyPr/>
          <a:lstStyle/>
          <a:p>
            <a:pPr eaLnBrk="1" fontAlgn="auto" hangingPunct="1">
              <a:spcAft>
                <a:spcPts val="0"/>
              </a:spcAft>
              <a:defRPr/>
            </a:pPr>
            <a:r>
              <a:rPr lang="en-US" dirty="0">
                <a:solidFill>
                  <a:schemeClr val="tx2">
                    <a:satMod val="130000"/>
                  </a:schemeClr>
                </a:solidFill>
              </a:rPr>
              <a:t>Migrating to Cloud Environment</a:t>
            </a:r>
          </a:p>
        </p:txBody>
      </p:sp>
      <p:sp>
        <p:nvSpPr>
          <p:cNvPr id="34819" name="Rounded Rectangle 3">
            <a:extLst>
              <a:ext uri="{FF2B5EF4-FFF2-40B4-BE49-F238E27FC236}">
                <a16:creationId xmlns:a16="http://schemas.microsoft.com/office/drawing/2014/main" id="{D01D372C-6285-4282-B4BF-0C84ADC22292}"/>
              </a:ext>
            </a:extLst>
          </p:cNvPr>
          <p:cNvSpPr>
            <a:spLocks noChangeArrowheads="1"/>
          </p:cNvSpPr>
          <p:nvPr/>
        </p:nvSpPr>
        <p:spPr bwMode="auto">
          <a:xfrm>
            <a:off x="1295400" y="1600200"/>
            <a:ext cx="7620000" cy="50292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800">
                <a:latin typeface="Gill Sans MT" panose="020B0502020104020203" pitchFamily="34" charset="0"/>
              </a:rPr>
              <a:t>The Software can be redeployed in cloud environment as Software as a Service (SaaS). The main sections of the software can be mapped to the SaaS architecture.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51F90-E38F-48FD-8338-BD2D2BB5109F}"/>
              </a:ext>
            </a:extLst>
          </p:cNvPr>
          <p:cNvSpPr>
            <a:spLocks noGrp="1"/>
          </p:cNvSpPr>
          <p:nvPr>
            <p:ph type="title"/>
          </p:nvPr>
        </p:nvSpPr>
        <p:spPr/>
        <p:txBody>
          <a:bodyPr>
            <a:normAutofit fontScale="90000"/>
          </a:bodyPr>
          <a:lstStyle/>
          <a:p>
            <a:pPr algn="ctr" eaLnBrk="1" fontAlgn="auto" hangingPunct="1">
              <a:spcAft>
                <a:spcPts val="0"/>
              </a:spcAft>
              <a:defRPr/>
            </a:pPr>
            <a:r>
              <a:rPr lang="en-US" dirty="0">
                <a:solidFill>
                  <a:schemeClr val="tx2">
                    <a:satMod val="130000"/>
                  </a:schemeClr>
                </a:solidFill>
              </a:rPr>
              <a:t>Payroll Processing in Cloud Computing</a:t>
            </a:r>
          </a:p>
        </p:txBody>
      </p:sp>
      <p:sp>
        <p:nvSpPr>
          <p:cNvPr id="35843" name="Rounded Rectangle 4">
            <a:extLst>
              <a:ext uri="{FF2B5EF4-FFF2-40B4-BE49-F238E27FC236}">
                <a16:creationId xmlns:a16="http://schemas.microsoft.com/office/drawing/2014/main" id="{AE1F0A46-F384-4908-8F05-580B7744A819}"/>
              </a:ext>
            </a:extLst>
          </p:cNvPr>
          <p:cNvSpPr>
            <a:spLocks noChangeArrowheads="1"/>
          </p:cNvSpPr>
          <p:nvPr/>
        </p:nvSpPr>
        <p:spPr bwMode="auto">
          <a:xfrm>
            <a:off x="1371600" y="1981200"/>
            <a:ext cx="7467600" cy="44958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a:latin typeface="Gill Sans MT" panose="020B0502020104020203" pitchFamily="34" charset="0"/>
              </a:rPr>
              <a:t>Many State Government departments are utilizing standardized set up of payroll packages which are deployed at user locations and it is amounting huge investment on procurement of hardware and software and maintenance for various locations of the organization.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AEA57-DFDB-445B-BA9F-2BD3244D8352}"/>
              </a:ext>
            </a:extLst>
          </p:cNvPr>
          <p:cNvSpPr>
            <a:spLocks noGrp="1"/>
          </p:cNvSpPr>
          <p:nvPr>
            <p:ph type="title" idx="4294967295"/>
          </p:nvPr>
        </p:nvSpPr>
        <p:spPr/>
        <p:txBody>
          <a:bodyPr vert="horz" wrap="square" lIns="91440" tIns="45720" rIns="91440" bIns="45720" numCol="1" anchorCtr="0" compatLnSpc="1">
            <a:prstTxWarp prst="textNoShape">
              <a:avLst/>
            </a:prstTxWarp>
            <a:normAutofit fontScale="90000"/>
          </a:bodyPr>
          <a:lstStyle/>
          <a:p>
            <a:pPr algn="ctr">
              <a:defRPr/>
            </a:pPr>
            <a:r>
              <a:rPr lang="en-US" sz="3900">
                <a:effectLst>
                  <a:outerShdw blurRad="38100" dist="38100" dir="2700000" algn="tl">
                    <a:srgbClr val="C0C0C0"/>
                  </a:outerShdw>
                </a:effectLst>
              </a:rPr>
              <a:t>Payroll Software Installed at more than 300 locations</a:t>
            </a:r>
          </a:p>
        </p:txBody>
      </p:sp>
      <p:sp>
        <p:nvSpPr>
          <p:cNvPr id="4" name="Rounded Rectangle 3">
            <a:extLst>
              <a:ext uri="{FF2B5EF4-FFF2-40B4-BE49-F238E27FC236}">
                <a16:creationId xmlns:a16="http://schemas.microsoft.com/office/drawing/2014/main" id="{BEA6B1CB-EAFA-4754-B2E3-12DF62419B9E}"/>
              </a:ext>
            </a:extLst>
          </p:cNvPr>
          <p:cNvSpPr/>
          <p:nvPr/>
        </p:nvSpPr>
        <p:spPr>
          <a:xfrm>
            <a:off x="1447800" y="1905000"/>
            <a:ext cx="2895600" cy="182880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b="1" dirty="0">
                <a:solidFill>
                  <a:schemeClr val="tx1"/>
                </a:solidFill>
              </a:rPr>
              <a:t>User</a:t>
            </a:r>
          </a:p>
        </p:txBody>
      </p:sp>
      <p:sp>
        <p:nvSpPr>
          <p:cNvPr id="5" name="Rounded Rectangle 4">
            <a:extLst>
              <a:ext uri="{FF2B5EF4-FFF2-40B4-BE49-F238E27FC236}">
                <a16:creationId xmlns:a16="http://schemas.microsoft.com/office/drawing/2014/main" id="{10BAF20A-0DD3-43CC-B7AF-76C229865F75}"/>
              </a:ext>
            </a:extLst>
          </p:cNvPr>
          <p:cNvSpPr/>
          <p:nvPr/>
        </p:nvSpPr>
        <p:spPr>
          <a:xfrm>
            <a:off x="5791200" y="1905000"/>
            <a:ext cx="2895600" cy="182880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b="1" dirty="0">
                <a:solidFill>
                  <a:schemeClr val="tx1"/>
                </a:solidFill>
              </a:rPr>
              <a:t>Software Module</a:t>
            </a:r>
          </a:p>
        </p:txBody>
      </p:sp>
      <p:sp>
        <p:nvSpPr>
          <p:cNvPr id="8" name="Left-Right Arrow 7">
            <a:extLst>
              <a:ext uri="{FF2B5EF4-FFF2-40B4-BE49-F238E27FC236}">
                <a16:creationId xmlns:a16="http://schemas.microsoft.com/office/drawing/2014/main" id="{6EC14175-C121-4F0B-A8F2-2015A27BFDA1}"/>
              </a:ext>
            </a:extLst>
          </p:cNvPr>
          <p:cNvSpPr/>
          <p:nvPr/>
        </p:nvSpPr>
        <p:spPr>
          <a:xfrm>
            <a:off x="4343400" y="2563813"/>
            <a:ext cx="1447800" cy="484187"/>
          </a:xfrm>
          <a:prstGeom prst="leftRightArrow">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6870" name="TextBox 8">
            <a:extLst>
              <a:ext uri="{FF2B5EF4-FFF2-40B4-BE49-F238E27FC236}">
                <a16:creationId xmlns:a16="http://schemas.microsoft.com/office/drawing/2014/main" id="{F945D1A8-DE7C-467F-AFBE-7FE43EAA377A}"/>
              </a:ext>
            </a:extLst>
          </p:cNvPr>
          <p:cNvSpPr txBox="1">
            <a:spLocks noChangeArrowheads="1"/>
          </p:cNvSpPr>
          <p:nvPr/>
        </p:nvSpPr>
        <p:spPr bwMode="auto">
          <a:xfrm>
            <a:off x="2438400" y="4419600"/>
            <a:ext cx="556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t>     </a:t>
            </a:r>
            <a:r>
              <a:rPr lang="en-US" altLang="en-US" sz="2800" b="1"/>
              <a:t>Standalone Loaded on PC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62F7-9EF9-4A02-A01E-A92CA15BFD51}"/>
              </a:ext>
            </a:extLst>
          </p:cNvPr>
          <p:cNvSpPr>
            <a:spLocks noGrp="1"/>
          </p:cNvSpPr>
          <p:nvPr>
            <p:ph type="title" idx="4294967295"/>
          </p:nvPr>
        </p:nvSpPr>
        <p:spPr/>
        <p:txBody>
          <a:bodyPr vert="horz" wrap="square" lIns="91440" tIns="45720" rIns="91440" bIns="45720" numCol="1" anchorCtr="0" compatLnSpc="1">
            <a:prstTxWarp prst="textNoShape">
              <a:avLst/>
            </a:prstTxWarp>
          </a:bodyPr>
          <a:lstStyle/>
          <a:p>
            <a:pPr algn="ctr">
              <a:defRPr/>
            </a:pPr>
            <a:r>
              <a:rPr lang="en-US">
                <a:effectLst>
                  <a:outerShdw blurRad="38100" dist="38100" dir="2700000" algn="tl">
                    <a:srgbClr val="C0C0C0"/>
                  </a:outerShdw>
                </a:effectLst>
              </a:rPr>
              <a:t>Drawbacks</a:t>
            </a:r>
          </a:p>
        </p:txBody>
      </p:sp>
      <p:sp>
        <p:nvSpPr>
          <p:cNvPr id="4" name="Rounded Rectangle 3">
            <a:extLst>
              <a:ext uri="{FF2B5EF4-FFF2-40B4-BE49-F238E27FC236}">
                <a16:creationId xmlns:a16="http://schemas.microsoft.com/office/drawing/2014/main" id="{F4D911A2-551A-44EA-88B7-60EF89D54E9D}"/>
              </a:ext>
            </a:extLst>
          </p:cNvPr>
          <p:cNvSpPr/>
          <p:nvPr/>
        </p:nvSpPr>
        <p:spPr>
          <a:xfrm>
            <a:off x="1219200" y="1676400"/>
            <a:ext cx="7696200" cy="495300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sz="2800" b="1">
                <a:solidFill>
                  <a:schemeClr val="tx1"/>
                </a:solidFill>
                <a:cs typeface="Arial" charset="0"/>
              </a:rPr>
              <a:t> Drawbacks :</a:t>
            </a:r>
          </a:p>
          <a:p>
            <a:pPr eaLnBrk="1" hangingPunct="1">
              <a:defRPr/>
            </a:pPr>
            <a:endParaRPr lang="en-US" sz="2400">
              <a:solidFill>
                <a:schemeClr val="tx1"/>
              </a:solidFill>
              <a:cs typeface="Arial" charset="0"/>
            </a:endParaRPr>
          </a:p>
          <a:p>
            <a:pPr eaLnBrk="1" hangingPunct="1">
              <a:buFont typeface="Wingdings" pitchFamily="2" charset="2"/>
              <a:buChar char="Ø"/>
              <a:defRPr/>
            </a:pPr>
            <a:r>
              <a:rPr lang="en-US" sz="2200">
                <a:solidFill>
                  <a:schemeClr val="tx1"/>
                </a:solidFill>
                <a:cs typeface="Arial" charset="0"/>
              </a:rPr>
              <a:t> Software Maintenance problems.</a:t>
            </a:r>
          </a:p>
          <a:p>
            <a:pPr eaLnBrk="1" hangingPunct="1">
              <a:buFont typeface="Wingdings" pitchFamily="2" charset="2"/>
              <a:buChar char="Ø"/>
              <a:defRPr/>
            </a:pPr>
            <a:r>
              <a:rPr lang="en-US" sz="2200">
                <a:solidFill>
                  <a:schemeClr val="tx1"/>
                </a:solidFill>
                <a:cs typeface="Arial" charset="0"/>
              </a:rPr>
              <a:t> Individual Hardware is required.</a:t>
            </a:r>
          </a:p>
          <a:p>
            <a:pPr eaLnBrk="1" hangingPunct="1">
              <a:buFont typeface="Wingdings" pitchFamily="2" charset="2"/>
              <a:buChar char="Ø"/>
              <a:defRPr/>
            </a:pPr>
            <a:r>
              <a:rPr lang="en-US" sz="2200">
                <a:solidFill>
                  <a:schemeClr val="tx1"/>
                </a:solidFill>
                <a:cs typeface="Arial" charset="0"/>
              </a:rPr>
              <a:t> Often Data Loss occurs.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ounded Rectangle 3">
            <a:extLst>
              <a:ext uri="{FF2B5EF4-FFF2-40B4-BE49-F238E27FC236}">
                <a16:creationId xmlns:a16="http://schemas.microsoft.com/office/drawing/2014/main" id="{9342DBB3-9216-4CED-869E-904DF2794ADE}"/>
              </a:ext>
            </a:extLst>
          </p:cNvPr>
          <p:cNvSpPr>
            <a:spLocks noChangeArrowheads="1"/>
          </p:cNvSpPr>
          <p:nvPr/>
        </p:nvSpPr>
        <p:spPr bwMode="auto">
          <a:xfrm>
            <a:off x="1295400" y="1447800"/>
            <a:ext cx="7467600" cy="39624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Gill Sans MT" panose="020B0502020104020203" pitchFamily="34" charset="0"/>
              </a:rPr>
              <a:t>Migrating the payroll package, to cloud environment can be worked out without changing business logic.</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5021-4F88-4924-A4A9-DB41DE3A80A5}"/>
              </a:ext>
            </a:extLst>
          </p:cNvPr>
          <p:cNvSpPr>
            <a:spLocks noGrp="1"/>
          </p:cNvSpPr>
          <p:nvPr>
            <p:ph type="title" idx="4294967295"/>
          </p:nvPr>
        </p:nvSpPr>
        <p:spPr/>
        <p:txBody>
          <a:bodyPr/>
          <a:lstStyle/>
          <a:p>
            <a:pPr algn="ctr">
              <a:defRPr/>
            </a:pPr>
            <a:r>
              <a:rPr lang="en-US" dirty="0"/>
              <a:t>IN CLOUD</a:t>
            </a:r>
            <a:endParaRPr lang="en-IN" dirty="0"/>
          </a:p>
        </p:txBody>
      </p:sp>
      <p:sp>
        <p:nvSpPr>
          <p:cNvPr id="4" name="Rounded Rectangle 3">
            <a:extLst>
              <a:ext uri="{FF2B5EF4-FFF2-40B4-BE49-F238E27FC236}">
                <a16:creationId xmlns:a16="http://schemas.microsoft.com/office/drawing/2014/main" id="{7A9A3D46-F5A8-49BD-8DED-AF04DE625B45}"/>
              </a:ext>
            </a:extLst>
          </p:cNvPr>
          <p:cNvSpPr/>
          <p:nvPr/>
        </p:nvSpPr>
        <p:spPr>
          <a:xfrm>
            <a:off x="1403350" y="1700213"/>
            <a:ext cx="2160588" cy="792162"/>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solidFill>
                  <a:schemeClr val="tx1"/>
                </a:solidFill>
              </a:rPr>
              <a:t>User-1</a:t>
            </a:r>
            <a:endParaRPr lang="en-IN" dirty="0">
              <a:solidFill>
                <a:schemeClr val="tx1"/>
              </a:solidFill>
            </a:endParaRPr>
          </a:p>
        </p:txBody>
      </p:sp>
      <p:sp>
        <p:nvSpPr>
          <p:cNvPr id="5" name="Rounded Rectangle 4">
            <a:extLst>
              <a:ext uri="{FF2B5EF4-FFF2-40B4-BE49-F238E27FC236}">
                <a16:creationId xmlns:a16="http://schemas.microsoft.com/office/drawing/2014/main" id="{AE139AF1-FFEE-439B-865A-286E24149EE0}"/>
              </a:ext>
            </a:extLst>
          </p:cNvPr>
          <p:cNvSpPr/>
          <p:nvPr/>
        </p:nvSpPr>
        <p:spPr>
          <a:xfrm>
            <a:off x="4067175" y="2852738"/>
            <a:ext cx="1873250" cy="863600"/>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solidFill>
                  <a:schemeClr val="tx1"/>
                </a:solidFill>
              </a:rPr>
              <a:t>Software </a:t>
            </a:r>
          </a:p>
          <a:p>
            <a:pPr algn="ctr" eaLnBrk="1" hangingPunct="1">
              <a:defRPr/>
            </a:pPr>
            <a:r>
              <a:rPr lang="en-US" dirty="0">
                <a:solidFill>
                  <a:schemeClr val="tx1"/>
                </a:solidFill>
              </a:rPr>
              <a:t>Module</a:t>
            </a:r>
            <a:endParaRPr lang="en-IN" dirty="0">
              <a:solidFill>
                <a:schemeClr val="tx1"/>
              </a:solidFill>
            </a:endParaRPr>
          </a:p>
        </p:txBody>
      </p:sp>
      <p:sp>
        <p:nvSpPr>
          <p:cNvPr id="6" name="Rounded Rectangle 5">
            <a:extLst>
              <a:ext uri="{FF2B5EF4-FFF2-40B4-BE49-F238E27FC236}">
                <a16:creationId xmlns:a16="http://schemas.microsoft.com/office/drawing/2014/main" id="{D7F65405-DA8D-44F2-8D7C-FCE8F35CE9ED}"/>
              </a:ext>
            </a:extLst>
          </p:cNvPr>
          <p:cNvSpPr/>
          <p:nvPr/>
        </p:nvSpPr>
        <p:spPr>
          <a:xfrm>
            <a:off x="1476375" y="4868863"/>
            <a:ext cx="2087563" cy="792162"/>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solidFill>
                  <a:schemeClr val="tx1"/>
                </a:solidFill>
              </a:rPr>
              <a:t>User-1</a:t>
            </a:r>
            <a:endParaRPr lang="en-IN" dirty="0">
              <a:solidFill>
                <a:schemeClr val="tx1"/>
              </a:solidFill>
            </a:endParaRPr>
          </a:p>
        </p:txBody>
      </p:sp>
      <p:cxnSp>
        <p:nvCxnSpPr>
          <p:cNvPr id="15" name="Straight Connector 14">
            <a:extLst>
              <a:ext uri="{FF2B5EF4-FFF2-40B4-BE49-F238E27FC236}">
                <a16:creationId xmlns:a16="http://schemas.microsoft.com/office/drawing/2014/main" id="{2ED14F62-CECB-4F97-BC03-6E7FB41D745F}"/>
              </a:ext>
            </a:extLst>
          </p:cNvPr>
          <p:cNvCxnSpPr>
            <a:stCxn id="4" idx="2"/>
          </p:cNvCxnSpPr>
          <p:nvPr/>
        </p:nvCxnSpPr>
        <p:spPr>
          <a:xfrm rot="5400000">
            <a:off x="2088356" y="2888457"/>
            <a:ext cx="7921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C881CFC-A366-4519-B0B1-2C5CE3C8AA16}"/>
              </a:ext>
            </a:extLst>
          </p:cNvPr>
          <p:cNvCxnSpPr>
            <a:stCxn id="5" idx="1"/>
          </p:cNvCxnSpPr>
          <p:nvPr/>
        </p:nvCxnSpPr>
        <p:spPr>
          <a:xfrm rot="10800000">
            <a:off x="2484438" y="3284538"/>
            <a:ext cx="1582737"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BF815821-BA10-4146-BF30-DE267DC10E2F}"/>
              </a:ext>
            </a:extLst>
          </p:cNvPr>
          <p:cNvSpPr/>
          <p:nvPr/>
        </p:nvSpPr>
        <p:spPr>
          <a:xfrm>
            <a:off x="4067175" y="4724400"/>
            <a:ext cx="1873250" cy="86518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solidFill>
                  <a:schemeClr val="tx1"/>
                </a:solidFill>
              </a:rPr>
              <a:t>User-3</a:t>
            </a:r>
            <a:endParaRPr lang="en-IN" dirty="0">
              <a:solidFill>
                <a:schemeClr val="tx1"/>
              </a:solidFill>
            </a:endParaRPr>
          </a:p>
        </p:txBody>
      </p:sp>
      <p:cxnSp>
        <p:nvCxnSpPr>
          <p:cNvPr id="22" name="Straight Connector 21">
            <a:extLst>
              <a:ext uri="{FF2B5EF4-FFF2-40B4-BE49-F238E27FC236}">
                <a16:creationId xmlns:a16="http://schemas.microsoft.com/office/drawing/2014/main" id="{99A3A5D3-BE79-4EA6-9119-41B2A63B692A}"/>
              </a:ext>
            </a:extLst>
          </p:cNvPr>
          <p:cNvCxnSpPr/>
          <p:nvPr/>
        </p:nvCxnSpPr>
        <p:spPr>
          <a:xfrm rot="5400000">
            <a:off x="4428332" y="4220369"/>
            <a:ext cx="10080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08D1FF-CC6C-4940-887D-B103D9F5E33C}"/>
              </a:ext>
            </a:extLst>
          </p:cNvPr>
          <p:cNvCxnSpPr/>
          <p:nvPr/>
        </p:nvCxnSpPr>
        <p:spPr>
          <a:xfrm rot="10800000">
            <a:off x="2484438" y="3500438"/>
            <a:ext cx="1582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F01B7F0-C44A-4A62-A112-D778AEF2B009}"/>
              </a:ext>
            </a:extLst>
          </p:cNvPr>
          <p:cNvCxnSpPr/>
          <p:nvPr/>
        </p:nvCxnSpPr>
        <p:spPr>
          <a:xfrm rot="5400000">
            <a:off x="1800225" y="4184651"/>
            <a:ext cx="1368425" cy="0"/>
          </a:xfrm>
          <a:prstGeom prst="line">
            <a:avLst/>
          </a:prstGeom>
        </p:spPr>
        <p:style>
          <a:lnRef idx="1">
            <a:schemeClr val="accent1"/>
          </a:lnRef>
          <a:fillRef idx="0">
            <a:schemeClr val="accent1"/>
          </a:fillRef>
          <a:effectRef idx="0">
            <a:schemeClr val="accent1"/>
          </a:effectRef>
          <a:fontRef idx="minor">
            <a:schemeClr val="tx1"/>
          </a:fontRef>
        </p:style>
      </p:cxnSp>
      <p:sp>
        <p:nvSpPr>
          <p:cNvPr id="39948" name="Line 12">
            <a:extLst>
              <a:ext uri="{FF2B5EF4-FFF2-40B4-BE49-F238E27FC236}">
                <a16:creationId xmlns:a16="http://schemas.microsoft.com/office/drawing/2014/main" id="{CE51A5AD-C684-4A4D-9DF3-554ADD5F4D53}"/>
              </a:ext>
            </a:extLst>
          </p:cNvPr>
          <p:cNvSpPr>
            <a:spLocks noChangeShapeType="1"/>
          </p:cNvSpPr>
          <p:nvPr/>
        </p:nvSpPr>
        <p:spPr bwMode="auto">
          <a:xfrm>
            <a:off x="5943600" y="327660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9949" name="Text Box 13">
            <a:extLst>
              <a:ext uri="{FF2B5EF4-FFF2-40B4-BE49-F238E27FC236}">
                <a16:creationId xmlns:a16="http://schemas.microsoft.com/office/drawing/2014/main" id="{8C8BE21A-8FCF-4833-8D67-43CE6FD2CED3}"/>
              </a:ext>
            </a:extLst>
          </p:cNvPr>
          <p:cNvSpPr txBox="1">
            <a:spLocks noChangeArrowheads="1"/>
          </p:cNvSpPr>
          <p:nvPr/>
        </p:nvSpPr>
        <p:spPr bwMode="auto">
          <a:xfrm>
            <a:off x="6842125" y="3084513"/>
            <a:ext cx="3092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Single Instance</a:t>
            </a:r>
          </a:p>
          <a:p>
            <a:pPr eaLnBrk="1" hangingPunct="1"/>
            <a:r>
              <a:rPr lang="en-US" altLang="en-US"/>
              <a:t> Multi-tenancy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D2CA-FCAC-4855-8BEE-8CF8A10DA015}"/>
              </a:ext>
            </a:extLst>
          </p:cNvPr>
          <p:cNvSpPr>
            <a:spLocks noGrp="1"/>
          </p:cNvSpPr>
          <p:nvPr>
            <p:ph type="title" idx="4294967295"/>
          </p:nvPr>
        </p:nvSpPr>
        <p:spPr>
          <a:xfrm>
            <a:off x="1116013" y="44450"/>
            <a:ext cx="7497762" cy="639763"/>
          </a:xfrm>
        </p:spPr>
        <p:txBody>
          <a:bodyPr>
            <a:noAutofit/>
          </a:bodyPr>
          <a:lstStyle/>
          <a:p>
            <a:pPr eaLnBrk="1" fontAlgn="auto" hangingPunct="1">
              <a:spcAft>
                <a:spcPts val="0"/>
              </a:spcAft>
              <a:defRPr/>
            </a:pPr>
            <a:r>
              <a:rPr lang="en-US" sz="3400" dirty="0">
                <a:solidFill>
                  <a:schemeClr val="tx2">
                    <a:satMod val="130000"/>
                  </a:schemeClr>
                </a:solidFill>
              </a:rPr>
              <a:t>Architectural Overview for Multi-tenancy</a:t>
            </a:r>
            <a:endParaRPr lang="en-IN" sz="3400" dirty="0">
              <a:solidFill>
                <a:schemeClr val="tx2">
                  <a:satMod val="130000"/>
                </a:schemeClr>
              </a:solidFill>
            </a:endParaRPr>
          </a:p>
        </p:txBody>
      </p:sp>
      <p:sp>
        <p:nvSpPr>
          <p:cNvPr id="4" name="Rectangle 3">
            <a:extLst>
              <a:ext uri="{FF2B5EF4-FFF2-40B4-BE49-F238E27FC236}">
                <a16:creationId xmlns:a16="http://schemas.microsoft.com/office/drawing/2014/main" id="{42980FF8-8D51-47F4-8EAF-79DC658FDF31}"/>
              </a:ext>
            </a:extLst>
          </p:cNvPr>
          <p:cNvSpPr/>
          <p:nvPr/>
        </p:nvSpPr>
        <p:spPr>
          <a:xfrm>
            <a:off x="1619250" y="620713"/>
            <a:ext cx="1296988" cy="431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rPr>
              <a:t>Client</a:t>
            </a:r>
            <a:endParaRPr lang="en-IN" dirty="0">
              <a:solidFill>
                <a:schemeClr val="tx1"/>
              </a:solidFill>
            </a:endParaRPr>
          </a:p>
        </p:txBody>
      </p:sp>
      <p:sp>
        <p:nvSpPr>
          <p:cNvPr id="5" name="Rounded Rectangle 4">
            <a:extLst>
              <a:ext uri="{FF2B5EF4-FFF2-40B4-BE49-F238E27FC236}">
                <a16:creationId xmlns:a16="http://schemas.microsoft.com/office/drawing/2014/main" id="{749B39BD-CAE4-44FB-891B-47A066AE2A60}"/>
              </a:ext>
            </a:extLst>
          </p:cNvPr>
          <p:cNvSpPr/>
          <p:nvPr/>
        </p:nvSpPr>
        <p:spPr>
          <a:xfrm>
            <a:off x="1116013" y="1125538"/>
            <a:ext cx="7704137" cy="1798637"/>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solidFill>
                <a:schemeClr val="tx1"/>
              </a:solidFill>
            </a:endParaRPr>
          </a:p>
        </p:txBody>
      </p:sp>
      <p:cxnSp>
        <p:nvCxnSpPr>
          <p:cNvPr id="7" name="Straight Connector 6">
            <a:extLst>
              <a:ext uri="{FF2B5EF4-FFF2-40B4-BE49-F238E27FC236}">
                <a16:creationId xmlns:a16="http://schemas.microsoft.com/office/drawing/2014/main" id="{FD16854C-5BD4-49B9-87CE-977BB066AF0D}"/>
              </a:ext>
            </a:extLst>
          </p:cNvPr>
          <p:cNvCxnSpPr/>
          <p:nvPr/>
        </p:nvCxnSpPr>
        <p:spPr>
          <a:xfrm>
            <a:off x="1116013" y="1484313"/>
            <a:ext cx="7704137"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997E6D93-FD21-4CBB-A7C7-C34EBF33D0AA}"/>
              </a:ext>
            </a:extLst>
          </p:cNvPr>
          <p:cNvSpPr/>
          <p:nvPr/>
        </p:nvSpPr>
        <p:spPr>
          <a:xfrm>
            <a:off x="1187450" y="1125538"/>
            <a:ext cx="7561263" cy="358775"/>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Authentication</a:t>
            </a:r>
            <a:endParaRPr lang="en-IN" dirty="0"/>
          </a:p>
        </p:txBody>
      </p:sp>
      <p:sp>
        <p:nvSpPr>
          <p:cNvPr id="10" name="Rectangle 9">
            <a:extLst>
              <a:ext uri="{FF2B5EF4-FFF2-40B4-BE49-F238E27FC236}">
                <a16:creationId xmlns:a16="http://schemas.microsoft.com/office/drawing/2014/main" id="{C33AEFE4-697C-49BC-8610-E85610871899}"/>
              </a:ext>
            </a:extLst>
          </p:cNvPr>
          <p:cNvSpPr/>
          <p:nvPr/>
        </p:nvSpPr>
        <p:spPr>
          <a:xfrm>
            <a:off x="1195388" y="1916113"/>
            <a:ext cx="2339975" cy="4333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rPr>
              <a:t>Authentication Module</a:t>
            </a:r>
            <a:endParaRPr lang="en-IN" dirty="0">
              <a:solidFill>
                <a:schemeClr val="tx1"/>
              </a:solidFill>
            </a:endParaRPr>
          </a:p>
        </p:txBody>
      </p:sp>
      <p:sp>
        <p:nvSpPr>
          <p:cNvPr id="11" name="Rounded Rectangle 10">
            <a:extLst>
              <a:ext uri="{FF2B5EF4-FFF2-40B4-BE49-F238E27FC236}">
                <a16:creationId xmlns:a16="http://schemas.microsoft.com/office/drawing/2014/main" id="{3BBDD85F-CE71-41EB-AB99-C2250811B7BE}"/>
              </a:ext>
            </a:extLst>
          </p:cNvPr>
          <p:cNvSpPr/>
          <p:nvPr/>
        </p:nvSpPr>
        <p:spPr>
          <a:xfrm>
            <a:off x="5651500" y="1628775"/>
            <a:ext cx="3024188" cy="1216025"/>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solidFill>
                <a:schemeClr val="tx1"/>
              </a:solidFill>
            </a:endParaRPr>
          </a:p>
        </p:txBody>
      </p:sp>
      <p:cxnSp>
        <p:nvCxnSpPr>
          <p:cNvPr id="13" name="Straight Connector 12">
            <a:extLst>
              <a:ext uri="{FF2B5EF4-FFF2-40B4-BE49-F238E27FC236}">
                <a16:creationId xmlns:a16="http://schemas.microsoft.com/office/drawing/2014/main" id="{E41E8678-EFE2-4616-97A2-B5887C34A64C}"/>
              </a:ext>
            </a:extLst>
          </p:cNvPr>
          <p:cNvCxnSpPr/>
          <p:nvPr/>
        </p:nvCxnSpPr>
        <p:spPr>
          <a:xfrm>
            <a:off x="5651500" y="1989138"/>
            <a:ext cx="3024188"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DDDD9D49-6114-4A37-90FA-7001B257A6B1}"/>
              </a:ext>
            </a:extLst>
          </p:cNvPr>
          <p:cNvSpPr/>
          <p:nvPr/>
        </p:nvSpPr>
        <p:spPr>
          <a:xfrm>
            <a:off x="6596063" y="1628775"/>
            <a:ext cx="1576387" cy="360363"/>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Ticket Server</a:t>
            </a:r>
            <a:endParaRPr lang="en-IN" dirty="0"/>
          </a:p>
        </p:txBody>
      </p:sp>
      <p:sp>
        <p:nvSpPr>
          <p:cNvPr id="18" name="Rectangle 17">
            <a:extLst>
              <a:ext uri="{FF2B5EF4-FFF2-40B4-BE49-F238E27FC236}">
                <a16:creationId xmlns:a16="http://schemas.microsoft.com/office/drawing/2014/main" id="{966075F1-904D-464A-90EB-2854936245DA}"/>
              </a:ext>
            </a:extLst>
          </p:cNvPr>
          <p:cNvSpPr/>
          <p:nvPr/>
        </p:nvSpPr>
        <p:spPr>
          <a:xfrm>
            <a:off x="5795963" y="2060575"/>
            <a:ext cx="1584325" cy="7207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solidFill>
                <a:schemeClr val="tx1"/>
              </a:solidFill>
            </a:endParaRPr>
          </a:p>
        </p:txBody>
      </p:sp>
      <p:cxnSp>
        <p:nvCxnSpPr>
          <p:cNvPr id="20" name="Straight Connector 19">
            <a:extLst>
              <a:ext uri="{FF2B5EF4-FFF2-40B4-BE49-F238E27FC236}">
                <a16:creationId xmlns:a16="http://schemas.microsoft.com/office/drawing/2014/main" id="{DEC2CE38-D338-498F-8929-75CD15E19787}"/>
              </a:ext>
            </a:extLst>
          </p:cNvPr>
          <p:cNvCxnSpPr/>
          <p:nvPr/>
        </p:nvCxnSpPr>
        <p:spPr>
          <a:xfrm>
            <a:off x="5803900" y="2276475"/>
            <a:ext cx="15843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3D32A7-CDAD-4FD3-B0C1-BE0616A1D2F5}"/>
              </a:ext>
            </a:extLst>
          </p:cNvPr>
          <p:cNvCxnSpPr/>
          <p:nvPr/>
        </p:nvCxnSpPr>
        <p:spPr>
          <a:xfrm>
            <a:off x="5795963" y="2565400"/>
            <a:ext cx="1584325"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59F991AB-9E3F-46BF-91D3-3F409A66B104}"/>
              </a:ext>
            </a:extLst>
          </p:cNvPr>
          <p:cNvSpPr/>
          <p:nvPr/>
        </p:nvSpPr>
        <p:spPr>
          <a:xfrm>
            <a:off x="5661025" y="2060575"/>
            <a:ext cx="1574800"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Session Ticket</a:t>
            </a:r>
            <a:endParaRPr lang="en-IN" sz="1200" dirty="0"/>
          </a:p>
        </p:txBody>
      </p:sp>
      <p:sp>
        <p:nvSpPr>
          <p:cNvPr id="23" name="Rounded Rectangle 22">
            <a:extLst>
              <a:ext uri="{FF2B5EF4-FFF2-40B4-BE49-F238E27FC236}">
                <a16:creationId xmlns:a16="http://schemas.microsoft.com/office/drawing/2014/main" id="{0057BA69-F35F-43AF-A6FF-2E72437F7422}"/>
              </a:ext>
            </a:extLst>
          </p:cNvPr>
          <p:cNvSpPr/>
          <p:nvPr/>
        </p:nvSpPr>
        <p:spPr>
          <a:xfrm>
            <a:off x="5580063" y="2349500"/>
            <a:ext cx="1576387"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Token</a:t>
            </a:r>
            <a:endParaRPr lang="en-IN" sz="1200" dirty="0"/>
          </a:p>
        </p:txBody>
      </p:sp>
      <p:sp>
        <p:nvSpPr>
          <p:cNvPr id="24" name="Rounded Rectangle 23">
            <a:extLst>
              <a:ext uri="{FF2B5EF4-FFF2-40B4-BE49-F238E27FC236}">
                <a16:creationId xmlns:a16="http://schemas.microsoft.com/office/drawing/2014/main" id="{59C207E7-12E3-4B52-A9E1-086CF68D34B7}"/>
              </a:ext>
            </a:extLst>
          </p:cNvPr>
          <p:cNvSpPr/>
          <p:nvPr/>
        </p:nvSpPr>
        <p:spPr>
          <a:xfrm>
            <a:off x="5651500" y="2565400"/>
            <a:ext cx="1728788" cy="215900"/>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 + Create Ticket()</a:t>
            </a:r>
            <a:endParaRPr lang="en-IN" sz="1200" dirty="0"/>
          </a:p>
        </p:txBody>
      </p:sp>
      <p:sp>
        <p:nvSpPr>
          <p:cNvPr id="25" name="Flowchart: Magnetic Disk 24">
            <a:extLst>
              <a:ext uri="{FF2B5EF4-FFF2-40B4-BE49-F238E27FC236}">
                <a16:creationId xmlns:a16="http://schemas.microsoft.com/office/drawing/2014/main" id="{6D82216A-BE5A-4CDD-B946-F31AF3711C05}"/>
              </a:ext>
            </a:extLst>
          </p:cNvPr>
          <p:cNvSpPr/>
          <p:nvPr/>
        </p:nvSpPr>
        <p:spPr>
          <a:xfrm>
            <a:off x="7524750" y="2060575"/>
            <a:ext cx="1008063" cy="792163"/>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27" name="Rounded Rectangle 26">
            <a:extLst>
              <a:ext uri="{FF2B5EF4-FFF2-40B4-BE49-F238E27FC236}">
                <a16:creationId xmlns:a16="http://schemas.microsoft.com/office/drawing/2014/main" id="{3CF78F4E-1EDD-4A86-83E6-C41ED70C746A}"/>
              </a:ext>
            </a:extLst>
          </p:cNvPr>
          <p:cNvSpPr/>
          <p:nvPr/>
        </p:nvSpPr>
        <p:spPr>
          <a:xfrm>
            <a:off x="7532688" y="2276475"/>
            <a:ext cx="1071562" cy="576263"/>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Auth </a:t>
            </a:r>
          </a:p>
          <a:p>
            <a:pPr algn="ctr" eaLnBrk="1" fontAlgn="auto" hangingPunct="1">
              <a:spcBef>
                <a:spcPts val="0"/>
              </a:spcBef>
              <a:spcAft>
                <a:spcPts val="0"/>
              </a:spcAft>
              <a:defRPr/>
            </a:pPr>
            <a:r>
              <a:rPr lang="en-US" sz="1200" dirty="0"/>
              <a:t>Data</a:t>
            </a:r>
            <a:endParaRPr lang="en-IN" sz="1200" dirty="0"/>
          </a:p>
        </p:txBody>
      </p:sp>
      <p:sp>
        <p:nvSpPr>
          <p:cNvPr id="28" name="Rounded Rectangle 27">
            <a:extLst>
              <a:ext uri="{FF2B5EF4-FFF2-40B4-BE49-F238E27FC236}">
                <a16:creationId xmlns:a16="http://schemas.microsoft.com/office/drawing/2014/main" id="{537932FA-42B0-4ED9-8857-A8D25BFA48CA}"/>
              </a:ext>
            </a:extLst>
          </p:cNvPr>
          <p:cNvSpPr/>
          <p:nvPr/>
        </p:nvSpPr>
        <p:spPr>
          <a:xfrm>
            <a:off x="5003800" y="2997200"/>
            <a:ext cx="3816350" cy="1584325"/>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solidFill>
                <a:schemeClr val="tx1"/>
              </a:solidFill>
            </a:endParaRPr>
          </a:p>
        </p:txBody>
      </p:sp>
      <p:cxnSp>
        <p:nvCxnSpPr>
          <p:cNvPr id="29" name="Straight Connector 28">
            <a:extLst>
              <a:ext uri="{FF2B5EF4-FFF2-40B4-BE49-F238E27FC236}">
                <a16:creationId xmlns:a16="http://schemas.microsoft.com/office/drawing/2014/main" id="{2E916DF0-BDD7-4432-BFDF-F3CAA1889D06}"/>
              </a:ext>
            </a:extLst>
          </p:cNvPr>
          <p:cNvCxnSpPr/>
          <p:nvPr/>
        </p:nvCxnSpPr>
        <p:spPr>
          <a:xfrm>
            <a:off x="5003800" y="3357563"/>
            <a:ext cx="381635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Flowchart: Magnetic Disk 33">
            <a:extLst>
              <a:ext uri="{FF2B5EF4-FFF2-40B4-BE49-F238E27FC236}">
                <a16:creationId xmlns:a16="http://schemas.microsoft.com/office/drawing/2014/main" id="{026AB604-0D2A-46EA-9D60-94C0D565BBB1}"/>
              </a:ext>
            </a:extLst>
          </p:cNvPr>
          <p:cNvSpPr/>
          <p:nvPr/>
        </p:nvSpPr>
        <p:spPr>
          <a:xfrm>
            <a:off x="7596188" y="3429000"/>
            <a:ext cx="1008062" cy="1008063"/>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35" name="Rounded Rectangle 34">
            <a:extLst>
              <a:ext uri="{FF2B5EF4-FFF2-40B4-BE49-F238E27FC236}">
                <a16:creationId xmlns:a16="http://schemas.microsoft.com/office/drawing/2014/main" id="{1EC71BFD-FD7A-4C2F-BA0C-ACDA54CF6899}"/>
              </a:ext>
            </a:extLst>
          </p:cNvPr>
          <p:cNvSpPr/>
          <p:nvPr/>
        </p:nvSpPr>
        <p:spPr>
          <a:xfrm>
            <a:off x="7604125" y="3644900"/>
            <a:ext cx="1071563" cy="792163"/>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Tenant </a:t>
            </a:r>
            <a:r>
              <a:rPr lang="en-US" sz="1200" dirty="0" err="1"/>
              <a:t>Config</a:t>
            </a:r>
            <a:r>
              <a:rPr lang="en-US" sz="1200" dirty="0"/>
              <a:t> </a:t>
            </a:r>
          </a:p>
          <a:p>
            <a:pPr algn="ctr" eaLnBrk="1" fontAlgn="auto" hangingPunct="1">
              <a:spcBef>
                <a:spcPts val="0"/>
              </a:spcBef>
              <a:spcAft>
                <a:spcPts val="0"/>
              </a:spcAft>
              <a:defRPr/>
            </a:pPr>
            <a:r>
              <a:rPr lang="en-US" sz="1200" dirty="0"/>
              <a:t>Data</a:t>
            </a:r>
            <a:endParaRPr lang="en-IN" sz="1200" dirty="0"/>
          </a:p>
        </p:txBody>
      </p:sp>
      <p:sp>
        <p:nvSpPr>
          <p:cNvPr id="37" name="Rectangle 36">
            <a:extLst>
              <a:ext uri="{FF2B5EF4-FFF2-40B4-BE49-F238E27FC236}">
                <a16:creationId xmlns:a16="http://schemas.microsoft.com/office/drawing/2014/main" id="{5954D8D3-7889-4F93-AC5C-A6C748A926FF}"/>
              </a:ext>
            </a:extLst>
          </p:cNvPr>
          <p:cNvSpPr/>
          <p:nvPr/>
        </p:nvSpPr>
        <p:spPr>
          <a:xfrm>
            <a:off x="5076825" y="3429000"/>
            <a:ext cx="2339975" cy="2159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Layout Component</a:t>
            </a:r>
            <a:endParaRPr lang="en-IN" sz="1200" dirty="0">
              <a:solidFill>
                <a:schemeClr val="tx1"/>
              </a:solidFill>
            </a:endParaRPr>
          </a:p>
        </p:txBody>
      </p:sp>
      <p:sp>
        <p:nvSpPr>
          <p:cNvPr id="38" name="Rectangle 37">
            <a:extLst>
              <a:ext uri="{FF2B5EF4-FFF2-40B4-BE49-F238E27FC236}">
                <a16:creationId xmlns:a16="http://schemas.microsoft.com/office/drawing/2014/main" id="{1B041072-9269-4DEB-89FC-FE069CE86FD7}"/>
              </a:ext>
            </a:extLst>
          </p:cNvPr>
          <p:cNvSpPr/>
          <p:nvPr/>
        </p:nvSpPr>
        <p:spPr>
          <a:xfrm>
            <a:off x="5076825" y="3716338"/>
            <a:ext cx="2339975" cy="217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Configuration Component</a:t>
            </a:r>
            <a:endParaRPr lang="en-IN" sz="1200" dirty="0">
              <a:solidFill>
                <a:schemeClr val="tx1"/>
              </a:solidFill>
            </a:endParaRPr>
          </a:p>
        </p:txBody>
      </p:sp>
      <p:sp>
        <p:nvSpPr>
          <p:cNvPr id="39" name="Rectangle 38">
            <a:extLst>
              <a:ext uri="{FF2B5EF4-FFF2-40B4-BE49-F238E27FC236}">
                <a16:creationId xmlns:a16="http://schemas.microsoft.com/office/drawing/2014/main" id="{4A24B9C3-B73F-4388-BAB2-33E58E66FE68}"/>
              </a:ext>
            </a:extLst>
          </p:cNvPr>
          <p:cNvSpPr/>
          <p:nvPr/>
        </p:nvSpPr>
        <p:spPr>
          <a:xfrm>
            <a:off x="5076825" y="4005263"/>
            <a:ext cx="2339975" cy="2159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File I/O Component</a:t>
            </a:r>
            <a:endParaRPr lang="en-IN" sz="1200" dirty="0">
              <a:solidFill>
                <a:schemeClr val="tx1"/>
              </a:solidFill>
            </a:endParaRPr>
          </a:p>
        </p:txBody>
      </p:sp>
      <p:sp>
        <p:nvSpPr>
          <p:cNvPr id="40" name="Rectangle 39">
            <a:extLst>
              <a:ext uri="{FF2B5EF4-FFF2-40B4-BE49-F238E27FC236}">
                <a16:creationId xmlns:a16="http://schemas.microsoft.com/office/drawing/2014/main" id="{02E78E15-768E-4F97-AE20-29F776A32102}"/>
              </a:ext>
            </a:extLst>
          </p:cNvPr>
          <p:cNvSpPr/>
          <p:nvPr/>
        </p:nvSpPr>
        <p:spPr>
          <a:xfrm>
            <a:off x="5076825" y="4292600"/>
            <a:ext cx="2339975" cy="2159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Workflow Component</a:t>
            </a:r>
            <a:endParaRPr lang="en-IN" sz="1200" dirty="0">
              <a:solidFill>
                <a:schemeClr val="tx1"/>
              </a:solidFill>
            </a:endParaRPr>
          </a:p>
        </p:txBody>
      </p:sp>
      <p:sp>
        <p:nvSpPr>
          <p:cNvPr id="41" name="Rounded Rectangle 40">
            <a:extLst>
              <a:ext uri="{FF2B5EF4-FFF2-40B4-BE49-F238E27FC236}">
                <a16:creationId xmlns:a16="http://schemas.microsoft.com/office/drawing/2014/main" id="{CFEBD1B2-8342-4FDA-9821-B302A2B933E3}"/>
              </a:ext>
            </a:extLst>
          </p:cNvPr>
          <p:cNvSpPr/>
          <p:nvPr/>
        </p:nvSpPr>
        <p:spPr>
          <a:xfrm>
            <a:off x="1979613" y="4652963"/>
            <a:ext cx="5905500" cy="863600"/>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solidFill>
                <a:schemeClr val="tx1"/>
              </a:solidFill>
            </a:endParaRPr>
          </a:p>
        </p:txBody>
      </p:sp>
      <p:cxnSp>
        <p:nvCxnSpPr>
          <p:cNvPr id="42" name="Straight Connector 41">
            <a:extLst>
              <a:ext uri="{FF2B5EF4-FFF2-40B4-BE49-F238E27FC236}">
                <a16:creationId xmlns:a16="http://schemas.microsoft.com/office/drawing/2014/main" id="{3B50A8C9-77EE-4DB8-ACC3-A5667D7CD3F4}"/>
              </a:ext>
            </a:extLst>
          </p:cNvPr>
          <p:cNvCxnSpPr/>
          <p:nvPr/>
        </p:nvCxnSpPr>
        <p:spPr>
          <a:xfrm>
            <a:off x="1979613" y="5013325"/>
            <a:ext cx="5903912"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ounded Rectangle 42">
            <a:extLst>
              <a:ext uri="{FF2B5EF4-FFF2-40B4-BE49-F238E27FC236}">
                <a16:creationId xmlns:a16="http://schemas.microsoft.com/office/drawing/2014/main" id="{549B95DA-5F72-4237-9320-91F9F0F7B09C}"/>
              </a:ext>
            </a:extLst>
          </p:cNvPr>
          <p:cNvSpPr/>
          <p:nvPr/>
        </p:nvSpPr>
        <p:spPr>
          <a:xfrm>
            <a:off x="1979613" y="4652963"/>
            <a:ext cx="5867400" cy="3603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Database</a:t>
            </a:r>
            <a:endParaRPr lang="en-IN" dirty="0"/>
          </a:p>
        </p:txBody>
      </p:sp>
      <p:sp>
        <p:nvSpPr>
          <p:cNvPr id="46" name="Rectangle 45">
            <a:extLst>
              <a:ext uri="{FF2B5EF4-FFF2-40B4-BE49-F238E27FC236}">
                <a16:creationId xmlns:a16="http://schemas.microsoft.com/office/drawing/2014/main" id="{FEBC0520-829F-4D71-99EA-76DB4CAC5F65}"/>
              </a:ext>
            </a:extLst>
          </p:cNvPr>
          <p:cNvSpPr/>
          <p:nvPr/>
        </p:nvSpPr>
        <p:spPr>
          <a:xfrm>
            <a:off x="2052638" y="5084763"/>
            <a:ext cx="1439862" cy="2159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Query Adjuster</a:t>
            </a:r>
            <a:endParaRPr lang="en-IN" sz="1200" dirty="0">
              <a:solidFill>
                <a:schemeClr val="tx1"/>
              </a:solidFill>
            </a:endParaRPr>
          </a:p>
        </p:txBody>
      </p:sp>
      <p:sp>
        <p:nvSpPr>
          <p:cNvPr id="50" name="Rectangle 49">
            <a:extLst>
              <a:ext uri="{FF2B5EF4-FFF2-40B4-BE49-F238E27FC236}">
                <a16:creationId xmlns:a16="http://schemas.microsoft.com/office/drawing/2014/main" id="{F642EF88-70C7-4FC4-82BA-38DB6B4FF725}"/>
              </a:ext>
            </a:extLst>
          </p:cNvPr>
          <p:cNvSpPr/>
          <p:nvPr/>
        </p:nvSpPr>
        <p:spPr>
          <a:xfrm>
            <a:off x="4068763" y="5084763"/>
            <a:ext cx="1439862" cy="2159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Load Balancer</a:t>
            </a:r>
            <a:endParaRPr lang="en-IN" sz="1200" dirty="0">
              <a:solidFill>
                <a:schemeClr val="tx1"/>
              </a:solidFill>
            </a:endParaRPr>
          </a:p>
        </p:txBody>
      </p:sp>
      <p:sp>
        <p:nvSpPr>
          <p:cNvPr id="51" name="Rectangle 50">
            <a:extLst>
              <a:ext uri="{FF2B5EF4-FFF2-40B4-BE49-F238E27FC236}">
                <a16:creationId xmlns:a16="http://schemas.microsoft.com/office/drawing/2014/main" id="{4B6E78D6-78EB-406D-A819-28951D04CE39}"/>
              </a:ext>
            </a:extLst>
          </p:cNvPr>
          <p:cNvSpPr/>
          <p:nvPr/>
        </p:nvSpPr>
        <p:spPr>
          <a:xfrm>
            <a:off x="5651500" y="5084763"/>
            <a:ext cx="1441450" cy="2000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solidFill>
                  <a:schemeClr val="tx1"/>
                </a:solidFill>
              </a:rPr>
              <a:t>Record </a:t>
            </a:r>
            <a:r>
              <a:rPr lang="en-US" sz="1200" dirty="0" err="1">
                <a:solidFill>
                  <a:schemeClr val="tx1"/>
                </a:solidFill>
              </a:rPr>
              <a:t>Initializer</a:t>
            </a:r>
            <a:endParaRPr lang="en-IN" sz="1200" dirty="0">
              <a:solidFill>
                <a:schemeClr val="tx1"/>
              </a:solidFill>
            </a:endParaRPr>
          </a:p>
        </p:txBody>
      </p:sp>
      <p:sp>
        <p:nvSpPr>
          <p:cNvPr id="52" name="Rounded Rectangle 51">
            <a:extLst>
              <a:ext uri="{FF2B5EF4-FFF2-40B4-BE49-F238E27FC236}">
                <a16:creationId xmlns:a16="http://schemas.microsoft.com/office/drawing/2014/main" id="{80E89630-6D96-4B07-83BC-DB8F4DC0A951}"/>
              </a:ext>
            </a:extLst>
          </p:cNvPr>
          <p:cNvSpPr/>
          <p:nvPr/>
        </p:nvSpPr>
        <p:spPr>
          <a:xfrm>
            <a:off x="2987675" y="5732463"/>
            <a:ext cx="3879850" cy="1081087"/>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dirty="0">
              <a:solidFill>
                <a:schemeClr val="tx1"/>
              </a:solidFill>
            </a:endParaRPr>
          </a:p>
        </p:txBody>
      </p:sp>
      <p:cxnSp>
        <p:nvCxnSpPr>
          <p:cNvPr id="53" name="Straight Connector 52">
            <a:extLst>
              <a:ext uri="{FF2B5EF4-FFF2-40B4-BE49-F238E27FC236}">
                <a16:creationId xmlns:a16="http://schemas.microsoft.com/office/drawing/2014/main" id="{E09019BF-203C-4BD9-AE9B-B4B4539C12A0}"/>
              </a:ext>
            </a:extLst>
          </p:cNvPr>
          <p:cNvCxnSpPr/>
          <p:nvPr/>
        </p:nvCxnSpPr>
        <p:spPr>
          <a:xfrm>
            <a:off x="2987675" y="6092825"/>
            <a:ext cx="3852863" cy="0"/>
          </a:xfrm>
          <a:prstGeom prst="line">
            <a:avLst/>
          </a:prstGeom>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3C3EBD74-D593-44A5-9ABA-6B5D98D4E826}"/>
              </a:ext>
            </a:extLst>
          </p:cNvPr>
          <p:cNvSpPr/>
          <p:nvPr/>
        </p:nvSpPr>
        <p:spPr>
          <a:xfrm>
            <a:off x="3016250" y="5732463"/>
            <a:ext cx="3851275" cy="3603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Database Pool</a:t>
            </a:r>
            <a:endParaRPr lang="en-IN" dirty="0"/>
          </a:p>
        </p:txBody>
      </p:sp>
      <p:sp>
        <p:nvSpPr>
          <p:cNvPr id="64" name="Flowchart: Magnetic Disk 63">
            <a:extLst>
              <a:ext uri="{FF2B5EF4-FFF2-40B4-BE49-F238E27FC236}">
                <a16:creationId xmlns:a16="http://schemas.microsoft.com/office/drawing/2014/main" id="{6E5D8A1D-A60A-47AC-B1B1-24FBD998C8AD}"/>
              </a:ext>
            </a:extLst>
          </p:cNvPr>
          <p:cNvSpPr/>
          <p:nvPr/>
        </p:nvSpPr>
        <p:spPr>
          <a:xfrm>
            <a:off x="3411538" y="6165850"/>
            <a:ext cx="720725" cy="576263"/>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65" name="Rounded Rectangle 64">
            <a:extLst>
              <a:ext uri="{FF2B5EF4-FFF2-40B4-BE49-F238E27FC236}">
                <a16:creationId xmlns:a16="http://schemas.microsoft.com/office/drawing/2014/main" id="{A8E31A48-2F29-4DC2-B5DB-2A68B6AB61C1}"/>
              </a:ext>
            </a:extLst>
          </p:cNvPr>
          <p:cNvSpPr/>
          <p:nvPr/>
        </p:nvSpPr>
        <p:spPr>
          <a:xfrm>
            <a:off x="3419475" y="6453188"/>
            <a:ext cx="712788" cy="1444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Data</a:t>
            </a:r>
            <a:endParaRPr lang="en-IN" sz="1200" dirty="0"/>
          </a:p>
        </p:txBody>
      </p:sp>
      <p:sp>
        <p:nvSpPr>
          <p:cNvPr id="66" name="Flowchart: Magnetic Disk 65">
            <a:extLst>
              <a:ext uri="{FF2B5EF4-FFF2-40B4-BE49-F238E27FC236}">
                <a16:creationId xmlns:a16="http://schemas.microsoft.com/office/drawing/2014/main" id="{89A1F0B5-1532-4B1B-887F-A5CB1477C9FF}"/>
              </a:ext>
            </a:extLst>
          </p:cNvPr>
          <p:cNvSpPr/>
          <p:nvPr/>
        </p:nvSpPr>
        <p:spPr>
          <a:xfrm>
            <a:off x="4635500" y="6165850"/>
            <a:ext cx="720725" cy="576263"/>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67" name="Rounded Rectangle 66">
            <a:extLst>
              <a:ext uri="{FF2B5EF4-FFF2-40B4-BE49-F238E27FC236}">
                <a16:creationId xmlns:a16="http://schemas.microsoft.com/office/drawing/2014/main" id="{1245325A-7D70-4B77-AF1C-68ADA32002FD}"/>
              </a:ext>
            </a:extLst>
          </p:cNvPr>
          <p:cNvSpPr/>
          <p:nvPr/>
        </p:nvSpPr>
        <p:spPr>
          <a:xfrm>
            <a:off x="4643438" y="6453188"/>
            <a:ext cx="712787" cy="1444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Data</a:t>
            </a:r>
            <a:endParaRPr lang="en-IN" sz="1200" dirty="0"/>
          </a:p>
        </p:txBody>
      </p:sp>
      <p:sp>
        <p:nvSpPr>
          <p:cNvPr id="68" name="Flowchart: Magnetic Disk 67">
            <a:extLst>
              <a:ext uri="{FF2B5EF4-FFF2-40B4-BE49-F238E27FC236}">
                <a16:creationId xmlns:a16="http://schemas.microsoft.com/office/drawing/2014/main" id="{C1F12F79-F31B-4F2C-A3E9-EB91D3DABF1E}"/>
              </a:ext>
            </a:extLst>
          </p:cNvPr>
          <p:cNvSpPr/>
          <p:nvPr/>
        </p:nvSpPr>
        <p:spPr>
          <a:xfrm>
            <a:off x="5788025" y="6165850"/>
            <a:ext cx="719138" cy="576263"/>
          </a:xfrm>
          <a:prstGeom prst="flowChartMagneticDisk">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69" name="Rounded Rectangle 68">
            <a:extLst>
              <a:ext uri="{FF2B5EF4-FFF2-40B4-BE49-F238E27FC236}">
                <a16:creationId xmlns:a16="http://schemas.microsoft.com/office/drawing/2014/main" id="{91B51EFE-1ACD-4B74-9F77-1F54A035AC47}"/>
              </a:ext>
            </a:extLst>
          </p:cNvPr>
          <p:cNvSpPr/>
          <p:nvPr/>
        </p:nvSpPr>
        <p:spPr>
          <a:xfrm>
            <a:off x="5795963" y="6453188"/>
            <a:ext cx="711200" cy="1444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Data</a:t>
            </a:r>
            <a:endParaRPr lang="en-IN" sz="1200" dirty="0"/>
          </a:p>
        </p:txBody>
      </p:sp>
      <p:cxnSp>
        <p:nvCxnSpPr>
          <p:cNvPr id="71" name="Straight Arrow Connector 70">
            <a:extLst>
              <a:ext uri="{FF2B5EF4-FFF2-40B4-BE49-F238E27FC236}">
                <a16:creationId xmlns:a16="http://schemas.microsoft.com/office/drawing/2014/main" id="{1DDF6D81-EF61-445A-8CA4-4EE8E7F16BF6}"/>
              </a:ext>
            </a:extLst>
          </p:cNvPr>
          <p:cNvCxnSpPr>
            <a:stCxn id="4" idx="2"/>
          </p:cNvCxnSpPr>
          <p:nvPr/>
        </p:nvCxnSpPr>
        <p:spPr>
          <a:xfrm rot="5400000">
            <a:off x="1835944" y="1485106"/>
            <a:ext cx="8636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27AFE3D-DC55-4A9A-B74E-743676F2F49E}"/>
              </a:ext>
            </a:extLst>
          </p:cNvPr>
          <p:cNvCxnSpPr/>
          <p:nvPr/>
        </p:nvCxnSpPr>
        <p:spPr>
          <a:xfrm>
            <a:off x="3563938" y="2133600"/>
            <a:ext cx="2087562" cy="0"/>
          </a:xfrm>
          <a:prstGeom prst="line">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75" name="Rounded Rectangle 74">
            <a:extLst>
              <a:ext uri="{FF2B5EF4-FFF2-40B4-BE49-F238E27FC236}">
                <a16:creationId xmlns:a16="http://schemas.microsoft.com/office/drawing/2014/main" id="{226CB078-D126-4DFB-9FA5-99408BD3FCCB}"/>
              </a:ext>
            </a:extLst>
          </p:cNvPr>
          <p:cNvSpPr/>
          <p:nvPr/>
        </p:nvSpPr>
        <p:spPr>
          <a:xfrm>
            <a:off x="1331913" y="3365500"/>
            <a:ext cx="1800225" cy="855663"/>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solidFill>
                  <a:schemeClr val="tx1"/>
                </a:solidFill>
              </a:rPr>
              <a:t>Single-tenant business logic</a:t>
            </a:r>
            <a:endParaRPr lang="en-IN" dirty="0">
              <a:solidFill>
                <a:schemeClr val="tx1"/>
              </a:solidFill>
            </a:endParaRPr>
          </a:p>
        </p:txBody>
      </p:sp>
      <p:cxnSp>
        <p:nvCxnSpPr>
          <p:cNvPr id="76" name="Straight Arrow Connector 75">
            <a:extLst>
              <a:ext uri="{FF2B5EF4-FFF2-40B4-BE49-F238E27FC236}">
                <a16:creationId xmlns:a16="http://schemas.microsoft.com/office/drawing/2014/main" id="{919480DD-3F4A-4127-B318-89D0F17C462C}"/>
              </a:ext>
            </a:extLst>
          </p:cNvPr>
          <p:cNvCxnSpPr/>
          <p:nvPr/>
        </p:nvCxnSpPr>
        <p:spPr>
          <a:xfrm rot="5400000">
            <a:off x="1762919" y="2851944"/>
            <a:ext cx="1008063"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22C203E-F9F0-4C12-9C76-EB15F6F67276}"/>
              </a:ext>
            </a:extLst>
          </p:cNvPr>
          <p:cNvCxnSpPr/>
          <p:nvPr/>
        </p:nvCxnSpPr>
        <p:spPr>
          <a:xfrm rot="5400000">
            <a:off x="1908969" y="4652169"/>
            <a:ext cx="8636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Rounded Rectangle 77">
            <a:extLst>
              <a:ext uri="{FF2B5EF4-FFF2-40B4-BE49-F238E27FC236}">
                <a16:creationId xmlns:a16="http://schemas.microsoft.com/office/drawing/2014/main" id="{F2545183-8FC5-402B-8D0E-BF263F96916E}"/>
              </a:ext>
            </a:extLst>
          </p:cNvPr>
          <p:cNvSpPr/>
          <p:nvPr/>
        </p:nvSpPr>
        <p:spPr>
          <a:xfrm flipH="1">
            <a:off x="2301875" y="4076700"/>
            <a:ext cx="325438" cy="1008063"/>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vert="vert" anchor="ctr"/>
          <a:lstStyle/>
          <a:p>
            <a:pPr algn="ctr" eaLnBrk="1" fontAlgn="auto" hangingPunct="1">
              <a:spcBef>
                <a:spcPts val="0"/>
              </a:spcBef>
              <a:spcAft>
                <a:spcPts val="0"/>
              </a:spcAft>
              <a:defRPr/>
            </a:pPr>
            <a:r>
              <a:rPr lang="en-US" sz="1200" dirty="0"/>
              <a:t>Query</a:t>
            </a:r>
            <a:endParaRPr lang="en-IN" sz="1200" dirty="0"/>
          </a:p>
        </p:txBody>
      </p:sp>
      <p:sp>
        <p:nvSpPr>
          <p:cNvPr id="79" name="Rounded Rectangle 78">
            <a:extLst>
              <a:ext uri="{FF2B5EF4-FFF2-40B4-BE49-F238E27FC236}">
                <a16:creationId xmlns:a16="http://schemas.microsoft.com/office/drawing/2014/main" id="{8433ED39-0199-42D1-9DEA-DB25C871A431}"/>
              </a:ext>
            </a:extLst>
          </p:cNvPr>
          <p:cNvSpPr/>
          <p:nvPr/>
        </p:nvSpPr>
        <p:spPr>
          <a:xfrm flipH="1">
            <a:off x="2662456" y="4077072"/>
            <a:ext cx="325368" cy="711584"/>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vert="vert270" anchor="ctr"/>
          <a:lstStyle/>
          <a:p>
            <a:pPr algn="ctr" eaLnBrk="1" fontAlgn="auto" hangingPunct="1">
              <a:spcBef>
                <a:spcPts val="0"/>
              </a:spcBef>
              <a:spcAft>
                <a:spcPts val="0"/>
              </a:spcAft>
              <a:defRPr/>
            </a:pPr>
            <a:r>
              <a:rPr lang="en-US" sz="1200" dirty="0"/>
              <a:t>Data</a:t>
            </a:r>
            <a:endParaRPr lang="en-IN" sz="1200" dirty="0"/>
          </a:p>
        </p:txBody>
      </p:sp>
      <p:cxnSp>
        <p:nvCxnSpPr>
          <p:cNvPr id="80" name="Straight Arrow Connector 79">
            <a:extLst>
              <a:ext uri="{FF2B5EF4-FFF2-40B4-BE49-F238E27FC236}">
                <a16:creationId xmlns:a16="http://schemas.microsoft.com/office/drawing/2014/main" id="{6541FF70-4B21-4BD8-8C5E-76D327BB0FB3}"/>
              </a:ext>
            </a:extLst>
          </p:cNvPr>
          <p:cNvCxnSpPr/>
          <p:nvPr/>
        </p:nvCxnSpPr>
        <p:spPr>
          <a:xfrm rot="5400000">
            <a:off x="2485232" y="4652169"/>
            <a:ext cx="863600" cy="1587"/>
          </a:xfrm>
          <a:prstGeom prst="straightConnector1">
            <a:avLst/>
          </a:prstGeom>
          <a:ln w="158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7A71791-07E5-48A0-B75E-E62DF27B10BE}"/>
              </a:ext>
            </a:extLst>
          </p:cNvPr>
          <p:cNvCxnSpPr/>
          <p:nvPr/>
        </p:nvCxnSpPr>
        <p:spPr>
          <a:xfrm>
            <a:off x="3492500" y="5157788"/>
            <a:ext cx="574675" cy="0"/>
          </a:xfrm>
          <a:prstGeom prst="line">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311F7D8-D5CC-4C49-BEE8-15A6D9C7F8D0}"/>
              </a:ext>
            </a:extLst>
          </p:cNvPr>
          <p:cNvCxnSpPr/>
          <p:nvPr/>
        </p:nvCxnSpPr>
        <p:spPr>
          <a:xfrm rot="5400000">
            <a:off x="4570413" y="5732463"/>
            <a:ext cx="865187" cy="1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Left Arrow 82">
            <a:extLst>
              <a:ext uri="{FF2B5EF4-FFF2-40B4-BE49-F238E27FC236}">
                <a16:creationId xmlns:a16="http://schemas.microsoft.com/office/drawing/2014/main" id="{D32AE670-5A2D-4FA7-A9F5-AE2515FAD7A9}"/>
              </a:ext>
            </a:extLst>
          </p:cNvPr>
          <p:cNvSpPr/>
          <p:nvPr/>
        </p:nvSpPr>
        <p:spPr>
          <a:xfrm>
            <a:off x="3203575" y="3573463"/>
            <a:ext cx="1800225" cy="215900"/>
          </a:xfrm>
          <a:prstGeom prst="leftArrow">
            <a:avLst/>
          </a:prstGeom>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84" name="Rounded Rectangle 83">
            <a:extLst>
              <a:ext uri="{FF2B5EF4-FFF2-40B4-BE49-F238E27FC236}">
                <a16:creationId xmlns:a16="http://schemas.microsoft.com/office/drawing/2014/main" id="{5AE4D5F1-AE71-44F8-B6EF-FDE1EB80BB2E}"/>
              </a:ext>
            </a:extLst>
          </p:cNvPr>
          <p:cNvSpPr/>
          <p:nvPr/>
        </p:nvSpPr>
        <p:spPr>
          <a:xfrm>
            <a:off x="3708400" y="1916113"/>
            <a:ext cx="1727200" cy="217487"/>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sz="1200" dirty="0"/>
              <a:t>Create Ticket()</a:t>
            </a:r>
            <a:endParaRPr lang="en-IN" sz="1200" dirty="0"/>
          </a:p>
        </p:txBody>
      </p:sp>
      <p:sp>
        <p:nvSpPr>
          <p:cNvPr id="85" name="Rounded Rectangle 84">
            <a:extLst>
              <a:ext uri="{FF2B5EF4-FFF2-40B4-BE49-F238E27FC236}">
                <a16:creationId xmlns:a16="http://schemas.microsoft.com/office/drawing/2014/main" id="{ACF0EF83-9790-4913-B8FD-5F6E351530D2}"/>
              </a:ext>
            </a:extLst>
          </p:cNvPr>
          <p:cNvSpPr/>
          <p:nvPr/>
        </p:nvSpPr>
        <p:spPr>
          <a:xfrm flipH="1">
            <a:off x="2301875" y="1052513"/>
            <a:ext cx="325438" cy="1008062"/>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vert="vert" anchor="ctr"/>
          <a:lstStyle/>
          <a:p>
            <a:pPr algn="ctr" eaLnBrk="1" fontAlgn="auto" hangingPunct="1">
              <a:spcBef>
                <a:spcPts val="0"/>
              </a:spcBef>
              <a:spcAft>
                <a:spcPts val="0"/>
              </a:spcAft>
              <a:defRPr/>
            </a:pPr>
            <a:r>
              <a:rPr lang="en-US" sz="1200" dirty="0"/>
              <a:t>HTTP</a:t>
            </a:r>
          </a:p>
          <a:p>
            <a:pPr algn="ctr" eaLnBrk="1" fontAlgn="auto" hangingPunct="1">
              <a:spcBef>
                <a:spcPts val="0"/>
              </a:spcBef>
              <a:spcAft>
                <a:spcPts val="0"/>
              </a:spcAft>
              <a:defRPr/>
            </a:pPr>
            <a:r>
              <a:rPr lang="en-US" sz="1200" dirty="0"/>
              <a:t>Request</a:t>
            </a:r>
            <a:endParaRPr lang="en-IN" sz="1200" dirty="0"/>
          </a:p>
        </p:txBody>
      </p:sp>
      <p:sp>
        <p:nvSpPr>
          <p:cNvPr id="86" name="Rounded Rectangle 85">
            <a:extLst>
              <a:ext uri="{FF2B5EF4-FFF2-40B4-BE49-F238E27FC236}">
                <a16:creationId xmlns:a16="http://schemas.microsoft.com/office/drawing/2014/main" id="{A476F41A-1DA8-4D95-B6C4-AD7DC334D511}"/>
              </a:ext>
            </a:extLst>
          </p:cNvPr>
          <p:cNvSpPr/>
          <p:nvPr/>
        </p:nvSpPr>
        <p:spPr>
          <a:xfrm>
            <a:off x="5076825" y="2997200"/>
            <a:ext cx="3706813" cy="360363"/>
          </a:xfrm>
          <a:prstGeom prst="roundRect">
            <a:avLst/>
          </a:prstGeom>
          <a:solidFill>
            <a:schemeClr val="bg1">
              <a:alpha val="0"/>
            </a:schemeClr>
          </a:solidFill>
          <a:ln>
            <a:solidFill>
              <a:schemeClr val="bg1">
                <a:alpha val="0"/>
              </a:schemeClr>
            </a:solid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dirty="0"/>
              <a:t>Configuration</a:t>
            </a:r>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96E2AFE-2EBE-481C-95BB-D6E391527ED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0" compatLnSpc="1">
            <a:prstTxWarp prst="textNoShape">
              <a:avLst/>
            </a:prstTxWarp>
          </a:bodyPr>
          <a:lstStyle/>
          <a:p>
            <a:pPr algn="ctr"/>
            <a:r>
              <a:rPr lang="en-US" altLang="en-US">
                <a:effectLst/>
              </a:rPr>
              <a:t>Provisioning for new tenants</a:t>
            </a:r>
          </a:p>
        </p:txBody>
      </p:sp>
      <p:sp>
        <p:nvSpPr>
          <p:cNvPr id="41987" name="Text Box 4">
            <a:extLst>
              <a:ext uri="{FF2B5EF4-FFF2-40B4-BE49-F238E27FC236}">
                <a16:creationId xmlns:a16="http://schemas.microsoft.com/office/drawing/2014/main" id="{A082FDD2-FB3A-4ED9-9C2F-7CE544ED6C9C}"/>
              </a:ext>
            </a:extLst>
          </p:cNvPr>
          <p:cNvSpPr txBox="1">
            <a:spLocks noChangeArrowheads="1"/>
          </p:cNvSpPr>
          <p:nvPr/>
        </p:nvSpPr>
        <p:spPr bwMode="auto">
          <a:xfrm>
            <a:off x="1508125" y="2017713"/>
            <a:ext cx="7331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Tx/>
              <a:buChar char="•"/>
            </a:pPr>
            <a:r>
              <a:rPr lang="en-US" altLang="en-US" sz="2400"/>
              <a:t> For Separate server model new machine is to be installed.</a:t>
            </a:r>
          </a:p>
          <a:p>
            <a:pPr eaLnBrk="1" hangingPunct="1">
              <a:buFontTx/>
              <a:buChar char="•"/>
            </a:pPr>
            <a:r>
              <a:rPr lang="en-US" altLang="en-US" sz="2400"/>
              <a:t> For separate database model create a database start it on a server.</a:t>
            </a:r>
          </a:p>
          <a:p>
            <a:pPr eaLnBrk="1" hangingPunct="1">
              <a:buFontTx/>
              <a:buChar char="•"/>
            </a:pPr>
            <a:r>
              <a:rPr lang="en-US" altLang="en-US" sz="2400"/>
              <a:t> For separate schema and shared schema models</a:t>
            </a:r>
            <a:r>
              <a:rPr lang="en-US" altLang="en-US"/>
              <a:t> </a:t>
            </a:r>
          </a:p>
          <a:p>
            <a:pPr eaLnBrk="1" hangingPunct="1"/>
            <a:r>
              <a:rPr lang="en-US" altLang="en-US"/>
              <a:t>    </a:t>
            </a:r>
            <a:r>
              <a:rPr lang="en-US" altLang="en-US" sz="2400"/>
              <a:t>scripts / stored procedure could create new schema in one of the existing databases.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A783B-F0AB-4F5A-8B61-8F823803F523}"/>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2">
                    <a:satMod val="130000"/>
                  </a:schemeClr>
                </a:solidFill>
              </a:rPr>
              <a:t>Background of the Application</a:t>
            </a:r>
          </a:p>
        </p:txBody>
      </p:sp>
      <p:sp>
        <p:nvSpPr>
          <p:cNvPr id="43011" name="Rounded Rectangle 3">
            <a:extLst>
              <a:ext uri="{FF2B5EF4-FFF2-40B4-BE49-F238E27FC236}">
                <a16:creationId xmlns:a16="http://schemas.microsoft.com/office/drawing/2014/main" id="{BA50D1F3-6EE5-4D61-995E-63730CC818CB}"/>
              </a:ext>
            </a:extLst>
          </p:cNvPr>
          <p:cNvSpPr>
            <a:spLocks noChangeArrowheads="1"/>
          </p:cNvSpPr>
          <p:nvPr/>
        </p:nvSpPr>
        <p:spPr bwMode="auto">
          <a:xfrm>
            <a:off x="1066800" y="1295400"/>
            <a:ext cx="7924800" cy="53340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000">
              <a:latin typeface="Gill Sans MT" panose="020B0502020104020203" pitchFamily="34" charset="0"/>
            </a:endParaRPr>
          </a:p>
          <a:p>
            <a:pPr eaLnBrk="1" hangingPunct="1"/>
            <a:endParaRPr lang="en-US" altLang="en-US" sz="2400">
              <a:latin typeface="Gill Sans MT" panose="020B0502020104020203" pitchFamily="34" charset="0"/>
            </a:endParaRPr>
          </a:p>
          <a:p>
            <a:pPr eaLnBrk="1" hangingPunct="1"/>
            <a:endParaRPr lang="en-US" altLang="en-US" sz="2400">
              <a:latin typeface="Gill Sans MT" panose="020B0502020104020203" pitchFamily="34" charset="0"/>
            </a:endParaRPr>
          </a:p>
          <a:p>
            <a:pPr eaLnBrk="1" hangingPunct="1"/>
            <a:r>
              <a:rPr lang="en-US" altLang="en-US" sz="2400">
                <a:latin typeface="Gill Sans MT" panose="020B0502020104020203" pitchFamily="34" charset="0"/>
              </a:rPr>
              <a:t>The existing application, which is implemented in state government departments, is having the following main sections:</a:t>
            </a:r>
          </a:p>
          <a:p>
            <a:pPr eaLnBrk="1" hangingPunct="1"/>
            <a:r>
              <a:rPr lang="en-US" altLang="en-US" sz="2400">
                <a:latin typeface="Gill Sans MT" panose="020B0502020104020203" pitchFamily="34" charset="0"/>
              </a:rPr>
              <a:t> </a:t>
            </a:r>
          </a:p>
          <a:p>
            <a:pPr eaLnBrk="1" hangingPunct="1">
              <a:buFont typeface="Wingdings" panose="05000000000000000000" pitchFamily="2" charset="2"/>
              <a:buChar char="Ø"/>
            </a:pPr>
            <a:r>
              <a:rPr lang="en-US" altLang="en-US" sz="2400">
                <a:latin typeface="Gill Sans MT" panose="020B0502020104020203" pitchFamily="34" charset="0"/>
              </a:rPr>
              <a:t> Data admin</a:t>
            </a:r>
          </a:p>
          <a:p>
            <a:pPr eaLnBrk="1" hangingPunct="1">
              <a:buFont typeface="Wingdings" panose="05000000000000000000" pitchFamily="2" charset="2"/>
              <a:buChar char="Ø"/>
            </a:pPr>
            <a:r>
              <a:rPr lang="en-US" altLang="en-US" sz="2400">
                <a:latin typeface="Gill Sans MT" panose="020B0502020104020203" pitchFamily="34" charset="0"/>
              </a:rPr>
              <a:t> Master data entry</a:t>
            </a:r>
          </a:p>
          <a:p>
            <a:pPr eaLnBrk="1" hangingPunct="1">
              <a:buFont typeface="Wingdings" panose="05000000000000000000" pitchFamily="2" charset="2"/>
              <a:buChar char="Ø"/>
            </a:pPr>
            <a:r>
              <a:rPr lang="en-US" altLang="en-US" sz="2400">
                <a:latin typeface="Gill Sans MT" panose="020B0502020104020203" pitchFamily="34" charset="0"/>
              </a:rPr>
              <a:t> Month process</a:t>
            </a:r>
          </a:p>
          <a:p>
            <a:pPr eaLnBrk="1" hangingPunct="1">
              <a:buFont typeface="Wingdings" panose="05000000000000000000" pitchFamily="2" charset="2"/>
              <a:buChar char="Ø"/>
            </a:pPr>
            <a:r>
              <a:rPr lang="en-US" altLang="en-US" sz="2400">
                <a:latin typeface="Gill Sans MT" panose="020B0502020104020203" pitchFamily="34" charset="0"/>
              </a:rPr>
              <a:t> Token no. entry   </a:t>
            </a:r>
          </a:p>
          <a:p>
            <a:pPr eaLnBrk="1" hangingPunct="1">
              <a:buFont typeface="Wingdings" panose="05000000000000000000" pitchFamily="2" charset="2"/>
              <a:buChar char="Ø"/>
            </a:pPr>
            <a:r>
              <a:rPr lang="en-US" altLang="en-US" sz="2400">
                <a:latin typeface="Gill Sans MT" panose="020B0502020104020203" pitchFamily="34" charset="0"/>
              </a:rPr>
              <a:t> Reports</a:t>
            </a:r>
          </a:p>
          <a:p>
            <a:pPr eaLnBrk="1" hangingPunct="1">
              <a:buFont typeface="Wingdings" panose="05000000000000000000" pitchFamily="2" charset="2"/>
              <a:buChar char="Ø"/>
            </a:pPr>
            <a:r>
              <a:rPr lang="en-US" altLang="en-US" sz="2400">
                <a:latin typeface="Gill Sans MT" panose="020B0502020104020203" pitchFamily="34" charset="0"/>
              </a:rPr>
              <a:t> Back up to system</a:t>
            </a:r>
          </a:p>
          <a:p>
            <a:pPr eaLnBrk="1" hangingPunct="1"/>
            <a:endParaRPr lang="en-US" altLang="en-US" sz="2400">
              <a:latin typeface="Gill Sans MT" panose="020B0502020104020203" pitchFamily="34" charset="0"/>
            </a:endParaRPr>
          </a:p>
          <a:p>
            <a:pPr eaLnBrk="1" hangingPunct="1"/>
            <a:r>
              <a:rPr lang="en-US" altLang="en-US" sz="2400">
                <a:latin typeface="Gill Sans MT" panose="020B0502020104020203" pitchFamily="34" charset="0"/>
              </a:rPr>
              <a:t>The existing package is deployed in the user premises and found difficult in regular    software maintenance and  overhead costs for the infrastructure requirements.</a:t>
            </a:r>
          </a:p>
          <a:p>
            <a:pPr eaLnBrk="1" hangingPunct="1"/>
            <a:r>
              <a:rPr lang="en-US" altLang="en-US" sz="2000">
                <a:latin typeface="Gill Sans MT" panose="020B0502020104020203" pitchFamily="34" charset="0"/>
              </a:rPr>
              <a:t> </a:t>
            </a:r>
          </a:p>
          <a:p>
            <a:pPr eaLnBrk="1" hangingPunct="1"/>
            <a:endParaRPr lang="en-US" altLang="en-US" sz="2000">
              <a:latin typeface="Gill Sans MT" panose="020B0502020104020203" pitchFamily="34" charset="0"/>
            </a:endParaRPr>
          </a:p>
          <a:p>
            <a:pPr eaLnBrk="1" hangingPunct="1"/>
            <a:endParaRPr lang="en-US" altLang="en-US" sz="2400">
              <a:latin typeface="Gill Sans MT" panose="020B0502020104020203"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ounded Rectangle 3">
            <a:extLst>
              <a:ext uri="{FF2B5EF4-FFF2-40B4-BE49-F238E27FC236}">
                <a16:creationId xmlns:a16="http://schemas.microsoft.com/office/drawing/2014/main" id="{397F9A39-AF5F-49C7-AAFD-C2D17D8C3D17}"/>
              </a:ext>
            </a:extLst>
          </p:cNvPr>
          <p:cNvSpPr>
            <a:spLocks noChangeArrowheads="1"/>
          </p:cNvSpPr>
          <p:nvPr/>
        </p:nvSpPr>
        <p:spPr bwMode="auto">
          <a:xfrm>
            <a:off x="1143000" y="533400"/>
            <a:ext cx="7772400" cy="6019800"/>
          </a:xfrm>
          <a:prstGeom prst="roundRect">
            <a:avLst>
              <a:gd name="adj" fmla="val 16667"/>
            </a:avLst>
          </a:prstGeom>
          <a:solidFill>
            <a:schemeClr val="bg1"/>
          </a:solidFill>
          <a:ln w="25400" algn="ctr">
            <a:solidFill>
              <a:srgbClr val="26697A"/>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latin typeface="Gill Sans MT" panose="020B0502020104020203" pitchFamily="34" charset="0"/>
              </a:rPr>
              <a:t>The application is ideally suited to deploy in cloud environment with following features:</a:t>
            </a:r>
          </a:p>
          <a:p>
            <a:pPr eaLnBrk="1" hangingPunct="1"/>
            <a:r>
              <a:rPr lang="en-US" altLang="en-US" sz="2000" b="1">
                <a:latin typeface="Gill Sans MT" panose="020B0502020104020203" pitchFamily="34" charset="0"/>
              </a:rPr>
              <a:t> </a:t>
            </a:r>
          </a:p>
          <a:p>
            <a:pPr eaLnBrk="1" hangingPunct="1">
              <a:buFont typeface="Wingdings" panose="05000000000000000000" pitchFamily="2" charset="2"/>
              <a:buChar char="Ø"/>
            </a:pPr>
            <a:r>
              <a:rPr lang="en-US" altLang="en-US" sz="2000">
                <a:latin typeface="Gill Sans MT" panose="020B0502020104020203" pitchFamily="34" charset="0"/>
              </a:rPr>
              <a:t> The application can be taken up as a single instance and multi-tenant model </a:t>
            </a:r>
          </a:p>
          <a:p>
            <a:pPr eaLnBrk="1" hangingPunct="1">
              <a:buFont typeface="Wingdings" panose="05000000000000000000" pitchFamily="2" charset="2"/>
              <a:buChar char="Ø"/>
            </a:pPr>
            <a:endParaRPr lang="en-US" altLang="en-US" sz="2000">
              <a:latin typeface="Gill Sans MT" panose="020B0502020104020203" pitchFamily="34" charset="0"/>
            </a:endParaRPr>
          </a:p>
          <a:p>
            <a:pPr eaLnBrk="1" hangingPunct="1">
              <a:buFont typeface="Wingdings" panose="05000000000000000000" pitchFamily="2" charset="2"/>
              <a:buChar char="Ø"/>
            </a:pPr>
            <a:r>
              <a:rPr lang="en-US" altLang="en-US" sz="2000">
                <a:latin typeface="Gill Sans MT" panose="020B0502020104020203" pitchFamily="34" charset="0"/>
              </a:rPr>
              <a:t> Configurability option in the software is required to be provided.</a:t>
            </a:r>
          </a:p>
          <a:p>
            <a:pPr eaLnBrk="1" hangingPunct="1"/>
            <a:r>
              <a:rPr lang="en-US" altLang="en-US" sz="2000">
                <a:latin typeface="Gill Sans MT" panose="020B0502020104020203" pitchFamily="34" charset="0"/>
              </a:rPr>
              <a:t>Configurability in SaaS enables the flexibility to access the software by many tenants with the option of configuring each tenant for their application needs.</a:t>
            </a:r>
          </a:p>
          <a:p>
            <a:pPr eaLnBrk="1" hangingPunct="1"/>
            <a:endParaRPr lang="en-US" altLang="en-US" sz="2000">
              <a:latin typeface="Gill Sans MT" panose="020B0502020104020203" pitchFamily="34" charset="0"/>
            </a:endParaRPr>
          </a:p>
          <a:p>
            <a:pPr eaLnBrk="1" hangingPunct="1">
              <a:buFont typeface="Wingdings" panose="05000000000000000000" pitchFamily="2" charset="2"/>
              <a:buChar char="Ø"/>
            </a:pPr>
            <a:r>
              <a:rPr lang="en-US" altLang="en-US" sz="2000">
                <a:latin typeface="Gill Sans MT" panose="020B0502020104020203" pitchFamily="34" charset="0"/>
              </a:rPr>
              <a:t> The software will have configurability for the following :</a:t>
            </a:r>
          </a:p>
          <a:p>
            <a:pPr eaLnBrk="1" hangingPunct="1"/>
            <a:r>
              <a:rPr lang="en-US" altLang="en-US" sz="2000">
                <a:latin typeface="Gill Sans MT" panose="020B0502020104020203" pitchFamily="34" charset="0"/>
              </a:rPr>
              <a:t>                          </a:t>
            </a:r>
          </a:p>
          <a:p>
            <a:pPr eaLnBrk="1" hangingPunct="1">
              <a:buFont typeface="Gill Sans MT" panose="020B0502020104020203" pitchFamily="34" charset="0"/>
              <a:buAutoNum type="arabicPeriod"/>
            </a:pPr>
            <a:r>
              <a:rPr lang="en-US" altLang="en-US" sz="2000">
                <a:latin typeface="Gill Sans MT" panose="020B0502020104020203" pitchFamily="34" charset="0"/>
              </a:rPr>
              <a:t>User interface.</a:t>
            </a:r>
          </a:p>
          <a:p>
            <a:pPr eaLnBrk="1" hangingPunct="1">
              <a:buFont typeface="Gill Sans MT" panose="020B0502020104020203" pitchFamily="34" charset="0"/>
              <a:buAutoNum type="arabicPeriod"/>
            </a:pPr>
            <a:r>
              <a:rPr lang="en-US" altLang="en-US" sz="2000">
                <a:latin typeface="Gill Sans MT" panose="020B0502020104020203" pitchFamily="34" charset="0"/>
              </a:rPr>
              <a:t>Workflow.</a:t>
            </a:r>
          </a:p>
          <a:p>
            <a:pPr eaLnBrk="1" hangingPunct="1">
              <a:buFont typeface="Gill Sans MT" panose="020B0502020104020203" pitchFamily="34" charset="0"/>
              <a:buAutoNum type="arabicPeriod"/>
            </a:pPr>
            <a:r>
              <a:rPr lang="en-US" altLang="en-US" sz="2000">
                <a:latin typeface="Gill Sans MT" panose="020B0502020104020203" pitchFamily="34" charset="0"/>
              </a:rPr>
              <a:t>Data.</a:t>
            </a:r>
          </a:p>
          <a:p>
            <a:pPr eaLnBrk="1" hangingPunct="1">
              <a:buFont typeface="Gill Sans MT" panose="020B0502020104020203" pitchFamily="34" charset="0"/>
              <a:buAutoNum type="arabicPeriod"/>
            </a:pPr>
            <a:r>
              <a:rPr lang="en-US" altLang="en-US" sz="2000">
                <a:latin typeface="Gill Sans MT" panose="020B0502020104020203" pitchFamily="34" charset="0"/>
              </a:rPr>
              <a:t>Access control. </a:t>
            </a:r>
          </a:p>
          <a:p>
            <a:pPr algn="ctr" eaLnBrk="1" hangingPunct="1"/>
            <a:endParaRPr lang="en-US" altLang="en-US" sz="2000">
              <a:latin typeface="Gill Sans MT" panose="020B0502020104020203"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53" name="Group 29">
            <a:extLst>
              <a:ext uri="{FF2B5EF4-FFF2-40B4-BE49-F238E27FC236}">
                <a16:creationId xmlns:a16="http://schemas.microsoft.com/office/drawing/2014/main" id="{7D7D896F-DA48-48A0-A383-04DE1F130E1B}"/>
              </a:ext>
            </a:extLst>
          </p:cNvPr>
          <p:cNvGraphicFramePr>
            <a:graphicFrameLocks noGrp="1"/>
          </p:cNvGraphicFramePr>
          <p:nvPr/>
        </p:nvGraphicFramePr>
        <p:xfrm>
          <a:off x="1033463" y="906463"/>
          <a:ext cx="7805737" cy="5875503"/>
        </p:xfrm>
        <a:graphic>
          <a:graphicData uri="http://schemas.openxmlformats.org/drawingml/2006/table">
            <a:tbl>
              <a:tblPr/>
              <a:tblGrid>
                <a:gridCol w="2601912">
                  <a:extLst>
                    <a:ext uri="{9D8B030D-6E8A-4147-A177-3AD203B41FA5}">
                      <a16:colId xmlns:a16="http://schemas.microsoft.com/office/drawing/2014/main" val="20000"/>
                    </a:ext>
                  </a:extLst>
                </a:gridCol>
                <a:gridCol w="2601913">
                  <a:extLst>
                    <a:ext uri="{9D8B030D-6E8A-4147-A177-3AD203B41FA5}">
                      <a16:colId xmlns:a16="http://schemas.microsoft.com/office/drawing/2014/main" val="20001"/>
                    </a:ext>
                  </a:extLst>
                </a:gridCol>
                <a:gridCol w="2601912">
                  <a:extLst>
                    <a:ext uri="{9D8B030D-6E8A-4147-A177-3AD203B41FA5}">
                      <a16:colId xmlns:a16="http://schemas.microsoft.com/office/drawing/2014/main" val="20002"/>
                    </a:ext>
                  </a:extLst>
                </a:gridCol>
              </a:tblGrid>
              <a:tr h="5569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tx1"/>
                          </a:solidFill>
                          <a:effectLst/>
                          <a:latin typeface="Gill Sans MT" pitchFamily="34" charset="0"/>
                          <a:cs typeface="Arial" charset="0"/>
                        </a:rPr>
                        <a:t>User requirements / Use cases</a:t>
                      </a:r>
                      <a:endParaRPr kumimoji="0" lang="en-US" sz="1300" b="0" i="0" u="none" strike="noStrike" cap="none" normalizeH="0" baseline="0">
                        <a:ln>
                          <a:noFill/>
                        </a:ln>
                        <a:solidFill>
                          <a:schemeClr val="tx1"/>
                        </a:solidFill>
                        <a:effectLst/>
                        <a:latin typeface="Gill Sans MT" pitchFamily="34" charset="0"/>
                        <a:cs typeface="Arial" charset="0"/>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tx1"/>
                          </a:solidFill>
                          <a:effectLst/>
                          <a:latin typeface="Gill Sans MT" pitchFamily="34" charset="0"/>
                          <a:cs typeface="Arial" charset="0"/>
                        </a:rPr>
                        <a:t>Type of environment in cloud</a:t>
                      </a:r>
                      <a:endParaRPr kumimoji="0" lang="en-US" sz="1300" b="0" i="0" u="none" strike="noStrike" cap="none" normalizeH="0" baseline="0">
                        <a:ln>
                          <a:noFill/>
                        </a:ln>
                        <a:solidFill>
                          <a:schemeClr val="tx1"/>
                        </a:solidFill>
                        <a:effectLst/>
                        <a:latin typeface="Gill Sans MT" pitchFamily="34" charset="0"/>
                        <a:cs typeface="Arial" charset="0"/>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a:ln>
                            <a:noFill/>
                          </a:ln>
                          <a:solidFill>
                            <a:schemeClr val="tx1"/>
                          </a:solidFill>
                          <a:effectLst/>
                          <a:latin typeface="Gill Sans MT" pitchFamily="34" charset="0"/>
                          <a:cs typeface="Arial" charset="0"/>
                        </a:rPr>
                        <a:t>Impact </a:t>
                      </a:r>
                      <a:endParaRPr kumimoji="0" lang="en-US" sz="1300" b="0" i="0" u="none" strike="noStrike" cap="none" normalizeH="0" baseline="0">
                        <a:ln>
                          <a:noFill/>
                        </a:ln>
                        <a:solidFill>
                          <a:schemeClr val="tx1"/>
                        </a:solidFill>
                        <a:effectLst/>
                        <a:latin typeface="Gill Sans MT" pitchFamily="34" charset="0"/>
                        <a:cs typeface="Arial" charset="0"/>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78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Payroll processing</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IaaS (VM)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Cloud storage and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SaaS</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1. Processing time will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2. Hardware requirements will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3. Number of users can be increased with scalability.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4. Maintenance cost will be reduced.</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8196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Project Management</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PaaS and Cloud storage</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1. Processing time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2. Project execution time and cost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3. Efficient way of utilization of skill sets and manpower can be attained.</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78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e-Governance &amp; Office automation</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IaaS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Cloud storage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SaaS</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1. Hardware cost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2. CPU processing time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3. Accountability can be maintained.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4. Maintainance cost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5. Reduces energy consumption.</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8007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e-Learning</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Cloud storage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IaaS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PaaS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SaaS</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1. Hardware cost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2. CPU processing time can be reduced.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3. Accountability can be maintained.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chemeClr val="tx1"/>
                          </a:solidFill>
                          <a:effectLst/>
                          <a:latin typeface="Gill Sans MT" pitchFamily="34" charset="0"/>
                          <a:cs typeface="Arial" charset="0"/>
                        </a:rPr>
                        <a:t>4. Maintainance cost can be reduced.</a:t>
                      </a: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Title 1">
            <a:extLst>
              <a:ext uri="{FF2B5EF4-FFF2-40B4-BE49-F238E27FC236}">
                <a16:creationId xmlns:a16="http://schemas.microsoft.com/office/drawing/2014/main" id="{A9427E6B-BFE5-426B-8D2B-09CEB68782C4}"/>
              </a:ext>
            </a:extLst>
          </p:cNvPr>
          <p:cNvSpPr>
            <a:spLocks noGrp="1"/>
          </p:cNvSpPr>
          <p:nvPr>
            <p:ph type="title" idx="4294967295"/>
          </p:nvPr>
        </p:nvSpPr>
        <p:spPr>
          <a:xfrm>
            <a:off x="990600" y="228600"/>
            <a:ext cx="7497763" cy="609600"/>
          </a:xfrm>
        </p:spPr>
        <p:txBody>
          <a:bodyPr vert="horz" wrap="square" lIns="91440" tIns="45720" rIns="91440" bIns="45720" numCol="1" anchorCtr="0" compatLnSpc="1">
            <a:prstTxWarp prst="textNoShape">
              <a:avLst/>
            </a:prstTxWarp>
            <a:normAutofit fontScale="90000"/>
          </a:bodyPr>
          <a:lstStyle/>
          <a:p>
            <a:pPr algn="ctr" eaLnBrk="1" hangingPunct="1">
              <a:defRPr/>
            </a:pPr>
            <a:r>
              <a:rPr lang="en-US" sz="3900">
                <a:effectLst>
                  <a:outerShdw blurRad="38100" dist="38100" dir="2700000" algn="tl">
                    <a:srgbClr val="C0C0C0"/>
                  </a:outerShdw>
                </a:effectLst>
              </a:rPr>
              <a:t> SaaS Applications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E743543-F100-4FE4-9A0A-4CEE642FC3C5}"/>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0" compatLnSpc="1">
            <a:prstTxWarp prst="textNoShape">
              <a:avLst/>
            </a:prstTxWarp>
          </a:bodyPr>
          <a:lstStyle/>
          <a:p>
            <a:pPr algn="ctr"/>
            <a:r>
              <a:rPr lang="en-US" altLang="en-US">
                <a:effectLst/>
              </a:rPr>
              <a:t>SOA and Cloud Computing</a:t>
            </a:r>
          </a:p>
        </p:txBody>
      </p:sp>
      <p:sp>
        <p:nvSpPr>
          <p:cNvPr id="46083" name="Rectangle 3">
            <a:extLst>
              <a:ext uri="{FF2B5EF4-FFF2-40B4-BE49-F238E27FC236}">
                <a16:creationId xmlns:a16="http://schemas.microsoft.com/office/drawing/2014/main" id="{4583E084-43B8-415A-9D7B-C1874F790BAA}"/>
              </a:ext>
            </a:extLst>
          </p:cNvPr>
          <p:cNvSpPr>
            <a:spLocks noGrp="1"/>
          </p:cNvSpPr>
          <p:nvPr>
            <p:ph type="body" idx="1"/>
          </p:nvPr>
        </p:nvSpPr>
        <p:spPr/>
        <p:txBody>
          <a:bodyPr/>
          <a:lstStyle/>
          <a:p>
            <a:pPr>
              <a:buFont typeface="Wingdings 2" panose="05020102010507070707" pitchFamily="18" charset="2"/>
              <a:buNone/>
            </a:pPr>
            <a:r>
              <a:rPr lang="en-US" altLang="en-US" sz="2400"/>
              <a:t>   In cloud environment we adopt the bundling of resources into layers of </a:t>
            </a:r>
          </a:p>
          <a:p>
            <a:pPr>
              <a:buFont typeface="Wingdings 2" panose="05020102010507070707" pitchFamily="18" charset="2"/>
              <a:buNone/>
            </a:pPr>
            <a:r>
              <a:rPr lang="en-US" altLang="en-US" sz="2400"/>
              <a:t>                          Saas</a:t>
            </a:r>
          </a:p>
          <a:p>
            <a:pPr>
              <a:buFont typeface="Wingdings 2" panose="05020102010507070707" pitchFamily="18" charset="2"/>
              <a:buNone/>
            </a:pPr>
            <a:r>
              <a:rPr lang="en-US" altLang="en-US" sz="2400"/>
              <a:t>                          Paas</a:t>
            </a:r>
          </a:p>
          <a:p>
            <a:pPr>
              <a:buFont typeface="Wingdings 2" panose="05020102010507070707" pitchFamily="18" charset="2"/>
              <a:buNone/>
            </a:pPr>
            <a:r>
              <a:rPr lang="en-US" altLang="en-US" sz="2400"/>
              <a:t>                          Iaas</a:t>
            </a:r>
          </a:p>
          <a:p>
            <a:pPr>
              <a:buFont typeface="Wingdings 2" panose="05020102010507070707" pitchFamily="18" charset="2"/>
              <a:buNone/>
            </a:pPr>
            <a:r>
              <a:rPr lang="en-US" altLang="en-US" sz="2400"/>
              <a:t>   And further add a layer for business process management with the concept of service oriented architecture(SOA</a:t>
            </a:r>
            <a:r>
              <a:rPr lang="en-US" altLang="en-US"/>
              <a:t>).</a:t>
            </a:r>
          </a:p>
          <a:p>
            <a:pPr>
              <a:buFont typeface="Wingdings 2" panose="05020102010507070707" pitchFamily="18" charset="2"/>
              <a:buNone/>
            </a:pPr>
            <a:r>
              <a:rPr lang="en-US" altLang="en-US"/>
              <a:t>  </a:t>
            </a:r>
            <a:r>
              <a:rPr lang="en-US" altLang="en-US" sz="2400"/>
              <a:t>SOA is a base for further building of cloud environment for composite application with work flow concepts.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WordArt 6" descr="Paper bag">
            <a:extLst>
              <a:ext uri="{FF2B5EF4-FFF2-40B4-BE49-F238E27FC236}">
                <a16:creationId xmlns:a16="http://schemas.microsoft.com/office/drawing/2014/main" id="{03C05180-561E-4B88-B13B-1758B8F98375}"/>
              </a:ext>
            </a:extLst>
          </p:cNvPr>
          <p:cNvSpPr>
            <a:spLocks noChangeArrowheads="1" noChangeShapeType="1" noTextEdit="1"/>
          </p:cNvSpPr>
          <p:nvPr/>
        </p:nvSpPr>
        <p:spPr bwMode="auto">
          <a:xfrm>
            <a:off x="1905000" y="2514600"/>
            <a:ext cx="5943600" cy="1524000"/>
          </a:xfrm>
          <a:prstGeom prst="rect">
            <a:avLst/>
          </a:prstGeom>
        </p:spPr>
        <p:txBody>
          <a:bodyPr wrap="none" fromWordArt="1">
            <a:prstTxWarp prst="textPlain">
              <a:avLst>
                <a:gd name="adj" fmla="val 50000"/>
              </a:avLst>
            </a:prstTxWarp>
          </a:bodyPr>
          <a:lstStyle/>
          <a:p>
            <a:pPr algn="ctr"/>
            <a:r>
              <a:rPr lang="en-IN" sz="3600" b="1" kern="10">
                <a:ln w="9525">
                  <a:solidFill>
                    <a:srgbClr val="008000"/>
                  </a:solidFill>
                  <a:round/>
                  <a:headEnd/>
                  <a:tailEnd/>
                </a:ln>
                <a:blipFill dpi="0" rotWithShape="0">
                  <a:blip r:embed="rId2"/>
                  <a:srcRect/>
                  <a:tile tx="0" ty="0" sx="100000" sy="100000" flip="none" algn="tl"/>
                </a:blipFill>
                <a:effectLst>
                  <a:outerShdw dist="563972" dir="14049741" sx="125000" sy="125000" algn="tl" rotWithShape="0">
                    <a:srgbClr val="C7DFD3">
                      <a:alpha val="79999"/>
                    </a:srgbClr>
                  </a:outerShdw>
                </a:effectLst>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Sky</Template>
  <TotalTime>20690</TotalTime>
  <Words>3415</Words>
  <Application>Microsoft Office PowerPoint</Application>
  <PresentationFormat>On-screen Show (4:3)</PresentationFormat>
  <Paragraphs>558</Paragraphs>
  <Slides>66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66</vt:i4>
      </vt:variant>
    </vt:vector>
  </HeadingPairs>
  <TitlesOfParts>
    <vt:vector size="78" baseType="lpstr">
      <vt:lpstr>ＭＳ Ｐゴシック</vt:lpstr>
      <vt:lpstr>新細明體</vt:lpstr>
      <vt:lpstr>Arial</vt:lpstr>
      <vt:lpstr>Calibri</vt:lpstr>
      <vt:lpstr>Cambria</vt:lpstr>
      <vt:lpstr>Gill Sans MT</vt:lpstr>
      <vt:lpstr>Helvetica</vt:lpstr>
      <vt:lpstr>Osaka</vt:lpstr>
      <vt:lpstr>Times New Roman</vt:lpstr>
      <vt:lpstr>Wingdings</vt:lpstr>
      <vt:lpstr>Wingdings 2</vt:lpstr>
      <vt:lpstr>Sky</vt:lpstr>
      <vt:lpstr>Service Models</vt:lpstr>
      <vt:lpstr>PowerPoint Presentation</vt:lpstr>
      <vt:lpstr>PowerPoint Presentation</vt:lpstr>
      <vt:lpstr>PowerPoint Presentation</vt:lpstr>
      <vt:lpstr>PowerPoint Presentation</vt:lpstr>
      <vt:lpstr>PowerPoint Presentation</vt:lpstr>
      <vt:lpstr>PowerPoint Presentation</vt:lpstr>
      <vt:lpstr>Service Models Overview</vt:lpstr>
      <vt:lpstr>Service Model Overview</vt:lpstr>
      <vt:lpstr>Service Models</vt:lpstr>
      <vt:lpstr>Infrastructure as a Service</vt:lpstr>
      <vt:lpstr>Infrastructure as a Service</vt:lpstr>
      <vt:lpstr>Infrastructure as a Service</vt:lpstr>
      <vt:lpstr>Infrastructure as a Service</vt:lpstr>
      <vt:lpstr>Infrastructure as a Service</vt:lpstr>
      <vt:lpstr>Infrastructure as a Service</vt:lpstr>
      <vt:lpstr>IaaS - Summary</vt:lpstr>
      <vt:lpstr>Service Models</vt:lpstr>
      <vt:lpstr>Platform as a Service</vt:lpstr>
      <vt:lpstr>Platform as a Service</vt:lpstr>
      <vt:lpstr>Platform as a Service</vt:lpstr>
      <vt:lpstr>Platform as a Service</vt:lpstr>
      <vt:lpstr>Platform as a Service </vt:lpstr>
      <vt:lpstr>PaaS - Summary</vt:lpstr>
      <vt:lpstr>Service Models</vt:lpstr>
      <vt:lpstr>Software as a Service</vt:lpstr>
      <vt:lpstr>Software as a Service</vt:lpstr>
      <vt:lpstr>Software as a Service</vt:lpstr>
      <vt:lpstr>Software as a Service</vt:lpstr>
      <vt:lpstr>Software as a Service</vt:lpstr>
      <vt:lpstr>SaaS - Summary</vt:lpstr>
      <vt:lpstr>Deployment models</vt:lpstr>
      <vt:lpstr>Deployment Model</vt:lpstr>
      <vt:lpstr>Public Cloud</vt:lpstr>
      <vt:lpstr>Private Cloud</vt:lpstr>
      <vt:lpstr>Public vs. Private</vt:lpstr>
      <vt:lpstr>Community Cloud</vt:lpstr>
      <vt:lpstr>Hybrid Cloud</vt:lpstr>
      <vt:lpstr>Cloud Ecosystem</vt:lpstr>
      <vt:lpstr>Summary </vt:lpstr>
      <vt:lpstr>Architectural Layers of Cloud Computing</vt:lpstr>
      <vt:lpstr>PowerPoint Presentation</vt:lpstr>
      <vt:lpstr>Framework of cloud computing</vt:lpstr>
      <vt:lpstr>Virtual infrastructure management and Cloud Computing</vt:lpstr>
      <vt:lpstr>PowerPoint Presentation</vt:lpstr>
      <vt:lpstr>View of Cloud Deployment</vt:lpstr>
      <vt:lpstr>Software as a Service</vt:lpstr>
      <vt:lpstr>Software as a Service</vt:lpstr>
      <vt:lpstr>MULTI-TENANCY</vt:lpstr>
      <vt:lpstr>PowerPoint Presentation</vt:lpstr>
      <vt:lpstr>Multi-tenants Deployment Modes for Application Server </vt:lpstr>
      <vt:lpstr>Multi-tenants Deployment Modes in Data Centers</vt:lpstr>
      <vt:lpstr>Conceptual framework of Software as a Service</vt:lpstr>
      <vt:lpstr>Migrating to Cloud Environment</vt:lpstr>
      <vt:lpstr>Payroll Processing in Cloud Computing</vt:lpstr>
      <vt:lpstr>Payroll Software Installed at more than 300 locations</vt:lpstr>
      <vt:lpstr>Drawbacks</vt:lpstr>
      <vt:lpstr>PowerPoint Presentation</vt:lpstr>
      <vt:lpstr>IN CLOUD</vt:lpstr>
      <vt:lpstr>Architectural Overview for Multi-tenancy</vt:lpstr>
      <vt:lpstr>Provisioning for new tenants</vt:lpstr>
      <vt:lpstr>Background of the Application</vt:lpstr>
      <vt:lpstr>PowerPoint Presentation</vt:lpstr>
      <vt:lpstr> SaaS Applications</vt:lpstr>
      <vt:lpstr>SOA and Cloud Computing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Cloud</dc:title>
  <dc:creator>cyhuang</dc:creator>
  <cp:lastModifiedBy>ashlesha sawant</cp:lastModifiedBy>
  <cp:revision>1668</cp:revision>
  <dcterms:created xsi:type="dcterms:W3CDTF">2006-08-16T00:00:00Z</dcterms:created>
  <dcterms:modified xsi:type="dcterms:W3CDTF">2025-07-24T05:16:00Z</dcterms:modified>
</cp:coreProperties>
</file>