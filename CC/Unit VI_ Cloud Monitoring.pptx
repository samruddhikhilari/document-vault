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60" r:id="rId5"/>
    <p:sldId id="261" r:id="rId6"/>
    <p:sldId id="262" r:id="rId7"/>
    <p:sldId id="263" r:id="rId8"/>
    <p:sldId id="274" r:id="rId9"/>
    <p:sldId id="259" r:id="rId10"/>
    <p:sldId id="275" r:id="rId11"/>
    <p:sldId id="264" r:id="rId12"/>
    <p:sldId id="265" r:id="rId13"/>
    <p:sldId id="266" r:id="rId14"/>
    <p:sldId id="267" r:id="rId15"/>
    <p:sldId id="268" r:id="rId16"/>
    <p:sldId id="269" r:id="rId17"/>
    <p:sldId id="270" r:id="rId18"/>
    <p:sldId id="271" r:id="rId19"/>
    <p:sldId id="272" r:id="rId20"/>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545" autoAdjust="0"/>
  </p:normalViewPr>
  <p:slideViewPr>
    <p:cSldViewPr>
      <p:cViewPr varScale="1">
        <p:scale>
          <a:sx n="58" d="100"/>
          <a:sy n="58" d="100"/>
        </p:scale>
        <p:origin x="77" y="25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6412D420-97E7-4F6C-AE30-A8A57FBEFA2B}" type="datetimeFigureOut">
              <a:rPr lang="en-IN" smtClean="0"/>
              <a:t>28-05-2022</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E920BAB1-A487-4559-819D-8284F34A9320}" type="slidenum">
              <a:rPr lang="en-IN" smtClean="0"/>
              <a:t>‹#›</a:t>
            </a:fld>
            <a:endParaRPr lang="en-IN"/>
          </a:p>
        </p:txBody>
      </p:sp>
    </p:spTree>
    <p:extLst>
      <p:ext uri="{BB962C8B-B14F-4D97-AF65-F5344CB8AC3E}">
        <p14:creationId xmlns:p14="http://schemas.microsoft.com/office/powerpoint/2010/main" val="2553481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Automatic and continuous watch, we can configure </a:t>
            </a:r>
            <a:r>
              <a:rPr lang="en-US" dirty="0" err="1"/>
              <a:t>allarams</a:t>
            </a:r>
            <a:r>
              <a:rPr lang="en-US" dirty="0"/>
              <a:t> with threshold</a:t>
            </a:r>
            <a:endParaRPr lang="en-IN" dirty="0"/>
          </a:p>
        </p:txBody>
      </p:sp>
      <p:sp>
        <p:nvSpPr>
          <p:cNvPr id="4" name="Slide Number Placeholder 3"/>
          <p:cNvSpPr>
            <a:spLocks noGrp="1"/>
          </p:cNvSpPr>
          <p:nvPr>
            <p:ph type="sldNum" sz="quarter" idx="5"/>
          </p:nvPr>
        </p:nvSpPr>
        <p:spPr/>
        <p:txBody>
          <a:bodyPr/>
          <a:lstStyle/>
          <a:p>
            <a:fld id="{E920BAB1-A487-4559-819D-8284F34A9320}" type="slidenum">
              <a:rPr lang="en-IN" smtClean="0"/>
              <a:t>3</a:t>
            </a:fld>
            <a:endParaRPr lang="en-IN"/>
          </a:p>
        </p:txBody>
      </p:sp>
    </p:spTree>
    <p:extLst>
      <p:ext uri="{BB962C8B-B14F-4D97-AF65-F5344CB8AC3E}">
        <p14:creationId xmlns:p14="http://schemas.microsoft.com/office/powerpoint/2010/main" val="3186511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Automatic and continuous watch, we can configure </a:t>
            </a:r>
            <a:r>
              <a:rPr lang="en-US" dirty="0" err="1"/>
              <a:t>allarams</a:t>
            </a:r>
            <a:r>
              <a:rPr lang="en-US" dirty="0"/>
              <a:t> with threshold</a:t>
            </a:r>
            <a:endParaRPr lang="en-IN" dirty="0"/>
          </a:p>
        </p:txBody>
      </p:sp>
      <p:sp>
        <p:nvSpPr>
          <p:cNvPr id="4" name="Slide Number Placeholder 3"/>
          <p:cNvSpPr>
            <a:spLocks noGrp="1"/>
          </p:cNvSpPr>
          <p:nvPr>
            <p:ph type="sldNum" sz="quarter" idx="5"/>
          </p:nvPr>
        </p:nvSpPr>
        <p:spPr/>
        <p:txBody>
          <a:bodyPr/>
          <a:lstStyle/>
          <a:p>
            <a:fld id="{E920BAB1-A487-4559-819D-8284F34A9320}" type="slidenum">
              <a:rPr lang="en-IN" smtClean="0"/>
              <a:t>8</a:t>
            </a:fld>
            <a:endParaRPr lang="en-IN"/>
          </a:p>
        </p:txBody>
      </p:sp>
    </p:spTree>
    <p:extLst>
      <p:ext uri="{BB962C8B-B14F-4D97-AF65-F5344CB8AC3E}">
        <p14:creationId xmlns:p14="http://schemas.microsoft.com/office/powerpoint/2010/main" val="357449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services .</a:t>
            </a:r>
          </a:p>
          <a:p>
            <a:r>
              <a:rPr lang="en-US" dirty="0"/>
              <a:t>By default each data point covers 5 min of activity .</a:t>
            </a:r>
          </a:p>
          <a:p>
            <a:r>
              <a:rPr lang="en-US" dirty="0"/>
              <a:t>It provides separate agent </a:t>
            </a:r>
            <a:endParaRPr lang="en-IN" dirty="0"/>
          </a:p>
        </p:txBody>
      </p:sp>
      <p:sp>
        <p:nvSpPr>
          <p:cNvPr id="4" name="Slide Number Placeholder 3"/>
          <p:cNvSpPr>
            <a:spLocks noGrp="1"/>
          </p:cNvSpPr>
          <p:nvPr>
            <p:ph type="sldNum" sz="quarter" idx="5"/>
          </p:nvPr>
        </p:nvSpPr>
        <p:spPr/>
        <p:txBody>
          <a:bodyPr/>
          <a:lstStyle/>
          <a:p>
            <a:fld id="{E920BAB1-A487-4559-819D-8284F34A9320}" type="slidenum">
              <a:rPr lang="en-IN" smtClean="0"/>
              <a:t>9</a:t>
            </a:fld>
            <a:endParaRPr lang="en-IN"/>
          </a:p>
        </p:txBody>
      </p:sp>
    </p:spTree>
    <p:extLst>
      <p:ext uri="{BB962C8B-B14F-4D97-AF65-F5344CB8AC3E}">
        <p14:creationId xmlns:p14="http://schemas.microsoft.com/office/powerpoint/2010/main" val="3011916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SDK your application can directly write to the application.</a:t>
            </a:r>
          </a:p>
          <a:p>
            <a:r>
              <a:rPr lang="en-US" dirty="0"/>
              <a:t>The Agent needs to configure to either use instance IAM role or needs to provide separate. With this Log Agent handles Log Event with its timestamp of the event and the payload . The destination is called </a:t>
            </a:r>
            <a:r>
              <a:rPr lang="en-US" dirty="0" err="1"/>
              <a:t>LogStream</a:t>
            </a:r>
            <a:r>
              <a:rPr lang="en-US" dirty="0"/>
              <a:t>.</a:t>
            </a:r>
          </a:p>
          <a:p>
            <a:r>
              <a:rPr lang="en-US" dirty="0" err="1"/>
              <a:t>LogStream</a:t>
            </a:r>
            <a:r>
              <a:rPr lang="en-US" dirty="0"/>
              <a:t> is sequence of log events  from the same source  So if we have two EC2 instance we will have two different Log Steam. All the </a:t>
            </a:r>
            <a:r>
              <a:rPr lang="en-US" dirty="0" err="1"/>
              <a:t>strearms</a:t>
            </a:r>
            <a:r>
              <a:rPr lang="en-US" dirty="0"/>
              <a:t> are grouped into log group.</a:t>
            </a:r>
          </a:p>
          <a:p>
            <a:r>
              <a:rPr lang="en-US" dirty="0"/>
              <a:t>When we have multiple app running in the instance each app can </a:t>
            </a:r>
            <a:r>
              <a:rPr lang="en-US" dirty="0" err="1"/>
              <a:t>saperate</a:t>
            </a:r>
            <a:r>
              <a:rPr lang="en-US" dirty="0"/>
              <a:t> log group </a:t>
            </a:r>
            <a:endParaRPr lang="en-IN" dirty="0"/>
          </a:p>
        </p:txBody>
      </p:sp>
      <p:sp>
        <p:nvSpPr>
          <p:cNvPr id="4" name="Slide Number Placeholder 3"/>
          <p:cNvSpPr>
            <a:spLocks noGrp="1"/>
          </p:cNvSpPr>
          <p:nvPr>
            <p:ph type="sldNum" sz="quarter" idx="5"/>
          </p:nvPr>
        </p:nvSpPr>
        <p:spPr/>
        <p:txBody>
          <a:bodyPr/>
          <a:lstStyle/>
          <a:p>
            <a:fld id="{E920BAB1-A487-4559-819D-8284F34A9320}" type="slidenum">
              <a:rPr lang="en-IN" smtClean="0"/>
              <a:t>11</a:t>
            </a:fld>
            <a:endParaRPr lang="en-IN"/>
          </a:p>
        </p:txBody>
      </p:sp>
    </p:spTree>
    <p:extLst>
      <p:ext uri="{BB962C8B-B14F-4D97-AF65-F5344CB8AC3E}">
        <p14:creationId xmlns:p14="http://schemas.microsoft.com/office/powerpoint/2010/main" val="758991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20BAB1-A487-4559-819D-8284F34A9320}" type="slidenum">
              <a:rPr lang="en-IN" smtClean="0"/>
              <a:t>12</a:t>
            </a:fld>
            <a:endParaRPr lang="en-IN"/>
          </a:p>
        </p:txBody>
      </p:sp>
    </p:spTree>
    <p:extLst>
      <p:ext uri="{BB962C8B-B14F-4D97-AF65-F5344CB8AC3E}">
        <p14:creationId xmlns:p14="http://schemas.microsoft.com/office/powerpoint/2010/main" val="2591297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4D4D4B"/>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4D4D4B"/>
                </a:solidFill>
                <a:latin typeface="Arial"/>
                <a:cs typeface="Arial"/>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4D4D4B"/>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5/28/2022</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5/28/2022</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5665" y="139065"/>
            <a:ext cx="8392668" cy="452120"/>
          </a:xfrm>
          <a:prstGeom prst="rect">
            <a:avLst/>
          </a:prstGeom>
        </p:spPr>
        <p:txBody>
          <a:bodyPr wrap="square" lIns="0" tIns="0" rIns="0" bIns="0">
            <a:spAutoFit/>
          </a:bodyPr>
          <a:lstStyle>
            <a:lvl1pPr>
              <a:defRPr sz="2800" b="1" i="0">
                <a:solidFill>
                  <a:srgbClr val="4D4D4B"/>
                </a:solidFill>
                <a:latin typeface="Arial"/>
                <a:cs typeface="Arial"/>
              </a:defRPr>
            </a:lvl1pPr>
          </a:lstStyle>
          <a:p>
            <a:endParaRPr/>
          </a:p>
        </p:txBody>
      </p:sp>
      <p:sp>
        <p:nvSpPr>
          <p:cNvPr id="3" name="Holder 3"/>
          <p:cNvSpPr>
            <a:spLocks noGrp="1"/>
          </p:cNvSpPr>
          <p:nvPr>
            <p:ph type="body" idx="1"/>
          </p:nvPr>
        </p:nvSpPr>
        <p:spPr>
          <a:xfrm>
            <a:off x="381406" y="1035177"/>
            <a:ext cx="8381187" cy="295211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23438" y="4961859"/>
            <a:ext cx="2896235" cy="139700"/>
          </a:xfrm>
          <a:prstGeom prst="rect">
            <a:avLst/>
          </a:prstGeom>
        </p:spPr>
        <p:txBody>
          <a:bodyPr wrap="square" lIns="0" tIns="0" rIns="0" bIns="0">
            <a:spAutoFit/>
          </a:bodyPr>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5/28/2022</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docs.aws.amazon.com/AmazonCloudWatch/latest/logs/FilterAndPatternSyntax.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5284" y="1776222"/>
            <a:ext cx="2645410" cy="635000"/>
          </a:xfrm>
          <a:prstGeom prst="rect">
            <a:avLst/>
          </a:prstGeom>
        </p:spPr>
        <p:txBody>
          <a:bodyPr vert="horz" wrap="square" lIns="0" tIns="12065" rIns="0" bIns="0" rtlCol="0">
            <a:spAutoFit/>
          </a:bodyPr>
          <a:lstStyle/>
          <a:p>
            <a:pPr marL="12700">
              <a:lnSpc>
                <a:spcPct val="100000"/>
              </a:lnSpc>
              <a:spcBef>
                <a:spcPts val="95"/>
              </a:spcBef>
            </a:pPr>
            <a:r>
              <a:rPr sz="4000" spc="-5" dirty="0"/>
              <a:t>Mo</a:t>
            </a:r>
            <a:r>
              <a:rPr sz="4000" spc="-25" dirty="0"/>
              <a:t>n</a:t>
            </a:r>
            <a:r>
              <a:rPr sz="4000" spc="-5" dirty="0"/>
              <a:t>itoring</a:t>
            </a:r>
            <a:endParaRPr sz="4000"/>
          </a:p>
        </p:txBody>
      </p:sp>
      <p:sp>
        <p:nvSpPr>
          <p:cNvPr id="3" name="object 3"/>
          <p:cNvSpPr txBox="1"/>
          <p:nvPr/>
        </p:nvSpPr>
        <p:spPr>
          <a:xfrm>
            <a:off x="475284" y="2597607"/>
            <a:ext cx="2247900" cy="391795"/>
          </a:xfrm>
          <a:prstGeom prst="rect">
            <a:avLst/>
          </a:prstGeom>
        </p:spPr>
        <p:txBody>
          <a:bodyPr vert="horz" wrap="square" lIns="0" tIns="12700" rIns="0" bIns="0" rtlCol="0">
            <a:spAutoFit/>
          </a:bodyPr>
          <a:lstStyle/>
          <a:p>
            <a:pPr marL="12700">
              <a:lnSpc>
                <a:spcPct val="100000"/>
              </a:lnSpc>
              <a:spcBef>
                <a:spcPts val="100"/>
              </a:spcBef>
            </a:pPr>
            <a:r>
              <a:rPr sz="2400" spc="-30" dirty="0">
                <a:solidFill>
                  <a:srgbClr val="4D4D4B"/>
                </a:solidFill>
                <a:latin typeface="Arial MT"/>
                <a:cs typeface="Arial MT"/>
              </a:rPr>
              <a:t>AWS</a:t>
            </a:r>
            <a:r>
              <a:rPr sz="2400" spc="-75" dirty="0">
                <a:solidFill>
                  <a:srgbClr val="4D4D4B"/>
                </a:solidFill>
                <a:latin typeface="Arial MT"/>
                <a:cs typeface="Arial MT"/>
              </a:rPr>
              <a:t> </a:t>
            </a:r>
            <a:r>
              <a:rPr sz="2400" spc="-5" dirty="0">
                <a:solidFill>
                  <a:srgbClr val="4D4D4B"/>
                </a:solidFill>
                <a:latin typeface="Arial MT"/>
                <a:cs typeface="Arial MT"/>
              </a:rPr>
              <a:t>Resources</a:t>
            </a:r>
            <a:endParaRPr sz="240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1859914" cy="452120"/>
          </a:xfrm>
          <a:prstGeom prst="rect">
            <a:avLst/>
          </a:prstGeom>
        </p:spPr>
        <p:txBody>
          <a:bodyPr vert="horz" wrap="square" lIns="0" tIns="12065" rIns="0" bIns="0" rtlCol="0">
            <a:spAutoFit/>
          </a:bodyPr>
          <a:lstStyle/>
          <a:p>
            <a:pPr marL="12700">
              <a:lnSpc>
                <a:spcPct val="100000"/>
              </a:lnSpc>
              <a:spcBef>
                <a:spcPts val="95"/>
              </a:spcBef>
            </a:pPr>
            <a:r>
              <a:rPr spc="-5" dirty="0"/>
              <a:t>Mo</a:t>
            </a:r>
            <a:r>
              <a:rPr spc="-15" dirty="0"/>
              <a:t>n</a:t>
            </a:r>
            <a:r>
              <a:rPr spc="-5" dirty="0"/>
              <a:t>itor</a:t>
            </a:r>
            <a:r>
              <a:rPr dirty="0"/>
              <a:t>i</a:t>
            </a:r>
            <a:r>
              <a:rPr spc="-5" dirty="0"/>
              <a:t>ng</a:t>
            </a:r>
          </a:p>
        </p:txBody>
      </p:sp>
      <p:graphicFrame>
        <p:nvGraphicFramePr>
          <p:cNvPr id="3" name="object 3"/>
          <p:cNvGraphicFramePr>
            <a:graphicFrameLocks noGrp="1"/>
          </p:cNvGraphicFramePr>
          <p:nvPr/>
        </p:nvGraphicFramePr>
        <p:xfrm>
          <a:off x="218020" y="654304"/>
          <a:ext cx="8695690" cy="4086046"/>
        </p:xfrm>
        <a:graphic>
          <a:graphicData uri="http://schemas.openxmlformats.org/drawingml/2006/table">
            <a:tbl>
              <a:tblPr firstRow="1" bandRow="1">
                <a:tableStyleId>{2D5ABB26-0587-4C30-8999-92F81FD0307C}</a:tableStyleId>
              </a:tblPr>
              <a:tblGrid>
                <a:gridCol w="1814195">
                  <a:extLst>
                    <a:ext uri="{9D8B030D-6E8A-4147-A177-3AD203B41FA5}">
                      <a16:colId xmlns:a16="http://schemas.microsoft.com/office/drawing/2014/main" val="20000"/>
                    </a:ext>
                  </a:extLst>
                </a:gridCol>
                <a:gridCol w="2076450">
                  <a:extLst>
                    <a:ext uri="{9D8B030D-6E8A-4147-A177-3AD203B41FA5}">
                      <a16:colId xmlns:a16="http://schemas.microsoft.com/office/drawing/2014/main" val="20001"/>
                    </a:ext>
                  </a:extLst>
                </a:gridCol>
                <a:gridCol w="4805045">
                  <a:extLst>
                    <a:ext uri="{9D8B030D-6E8A-4147-A177-3AD203B41FA5}">
                      <a16:colId xmlns:a16="http://schemas.microsoft.com/office/drawing/2014/main" val="20002"/>
                    </a:ext>
                  </a:extLst>
                </a:gridCol>
              </a:tblGrid>
              <a:tr h="552958">
                <a:tc>
                  <a:txBody>
                    <a:bodyPr/>
                    <a:lstStyle/>
                    <a:p>
                      <a:pPr algn="ctr">
                        <a:lnSpc>
                          <a:spcPct val="100000"/>
                        </a:lnSpc>
                        <a:spcBef>
                          <a:spcPts val="1190"/>
                        </a:spcBef>
                      </a:pPr>
                      <a:r>
                        <a:rPr sz="1600" b="1" spc="-10" dirty="0">
                          <a:solidFill>
                            <a:srgbClr val="464646"/>
                          </a:solidFill>
                          <a:latin typeface="Arial"/>
                          <a:cs typeface="Arial"/>
                        </a:rPr>
                        <a:t>Service</a:t>
                      </a:r>
                      <a:endParaRPr sz="1600">
                        <a:latin typeface="Arial"/>
                        <a:cs typeface="Arial"/>
                      </a:endParaRPr>
                    </a:p>
                  </a:txBody>
                  <a:tcPr marL="0" marR="0" marT="151130"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tc>
                  <a:txBody>
                    <a:bodyPr/>
                    <a:lstStyle/>
                    <a:p>
                      <a:pPr algn="ctr">
                        <a:lnSpc>
                          <a:spcPct val="100000"/>
                        </a:lnSpc>
                        <a:spcBef>
                          <a:spcPts val="1190"/>
                        </a:spcBef>
                      </a:pPr>
                      <a:r>
                        <a:rPr sz="1600" b="1" spc="-5" dirty="0">
                          <a:solidFill>
                            <a:srgbClr val="464646"/>
                          </a:solidFill>
                          <a:latin typeface="Arial"/>
                          <a:cs typeface="Arial"/>
                        </a:rPr>
                        <a:t>Purpose</a:t>
                      </a:r>
                      <a:endParaRPr sz="1600">
                        <a:latin typeface="Arial"/>
                        <a:cs typeface="Arial"/>
                      </a:endParaRPr>
                    </a:p>
                  </a:txBody>
                  <a:tcPr marL="0" marR="0" marT="151130"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tc>
                  <a:txBody>
                    <a:bodyPr/>
                    <a:lstStyle/>
                    <a:p>
                      <a:pPr marL="1905" algn="ctr">
                        <a:lnSpc>
                          <a:spcPct val="100000"/>
                        </a:lnSpc>
                        <a:spcBef>
                          <a:spcPts val="1190"/>
                        </a:spcBef>
                      </a:pPr>
                      <a:r>
                        <a:rPr sz="1600" b="1" spc="-10" dirty="0">
                          <a:solidFill>
                            <a:srgbClr val="464646"/>
                          </a:solidFill>
                          <a:latin typeface="Arial"/>
                          <a:cs typeface="Arial"/>
                        </a:rPr>
                        <a:t>Use</a:t>
                      </a:r>
                      <a:endParaRPr sz="1600">
                        <a:latin typeface="Arial"/>
                        <a:cs typeface="Arial"/>
                      </a:endParaRPr>
                    </a:p>
                  </a:txBody>
                  <a:tcPr marL="0" marR="0" marT="151130"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extLst>
                  <a:ext uri="{0D108BD9-81ED-4DB2-BD59-A6C34878D82A}">
                    <a16:rowId xmlns:a16="http://schemas.microsoft.com/office/drawing/2014/main" val="10000"/>
                  </a:ext>
                </a:extLst>
              </a:tr>
              <a:tr h="1163827">
                <a:tc>
                  <a:txBody>
                    <a:bodyPr/>
                    <a:lstStyle/>
                    <a:p>
                      <a:pPr>
                        <a:lnSpc>
                          <a:spcPct val="100000"/>
                        </a:lnSpc>
                      </a:pPr>
                      <a:endParaRPr sz="1600">
                        <a:latin typeface="Times New Roman"/>
                        <a:cs typeface="Times New Roman"/>
                      </a:endParaRPr>
                    </a:p>
                    <a:p>
                      <a:pPr>
                        <a:lnSpc>
                          <a:spcPct val="100000"/>
                        </a:lnSpc>
                        <a:spcBef>
                          <a:spcPts val="30"/>
                        </a:spcBef>
                      </a:pPr>
                      <a:endParaRPr sz="1450">
                        <a:latin typeface="Times New Roman"/>
                        <a:cs typeface="Times New Roman"/>
                      </a:endParaRPr>
                    </a:p>
                    <a:p>
                      <a:pPr algn="ctr">
                        <a:lnSpc>
                          <a:spcPct val="100000"/>
                        </a:lnSpc>
                      </a:pPr>
                      <a:r>
                        <a:rPr sz="1600" spc="-15" dirty="0">
                          <a:latin typeface="Calibri"/>
                          <a:cs typeface="Calibri"/>
                        </a:rPr>
                        <a:t>CloudWatch</a:t>
                      </a:r>
                      <a:endParaRPr sz="1600">
                        <a:latin typeface="Calibri"/>
                        <a:cs typeface="Calibri"/>
                      </a:endParaRPr>
                    </a:p>
                  </a:txBody>
                  <a:tcPr marL="0" marR="0" marT="0"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tc>
                  <a:txBody>
                    <a:bodyPr/>
                    <a:lstStyle/>
                    <a:p>
                      <a:pPr>
                        <a:lnSpc>
                          <a:spcPct val="100000"/>
                        </a:lnSpc>
                      </a:pPr>
                      <a:endParaRPr sz="1600">
                        <a:latin typeface="Times New Roman"/>
                        <a:cs typeface="Times New Roman"/>
                      </a:endParaRPr>
                    </a:p>
                    <a:p>
                      <a:pPr>
                        <a:lnSpc>
                          <a:spcPct val="100000"/>
                        </a:lnSpc>
                        <a:spcBef>
                          <a:spcPts val="30"/>
                        </a:spcBef>
                      </a:pPr>
                      <a:endParaRPr sz="1450">
                        <a:latin typeface="Times New Roman"/>
                        <a:cs typeface="Times New Roman"/>
                      </a:endParaRPr>
                    </a:p>
                    <a:p>
                      <a:pPr algn="ctr">
                        <a:lnSpc>
                          <a:spcPct val="100000"/>
                        </a:lnSpc>
                      </a:pPr>
                      <a:r>
                        <a:rPr sz="1600" spc="-5" dirty="0">
                          <a:latin typeface="Calibri"/>
                          <a:cs typeface="Calibri"/>
                        </a:rPr>
                        <a:t>Monitoring</a:t>
                      </a:r>
                      <a:endParaRPr sz="1600">
                        <a:latin typeface="Calibri"/>
                        <a:cs typeface="Calibri"/>
                      </a:endParaRPr>
                    </a:p>
                  </a:txBody>
                  <a:tcPr marL="0" marR="0" marT="0"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tc>
                  <a:txBody>
                    <a:bodyPr/>
                    <a:lstStyle/>
                    <a:p>
                      <a:pPr>
                        <a:lnSpc>
                          <a:spcPct val="100000"/>
                        </a:lnSpc>
                        <a:spcBef>
                          <a:spcPts val="5"/>
                        </a:spcBef>
                      </a:pPr>
                      <a:endParaRPr sz="1400">
                        <a:latin typeface="Times New Roman"/>
                        <a:cs typeface="Times New Roman"/>
                      </a:endParaRPr>
                    </a:p>
                    <a:p>
                      <a:pPr marL="1366520" marR="1360805" indent="3175" algn="ctr">
                        <a:lnSpc>
                          <a:spcPct val="100000"/>
                        </a:lnSpc>
                        <a:spcBef>
                          <a:spcPts val="5"/>
                        </a:spcBef>
                      </a:pPr>
                      <a:r>
                        <a:rPr sz="1600" spc="-5" dirty="0">
                          <a:latin typeface="Calibri"/>
                          <a:cs typeface="Calibri"/>
                        </a:rPr>
                        <a:t>Monitor</a:t>
                      </a:r>
                      <a:r>
                        <a:rPr sz="1600" spc="-15" dirty="0">
                          <a:latin typeface="Calibri"/>
                          <a:cs typeface="Calibri"/>
                        </a:rPr>
                        <a:t> your</a:t>
                      </a:r>
                      <a:r>
                        <a:rPr sz="1600" dirty="0">
                          <a:latin typeface="Calibri"/>
                          <a:cs typeface="Calibri"/>
                        </a:rPr>
                        <a:t> </a:t>
                      </a:r>
                      <a:r>
                        <a:rPr sz="1600" spc="-10" dirty="0">
                          <a:latin typeface="Calibri"/>
                          <a:cs typeface="Calibri"/>
                        </a:rPr>
                        <a:t>resources </a:t>
                      </a:r>
                      <a:r>
                        <a:rPr sz="1600" spc="-5" dirty="0">
                          <a:latin typeface="Calibri"/>
                          <a:cs typeface="Calibri"/>
                        </a:rPr>
                        <a:t> </a:t>
                      </a:r>
                      <a:r>
                        <a:rPr sz="1600" spc="-10" dirty="0">
                          <a:latin typeface="Calibri"/>
                          <a:cs typeface="Calibri"/>
                        </a:rPr>
                        <a:t>Configure </a:t>
                      </a:r>
                      <a:r>
                        <a:rPr sz="1600" spc="-5" dirty="0">
                          <a:latin typeface="Calibri"/>
                          <a:cs typeface="Calibri"/>
                        </a:rPr>
                        <a:t>Alarms </a:t>
                      </a:r>
                      <a:r>
                        <a:rPr sz="1600" spc="-10" dirty="0">
                          <a:latin typeface="Calibri"/>
                          <a:cs typeface="Calibri"/>
                        </a:rPr>
                        <a:t>to </a:t>
                      </a:r>
                      <a:r>
                        <a:rPr sz="1600" spc="-5" dirty="0">
                          <a:latin typeface="Calibri"/>
                          <a:cs typeface="Calibri"/>
                        </a:rPr>
                        <a:t>alert </a:t>
                      </a:r>
                      <a:r>
                        <a:rPr sz="1600" spc="-350" dirty="0">
                          <a:latin typeface="Calibri"/>
                          <a:cs typeface="Calibri"/>
                        </a:rPr>
                        <a:t> </a:t>
                      </a:r>
                      <a:r>
                        <a:rPr sz="1600" spc="-45" dirty="0">
                          <a:latin typeface="Calibri"/>
                          <a:cs typeface="Calibri"/>
                        </a:rPr>
                        <a:t>Take</a:t>
                      </a:r>
                      <a:r>
                        <a:rPr sz="1600" spc="-20" dirty="0">
                          <a:latin typeface="Calibri"/>
                          <a:cs typeface="Calibri"/>
                        </a:rPr>
                        <a:t> </a:t>
                      </a:r>
                      <a:r>
                        <a:rPr sz="1600" spc="-5" dirty="0">
                          <a:latin typeface="Calibri"/>
                          <a:cs typeface="Calibri"/>
                        </a:rPr>
                        <a:t>automated</a:t>
                      </a:r>
                      <a:r>
                        <a:rPr sz="1600" spc="-30" dirty="0">
                          <a:latin typeface="Calibri"/>
                          <a:cs typeface="Calibri"/>
                        </a:rPr>
                        <a:t> </a:t>
                      </a:r>
                      <a:r>
                        <a:rPr sz="1600" spc="-5" dirty="0">
                          <a:latin typeface="Calibri"/>
                          <a:cs typeface="Calibri"/>
                        </a:rPr>
                        <a:t>action</a:t>
                      </a:r>
                      <a:endParaRPr sz="1600">
                        <a:latin typeface="Calibri"/>
                        <a:cs typeface="Calibri"/>
                      </a:endParaRPr>
                    </a:p>
                  </a:txBody>
                  <a:tcPr marL="0" marR="0" marT="635"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extLst>
                  <a:ext uri="{0D108BD9-81ED-4DB2-BD59-A6C34878D82A}">
                    <a16:rowId xmlns:a16="http://schemas.microsoft.com/office/drawing/2014/main" val="10001"/>
                  </a:ext>
                </a:extLst>
              </a:tr>
              <a:tr h="664972">
                <a:tc>
                  <a:txBody>
                    <a:bodyPr/>
                    <a:lstStyle/>
                    <a:p>
                      <a:pPr>
                        <a:lnSpc>
                          <a:spcPct val="100000"/>
                        </a:lnSpc>
                        <a:spcBef>
                          <a:spcPts val="25"/>
                        </a:spcBef>
                      </a:pPr>
                      <a:endParaRPr sz="1350">
                        <a:latin typeface="Times New Roman"/>
                        <a:cs typeface="Times New Roman"/>
                      </a:endParaRPr>
                    </a:p>
                    <a:p>
                      <a:pPr algn="ctr">
                        <a:lnSpc>
                          <a:spcPct val="100000"/>
                        </a:lnSpc>
                      </a:pPr>
                      <a:r>
                        <a:rPr sz="1600" spc="-15" dirty="0">
                          <a:latin typeface="Calibri"/>
                          <a:cs typeface="Calibri"/>
                        </a:rPr>
                        <a:t>CloudWatch</a:t>
                      </a:r>
                      <a:r>
                        <a:rPr sz="1600" spc="-40" dirty="0">
                          <a:latin typeface="Calibri"/>
                          <a:cs typeface="Calibri"/>
                        </a:rPr>
                        <a:t> </a:t>
                      </a:r>
                      <a:r>
                        <a:rPr sz="1600" spc="-10" dirty="0">
                          <a:latin typeface="Calibri"/>
                          <a:cs typeface="Calibri"/>
                        </a:rPr>
                        <a:t>Log</a:t>
                      </a:r>
                      <a:endParaRPr sz="1600">
                        <a:latin typeface="Calibri"/>
                        <a:cs typeface="Calibri"/>
                      </a:endParaRPr>
                    </a:p>
                  </a:txBody>
                  <a:tcPr marL="0" marR="0" marT="3175"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tc>
                  <a:txBody>
                    <a:bodyPr/>
                    <a:lstStyle/>
                    <a:p>
                      <a:pPr>
                        <a:lnSpc>
                          <a:spcPct val="100000"/>
                        </a:lnSpc>
                        <a:spcBef>
                          <a:spcPts val="25"/>
                        </a:spcBef>
                      </a:pPr>
                      <a:endParaRPr sz="1350">
                        <a:latin typeface="Times New Roman"/>
                        <a:cs typeface="Times New Roman"/>
                      </a:endParaRPr>
                    </a:p>
                    <a:p>
                      <a:pPr algn="ctr">
                        <a:lnSpc>
                          <a:spcPct val="100000"/>
                        </a:lnSpc>
                      </a:pPr>
                      <a:r>
                        <a:rPr sz="1600" spc="-5" dirty="0">
                          <a:latin typeface="Calibri"/>
                          <a:cs typeface="Calibri"/>
                        </a:rPr>
                        <a:t>Monitor</a:t>
                      </a:r>
                      <a:r>
                        <a:rPr sz="1600" spc="-35" dirty="0">
                          <a:latin typeface="Calibri"/>
                          <a:cs typeface="Calibri"/>
                        </a:rPr>
                        <a:t> </a:t>
                      </a:r>
                      <a:r>
                        <a:rPr sz="1600" spc="-5" dirty="0">
                          <a:latin typeface="Calibri"/>
                          <a:cs typeface="Calibri"/>
                        </a:rPr>
                        <a:t>Logs</a:t>
                      </a:r>
                      <a:endParaRPr sz="1600">
                        <a:latin typeface="Calibri"/>
                        <a:cs typeface="Calibri"/>
                      </a:endParaRPr>
                    </a:p>
                  </a:txBody>
                  <a:tcPr marL="0" marR="0" marT="3175"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tc>
                  <a:txBody>
                    <a:bodyPr/>
                    <a:lstStyle/>
                    <a:p>
                      <a:pPr algn="ctr">
                        <a:lnSpc>
                          <a:spcPct val="100000"/>
                        </a:lnSpc>
                        <a:spcBef>
                          <a:spcPts val="615"/>
                        </a:spcBef>
                      </a:pPr>
                      <a:r>
                        <a:rPr sz="1600" spc="-5" dirty="0">
                          <a:latin typeface="Calibri"/>
                          <a:cs typeface="Calibri"/>
                        </a:rPr>
                        <a:t>Monitor</a:t>
                      </a:r>
                      <a:r>
                        <a:rPr sz="1600" spc="-20" dirty="0">
                          <a:latin typeface="Calibri"/>
                          <a:cs typeface="Calibri"/>
                        </a:rPr>
                        <a:t> </a:t>
                      </a:r>
                      <a:r>
                        <a:rPr sz="1600" spc="-5" dirty="0">
                          <a:latin typeface="Calibri"/>
                          <a:cs typeface="Calibri"/>
                        </a:rPr>
                        <a:t>log</a:t>
                      </a:r>
                      <a:r>
                        <a:rPr sz="1600" spc="-20" dirty="0">
                          <a:latin typeface="Calibri"/>
                          <a:cs typeface="Calibri"/>
                        </a:rPr>
                        <a:t> </a:t>
                      </a:r>
                      <a:r>
                        <a:rPr sz="1600" spc="-5" dirty="0">
                          <a:latin typeface="Calibri"/>
                          <a:cs typeface="Calibri"/>
                        </a:rPr>
                        <a:t>files</a:t>
                      </a:r>
                      <a:endParaRPr sz="1600">
                        <a:latin typeface="Calibri"/>
                        <a:cs typeface="Calibri"/>
                      </a:endParaRPr>
                    </a:p>
                    <a:p>
                      <a:pPr algn="ctr">
                        <a:lnSpc>
                          <a:spcPct val="100000"/>
                        </a:lnSpc>
                      </a:pPr>
                      <a:r>
                        <a:rPr sz="1600" spc="-5" dirty="0">
                          <a:latin typeface="Calibri"/>
                          <a:cs typeface="Calibri"/>
                        </a:rPr>
                        <a:t>Publish</a:t>
                      </a:r>
                      <a:r>
                        <a:rPr sz="1600" spc="-30" dirty="0">
                          <a:latin typeface="Calibri"/>
                          <a:cs typeface="Calibri"/>
                        </a:rPr>
                        <a:t> </a:t>
                      </a:r>
                      <a:r>
                        <a:rPr sz="1600" spc="-10" dirty="0">
                          <a:latin typeface="Calibri"/>
                          <a:cs typeface="Calibri"/>
                        </a:rPr>
                        <a:t>Custom</a:t>
                      </a:r>
                      <a:r>
                        <a:rPr sz="1600" spc="-15" dirty="0">
                          <a:latin typeface="Calibri"/>
                          <a:cs typeface="Calibri"/>
                        </a:rPr>
                        <a:t> </a:t>
                      </a:r>
                      <a:r>
                        <a:rPr sz="1600" spc="-10" dirty="0">
                          <a:latin typeface="Calibri"/>
                          <a:cs typeface="Calibri"/>
                        </a:rPr>
                        <a:t>metrics</a:t>
                      </a:r>
                      <a:r>
                        <a:rPr sz="1600" spc="5" dirty="0">
                          <a:latin typeface="Calibri"/>
                          <a:cs typeface="Calibri"/>
                        </a:rPr>
                        <a:t> </a:t>
                      </a:r>
                      <a:r>
                        <a:rPr sz="1600" spc="-15" dirty="0">
                          <a:latin typeface="Calibri"/>
                          <a:cs typeface="Calibri"/>
                        </a:rPr>
                        <a:t>from</a:t>
                      </a:r>
                      <a:r>
                        <a:rPr sz="1600" spc="10" dirty="0">
                          <a:latin typeface="Calibri"/>
                          <a:cs typeface="Calibri"/>
                        </a:rPr>
                        <a:t> </a:t>
                      </a:r>
                      <a:r>
                        <a:rPr sz="1600" spc="-5" dirty="0">
                          <a:latin typeface="Calibri"/>
                          <a:cs typeface="Calibri"/>
                        </a:rPr>
                        <a:t>log </a:t>
                      </a:r>
                      <a:r>
                        <a:rPr sz="1600" dirty="0">
                          <a:latin typeface="Calibri"/>
                          <a:cs typeface="Calibri"/>
                        </a:rPr>
                        <a:t>file</a:t>
                      </a:r>
                      <a:endParaRPr sz="1600">
                        <a:latin typeface="Calibri"/>
                        <a:cs typeface="Calibri"/>
                      </a:endParaRPr>
                    </a:p>
                  </a:txBody>
                  <a:tcPr marL="0" marR="0" marT="78105"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extLst>
                  <a:ext uri="{0D108BD9-81ED-4DB2-BD59-A6C34878D82A}">
                    <a16:rowId xmlns:a16="http://schemas.microsoft.com/office/drawing/2014/main" val="10002"/>
                  </a:ext>
                </a:extLst>
              </a:tr>
              <a:tr h="540385">
                <a:tc>
                  <a:txBody>
                    <a:bodyPr/>
                    <a:lstStyle/>
                    <a:p>
                      <a:pPr algn="ctr">
                        <a:lnSpc>
                          <a:spcPct val="100000"/>
                        </a:lnSpc>
                        <a:spcBef>
                          <a:spcPts val="1085"/>
                        </a:spcBef>
                      </a:pPr>
                      <a:r>
                        <a:rPr sz="1600" spc="-15" dirty="0">
                          <a:latin typeface="Calibri"/>
                          <a:cs typeface="Calibri"/>
                        </a:rPr>
                        <a:t>CloudWatch</a:t>
                      </a:r>
                      <a:r>
                        <a:rPr sz="1600" spc="-40" dirty="0">
                          <a:latin typeface="Calibri"/>
                          <a:cs typeface="Calibri"/>
                        </a:rPr>
                        <a:t> </a:t>
                      </a:r>
                      <a:r>
                        <a:rPr sz="1600" spc="-15" dirty="0">
                          <a:latin typeface="Calibri"/>
                          <a:cs typeface="Calibri"/>
                        </a:rPr>
                        <a:t>Events</a:t>
                      </a:r>
                      <a:endParaRPr sz="1600">
                        <a:latin typeface="Calibri"/>
                        <a:cs typeface="Calibri"/>
                      </a:endParaRPr>
                    </a:p>
                  </a:txBody>
                  <a:tcPr marL="0" marR="0" marT="137795"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tc>
                  <a:txBody>
                    <a:bodyPr/>
                    <a:lstStyle/>
                    <a:p>
                      <a:pPr algn="ctr">
                        <a:lnSpc>
                          <a:spcPct val="100000"/>
                        </a:lnSpc>
                        <a:spcBef>
                          <a:spcPts val="1085"/>
                        </a:spcBef>
                      </a:pPr>
                      <a:r>
                        <a:rPr sz="1600" spc="-5" dirty="0">
                          <a:latin typeface="Calibri"/>
                          <a:cs typeface="Calibri"/>
                        </a:rPr>
                        <a:t>Real-time</a:t>
                      </a:r>
                      <a:r>
                        <a:rPr sz="1600" spc="-40" dirty="0">
                          <a:latin typeface="Calibri"/>
                          <a:cs typeface="Calibri"/>
                        </a:rPr>
                        <a:t> </a:t>
                      </a:r>
                      <a:r>
                        <a:rPr sz="1600" spc="-10" dirty="0">
                          <a:latin typeface="Calibri"/>
                          <a:cs typeface="Calibri"/>
                        </a:rPr>
                        <a:t>Changes</a:t>
                      </a:r>
                      <a:endParaRPr sz="1600">
                        <a:latin typeface="Calibri"/>
                        <a:cs typeface="Calibri"/>
                      </a:endParaRPr>
                    </a:p>
                  </a:txBody>
                  <a:tcPr marL="0" marR="0" marT="137795"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tc>
                  <a:txBody>
                    <a:bodyPr/>
                    <a:lstStyle/>
                    <a:p>
                      <a:pPr marL="635" algn="ctr">
                        <a:lnSpc>
                          <a:spcPct val="100000"/>
                        </a:lnSpc>
                        <a:spcBef>
                          <a:spcPts val="130"/>
                        </a:spcBef>
                      </a:pPr>
                      <a:r>
                        <a:rPr sz="1600" spc="-10" dirty="0">
                          <a:latin typeface="Calibri"/>
                          <a:cs typeface="Calibri"/>
                        </a:rPr>
                        <a:t>Detect</a:t>
                      </a:r>
                      <a:r>
                        <a:rPr sz="1600" spc="-5" dirty="0">
                          <a:latin typeface="Calibri"/>
                          <a:cs typeface="Calibri"/>
                        </a:rPr>
                        <a:t> and</a:t>
                      </a:r>
                      <a:r>
                        <a:rPr sz="1600" spc="-35" dirty="0">
                          <a:latin typeface="Calibri"/>
                          <a:cs typeface="Calibri"/>
                        </a:rPr>
                        <a:t> </a:t>
                      </a:r>
                      <a:r>
                        <a:rPr sz="1600" spc="-5" dirty="0">
                          <a:latin typeface="Calibri"/>
                          <a:cs typeface="Calibri"/>
                        </a:rPr>
                        <a:t>act</a:t>
                      </a:r>
                      <a:endParaRPr sz="1600">
                        <a:latin typeface="Calibri"/>
                        <a:cs typeface="Calibri"/>
                      </a:endParaRPr>
                    </a:p>
                    <a:p>
                      <a:pPr marL="635" algn="ctr">
                        <a:lnSpc>
                          <a:spcPct val="100000"/>
                        </a:lnSpc>
                      </a:pPr>
                      <a:r>
                        <a:rPr sz="1600" spc="-10" dirty="0">
                          <a:latin typeface="Calibri"/>
                          <a:cs typeface="Calibri"/>
                        </a:rPr>
                        <a:t>Automated</a:t>
                      </a:r>
                      <a:r>
                        <a:rPr sz="1600" spc="5" dirty="0">
                          <a:latin typeface="Calibri"/>
                          <a:cs typeface="Calibri"/>
                        </a:rPr>
                        <a:t> </a:t>
                      </a:r>
                      <a:r>
                        <a:rPr sz="1600" spc="-10" dirty="0">
                          <a:latin typeface="Calibri"/>
                          <a:cs typeface="Calibri"/>
                        </a:rPr>
                        <a:t>Code</a:t>
                      </a:r>
                      <a:r>
                        <a:rPr sz="1600" spc="20" dirty="0">
                          <a:latin typeface="Calibri"/>
                          <a:cs typeface="Calibri"/>
                        </a:rPr>
                        <a:t> </a:t>
                      </a:r>
                      <a:r>
                        <a:rPr sz="1600" spc="-5" dirty="0">
                          <a:latin typeface="Calibri"/>
                          <a:cs typeface="Calibri"/>
                        </a:rPr>
                        <a:t>Build,</a:t>
                      </a:r>
                      <a:r>
                        <a:rPr sz="1600" dirty="0">
                          <a:latin typeface="Calibri"/>
                          <a:cs typeface="Calibri"/>
                        </a:rPr>
                        <a:t> </a:t>
                      </a:r>
                      <a:r>
                        <a:rPr sz="1600" spc="-10" dirty="0">
                          <a:latin typeface="Calibri"/>
                          <a:cs typeface="Calibri"/>
                        </a:rPr>
                        <a:t>Scheduled</a:t>
                      </a:r>
                      <a:r>
                        <a:rPr sz="1600" spc="10" dirty="0">
                          <a:latin typeface="Calibri"/>
                          <a:cs typeface="Calibri"/>
                        </a:rPr>
                        <a:t> </a:t>
                      </a:r>
                      <a:r>
                        <a:rPr sz="1600" spc="-10" dirty="0">
                          <a:latin typeface="Calibri"/>
                          <a:cs typeface="Calibri"/>
                        </a:rPr>
                        <a:t>EBS</a:t>
                      </a:r>
                      <a:r>
                        <a:rPr sz="1600" spc="30" dirty="0">
                          <a:latin typeface="Calibri"/>
                          <a:cs typeface="Calibri"/>
                        </a:rPr>
                        <a:t> </a:t>
                      </a:r>
                      <a:r>
                        <a:rPr sz="1600" spc="-10" dirty="0">
                          <a:latin typeface="Calibri"/>
                          <a:cs typeface="Calibri"/>
                        </a:rPr>
                        <a:t>Snapshots</a:t>
                      </a:r>
                      <a:endParaRPr sz="1600">
                        <a:latin typeface="Calibri"/>
                        <a:cs typeface="Calibri"/>
                      </a:endParaRPr>
                    </a:p>
                  </a:txBody>
                  <a:tcPr marL="0" marR="0" marT="16510"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extLst>
                  <a:ext uri="{0D108BD9-81ED-4DB2-BD59-A6C34878D82A}">
                    <a16:rowId xmlns:a16="http://schemas.microsoft.com/office/drawing/2014/main" val="10003"/>
                  </a:ext>
                </a:extLst>
              </a:tr>
              <a:tr h="1163904">
                <a:tc>
                  <a:txBody>
                    <a:bodyPr/>
                    <a:lstStyle/>
                    <a:p>
                      <a:pPr>
                        <a:lnSpc>
                          <a:spcPct val="100000"/>
                        </a:lnSpc>
                      </a:pPr>
                      <a:endParaRPr sz="1600">
                        <a:latin typeface="Times New Roman"/>
                        <a:cs typeface="Times New Roman"/>
                      </a:endParaRPr>
                    </a:p>
                    <a:p>
                      <a:pPr>
                        <a:lnSpc>
                          <a:spcPct val="100000"/>
                        </a:lnSpc>
                        <a:spcBef>
                          <a:spcPts val="35"/>
                        </a:spcBef>
                      </a:pPr>
                      <a:endParaRPr sz="1450">
                        <a:latin typeface="Times New Roman"/>
                        <a:cs typeface="Times New Roman"/>
                      </a:endParaRPr>
                    </a:p>
                    <a:p>
                      <a:pPr algn="ctr">
                        <a:lnSpc>
                          <a:spcPct val="100000"/>
                        </a:lnSpc>
                      </a:pPr>
                      <a:r>
                        <a:rPr sz="1600" spc="-20" dirty="0">
                          <a:latin typeface="Calibri"/>
                          <a:cs typeface="Calibri"/>
                        </a:rPr>
                        <a:t>CloudTrail</a:t>
                      </a:r>
                      <a:endParaRPr sz="1600">
                        <a:latin typeface="Calibri"/>
                        <a:cs typeface="Calibri"/>
                      </a:endParaRPr>
                    </a:p>
                  </a:txBody>
                  <a:tcPr marL="0" marR="0" marT="0"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tc>
                  <a:txBody>
                    <a:bodyPr/>
                    <a:lstStyle/>
                    <a:p>
                      <a:pPr>
                        <a:lnSpc>
                          <a:spcPct val="100000"/>
                        </a:lnSpc>
                      </a:pPr>
                      <a:endParaRPr sz="1600">
                        <a:latin typeface="Times New Roman"/>
                        <a:cs typeface="Times New Roman"/>
                      </a:endParaRPr>
                    </a:p>
                    <a:p>
                      <a:pPr>
                        <a:lnSpc>
                          <a:spcPct val="100000"/>
                        </a:lnSpc>
                        <a:spcBef>
                          <a:spcPts val="35"/>
                        </a:spcBef>
                      </a:pPr>
                      <a:endParaRPr sz="1450">
                        <a:latin typeface="Times New Roman"/>
                        <a:cs typeface="Times New Roman"/>
                      </a:endParaRPr>
                    </a:p>
                    <a:p>
                      <a:pPr algn="ctr">
                        <a:lnSpc>
                          <a:spcPct val="100000"/>
                        </a:lnSpc>
                      </a:pPr>
                      <a:r>
                        <a:rPr sz="1600" spc="-5" dirty="0">
                          <a:latin typeface="Calibri"/>
                          <a:cs typeface="Calibri"/>
                        </a:rPr>
                        <a:t>Audit</a:t>
                      </a:r>
                      <a:r>
                        <a:rPr sz="1600" spc="-35" dirty="0">
                          <a:latin typeface="Calibri"/>
                          <a:cs typeface="Calibri"/>
                        </a:rPr>
                        <a:t> </a:t>
                      </a:r>
                      <a:r>
                        <a:rPr sz="1600" spc="-30" dirty="0">
                          <a:latin typeface="Calibri"/>
                          <a:cs typeface="Calibri"/>
                        </a:rPr>
                        <a:t>Trail</a:t>
                      </a:r>
                      <a:endParaRPr sz="1600">
                        <a:latin typeface="Calibri"/>
                        <a:cs typeface="Calibri"/>
                      </a:endParaRPr>
                    </a:p>
                  </a:txBody>
                  <a:tcPr marL="0" marR="0" marT="0"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tc>
                  <a:txBody>
                    <a:bodyPr/>
                    <a:lstStyle/>
                    <a:p>
                      <a:pPr marL="452120" marR="287020" indent="-160020">
                        <a:lnSpc>
                          <a:spcPts val="3840"/>
                        </a:lnSpc>
                        <a:spcBef>
                          <a:spcPts val="150"/>
                        </a:spcBef>
                      </a:pPr>
                      <a:r>
                        <a:rPr sz="1600" spc="-5" dirty="0">
                          <a:latin typeface="Calibri"/>
                          <a:cs typeface="Calibri"/>
                        </a:rPr>
                        <a:t>Logs</a:t>
                      </a:r>
                      <a:r>
                        <a:rPr sz="1600" spc="5" dirty="0">
                          <a:latin typeface="Calibri"/>
                          <a:cs typeface="Calibri"/>
                        </a:rPr>
                        <a:t> </a:t>
                      </a:r>
                      <a:r>
                        <a:rPr sz="1600" dirty="0">
                          <a:latin typeface="Calibri"/>
                          <a:cs typeface="Calibri"/>
                        </a:rPr>
                        <a:t>all</a:t>
                      </a:r>
                      <a:r>
                        <a:rPr sz="1600" spc="-25" dirty="0">
                          <a:latin typeface="Calibri"/>
                          <a:cs typeface="Calibri"/>
                        </a:rPr>
                        <a:t> </a:t>
                      </a:r>
                      <a:r>
                        <a:rPr sz="1600" spc="-5" dirty="0">
                          <a:latin typeface="Calibri"/>
                          <a:cs typeface="Calibri"/>
                        </a:rPr>
                        <a:t>activities</a:t>
                      </a:r>
                      <a:r>
                        <a:rPr sz="1600" spc="-30" dirty="0">
                          <a:latin typeface="Calibri"/>
                          <a:cs typeface="Calibri"/>
                        </a:rPr>
                        <a:t> </a:t>
                      </a:r>
                      <a:r>
                        <a:rPr sz="1600" spc="-5" dirty="0">
                          <a:latin typeface="Calibri"/>
                          <a:cs typeface="Calibri"/>
                        </a:rPr>
                        <a:t>and who</a:t>
                      </a:r>
                      <a:r>
                        <a:rPr sz="1600" spc="15" dirty="0">
                          <a:latin typeface="Calibri"/>
                          <a:cs typeface="Calibri"/>
                        </a:rPr>
                        <a:t> </a:t>
                      </a:r>
                      <a:r>
                        <a:rPr sz="1600" spc="-15" dirty="0">
                          <a:latin typeface="Calibri"/>
                          <a:cs typeface="Calibri"/>
                        </a:rPr>
                        <a:t>performed</a:t>
                      </a:r>
                      <a:r>
                        <a:rPr sz="1600" spc="45" dirty="0">
                          <a:latin typeface="Calibri"/>
                          <a:cs typeface="Calibri"/>
                        </a:rPr>
                        <a:t> </a:t>
                      </a:r>
                      <a:r>
                        <a:rPr sz="1600" spc="-5" dirty="0">
                          <a:latin typeface="Calibri"/>
                          <a:cs typeface="Calibri"/>
                        </a:rPr>
                        <a:t>those</a:t>
                      </a:r>
                      <a:r>
                        <a:rPr sz="1600" spc="15" dirty="0">
                          <a:latin typeface="Calibri"/>
                          <a:cs typeface="Calibri"/>
                        </a:rPr>
                        <a:t> </a:t>
                      </a:r>
                      <a:r>
                        <a:rPr sz="1600" spc="-5" dirty="0">
                          <a:latin typeface="Calibri"/>
                          <a:cs typeface="Calibri"/>
                        </a:rPr>
                        <a:t>actions </a:t>
                      </a:r>
                      <a:r>
                        <a:rPr sz="1600" spc="-345" dirty="0">
                          <a:latin typeface="Calibri"/>
                          <a:cs typeface="Calibri"/>
                        </a:rPr>
                        <a:t> </a:t>
                      </a:r>
                      <a:r>
                        <a:rPr sz="1600" spc="-10" dirty="0">
                          <a:latin typeface="Calibri"/>
                          <a:cs typeface="Calibri"/>
                        </a:rPr>
                        <a:t>Useful</a:t>
                      </a:r>
                      <a:r>
                        <a:rPr sz="1600" dirty="0">
                          <a:latin typeface="Calibri"/>
                          <a:cs typeface="Calibri"/>
                        </a:rPr>
                        <a:t> </a:t>
                      </a:r>
                      <a:r>
                        <a:rPr sz="1600" spc="-15" dirty="0">
                          <a:latin typeface="Calibri"/>
                          <a:cs typeface="Calibri"/>
                        </a:rPr>
                        <a:t>for</a:t>
                      </a:r>
                      <a:r>
                        <a:rPr sz="1600" spc="15" dirty="0">
                          <a:latin typeface="Calibri"/>
                          <a:cs typeface="Calibri"/>
                        </a:rPr>
                        <a:t> </a:t>
                      </a:r>
                      <a:r>
                        <a:rPr sz="1600" spc="-15" dirty="0">
                          <a:latin typeface="Calibri"/>
                          <a:cs typeface="Calibri"/>
                        </a:rPr>
                        <a:t>investigation,</a:t>
                      </a:r>
                      <a:r>
                        <a:rPr sz="1600" spc="-25" dirty="0">
                          <a:latin typeface="Calibri"/>
                          <a:cs typeface="Calibri"/>
                        </a:rPr>
                        <a:t> </a:t>
                      </a:r>
                      <a:r>
                        <a:rPr sz="1600" spc="-5" dirty="0">
                          <a:latin typeface="Calibri"/>
                          <a:cs typeface="Calibri"/>
                        </a:rPr>
                        <a:t>compliance </a:t>
                      </a:r>
                      <a:r>
                        <a:rPr sz="1600" spc="-10" dirty="0">
                          <a:latin typeface="Calibri"/>
                          <a:cs typeface="Calibri"/>
                        </a:rPr>
                        <a:t>monitoring</a:t>
                      </a:r>
                      <a:endParaRPr sz="1600">
                        <a:latin typeface="Calibri"/>
                        <a:cs typeface="Calibri"/>
                      </a:endParaRPr>
                    </a:p>
                  </a:txBody>
                  <a:tcPr marL="0" marR="0" marT="19050" marB="0">
                    <a:lnL w="12700">
                      <a:solidFill>
                        <a:srgbClr val="0C67AD"/>
                      </a:solidFill>
                      <a:prstDash val="solid"/>
                    </a:lnL>
                    <a:lnR w="12700">
                      <a:solidFill>
                        <a:srgbClr val="0C67AD"/>
                      </a:solidFill>
                      <a:prstDash val="solid"/>
                    </a:lnR>
                    <a:lnT w="12700">
                      <a:solidFill>
                        <a:srgbClr val="0C67AD"/>
                      </a:solidFill>
                      <a:prstDash val="solid"/>
                    </a:lnT>
                    <a:lnB w="12700">
                      <a:solidFill>
                        <a:srgbClr val="0C67AD"/>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2082800" cy="452120"/>
          </a:xfrm>
          <a:prstGeom prst="rect">
            <a:avLst/>
          </a:prstGeom>
        </p:spPr>
        <p:txBody>
          <a:bodyPr vert="horz" wrap="square" lIns="0" tIns="12065" rIns="0" bIns="0" rtlCol="0">
            <a:spAutoFit/>
          </a:bodyPr>
          <a:lstStyle/>
          <a:p>
            <a:pPr marL="12700">
              <a:lnSpc>
                <a:spcPct val="100000"/>
              </a:lnSpc>
              <a:spcBef>
                <a:spcPts val="95"/>
              </a:spcBef>
            </a:pPr>
            <a:r>
              <a:rPr spc="-5" dirty="0"/>
              <a:t>Clo</a:t>
            </a:r>
            <a:r>
              <a:rPr spc="-15" dirty="0"/>
              <a:t>u</a:t>
            </a:r>
            <a:r>
              <a:rPr spc="-5" dirty="0"/>
              <a:t>d</a:t>
            </a:r>
            <a:r>
              <a:rPr spc="-120" dirty="0"/>
              <a:t>W</a:t>
            </a:r>
            <a:r>
              <a:rPr spc="-5" dirty="0"/>
              <a:t>a</a:t>
            </a:r>
            <a:r>
              <a:rPr dirty="0"/>
              <a:t>t</a:t>
            </a:r>
            <a:r>
              <a:rPr spc="-5" dirty="0"/>
              <a:t>ch</a:t>
            </a:r>
          </a:p>
        </p:txBody>
      </p:sp>
      <p:sp>
        <p:nvSpPr>
          <p:cNvPr id="3" name="object 3"/>
          <p:cNvSpPr/>
          <p:nvPr/>
        </p:nvSpPr>
        <p:spPr>
          <a:xfrm>
            <a:off x="482345" y="973074"/>
            <a:ext cx="2312035" cy="3467100"/>
          </a:xfrm>
          <a:custGeom>
            <a:avLst/>
            <a:gdLst/>
            <a:ahLst/>
            <a:cxnLst/>
            <a:rect l="l" t="t" r="r" b="b"/>
            <a:pathLst>
              <a:path w="2312035" h="3467100">
                <a:moveTo>
                  <a:pt x="0" y="385317"/>
                </a:moveTo>
                <a:lnTo>
                  <a:pt x="3002" y="336975"/>
                </a:lnTo>
                <a:lnTo>
                  <a:pt x="11768" y="290427"/>
                </a:lnTo>
                <a:lnTo>
                  <a:pt x="25936" y="246034"/>
                </a:lnTo>
                <a:lnTo>
                  <a:pt x="45146" y="204157"/>
                </a:lnTo>
                <a:lnTo>
                  <a:pt x="69037" y="165157"/>
                </a:lnTo>
                <a:lnTo>
                  <a:pt x="97246" y="129394"/>
                </a:lnTo>
                <a:lnTo>
                  <a:pt x="129414" y="97229"/>
                </a:lnTo>
                <a:lnTo>
                  <a:pt x="165179" y="69023"/>
                </a:lnTo>
                <a:lnTo>
                  <a:pt x="204179" y="45136"/>
                </a:lnTo>
                <a:lnTo>
                  <a:pt x="246055" y="25930"/>
                </a:lnTo>
                <a:lnTo>
                  <a:pt x="290443" y="11765"/>
                </a:lnTo>
                <a:lnTo>
                  <a:pt x="336985" y="3001"/>
                </a:lnTo>
                <a:lnTo>
                  <a:pt x="385317" y="0"/>
                </a:lnTo>
                <a:lnTo>
                  <a:pt x="1926590" y="0"/>
                </a:lnTo>
                <a:lnTo>
                  <a:pt x="1974932" y="3001"/>
                </a:lnTo>
                <a:lnTo>
                  <a:pt x="2021480" y="11765"/>
                </a:lnTo>
                <a:lnTo>
                  <a:pt x="2065873" y="25930"/>
                </a:lnTo>
                <a:lnTo>
                  <a:pt x="2107750" y="45136"/>
                </a:lnTo>
                <a:lnTo>
                  <a:pt x="2146750" y="69023"/>
                </a:lnTo>
                <a:lnTo>
                  <a:pt x="2182513" y="97229"/>
                </a:lnTo>
                <a:lnTo>
                  <a:pt x="2214678" y="129394"/>
                </a:lnTo>
                <a:lnTo>
                  <a:pt x="2242884" y="165157"/>
                </a:lnTo>
                <a:lnTo>
                  <a:pt x="2266771" y="204157"/>
                </a:lnTo>
                <a:lnTo>
                  <a:pt x="2285977" y="246034"/>
                </a:lnTo>
                <a:lnTo>
                  <a:pt x="2300142" y="290427"/>
                </a:lnTo>
                <a:lnTo>
                  <a:pt x="2308906" y="336975"/>
                </a:lnTo>
                <a:lnTo>
                  <a:pt x="2311908" y="385317"/>
                </a:lnTo>
                <a:lnTo>
                  <a:pt x="2311908" y="3081769"/>
                </a:lnTo>
                <a:lnTo>
                  <a:pt x="2308906" y="3130104"/>
                </a:lnTo>
                <a:lnTo>
                  <a:pt x="2300142" y="3176648"/>
                </a:lnTo>
                <a:lnTo>
                  <a:pt x="2285977" y="3221039"/>
                </a:lnTo>
                <a:lnTo>
                  <a:pt x="2266771" y="3262915"/>
                </a:lnTo>
                <a:lnTo>
                  <a:pt x="2242884" y="3301917"/>
                </a:lnTo>
                <a:lnTo>
                  <a:pt x="2214678" y="3337683"/>
                </a:lnTo>
                <a:lnTo>
                  <a:pt x="2182513" y="3369851"/>
                </a:lnTo>
                <a:lnTo>
                  <a:pt x="2146750" y="3398062"/>
                </a:lnTo>
                <a:lnTo>
                  <a:pt x="2107750" y="3421952"/>
                </a:lnTo>
                <a:lnTo>
                  <a:pt x="2065873" y="3441163"/>
                </a:lnTo>
                <a:lnTo>
                  <a:pt x="2021480" y="3455331"/>
                </a:lnTo>
                <a:lnTo>
                  <a:pt x="1974932" y="3464097"/>
                </a:lnTo>
                <a:lnTo>
                  <a:pt x="1926590" y="3467100"/>
                </a:lnTo>
                <a:lnTo>
                  <a:pt x="385317" y="3467100"/>
                </a:lnTo>
                <a:lnTo>
                  <a:pt x="336985" y="3464097"/>
                </a:lnTo>
                <a:lnTo>
                  <a:pt x="290443" y="3455331"/>
                </a:lnTo>
                <a:lnTo>
                  <a:pt x="246055" y="3441163"/>
                </a:lnTo>
                <a:lnTo>
                  <a:pt x="204179" y="3421952"/>
                </a:lnTo>
                <a:lnTo>
                  <a:pt x="165179" y="3398062"/>
                </a:lnTo>
                <a:lnTo>
                  <a:pt x="129414" y="3369851"/>
                </a:lnTo>
                <a:lnTo>
                  <a:pt x="97246" y="3337683"/>
                </a:lnTo>
                <a:lnTo>
                  <a:pt x="69037" y="3301917"/>
                </a:lnTo>
                <a:lnTo>
                  <a:pt x="45146" y="3262915"/>
                </a:lnTo>
                <a:lnTo>
                  <a:pt x="25936" y="3221039"/>
                </a:lnTo>
                <a:lnTo>
                  <a:pt x="11768" y="3176648"/>
                </a:lnTo>
                <a:lnTo>
                  <a:pt x="3002" y="3130104"/>
                </a:lnTo>
                <a:lnTo>
                  <a:pt x="0" y="3081769"/>
                </a:lnTo>
                <a:lnTo>
                  <a:pt x="0" y="385317"/>
                </a:lnTo>
                <a:close/>
              </a:path>
              <a:path w="2312035" h="3467100">
                <a:moveTo>
                  <a:pt x="288036" y="345948"/>
                </a:moveTo>
                <a:lnTo>
                  <a:pt x="296419" y="304419"/>
                </a:lnTo>
                <a:lnTo>
                  <a:pt x="319282" y="270510"/>
                </a:lnTo>
                <a:lnTo>
                  <a:pt x="353192" y="247650"/>
                </a:lnTo>
                <a:lnTo>
                  <a:pt x="394716" y="239267"/>
                </a:lnTo>
                <a:lnTo>
                  <a:pt x="1918716" y="239267"/>
                </a:lnTo>
                <a:lnTo>
                  <a:pt x="1960245" y="247650"/>
                </a:lnTo>
                <a:lnTo>
                  <a:pt x="1994154" y="270510"/>
                </a:lnTo>
                <a:lnTo>
                  <a:pt x="2017014" y="304419"/>
                </a:lnTo>
                <a:lnTo>
                  <a:pt x="2025396" y="345948"/>
                </a:lnTo>
                <a:lnTo>
                  <a:pt x="2025396" y="772667"/>
                </a:lnTo>
                <a:lnTo>
                  <a:pt x="2017014" y="814197"/>
                </a:lnTo>
                <a:lnTo>
                  <a:pt x="1994154" y="848106"/>
                </a:lnTo>
                <a:lnTo>
                  <a:pt x="1960245" y="870966"/>
                </a:lnTo>
                <a:lnTo>
                  <a:pt x="1918716" y="879348"/>
                </a:lnTo>
                <a:lnTo>
                  <a:pt x="394716" y="879348"/>
                </a:lnTo>
                <a:lnTo>
                  <a:pt x="353192" y="870965"/>
                </a:lnTo>
                <a:lnTo>
                  <a:pt x="319282" y="848105"/>
                </a:lnTo>
                <a:lnTo>
                  <a:pt x="296419" y="814196"/>
                </a:lnTo>
                <a:lnTo>
                  <a:pt x="288036" y="772667"/>
                </a:lnTo>
                <a:lnTo>
                  <a:pt x="288036" y="345948"/>
                </a:lnTo>
                <a:close/>
              </a:path>
            </a:pathLst>
          </a:custGeom>
          <a:ln w="25908">
            <a:solidFill>
              <a:srgbClr val="464646"/>
            </a:solidFill>
          </a:ln>
        </p:spPr>
        <p:txBody>
          <a:bodyPr wrap="square" lIns="0" tIns="0" rIns="0" bIns="0" rtlCol="0"/>
          <a:lstStyle/>
          <a:p>
            <a:endParaRPr/>
          </a:p>
        </p:txBody>
      </p:sp>
      <p:sp>
        <p:nvSpPr>
          <p:cNvPr id="4" name="object 4"/>
          <p:cNvSpPr txBox="1"/>
          <p:nvPr/>
        </p:nvSpPr>
        <p:spPr>
          <a:xfrm>
            <a:off x="1402461" y="1376553"/>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sp>
        <p:nvSpPr>
          <p:cNvPr id="5" name="object 5"/>
          <p:cNvSpPr/>
          <p:nvPr/>
        </p:nvSpPr>
        <p:spPr>
          <a:xfrm>
            <a:off x="770381" y="2000250"/>
            <a:ext cx="1737360" cy="640080"/>
          </a:xfrm>
          <a:custGeom>
            <a:avLst/>
            <a:gdLst/>
            <a:ahLst/>
            <a:cxnLst/>
            <a:rect l="l" t="t" r="r" b="b"/>
            <a:pathLst>
              <a:path w="1737360" h="640080">
                <a:moveTo>
                  <a:pt x="0" y="106680"/>
                </a:moveTo>
                <a:lnTo>
                  <a:pt x="8383" y="65150"/>
                </a:lnTo>
                <a:lnTo>
                  <a:pt x="31246" y="31242"/>
                </a:lnTo>
                <a:lnTo>
                  <a:pt x="65156" y="8381"/>
                </a:lnTo>
                <a:lnTo>
                  <a:pt x="106680" y="0"/>
                </a:lnTo>
                <a:lnTo>
                  <a:pt x="1630680" y="0"/>
                </a:lnTo>
                <a:lnTo>
                  <a:pt x="1672208" y="8381"/>
                </a:lnTo>
                <a:lnTo>
                  <a:pt x="1706118" y="31242"/>
                </a:lnTo>
                <a:lnTo>
                  <a:pt x="1728978" y="65150"/>
                </a:lnTo>
                <a:lnTo>
                  <a:pt x="1737360" y="106680"/>
                </a:lnTo>
                <a:lnTo>
                  <a:pt x="1737360" y="533400"/>
                </a:lnTo>
                <a:lnTo>
                  <a:pt x="1728978" y="574928"/>
                </a:lnTo>
                <a:lnTo>
                  <a:pt x="1706118" y="608838"/>
                </a:lnTo>
                <a:lnTo>
                  <a:pt x="1672208" y="631698"/>
                </a:lnTo>
                <a:lnTo>
                  <a:pt x="1630680" y="640080"/>
                </a:lnTo>
                <a:lnTo>
                  <a:pt x="106680" y="640080"/>
                </a:lnTo>
                <a:lnTo>
                  <a:pt x="65156" y="631698"/>
                </a:lnTo>
                <a:lnTo>
                  <a:pt x="31246" y="608838"/>
                </a:lnTo>
                <a:lnTo>
                  <a:pt x="8383" y="574928"/>
                </a:lnTo>
                <a:lnTo>
                  <a:pt x="0" y="533400"/>
                </a:lnTo>
                <a:lnTo>
                  <a:pt x="0" y="106680"/>
                </a:lnTo>
                <a:close/>
              </a:path>
            </a:pathLst>
          </a:custGeom>
          <a:ln w="25908">
            <a:solidFill>
              <a:srgbClr val="464646"/>
            </a:solidFill>
          </a:ln>
        </p:spPr>
        <p:txBody>
          <a:bodyPr wrap="square" lIns="0" tIns="0" rIns="0" bIns="0" rtlCol="0"/>
          <a:lstStyle/>
          <a:p>
            <a:endParaRPr/>
          </a:p>
        </p:txBody>
      </p:sp>
      <p:sp>
        <p:nvSpPr>
          <p:cNvPr id="6" name="object 6"/>
          <p:cNvSpPr txBox="1"/>
          <p:nvPr/>
        </p:nvSpPr>
        <p:spPr>
          <a:xfrm>
            <a:off x="1484757" y="2163902"/>
            <a:ext cx="304800"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S3</a:t>
            </a:r>
            <a:endParaRPr sz="1800">
              <a:latin typeface="Arial MT"/>
              <a:cs typeface="Arial MT"/>
            </a:endParaRPr>
          </a:p>
        </p:txBody>
      </p:sp>
      <p:sp>
        <p:nvSpPr>
          <p:cNvPr id="7" name="object 7"/>
          <p:cNvSpPr/>
          <p:nvPr/>
        </p:nvSpPr>
        <p:spPr>
          <a:xfrm>
            <a:off x="770381" y="3522726"/>
            <a:ext cx="1737360" cy="640080"/>
          </a:xfrm>
          <a:custGeom>
            <a:avLst/>
            <a:gdLst/>
            <a:ahLst/>
            <a:cxnLst/>
            <a:rect l="l" t="t" r="r" b="b"/>
            <a:pathLst>
              <a:path w="1737360" h="640079">
                <a:moveTo>
                  <a:pt x="0" y="106680"/>
                </a:moveTo>
                <a:lnTo>
                  <a:pt x="8383" y="65151"/>
                </a:lnTo>
                <a:lnTo>
                  <a:pt x="31246" y="31242"/>
                </a:lnTo>
                <a:lnTo>
                  <a:pt x="65156" y="8381"/>
                </a:lnTo>
                <a:lnTo>
                  <a:pt x="106680" y="0"/>
                </a:lnTo>
                <a:lnTo>
                  <a:pt x="1630680" y="0"/>
                </a:lnTo>
                <a:lnTo>
                  <a:pt x="1672208" y="8381"/>
                </a:lnTo>
                <a:lnTo>
                  <a:pt x="1706118" y="31241"/>
                </a:lnTo>
                <a:lnTo>
                  <a:pt x="1728978" y="65150"/>
                </a:lnTo>
                <a:lnTo>
                  <a:pt x="1737360" y="106680"/>
                </a:lnTo>
                <a:lnTo>
                  <a:pt x="1737360" y="533400"/>
                </a:lnTo>
                <a:lnTo>
                  <a:pt x="1728978" y="574923"/>
                </a:lnTo>
                <a:lnTo>
                  <a:pt x="1706118" y="608833"/>
                </a:lnTo>
                <a:lnTo>
                  <a:pt x="1672208" y="631696"/>
                </a:lnTo>
                <a:lnTo>
                  <a:pt x="1630680" y="640080"/>
                </a:lnTo>
                <a:lnTo>
                  <a:pt x="106680" y="640080"/>
                </a:lnTo>
                <a:lnTo>
                  <a:pt x="65156" y="631696"/>
                </a:lnTo>
                <a:lnTo>
                  <a:pt x="31246" y="608833"/>
                </a:lnTo>
                <a:lnTo>
                  <a:pt x="8383" y="574923"/>
                </a:lnTo>
                <a:lnTo>
                  <a:pt x="0" y="533400"/>
                </a:lnTo>
                <a:lnTo>
                  <a:pt x="0" y="106680"/>
                </a:lnTo>
                <a:close/>
              </a:path>
            </a:pathLst>
          </a:custGeom>
          <a:ln w="25908">
            <a:solidFill>
              <a:srgbClr val="464646"/>
            </a:solidFill>
          </a:ln>
        </p:spPr>
        <p:txBody>
          <a:bodyPr wrap="square" lIns="0" tIns="0" rIns="0" bIns="0" rtlCol="0"/>
          <a:lstStyle/>
          <a:p>
            <a:endParaRPr/>
          </a:p>
        </p:txBody>
      </p:sp>
      <p:sp>
        <p:nvSpPr>
          <p:cNvPr id="8" name="object 8"/>
          <p:cNvSpPr txBox="1"/>
          <p:nvPr/>
        </p:nvSpPr>
        <p:spPr>
          <a:xfrm>
            <a:off x="1231798" y="3687876"/>
            <a:ext cx="8121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u</a:t>
            </a:r>
            <a:r>
              <a:rPr sz="1800" dirty="0">
                <a:solidFill>
                  <a:srgbClr val="464646"/>
                </a:solidFill>
                <a:latin typeface="Arial MT"/>
                <a:cs typeface="Arial MT"/>
              </a:rPr>
              <a:t>stom</a:t>
            </a:r>
            <a:endParaRPr sz="1800">
              <a:latin typeface="Arial MT"/>
              <a:cs typeface="Arial MT"/>
            </a:endParaRPr>
          </a:p>
        </p:txBody>
      </p:sp>
      <p:sp>
        <p:nvSpPr>
          <p:cNvPr id="9" name="object 9"/>
          <p:cNvSpPr/>
          <p:nvPr/>
        </p:nvSpPr>
        <p:spPr>
          <a:xfrm>
            <a:off x="770381" y="2736342"/>
            <a:ext cx="1737360" cy="640080"/>
          </a:xfrm>
          <a:custGeom>
            <a:avLst/>
            <a:gdLst/>
            <a:ahLst/>
            <a:cxnLst/>
            <a:rect l="l" t="t" r="r" b="b"/>
            <a:pathLst>
              <a:path w="1737360" h="640079">
                <a:moveTo>
                  <a:pt x="0" y="106680"/>
                </a:moveTo>
                <a:lnTo>
                  <a:pt x="8383" y="65150"/>
                </a:lnTo>
                <a:lnTo>
                  <a:pt x="31246" y="31242"/>
                </a:lnTo>
                <a:lnTo>
                  <a:pt x="65156" y="8381"/>
                </a:lnTo>
                <a:lnTo>
                  <a:pt x="106680" y="0"/>
                </a:lnTo>
                <a:lnTo>
                  <a:pt x="1630680" y="0"/>
                </a:lnTo>
                <a:lnTo>
                  <a:pt x="1672208" y="8381"/>
                </a:lnTo>
                <a:lnTo>
                  <a:pt x="1706118" y="31242"/>
                </a:lnTo>
                <a:lnTo>
                  <a:pt x="1728978" y="65150"/>
                </a:lnTo>
                <a:lnTo>
                  <a:pt x="1737360" y="106680"/>
                </a:lnTo>
                <a:lnTo>
                  <a:pt x="1737360" y="533400"/>
                </a:lnTo>
                <a:lnTo>
                  <a:pt x="1728978" y="574928"/>
                </a:lnTo>
                <a:lnTo>
                  <a:pt x="1706118" y="608838"/>
                </a:lnTo>
                <a:lnTo>
                  <a:pt x="1672208" y="631698"/>
                </a:lnTo>
                <a:lnTo>
                  <a:pt x="1630680" y="640080"/>
                </a:lnTo>
                <a:lnTo>
                  <a:pt x="106680" y="640080"/>
                </a:lnTo>
                <a:lnTo>
                  <a:pt x="65156" y="631698"/>
                </a:lnTo>
                <a:lnTo>
                  <a:pt x="31246" y="608838"/>
                </a:lnTo>
                <a:lnTo>
                  <a:pt x="8383" y="574928"/>
                </a:lnTo>
                <a:lnTo>
                  <a:pt x="0" y="533400"/>
                </a:lnTo>
                <a:lnTo>
                  <a:pt x="0" y="106680"/>
                </a:lnTo>
                <a:close/>
              </a:path>
            </a:pathLst>
          </a:custGeom>
          <a:ln w="25908">
            <a:solidFill>
              <a:srgbClr val="464646"/>
            </a:solidFill>
          </a:ln>
        </p:spPr>
        <p:txBody>
          <a:bodyPr wrap="square" lIns="0" tIns="0" rIns="0" bIns="0" rtlCol="0"/>
          <a:lstStyle/>
          <a:p>
            <a:endParaRPr/>
          </a:p>
        </p:txBody>
      </p:sp>
      <p:sp>
        <p:nvSpPr>
          <p:cNvPr id="10" name="object 10"/>
          <p:cNvSpPr txBox="1"/>
          <p:nvPr/>
        </p:nvSpPr>
        <p:spPr>
          <a:xfrm>
            <a:off x="1079398" y="2763773"/>
            <a:ext cx="1115695" cy="574675"/>
          </a:xfrm>
          <a:prstGeom prst="rect">
            <a:avLst/>
          </a:prstGeom>
        </p:spPr>
        <p:txBody>
          <a:bodyPr vert="horz" wrap="square" lIns="0" tIns="12700" rIns="0" bIns="0" rtlCol="0">
            <a:spAutoFit/>
          </a:bodyPr>
          <a:lstStyle/>
          <a:p>
            <a:pPr algn="ctr">
              <a:lnSpc>
                <a:spcPct val="100000"/>
              </a:lnSpc>
              <a:spcBef>
                <a:spcPts val="100"/>
              </a:spcBef>
            </a:pPr>
            <a:r>
              <a:rPr sz="1800" spc="-25" dirty="0">
                <a:solidFill>
                  <a:srgbClr val="464646"/>
                </a:solidFill>
                <a:latin typeface="Arial MT"/>
                <a:cs typeface="Arial MT"/>
              </a:rPr>
              <a:t>AWS</a:t>
            </a:r>
            <a:endParaRPr sz="1800">
              <a:latin typeface="Arial MT"/>
              <a:cs typeface="Arial MT"/>
            </a:endParaRPr>
          </a:p>
          <a:p>
            <a:pPr algn="ctr">
              <a:lnSpc>
                <a:spcPct val="100000"/>
              </a:lnSpc>
            </a:pPr>
            <a:r>
              <a:rPr sz="1800" spc="-5" dirty="0">
                <a:solidFill>
                  <a:srgbClr val="464646"/>
                </a:solidFill>
                <a:latin typeface="Arial MT"/>
                <a:cs typeface="Arial MT"/>
              </a:rPr>
              <a:t>Resources</a:t>
            </a:r>
            <a:endParaRPr sz="1800">
              <a:latin typeface="Arial MT"/>
              <a:cs typeface="Arial MT"/>
            </a:endParaRPr>
          </a:p>
        </p:txBody>
      </p:sp>
      <p:sp>
        <p:nvSpPr>
          <p:cNvPr id="11" name="object 11"/>
          <p:cNvSpPr/>
          <p:nvPr/>
        </p:nvSpPr>
        <p:spPr>
          <a:xfrm>
            <a:off x="3682746" y="2285238"/>
            <a:ext cx="1854835" cy="843280"/>
          </a:xfrm>
          <a:custGeom>
            <a:avLst/>
            <a:gdLst/>
            <a:ahLst/>
            <a:cxnLst/>
            <a:rect l="l" t="t" r="r" b="b"/>
            <a:pathLst>
              <a:path w="1854835" h="843280">
                <a:moveTo>
                  <a:pt x="0" y="140462"/>
                </a:moveTo>
                <a:lnTo>
                  <a:pt x="7158" y="96056"/>
                </a:lnTo>
                <a:lnTo>
                  <a:pt x="27094" y="57497"/>
                </a:lnTo>
                <a:lnTo>
                  <a:pt x="57497" y="27094"/>
                </a:lnTo>
                <a:lnTo>
                  <a:pt x="96056" y="7158"/>
                </a:lnTo>
                <a:lnTo>
                  <a:pt x="140462" y="0"/>
                </a:lnTo>
                <a:lnTo>
                  <a:pt x="1714245" y="0"/>
                </a:lnTo>
                <a:lnTo>
                  <a:pt x="1758651" y="7158"/>
                </a:lnTo>
                <a:lnTo>
                  <a:pt x="1797210" y="27094"/>
                </a:lnTo>
                <a:lnTo>
                  <a:pt x="1827613" y="57497"/>
                </a:lnTo>
                <a:lnTo>
                  <a:pt x="1847549" y="96056"/>
                </a:lnTo>
                <a:lnTo>
                  <a:pt x="1854707" y="140462"/>
                </a:lnTo>
                <a:lnTo>
                  <a:pt x="1854707" y="702310"/>
                </a:lnTo>
                <a:lnTo>
                  <a:pt x="1847549" y="746715"/>
                </a:lnTo>
                <a:lnTo>
                  <a:pt x="1827613" y="785274"/>
                </a:lnTo>
                <a:lnTo>
                  <a:pt x="1797210" y="815677"/>
                </a:lnTo>
                <a:lnTo>
                  <a:pt x="1758651" y="835613"/>
                </a:lnTo>
                <a:lnTo>
                  <a:pt x="1714245" y="842772"/>
                </a:lnTo>
                <a:lnTo>
                  <a:pt x="140462" y="842772"/>
                </a:lnTo>
                <a:lnTo>
                  <a:pt x="96056" y="835613"/>
                </a:lnTo>
                <a:lnTo>
                  <a:pt x="57497" y="815677"/>
                </a:lnTo>
                <a:lnTo>
                  <a:pt x="27094" y="785274"/>
                </a:lnTo>
                <a:lnTo>
                  <a:pt x="7158" y="746715"/>
                </a:lnTo>
                <a:lnTo>
                  <a:pt x="0" y="702310"/>
                </a:lnTo>
                <a:lnTo>
                  <a:pt x="0" y="140462"/>
                </a:lnTo>
                <a:close/>
              </a:path>
            </a:pathLst>
          </a:custGeom>
          <a:ln w="25908">
            <a:solidFill>
              <a:srgbClr val="464646"/>
            </a:solidFill>
          </a:ln>
        </p:spPr>
        <p:txBody>
          <a:bodyPr wrap="square" lIns="0" tIns="0" rIns="0" bIns="0" rtlCol="0"/>
          <a:lstStyle/>
          <a:p>
            <a:endParaRPr/>
          </a:p>
        </p:txBody>
      </p:sp>
      <p:sp>
        <p:nvSpPr>
          <p:cNvPr id="12" name="object 12"/>
          <p:cNvSpPr txBox="1"/>
          <p:nvPr/>
        </p:nvSpPr>
        <p:spPr>
          <a:xfrm>
            <a:off x="3980434" y="2550667"/>
            <a:ext cx="125920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l</a:t>
            </a:r>
            <a:r>
              <a:rPr sz="1800" spc="-5" dirty="0">
                <a:solidFill>
                  <a:srgbClr val="464646"/>
                </a:solidFill>
                <a:latin typeface="Arial MT"/>
                <a:cs typeface="Arial MT"/>
              </a:rPr>
              <a:t>o</a:t>
            </a:r>
            <a:r>
              <a:rPr sz="1800" spc="-15" dirty="0">
                <a:solidFill>
                  <a:srgbClr val="464646"/>
                </a:solidFill>
                <a:latin typeface="Arial MT"/>
                <a:cs typeface="Arial MT"/>
              </a:rPr>
              <a:t>u</a:t>
            </a:r>
            <a:r>
              <a:rPr sz="1800" dirty="0">
                <a:solidFill>
                  <a:srgbClr val="464646"/>
                </a:solidFill>
                <a:latin typeface="Arial MT"/>
                <a:cs typeface="Arial MT"/>
              </a:rPr>
              <a:t>d</a:t>
            </a:r>
            <a:r>
              <a:rPr sz="1800" spc="-75" dirty="0">
                <a:solidFill>
                  <a:srgbClr val="464646"/>
                </a:solidFill>
                <a:latin typeface="Arial MT"/>
                <a:cs typeface="Arial MT"/>
              </a:rPr>
              <a:t>W</a:t>
            </a:r>
            <a:r>
              <a:rPr sz="1800" dirty="0">
                <a:solidFill>
                  <a:srgbClr val="464646"/>
                </a:solidFill>
                <a:latin typeface="Arial MT"/>
                <a:cs typeface="Arial MT"/>
              </a:rPr>
              <a:t>atch</a:t>
            </a:r>
            <a:endParaRPr sz="1800">
              <a:latin typeface="Arial MT"/>
              <a:cs typeface="Arial MT"/>
            </a:endParaRPr>
          </a:p>
        </p:txBody>
      </p:sp>
      <p:grpSp>
        <p:nvGrpSpPr>
          <p:cNvPr id="13" name="object 13"/>
          <p:cNvGrpSpPr/>
          <p:nvPr/>
        </p:nvGrpSpPr>
        <p:grpSpPr>
          <a:xfrm>
            <a:off x="2750820" y="960056"/>
            <a:ext cx="6201410" cy="3493135"/>
            <a:chOff x="2750820" y="960056"/>
            <a:chExt cx="6201410" cy="3493135"/>
          </a:xfrm>
        </p:grpSpPr>
        <p:pic>
          <p:nvPicPr>
            <p:cNvPr id="14" name="object 14"/>
            <p:cNvPicPr/>
            <p:nvPr/>
          </p:nvPicPr>
          <p:blipFill>
            <a:blip r:embed="rId3" cstate="print"/>
            <a:stretch>
              <a:fillRect/>
            </a:stretch>
          </p:blipFill>
          <p:spPr>
            <a:xfrm>
              <a:off x="2750820" y="2604554"/>
              <a:ext cx="1048499" cy="237832"/>
            </a:xfrm>
            <a:prstGeom prst="rect">
              <a:avLst/>
            </a:prstGeom>
          </p:spPr>
        </p:pic>
        <p:sp>
          <p:nvSpPr>
            <p:cNvPr id="15" name="object 15"/>
            <p:cNvSpPr/>
            <p:nvPr/>
          </p:nvSpPr>
          <p:spPr>
            <a:xfrm>
              <a:off x="2794254" y="2667000"/>
              <a:ext cx="889635" cy="78105"/>
            </a:xfrm>
            <a:custGeom>
              <a:avLst/>
              <a:gdLst/>
              <a:ahLst/>
              <a:cxnLst/>
              <a:rect l="l" t="t" r="r" b="b"/>
              <a:pathLst>
                <a:path w="889635" h="78105">
                  <a:moveTo>
                    <a:pt x="863599" y="25907"/>
                  </a:moveTo>
                  <a:lnTo>
                    <a:pt x="824737" y="25907"/>
                  </a:lnTo>
                  <a:lnTo>
                    <a:pt x="824737" y="51816"/>
                  </a:lnTo>
                  <a:lnTo>
                    <a:pt x="811783" y="51819"/>
                  </a:lnTo>
                  <a:lnTo>
                    <a:pt x="811783" y="77724"/>
                  </a:lnTo>
                  <a:lnTo>
                    <a:pt x="889507" y="38862"/>
                  </a:lnTo>
                  <a:lnTo>
                    <a:pt x="863599" y="25907"/>
                  </a:lnTo>
                  <a:close/>
                </a:path>
                <a:path w="889635" h="78105">
                  <a:moveTo>
                    <a:pt x="811783" y="25911"/>
                  </a:moveTo>
                  <a:lnTo>
                    <a:pt x="0" y="26162"/>
                  </a:lnTo>
                  <a:lnTo>
                    <a:pt x="0" y="52069"/>
                  </a:lnTo>
                  <a:lnTo>
                    <a:pt x="811783" y="51819"/>
                  </a:lnTo>
                  <a:lnTo>
                    <a:pt x="811783" y="25911"/>
                  </a:lnTo>
                  <a:close/>
                </a:path>
                <a:path w="889635" h="78105">
                  <a:moveTo>
                    <a:pt x="824737" y="25907"/>
                  </a:moveTo>
                  <a:lnTo>
                    <a:pt x="811783" y="25911"/>
                  </a:lnTo>
                  <a:lnTo>
                    <a:pt x="811783" y="51819"/>
                  </a:lnTo>
                  <a:lnTo>
                    <a:pt x="824737" y="51816"/>
                  </a:lnTo>
                  <a:lnTo>
                    <a:pt x="824737" y="25907"/>
                  </a:lnTo>
                  <a:close/>
                </a:path>
                <a:path w="889635" h="78105">
                  <a:moveTo>
                    <a:pt x="811783" y="0"/>
                  </a:moveTo>
                  <a:lnTo>
                    <a:pt x="811783" y="25911"/>
                  </a:lnTo>
                  <a:lnTo>
                    <a:pt x="863599" y="25907"/>
                  </a:lnTo>
                  <a:lnTo>
                    <a:pt x="811783" y="0"/>
                  </a:lnTo>
                  <a:close/>
                </a:path>
              </a:pathLst>
            </a:custGeom>
            <a:solidFill>
              <a:srgbClr val="464646"/>
            </a:solidFill>
          </p:spPr>
          <p:txBody>
            <a:bodyPr wrap="square" lIns="0" tIns="0" rIns="0" bIns="0" rtlCol="0"/>
            <a:lstStyle/>
            <a:p>
              <a:endParaRPr/>
            </a:p>
          </p:txBody>
        </p:sp>
        <p:sp>
          <p:nvSpPr>
            <p:cNvPr id="16" name="object 16"/>
            <p:cNvSpPr/>
            <p:nvPr/>
          </p:nvSpPr>
          <p:spPr>
            <a:xfrm>
              <a:off x="6628638" y="973074"/>
              <a:ext cx="2310765" cy="3467100"/>
            </a:xfrm>
            <a:custGeom>
              <a:avLst/>
              <a:gdLst/>
              <a:ahLst/>
              <a:cxnLst/>
              <a:rect l="l" t="t" r="r" b="b"/>
              <a:pathLst>
                <a:path w="2310765" h="3467100">
                  <a:moveTo>
                    <a:pt x="0" y="385063"/>
                  </a:moveTo>
                  <a:lnTo>
                    <a:pt x="2999" y="336750"/>
                  </a:lnTo>
                  <a:lnTo>
                    <a:pt x="11756" y="290231"/>
                  </a:lnTo>
                  <a:lnTo>
                    <a:pt x="25911" y="245866"/>
                  </a:lnTo>
                  <a:lnTo>
                    <a:pt x="45104" y="204016"/>
                  </a:lnTo>
                  <a:lnTo>
                    <a:pt x="68974" y="165042"/>
                  </a:lnTo>
                  <a:lnTo>
                    <a:pt x="97160" y="129303"/>
                  </a:lnTo>
                  <a:lnTo>
                    <a:pt x="129303" y="97160"/>
                  </a:lnTo>
                  <a:lnTo>
                    <a:pt x="165042" y="68974"/>
                  </a:lnTo>
                  <a:lnTo>
                    <a:pt x="204016" y="45104"/>
                  </a:lnTo>
                  <a:lnTo>
                    <a:pt x="245866" y="25911"/>
                  </a:lnTo>
                  <a:lnTo>
                    <a:pt x="290231" y="11756"/>
                  </a:lnTo>
                  <a:lnTo>
                    <a:pt x="336750" y="2999"/>
                  </a:lnTo>
                  <a:lnTo>
                    <a:pt x="385063" y="0"/>
                  </a:lnTo>
                  <a:lnTo>
                    <a:pt x="1925319" y="0"/>
                  </a:lnTo>
                  <a:lnTo>
                    <a:pt x="1973608" y="2999"/>
                  </a:lnTo>
                  <a:lnTo>
                    <a:pt x="2020110" y="11756"/>
                  </a:lnTo>
                  <a:lnTo>
                    <a:pt x="2064465" y="25911"/>
                  </a:lnTo>
                  <a:lnTo>
                    <a:pt x="2106310" y="45104"/>
                  </a:lnTo>
                  <a:lnTo>
                    <a:pt x="2145286" y="68974"/>
                  </a:lnTo>
                  <a:lnTo>
                    <a:pt x="2181029" y="97160"/>
                  </a:lnTo>
                  <a:lnTo>
                    <a:pt x="2213179" y="129303"/>
                  </a:lnTo>
                  <a:lnTo>
                    <a:pt x="2241375" y="165042"/>
                  </a:lnTo>
                  <a:lnTo>
                    <a:pt x="2265254" y="204016"/>
                  </a:lnTo>
                  <a:lnTo>
                    <a:pt x="2284456" y="245866"/>
                  </a:lnTo>
                  <a:lnTo>
                    <a:pt x="2298619" y="290231"/>
                  </a:lnTo>
                  <a:lnTo>
                    <a:pt x="2307382" y="336750"/>
                  </a:lnTo>
                  <a:lnTo>
                    <a:pt x="2310383" y="385063"/>
                  </a:lnTo>
                  <a:lnTo>
                    <a:pt x="2310383" y="3082023"/>
                  </a:lnTo>
                  <a:lnTo>
                    <a:pt x="2307382" y="3130326"/>
                  </a:lnTo>
                  <a:lnTo>
                    <a:pt x="2298619" y="3176839"/>
                  </a:lnTo>
                  <a:lnTo>
                    <a:pt x="2284456" y="3221201"/>
                  </a:lnTo>
                  <a:lnTo>
                    <a:pt x="2265254" y="3263050"/>
                  </a:lnTo>
                  <a:lnTo>
                    <a:pt x="2241375" y="3302026"/>
                  </a:lnTo>
                  <a:lnTo>
                    <a:pt x="2213179" y="3337768"/>
                  </a:lnTo>
                  <a:lnTo>
                    <a:pt x="2181029" y="3369916"/>
                  </a:lnTo>
                  <a:lnTo>
                    <a:pt x="2145286" y="3398107"/>
                  </a:lnTo>
                  <a:lnTo>
                    <a:pt x="2106310" y="3421982"/>
                  </a:lnTo>
                  <a:lnTo>
                    <a:pt x="2064465" y="3441180"/>
                  </a:lnTo>
                  <a:lnTo>
                    <a:pt x="2020110" y="3455339"/>
                  </a:lnTo>
                  <a:lnTo>
                    <a:pt x="1973608" y="3464099"/>
                  </a:lnTo>
                  <a:lnTo>
                    <a:pt x="1925319" y="3467100"/>
                  </a:lnTo>
                  <a:lnTo>
                    <a:pt x="385063" y="3467100"/>
                  </a:lnTo>
                  <a:lnTo>
                    <a:pt x="336750" y="3464099"/>
                  </a:lnTo>
                  <a:lnTo>
                    <a:pt x="290231" y="3455339"/>
                  </a:lnTo>
                  <a:lnTo>
                    <a:pt x="245866" y="3441180"/>
                  </a:lnTo>
                  <a:lnTo>
                    <a:pt x="204016" y="3421982"/>
                  </a:lnTo>
                  <a:lnTo>
                    <a:pt x="165042" y="3398107"/>
                  </a:lnTo>
                  <a:lnTo>
                    <a:pt x="129303" y="3369916"/>
                  </a:lnTo>
                  <a:lnTo>
                    <a:pt x="97160" y="3337768"/>
                  </a:lnTo>
                  <a:lnTo>
                    <a:pt x="68974" y="3302026"/>
                  </a:lnTo>
                  <a:lnTo>
                    <a:pt x="45104" y="3263050"/>
                  </a:lnTo>
                  <a:lnTo>
                    <a:pt x="25911" y="3221201"/>
                  </a:lnTo>
                  <a:lnTo>
                    <a:pt x="11756" y="3176839"/>
                  </a:lnTo>
                  <a:lnTo>
                    <a:pt x="2999" y="3130326"/>
                  </a:lnTo>
                  <a:lnTo>
                    <a:pt x="0" y="3082023"/>
                  </a:lnTo>
                  <a:lnTo>
                    <a:pt x="0" y="385063"/>
                  </a:lnTo>
                  <a:close/>
                </a:path>
                <a:path w="2310765" h="3467100">
                  <a:moveTo>
                    <a:pt x="309371" y="1036319"/>
                  </a:moveTo>
                  <a:lnTo>
                    <a:pt x="317753" y="994790"/>
                  </a:lnTo>
                  <a:lnTo>
                    <a:pt x="340613" y="960881"/>
                  </a:lnTo>
                  <a:lnTo>
                    <a:pt x="374522" y="938021"/>
                  </a:lnTo>
                  <a:lnTo>
                    <a:pt x="416051" y="929639"/>
                  </a:lnTo>
                  <a:lnTo>
                    <a:pt x="1940052" y="929639"/>
                  </a:lnTo>
                  <a:lnTo>
                    <a:pt x="1981580" y="938021"/>
                  </a:lnTo>
                  <a:lnTo>
                    <a:pt x="2015489" y="960882"/>
                  </a:lnTo>
                  <a:lnTo>
                    <a:pt x="2038349" y="994791"/>
                  </a:lnTo>
                  <a:lnTo>
                    <a:pt x="2046731" y="1036319"/>
                  </a:lnTo>
                  <a:lnTo>
                    <a:pt x="2046731" y="1463039"/>
                  </a:lnTo>
                  <a:lnTo>
                    <a:pt x="2038350" y="1504569"/>
                  </a:lnTo>
                  <a:lnTo>
                    <a:pt x="2015490" y="1538477"/>
                  </a:lnTo>
                  <a:lnTo>
                    <a:pt x="1981581" y="1561338"/>
                  </a:lnTo>
                  <a:lnTo>
                    <a:pt x="1940052" y="1569720"/>
                  </a:lnTo>
                  <a:lnTo>
                    <a:pt x="416051" y="1569720"/>
                  </a:lnTo>
                  <a:lnTo>
                    <a:pt x="374522" y="1561338"/>
                  </a:lnTo>
                  <a:lnTo>
                    <a:pt x="340613" y="1538477"/>
                  </a:lnTo>
                  <a:lnTo>
                    <a:pt x="317753" y="1504569"/>
                  </a:lnTo>
                  <a:lnTo>
                    <a:pt x="309371" y="1463039"/>
                  </a:lnTo>
                  <a:lnTo>
                    <a:pt x="309371" y="1036319"/>
                  </a:lnTo>
                  <a:close/>
                </a:path>
              </a:pathLst>
            </a:custGeom>
            <a:ln w="25908">
              <a:solidFill>
                <a:srgbClr val="464646"/>
              </a:solidFill>
            </a:ln>
          </p:spPr>
          <p:txBody>
            <a:bodyPr wrap="square" lIns="0" tIns="0" rIns="0" bIns="0" rtlCol="0"/>
            <a:lstStyle/>
            <a:p>
              <a:endParaRPr/>
            </a:p>
          </p:txBody>
        </p:sp>
      </p:grpSp>
      <p:sp>
        <p:nvSpPr>
          <p:cNvPr id="17" name="object 17"/>
          <p:cNvSpPr txBox="1"/>
          <p:nvPr/>
        </p:nvSpPr>
        <p:spPr>
          <a:xfrm>
            <a:off x="7495413" y="2066925"/>
            <a:ext cx="6216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Al</a:t>
            </a:r>
            <a:r>
              <a:rPr sz="1800" spc="-15" dirty="0">
                <a:solidFill>
                  <a:srgbClr val="464646"/>
                </a:solidFill>
                <a:latin typeface="Arial MT"/>
                <a:cs typeface="Arial MT"/>
              </a:rPr>
              <a:t>a</a:t>
            </a:r>
            <a:r>
              <a:rPr sz="1800" dirty="0">
                <a:solidFill>
                  <a:srgbClr val="464646"/>
                </a:solidFill>
                <a:latin typeface="Arial MT"/>
                <a:cs typeface="Arial MT"/>
              </a:rPr>
              <a:t>rm</a:t>
            </a:r>
            <a:endParaRPr sz="1800">
              <a:latin typeface="Arial MT"/>
              <a:cs typeface="Arial MT"/>
            </a:endParaRPr>
          </a:p>
        </p:txBody>
      </p:sp>
      <p:sp>
        <p:nvSpPr>
          <p:cNvPr id="18" name="object 18"/>
          <p:cNvSpPr/>
          <p:nvPr/>
        </p:nvSpPr>
        <p:spPr>
          <a:xfrm>
            <a:off x="6938009" y="2882645"/>
            <a:ext cx="1737360" cy="640080"/>
          </a:xfrm>
          <a:custGeom>
            <a:avLst/>
            <a:gdLst/>
            <a:ahLst/>
            <a:cxnLst/>
            <a:rect l="l" t="t" r="r" b="b"/>
            <a:pathLst>
              <a:path w="1737359" h="640079">
                <a:moveTo>
                  <a:pt x="0" y="106680"/>
                </a:moveTo>
                <a:lnTo>
                  <a:pt x="8381" y="65151"/>
                </a:lnTo>
                <a:lnTo>
                  <a:pt x="31241" y="31242"/>
                </a:lnTo>
                <a:lnTo>
                  <a:pt x="65150" y="8381"/>
                </a:lnTo>
                <a:lnTo>
                  <a:pt x="106680" y="0"/>
                </a:lnTo>
                <a:lnTo>
                  <a:pt x="1630680" y="0"/>
                </a:lnTo>
                <a:lnTo>
                  <a:pt x="1672209" y="8381"/>
                </a:lnTo>
                <a:lnTo>
                  <a:pt x="1706118" y="31242"/>
                </a:lnTo>
                <a:lnTo>
                  <a:pt x="1728977" y="65151"/>
                </a:lnTo>
                <a:lnTo>
                  <a:pt x="1737360" y="106680"/>
                </a:lnTo>
                <a:lnTo>
                  <a:pt x="1737360" y="533400"/>
                </a:lnTo>
                <a:lnTo>
                  <a:pt x="1728978" y="574929"/>
                </a:lnTo>
                <a:lnTo>
                  <a:pt x="1706118" y="608838"/>
                </a:lnTo>
                <a:lnTo>
                  <a:pt x="1672209" y="631698"/>
                </a:lnTo>
                <a:lnTo>
                  <a:pt x="1630680" y="640080"/>
                </a:lnTo>
                <a:lnTo>
                  <a:pt x="106680" y="640080"/>
                </a:lnTo>
                <a:lnTo>
                  <a:pt x="65150" y="631698"/>
                </a:lnTo>
                <a:lnTo>
                  <a:pt x="31241" y="608838"/>
                </a:lnTo>
                <a:lnTo>
                  <a:pt x="8381" y="574929"/>
                </a:lnTo>
                <a:lnTo>
                  <a:pt x="0" y="533400"/>
                </a:lnTo>
                <a:lnTo>
                  <a:pt x="0" y="106680"/>
                </a:lnTo>
                <a:close/>
              </a:path>
            </a:pathLst>
          </a:custGeom>
          <a:ln w="25908">
            <a:solidFill>
              <a:srgbClr val="464646"/>
            </a:solidFill>
          </a:ln>
        </p:spPr>
        <p:txBody>
          <a:bodyPr wrap="square" lIns="0" tIns="0" rIns="0" bIns="0" rtlCol="0"/>
          <a:lstStyle/>
          <a:p>
            <a:endParaRPr/>
          </a:p>
        </p:txBody>
      </p:sp>
      <p:sp>
        <p:nvSpPr>
          <p:cNvPr id="19" name="object 19"/>
          <p:cNvSpPr txBox="1"/>
          <p:nvPr/>
        </p:nvSpPr>
        <p:spPr>
          <a:xfrm>
            <a:off x="7236332" y="3047492"/>
            <a:ext cx="114046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D</a:t>
            </a:r>
            <a:r>
              <a:rPr sz="1800" spc="-15" dirty="0">
                <a:solidFill>
                  <a:srgbClr val="464646"/>
                </a:solidFill>
                <a:latin typeface="Arial MT"/>
                <a:cs typeface="Arial MT"/>
              </a:rPr>
              <a:t>a</a:t>
            </a:r>
            <a:r>
              <a:rPr sz="1800" spc="-5" dirty="0">
                <a:solidFill>
                  <a:srgbClr val="464646"/>
                </a:solidFill>
                <a:latin typeface="Arial MT"/>
                <a:cs typeface="Arial MT"/>
              </a:rPr>
              <a:t>sh</a:t>
            </a:r>
            <a:r>
              <a:rPr sz="1800" spc="-15" dirty="0">
                <a:solidFill>
                  <a:srgbClr val="464646"/>
                </a:solidFill>
                <a:latin typeface="Arial MT"/>
                <a:cs typeface="Arial MT"/>
              </a:rPr>
              <a:t>b</a:t>
            </a:r>
            <a:r>
              <a:rPr sz="1800" spc="-5" dirty="0">
                <a:solidFill>
                  <a:srgbClr val="464646"/>
                </a:solidFill>
                <a:latin typeface="Arial MT"/>
                <a:cs typeface="Arial MT"/>
              </a:rPr>
              <a:t>o</a:t>
            </a:r>
            <a:r>
              <a:rPr sz="1800" spc="-15" dirty="0">
                <a:solidFill>
                  <a:srgbClr val="464646"/>
                </a:solidFill>
                <a:latin typeface="Arial MT"/>
                <a:cs typeface="Arial MT"/>
              </a:rPr>
              <a:t>a</a:t>
            </a:r>
            <a:r>
              <a:rPr sz="1800" spc="-5" dirty="0">
                <a:solidFill>
                  <a:srgbClr val="464646"/>
                </a:solidFill>
                <a:latin typeface="Arial MT"/>
                <a:cs typeface="Arial MT"/>
              </a:rPr>
              <a:t>rd</a:t>
            </a:r>
            <a:endParaRPr sz="1800">
              <a:latin typeface="Arial MT"/>
              <a:cs typeface="Arial MT"/>
            </a:endParaRPr>
          </a:p>
        </p:txBody>
      </p:sp>
      <p:grpSp>
        <p:nvGrpSpPr>
          <p:cNvPr id="20" name="object 20"/>
          <p:cNvGrpSpPr/>
          <p:nvPr/>
        </p:nvGrpSpPr>
        <p:grpSpPr>
          <a:xfrm>
            <a:off x="5494020" y="2606103"/>
            <a:ext cx="1251585" cy="236220"/>
            <a:chOff x="5494020" y="2606103"/>
            <a:chExt cx="1251585" cy="236220"/>
          </a:xfrm>
        </p:grpSpPr>
        <p:pic>
          <p:nvPicPr>
            <p:cNvPr id="21" name="object 21"/>
            <p:cNvPicPr/>
            <p:nvPr/>
          </p:nvPicPr>
          <p:blipFill>
            <a:blip r:embed="rId4" cstate="print"/>
            <a:stretch>
              <a:fillRect/>
            </a:stretch>
          </p:blipFill>
          <p:spPr>
            <a:xfrm>
              <a:off x="5494020" y="2606103"/>
              <a:ext cx="1251191" cy="236156"/>
            </a:xfrm>
            <a:prstGeom prst="rect">
              <a:avLst/>
            </a:prstGeom>
          </p:spPr>
        </p:pic>
        <p:sp>
          <p:nvSpPr>
            <p:cNvPr id="22" name="object 22"/>
            <p:cNvSpPr/>
            <p:nvPr/>
          </p:nvSpPr>
          <p:spPr>
            <a:xfrm>
              <a:off x="5537454" y="2667254"/>
              <a:ext cx="1092200" cy="78105"/>
            </a:xfrm>
            <a:custGeom>
              <a:avLst/>
              <a:gdLst/>
              <a:ahLst/>
              <a:cxnLst/>
              <a:rect l="l" t="t" r="r" b="b"/>
              <a:pathLst>
                <a:path w="1092200" h="78105">
                  <a:moveTo>
                    <a:pt x="1013968" y="51812"/>
                  </a:moveTo>
                  <a:lnTo>
                    <a:pt x="1013968" y="77723"/>
                  </a:lnTo>
                  <a:lnTo>
                    <a:pt x="1065784" y="51815"/>
                  </a:lnTo>
                  <a:lnTo>
                    <a:pt x="1013968" y="51812"/>
                  </a:lnTo>
                  <a:close/>
                </a:path>
                <a:path w="1092200" h="78105">
                  <a:moveTo>
                    <a:pt x="1013968" y="25904"/>
                  </a:moveTo>
                  <a:lnTo>
                    <a:pt x="1013968" y="51812"/>
                  </a:lnTo>
                  <a:lnTo>
                    <a:pt x="1026922" y="51815"/>
                  </a:lnTo>
                  <a:lnTo>
                    <a:pt x="1026922" y="25907"/>
                  </a:lnTo>
                  <a:lnTo>
                    <a:pt x="1013968" y="25904"/>
                  </a:lnTo>
                  <a:close/>
                </a:path>
                <a:path w="1092200" h="78105">
                  <a:moveTo>
                    <a:pt x="1013968" y="0"/>
                  </a:moveTo>
                  <a:lnTo>
                    <a:pt x="1013968" y="25904"/>
                  </a:lnTo>
                  <a:lnTo>
                    <a:pt x="1026922" y="25907"/>
                  </a:lnTo>
                  <a:lnTo>
                    <a:pt x="1026922" y="51815"/>
                  </a:lnTo>
                  <a:lnTo>
                    <a:pt x="1065790" y="51812"/>
                  </a:lnTo>
                  <a:lnTo>
                    <a:pt x="1091692" y="38862"/>
                  </a:lnTo>
                  <a:lnTo>
                    <a:pt x="1013968" y="0"/>
                  </a:lnTo>
                  <a:close/>
                </a:path>
                <a:path w="1092200" h="78105">
                  <a:moveTo>
                    <a:pt x="0" y="25653"/>
                  </a:moveTo>
                  <a:lnTo>
                    <a:pt x="0" y="51562"/>
                  </a:lnTo>
                  <a:lnTo>
                    <a:pt x="1013968" y="51812"/>
                  </a:lnTo>
                  <a:lnTo>
                    <a:pt x="1013968" y="25904"/>
                  </a:lnTo>
                  <a:lnTo>
                    <a:pt x="0" y="25653"/>
                  </a:lnTo>
                  <a:close/>
                </a:path>
              </a:pathLst>
            </a:custGeom>
            <a:solidFill>
              <a:srgbClr val="464646"/>
            </a:solidFill>
          </p:spPr>
          <p:txBody>
            <a:bodyPr wrap="square" lIns="0" tIns="0" rIns="0" bIns="0" rtlCol="0"/>
            <a:lstStyle/>
            <a:p>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14046"/>
            <a:ext cx="3378835" cy="452120"/>
          </a:xfrm>
          <a:prstGeom prst="rect">
            <a:avLst/>
          </a:prstGeom>
        </p:spPr>
        <p:txBody>
          <a:bodyPr vert="horz" wrap="square" lIns="0" tIns="12065" rIns="0" bIns="0" rtlCol="0">
            <a:spAutoFit/>
          </a:bodyPr>
          <a:lstStyle/>
          <a:p>
            <a:pPr marL="12700">
              <a:lnSpc>
                <a:spcPct val="100000"/>
              </a:lnSpc>
              <a:spcBef>
                <a:spcPts val="95"/>
              </a:spcBef>
            </a:pPr>
            <a:r>
              <a:rPr spc="-15" dirty="0"/>
              <a:t>CloudWatch</a:t>
            </a:r>
            <a:r>
              <a:rPr spc="-125" dirty="0"/>
              <a:t> </a:t>
            </a:r>
            <a:r>
              <a:rPr spc="-5" dirty="0"/>
              <a:t>Alarms</a:t>
            </a:r>
          </a:p>
        </p:txBody>
      </p:sp>
      <p:sp>
        <p:nvSpPr>
          <p:cNvPr id="3" name="object 3"/>
          <p:cNvSpPr/>
          <p:nvPr/>
        </p:nvSpPr>
        <p:spPr>
          <a:xfrm>
            <a:off x="598169" y="2151126"/>
            <a:ext cx="1854835" cy="843280"/>
          </a:xfrm>
          <a:custGeom>
            <a:avLst/>
            <a:gdLst/>
            <a:ahLst/>
            <a:cxnLst/>
            <a:rect l="l" t="t" r="r" b="b"/>
            <a:pathLst>
              <a:path w="1854835" h="843280">
                <a:moveTo>
                  <a:pt x="0" y="140462"/>
                </a:moveTo>
                <a:lnTo>
                  <a:pt x="7161" y="96056"/>
                </a:lnTo>
                <a:lnTo>
                  <a:pt x="27102" y="57497"/>
                </a:lnTo>
                <a:lnTo>
                  <a:pt x="57508" y="27094"/>
                </a:lnTo>
                <a:lnTo>
                  <a:pt x="96066" y="7158"/>
                </a:lnTo>
                <a:lnTo>
                  <a:pt x="140461" y="0"/>
                </a:lnTo>
                <a:lnTo>
                  <a:pt x="1714246" y="0"/>
                </a:lnTo>
                <a:lnTo>
                  <a:pt x="1758651" y="7158"/>
                </a:lnTo>
                <a:lnTo>
                  <a:pt x="1797210" y="27094"/>
                </a:lnTo>
                <a:lnTo>
                  <a:pt x="1827613" y="57497"/>
                </a:lnTo>
                <a:lnTo>
                  <a:pt x="1847549" y="96056"/>
                </a:lnTo>
                <a:lnTo>
                  <a:pt x="1854708" y="140462"/>
                </a:lnTo>
                <a:lnTo>
                  <a:pt x="1854708" y="702310"/>
                </a:lnTo>
                <a:lnTo>
                  <a:pt x="1847549" y="746715"/>
                </a:lnTo>
                <a:lnTo>
                  <a:pt x="1827613" y="785274"/>
                </a:lnTo>
                <a:lnTo>
                  <a:pt x="1797210" y="815677"/>
                </a:lnTo>
                <a:lnTo>
                  <a:pt x="1758651" y="835613"/>
                </a:lnTo>
                <a:lnTo>
                  <a:pt x="1714246" y="842772"/>
                </a:lnTo>
                <a:lnTo>
                  <a:pt x="140461" y="842772"/>
                </a:lnTo>
                <a:lnTo>
                  <a:pt x="96066" y="835613"/>
                </a:lnTo>
                <a:lnTo>
                  <a:pt x="57508" y="815677"/>
                </a:lnTo>
                <a:lnTo>
                  <a:pt x="27102" y="785274"/>
                </a:lnTo>
                <a:lnTo>
                  <a:pt x="7161" y="746715"/>
                </a:lnTo>
                <a:lnTo>
                  <a:pt x="0" y="702310"/>
                </a:lnTo>
                <a:lnTo>
                  <a:pt x="0" y="140462"/>
                </a:lnTo>
                <a:close/>
              </a:path>
            </a:pathLst>
          </a:custGeom>
          <a:ln w="25908">
            <a:solidFill>
              <a:srgbClr val="464646"/>
            </a:solidFill>
          </a:ln>
        </p:spPr>
        <p:txBody>
          <a:bodyPr wrap="square" lIns="0" tIns="0" rIns="0" bIns="0" rtlCol="0"/>
          <a:lstStyle/>
          <a:p>
            <a:endParaRPr/>
          </a:p>
        </p:txBody>
      </p:sp>
      <p:sp>
        <p:nvSpPr>
          <p:cNvPr id="4" name="object 4"/>
          <p:cNvSpPr txBox="1"/>
          <p:nvPr/>
        </p:nvSpPr>
        <p:spPr>
          <a:xfrm>
            <a:off x="895603" y="2416555"/>
            <a:ext cx="125920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l</a:t>
            </a:r>
            <a:r>
              <a:rPr sz="1800" spc="-5" dirty="0">
                <a:solidFill>
                  <a:srgbClr val="464646"/>
                </a:solidFill>
                <a:latin typeface="Arial MT"/>
                <a:cs typeface="Arial MT"/>
              </a:rPr>
              <a:t>o</a:t>
            </a:r>
            <a:r>
              <a:rPr sz="1800" spc="-15" dirty="0">
                <a:solidFill>
                  <a:srgbClr val="464646"/>
                </a:solidFill>
                <a:latin typeface="Arial MT"/>
                <a:cs typeface="Arial MT"/>
              </a:rPr>
              <a:t>u</a:t>
            </a:r>
            <a:r>
              <a:rPr sz="1800" dirty="0">
                <a:solidFill>
                  <a:srgbClr val="464646"/>
                </a:solidFill>
                <a:latin typeface="Arial MT"/>
                <a:cs typeface="Arial MT"/>
              </a:rPr>
              <a:t>d</a:t>
            </a:r>
            <a:r>
              <a:rPr sz="1800" spc="-75" dirty="0">
                <a:solidFill>
                  <a:srgbClr val="464646"/>
                </a:solidFill>
                <a:latin typeface="Arial MT"/>
                <a:cs typeface="Arial MT"/>
              </a:rPr>
              <a:t>W</a:t>
            </a:r>
            <a:r>
              <a:rPr sz="1800" dirty="0">
                <a:solidFill>
                  <a:srgbClr val="464646"/>
                </a:solidFill>
                <a:latin typeface="Arial MT"/>
                <a:cs typeface="Arial MT"/>
              </a:rPr>
              <a:t>atch</a:t>
            </a:r>
            <a:endParaRPr sz="1800">
              <a:latin typeface="Arial MT"/>
              <a:cs typeface="Arial MT"/>
            </a:endParaRPr>
          </a:p>
        </p:txBody>
      </p:sp>
      <p:sp>
        <p:nvSpPr>
          <p:cNvPr id="5" name="object 5"/>
          <p:cNvSpPr/>
          <p:nvPr/>
        </p:nvSpPr>
        <p:spPr>
          <a:xfrm>
            <a:off x="3646170" y="2151126"/>
            <a:ext cx="1853564" cy="843280"/>
          </a:xfrm>
          <a:custGeom>
            <a:avLst/>
            <a:gdLst/>
            <a:ahLst/>
            <a:cxnLst/>
            <a:rect l="l" t="t" r="r" b="b"/>
            <a:pathLst>
              <a:path w="1853564" h="843280">
                <a:moveTo>
                  <a:pt x="0" y="140462"/>
                </a:moveTo>
                <a:lnTo>
                  <a:pt x="7158" y="96056"/>
                </a:lnTo>
                <a:lnTo>
                  <a:pt x="27094" y="57497"/>
                </a:lnTo>
                <a:lnTo>
                  <a:pt x="57497" y="27094"/>
                </a:lnTo>
                <a:lnTo>
                  <a:pt x="96056" y="7158"/>
                </a:lnTo>
                <a:lnTo>
                  <a:pt x="140462" y="0"/>
                </a:lnTo>
                <a:lnTo>
                  <a:pt x="1712721" y="0"/>
                </a:lnTo>
                <a:lnTo>
                  <a:pt x="1757127" y="7158"/>
                </a:lnTo>
                <a:lnTo>
                  <a:pt x="1795686" y="27094"/>
                </a:lnTo>
                <a:lnTo>
                  <a:pt x="1826089" y="57497"/>
                </a:lnTo>
                <a:lnTo>
                  <a:pt x="1846025" y="96056"/>
                </a:lnTo>
                <a:lnTo>
                  <a:pt x="1853183" y="140462"/>
                </a:lnTo>
                <a:lnTo>
                  <a:pt x="1853183" y="702310"/>
                </a:lnTo>
                <a:lnTo>
                  <a:pt x="1846025" y="746715"/>
                </a:lnTo>
                <a:lnTo>
                  <a:pt x="1826089" y="785274"/>
                </a:lnTo>
                <a:lnTo>
                  <a:pt x="1795686" y="815677"/>
                </a:lnTo>
                <a:lnTo>
                  <a:pt x="1757127" y="835613"/>
                </a:lnTo>
                <a:lnTo>
                  <a:pt x="1712721" y="842772"/>
                </a:lnTo>
                <a:lnTo>
                  <a:pt x="140462" y="842772"/>
                </a:lnTo>
                <a:lnTo>
                  <a:pt x="96056" y="835613"/>
                </a:lnTo>
                <a:lnTo>
                  <a:pt x="57497" y="815677"/>
                </a:lnTo>
                <a:lnTo>
                  <a:pt x="27094" y="785274"/>
                </a:lnTo>
                <a:lnTo>
                  <a:pt x="7158" y="746715"/>
                </a:lnTo>
                <a:lnTo>
                  <a:pt x="0" y="702310"/>
                </a:lnTo>
                <a:lnTo>
                  <a:pt x="0" y="140462"/>
                </a:lnTo>
                <a:close/>
              </a:path>
            </a:pathLst>
          </a:custGeom>
          <a:ln w="25908">
            <a:solidFill>
              <a:srgbClr val="464646"/>
            </a:solidFill>
          </a:ln>
        </p:spPr>
        <p:txBody>
          <a:bodyPr wrap="square" lIns="0" tIns="0" rIns="0" bIns="0" rtlCol="0"/>
          <a:lstStyle/>
          <a:p>
            <a:endParaRPr/>
          </a:p>
        </p:txBody>
      </p:sp>
      <p:sp>
        <p:nvSpPr>
          <p:cNvPr id="6" name="object 6"/>
          <p:cNvSpPr txBox="1"/>
          <p:nvPr/>
        </p:nvSpPr>
        <p:spPr>
          <a:xfrm>
            <a:off x="4205096" y="2416555"/>
            <a:ext cx="7359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Al</a:t>
            </a:r>
            <a:r>
              <a:rPr sz="1800" spc="-15" dirty="0">
                <a:solidFill>
                  <a:srgbClr val="464646"/>
                </a:solidFill>
                <a:latin typeface="Arial MT"/>
                <a:cs typeface="Arial MT"/>
              </a:rPr>
              <a:t>a</a:t>
            </a:r>
            <a:r>
              <a:rPr sz="1800" dirty="0">
                <a:solidFill>
                  <a:srgbClr val="464646"/>
                </a:solidFill>
                <a:latin typeface="Arial MT"/>
                <a:cs typeface="Arial MT"/>
              </a:rPr>
              <a:t>rms</a:t>
            </a:r>
            <a:endParaRPr sz="1800">
              <a:latin typeface="Arial MT"/>
              <a:cs typeface="Arial MT"/>
            </a:endParaRPr>
          </a:p>
        </p:txBody>
      </p:sp>
      <p:grpSp>
        <p:nvGrpSpPr>
          <p:cNvPr id="7" name="object 7"/>
          <p:cNvGrpSpPr/>
          <p:nvPr/>
        </p:nvGrpSpPr>
        <p:grpSpPr>
          <a:xfrm>
            <a:off x="2409444" y="583628"/>
            <a:ext cx="6500495" cy="3985895"/>
            <a:chOff x="2409444" y="583628"/>
            <a:chExt cx="6500495" cy="3985895"/>
          </a:xfrm>
        </p:grpSpPr>
        <p:pic>
          <p:nvPicPr>
            <p:cNvPr id="8" name="object 8"/>
            <p:cNvPicPr/>
            <p:nvPr/>
          </p:nvPicPr>
          <p:blipFill>
            <a:blip r:embed="rId2" cstate="print"/>
            <a:stretch>
              <a:fillRect/>
            </a:stretch>
          </p:blipFill>
          <p:spPr>
            <a:xfrm>
              <a:off x="2409444" y="2470442"/>
              <a:ext cx="1353311" cy="237832"/>
            </a:xfrm>
            <a:prstGeom prst="rect">
              <a:avLst/>
            </a:prstGeom>
          </p:spPr>
        </p:pic>
        <p:sp>
          <p:nvSpPr>
            <p:cNvPr id="9" name="object 9"/>
            <p:cNvSpPr/>
            <p:nvPr/>
          </p:nvSpPr>
          <p:spPr>
            <a:xfrm>
              <a:off x="2452878" y="2532888"/>
              <a:ext cx="1193800" cy="78105"/>
            </a:xfrm>
            <a:custGeom>
              <a:avLst/>
              <a:gdLst/>
              <a:ahLst/>
              <a:cxnLst/>
              <a:rect l="l" t="t" r="r" b="b"/>
              <a:pathLst>
                <a:path w="1193800" h="78105">
                  <a:moveTo>
                    <a:pt x="1115568" y="0"/>
                  </a:moveTo>
                  <a:lnTo>
                    <a:pt x="1115568" y="77724"/>
                  </a:lnTo>
                  <a:lnTo>
                    <a:pt x="1167384" y="51816"/>
                  </a:lnTo>
                  <a:lnTo>
                    <a:pt x="1128522" y="51816"/>
                  </a:lnTo>
                  <a:lnTo>
                    <a:pt x="1128522" y="25907"/>
                  </a:lnTo>
                  <a:lnTo>
                    <a:pt x="1167384" y="25907"/>
                  </a:lnTo>
                  <a:lnTo>
                    <a:pt x="1115568" y="0"/>
                  </a:lnTo>
                  <a:close/>
                </a:path>
                <a:path w="1193800" h="78105">
                  <a:moveTo>
                    <a:pt x="1115568" y="25907"/>
                  </a:moveTo>
                  <a:lnTo>
                    <a:pt x="0" y="25907"/>
                  </a:lnTo>
                  <a:lnTo>
                    <a:pt x="0" y="51816"/>
                  </a:lnTo>
                  <a:lnTo>
                    <a:pt x="1115568" y="51816"/>
                  </a:lnTo>
                  <a:lnTo>
                    <a:pt x="1115568" y="25907"/>
                  </a:lnTo>
                  <a:close/>
                </a:path>
                <a:path w="1193800" h="78105">
                  <a:moveTo>
                    <a:pt x="1167384" y="25907"/>
                  </a:moveTo>
                  <a:lnTo>
                    <a:pt x="1128522" y="25907"/>
                  </a:lnTo>
                  <a:lnTo>
                    <a:pt x="1128522" y="51816"/>
                  </a:lnTo>
                  <a:lnTo>
                    <a:pt x="1167384" y="51816"/>
                  </a:lnTo>
                  <a:lnTo>
                    <a:pt x="1193292" y="38862"/>
                  </a:lnTo>
                  <a:lnTo>
                    <a:pt x="1167384" y="25907"/>
                  </a:lnTo>
                  <a:close/>
                </a:path>
              </a:pathLst>
            </a:custGeom>
            <a:solidFill>
              <a:srgbClr val="FBB64B"/>
            </a:solidFill>
          </p:spPr>
          <p:txBody>
            <a:bodyPr wrap="square" lIns="0" tIns="0" rIns="0" bIns="0" rtlCol="0"/>
            <a:lstStyle/>
            <a:p>
              <a:endParaRPr/>
            </a:p>
          </p:txBody>
        </p:sp>
        <p:sp>
          <p:nvSpPr>
            <p:cNvPr id="10" name="object 10"/>
            <p:cNvSpPr/>
            <p:nvPr/>
          </p:nvSpPr>
          <p:spPr>
            <a:xfrm>
              <a:off x="6534150" y="596646"/>
              <a:ext cx="2362835" cy="3959860"/>
            </a:xfrm>
            <a:custGeom>
              <a:avLst/>
              <a:gdLst/>
              <a:ahLst/>
              <a:cxnLst/>
              <a:rect l="l" t="t" r="r" b="b"/>
              <a:pathLst>
                <a:path w="2362834" h="3959860">
                  <a:moveTo>
                    <a:pt x="0" y="393700"/>
                  </a:moveTo>
                  <a:lnTo>
                    <a:pt x="3067" y="344317"/>
                  </a:lnTo>
                  <a:lnTo>
                    <a:pt x="12024" y="296764"/>
                  </a:lnTo>
                  <a:lnTo>
                    <a:pt x="26501" y="251410"/>
                  </a:lnTo>
                  <a:lnTo>
                    <a:pt x="46130" y="208624"/>
                  </a:lnTo>
                  <a:lnTo>
                    <a:pt x="70540" y="168775"/>
                  </a:lnTo>
                  <a:lnTo>
                    <a:pt x="99364" y="132232"/>
                  </a:lnTo>
                  <a:lnTo>
                    <a:pt x="132232" y="99364"/>
                  </a:lnTo>
                  <a:lnTo>
                    <a:pt x="168775" y="70540"/>
                  </a:lnTo>
                  <a:lnTo>
                    <a:pt x="208624" y="46130"/>
                  </a:lnTo>
                  <a:lnTo>
                    <a:pt x="251410" y="26501"/>
                  </a:lnTo>
                  <a:lnTo>
                    <a:pt x="296764" y="12024"/>
                  </a:lnTo>
                  <a:lnTo>
                    <a:pt x="344317" y="3067"/>
                  </a:lnTo>
                  <a:lnTo>
                    <a:pt x="393700" y="0"/>
                  </a:lnTo>
                  <a:lnTo>
                    <a:pt x="1968627" y="0"/>
                  </a:lnTo>
                  <a:lnTo>
                    <a:pt x="2018009" y="3067"/>
                  </a:lnTo>
                  <a:lnTo>
                    <a:pt x="2065562" y="12024"/>
                  </a:lnTo>
                  <a:lnTo>
                    <a:pt x="2110916" y="26501"/>
                  </a:lnTo>
                  <a:lnTo>
                    <a:pt x="2153702" y="46130"/>
                  </a:lnTo>
                  <a:lnTo>
                    <a:pt x="2193551" y="70540"/>
                  </a:lnTo>
                  <a:lnTo>
                    <a:pt x="2230094" y="99364"/>
                  </a:lnTo>
                  <a:lnTo>
                    <a:pt x="2262962" y="132232"/>
                  </a:lnTo>
                  <a:lnTo>
                    <a:pt x="2291786" y="168775"/>
                  </a:lnTo>
                  <a:lnTo>
                    <a:pt x="2316196" y="208624"/>
                  </a:lnTo>
                  <a:lnTo>
                    <a:pt x="2335825" y="251410"/>
                  </a:lnTo>
                  <a:lnTo>
                    <a:pt x="2350302" y="296764"/>
                  </a:lnTo>
                  <a:lnTo>
                    <a:pt x="2359259" y="344317"/>
                  </a:lnTo>
                  <a:lnTo>
                    <a:pt x="2362327" y="393700"/>
                  </a:lnTo>
                  <a:lnTo>
                    <a:pt x="2362327" y="3565626"/>
                  </a:lnTo>
                  <a:lnTo>
                    <a:pt x="2359259" y="3615014"/>
                  </a:lnTo>
                  <a:lnTo>
                    <a:pt x="2350302" y="3662572"/>
                  </a:lnTo>
                  <a:lnTo>
                    <a:pt x="2335825" y="3707930"/>
                  </a:lnTo>
                  <a:lnTo>
                    <a:pt x="2316196" y="3750719"/>
                  </a:lnTo>
                  <a:lnTo>
                    <a:pt x="2291786" y="3790570"/>
                  </a:lnTo>
                  <a:lnTo>
                    <a:pt x="2262962" y="3827115"/>
                  </a:lnTo>
                  <a:lnTo>
                    <a:pt x="2230094" y="3859984"/>
                  </a:lnTo>
                  <a:lnTo>
                    <a:pt x="2193551" y="3888809"/>
                  </a:lnTo>
                  <a:lnTo>
                    <a:pt x="2153702" y="3913221"/>
                  </a:lnTo>
                  <a:lnTo>
                    <a:pt x="2110916" y="3932849"/>
                  </a:lnTo>
                  <a:lnTo>
                    <a:pt x="2065562" y="3947327"/>
                  </a:lnTo>
                  <a:lnTo>
                    <a:pt x="2018009" y="3956284"/>
                  </a:lnTo>
                  <a:lnTo>
                    <a:pt x="1968627" y="3959352"/>
                  </a:lnTo>
                  <a:lnTo>
                    <a:pt x="393700" y="3959352"/>
                  </a:lnTo>
                  <a:lnTo>
                    <a:pt x="344317" y="3956284"/>
                  </a:lnTo>
                  <a:lnTo>
                    <a:pt x="296764" y="3947327"/>
                  </a:lnTo>
                  <a:lnTo>
                    <a:pt x="251410" y="3932849"/>
                  </a:lnTo>
                  <a:lnTo>
                    <a:pt x="208624" y="3913221"/>
                  </a:lnTo>
                  <a:lnTo>
                    <a:pt x="168775" y="3888809"/>
                  </a:lnTo>
                  <a:lnTo>
                    <a:pt x="132232" y="3859984"/>
                  </a:lnTo>
                  <a:lnTo>
                    <a:pt x="99364" y="3827115"/>
                  </a:lnTo>
                  <a:lnTo>
                    <a:pt x="70540" y="3790570"/>
                  </a:lnTo>
                  <a:lnTo>
                    <a:pt x="46130" y="3750719"/>
                  </a:lnTo>
                  <a:lnTo>
                    <a:pt x="26501" y="3707930"/>
                  </a:lnTo>
                  <a:lnTo>
                    <a:pt x="12024" y="3662572"/>
                  </a:lnTo>
                  <a:lnTo>
                    <a:pt x="3067" y="3615014"/>
                  </a:lnTo>
                  <a:lnTo>
                    <a:pt x="0" y="3565626"/>
                  </a:lnTo>
                  <a:lnTo>
                    <a:pt x="0" y="393700"/>
                  </a:lnTo>
                  <a:close/>
                </a:path>
                <a:path w="2362834" h="3959860">
                  <a:moveTo>
                    <a:pt x="291083" y="631189"/>
                  </a:moveTo>
                  <a:lnTo>
                    <a:pt x="298059" y="596711"/>
                  </a:lnTo>
                  <a:lnTo>
                    <a:pt x="317071" y="568531"/>
                  </a:lnTo>
                  <a:lnTo>
                    <a:pt x="345251" y="549519"/>
                  </a:lnTo>
                  <a:lnTo>
                    <a:pt x="379729" y="542543"/>
                  </a:lnTo>
                  <a:lnTo>
                    <a:pt x="2040381" y="542543"/>
                  </a:lnTo>
                  <a:lnTo>
                    <a:pt x="2074860" y="549519"/>
                  </a:lnTo>
                  <a:lnTo>
                    <a:pt x="2103040" y="568531"/>
                  </a:lnTo>
                  <a:lnTo>
                    <a:pt x="2122052" y="596711"/>
                  </a:lnTo>
                  <a:lnTo>
                    <a:pt x="2129028" y="631189"/>
                  </a:lnTo>
                  <a:lnTo>
                    <a:pt x="2129028" y="985774"/>
                  </a:lnTo>
                  <a:lnTo>
                    <a:pt x="2122052" y="1020252"/>
                  </a:lnTo>
                  <a:lnTo>
                    <a:pt x="2103040" y="1048432"/>
                  </a:lnTo>
                  <a:lnTo>
                    <a:pt x="2074860" y="1067444"/>
                  </a:lnTo>
                  <a:lnTo>
                    <a:pt x="2040381" y="1074419"/>
                  </a:lnTo>
                  <a:lnTo>
                    <a:pt x="379729" y="1074419"/>
                  </a:lnTo>
                  <a:lnTo>
                    <a:pt x="345251" y="1067444"/>
                  </a:lnTo>
                  <a:lnTo>
                    <a:pt x="317071" y="1048432"/>
                  </a:lnTo>
                  <a:lnTo>
                    <a:pt x="298059" y="1020252"/>
                  </a:lnTo>
                  <a:lnTo>
                    <a:pt x="291083" y="985774"/>
                  </a:lnTo>
                  <a:lnTo>
                    <a:pt x="291083" y="631189"/>
                  </a:lnTo>
                  <a:close/>
                </a:path>
                <a:path w="2362834" h="3959860">
                  <a:moveTo>
                    <a:pt x="291083" y="1408429"/>
                  </a:moveTo>
                  <a:lnTo>
                    <a:pt x="298059" y="1373951"/>
                  </a:lnTo>
                  <a:lnTo>
                    <a:pt x="317071" y="1345771"/>
                  </a:lnTo>
                  <a:lnTo>
                    <a:pt x="345251" y="1326759"/>
                  </a:lnTo>
                  <a:lnTo>
                    <a:pt x="379729" y="1319783"/>
                  </a:lnTo>
                  <a:lnTo>
                    <a:pt x="2040381" y="1319783"/>
                  </a:lnTo>
                  <a:lnTo>
                    <a:pt x="2074860" y="1326759"/>
                  </a:lnTo>
                  <a:lnTo>
                    <a:pt x="2103040" y="1345771"/>
                  </a:lnTo>
                  <a:lnTo>
                    <a:pt x="2122052" y="1373951"/>
                  </a:lnTo>
                  <a:lnTo>
                    <a:pt x="2129028" y="1408429"/>
                  </a:lnTo>
                  <a:lnTo>
                    <a:pt x="2129028" y="1763014"/>
                  </a:lnTo>
                  <a:lnTo>
                    <a:pt x="2122052" y="1797492"/>
                  </a:lnTo>
                  <a:lnTo>
                    <a:pt x="2103040" y="1825672"/>
                  </a:lnTo>
                  <a:lnTo>
                    <a:pt x="2074860" y="1844684"/>
                  </a:lnTo>
                  <a:lnTo>
                    <a:pt x="2040381" y="1851659"/>
                  </a:lnTo>
                  <a:lnTo>
                    <a:pt x="379729" y="1851659"/>
                  </a:lnTo>
                  <a:lnTo>
                    <a:pt x="345251" y="1844684"/>
                  </a:lnTo>
                  <a:lnTo>
                    <a:pt x="317071" y="1825672"/>
                  </a:lnTo>
                  <a:lnTo>
                    <a:pt x="298059" y="1797492"/>
                  </a:lnTo>
                  <a:lnTo>
                    <a:pt x="291083" y="1763014"/>
                  </a:lnTo>
                  <a:lnTo>
                    <a:pt x="291083" y="1408429"/>
                  </a:lnTo>
                  <a:close/>
                </a:path>
              </a:pathLst>
            </a:custGeom>
            <a:ln w="25908">
              <a:solidFill>
                <a:srgbClr val="0C67AD"/>
              </a:solidFill>
            </a:ln>
          </p:spPr>
          <p:txBody>
            <a:bodyPr wrap="square" lIns="0" tIns="0" rIns="0" bIns="0" rtlCol="0"/>
            <a:lstStyle/>
            <a:p>
              <a:endParaRPr/>
            </a:p>
          </p:txBody>
        </p:sp>
      </p:grpSp>
      <p:sp>
        <p:nvSpPr>
          <p:cNvPr id="11" name="object 11"/>
          <p:cNvSpPr txBox="1"/>
          <p:nvPr/>
        </p:nvSpPr>
        <p:spPr>
          <a:xfrm>
            <a:off x="7446009" y="1249426"/>
            <a:ext cx="596265" cy="107632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Ema</a:t>
            </a:r>
            <a:r>
              <a:rPr sz="1800" spc="-15" dirty="0">
                <a:solidFill>
                  <a:srgbClr val="464646"/>
                </a:solidFill>
                <a:latin typeface="Arial MT"/>
                <a:cs typeface="Arial MT"/>
              </a:rPr>
              <a:t>i</a:t>
            </a:r>
            <a:r>
              <a:rPr sz="1800" spc="-5" dirty="0">
                <a:solidFill>
                  <a:srgbClr val="464646"/>
                </a:solidFill>
                <a:latin typeface="Arial MT"/>
                <a:cs typeface="Arial MT"/>
              </a:rPr>
              <a:t>l</a:t>
            </a:r>
            <a:endParaRPr sz="1800">
              <a:latin typeface="Arial MT"/>
              <a:cs typeface="Arial MT"/>
            </a:endParaRPr>
          </a:p>
          <a:p>
            <a:pPr>
              <a:lnSpc>
                <a:spcPct val="100000"/>
              </a:lnSpc>
            </a:pPr>
            <a:endParaRPr sz="2000">
              <a:latin typeface="Arial MT"/>
              <a:cs typeface="Arial MT"/>
            </a:endParaRPr>
          </a:p>
          <a:p>
            <a:pPr marL="56515">
              <a:lnSpc>
                <a:spcPct val="100000"/>
              </a:lnSpc>
              <a:spcBef>
                <a:spcPts val="1650"/>
              </a:spcBef>
            </a:pPr>
            <a:r>
              <a:rPr sz="1800" dirty="0">
                <a:solidFill>
                  <a:srgbClr val="464646"/>
                </a:solidFill>
                <a:latin typeface="Arial MT"/>
                <a:cs typeface="Arial MT"/>
              </a:rPr>
              <a:t>SQS</a:t>
            </a:r>
            <a:endParaRPr sz="1800">
              <a:latin typeface="Arial MT"/>
              <a:cs typeface="Arial MT"/>
            </a:endParaRPr>
          </a:p>
        </p:txBody>
      </p:sp>
      <p:sp>
        <p:nvSpPr>
          <p:cNvPr id="12" name="object 12"/>
          <p:cNvSpPr/>
          <p:nvPr/>
        </p:nvSpPr>
        <p:spPr>
          <a:xfrm>
            <a:off x="6825233" y="2692145"/>
            <a:ext cx="1838325" cy="1308100"/>
          </a:xfrm>
          <a:custGeom>
            <a:avLst/>
            <a:gdLst/>
            <a:ahLst/>
            <a:cxnLst/>
            <a:rect l="l" t="t" r="r" b="b"/>
            <a:pathLst>
              <a:path w="1838325" h="1308100">
                <a:moveTo>
                  <a:pt x="0" y="88646"/>
                </a:moveTo>
                <a:lnTo>
                  <a:pt x="6975" y="54167"/>
                </a:lnTo>
                <a:lnTo>
                  <a:pt x="25987" y="25987"/>
                </a:lnTo>
                <a:lnTo>
                  <a:pt x="54167" y="6975"/>
                </a:lnTo>
                <a:lnTo>
                  <a:pt x="88646" y="0"/>
                </a:lnTo>
                <a:lnTo>
                  <a:pt x="1749298" y="0"/>
                </a:lnTo>
                <a:lnTo>
                  <a:pt x="1783776" y="6975"/>
                </a:lnTo>
                <a:lnTo>
                  <a:pt x="1811956" y="25987"/>
                </a:lnTo>
                <a:lnTo>
                  <a:pt x="1830968" y="54167"/>
                </a:lnTo>
                <a:lnTo>
                  <a:pt x="1837944" y="88646"/>
                </a:lnTo>
                <a:lnTo>
                  <a:pt x="1837944" y="443230"/>
                </a:lnTo>
                <a:lnTo>
                  <a:pt x="1830968" y="477708"/>
                </a:lnTo>
                <a:lnTo>
                  <a:pt x="1811956" y="505888"/>
                </a:lnTo>
                <a:lnTo>
                  <a:pt x="1783776" y="524900"/>
                </a:lnTo>
                <a:lnTo>
                  <a:pt x="1749298" y="531876"/>
                </a:lnTo>
                <a:lnTo>
                  <a:pt x="88646" y="531876"/>
                </a:lnTo>
                <a:lnTo>
                  <a:pt x="54167" y="524900"/>
                </a:lnTo>
                <a:lnTo>
                  <a:pt x="25987" y="505888"/>
                </a:lnTo>
                <a:lnTo>
                  <a:pt x="6975" y="477708"/>
                </a:lnTo>
                <a:lnTo>
                  <a:pt x="0" y="443230"/>
                </a:lnTo>
                <a:lnTo>
                  <a:pt x="0" y="88646"/>
                </a:lnTo>
                <a:close/>
              </a:path>
              <a:path w="1838325" h="1308100">
                <a:moveTo>
                  <a:pt x="0" y="864362"/>
                </a:moveTo>
                <a:lnTo>
                  <a:pt x="6975" y="829883"/>
                </a:lnTo>
                <a:lnTo>
                  <a:pt x="25987" y="801703"/>
                </a:lnTo>
                <a:lnTo>
                  <a:pt x="54167" y="782691"/>
                </a:lnTo>
                <a:lnTo>
                  <a:pt x="88646" y="775716"/>
                </a:lnTo>
                <a:lnTo>
                  <a:pt x="1749298" y="775716"/>
                </a:lnTo>
                <a:lnTo>
                  <a:pt x="1783776" y="782691"/>
                </a:lnTo>
                <a:lnTo>
                  <a:pt x="1811956" y="801703"/>
                </a:lnTo>
                <a:lnTo>
                  <a:pt x="1830968" y="829883"/>
                </a:lnTo>
                <a:lnTo>
                  <a:pt x="1837944" y="864362"/>
                </a:lnTo>
                <a:lnTo>
                  <a:pt x="1837944" y="1218946"/>
                </a:lnTo>
                <a:lnTo>
                  <a:pt x="1830968" y="1253451"/>
                </a:lnTo>
                <a:lnTo>
                  <a:pt x="1811956" y="1281628"/>
                </a:lnTo>
                <a:lnTo>
                  <a:pt x="1783776" y="1300625"/>
                </a:lnTo>
                <a:lnTo>
                  <a:pt x="1749298" y="1307592"/>
                </a:lnTo>
                <a:lnTo>
                  <a:pt x="88646" y="1307592"/>
                </a:lnTo>
                <a:lnTo>
                  <a:pt x="54167" y="1300625"/>
                </a:lnTo>
                <a:lnTo>
                  <a:pt x="25987" y="1281628"/>
                </a:lnTo>
                <a:lnTo>
                  <a:pt x="6975" y="1253451"/>
                </a:lnTo>
                <a:lnTo>
                  <a:pt x="0" y="1218946"/>
                </a:lnTo>
                <a:lnTo>
                  <a:pt x="0" y="864362"/>
                </a:lnTo>
                <a:close/>
              </a:path>
            </a:pathLst>
          </a:custGeom>
          <a:ln w="25908">
            <a:solidFill>
              <a:srgbClr val="0C67AD"/>
            </a:solidFill>
          </a:ln>
        </p:spPr>
        <p:txBody>
          <a:bodyPr wrap="square" lIns="0" tIns="0" rIns="0" bIns="0" rtlCol="0"/>
          <a:lstStyle/>
          <a:p>
            <a:endParaRPr/>
          </a:p>
        </p:txBody>
      </p:sp>
      <p:sp>
        <p:nvSpPr>
          <p:cNvPr id="13" name="object 13"/>
          <p:cNvSpPr txBox="1"/>
          <p:nvPr/>
        </p:nvSpPr>
        <p:spPr>
          <a:xfrm>
            <a:off x="7446009" y="2802127"/>
            <a:ext cx="596900" cy="1076325"/>
          </a:xfrm>
          <a:prstGeom prst="rect">
            <a:avLst/>
          </a:prstGeom>
        </p:spPr>
        <p:txBody>
          <a:bodyPr vert="horz" wrap="square" lIns="0" tIns="12700" rIns="0" bIns="0" rtlCol="0">
            <a:spAutoFit/>
          </a:bodyPr>
          <a:lstStyle/>
          <a:p>
            <a:pPr marL="76200">
              <a:lnSpc>
                <a:spcPct val="100000"/>
              </a:lnSpc>
              <a:spcBef>
                <a:spcPts val="100"/>
              </a:spcBef>
            </a:pPr>
            <a:r>
              <a:rPr sz="1800" spc="-5" dirty="0">
                <a:solidFill>
                  <a:srgbClr val="464646"/>
                </a:solidFill>
                <a:latin typeface="Arial MT"/>
                <a:cs typeface="Arial MT"/>
              </a:rPr>
              <a:t>EC2</a:t>
            </a:r>
            <a:endParaRPr sz="1800">
              <a:latin typeface="Arial MT"/>
              <a:cs typeface="Arial MT"/>
            </a:endParaRPr>
          </a:p>
          <a:p>
            <a:pPr>
              <a:lnSpc>
                <a:spcPct val="100000"/>
              </a:lnSpc>
            </a:pPr>
            <a:endParaRPr sz="2000">
              <a:latin typeface="Arial MT"/>
              <a:cs typeface="Arial MT"/>
            </a:endParaRPr>
          </a:p>
          <a:p>
            <a:pPr marL="12700">
              <a:lnSpc>
                <a:spcPct val="100000"/>
              </a:lnSpc>
              <a:spcBef>
                <a:spcPts val="1655"/>
              </a:spcBef>
            </a:pPr>
            <a:r>
              <a:rPr sz="1800" spc="-5" dirty="0">
                <a:solidFill>
                  <a:srgbClr val="464646"/>
                </a:solidFill>
                <a:latin typeface="Arial MT"/>
                <a:cs typeface="Arial MT"/>
              </a:rPr>
              <a:t>Sc</a:t>
            </a:r>
            <a:r>
              <a:rPr sz="1800" spc="-15" dirty="0">
                <a:solidFill>
                  <a:srgbClr val="464646"/>
                </a:solidFill>
                <a:latin typeface="Arial MT"/>
                <a:cs typeface="Arial MT"/>
              </a:rPr>
              <a:t>a</a:t>
            </a:r>
            <a:r>
              <a:rPr sz="1800" spc="-5" dirty="0">
                <a:solidFill>
                  <a:srgbClr val="464646"/>
                </a:solidFill>
                <a:latin typeface="Arial MT"/>
                <a:cs typeface="Arial MT"/>
              </a:rPr>
              <a:t>le</a:t>
            </a:r>
            <a:endParaRPr sz="1800">
              <a:latin typeface="Arial MT"/>
              <a:cs typeface="Arial MT"/>
            </a:endParaRPr>
          </a:p>
        </p:txBody>
      </p:sp>
      <p:grpSp>
        <p:nvGrpSpPr>
          <p:cNvPr id="14" name="object 14"/>
          <p:cNvGrpSpPr/>
          <p:nvPr/>
        </p:nvGrpSpPr>
        <p:grpSpPr>
          <a:xfrm>
            <a:off x="5455920" y="2475014"/>
            <a:ext cx="1195070" cy="238125"/>
            <a:chOff x="5455920" y="2475014"/>
            <a:chExt cx="1195070" cy="238125"/>
          </a:xfrm>
        </p:grpSpPr>
        <p:pic>
          <p:nvPicPr>
            <p:cNvPr id="15" name="object 15"/>
            <p:cNvPicPr/>
            <p:nvPr/>
          </p:nvPicPr>
          <p:blipFill>
            <a:blip r:embed="rId3" cstate="print"/>
            <a:stretch>
              <a:fillRect/>
            </a:stretch>
          </p:blipFill>
          <p:spPr>
            <a:xfrm>
              <a:off x="5455920" y="2475014"/>
              <a:ext cx="1194803" cy="237832"/>
            </a:xfrm>
            <a:prstGeom prst="rect">
              <a:avLst/>
            </a:prstGeom>
          </p:spPr>
        </p:pic>
        <p:sp>
          <p:nvSpPr>
            <p:cNvPr id="16" name="object 16"/>
            <p:cNvSpPr/>
            <p:nvPr/>
          </p:nvSpPr>
          <p:spPr>
            <a:xfrm>
              <a:off x="5499354" y="2536697"/>
              <a:ext cx="1035050" cy="78105"/>
            </a:xfrm>
            <a:custGeom>
              <a:avLst/>
              <a:gdLst/>
              <a:ahLst/>
              <a:cxnLst/>
              <a:rect l="l" t="t" r="r" b="b"/>
              <a:pathLst>
                <a:path w="1035050" h="78105">
                  <a:moveTo>
                    <a:pt x="957156" y="51890"/>
                  </a:moveTo>
                  <a:lnTo>
                    <a:pt x="957072" y="77724"/>
                  </a:lnTo>
                  <a:lnTo>
                    <a:pt x="1009229" y="51943"/>
                  </a:lnTo>
                  <a:lnTo>
                    <a:pt x="970153" y="51943"/>
                  </a:lnTo>
                  <a:lnTo>
                    <a:pt x="957156" y="51890"/>
                  </a:lnTo>
                  <a:close/>
                </a:path>
                <a:path w="1035050" h="78105">
                  <a:moveTo>
                    <a:pt x="957241" y="25982"/>
                  </a:moveTo>
                  <a:lnTo>
                    <a:pt x="957156" y="51890"/>
                  </a:lnTo>
                  <a:lnTo>
                    <a:pt x="970153" y="51943"/>
                  </a:lnTo>
                  <a:lnTo>
                    <a:pt x="970153" y="26034"/>
                  </a:lnTo>
                  <a:lnTo>
                    <a:pt x="957241" y="25982"/>
                  </a:lnTo>
                  <a:close/>
                </a:path>
                <a:path w="1035050" h="78105">
                  <a:moveTo>
                    <a:pt x="957326" y="0"/>
                  </a:moveTo>
                  <a:lnTo>
                    <a:pt x="957241" y="25982"/>
                  </a:lnTo>
                  <a:lnTo>
                    <a:pt x="970153" y="26034"/>
                  </a:lnTo>
                  <a:lnTo>
                    <a:pt x="970153" y="51943"/>
                  </a:lnTo>
                  <a:lnTo>
                    <a:pt x="1009229" y="51943"/>
                  </a:lnTo>
                  <a:lnTo>
                    <a:pt x="1034923" y="39243"/>
                  </a:lnTo>
                  <a:lnTo>
                    <a:pt x="957326" y="0"/>
                  </a:lnTo>
                  <a:close/>
                </a:path>
                <a:path w="1035050" h="78105">
                  <a:moveTo>
                    <a:pt x="0" y="22097"/>
                  </a:moveTo>
                  <a:lnTo>
                    <a:pt x="0" y="48006"/>
                  </a:lnTo>
                  <a:lnTo>
                    <a:pt x="957156" y="51890"/>
                  </a:lnTo>
                  <a:lnTo>
                    <a:pt x="957241" y="25982"/>
                  </a:lnTo>
                  <a:lnTo>
                    <a:pt x="0" y="22097"/>
                  </a:lnTo>
                  <a:close/>
                </a:path>
              </a:pathLst>
            </a:custGeom>
            <a:solidFill>
              <a:srgbClr val="FBB64B"/>
            </a:solidFill>
          </p:spPr>
          <p:txBody>
            <a:bodyPr wrap="square" lIns="0" tIns="0" rIns="0" bIns="0" rtlCol="0"/>
            <a:lstStyle/>
            <a:p>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08596" y="711644"/>
            <a:ext cx="8158480" cy="4107815"/>
            <a:chOff x="708596" y="711644"/>
            <a:chExt cx="8158480" cy="4107815"/>
          </a:xfrm>
        </p:grpSpPr>
        <p:sp>
          <p:nvSpPr>
            <p:cNvPr id="3" name="object 3"/>
            <p:cNvSpPr/>
            <p:nvPr/>
          </p:nvSpPr>
          <p:spPr>
            <a:xfrm>
              <a:off x="6601205" y="724661"/>
              <a:ext cx="2252980" cy="4081779"/>
            </a:xfrm>
            <a:custGeom>
              <a:avLst/>
              <a:gdLst/>
              <a:ahLst/>
              <a:cxnLst/>
              <a:rect l="l" t="t" r="r" b="b"/>
              <a:pathLst>
                <a:path w="2252979" h="4081779">
                  <a:moveTo>
                    <a:pt x="0" y="375412"/>
                  </a:moveTo>
                  <a:lnTo>
                    <a:pt x="2926" y="328334"/>
                  </a:lnTo>
                  <a:lnTo>
                    <a:pt x="11469" y="282999"/>
                  </a:lnTo>
                  <a:lnTo>
                    <a:pt x="25278" y="239756"/>
                  </a:lnTo>
                  <a:lnTo>
                    <a:pt x="43999" y="198960"/>
                  </a:lnTo>
                  <a:lnTo>
                    <a:pt x="67280" y="160961"/>
                  </a:lnTo>
                  <a:lnTo>
                    <a:pt x="94769" y="126114"/>
                  </a:lnTo>
                  <a:lnTo>
                    <a:pt x="126114" y="94769"/>
                  </a:lnTo>
                  <a:lnTo>
                    <a:pt x="160961" y="67280"/>
                  </a:lnTo>
                  <a:lnTo>
                    <a:pt x="198960" y="43999"/>
                  </a:lnTo>
                  <a:lnTo>
                    <a:pt x="239756" y="25278"/>
                  </a:lnTo>
                  <a:lnTo>
                    <a:pt x="282999" y="11469"/>
                  </a:lnTo>
                  <a:lnTo>
                    <a:pt x="328334" y="2926"/>
                  </a:lnTo>
                  <a:lnTo>
                    <a:pt x="375412" y="0"/>
                  </a:lnTo>
                  <a:lnTo>
                    <a:pt x="1877187" y="0"/>
                  </a:lnTo>
                  <a:lnTo>
                    <a:pt x="1924264" y="2926"/>
                  </a:lnTo>
                  <a:lnTo>
                    <a:pt x="1969599" y="11469"/>
                  </a:lnTo>
                  <a:lnTo>
                    <a:pt x="2012842" y="25278"/>
                  </a:lnTo>
                  <a:lnTo>
                    <a:pt x="2053638" y="43999"/>
                  </a:lnTo>
                  <a:lnTo>
                    <a:pt x="2091637" y="67280"/>
                  </a:lnTo>
                  <a:lnTo>
                    <a:pt x="2126484" y="94769"/>
                  </a:lnTo>
                  <a:lnTo>
                    <a:pt x="2157829" y="126114"/>
                  </a:lnTo>
                  <a:lnTo>
                    <a:pt x="2185318" y="160961"/>
                  </a:lnTo>
                  <a:lnTo>
                    <a:pt x="2208599" y="198960"/>
                  </a:lnTo>
                  <a:lnTo>
                    <a:pt x="2227320" y="239756"/>
                  </a:lnTo>
                  <a:lnTo>
                    <a:pt x="2241129" y="282999"/>
                  </a:lnTo>
                  <a:lnTo>
                    <a:pt x="2249672" y="328334"/>
                  </a:lnTo>
                  <a:lnTo>
                    <a:pt x="2252599" y="375412"/>
                  </a:lnTo>
                  <a:lnTo>
                    <a:pt x="2252599" y="3705834"/>
                  </a:lnTo>
                  <a:lnTo>
                    <a:pt x="2249672" y="3752927"/>
                  </a:lnTo>
                  <a:lnTo>
                    <a:pt x="2241129" y="3798274"/>
                  </a:lnTo>
                  <a:lnTo>
                    <a:pt x="2227320" y="3841524"/>
                  </a:lnTo>
                  <a:lnTo>
                    <a:pt x="2208599" y="3882326"/>
                  </a:lnTo>
                  <a:lnTo>
                    <a:pt x="2185318" y="3920326"/>
                  </a:lnTo>
                  <a:lnTo>
                    <a:pt x="2157829" y="3955174"/>
                  </a:lnTo>
                  <a:lnTo>
                    <a:pt x="2126484" y="3986517"/>
                  </a:lnTo>
                  <a:lnTo>
                    <a:pt x="2091637" y="4014003"/>
                  </a:lnTo>
                  <a:lnTo>
                    <a:pt x="2053638" y="4037282"/>
                  </a:lnTo>
                  <a:lnTo>
                    <a:pt x="2012842" y="4055999"/>
                  </a:lnTo>
                  <a:lnTo>
                    <a:pt x="1969599" y="4069805"/>
                  </a:lnTo>
                  <a:lnTo>
                    <a:pt x="1924264" y="4078346"/>
                  </a:lnTo>
                  <a:lnTo>
                    <a:pt x="1877187" y="4081272"/>
                  </a:lnTo>
                  <a:lnTo>
                    <a:pt x="375412" y="4081272"/>
                  </a:lnTo>
                  <a:lnTo>
                    <a:pt x="328334" y="4078346"/>
                  </a:lnTo>
                  <a:lnTo>
                    <a:pt x="282999" y="4069805"/>
                  </a:lnTo>
                  <a:lnTo>
                    <a:pt x="239756" y="4055999"/>
                  </a:lnTo>
                  <a:lnTo>
                    <a:pt x="198960" y="4037282"/>
                  </a:lnTo>
                  <a:lnTo>
                    <a:pt x="160961" y="4014003"/>
                  </a:lnTo>
                  <a:lnTo>
                    <a:pt x="126114" y="3986517"/>
                  </a:lnTo>
                  <a:lnTo>
                    <a:pt x="94769" y="3955174"/>
                  </a:lnTo>
                  <a:lnTo>
                    <a:pt x="67280" y="3920326"/>
                  </a:lnTo>
                  <a:lnTo>
                    <a:pt x="43999" y="3882326"/>
                  </a:lnTo>
                  <a:lnTo>
                    <a:pt x="25278" y="3841524"/>
                  </a:lnTo>
                  <a:lnTo>
                    <a:pt x="11469" y="3798274"/>
                  </a:lnTo>
                  <a:lnTo>
                    <a:pt x="2926" y="3752927"/>
                  </a:lnTo>
                  <a:lnTo>
                    <a:pt x="0" y="3705834"/>
                  </a:lnTo>
                  <a:lnTo>
                    <a:pt x="0" y="375412"/>
                  </a:lnTo>
                  <a:close/>
                </a:path>
              </a:pathLst>
            </a:custGeom>
            <a:ln w="25908">
              <a:solidFill>
                <a:srgbClr val="464646"/>
              </a:solidFill>
            </a:ln>
          </p:spPr>
          <p:txBody>
            <a:bodyPr wrap="square" lIns="0" tIns="0" rIns="0" bIns="0" rtlCol="0"/>
            <a:lstStyle/>
            <a:p>
              <a:endParaRPr/>
            </a:p>
          </p:txBody>
        </p:sp>
        <p:sp>
          <p:nvSpPr>
            <p:cNvPr id="4" name="object 4"/>
            <p:cNvSpPr/>
            <p:nvPr/>
          </p:nvSpPr>
          <p:spPr>
            <a:xfrm>
              <a:off x="721613" y="2324862"/>
              <a:ext cx="1804670" cy="879475"/>
            </a:xfrm>
            <a:custGeom>
              <a:avLst/>
              <a:gdLst/>
              <a:ahLst/>
              <a:cxnLst/>
              <a:rect l="l" t="t" r="r" b="b"/>
              <a:pathLst>
                <a:path w="1804670" h="879475">
                  <a:moveTo>
                    <a:pt x="0" y="146557"/>
                  </a:moveTo>
                  <a:lnTo>
                    <a:pt x="7472" y="100250"/>
                  </a:lnTo>
                  <a:lnTo>
                    <a:pt x="28278" y="60021"/>
                  </a:lnTo>
                  <a:lnTo>
                    <a:pt x="60004" y="28289"/>
                  </a:lnTo>
                  <a:lnTo>
                    <a:pt x="100236" y="7475"/>
                  </a:lnTo>
                  <a:lnTo>
                    <a:pt x="146558" y="0"/>
                  </a:lnTo>
                  <a:lnTo>
                    <a:pt x="1657858" y="0"/>
                  </a:lnTo>
                  <a:lnTo>
                    <a:pt x="1704165" y="7475"/>
                  </a:lnTo>
                  <a:lnTo>
                    <a:pt x="1744394" y="28289"/>
                  </a:lnTo>
                  <a:lnTo>
                    <a:pt x="1776126" y="60021"/>
                  </a:lnTo>
                  <a:lnTo>
                    <a:pt x="1796940" y="100250"/>
                  </a:lnTo>
                  <a:lnTo>
                    <a:pt x="1804416" y="146557"/>
                  </a:lnTo>
                  <a:lnTo>
                    <a:pt x="1804416" y="732789"/>
                  </a:lnTo>
                  <a:lnTo>
                    <a:pt x="1796940" y="779097"/>
                  </a:lnTo>
                  <a:lnTo>
                    <a:pt x="1776126" y="819326"/>
                  </a:lnTo>
                  <a:lnTo>
                    <a:pt x="1744394" y="851058"/>
                  </a:lnTo>
                  <a:lnTo>
                    <a:pt x="1704165" y="871872"/>
                  </a:lnTo>
                  <a:lnTo>
                    <a:pt x="1657858" y="879348"/>
                  </a:lnTo>
                  <a:lnTo>
                    <a:pt x="146558" y="879348"/>
                  </a:lnTo>
                  <a:lnTo>
                    <a:pt x="100236" y="871872"/>
                  </a:lnTo>
                  <a:lnTo>
                    <a:pt x="60004" y="851058"/>
                  </a:lnTo>
                  <a:lnTo>
                    <a:pt x="28278" y="819326"/>
                  </a:lnTo>
                  <a:lnTo>
                    <a:pt x="7472" y="779097"/>
                  </a:lnTo>
                  <a:lnTo>
                    <a:pt x="0" y="732789"/>
                  </a:lnTo>
                  <a:lnTo>
                    <a:pt x="0" y="146557"/>
                  </a:lnTo>
                  <a:close/>
                </a:path>
              </a:pathLst>
            </a:custGeom>
            <a:ln w="25908">
              <a:solidFill>
                <a:srgbClr val="F79F28"/>
              </a:solidFill>
            </a:ln>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2065" rIns="0" bIns="0" rtlCol="0">
            <a:spAutoFit/>
          </a:bodyPr>
          <a:lstStyle/>
          <a:p>
            <a:pPr marL="52069">
              <a:lnSpc>
                <a:spcPct val="100000"/>
              </a:lnSpc>
              <a:spcBef>
                <a:spcPts val="95"/>
              </a:spcBef>
            </a:pPr>
            <a:r>
              <a:rPr spc="-15" dirty="0"/>
              <a:t>CloudWatch</a:t>
            </a:r>
            <a:r>
              <a:rPr spc="30" dirty="0"/>
              <a:t> </a:t>
            </a:r>
            <a:r>
              <a:rPr spc="-10" dirty="0"/>
              <a:t>Log</a:t>
            </a:r>
            <a:r>
              <a:rPr spc="25" dirty="0"/>
              <a:t> </a:t>
            </a:r>
            <a:r>
              <a:rPr spc="-5" dirty="0"/>
              <a:t>–</a:t>
            </a:r>
            <a:r>
              <a:rPr dirty="0"/>
              <a:t> </a:t>
            </a:r>
            <a:r>
              <a:rPr spc="-5" dirty="0"/>
              <a:t>Consolidate</a:t>
            </a:r>
            <a:r>
              <a:rPr spc="35" dirty="0"/>
              <a:t> </a:t>
            </a:r>
            <a:r>
              <a:rPr spc="-5" dirty="0"/>
              <a:t>Logs</a:t>
            </a:r>
            <a:r>
              <a:rPr spc="15" dirty="0"/>
              <a:t> </a:t>
            </a:r>
            <a:r>
              <a:rPr spc="-5" dirty="0"/>
              <a:t>and</a:t>
            </a:r>
            <a:r>
              <a:rPr dirty="0"/>
              <a:t> </a:t>
            </a:r>
            <a:r>
              <a:rPr spc="-5" dirty="0"/>
              <a:t>Monitor</a:t>
            </a:r>
          </a:p>
        </p:txBody>
      </p:sp>
      <p:sp>
        <p:nvSpPr>
          <p:cNvPr id="6" name="object 6"/>
          <p:cNvSpPr txBox="1"/>
          <p:nvPr/>
        </p:nvSpPr>
        <p:spPr>
          <a:xfrm>
            <a:off x="1363725" y="2608833"/>
            <a:ext cx="51879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464646"/>
                </a:solidFill>
                <a:latin typeface="Arial MT"/>
                <a:cs typeface="Arial MT"/>
              </a:rPr>
              <a:t>Logs</a:t>
            </a:r>
            <a:endParaRPr sz="1800">
              <a:latin typeface="Arial MT"/>
              <a:cs typeface="Arial MT"/>
            </a:endParaRPr>
          </a:p>
        </p:txBody>
      </p:sp>
      <p:sp>
        <p:nvSpPr>
          <p:cNvPr id="7" name="object 7"/>
          <p:cNvSpPr/>
          <p:nvPr/>
        </p:nvSpPr>
        <p:spPr>
          <a:xfrm>
            <a:off x="3768090" y="2327910"/>
            <a:ext cx="1803400" cy="873760"/>
          </a:xfrm>
          <a:custGeom>
            <a:avLst/>
            <a:gdLst/>
            <a:ahLst/>
            <a:cxnLst/>
            <a:rect l="l" t="t" r="r" b="b"/>
            <a:pathLst>
              <a:path w="1803400" h="873760">
                <a:moveTo>
                  <a:pt x="0" y="145541"/>
                </a:moveTo>
                <a:lnTo>
                  <a:pt x="7418" y="99535"/>
                </a:lnTo>
                <a:lnTo>
                  <a:pt x="28078" y="59582"/>
                </a:lnTo>
                <a:lnTo>
                  <a:pt x="59582" y="28078"/>
                </a:lnTo>
                <a:lnTo>
                  <a:pt x="99535" y="7418"/>
                </a:lnTo>
                <a:lnTo>
                  <a:pt x="145542" y="0"/>
                </a:lnTo>
                <a:lnTo>
                  <a:pt x="1657350" y="0"/>
                </a:lnTo>
                <a:lnTo>
                  <a:pt x="1703356" y="7418"/>
                </a:lnTo>
                <a:lnTo>
                  <a:pt x="1743309" y="28078"/>
                </a:lnTo>
                <a:lnTo>
                  <a:pt x="1774813" y="59582"/>
                </a:lnTo>
                <a:lnTo>
                  <a:pt x="1795473" y="99535"/>
                </a:lnTo>
                <a:lnTo>
                  <a:pt x="1802892" y="145541"/>
                </a:lnTo>
                <a:lnTo>
                  <a:pt x="1802892" y="727709"/>
                </a:lnTo>
                <a:lnTo>
                  <a:pt x="1795473" y="773716"/>
                </a:lnTo>
                <a:lnTo>
                  <a:pt x="1774813" y="813669"/>
                </a:lnTo>
                <a:lnTo>
                  <a:pt x="1743309" y="845173"/>
                </a:lnTo>
                <a:lnTo>
                  <a:pt x="1703356" y="865833"/>
                </a:lnTo>
                <a:lnTo>
                  <a:pt x="1657350" y="873251"/>
                </a:lnTo>
                <a:lnTo>
                  <a:pt x="145542" y="873251"/>
                </a:lnTo>
                <a:lnTo>
                  <a:pt x="99535" y="865833"/>
                </a:lnTo>
                <a:lnTo>
                  <a:pt x="59582" y="845173"/>
                </a:lnTo>
                <a:lnTo>
                  <a:pt x="28078" y="813669"/>
                </a:lnTo>
                <a:lnTo>
                  <a:pt x="7418" y="773716"/>
                </a:lnTo>
                <a:lnTo>
                  <a:pt x="0" y="727709"/>
                </a:lnTo>
                <a:lnTo>
                  <a:pt x="0" y="145541"/>
                </a:lnTo>
                <a:close/>
              </a:path>
            </a:pathLst>
          </a:custGeom>
          <a:ln w="25908">
            <a:solidFill>
              <a:srgbClr val="F79F28"/>
            </a:solidFill>
          </a:ln>
        </p:spPr>
        <p:txBody>
          <a:bodyPr wrap="square" lIns="0" tIns="0" rIns="0" bIns="0" rtlCol="0"/>
          <a:lstStyle/>
          <a:p>
            <a:endParaRPr/>
          </a:p>
        </p:txBody>
      </p:sp>
      <p:sp>
        <p:nvSpPr>
          <p:cNvPr id="8" name="object 8"/>
          <p:cNvSpPr txBox="1"/>
          <p:nvPr/>
        </p:nvSpPr>
        <p:spPr>
          <a:xfrm>
            <a:off x="4039870" y="2471673"/>
            <a:ext cx="1259205" cy="574040"/>
          </a:xfrm>
          <a:prstGeom prst="rect">
            <a:avLst/>
          </a:prstGeom>
        </p:spPr>
        <p:txBody>
          <a:bodyPr vert="horz" wrap="square" lIns="0" tIns="12700" rIns="0" bIns="0" rtlCol="0">
            <a:spAutoFit/>
          </a:bodyPr>
          <a:lstStyle/>
          <a:p>
            <a:pPr marL="438784" marR="5080" indent="-42672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l</a:t>
            </a:r>
            <a:r>
              <a:rPr sz="1800" spc="-5" dirty="0">
                <a:solidFill>
                  <a:srgbClr val="464646"/>
                </a:solidFill>
                <a:latin typeface="Arial MT"/>
                <a:cs typeface="Arial MT"/>
              </a:rPr>
              <a:t>o</a:t>
            </a:r>
            <a:r>
              <a:rPr sz="1800" spc="-15" dirty="0">
                <a:solidFill>
                  <a:srgbClr val="464646"/>
                </a:solidFill>
                <a:latin typeface="Arial MT"/>
                <a:cs typeface="Arial MT"/>
              </a:rPr>
              <a:t>u</a:t>
            </a:r>
            <a:r>
              <a:rPr sz="1800" dirty="0">
                <a:solidFill>
                  <a:srgbClr val="464646"/>
                </a:solidFill>
                <a:latin typeface="Arial MT"/>
                <a:cs typeface="Arial MT"/>
              </a:rPr>
              <a:t>d</a:t>
            </a:r>
            <a:r>
              <a:rPr sz="1800" spc="-75" dirty="0">
                <a:solidFill>
                  <a:srgbClr val="464646"/>
                </a:solidFill>
                <a:latin typeface="Arial MT"/>
                <a:cs typeface="Arial MT"/>
              </a:rPr>
              <a:t>W</a:t>
            </a:r>
            <a:r>
              <a:rPr sz="1800" dirty="0">
                <a:solidFill>
                  <a:srgbClr val="464646"/>
                </a:solidFill>
                <a:latin typeface="Arial MT"/>
                <a:cs typeface="Arial MT"/>
              </a:rPr>
              <a:t>atch  </a:t>
            </a:r>
            <a:r>
              <a:rPr sz="1800" spc="-10" dirty="0">
                <a:solidFill>
                  <a:srgbClr val="464646"/>
                </a:solidFill>
                <a:latin typeface="Arial MT"/>
                <a:cs typeface="Arial MT"/>
              </a:rPr>
              <a:t>Log</a:t>
            </a:r>
            <a:endParaRPr sz="1800">
              <a:latin typeface="Arial MT"/>
              <a:cs typeface="Arial MT"/>
            </a:endParaRPr>
          </a:p>
        </p:txBody>
      </p:sp>
      <p:grpSp>
        <p:nvGrpSpPr>
          <p:cNvPr id="9" name="object 9"/>
          <p:cNvGrpSpPr/>
          <p:nvPr/>
        </p:nvGrpSpPr>
        <p:grpSpPr>
          <a:xfrm>
            <a:off x="2482595" y="1296860"/>
            <a:ext cx="6167755" cy="2196465"/>
            <a:chOff x="2482595" y="1296860"/>
            <a:chExt cx="6167755" cy="2196465"/>
          </a:xfrm>
        </p:grpSpPr>
        <p:sp>
          <p:nvSpPr>
            <p:cNvPr id="10" name="object 10"/>
            <p:cNvSpPr/>
            <p:nvPr/>
          </p:nvSpPr>
          <p:spPr>
            <a:xfrm>
              <a:off x="6820661" y="2074925"/>
              <a:ext cx="1804670" cy="640080"/>
            </a:xfrm>
            <a:custGeom>
              <a:avLst/>
              <a:gdLst/>
              <a:ahLst/>
              <a:cxnLst/>
              <a:rect l="l" t="t" r="r" b="b"/>
              <a:pathLst>
                <a:path w="1804670" h="640080">
                  <a:moveTo>
                    <a:pt x="0" y="106680"/>
                  </a:moveTo>
                  <a:lnTo>
                    <a:pt x="8381" y="65150"/>
                  </a:lnTo>
                  <a:lnTo>
                    <a:pt x="31242" y="31242"/>
                  </a:lnTo>
                  <a:lnTo>
                    <a:pt x="65151" y="8381"/>
                  </a:lnTo>
                  <a:lnTo>
                    <a:pt x="106680" y="0"/>
                  </a:lnTo>
                  <a:lnTo>
                    <a:pt x="1697736" y="0"/>
                  </a:lnTo>
                  <a:lnTo>
                    <a:pt x="1739265" y="8381"/>
                  </a:lnTo>
                  <a:lnTo>
                    <a:pt x="1773174" y="31242"/>
                  </a:lnTo>
                  <a:lnTo>
                    <a:pt x="1796033" y="65150"/>
                  </a:lnTo>
                  <a:lnTo>
                    <a:pt x="1804416" y="106680"/>
                  </a:lnTo>
                  <a:lnTo>
                    <a:pt x="1804416" y="533400"/>
                  </a:lnTo>
                  <a:lnTo>
                    <a:pt x="1796034" y="574929"/>
                  </a:lnTo>
                  <a:lnTo>
                    <a:pt x="1773174" y="608838"/>
                  </a:lnTo>
                  <a:lnTo>
                    <a:pt x="1739265" y="631698"/>
                  </a:lnTo>
                  <a:lnTo>
                    <a:pt x="1697736" y="640080"/>
                  </a:lnTo>
                  <a:lnTo>
                    <a:pt x="106680" y="640080"/>
                  </a:lnTo>
                  <a:lnTo>
                    <a:pt x="65151" y="631698"/>
                  </a:lnTo>
                  <a:lnTo>
                    <a:pt x="31242" y="608838"/>
                  </a:lnTo>
                  <a:lnTo>
                    <a:pt x="8381" y="574929"/>
                  </a:lnTo>
                  <a:lnTo>
                    <a:pt x="0" y="533400"/>
                  </a:lnTo>
                  <a:lnTo>
                    <a:pt x="0" y="106680"/>
                  </a:lnTo>
                  <a:close/>
                </a:path>
              </a:pathLst>
            </a:custGeom>
            <a:ln w="25908">
              <a:solidFill>
                <a:srgbClr val="F79F28"/>
              </a:solidFill>
            </a:ln>
          </p:spPr>
          <p:txBody>
            <a:bodyPr wrap="square" lIns="0" tIns="0" rIns="0" bIns="0" rtlCol="0"/>
            <a:lstStyle/>
            <a:p>
              <a:endParaRPr/>
            </a:p>
          </p:txBody>
        </p:sp>
        <p:sp>
          <p:nvSpPr>
            <p:cNvPr id="11" name="object 11"/>
            <p:cNvSpPr/>
            <p:nvPr/>
          </p:nvSpPr>
          <p:spPr>
            <a:xfrm>
              <a:off x="6820661" y="1309877"/>
              <a:ext cx="1816735" cy="2170430"/>
            </a:xfrm>
            <a:custGeom>
              <a:avLst/>
              <a:gdLst/>
              <a:ahLst/>
              <a:cxnLst/>
              <a:rect l="l" t="t" r="r" b="b"/>
              <a:pathLst>
                <a:path w="1816734" h="2170429">
                  <a:moveTo>
                    <a:pt x="13716" y="1636776"/>
                  </a:moveTo>
                  <a:lnTo>
                    <a:pt x="22098" y="1595247"/>
                  </a:lnTo>
                  <a:lnTo>
                    <a:pt x="44957" y="1561338"/>
                  </a:lnTo>
                  <a:lnTo>
                    <a:pt x="78866" y="1538478"/>
                  </a:lnTo>
                  <a:lnTo>
                    <a:pt x="120396" y="1530096"/>
                  </a:lnTo>
                  <a:lnTo>
                    <a:pt x="1709928" y="1530096"/>
                  </a:lnTo>
                  <a:lnTo>
                    <a:pt x="1751457" y="1538478"/>
                  </a:lnTo>
                  <a:lnTo>
                    <a:pt x="1785366" y="1561338"/>
                  </a:lnTo>
                  <a:lnTo>
                    <a:pt x="1808226" y="1595247"/>
                  </a:lnTo>
                  <a:lnTo>
                    <a:pt x="1816608" y="1636776"/>
                  </a:lnTo>
                  <a:lnTo>
                    <a:pt x="1816608" y="2063496"/>
                  </a:lnTo>
                  <a:lnTo>
                    <a:pt x="1808226" y="2105025"/>
                  </a:lnTo>
                  <a:lnTo>
                    <a:pt x="1785366" y="2138934"/>
                  </a:lnTo>
                  <a:lnTo>
                    <a:pt x="1751457" y="2161794"/>
                  </a:lnTo>
                  <a:lnTo>
                    <a:pt x="1709928" y="2170176"/>
                  </a:lnTo>
                  <a:lnTo>
                    <a:pt x="120396" y="2170176"/>
                  </a:lnTo>
                  <a:lnTo>
                    <a:pt x="78867" y="2161794"/>
                  </a:lnTo>
                  <a:lnTo>
                    <a:pt x="44958" y="2138934"/>
                  </a:lnTo>
                  <a:lnTo>
                    <a:pt x="22098" y="2105025"/>
                  </a:lnTo>
                  <a:lnTo>
                    <a:pt x="13716" y="2063496"/>
                  </a:lnTo>
                  <a:lnTo>
                    <a:pt x="13716" y="1636776"/>
                  </a:lnTo>
                  <a:close/>
                </a:path>
                <a:path w="1816734" h="2170429">
                  <a:moveTo>
                    <a:pt x="0" y="106680"/>
                  </a:moveTo>
                  <a:lnTo>
                    <a:pt x="8381" y="65150"/>
                  </a:lnTo>
                  <a:lnTo>
                    <a:pt x="31242" y="31241"/>
                  </a:lnTo>
                  <a:lnTo>
                    <a:pt x="65151" y="8381"/>
                  </a:lnTo>
                  <a:lnTo>
                    <a:pt x="106680" y="0"/>
                  </a:lnTo>
                  <a:lnTo>
                    <a:pt x="1697736" y="0"/>
                  </a:lnTo>
                  <a:lnTo>
                    <a:pt x="1739265" y="8382"/>
                  </a:lnTo>
                  <a:lnTo>
                    <a:pt x="1773174" y="31242"/>
                  </a:lnTo>
                  <a:lnTo>
                    <a:pt x="1796033" y="65151"/>
                  </a:lnTo>
                  <a:lnTo>
                    <a:pt x="1804416" y="106680"/>
                  </a:lnTo>
                  <a:lnTo>
                    <a:pt x="1804416" y="533400"/>
                  </a:lnTo>
                  <a:lnTo>
                    <a:pt x="1796034" y="574928"/>
                  </a:lnTo>
                  <a:lnTo>
                    <a:pt x="1773174" y="608837"/>
                  </a:lnTo>
                  <a:lnTo>
                    <a:pt x="1739265" y="631697"/>
                  </a:lnTo>
                  <a:lnTo>
                    <a:pt x="1697736" y="640080"/>
                  </a:lnTo>
                  <a:lnTo>
                    <a:pt x="106680" y="640080"/>
                  </a:lnTo>
                  <a:lnTo>
                    <a:pt x="65151" y="631698"/>
                  </a:lnTo>
                  <a:lnTo>
                    <a:pt x="31242" y="608838"/>
                  </a:lnTo>
                  <a:lnTo>
                    <a:pt x="8381" y="574929"/>
                  </a:lnTo>
                  <a:lnTo>
                    <a:pt x="0" y="533400"/>
                  </a:lnTo>
                  <a:lnTo>
                    <a:pt x="0" y="106680"/>
                  </a:lnTo>
                  <a:close/>
                </a:path>
              </a:pathLst>
            </a:custGeom>
            <a:ln w="25908">
              <a:solidFill>
                <a:srgbClr val="FBB64B"/>
              </a:solidFill>
            </a:ln>
          </p:spPr>
          <p:txBody>
            <a:bodyPr wrap="square" lIns="0" tIns="0" rIns="0" bIns="0" rtlCol="0"/>
            <a:lstStyle/>
            <a:p>
              <a:endParaRPr/>
            </a:p>
          </p:txBody>
        </p:sp>
        <p:pic>
          <p:nvPicPr>
            <p:cNvPr id="12" name="object 12"/>
            <p:cNvPicPr/>
            <p:nvPr/>
          </p:nvPicPr>
          <p:blipFill>
            <a:blip r:embed="rId2" cstate="print"/>
            <a:stretch>
              <a:fillRect/>
            </a:stretch>
          </p:blipFill>
          <p:spPr>
            <a:xfrm>
              <a:off x="2482595" y="2663990"/>
              <a:ext cx="1400556" cy="237832"/>
            </a:xfrm>
            <a:prstGeom prst="rect">
              <a:avLst/>
            </a:prstGeom>
          </p:spPr>
        </p:pic>
        <p:sp>
          <p:nvSpPr>
            <p:cNvPr id="13" name="object 13"/>
            <p:cNvSpPr/>
            <p:nvPr/>
          </p:nvSpPr>
          <p:spPr>
            <a:xfrm>
              <a:off x="2526029" y="2726436"/>
              <a:ext cx="1242060" cy="78105"/>
            </a:xfrm>
            <a:custGeom>
              <a:avLst/>
              <a:gdLst/>
              <a:ahLst/>
              <a:cxnLst/>
              <a:rect l="l" t="t" r="r" b="b"/>
              <a:pathLst>
                <a:path w="1242060" h="78105">
                  <a:moveTo>
                    <a:pt x="1163828" y="0"/>
                  </a:moveTo>
                  <a:lnTo>
                    <a:pt x="1163828" y="77724"/>
                  </a:lnTo>
                  <a:lnTo>
                    <a:pt x="1215644" y="51815"/>
                  </a:lnTo>
                  <a:lnTo>
                    <a:pt x="1176782" y="51815"/>
                  </a:lnTo>
                  <a:lnTo>
                    <a:pt x="1176782" y="25907"/>
                  </a:lnTo>
                  <a:lnTo>
                    <a:pt x="1215644" y="25907"/>
                  </a:lnTo>
                  <a:lnTo>
                    <a:pt x="1163828" y="0"/>
                  </a:lnTo>
                  <a:close/>
                </a:path>
                <a:path w="1242060" h="78105">
                  <a:moveTo>
                    <a:pt x="1163828" y="25907"/>
                  </a:moveTo>
                  <a:lnTo>
                    <a:pt x="0" y="25907"/>
                  </a:lnTo>
                  <a:lnTo>
                    <a:pt x="0" y="51815"/>
                  </a:lnTo>
                  <a:lnTo>
                    <a:pt x="1163828" y="51815"/>
                  </a:lnTo>
                  <a:lnTo>
                    <a:pt x="1163828" y="25907"/>
                  </a:lnTo>
                  <a:close/>
                </a:path>
                <a:path w="1242060" h="78105">
                  <a:moveTo>
                    <a:pt x="1215644" y="25907"/>
                  </a:moveTo>
                  <a:lnTo>
                    <a:pt x="1176782" y="25907"/>
                  </a:lnTo>
                  <a:lnTo>
                    <a:pt x="1176782" y="51815"/>
                  </a:lnTo>
                  <a:lnTo>
                    <a:pt x="1215644" y="51815"/>
                  </a:lnTo>
                  <a:lnTo>
                    <a:pt x="1241552" y="38862"/>
                  </a:lnTo>
                  <a:lnTo>
                    <a:pt x="1215644" y="25907"/>
                  </a:lnTo>
                  <a:close/>
                </a:path>
              </a:pathLst>
            </a:custGeom>
            <a:solidFill>
              <a:srgbClr val="FBB64B"/>
            </a:solidFill>
          </p:spPr>
          <p:txBody>
            <a:bodyPr wrap="square" lIns="0" tIns="0" rIns="0" bIns="0" rtlCol="0"/>
            <a:lstStyle/>
            <a:p>
              <a:endParaRPr/>
            </a:p>
          </p:txBody>
        </p:sp>
      </p:grpSp>
      <p:sp>
        <p:nvSpPr>
          <p:cNvPr id="14" name="object 14"/>
          <p:cNvSpPr txBox="1"/>
          <p:nvPr/>
        </p:nvSpPr>
        <p:spPr>
          <a:xfrm>
            <a:off x="7093457" y="1490598"/>
            <a:ext cx="1259205" cy="1048385"/>
          </a:xfrm>
          <a:prstGeom prst="rect">
            <a:avLst/>
          </a:prstGeom>
        </p:spPr>
        <p:txBody>
          <a:bodyPr vert="horz" wrap="square" lIns="0" tIns="12065" rIns="0" bIns="0" rtlCol="0">
            <a:spAutoFit/>
          </a:bodyPr>
          <a:lstStyle/>
          <a:p>
            <a:pPr algn="ctr">
              <a:lnSpc>
                <a:spcPct val="100000"/>
              </a:lnSpc>
              <a:spcBef>
                <a:spcPts val="95"/>
              </a:spcBef>
            </a:pPr>
            <a:r>
              <a:rPr sz="1600" spc="-5" dirty="0">
                <a:solidFill>
                  <a:srgbClr val="464646"/>
                </a:solidFill>
                <a:latin typeface="Arial MT"/>
                <a:cs typeface="Arial MT"/>
              </a:rPr>
              <a:t>Search</a:t>
            </a:r>
            <a:endParaRPr sz="1600">
              <a:latin typeface="Arial MT"/>
              <a:cs typeface="Arial MT"/>
            </a:endParaRPr>
          </a:p>
          <a:p>
            <a:pPr>
              <a:lnSpc>
                <a:spcPct val="100000"/>
              </a:lnSpc>
            </a:pPr>
            <a:endParaRPr sz="1800">
              <a:latin typeface="Arial MT"/>
              <a:cs typeface="Arial MT"/>
            </a:endParaRPr>
          </a:p>
          <a:p>
            <a:pPr>
              <a:lnSpc>
                <a:spcPct val="100000"/>
              </a:lnSpc>
              <a:spcBef>
                <a:spcPts val="5"/>
              </a:spcBef>
            </a:pPr>
            <a:endParaRPr sz="1650">
              <a:latin typeface="Arial MT"/>
              <a:cs typeface="Arial MT"/>
            </a:endParaRPr>
          </a:p>
          <a:p>
            <a:pPr algn="ctr">
              <a:lnSpc>
                <a:spcPct val="100000"/>
              </a:lnSpc>
              <a:spcBef>
                <a:spcPts val="5"/>
              </a:spcBef>
            </a:pPr>
            <a:r>
              <a:rPr sz="1800" spc="-10" dirty="0">
                <a:solidFill>
                  <a:srgbClr val="464646"/>
                </a:solidFill>
                <a:latin typeface="Arial MT"/>
                <a:cs typeface="Arial MT"/>
              </a:rPr>
              <a:t>CloudWatch</a:t>
            </a:r>
            <a:endParaRPr sz="1800">
              <a:latin typeface="Arial MT"/>
              <a:cs typeface="Arial MT"/>
            </a:endParaRPr>
          </a:p>
        </p:txBody>
      </p:sp>
      <p:sp>
        <p:nvSpPr>
          <p:cNvPr id="15" name="object 15"/>
          <p:cNvSpPr/>
          <p:nvPr/>
        </p:nvSpPr>
        <p:spPr>
          <a:xfrm>
            <a:off x="6834378" y="3605021"/>
            <a:ext cx="1803400" cy="640080"/>
          </a:xfrm>
          <a:custGeom>
            <a:avLst/>
            <a:gdLst/>
            <a:ahLst/>
            <a:cxnLst/>
            <a:rect l="l" t="t" r="r" b="b"/>
            <a:pathLst>
              <a:path w="1803400" h="640079">
                <a:moveTo>
                  <a:pt x="0" y="106679"/>
                </a:moveTo>
                <a:lnTo>
                  <a:pt x="8381" y="65150"/>
                </a:lnTo>
                <a:lnTo>
                  <a:pt x="31241" y="31241"/>
                </a:lnTo>
                <a:lnTo>
                  <a:pt x="65150" y="8381"/>
                </a:lnTo>
                <a:lnTo>
                  <a:pt x="106679" y="0"/>
                </a:lnTo>
                <a:lnTo>
                  <a:pt x="1696212" y="0"/>
                </a:lnTo>
                <a:lnTo>
                  <a:pt x="1737741" y="8381"/>
                </a:lnTo>
                <a:lnTo>
                  <a:pt x="1771650" y="31241"/>
                </a:lnTo>
                <a:lnTo>
                  <a:pt x="1794509" y="65150"/>
                </a:lnTo>
                <a:lnTo>
                  <a:pt x="1802892" y="106679"/>
                </a:lnTo>
                <a:lnTo>
                  <a:pt x="1802892" y="533399"/>
                </a:lnTo>
                <a:lnTo>
                  <a:pt x="1794510" y="574923"/>
                </a:lnTo>
                <a:lnTo>
                  <a:pt x="1771650" y="608833"/>
                </a:lnTo>
                <a:lnTo>
                  <a:pt x="1737741" y="631696"/>
                </a:lnTo>
                <a:lnTo>
                  <a:pt x="1696212" y="640079"/>
                </a:lnTo>
                <a:lnTo>
                  <a:pt x="106679" y="640079"/>
                </a:lnTo>
                <a:lnTo>
                  <a:pt x="65150" y="631696"/>
                </a:lnTo>
                <a:lnTo>
                  <a:pt x="31242" y="608833"/>
                </a:lnTo>
                <a:lnTo>
                  <a:pt x="8382" y="574923"/>
                </a:lnTo>
                <a:lnTo>
                  <a:pt x="0" y="533399"/>
                </a:lnTo>
                <a:lnTo>
                  <a:pt x="0" y="106679"/>
                </a:lnTo>
                <a:close/>
              </a:path>
            </a:pathLst>
          </a:custGeom>
          <a:ln w="25908">
            <a:solidFill>
              <a:srgbClr val="FBB64B"/>
            </a:solidFill>
          </a:ln>
        </p:spPr>
        <p:txBody>
          <a:bodyPr wrap="square" lIns="0" tIns="0" rIns="0" bIns="0" rtlCol="0"/>
          <a:lstStyle/>
          <a:p>
            <a:endParaRPr/>
          </a:p>
        </p:txBody>
      </p:sp>
      <p:sp>
        <p:nvSpPr>
          <p:cNvPr id="16" name="object 16"/>
          <p:cNvSpPr txBox="1"/>
          <p:nvPr/>
        </p:nvSpPr>
        <p:spPr>
          <a:xfrm>
            <a:off x="7118350" y="3020694"/>
            <a:ext cx="1234440" cy="1033780"/>
          </a:xfrm>
          <a:prstGeom prst="rect">
            <a:avLst/>
          </a:prstGeom>
        </p:spPr>
        <p:txBody>
          <a:bodyPr vert="horz" wrap="square" lIns="0" tIns="12065" rIns="0" bIns="0" rtlCol="0">
            <a:spAutoFit/>
          </a:bodyPr>
          <a:lstStyle/>
          <a:p>
            <a:pPr algn="ctr">
              <a:lnSpc>
                <a:spcPct val="100000"/>
              </a:lnSpc>
              <a:spcBef>
                <a:spcPts val="95"/>
              </a:spcBef>
            </a:pPr>
            <a:r>
              <a:rPr sz="1600" spc="-5" dirty="0">
                <a:solidFill>
                  <a:srgbClr val="464646"/>
                </a:solidFill>
                <a:latin typeface="Arial MT"/>
                <a:cs typeface="Arial MT"/>
              </a:rPr>
              <a:t>Elasticsearch</a:t>
            </a:r>
            <a:endParaRPr sz="1600">
              <a:latin typeface="Arial MT"/>
              <a:cs typeface="Arial MT"/>
            </a:endParaRPr>
          </a:p>
          <a:p>
            <a:pPr>
              <a:lnSpc>
                <a:spcPct val="100000"/>
              </a:lnSpc>
            </a:pPr>
            <a:endParaRPr sz="1800">
              <a:latin typeface="Arial MT"/>
              <a:cs typeface="Arial MT"/>
            </a:endParaRPr>
          </a:p>
          <a:p>
            <a:pPr>
              <a:lnSpc>
                <a:spcPct val="100000"/>
              </a:lnSpc>
              <a:spcBef>
                <a:spcPts val="20"/>
              </a:spcBef>
            </a:pPr>
            <a:endParaRPr sz="1750">
              <a:latin typeface="Arial MT"/>
              <a:cs typeface="Arial MT"/>
            </a:endParaRPr>
          </a:p>
          <a:p>
            <a:pPr marL="1270" algn="ctr">
              <a:lnSpc>
                <a:spcPct val="100000"/>
              </a:lnSpc>
            </a:pPr>
            <a:r>
              <a:rPr sz="1600" spc="-5" dirty="0">
                <a:solidFill>
                  <a:srgbClr val="464646"/>
                </a:solidFill>
                <a:latin typeface="Arial MT"/>
                <a:cs typeface="Arial MT"/>
              </a:rPr>
              <a:t>Splunk</a:t>
            </a:r>
            <a:endParaRPr sz="1600">
              <a:latin typeface="Arial MT"/>
              <a:cs typeface="Arial MT"/>
            </a:endParaRPr>
          </a:p>
        </p:txBody>
      </p:sp>
      <p:grpSp>
        <p:nvGrpSpPr>
          <p:cNvPr id="17" name="object 17"/>
          <p:cNvGrpSpPr/>
          <p:nvPr/>
        </p:nvGrpSpPr>
        <p:grpSpPr>
          <a:xfrm>
            <a:off x="5527547" y="2663990"/>
            <a:ext cx="1190625" cy="238125"/>
            <a:chOff x="5527547" y="2663990"/>
            <a:chExt cx="1190625" cy="238125"/>
          </a:xfrm>
        </p:grpSpPr>
        <p:pic>
          <p:nvPicPr>
            <p:cNvPr id="18" name="object 18"/>
            <p:cNvPicPr/>
            <p:nvPr/>
          </p:nvPicPr>
          <p:blipFill>
            <a:blip r:embed="rId3" cstate="print"/>
            <a:stretch>
              <a:fillRect/>
            </a:stretch>
          </p:blipFill>
          <p:spPr>
            <a:xfrm>
              <a:off x="5527547" y="2663990"/>
              <a:ext cx="1190256" cy="237832"/>
            </a:xfrm>
            <a:prstGeom prst="rect">
              <a:avLst/>
            </a:prstGeom>
          </p:spPr>
        </p:pic>
        <p:sp>
          <p:nvSpPr>
            <p:cNvPr id="19" name="object 19"/>
            <p:cNvSpPr/>
            <p:nvPr/>
          </p:nvSpPr>
          <p:spPr>
            <a:xfrm>
              <a:off x="5570981" y="2726436"/>
              <a:ext cx="1029969" cy="78105"/>
            </a:xfrm>
            <a:custGeom>
              <a:avLst/>
              <a:gdLst/>
              <a:ahLst/>
              <a:cxnLst/>
              <a:rect l="l" t="t" r="r" b="b"/>
              <a:pathLst>
                <a:path w="1029970" h="78105">
                  <a:moveTo>
                    <a:pt x="952245" y="0"/>
                  </a:moveTo>
                  <a:lnTo>
                    <a:pt x="952245" y="77724"/>
                  </a:lnTo>
                  <a:lnTo>
                    <a:pt x="1004062" y="51815"/>
                  </a:lnTo>
                  <a:lnTo>
                    <a:pt x="965199" y="51815"/>
                  </a:lnTo>
                  <a:lnTo>
                    <a:pt x="965199" y="25907"/>
                  </a:lnTo>
                  <a:lnTo>
                    <a:pt x="1004062" y="25907"/>
                  </a:lnTo>
                  <a:lnTo>
                    <a:pt x="952245" y="0"/>
                  </a:lnTo>
                  <a:close/>
                </a:path>
                <a:path w="1029970" h="78105">
                  <a:moveTo>
                    <a:pt x="952245" y="25907"/>
                  </a:moveTo>
                  <a:lnTo>
                    <a:pt x="0" y="25907"/>
                  </a:lnTo>
                  <a:lnTo>
                    <a:pt x="0" y="51815"/>
                  </a:lnTo>
                  <a:lnTo>
                    <a:pt x="952245" y="51815"/>
                  </a:lnTo>
                  <a:lnTo>
                    <a:pt x="952245" y="25907"/>
                  </a:lnTo>
                  <a:close/>
                </a:path>
                <a:path w="1029970" h="78105">
                  <a:moveTo>
                    <a:pt x="1004062" y="25907"/>
                  </a:moveTo>
                  <a:lnTo>
                    <a:pt x="965199" y="25907"/>
                  </a:lnTo>
                  <a:lnTo>
                    <a:pt x="965199" y="51815"/>
                  </a:lnTo>
                  <a:lnTo>
                    <a:pt x="1004062" y="51815"/>
                  </a:lnTo>
                  <a:lnTo>
                    <a:pt x="1029969" y="38862"/>
                  </a:lnTo>
                  <a:lnTo>
                    <a:pt x="1004062" y="25907"/>
                  </a:lnTo>
                  <a:close/>
                </a:path>
              </a:pathLst>
            </a:custGeom>
            <a:solidFill>
              <a:srgbClr val="FBB64B"/>
            </a:solidFill>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7157720" cy="452120"/>
          </a:xfrm>
          <a:prstGeom prst="rect">
            <a:avLst/>
          </a:prstGeom>
        </p:spPr>
        <p:txBody>
          <a:bodyPr vert="horz" wrap="square" lIns="0" tIns="12065" rIns="0" bIns="0" rtlCol="0">
            <a:spAutoFit/>
          </a:bodyPr>
          <a:lstStyle/>
          <a:p>
            <a:pPr marL="12700">
              <a:lnSpc>
                <a:spcPct val="100000"/>
              </a:lnSpc>
              <a:spcBef>
                <a:spcPts val="95"/>
              </a:spcBef>
            </a:pPr>
            <a:r>
              <a:rPr spc="-20" dirty="0"/>
              <a:t>CloudTrail</a:t>
            </a:r>
            <a:r>
              <a:rPr spc="30" dirty="0"/>
              <a:t> </a:t>
            </a:r>
            <a:r>
              <a:rPr spc="-5" dirty="0"/>
              <a:t>–</a:t>
            </a:r>
            <a:r>
              <a:rPr spc="-105" dirty="0"/>
              <a:t> </a:t>
            </a:r>
            <a:r>
              <a:rPr spc="-5" dirty="0"/>
              <a:t>Audit</a:t>
            </a:r>
            <a:r>
              <a:rPr spc="15" dirty="0"/>
              <a:t> </a:t>
            </a:r>
            <a:r>
              <a:rPr spc="-35" dirty="0"/>
              <a:t>Trail</a:t>
            </a:r>
            <a:r>
              <a:rPr spc="-10" dirty="0"/>
              <a:t> </a:t>
            </a:r>
            <a:r>
              <a:rPr spc="-5" dirty="0"/>
              <a:t>of</a:t>
            </a:r>
            <a:r>
              <a:rPr spc="5" dirty="0"/>
              <a:t> </a:t>
            </a:r>
            <a:r>
              <a:rPr dirty="0"/>
              <a:t>all</a:t>
            </a:r>
            <a:r>
              <a:rPr spc="-105" dirty="0"/>
              <a:t> </a:t>
            </a:r>
            <a:r>
              <a:rPr spc="-5" dirty="0"/>
              <a:t>API</a:t>
            </a:r>
            <a:r>
              <a:rPr spc="-110" dirty="0"/>
              <a:t> </a:t>
            </a:r>
            <a:r>
              <a:rPr spc="-5" dirty="0"/>
              <a:t>Activities</a:t>
            </a:r>
          </a:p>
        </p:txBody>
      </p:sp>
      <p:sp>
        <p:nvSpPr>
          <p:cNvPr id="3" name="object 3"/>
          <p:cNvSpPr/>
          <p:nvPr/>
        </p:nvSpPr>
        <p:spPr>
          <a:xfrm>
            <a:off x="692658" y="2128266"/>
            <a:ext cx="1804670" cy="881380"/>
          </a:xfrm>
          <a:custGeom>
            <a:avLst/>
            <a:gdLst/>
            <a:ahLst/>
            <a:cxnLst/>
            <a:rect l="l" t="t" r="r" b="b"/>
            <a:pathLst>
              <a:path w="1804670" h="881380">
                <a:moveTo>
                  <a:pt x="0" y="146811"/>
                </a:moveTo>
                <a:lnTo>
                  <a:pt x="7485" y="100429"/>
                </a:lnTo>
                <a:lnTo>
                  <a:pt x="28327" y="60130"/>
                </a:lnTo>
                <a:lnTo>
                  <a:pt x="60108" y="28342"/>
                </a:lnTo>
                <a:lnTo>
                  <a:pt x="100410" y="7489"/>
                </a:lnTo>
                <a:lnTo>
                  <a:pt x="146811" y="0"/>
                </a:lnTo>
                <a:lnTo>
                  <a:pt x="1657604" y="0"/>
                </a:lnTo>
                <a:lnTo>
                  <a:pt x="1703986" y="7489"/>
                </a:lnTo>
                <a:lnTo>
                  <a:pt x="1744285" y="28342"/>
                </a:lnTo>
                <a:lnTo>
                  <a:pt x="1776073" y="60130"/>
                </a:lnTo>
                <a:lnTo>
                  <a:pt x="1796926" y="100429"/>
                </a:lnTo>
                <a:lnTo>
                  <a:pt x="1804416" y="146811"/>
                </a:lnTo>
                <a:lnTo>
                  <a:pt x="1804416" y="734059"/>
                </a:lnTo>
                <a:lnTo>
                  <a:pt x="1796926" y="780442"/>
                </a:lnTo>
                <a:lnTo>
                  <a:pt x="1776073" y="820741"/>
                </a:lnTo>
                <a:lnTo>
                  <a:pt x="1744285" y="852529"/>
                </a:lnTo>
                <a:lnTo>
                  <a:pt x="1703986" y="873382"/>
                </a:lnTo>
                <a:lnTo>
                  <a:pt x="1657604" y="880871"/>
                </a:lnTo>
                <a:lnTo>
                  <a:pt x="146811" y="880871"/>
                </a:lnTo>
                <a:lnTo>
                  <a:pt x="100410" y="873382"/>
                </a:lnTo>
                <a:lnTo>
                  <a:pt x="60108" y="852529"/>
                </a:lnTo>
                <a:lnTo>
                  <a:pt x="28327" y="820741"/>
                </a:lnTo>
                <a:lnTo>
                  <a:pt x="7485" y="780442"/>
                </a:lnTo>
                <a:lnTo>
                  <a:pt x="0" y="734059"/>
                </a:lnTo>
                <a:lnTo>
                  <a:pt x="0" y="146811"/>
                </a:lnTo>
                <a:close/>
              </a:path>
            </a:pathLst>
          </a:custGeom>
          <a:ln w="25908">
            <a:solidFill>
              <a:srgbClr val="F79F28"/>
            </a:solidFill>
          </a:ln>
        </p:spPr>
        <p:txBody>
          <a:bodyPr wrap="square" lIns="0" tIns="0" rIns="0" bIns="0" rtlCol="0"/>
          <a:lstStyle/>
          <a:p>
            <a:endParaRPr/>
          </a:p>
        </p:txBody>
      </p:sp>
      <p:sp>
        <p:nvSpPr>
          <p:cNvPr id="4" name="object 4"/>
          <p:cNvSpPr txBox="1"/>
          <p:nvPr/>
        </p:nvSpPr>
        <p:spPr>
          <a:xfrm>
            <a:off x="1325117" y="2412873"/>
            <a:ext cx="538480"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464646"/>
                </a:solidFill>
                <a:latin typeface="Arial MT"/>
                <a:cs typeface="Arial MT"/>
              </a:rPr>
              <a:t>A</a:t>
            </a:r>
            <a:r>
              <a:rPr sz="1800" spc="5" dirty="0">
                <a:solidFill>
                  <a:srgbClr val="464646"/>
                </a:solidFill>
                <a:latin typeface="Arial MT"/>
                <a:cs typeface="Arial MT"/>
              </a:rPr>
              <a:t>W</a:t>
            </a:r>
            <a:r>
              <a:rPr sz="1800" dirty="0">
                <a:solidFill>
                  <a:srgbClr val="464646"/>
                </a:solidFill>
                <a:latin typeface="Arial MT"/>
                <a:cs typeface="Arial MT"/>
              </a:rPr>
              <a:t>S</a:t>
            </a:r>
            <a:endParaRPr sz="1800">
              <a:latin typeface="Arial MT"/>
              <a:cs typeface="Arial MT"/>
            </a:endParaRPr>
          </a:p>
        </p:txBody>
      </p:sp>
      <p:sp>
        <p:nvSpPr>
          <p:cNvPr id="5" name="object 5"/>
          <p:cNvSpPr/>
          <p:nvPr/>
        </p:nvSpPr>
        <p:spPr>
          <a:xfrm>
            <a:off x="3737609" y="2128266"/>
            <a:ext cx="1804670" cy="873760"/>
          </a:xfrm>
          <a:custGeom>
            <a:avLst/>
            <a:gdLst/>
            <a:ahLst/>
            <a:cxnLst/>
            <a:rect l="l" t="t" r="r" b="b"/>
            <a:pathLst>
              <a:path w="1804670" h="873760">
                <a:moveTo>
                  <a:pt x="0" y="145541"/>
                </a:moveTo>
                <a:lnTo>
                  <a:pt x="7418" y="99535"/>
                </a:lnTo>
                <a:lnTo>
                  <a:pt x="28078" y="59582"/>
                </a:lnTo>
                <a:lnTo>
                  <a:pt x="59582" y="28078"/>
                </a:lnTo>
                <a:lnTo>
                  <a:pt x="99535" y="7418"/>
                </a:lnTo>
                <a:lnTo>
                  <a:pt x="145541" y="0"/>
                </a:lnTo>
                <a:lnTo>
                  <a:pt x="1658874" y="0"/>
                </a:lnTo>
                <a:lnTo>
                  <a:pt x="1704880" y="7418"/>
                </a:lnTo>
                <a:lnTo>
                  <a:pt x="1744833" y="28078"/>
                </a:lnTo>
                <a:lnTo>
                  <a:pt x="1776337" y="59582"/>
                </a:lnTo>
                <a:lnTo>
                  <a:pt x="1796997" y="99535"/>
                </a:lnTo>
                <a:lnTo>
                  <a:pt x="1804415" y="145541"/>
                </a:lnTo>
                <a:lnTo>
                  <a:pt x="1804415" y="727709"/>
                </a:lnTo>
                <a:lnTo>
                  <a:pt x="1796997" y="773716"/>
                </a:lnTo>
                <a:lnTo>
                  <a:pt x="1776337" y="813669"/>
                </a:lnTo>
                <a:lnTo>
                  <a:pt x="1744833" y="845173"/>
                </a:lnTo>
                <a:lnTo>
                  <a:pt x="1704880" y="865833"/>
                </a:lnTo>
                <a:lnTo>
                  <a:pt x="1658874" y="873251"/>
                </a:lnTo>
                <a:lnTo>
                  <a:pt x="145541" y="873251"/>
                </a:lnTo>
                <a:lnTo>
                  <a:pt x="99535" y="865833"/>
                </a:lnTo>
                <a:lnTo>
                  <a:pt x="59582" y="845173"/>
                </a:lnTo>
                <a:lnTo>
                  <a:pt x="28078" y="813669"/>
                </a:lnTo>
                <a:lnTo>
                  <a:pt x="7418" y="773716"/>
                </a:lnTo>
                <a:lnTo>
                  <a:pt x="0" y="727709"/>
                </a:lnTo>
                <a:lnTo>
                  <a:pt x="0" y="145541"/>
                </a:lnTo>
                <a:close/>
              </a:path>
            </a:pathLst>
          </a:custGeom>
          <a:ln w="25908">
            <a:solidFill>
              <a:srgbClr val="F79F28"/>
            </a:solidFill>
          </a:ln>
        </p:spPr>
        <p:txBody>
          <a:bodyPr wrap="square" lIns="0" tIns="0" rIns="0" bIns="0" rtlCol="0"/>
          <a:lstStyle/>
          <a:p>
            <a:endParaRPr/>
          </a:p>
        </p:txBody>
      </p:sp>
      <p:sp>
        <p:nvSpPr>
          <p:cNvPr id="6" name="object 6"/>
          <p:cNvSpPr txBox="1"/>
          <p:nvPr/>
        </p:nvSpPr>
        <p:spPr>
          <a:xfrm>
            <a:off x="4110990" y="2409189"/>
            <a:ext cx="105664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l</a:t>
            </a:r>
            <a:r>
              <a:rPr sz="1800" spc="-5" dirty="0">
                <a:solidFill>
                  <a:srgbClr val="464646"/>
                </a:solidFill>
                <a:latin typeface="Arial MT"/>
                <a:cs typeface="Arial MT"/>
              </a:rPr>
              <a:t>o</a:t>
            </a:r>
            <a:r>
              <a:rPr sz="1800" spc="-15" dirty="0">
                <a:solidFill>
                  <a:srgbClr val="464646"/>
                </a:solidFill>
                <a:latin typeface="Arial MT"/>
                <a:cs typeface="Arial MT"/>
              </a:rPr>
              <a:t>u</a:t>
            </a:r>
            <a:r>
              <a:rPr sz="1800" dirty="0">
                <a:solidFill>
                  <a:srgbClr val="464646"/>
                </a:solidFill>
                <a:latin typeface="Arial MT"/>
                <a:cs typeface="Arial MT"/>
              </a:rPr>
              <a:t>d</a:t>
            </a:r>
            <a:r>
              <a:rPr sz="1800" spc="-65" dirty="0">
                <a:solidFill>
                  <a:srgbClr val="464646"/>
                </a:solidFill>
                <a:latin typeface="Arial MT"/>
                <a:cs typeface="Arial MT"/>
              </a:rPr>
              <a:t>T</a:t>
            </a:r>
            <a:r>
              <a:rPr sz="1800" spc="-5" dirty="0">
                <a:solidFill>
                  <a:srgbClr val="464646"/>
                </a:solidFill>
                <a:latin typeface="Arial MT"/>
                <a:cs typeface="Arial MT"/>
              </a:rPr>
              <a:t>ra</a:t>
            </a:r>
            <a:r>
              <a:rPr sz="1800" spc="-15" dirty="0">
                <a:solidFill>
                  <a:srgbClr val="464646"/>
                </a:solidFill>
                <a:latin typeface="Arial MT"/>
                <a:cs typeface="Arial MT"/>
              </a:rPr>
              <a:t>i</a:t>
            </a:r>
            <a:r>
              <a:rPr sz="1800" spc="-5" dirty="0">
                <a:solidFill>
                  <a:srgbClr val="464646"/>
                </a:solidFill>
                <a:latin typeface="Arial MT"/>
                <a:cs typeface="Arial MT"/>
              </a:rPr>
              <a:t>l</a:t>
            </a:r>
            <a:endParaRPr sz="1800">
              <a:latin typeface="Arial MT"/>
              <a:cs typeface="Arial MT"/>
            </a:endParaRPr>
          </a:p>
        </p:txBody>
      </p:sp>
      <p:sp>
        <p:nvSpPr>
          <p:cNvPr id="7" name="object 7"/>
          <p:cNvSpPr/>
          <p:nvPr/>
        </p:nvSpPr>
        <p:spPr>
          <a:xfrm>
            <a:off x="6782561" y="2135885"/>
            <a:ext cx="1804670" cy="873760"/>
          </a:xfrm>
          <a:custGeom>
            <a:avLst/>
            <a:gdLst/>
            <a:ahLst/>
            <a:cxnLst/>
            <a:rect l="l" t="t" r="r" b="b"/>
            <a:pathLst>
              <a:path w="1804670" h="873760">
                <a:moveTo>
                  <a:pt x="0" y="145541"/>
                </a:moveTo>
                <a:lnTo>
                  <a:pt x="7418" y="99535"/>
                </a:lnTo>
                <a:lnTo>
                  <a:pt x="28078" y="59582"/>
                </a:lnTo>
                <a:lnTo>
                  <a:pt x="59582" y="28078"/>
                </a:lnTo>
                <a:lnTo>
                  <a:pt x="99535" y="7418"/>
                </a:lnTo>
                <a:lnTo>
                  <a:pt x="145542" y="0"/>
                </a:lnTo>
                <a:lnTo>
                  <a:pt x="1658874" y="0"/>
                </a:lnTo>
                <a:lnTo>
                  <a:pt x="1704880" y="7418"/>
                </a:lnTo>
                <a:lnTo>
                  <a:pt x="1744833" y="28078"/>
                </a:lnTo>
                <a:lnTo>
                  <a:pt x="1776337" y="59582"/>
                </a:lnTo>
                <a:lnTo>
                  <a:pt x="1796997" y="99535"/>
                </a:lnTo>
                <a:lnTo>
                  <a:pt x="1804416" y="145541"/>
                </a:lnTo>
                <a:lnTo>
                  <a:pt x="1804416" y="727709"/>
                </a:lnTo>
                <a:lnTo>
                  <a:pt x="1796997" y="773716"/>
                </a:lnTo>
                <a:lnTo>
                  <a:pt x="1776337" y="813669"/>
                </a:lnTo>
                <a:lnTo>
                  <a:pt x="1744833" y="845173"/>
                </a:lnTo>
                <a:lnTo>
                  <a:pt x="1704880" y="865833"/>
                </a:lnTo>
                <a:lnTo>
                  <a:pt x="1658874" y="873251"/>
                </a:lnTo>
                <a:lnTo>
                  <a:pt x="145542" y="873251"/>
                </a:lnTo>
                <a:lnTo>
                  <a:pt x="99535" y="865833"/>
                </a:lnTo>
                <a:lnTo>
                  <a:pt x="59582" y="845173"/>
                </a:lnTo>
                <a:lnTo>
                  <a:pt x="28078" y="813669"/>
                </a:lnTo>
                <a:lnTo>
                  <a:pt x="7418" y="773716"/>
                </a:lnTo>
                <a:lnTo>
                  <a:pt x="0" y="727709"/>
                </a:lnTo>
                <a:lnTo>
                  <a:pt x="0" y="145541"/>
                </a:lnTo>
                <a:close/>
              </a:path>
            </a:pathLst>
          </a:custGeom>
          <a:ln w="25908">
            <a:solidFill>
              <a:srgbClr val="F79F28"/>
            </a:solidFill>
          </a:ln>
        </p:spPr>
        <p:txBody>
          <a:bodyPr wrap="square" lIns="0" tIns="0" rIns="0" bIns="0" rtlCol="0"/>
          <a:lstStyle/>
          <a:p>
            <a:endParaRPr/>
          </a:p>
        </p:txBody>
      </p:sp>
      <p:sp>
        <p:nvSpPr>
          <p:cNvPr id="8" name="object 8"/>
          <p:cNvSpPr txBox="1"/>
          <p:nvPr/>
        </p:nvSpPr>
        <p:spPr>
          <a:xfrm>
            <a:off x="7310755" y="2416555"/>
            <a:ext cx="7493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Ath</a:t>
            </a:r>
            <a:r>
              <a:rPr sz="1800" spc="-15" dirty="0">
                <a:solidFill>
                  <a:srgbClr val="464646"/>
                </a:solidFill>
                <a:latin typeface="Arial MT"/>
                <a:cs typeface="Arial MT"/>
              </a:rPr>
              <a:t>e</a:t>
            </a:r>
            <a:r>
              <a:rPr sz="1800" spc="-5" dirty="0">
                <a:solidFill>
                  <a:srgbClr val="464646"/>
                </a:solidFill>
                <a:latin typeface="Arial MT"/>
                <a:cs typeface="Arial MT"/>
              </a:rPr>
              <a:t>na</a:t>
            </a:r>
            <a:endParaRPr sz="1800">
              <a:latin typeface="Arial MT"/>
              <a:cs typeface="Arial MT"/>
            </a:endParaRPr>
          </a:p>
        </p:txBody>
      </p:sp>
      <p:grpSp>
        <p:nvGrpSpPr>
          <p:cNvPr id="9" name="object 9"/>
          <p:cNvGrpSpPr/>
          <p:nvPr/>
        </p:nvGrpSpPr>
        <p:grpSpPr>
          <a:xfrm>
            <a:off x="2453639" y="2464346"/>
            <a:ext cx="1400810" cy="238125"/>
            <a:chOff x="2453639" y="2464346"/>
            <a:chExt cx="1400810" cy="238125"/>
          </a:xfrm>
        </p:grpSpPr>
        <p:pic>
          <p:nvPicPr>
            <p:cNvPr id="10" name="object 10"/>
            <p:cNvPicPr/>
            <p:nvPr/>
          </p:nvPicPr>
          <p:blipFill>
            <a:blip r:embed="rId2" cstate="print"/>
            <a:stretch>
              <a:fillRect/>
            </a:stretch>
          </p:blipFill>
          <p:spPr>
            <a:xfrm>
              <a:off x="2453639" y="2464346"/>
              <a:ext cx="1400556" cy="237832"/>
            </a:xfrm>
            <a:prstGeom prst="rect">
              <a:avLst/>
            </a:prstGeom>
          </p:spPr>
        </p:pic>
        <p:sp>
          <p:nvSpPr>
            <p:cNvPr id="11" name="object 11"/>
            <p:cNvSpPr/>
            <p:nvPr/>
          </p:nvSpPr>
          <p:spPr>
            <a:xfrm>
              <a:off x="2497073" y="2527045"/>
              <a:ext cx="1242060" cy="78105"/>
            </a:xfrm>
            <a:custGeom>
              <a:avLst/>
              <a:gdLst/>
              <a:ahLst/>
              <a:cxnLst/>
              <a:rect l="l" t="t" r="r" b="b"/>
              <a:pathLst>
                <a:path w="1242060" h="78105">
                  <a:moveTo>
                    <a:pt x="1215943" y="25908"/>
                  </a:moveTo>
                  <a:lnTo>
                    <a:pt x="1176781" y="25908"/>
                  </a:lnTo>
                  <a:lnTo>
                    <a:pt x="1176781" y="51816"/>
                  </a:lnTo>
                  <a:lnTo>
                    <a:pt x="1163870" y="51853"/>
                  </a:lnTo>
                  <a:lnTo>
                    <a:pt x="1163954" y="77724"/>
                  </a:lnTo>
                  <a:lnTo>
                    <a:pt x="1241552" y="38608"/>
                  </a:lnTo>
                  <a:lnTo>
                    <a:pt x="1215943" y="25908"/>
                  </a:lnTo>
                  <a:close/>
                </a:path>
                <a:path w="1242060" h="78105">
                  <a:moveTo>
                    <a:pt x="1163785" y="25945"/>
                  </a:moveTo>
                  <a:lnTo>
                    <a:pt x="0" y="29337"/>
                  </a:lnTo>
                  <a:lnTo>
                    <a:pt x="0" y="55245"/>
                  </a:lnTo>
                  <a:lnTo>
                    <a:pt x="1163870" y="51853"/>
                  </a:lnTo>
                  <a:lnTo>
                    <a:pt x="1163785" y="25945"/>
                  </a:lnTo>
                  <a:close/>
                </a:path>
                <a:path w="1242060" h="78105">
                  <a:moveTo>
                    <a:pt x="1176781" y="25908"/>
                  </a:moveTo>
                  <a:lnTo>
                    <a:pt x="1163785" y="25945"/>
                  </a:lnTo>
                  <a:lnTo>
                    <a:pt x="1163870" y="51853"/>
                  </a:lnTo>
                  <a:lnTo>
                    <a:pt x="1176781" y="51816"/>
                  </a:lnTo>
                  <a:lnTo>
                    <a:pt x="1176781" y="25908"/>
                  </a:lnTo>
                  <a:close/>
                </a:path>
                <a:path w="1242060" h="78105">
                  <a:moveTo>
                    <a:pt x="1163701" y="0"/>
                  </a:moveTo>
                  <a:lnTo>
                    <a:pt x="1163785" y="25945"/>
                  </a:lnTo>
                  <a:lnTo>
                    <a:pt x="1215943" y="25908"/>
                  </a:lnTo>
                  <a:lnTo>
                    <a:pt x="1163701" y="0"/>
                  </a:lnTo>
                  <a:close/>
                </a:path>
              </a:pathLst>
            </a:custGeom>
            <a:solidFill>
              <a:srgbClr val="FBB64B"/>
            </a:solidFill>
          </p:spPr>
          <p:txBody>
            <a:bodyPr wrap="square" lIns="0" tIns="0" rIns="0" bIns="0" rtlCol="0"/>
            <a:lstStyle/>
            <a:p>
              <a:endParaRPr/>
            </a:p>
          </p:txBody>
        </p:sp>
      </p:grpSp>
      <p:sp>
        <p:nvSpPr>
          <p:cNvPr id="12" name="object 12"/>
          <p:cNvSpPr txBox="1"/>
          <p:nvPr/>
        </p:nvSpPr>
        <p:spPr>
          <a:xfrm>
            <a:off x="2635123" y="1842261"/>
            <a:ext cx="962660" cy="574675"/>
          </a:xfrm>
          <a:prstGeom prst="rect">
            <a:avLst/>
          </a:prstGeom>
        </p:spPr>
        <p:txBody>
          <a:bodyPr vert="horz" wrap="square" lIns="0" tIns="12700" rIns="0" bIns="0" rtlCol="0">
            <a:spAutoFit/>
          </a:bodyPr>
          <a:lstStyle/>
          <a:p>
            <a:pPr marL="12700" marR="5080" indent="278765">
              <a:lnSpc>
                <a:spcPct val="100000"/>
              </a:lnSpc>
              <a:spcBef>
                <a:spcPts val="100"/>
              </a:spcBef>
            </a:pPr>
            <a:r>
              <a:rPr sz="1800" spc="-10" dirty="0">
                <a:solidFill>
                  <a:srgbClr val="464646"/>
                </a:solidFill>
                <a:latin typeface="Arial MT"/>
                <a:cs typeface="Arial MT"/>
              </a:rPr>
              <a:t>Log </a:t>
            </a:r>
            <a:r>
              <a:rPr sz="1800" spc="-5" dirty="0">
                <a:solidFill>
                  <a:srgbClr val="464646"/>
                </a:solidFill>
                <a:latin typeface="Arial MT"/>
                <a:cs typeface="Arial MT"/>
              </a:rPr>
              <a:t> </a:t>
            </a:r>
            <a:r>
              <a:rPr sz="1800" dirty="0">
                <a:solidFill>
                  <a:srgbClr val="464646"/>
                </a:solidFill>
                <a:latin typeface="Arial MT"/>
                <a:cs typeface="Arial MT"/>
              </a:rPr>
              <a:t>API</a:t>
            </a:r>
            <a:r>
              <a:rPr sz="1800" spc="-105" dirty="0">
                <a:solidFill>
                  <a:srgbClr val="464646"/>
                </a:solidFill>
                <a:latin typeface="Arial MT"/>
                <a:cs typeface="Arial MT"/>
              </a:rPr>
              <a:t> </a:t>
            </a:r>
            <a:r>
              <a:rPr sz="1800" spc="-5" dirty="0">
                <a:solidFill>
                  <a:srgbClr val="464646"/>
                </a:solidFill>
                <a:latin typeface="Arial MT"/>
                <a:cs typeface="Arial MT"/>
              </a:rPr>
              <a:t>Calls</a:t>
            </a:r>
            <a:endParaRPr sz="1800">
              <a:latin typeface="Arial MT"/>
              <a:cs typeface="Arial MT"/>
            </a:endParaRPr>
          </a:p>
        </p:txBody>
      </p:sp>
      <p:sp>
        <p:nvSpPr>
          <p:cNvPr id="13" name="object 13"/>
          <p:cNvSpPr txBox="1"/>
          <p:nvPr/>
        </p:nvSpPr>
        <p:spPr>
          <a:xfrm>
            <a:off x="5921502" y="2248026"/>
            <a:ext cx="483234"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64646"/>
                </a:solidFill>
                <a:latin typeface="Arial MT"/>
                <a:cs typeface="Arial MT"/>
              </a:rPr>
              <a:t>SQL</a:t>
            </a:r>
            <a:endParaRPr sz="1800">
              <a:latin typeface="Arial MT"/>
              <a:cs typeface="Arial MT"/>
            </a:endParaRPr>
          </a:p>
        </p:txBody>
      </p:sp>
      <p:grpSp>
        <p:nvGrpSpPr>
          <p:cNvPr id="14" name="object 14"/>
          <p:cNvGrpSpPr/>
          <p:nvPr/>
        </p:nvGrpSpPr>
        <p:grpSpPr>
          <a:xfrm>
            <a:off x="5420867" y="2464346"/>
            <a:ext cx="1400810" cy="238125"/>
            <a:chOff x="5420867" y="2464346"/>
            <a:chExt cx="1400810" cy="238125"/>
          </a:xfrm>
        </p:grpSpPr>
        <p:pic>
          <p:nvPicPr>
            <p:cNvPr id="15" name="object 15"/>
            <p:cNvPicPr/>
            <p:nvPr/>
          </p:nvPicPr>
          <p:blipFill>
            <a:blip r:embed="rId3" cstate="print"/>
            <a:stretch>
              <a:fillRect/>
            </a:stretch>
          </p:blipFill>
          <p:spPr>
            <a:xfrm>
              <a:off x="5420867" y="2464346"/>
              <a:ext cx="1400556" cy="237832"/>
            </a:xfrm>
            <a:prstGeom prst="rect">
              <a:avLst/>
            </a:prstGeom>
          </p:spPr>
        </p:pic>
        <p:sp>
          <p:nvSpPr>
            <p:cNvPr id="16" name="object 16"/>
            <p:cNvSpPr/>
            <p:nvPr/>
          </p:nvSpPr>
          <p:spPr>
            <a:xfrm>
              <a:off x="5542025" y="2527299"/>
              <a:ext cx="1242060" cy="78105"/>
            </a:xfrm>
            <a:custGeom>
              <a:avLst/>
              <a:gdLst/>
              <a:ahLst/>
              <a:cxnLst/>
              <a:rect l="l" t="t" r="r" b="b"/>
              <a:pathLst>
                <a:path w="1242059" h="78105">
                  <a:moveTo>
                    <a:pt x="77977" y="0"/>
                  </a:moveTo>
                  <a:lnTo>
                    <a:pt x="0" y="38354"/>
                  </a:lnTo>
                  <a:lnTo>
                    <a:pt x="77470" y="77724"/>
                  </a:lnTo>
                  <a:lnTo>
                    <a:pt x="77639" y="51766"/>
                  </a:lnTo>
                  <a:lnTo>
                    <a:pt x="64643" y="51688"/>
                  </a:lnTo>
                  <a:lnTo>
                    <a:pt x="64897" y="25781"/>
                  </a:lnTo>
                  <a:lnTo>
                    <a:pt x="77809" y="25781"/>
                  </a:lnTo>
                  <a:lnTo>
                    <a:pt x="77977" y="0"/>
                  </a:lnTo>
                  <a:close/>
                </a:path>
                <a:path w="1242059" h="78105">
                  <a:moveTo>
                    <a:pt x="77808" y="25857"/>
                  </a:moveTo>
                  <a:lnTo>
                    <a:pt x="77639" y="51766"/>
                  </a:lnTo>
                  <a:lnTo>
                    <a:pt x="1241552" y="58674"/>
                  </a:lnTo>
                  <a:lnTo>
                    <a:pt x="1241678" y="32766"/>
                  </a:lnTo>
                  <a:lnTo>
                    <a:pt x="77808" y="25857"/>
                  </a:lnTo>
                  <a:close/>
                </a:path>
                <a:path w="1242059" h="78105">
                  <a:moveTo>
                    <a:pt x="64897" y="25781"/>
                  </a:moveTo>
                  <a:lnTo>
                    <a:pt x="64643" y="51688"/>
                  </a:lnTo>
                  <a:lnTo>
                    <a:pt x="77639" y="51766"/>
                  </a:lnTo>
                  <a:lnTo>
                    <a:pt x="77808" y="25857"/>
                  </a:lnTo>
                  <a:lnTo>
                    <a:pt x="64897" y="25781"/>
                  </a:lnTo>
                  <a:close/>
                </a:path>
                <a:path w="1242059" h="78105">
                  <a:moveTo>
                    <a:pt x="77809" y="25781"/>
                  </a:moveTo>
                  <a:lnTo>
                    <a:pt x="64897" y="25781"/>
                  </a:lnTo>
                  <a:lnTo>
                    <a:pt x="77808" y="25857"/>
                  </a:lnTo>
                  <a:close/>
                </a:path>
              </a:pathLst>
            </a:custGeom>
            <a:solidFill>
              <a:srgbClr val="FBB64B"/>
            </a:solidFill>
          </p:spPr>
          <p:txBody>
            <a:bodyPr wrap="square" lIns="0" tIns="0" rIns="0" bIns="0" rtlCol="0"/>
            <a:lstStyle/>
            <a: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5284" y="2103881"/>
            <a:ext cx="4318635" cy="635000"/>
          </a:xfrm>
          <a:prstGeom prst="rect">
            <a:avLst/>
          </a:prstGeom>
        </p:spPr>
        <p:txBody>
          <a:bodyPr vert="horz" wrap="square" lIns="0" tIns="12065" rIns="0" bIns="0" rtlCol="0">
            <a:spAutoFit/>
          </a:bodyPr>
          <a:lstStyle/>
          <a:p>
            <a:pPr marL="12700">
              <a:lnSpc>
                <a:spcPct val="100000"/>
              </a:lnSpc>
              <a:spcBef>
                <a:spcPts val="95"/>
              </a:spcBef>
            </a:pPr>
            <a:r>
              <a:rPr sz="4000" spc="-20" dirty="0"/>
              <a:t>CloudWatch</a:t>
            </a:r>
            <a:r>
              <a:rPr sz="4000" spc="-60" dirty="0"/>
              <a:t> </a:t>
            </a:r>
            <a:r>
              <a:rPr sz="4000" spc="-10" dirty="0"/>
              <a:t>Logs</a:t>
            </a:r>
            <a:endParaRPr sz="4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2082800" cy="452120"/>
          </a:xfrm>
          <a:prstGeom prst="rect">
            <a:avLst/>
          </a:prstGeom>
        </p:spPr>
        <p:txBody>
          <a:bodyPr vert="horz" wrap="square" lIns="0" tIns="12065" rIns="0" bIns="0" rtlCol="0">
            <a:spAutoFit/>
          </a:bodyPr>
          <a:lstStyle/>
          <a:p>
            <a:pPr marL="12700">
              <a:lnSpc>
                <a:spcPct val="100000"/>
              </a:lnSpc>
              <a:spcBef>
                <a:spcPts val="95"/>
              </a:spcBef>
            </a:pPr>
            <a:r>
              <a:rPr spc="-5" dirty="0"/>
              <a:t>Clo</a:t>
            </a:r>
            <a:r>
              <a:rPr spc="-15" dirty="0"/>
              <a:t>u</a:t>
            </a:r>
            <a:r>
              <a:rPr spc="-5" dirty="0"/>
              <a:t>d</a:t>
            </a:r>
            <a:r>
              <a:rPr spc="-120" dirty="0"/>
              <a:t>W</a:t>
            </a:r>
            <a:r>
              <a:rPr spc="-5" dirty="0"/>
              <a:t>a</a:t>
            </a:r>
            <a:r>
              <a:rPr dirty="0"/>
              <a:t>t</a:t>
            </a:r>
            <a:r>
              <a:rPr spc="-5" dirty="0"/>
              <a:t>ch</a:t>
            </a:r>
          </a:p>
        </p:txBody>
      </p:sp>
      <p:sp>
        <p:nvSpPr>
          <p:cNvPr id="3" name="object 3"/>
          <p:cNvSpPr/>
          <p:nvPr/>
        </p:nvSpPr>
        <p:spPr>
          <a:xfrm>
            <a:off x="482345" y="973074"/>
            <a:ext cx="2312035" cy="3467100"/>
          </a:xfrm>
          <a:custGeom>
            <a:avLst/>
            <a:gdLst/>
            <a:ahLst/>
            <a:cxnLst/>
            <a:rect l="l" t="t" r="r" b="b"/>
            <a:pathLst>
              <a:path w="2312035" h="3467100">
                <a:moveTo>
                  <a:pt x="0" y="385317"/>
                </a:moveTo>
                <a:lnTo>
                  <a:pt x="3002" y="336975"/>
                </a:lnTo>
                <a:lnTo>
                  <a:pt x="11768" y="290427"/>
                </a:lnTo>
                <a:lnTo>
                  <a:pt x="25936" y="246034"/>
                </a:lnTo>
                <a:lnTo>
                  <a:pt x="45146" y="204157"/>
                </a:lnTo>
                <a:lnTo>
                  <a:pt x="69037" y="165157"/>
                </a:lnTo>
                <a:lnTo>
                  <a:pt x="97246" y="129394"/>
                </a:lnTo>
                <a:lnTo>
                  <a:pt x="129414" y="97229"/>
                </a:lnTo>
                <a:lnTo>
                  <a:pt x="165179" y="69023"/>
                </a:lnTo>
                <a:lnTo>
                  <a:pt x="204179" y="45136"/>
                </a:lnTo>
                <a:lnTo>
                  <a:pt x="246055" y="25930"/>
                </a:lnTo>
                <a:lnTo>
                  <a:pt x="290443" y="11765"/>
                </a:lnTo>
                <a:lnTo>
                  <a:pt x="336985" y="3001"/>
                </a:lnTo>
                <a:lnTo>
                  <a:pt x="385317" y="0"/>
                </a:lnTo>
                <a:lnTo>
                  <a:pt x="1926590" y="0"/>
                </a:lnTo>
                <a:lnTo>
                  <a:pt x="1974932" y="3001"/>
                </a:lnTo>
                <a:lnTo>
                  <a:pt x="2021480" y="11765"/>
                </a:lnTo>
                <a:lnTo>
                  <a:pt x="2065873" y="25930"/>
                </a:lnTo>
                <a:lnTo>
                  <a:pt x="2107750" y="45136"/>
                </a:lnTo>
                <a:lnTo>
                  <a:pt x="2146750" y="69023"/>
                </a:lnTo>
                <a:lnTo>
                  <a:pt x="2182513" y="97229"/>
                </a:lnTo>
                <a:lnTo>
                  <a:pt x="2214678" y="129394"/>
                </a:lnTo>
                <a:lnTo>
                  <a:pt x="2242884" y="165157"/>
                </a:lnTo>
                <a:lnTo>
                  <a:pt x="2266771" y="204157"/>
                </a:lnTo>
                <a:lnTo>
                  <a:pt x="2285977" y="246034"/>
                </a:lnTo>
                <a:lnTo>
                  <a:pt x="2300142" y="290427"/>
                </a:lnTo>
                <a:lnTo>
                  <a:pt x="2308906" y="336975"/>
                </a:lnTo>
                <a:lnTo>
                  <a:pt x="2311908" y="385317"/>
                </a:lnTo>
                <a:lnTo>
                  <a:pt x="2311908" y="3081769"/>
                </a:lnTo>
                <a:lnTo>
                  <a:pt x="2308906" y="3130104"/>
                </a:lnTo>
                <a:lnTo>
                  <a:pt x="2300142" y="3176648"/>
                </a:lnTo>
                <a:lnTo>
                  <a:pt x="2285977" y="3221039"/>
                </a:lnTo>
                <a:lnTo>
                  <a:pt x="2266771" y="3262915"/>
                </a:lnTo>
                <a:lnTo>
                  <a:pt x="2242884" y="3301917"/>
                </a:lnTo>
                <a:lnTo>
                  <a:pt x="2214678" y="3337683"/>
                </a:lnTo>
                <a:lnTo>
                  <a:pt x="2182513" y="3369851"/>
                </a:lnTo>
                <a:lnTo>
                  <a:pt x="2146750" y="3398062"/>
                </a:lnTo>
                <a:lnTo>
                  <a:pt x="2107750" y="3421952"/>
                </a:lnTo>
                <a:lnTo>
                  <a:pt x="2065873" y="3441163"/>
                </a:lnTo>
                <a:lnTo>
                  <a:pt x="2021480" y="3455331"/>
                </a:lnTo>
                <a:lnTo>
                  <a:pt x="1974932" y="3464097"/>
                </a:lnTo>
                <a:lnTo>
                  <a:pt x="1926590" y="3467100"/>
                </a:lnTo>
                <a:lnTo>
                  <a:pt x="385317" y="3467100"/>
                </a:lnTo>
                <a:lnTo>
                  <a:pt x="336985" y="3464097"/>
                </a:lnTo>
                <a:lnTo>
                  <a:pt x="290443" y="3455331"/>
                </a:lnTo>
                <a:lnTo>
                  <a:pt x="246055" y="3441163"/>
                </a:lnTo>
                <a:lnTo>
                  <a:pt x="204179" y="3421952"/>
                </a:lnTo>
                <a:lnTo>
                  <a:pt x="165179" y="3398062"/>
                </a:lnTo>
                <a:lnTo>
                  <a:pt x="129414" y="3369851"/>
                </a:lnTo>
                <a:lnTo>
                  <a:pt x="97246" y="3337683"/>
                </a:lnTo>
                <a:lnTo>
                  <a:pt x="69037" y="3301917"/>
                </a:lnTo>
                <a:lnTo>
                  <a:pt x="45146" y="3262915"/>
                </a:lnTo>
                <a:lnTo>
                  <a:pt x="25936" y="3221039"/>
                </a:lnTo>
                <a:lnTo>
                  <a:pt x="11768" y="3176648"/>
                </a:lnTo>
                <a:lnTo>
                  <a:pt x="3002" y="3130104"/>
                </a:lnTo>
                <a:lnTo>
                  <a:pt x="0" y="3081769"/>
                </a:lnTo>
                <a:lnTo>
                  <a:pt x="0" y="385317"/>
                </a:lnTo>
                <a:close/>
              </a:path>
              <a:path w="2312035" h="3467100">
                <a:moveTo>
                  <a:pt x="288036" y="345948"/>
                </a:moveTo>
                <a:lnTo>
                  <a:pt x="296419" y="304419"/>
                </a:lnTo>
                <a:lnTo>
                  <a:pt x="319282" y="270510"/>
                </a:lnTo>
                <a:lnTo>
                  <a:pt x="353192" y="247650"/>
                </a:lnTo>
                <a:lnTo>
                  <a:pt x="394716" y="239267"/>
                </a:lnTo>
                <a:lnTo>
                  <a:pt x="1918716" y="239267"/>
                </a:lnTo>
                <a:lnTo>
                  <a:pt x="1960245" y="247650"/>
                </a:lnTo>
                <a:lnTo>
                  <a:pt x="1994154" y="270510"/>
                </a:lnTo>
                <a:lnTo>
                  <a:pt x="2017014" y="304419"/>
                </a:lnTo>
                <a:lnTo>
                  <a:pt x="2025396" y="345948"/>
                </a:lnTo>
                <a:lnTo>
                  <a:pt x="2025396" y="772667"/>
                </a:lnTo>
                <a:lnTo>
                  <a:pt x="2017014" y="814197"/>
                </a:lnTo>
                <a:lnTo>
                  <a:pt x="1994154" y="848106"/>
                </a:lnTo>
                <a:lnTo>
                  <a:pt x="1960245" y="870966"/>
                </a:lnTo>
                <a:lnTo>
                  <a:pt x="1918716" y="879348"/>
                </a:lnTo>
                <a:lnTo>
                  <a:pt x="394716" y="879348"/>
                </a:lnTo>
                <a:lnTo>
                  <a:pt x="353192" y="870965"/>
                </a:lnTo>
                <a:lnTo>
                  <a:pt x="319282" y="848105"/>
                </a:lnTo>
                <a:lnTo>
                  <a:pt x="296419" y="814196"/>
                </a:lnTo>
                <a:lnTo>
                  <a:pt x="288036" y="772667"/>
                </a:lnTo>
                <a:lnTo>
                  <a:pt x="288036" y="345948"/>
                </a:lnTo>
                <a:close/>
              </a:path>
            </a:pathLst>
          </a:custGeom>
          <a:ln w="25908">
            <a:solidFill>
              <a:srgbClr val="464646"/>
            </a:solidFill>
          </a:ln>
        </p:spPr>
        <p:txBody>
          <a:bodyPr wrap="square" lIns="0" tIns="0" rIns="0" bIns="0" rtlCol="0"/>
          <a:lstStyle/>
          <a:p>
            <a:endParaRPr/>
          </a:p>
        </p:txBody>
      </p:sp>
      <p:sp>
        <p:nvSpPr>
          <p:cNvPr id="4" name="object 4"/>
          <p:cNvSpPr txBox="1"/>
          <p:nvPr/>
        </p:nvSpPr>
        <p:spPr>
          <a:xfrm>
            <a:off x="1402461" y="1376553"/>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sp>
        <p:nvSpPr>
          <p:cNvPr id="5" name="object 5"/>
          <p:cNvSpPr/>
          <p:nvPr/>
        </p:nvSpPr>
        <p:spPr>
          <a:xfrm>
            <a:off x="770381" y="2000250"/>
            <a:ext cx="1737360" cy="640080"/>
          </a:xfrm>
          <a:custGeom>
            <a:avLst/>
            <a:gdLst/>
            <a:ahLst/>
            <a:cxnLst/>
            <a:rect l="l" t="t" r="r" b="b"/>
            <a:pathLst>
              <a:path w="1737360" h="640080">
                <a:moveTo>
                  <a:pt x="0" y="106680"/>
                </a:moveTo>
                <a:lnTo>
                  <a:pt x="8383" y="65150"/>
                </a:lnTo>
                <a:lnTo>
                  <a:pt x="31246" y="31242"/>
                </a:lnTo>
                <a:lnTo>
                  <a:pt x="65156" y="8381"/>
                </a:lnTo>
                <a:lnTo>
                  <a:pt x="106680" y="0"/>
                </a:lnTo>
                <a:lnTo>
                  <a:pt x="1630680" y="0"/>
                </a:lnTo>
                <a:lnTo>
                  <a:pt x="1672208" y="8381"/>
                </a:lnTo>
                <a:lnTo>
                  <a:pt x="1706118" y="31242"/>
                </a:lnTo>
                <a:lnTo>
                  <a:pt x="1728978" y="65150"/>
                </a:lnTo>
                <a:lnTo>
                  <a:pt x="1737360" y="106680"/>
                </a:lnTo>
                <a:lnTo>
                  <a:pt x="1737360" y="533400"/>
                </a:lnTo>
                <a:lnTo>
                  <a:pt x="1728978" y="574928"/>
                </a:lnTo>
                <a:lnTo>
                  <a:pt x="1706118" y="608838"/>
                </a:lnTo>
                <a:lnTo>
                  <a:pt x="1672208" y="631698"/>
                </a:lnTo>
                <a:lnTo>
                  <a:pt x="1630680" y="640080"/>
                </a:lnTo>
                <a:lnTo>
                  <a:pt x="106680" y="640080"/>
                </a:lnTo>
                <a:lnTo>
                  <a:pt x="65156" y="631698"/>
                </a:lnTo>
                <a:lnTo>
                  <a:pt x="31246" y="608838"/>
                </a:lnTo>
                <a:lnTo>
                  <a:pt x="8383" y="574928"/>
                </a:lnTo>
                <a:lnTo>
                  <a:pt x="0" y="533400"/>
                </a:lnTo>
                <a:lnTo>
                  <a:pt x="0" y="106680"/>
                </a:lnTo>
                <a:close/>
              </a:path>
            </a:pathLst>
          </a:custGeom>
          <a:ln w="25908">
            <a:solidFill>
              <a:srgbClr val="464646"/>
            </a:solidFill>
          </a:ln>
        </p:spPr>
        <p:txBody>
          <a:bodyPr wrap="square" lIns="0" tIns="0" rIns="0" bIns="0" rtlCol="0"/>
          <a:lstStyle/>
          <a:p>
            <a:endParaRPr/>
          </a:p>
        </p:txBody>
      </p:sp>
      <p:sp>
        <p:nvSpPr>
          <p:cNvPr id="6" name="object 6"/>
          <p:cNvSpPr txBox="1"/>
          <p:nvPr/>
        </p:nvSpPr>
        <p:spPr>
          <a:xfrm>
            <a:off x="1484757" y="2163902"/>
            <a:ext cx="304800"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S3</a:t>
            </a:r>
            <a:endParaRPr sz="1800">
              <a:latin typeface="Arial MT"/>
              <a:cs typeface="Arial MT"/>
            </a:endParaRPr>
          </a:p>
        </p:txBody>
      </p:sp>
      <p:sp>
        <p:nvSpPr>
          <p:cNvPr id="7" name="object 7"/>
          <p:cNvSpPr/>
          <p:nvPr/>
        </p:nvSpPr>
        <p:spPr>
          <a:xfrm>
            <a:off x="770381" y="3522726"/>
            <a:ext cx="1737360" cy="640080"/>
          </a:xfrm>
          <a:custGeom>
            <a:avLst/>
            <a:gdLst/>
            <a:ahLst/>
            <a:cxnLst/>
            <a:rect l="l" t="t" r="r" b="b"/>
            <a:pathLst>
              <a:path w="1737360" h="640079">
                <a:moveTo>
                  <a:pt x="0" y="106680"/>
                </a:moveTo>
                <a:lnTo>
                  <a:pt x="8383" y="65151"/>
                </a:lnTo>
                <a:lnTo>
                  <a:pt x="31246" y="31242"/>
                </a:lnTo>
                <a:lnTo>
                  <a:pt x="65156" y="8381"/>
                </a:lnTo>
                <a:lnTo>
                  <a:pt x="106680" y="0"/>
                </a:lnTo>
                <a:lnTo>
                  <a:pt x="1630680" y="0"/>
                </a:lnTo>
                <a:lnTo>
                  <a:pt x="1672208" y="8381"/>
                </a:lnTo>
                <a:lnTo>
                  <a:pt x="1706118" y="31241"/>
                </a:lnTo>
                <a:lnTo>
                  <a:pt x="1728978" y="65150"/>
                </a:lnTo>
                <a:lnTo>
                  <a:pt x="1737360" y="106680"/>
                </a:lnTo>
                <a:lnTo>
                  <a:pt x="1737360" y="533400"/>
                </a:lnTo>
                <a:lnTo>
                  <a:pt x="1728978" y="574923"/>
                </a:lnTo>
                <a:lnTo>
                  <a:pt x="1706118" y="608833"/>
                </a:lnTo>
                <a:lnTo>
                  <a:pt x="1672208" y="631696"/>
                </a:lnTo>
                <a:lnTo>
                  <a:pt x="1630680" y="640080"/>
                </a:lnTo>
                <a:lnTo>
                  <a:pt x="106680" y="640080"/>
                </a:lnTo>
                <a:lnTo>
                  <a:pt x="65156" y="631696"/>
                </a:lnTo>
                <a:lnTo>
                  <a:pt x="31246" y="608833"/>
                </a:lnTo>
                <a:lnTo>
                  <a:pt x="8383" y="574923"/>
                </a:lnTo>
                <a:lnTo>
                  <a:pt x="0" y="533400"/>
                </a:lnTo>
                <a:lnTo>
                  <a:pt x="0" y="106680"/>
                </a:lnTo>
                <a:close/>
              </a:path>
            </a:pathLst>
          </a:custGeom>
          <a:ln w="25908">
            <a:solidFill>
              <a:srgbClr val="464646"/>
            </a:solidFill>
          </a:ln>
        </p:spPr>
        <p:txBody>
          <a:bodyPr wrap="square" lIns="0" tIns="0" rIns="0" bIns="0" rtlCol="0"/>
          <a:lstStyle/>
          <a:p>
            <a:endParaRPr/>
          </a:p>
        </p:txBody>
      </p:sp>
      <p:sp>
        <p:nvSpPr>
          <p:cNvPr id="8" name="object 8"/>
          <p:cNvSpPr txBox="1"/>
          <p:nvPr/>
        </p:nvSpPr>
        <p:spPr>
          <a:xfrm>
            <a:off x="1231798" y="3687876"/>
            <a:ext cx="8121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u</a:t>
            </a:r>
            <a:r>
              <a:rPr sz="1800" dirty="0">
                <a:solidFill>
                  <a:srgbClr val="464646"/>
                </a:solidFill>
                <a:latin typeface="Arial MT"/>
                <a:cs typeface="Arial MT"/>
              </a:rPr>
              <a:t>stom</a:t>
            </a:r>
            <a:endParaRPr sz="1800">
              <a:latin typeface="Arial MT"/>
              <a:cs typeface="Arial MT"/>
            </a:endParaRPr>
          </a:p>
        </p:txBody>
      </p:sp>
      <p:sp>
        <p:nvSpPr>
          <p:cNvPr id="9" name="object 9"/>
          <p:cNvSpPr/>
          <p:nvPr/>
        </p:nvSpPr>
        <p:spPr>
          <a:xfrm>
            <a:off x="770381" y="2736342"/>
            <a:ext cx="1737360" cy="640080"/>
          </a:xfrm>
          <a:custGeom>
            <a:avLst/>
            <a:gdLst/>
            <a:ahLst/>
            <a:cxnLst/>
            <a:rect l="l" t="t" r="r" b="b"/>
            <a:pathLst>
              <a:path w="1737360" h="640079">
                <a:moveTo>
                  <a:pt x="0" y="106680"/>
                </a:moveTo>
                <a:lnTo>
                  <a:pt x="8383" y="65150"/>
                </a:lnTo>
                <a:lnTo>
                  <a:pt x="31246" y="31242"/>
                </a:lnTo>
                <a:lnTo>
                  <a:pt x="65156" y="8381"/>
                </a:lnTo>
                <a:lnTo>
                  <a:pt x="106680" y="0"/>
                </a:lnTo>
                <a:lnTo>
                  <a:pt x="1630680" y="0"/>
                </a:lnTo>
                <a:lnTo>
                  <a:pt x="1672208" y="8381"/>
                </a:lnTo>
                <a:lnTo>
                  <a:pt x="1706118" y="31242"/>
                </a:lnTo>
                <a:lnTo>
                  <a:pt x="1728978" y="65150"/>
                </a:lnTo>
                <a:lnTo>
                  <a:pt x="1737360" y="106680"/>
                </a:lnTo>
                <a:lnTo>
                  <a:pt x="1737360" y="533400"/>
                </a:lnTo>
                <a:lnTo>
                  <a:pt x="1728978" y="574928"/>
                </a:lnTo>
                <a:lnTo>
                  <a:pt x="1706118" y="608838"/>
                </a:lnTo>
                <a:lnTo>
                  <a:pt x="1672208" y="631698"/>
                </a:lnTo>
                <a:lnTo>
                  <a:pt x="1630680" y="640080"/>
                </a:lnTo>
                <a:lnTo>
                  <a:pt x="106680" y="640080"/>
                </a:lnTo>
                <a:lnTo>
                  <a:pt x="65156" y="631698"/>
                </a:lnTo>
                <a:lnTo>
                  <a:pt x="31246" y="608838"/>
                </a:lnTo>
                <a:lnTo>
                  <a:pt x="8383" y="574928"/>
                </a:lnTo>
                <a:lnTo>
                  <a:pt x="0" y="533400"/>
                </a:lnTo>
                <a:lnTo>
                  <a:pt x="0" y="106680"/>
                </a:lnTo>
                <a:close/>
              </a:path>
            </a:pathLst>
          </a:custGeom>
          <a:ln w="25908">
            <a:solidFill>
              <a:srgbClr val="464646"/>
            </a:solidFill>
          </a:ln>
        </p:spPr>
        <p:txBody>
          <a:bodyPr wrap="square" lIns="0" tIns="0" rIns="0" bIns="0" rtlCol="0"/>
          <a:lstStyle/>
          <a:p>
            <a:endParaRPr/>
          </a:p>
        </p:txBody>
      </p:sp>
      <p:sp>
        <p:nvSpPr>
          <p:cNvPr id="10" name="object 10"/>
          <p:cNvSpPr txBox="1"/>
          <p:nvPr/>
        </p:nvSpPr>
        <p:spPr>
          <a:xfrm>
            <a:off x="1079398" y="2763773"/>
            <a:ext cx="1115695" cy="574675"/>
          </a:xfrm>
          <a:prstGeom prst="rect">
            <a:avLst/>
          </a:prstGeom>
        </p:spPr>
        <p:txBody>
          <a:bodyPr vert="horz" wrap="square" lIns="0" tIns="12700" rIns="0" bIns="0" rtlCol="0">
            <a:spAutoFit/>
          </a:bodyPr>
          <a:lstStyle/>
          <a:p>
            <a:pPr algn="ctr">
              <a:lnSpc>
                <a:spcPct val="100000"/>
              </a:lnSpc>
              <a:spcBef>
                <a:spcPts val="100"/>
              </a:spcBef>
            </a:pPr>
            <a:r>
              <a:rPr sz="1800" spc="-25" dirty="0">
                <a:solidFill>
                  <a:srgbClr val="464646"/>
                </a:solidFill>
                <a:latin typeface="Arial MT"/>
                <a:cs typeface="Arial MT"/>
              </a:rPr>
              <a:t>AWS</a:t>
            </a:r>
            <a:endParaRPr sz="1800">
              <a:latin typeface="Arial MT"/>
              <a:cs typeface="Arial MT"/>
            </a:endParaRPr>
          </a:p>
          <a:p>
            <a:pPr algn="ctr">
              <a:lnSpc>
                <a:spcPct val="100000"/>
              </a:lnSpc>
            </a:pPr>
            <a:r>
              <a:rPr sz="1800" spc="-5" dirty="0">
                <a:solidFill>
                  <a:srgbClr val="464646"/>
                </a:solidFill>
                <a:latin typeface="Arial MT"/>
                <a:cs typeface="Arial MT"/>
              </a:rPr>
              <a:t>Resources</a:t>
            </a:r>
            <a:endParaRPr sz="1800">
              <a:latin typeface="Arial MT"/>
              <a:cs typeface="Arial MT"/>
            </a:endParaRPr>
          </a:p>
        </p:txBody>
      </p:sp>
      <p:sp>
        <p:nvSpPr>
          <p:cNvPr id="11" name="object 11"/>
          <p:cNvSpPr/>
          <p:nvPr/>
        </p:nvSpPr>
        <p:spPr>
          <a:xfrm>
            <a:off x="3682746" y="2285238"/>
            <a:ext cx="1854835" cy="843280"/>
          </a:xfrm>
          <a:custGeom>
            <a:avLst/>
            <a:gdLst/>
            <a:ahLst/>
            <a:cxnLst/>
            <a:rect l="l" t="t" r="r" b="b"/>
            <a:pathLst>
              <a:path w="1854835" h="843280">
                <a:moveTo>
                  <a:pt x="0" y="140462"/>
                </a:moveTo>
                <a:lnTo>
                  <a:pt x="7158" y="96056"/>
                </a:lnTo>
                <a:lnTo>
                  <a:pt x="27094" y="57497"/>
                </a:lnTo>
                <a:lnTo>
                  <a:pt x="57497" y="27094"/>
                </a:lnTo>
                <a:lnTo>
                  <a:pt x="96056" y="7158"/>
                </a:lnTo>
                <a:lnTo>
                  <a:pt x="140462" y="0"/>
                </a:lnTo>
                <a:lnTo>
                  <a:pt x="1714245" y="0"/>
                </a:lnTo>
                <a:lnTo>
                  <a:pt x="1758651" y="7158"/>
                </a:lnTo>
                <a:lnTo>
                  <a:pt x="1797210" y="27094"/>
                </a:lnTo>
                <a:lnTo>
                  <a:pt x="1827613" y="57497"/>
                </a:lnTo>
                <a:lnTo>
                  <a:pt x="1847549" y="96056"/>
                </a:lnTo>
                <a:lnTo>
                  <a:pt x="1854707" y="140462"/>
                </a:lnTo>
                <a:lnTo>
                  <a:pt x="1854707" y="702310"/>
                </a:lnTo>
                <a:lnTo>
                  <a:pt x="1847549" y="746715"/>
                </a:lnTo>
                <a:lnTo>
                  <a:pt x="1827613" y="785274"/>
                </a:lnTo>
                <a:lnTo>
                  <a:pt x="1797210" y="815677"/>
                </a:lnTo>
                <a:lnTo>
                  <a:pt x="1758651" y="835613"/>
                </a:lnTo>
                <a:lnTo>
                  <a:pt x="1714245" y="842772"/>
                </a:lnTo>
                <a:lnTo>
                  <a:pt x="140462" y="842772"/>
                </a:lnTo>
                <a:lnTo>
                  <a:pt x="96056" y="835613"/>
                </a:lnTo>
                <a:lnTo>
                  <a:pt x="57497" y="815677"/>
                </a:lnTo>
                <a:lnTo>
                  <a:pt x="27094" y="785274"/>
                </a:lnTo>
                <a:lnTo>
                  <a:pt x="7158" y="746715"/>
                </a:lnTo>
                <a:lnTo>
                  <a:pt x="0" y="702310"/>
                </a:lnTo>
                <a:lnTo>
                  <a:pt x="0" y="140462"/>
                </a:lnTo>
                <a:close/>
              </a:path>
            </a:pathLst>
          </a:custGeom>
          <a:ln w="25908">
            <a:solidFill>
              <a:srgbClr val="464646"/>
            </a:solidFill>
          </a:ln>
        </p:spPr>
        <p:txBody>
          <a:bodyPr wrap="square" lIns="0" tIns="0" rIns="0" bIns="0" rtlCol="0"/>
          <a:lstStyle/>
          <a:p>
            <a:endParaRPr/>
          </a:p>
        </p:txBody>
      </p:sp>
      <p:sp>
        <p:nvSpPr>
          <p:cNvPr id="12" name="object 12"/>
          <p:cNvSpPr txBox="1"/>
          <p:nvPr/>
        </p:nvSpPr>
        <p:spPr>
          <a:xfrm>
            <a:off x="3980434" y="2550667"/>
            <a:ext cx="125920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l</a:t>
            </a:r>
            <a:r>
              <a:rPr sz="1800" spc="-5" dirty="0">
                <a:solidFill>
                  <a:srgbClr val="464646"/>
                </a:solidFill>
                <a:latin typeface="Arial MT"/>
                <a:cs typeface="Arial MT"/>
              </a:rPr>
              <a:t>o</a:t>
            </a:r>
            <a:r>
              <a:rPr sz="1800" spc="-15" dirty="0">
                <a:solidFill>
                  <a:srgbClr val="464646"/>
                </a:solidFill>
                <a:latin typeface="Arial MT"/>
                <a:cs typeface="Arial MT"/>
              </a:rPr>
              <a:t>u</a:t>
            </a:r>
            <a:r>
              <a:rPr sz="1800" dirty="0">
                <a:solidFill>
                  <a:srgbClr val="464646"/>
                </a:solidFill>
                <a:latin typeface="Arial MT"/>
                <a:cs typeface="Arial MT"/>
              </a:rPr>
              <a:t>d</a:t>
            </a:r>
            <a:r>
              <a:rPr sz="1800" spc="-75" dirty="0">
                <a:solidFill>
                  <a:srgbClr val="464646"/>
                </a:solidFill>
                <a:latin typeface="Arial MT"/>
                <a:cs typeface="Arial MT"/>
              </a:rPr>
              <a:t>W</a:t>
            </a:r>
            <a:r>
              <a:rPr sz="1800" dirty="0">
                <a:solidFill>
                  <a:srgbClr val="464646"/>
                </a:solidFill>
                <a:latin typeface="Arial MT"/>
                <a:cs typeface="Arial MT"/>
              </a:rPr>
              <a:t>atch</a:t>
            </a:r>
            <a:endParaRPr sz="1800">
              <a:latin typeface="Arial MT"/>
              <a:cs typeface="Arial MT"/>
            </a:endParaRPr>
          </a:p>
        </p:txBody>
      </p:sp>
      <p:grpSp>
        <p:nvGrpSpPr>
          <p:cNvPr id="13" name="object 13"/>
          <p:cNvGrpSpPr/>
          <p:nvPr/>
        </p:nvGrpSpPr>
        <p:grpSpPr>
          <a:xfrm>
            <a:off x="2750820" y="960056"/>
            <a:ext cx="6201410" cy="3493135"/>
            <a:chOff x="2750820" y="960056"/>
            <a:chExt cx="6201410" cy="3493135"/>
          </a:xfrm>
        </p:grpSpPr>
        <p:pic>
          <p:nvPicPr>
            <p:cNvPr id="14" name="object 14"/>
            <p:cNvPicPr/>
            <p:nvPr/>
          </p:nvPicPr>
          <p:blipFill>
            <a:blip r:embed="rId3" cstate="print"/>
            <a:stretch>
              <a:fillRect/>
            </a:stretch>
          </p:blipFill>
          <p:spPr>
            <a:xfrm>
              <a:off x="2750820" y="2604554"/>
              <a:ext cx="1048499" cy="237832"/>
            </a:xfrm>
            <a:prstGeom prst="rect">
              <a:avLst/>
            </a:prstGeom>
          </p:spPr>
        </p:pic>
        <p:sp>
          <p:nvSpPr>
            <p:cNvPr id="15" name="object 15"/>
            <p:cNvSpPr/>
            <p:nvPr/>
          </p:nvSpPr>
          <p:spPr>
            <a:xfrm>
              <a:off x="2794254" y="2667000"/>
              <a:ext cx="889635" cy="78105"/>
            </a:xfrm>
            <a:custGeom>
              <a:avLst/>
              <a:gdLst/>
              <a:ahLst/>
              <a:cxnLst/>
              <a:rect l="l" t="t" r="r" b="b"/>
              <a:pathLst>
                <a:path w="889635" h="78105">
                  <a:moveTo>
                    <a:pt x="863599" y="25907"/>
                  </a:moveTo>
                  <a:lnTo>
                    <a:pt x="824737" y="25907"/>
                  </a:lnTo>
                  <a:lnTo>
                    <a:pt x="824737" y="51816"/>
                  </a:lnTo>
                  <a:lnTo>
                    <a:pt x="811783" y="51819"/>
                  </a:lnTo>
                  <a:lnTo>
                    <a:pt x="811783" y="77724"/>
                  </a:lnTo>
                  <a:lnTo>
                    <a:pt x="889507" y="38862"/>
                  </a:lnTo>
                  <a:lnTo>
                    <a:pt x="863599" y="25907"/>
                  </a:lnTo>
                  <a:close/>
                </a:path>
                <a:path w="889635" h="78105">
                  <a:moveTo>
                    <a:pt x="811783" y="25911"/>
                  </a:moveTo>
                  <a:lnTo>
                    <a:pt x="0" y="26162"/>
                  </a:lnTo>
                  <a:lnTo>
                    <a:pt x="0" y="52069"/>
                  </a:lnTo>
                  <a:lnTo>
                    <a:pt x="811783" y="51819"/>
                  </a:lnTo>
                  <a:lnTo>
                    <a:pt x="811783" y="25911"/>
                  </a:lnTo>
                  <a:close/>
                </a:path>
                <a:path w="889635" h="78105">
                  <a:moveTo>
                    <a:pt x="824737" y="25907"/>
                  </a:moveTo>
                  <a:lnTo>
                    <a:pt x="811783" y="25911"/>
                  </a:lnTo>
                  <a:lnTo>
                    <a:pt x="811783" y="51819"/>
                  </a:lnTo>
                  <a:lnTo>
                    <a:pt x="824737" y="51816"/>
                  </a:lnTo>
                  <a:lnTo>
                    <a:pt x="824737" y="25907"/>
                  </a:lnTo>
                  <a:close/>
                </a:path>
                <a:path w="889635" h="78105">
                  <a:moveTo>
                    <a:pt x="811783" y="0"/>
                  </a:moveTo>
                  <a:lnTo>
                    <a:pt x="811783" y="25911"/>
                  </a:lnTo>
                  <a:lnTo>
                    <a:pt x="863599" y="25907"/>
                  </a:lnTo>
                  <a:lnTo>
                    <a:pt x="811783" y="0"/>
                  </a:lnTo>
                  <a:close/>
                </a:path>
              </a:pathLst>
            </a:custGeom>
            <a:solidFill>
              <a:srgbClr val="464646"/>
            </a:solidFill>
          </p:spPr>
          <p:txBody>
            <a:bodyPr wrap="square" lIns="0" tIns="0" rIns="0" bIns="0" rtlCol="0"/>
            <a:lstStyle/>
            <a:p>
              <a:endParaRPr/>
            </a:p>
          </p:txBody>
        </p:sp>
        <p:sp>
          <p:nvSpPr>
            <p:cNvPr id="16" name="object 16"/>
            <p:cNvSpPr/>
            <p:nvPr/>
          </p:nvSpPr>
          <p:spPr>
            <a:xfrm>
              <a:off x="6628638" y="973074"/>
              <a:ext cx="2310765" cy="3467100"/>
            </a:xfrm>
            <a:custGeom>
              <a:avLst/>
              <a:gdLst/>
              <a:ahLst/>
              <a:cxnLst/>
              <a:rect l="l" t="t" r="r" b="b"/>
              <a:pathLst>
                <a:path w="2310765" h="3467100">
                  <a:moveTo>
                    <a:pt x="0" y="385063"/>
                  </a:moveTo>
                  <a:lnTo>
                    <a:pt x="2999" y="336750"/>
                  </a:lnTo>
                  <a:lnTo>
                    <a:pt x="11756" y="290231"/>
                  </a:lnTo>
                  <a:lnTo>
                    <a:pt x="25911" y="245866"/>
                  </a:lnTo>
                  <a:lnTo>
                    <a:pt x="45104" y="204016"/>
                  </a:lnTo>
                  <a:lnTo>
                    <a:pt x="68974" y="165042"/>
                  </a:lnTo>
                  <a:lnTo>
                    <a:pt x="97160" y="129303"/>
                  </a:lnTo>
                  <a:lnTo>
                    <a:pt x="129303" y="97160"/>
                  </a:lnTo>
                  <a:lnTo>
                    <a:pt x="165042" y="68974"/>
                  </a:lnTo>
                  <a:lnTo>
                    <a:pt x="204016" y="45104"/>
                  </a:lnTo>
                  <a:lnTo>
                    <a:pt x="245866" y="25911"/>
                  </a:lnTo>
                  <a:lnTo>
                    <a:pt x="290231" y="11756"/>
                  </a:lnTo>
                  <a:lnTo>
                    <a:pt x="336750" y="2999"/>
                  </a:lnTo>
                  <a:lnTo>
                    <a:pt x="385063" y="0"/>
                  </a:lnTo>
                  <a:lnTo>
                    <a:pt x="1925319" y="0"/>
                  </a:lnTo>
                  <a:lnTo>
                    <a:pt x="1973608" y="2999"/>
                  </a:lnTo>
                  <a:lnTo>
                    <a:pt x="2020110" y="11756"/>
                  </a:lnTo>
                  <a:lnTo>
                    <a:pt x="2064465" y="25911"/>
                  </a:lnTo>
                  <a:lnTo>
                    <a:pt x="2106310" y="45104"/>
                  </a:lnTo>
                  <a:lnTo>
                    <a:pt x="2145286" y="68974"/>
                  </a:lnTo>
                  <a:lnTo>
                    <a:pt x="2181029" y="97160"/>
                  </a:lnTo>
                  <a:lnTo>
                    <a:pt x="2213179" y="129303"/>
                  </a:lnTo>
                  <a:lnTo>
                    <a:pt x="2241375" y="165042"/>
                  </a:lnTo>
                  <a:lnTo>
                    <a:pt x="2265254" y="204016"/>
                  </a:lnTo>
                  <a:lnTo>
                    <a:pt x="2284456" y="245866"/>
                  </a:lnTo>
                  <a:lnTo>
                    <a:pt x="2298619" y="290231"/>
                  </a:lnTo>
                  <a:lnTo>
                    <a:pt x="2307382" y="336750"/>
                  </a:lnTo>
                  <a:lnTo>
                    <a:pt x="2310383" y="385063"/>
                  </a:lnTo>
                  <a:lnTo>
                    <a:pt x="2310383" y="3082023"/>
                  </a:lnTo>
                  <a:lnTo>
                    <a:pt x="2307382" y="3130326"/>
                  </a:lnTo>
                  <a:lnTo>
                    <a:pt x="2298619" y="3176839"/>
                  </a:lnTo>
                  <a:lnTo>
                    <a:pt x="2284456" y="3221201"/>
                  </a:lnTo>
                  <a:lnTo>
                    <a:pt x="2265254" y="3263050"/>
                  </a:lnTo>
                  <a:lnTo>
                    <a:pt x="2241375" y="3302026"/>
                  </a:lnTo>
                  <a:lnTo>
                    <a:pt x="2213179" y="3337768"/>
                  </a:lnTo>
                  <a:lnTo>
                    <a:pt x="2181029" y="3369916"/>
                  </a:lnTo>
                  <a:lnTo>
                    <a:pt x="2145286" y="3398107"/>
                  </a:lnTo>
                  <a:lnTo>
                    <a:pt x="2106310" y="3421982"/>
                  </a:lnTo>
                  <a:lnTo>
                    <a:pt x="2064465" y="3441180"/>
                  </a:lnTo>
                  <a:lnTo>
                    <a:pt x="2020110" y="3455339"/>
                  </a:lnTo>
                  <a:lnTo>
                    <a:pt x="1973608" y="3464099"/>
                  </a:lnTo>
                  <a:lnTo>
                    <a:pt x="1925319" y="3467100"/>
                  </a:lnTo>
                  <a:lnTo>
                    <a:pt x="385063" y="3467100"/>
                  </a:lnTo>
                  <a:lnTo>
                    <a:pt x="336750" y="3464099"/>
                  </a:lnTo>
                  <a:lnTo>
                    <a:pt x="290231" y="3455339"/>
                  </a:lnTo>
                  <a:lnTo>
                    <a:pt x="245866" y="3441180"/>
                  </a:lnTo>
                  <a:lnTo>
                    <a:pt x="204016" y="3421982"/>
                  </a:lnTo>
                  <a:lnTo>
                    <a:pt x="165042" y="3398107"/>
                  </a:lnTo>
                  <a:lnTo>
                    <a:pt x="129303" y="3369916"/>
                  </a:lnTo>
                  <a:lnTo>
                    <a:pt x="97160" y="3337768"/>
                  </a:lnTo>
                  <a:lnTo>
                    <a:pt x="68974" y="3302026"/>
                  </a:lnTo>
                  <a:lnTo>
                    <a:pt x="45104" y="3263050"/>
                  </a:lnTo>
                  <a:lnTo>
                    <a:pt x="25911" y="3221201"/>
                  </a:lnTo>
                  <a:lnTo>
                    <a:pt x="11756" y="3176839"/>
                  </a:lnTo>
                  <a:lnTo>
                    <a:pt x="2999" y="3130326"/>
                  </a:lnTo>
                  <a:lnTo>
                    <a:pt x="0" y="3082023"/>
                  </a:lnTo>
                  <a:lnTo>
                    <a:pt x="0" y="385063"/>
                  </a:lnTo>
                  <a:close/>
                </a:path>
                <a:path w="2310765" h="3467100">
                  <a:moveTo>
                    <a:pt x="309371" y="1036319"/>
                  </a:moveTo>
                  <a:lnTo>
                    <a:pt x="317753" y="994790"/>
                  </a:lnTo>
                  <a:lnTo>
                    <a:pt x="340613" y="960881"/>
                  </a:lnTo>
                  <a:lnTo>
                    <a:pt x="374522" y="938021"/>
                  </a:lnTo>
                  <a:lnTo>
                    <a:pt x="416051" y="929639"/>
                  </a:lnTo>
                  <a:lnTo>
                    <a:pt x="1940052" y="929639"/>
                  </a:lnTo>
                  <a:lnTo>
                    <a:pt x="1981580" y="938021"/>
                  </a:lnTo>
                  <a:lnTo>
                    <a:pt x="2015489" y="960882"/>
                  </a:lnTo>
                  <a:lnTo>
                    <a:pt x="2038349" y="994791"/>
                  </a:lnTo>
                  <a:lnTo>
                    <a:pt x="2046731" y="1036319"/>
                  </a:lnTo>
                  <a:lnTo>
                    <a:pt x="2046731" y="1463039"/>
                  </a:lnTo>
                  <a:lnTo>
                    <a:pt x="2038350" y="1504569"/>
                  </a:lnTo>
                  <a:lnTo>
                    <a:pt x="2015490" y="1538477"/>
                  </a:lnTo>
                  <a:lnTo>
                    <a:pt x="1981581" y="1561338"/>
                  </a:lnTo>
                  <a:lnTo>
                    <a:pt x="1940052" y="1569720"/>
                  </a:lnTo>
                  <a:lnTo>
                    <a:pt x="416051" y="1569720"/>
                  </a:lnTo>
                  <a:lnTo>
                    <a:pt x="374522" y="1561338"/>
                  </a:lnTo>
                  <a:lnTo>
                    <a:pt x="340613" y="1538477"/>
                  </a:lnTo>
                  <a:lnTo>
                    <a:pt x="317753" y="1504569"/>
                  </a:lnTo>
                  <a:lnTo>
                    <a:pt x="309371" y="1463039"/>
                  </a:lnTo>
                  <a:lnTo>
                    <a:pt x="309371" y="1036319"/>
                  </a:lnTo>
                  <a:close/>
                </a:path>
              </a:pathLst>
            </a:custGeom>
            <a:ln w="25908">
              <a:solidFill>
                <a:srgbClr val="464646"/>
              </a:solidFill>
            </a:ln>
          </p:spPr>
          <p:txBody>
            <a:bodyPr wrap="square" lIns="0" tIns="0" rIns="0" bIns="0" rtlCol="0"/>
            <a:lstStyle/>
            <a:p>
              <a:endParaRPr/>
            </a:p>
          </p:txBody>
        </p:sp>
      </p:grpSp>
      <p:sp>
        <p:nvSpPr>
          <p:cNvPr id="17" name="object 17"/>
          <p:cNvSpPr txBox="1"/>
          <p:nvPr/>
        </p:nvSpPr>
        <p:spPr>
          <a:xfrm>
            <a:off x="7495413" y="2066925"/>
            <a:ext cx="6216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Al</a:t>
            </a:r>
            <a:r>
              <a:rPr sz="1800" spc="-15" dirty="0">
                <a:solidFill>
                  <a:srgbClr val="464646"/>
                </a:solidFill>
                <a:latin typeface="Arial MT"/>
                <a:cs typeface="Arial MT"/>
              </a:rPr>
              <a:t>a</a:t>
            </a:r>
            <a:r>
              <a:rPr sz="1800" dirty="0">
                <a:solidFill>
                  <a:srgbClr val="464646"/>
                </a:solidFill>
                <a:latin typeface="Arial MT"/>
                <a:cs typeface="Arial MT"/>
              </a:rPr>
              <a:t>rm</a:t>
            </a:r>
            <a:endParaRPr sz="1800">
              <a:latin typeface="Arial MT"/>
              <a:cs typeface="Arial MT"/>
            </a:endParaRPr>
          </a:p>
        </p:txBody>
      </p:sp>
      <p:sp>
        <p:nvSpPr>
          <p:cNvPr id="18" name="object 18"/>
          <p:cNvSpPr/>
          <p:nvPr/>
        </p:nvSpPr>
        <p:spPr>
          <a:xfrm>
            <a:off x="6938009" y="2882645"/>
            <a:ext cx="1737360" cy="640080"/>
          </a:xfrm>
          <a:custGeom>
            <a:avLst/>
            <a:gdLst/>
            <a:ahLst/>
            <a:cxnLst/>
            <a:rect l="l" t="t" r="r" b="b"/>
            <a:pathLst>
              <a:path w="1737359" h="640079">
                <a:moveTo>
                  <a:pt x="0" y="106680"/>
                </a:moveTo>
                <a:lnTo>
                  <a:pt x="8381" y="65151"/>
                </a:lnTo>
                <a:lnTo>
                  <a:pt x="31241" y="31242"/>
                </a:lnTo>
                <a:lnTo>
                  <a:pt x="65150" y="8381"/>
                </a:lnTo>
                <a:lnTo>
                  <a:pt x="106680" y="0"/>
                </a:lnTo>
                <a:lnTo>
                  <a:pt x="1630680" y="0"/>
                </a:lnTo>
                <a:lnTo>
                  <a:pt x="1672209" y="8381"/>
                </a:lnTo>
                <a:lnTo>
                  <a:pt x="1706118" y="31242"/>
                </a:lnTo>
                <a:lnTo>
                  <a:pt x="1728977" y="65151"/>
                </a:lnTo>
                <a:lnTo>
                  <a:pt x="1737360" y="106680"/>
                </a:lnTo>
                <a:lnTo>
                  <a:pt x="1737360" y="533400"/>
                </a:lnTo>
                <a:lnTo>
                  <a:pt x="1728978" y="574929"/>
                </a:lnTo>
                <a:lnTo>
                  <a:pt x="1706118" y="608838"/>
                </a:lnTo>
                <a:lnTo>
                  <a:pt x="1672209" y="631698"/>
                </a:lnTo>
                <a:lnTo>
                  <a:pt x="1630680" y="640080"/>
                </a:lnTo>
                <a:lnTo>
                  <a:pt x="106680" y="640080"/>
                </a:lnTo>
                <a:lnTo>
                  <a:pt x="65150" y="631698"/>
                </a:lnTo>
                <a:lnTo>
                  <a:pt x="31241" y="608838"/>
                </a:lnTo>
                <a:lnTo>
                  <a:pt x="8381" y="574929"/>
                </a:lnTo>
                <a:lnTo>
                  <a:pt x="0" y="533400"/>
                </a:lnTo>
                <a:lnTo>
                  <a:pt x="0" y="106680"/>
                </a:lnTo>
                <a:close/>
              </a:path>
            </a:pathLst>
          </a:custGeom>
          <a:ln w="25908">
            <a:solidFill>
              <a:srgbClr val="464646"/>
            </a:solidFill>
          </a:ln>
        </p:spPr>
        <p:txBody>
          <a:bodyPr wrap="square" lIns="0" tIns="0" rIns="0" bIns="0" rtlCol="0"/>
          <a:lstStyle/>
          <a:p>
            <a:endParaRPr/>
          </a:p>
        </p:txBody>
      </p:sp>
      <p:sp>
        <p:nvSpPr>
          <p:cNvPr id="19" name="object 19"/>
          <p:cNvSpPr txBox="1"/>
          <p:nvPr/>
        </p:nvSpPr>
        <p:spPr>
          <a:xfrm>
            <a:off x="7236332" y="3047492"/>
            <a:ext cx="114046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D</a:t>
            </a:r>
            <a:r>
              <a:rPr sz="1800" spc="-15" dirty="0">
                <a:solidFill>
                  <a:srgbClr val="464646"/>
                </a:solidFill>
                <a:latin typeface="Arial MT"/>
                <a:cs typeface="Arial MT"/>
              </a:rPr>
              <a:t>a</a:t>
            </a:r>
            <a:r>
              <a:rPr sz="1800" spc="-5" dirty="0">
                <a:solidFill>
                  <a:srgbClr val="464646"/>
                </a:solidFill>
                <a:latin typeface="Arial MT"/>
                <a:cs typeface="Arial MT"/>
              </a:rPr>
              <a:t>sh</a:t>
            </a:r>
            <a:r>
              <a:rPr sz="1800" spc="-15" dirty="0">
                <a:solidFill>
                  <a:srgbClr val="464646"/>
                </a:solidFill>
                <a:latin typeface="Arial MT"/>
                <a:cs typeface="Arial MT"/>
              </a:rPr>
              <a:t>b</a:t>
            </a:r>
            <a:r>
              <a:rPr sz="1800" spc="-5" dirty="0">
                <a:solidFill>
                  <a:srgbClr val="464646"/>
                </a:solidFill>
                <a:latin typeface="Arial MT"/>
                <a:cs typeface="Arial MT"/>
              </a:rPr>
              <a:t>o</a:t>
            </a:r>
            <a:r>
              <a:rPr sz="1800" spc="-15" dirty="0">
                <a:solidFill>
                  <a:srgbClr val="464646"/>
                </a:solidFill>
                <a:latin typeface="Arial MT"/>
                <a:cs typeface="Arial MT"/>
              </a:rPr>
              <a:t>a</a:t>
            </a:r>
            <a:r>
              <a:rPr sz="1800" spc="-5" dirty="0">
                <a:solidFill>
                  <a:srgbClr val="464646"/>
                </a:solidFill>
                <a:latin typeface="Arial MT"/>
                <a:cs typeface="Arial MT"/>
              </a:rPr>
              <a:t>rd</a:t>
            </a:r>
            <a:endParaRPr sz="1800">
              <a:latin typeface="Arial MT"/>
              <a:cs typeface="Arial MT"/>
            </a:endParaRPr>
          </a:p>
        </p:txBody>
      </p:sp>
      <p:grpSp>
        <p:nvGrpSpPr>
          <p:cNvPr id="20" name="object 20"/>
          <p:cNvGrpSpPr/>
          <p:nvPr/>
        </p:nvGrpSpPr>
        <p:grpSpPr>
          <a:xfrm>
            <a:off x="5494020" y="2606103"/>
            <a:ext cx="1251585" cy="236220"/>
            <a:chOff x="5494020" y="2606103"/>
            <a:chExt cx="1251585" cy="236220"/>
          </a:xfrm>
        </p:grpSpPr>
        <p:pic>
          <p:nvPicPr>
            <p:cNvPr id="21" name="object 21"/>
            <p:cNvPicPr/>
            <p:nvPr/>
          </p:nvPicPr>
          <p:blipFill>
            <a:blip r:embed="rId4" cstate="print"/>
            <a:stretch>
              <a:fillRect/>
            </a:stretch>
          </p:blipFill>
          <p:spPr>
            <a:xfrm>
              <a:off x="5494020" y="2606103"/>
              <a:ext cx="1251191" cy="236156"/>
            </a:xfrm>
            <a:prstGeom prst="rect">
              <a:avLst/>
            </a:prstGeom>
          </p:spPr>
        </p:pic>
        <p:sp>
          <p:nvSpPr>
            <p:cNvPr id="22" name="object 22"/>
            <p:cNvSpPr/>
            <p:nvPr/>
          </p:nvSpPr>
          <p:spPr>
            <a:xfrm>
              <a:off x="5537454" y="2667254"/>
              <a:ext cx="1092200" cy="78105"/>
            </a:xfrm>
            <a:custGeom>
              <a:avLst/>
              <a:gdLst/>
              <a:ahLst/>
              <a:cxnLst/>
              <a:rect l="l" t="t" r="r" b="b"/>
              <a:pathLst>
                <a:path w="1092200" h="78105">
                  <a:moveTo>
                    <a:pt x="1013968" y="51812"/>
                  </a:moveTo>
                  <a:lnTo>
                    <a:pt x="1013968" y="77723"/>
                  </a:lnTo>
                  <a:lnTo>
                    <a:pt x="1065784" y="51815"/>
                  </a:lnTo>
                  <a:lnTo>
                    <a:pt x="1013968" y="51812"/>
                  </a:lnTo>
                  <a:close/>
                </a:path>
                <a:path w="1092200" h="78105">
                  <a:moveTo>
                    <a:pt x="1013968" y="25904"/>
                  </a:moveTo>
                  <a:lnTo>
                    <a:pt x="1013968" y="51812"/>
                  </a:lnTo>
                  <a:lnTo>
                    <a:pt x="1026922" y="51815"/>
                  </a:lnTo>
                  <a:lnTo>
                    <a:pt x="1026922" y="25907"/>
                  </a:lnTo>
                  <a:lnTo>
                    <a:pt x="1013968" y="25904"/>
                  </a:lnTo>
                  <a:close/>
                </a:path>
                <a:path w="1092200" h="78105">
                  <a:moveTo>
                    <a:pt x="1013968" y="0"/>
                  </a:moveTo>
                  <a:lnTo>
                    <a:pt x="1013968" y="25904"/>
                  </a:lnTo>
                  <a:lnTo>
                    <a:pt x="1026922" y="25907"/>
                  </a:lnTo>
                  <a:lnTo>
                    <a:pt x="1026922" y="51815"/>
                  </a:lnTo>
                  <a:lnTo>
                    <a:pt x="1065790" y="51812"/>
                  </a:lnTo>
                  <a:lnTo>
                    <a:pt x="1091692" y="38862"/>
                  </a:lnTo>
                  <a:lnTo>
                    <a:pt x="1013968" y="0"/>
                  </a:lnTo>
                  <a:close/>
                </a:path>
                <a:path w="1092200" h="78105">
                  <a:moveTo>
                    <a:pt x="0" y="25653"/>
                  </a:moveTo>
                  <a:lnTo>
                    <a:pt x="0" y="51562"/>
                  </a:lnTo>
                  <a:lnTo>
                    <a:pt x="1013968" y="51812"/>
                  </a:lnTo>
                  <a:lnTo>
                    <a:pt x="1013968" y="25904"/>
                  </a:lnTo>
                  <a:lnTo>
                    <a:pt x="0" y="25653"/>
                  </a:lnTo>
                  <a:close/>
                </a:path>
              </a:pathLst>
            </a:custGeom>
            <a:solidFill>
              <a:srgbClr val="464646"/>
            </a:solidFill>
          </p:spPr>
          <p:txBody>
            <a:bodyPr wrap="square" lIns="0" tIns="0" rIns="0" bIns="0" rtlCol="0"/>
            <a:lstStyle/>
            <a:p>
              <a:endParaRPr/>
            </a:p>
          </p:txBody>
        </p:sp>
      </p:grpSp>
    </p:spTree>
    <p:extLst>
      <p:ext uri="{BB962C8B-B14F-4D97-AF65-F5344CB8AC3E}">
        <p14:creationId xmlns:p14="http://schemas.microsoft.com/office/powerpoint/2010/main" val="1539749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14046"/>
            <a:ext cx="5245100" cy="452120"/>
          </a:xfrm>
          <a:prstGeom prst="rect">
            <a:avLst/>
          </a:prstGeom>
        </p:spPr>
        <p:txBody>
          <a:bodyPr vert="horz" wrap="square" lIns="0" tIns="12065" rIns="0" bIns="0" rtlCol="0">
            <a:spAutoFit/>
          </a:bodyPr>
          <a:lstStyle/>
          <a:p>
            <a:pPr marL="12700">
              <a:lnSpc>
                <a:spcPct val="100000"/>
              </a:lnSpc>
              <a:spcBef>
                <a:spcPts val="95"/>
              </a:spcBef>
            </a:pPr>
            <a:r>
              <a:rPr spc="-5" dirty="0"/>
              <a:t>Elastic</a:t>
            </a:r>
            <a:r>
              <a:rPr spc="5" dirty="0"/>
              <a:t> </a:t>
            </a:r>
            <a:r>
              <a:rPr spc="-5" dirty="0"/>
              <a:t>Load</a:t>
            </a:r>
            <a:r>
              <a:rPr spc="5" dirty="0"/>
              <a:t> </a:t>
            </a:r>
            <a:r>
              <a:rPr spc="-5" dirty="0"/>
              <a:t>Balancer</a:t>
            </a:r>
            <a:r>
              <a:rPr spc="10" dirty="0"/>
              <a:t> </a:t>
            </a:r>
            <a:r>
              <a:rPr spc="-5" dirty="0"/>
              <a:t>and</a:t>
            </a:r>
            <a:r>
              <a:rPr dirty="0"/>
              <a:t> </a:t>
            </a:r>
            <a:r>
              <a:rPr spc="-5" dirty="0"/>
              <a:t>EC2</a:t>
            </a:r>
          </a:p>
        </p:txBody>
      </p:sp>
      <p:sp>
        <p:nvSpPr>
          <p:cNvPr id="3" name="object 3"/>
          <p:cNvSpPr/>
          <p:nvPr/>
        </p:nvSpPr>
        <p:spPr>
          <a:xfrm>
            <a:off x="1514094" y="1529333"/>
            <a:ext cx="3116580" cy="757555"/>
          </a:xfrm>
          <a:custGeom>
            <a:avLst/>
            <a:gdLst/>
            <a:ahLst/>
            <a:cxnLst/>
            <a:rect l="l" t="t" r="r" b="b"/>
            <a:pathLst>
              <a:path w="3116579" h="757555">
                <a:moveTo>
                  <a:pt x="0" y="126237"/>
                </a:moveTo>
                <a:lnTo>
                  <a:pt x="9919" y="77098"/>
                </a:lnTo>
                <a:lnTo>
                  <a:pt x="36972" y="36972"/>
                </a:lnTo>
                <a:lnTo>
                  <a:pt x="77098" y="9919"/>
                </a:lnTo>
                <a:lnTo>
                  <a:pt x="126237" y="0"/>
                </a:lnTo>
                <a:lnTo>
                  <a:pt x="2990342" y="0"/>
                </a:lnTo>
                <a:lnTo>
                  <a:pt x="3039481" y="9919"/>
                </a:lnTo>
                <a:lnTo>
                  <a:pt x="3079607" y="36972"/>
                </a:lnTo>
                <a:lnTo>
                  <a:pt x="3106660" y="77098"/>
                </a:lnTo>
                <a:lnTo>
                  <a:pt x="3116580" y="126237"/>
                </a:lnTo>
                <a:lnTo>
                  <a:pt x="3116580" y="631189"/>
                </a:lnTo>
                <a:lnTo>
                  <a:pt x="3106660" y="680329"/>
                </a:lnTo>
                <a:lnTo>
                  <a:pt x="3079607" y="720455"/>
                </a:lnTo>
                <a:lnTo>
                  <a:pt x="3039481" y="747508"/>
                </a:lnTo>
                <a:lnTo>
                  <a:pt x="2990342" y="757427"/>
                </a:lnTo>
                <a:lnTo>
                  <a:pt x="126237" y="757427"/>
                </a:lnTo>
                <a:lnTo>
                  <a:pt x="77098" y="747508"/>
                </a:lnTo>
                <a:lnTo>
                  <a:pt x="36972" y="720455"/>
                </a:lnTo>
                <a:lnTo>
                  <a:pt x="9919" y="680329"/>
                </a:lnTo>
                <a:lnTo>
                  <a:pt x="0" y="631189"/>
                </a:lnTo>
                <a:lnTo>
                  <a:pt x="0" y="126237"/>
                </a:lnTo>
                <a:close/>
              </a:path>
            </a:pathLst>
          </a:custGeom>
          <a:ln w="25908">
            <a:solidFill>
              <a:srgbClr val="464646"/>
            </a:solidFill>
          </a:ln>
        </p:spPr>
        <p:txBody>
          <a:bodyPr wrap="square" lIns="0" tIns="0" rIns="0" bIns="0" rtlCol="0"/>
          <a:lstStyle/>
          <a:p>
            <a:endParaRPr/>
          </a:p>
        </p:txBody>
      </p:sp>
      <p:sp>
        <p:nvSpPr>
          <p:cNvPr id="4" name="object 4"/>
          <p:cNvSpPr txBox="1"/>
          <p:nvPr/>
        </p:nvSpPr>
        <p:spPr>
          <a:xfrm>
            <a:off x="2843022" y="1751838"/>
            <a:ext cx="4572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a:t>
            </a:r>
            <a:r>
              <a:rPr sz="1800" spc="-15" dirty="0">
                <a:solidFill>
                  <a:srgbClr val="464646"/>
                </a:solidFill>
                <a:latin typeface="Arial MT"/>
                <a:cs typeface="Arial MT"/>
              </a:rPr>
              <a:t>L</a:t>
            </a:r>
            <a:r>
              <a:rPr sz="1800" dirty="0">
                <a:solidFill>
                  <a:srgbClr val="464646"/>
                </a:solidFill>
                <a:latin typeface="Arial MT"/>
                <a:cs typeface="Arial MT"/>
              </a:rPr>
              <a:t>B</a:t>
            </a:r>
            <a:endParaRPr sz="1800">
              <a:latin typeface="Arial MT"/>
              <a:cs typeface="Arial MT"/>
            </a:endParaRPr>
          </a:p>
        </p:txBody>
      </p:sp>
      <p:sp>
        <p:nvSpPr>
          <p:cNvPr id="5" name="object 5"/>
          <p:cNvSpPr/>
          <p:nvPr/>
        </p:nvSpPr>
        <p:spPr>
          <a:xfrm>
            <a:off x="698754" y="3278885"/>
            <a:ext cx="4747260" cy="1385570"/>
          </a:xfrm>
          <a:custGeom>
            <a:avLst/>
            <a:gdLst/>
            <a:ahLst/>
            <a:cxnLst/>
            <a:rect l="l" t="t" r="r" b="b"/>
            <a:pathLst>
              <a:path w="4747260" h="1385570">
                <a:moveTo>
                  <a:pt x="0" y="230886"/>
                </a:moveTo>
                <a:lnTo>
                  <a:pt x="4691" y="184356"/>
                </a:lnTo>
                <a:lnTo>
                  <a:pt x="18145" y="141017"/>
                </a:lnTo>
                <a:lnTo>
                  <a:pt x="39433" y="101798"/>
                </a:lnTo>
                <a:lnTo>
                  <a:pt x="67627" y="67627"/>
                </a:lnTo>
                <a:lnTo>
                  <a:pt x="101798" y="39433"/>
                </a:lnTo>
                <a:lnTo>
                  <a:pt x="141017" y="18145"/>
                </a:lnTo>
                <a:lnTo>
                  <a:pt x="184356" y="4691"/>
                </a:lnTo>
                <a:lnTo>
                  <a:pt x="230886" y="0"/>
                </a:lnTo>
                <a:lnTo>
                  <a:pt x="4516374" y="0"/>
                </a:lnTo>
                <a:lnTo>
                  <a:pt x="4562903" y="4691"/>
                </a:lnTo>
                <a:lnTo>
                  <a:pt x="4606242" y="18145"/>
                </a:lnTo>
                <a:lnTo>
                  <a:pt x="4645461" y="39433"/>
                </a:lnTo>
                <a:lnTo>
                  <a:pt x="4679632" y="67627"/>
                </a:lnTo>
                <a:lnTo>
                  <a:pt x="4707826" y="101798"/>
                </a:lnTo>
                <a:lnTo>
                  <a:pt x="4729114" y="141017"/>
                </a:lnTo>
                <a:lnTo>
                  <a:pt x="4742568" y="184356"/>
                </a:lnTo>
                <a:lnTo>
                  <a:pt x="4747260" y="230886"/>
                </a:lnTo>
                <a:lnTo>
                  <a:pt x="4747260" y="1154430"/>
                </a:lnTo>
                <a:lnTo>
                  <a:pt x="4742568" y="1200959"/>
                </a:lnTo>
                <a:lnTo>
                  <a:pt x="4729114" y="1244298"/>
                </a:lnTo>
                <a:lnTo>
                  <a:pt x="4707826" y="1283517"/>
                </a:lnTo>
                <a:lnTo>
                  <a:pt x="4679632" y="1317688"/>
                </a:lnTo>
                <a:lnTo>
                  <a:pt x="4645461" y="1345882"/>
                </a:lnTo>
                <a:lnTo>
                  <a:pt x="4606242" y="1367170"/>
                </a:lnTo>
                <a:lnTo>
                  <a:pt x="4562903" y="1380624"/>
                </a:lnTo>
                <a:lnTo>
                  <a:pt x="4516374" y="1385315"/>
                </a:lnTo>
                <a:lnTo>
                  <a:pt x="230886" y="1385315"/>
                </a:lnTo>
                <a:lnTo>
                  <a:pt x="184356" y="1380624"/>
                </a:lnTo>
                <a:lnTo>
                  <a:pt x="141017" y="1367170"/>
                </a:lnTo>
                <a:lnTo>
                  <a:pt x="101798" y="1345882"/>
                </a:lnTo>
                <a:lnTo>
                  <a:pt x="67627" y="1317688"/>
                </a:lnTo>
                <a:lnTo>
                  <a:pt x="39433" y="1283517"/>
                </a:lnTo>
                <a:lnTo>
                  <a:pt x="18145" y="1244298"/>
                </a:lnTo>
                <a:lnTo>
                  <a:pt x="4691" y="1200959"/>
                </a:lnTo>
                <a:lnTo>
                  <a:pt x="0" y="1154430"/>
                </a:lnTo>
                <a:lnTo>
                  <a:pt x="0" y="230886"/>
                </a:lnTo>
                <a:close/>
              </a:path>
              <a:path w="4747260" h="1385570">
                <a:moveTo>
                  <a:pt x="374904" y="478789"/>
                </a:moveTo>
                <a:lnTo>
                  <a:pt x="380552" y="450788"/>
                </a:lnTo>
                <a:lnTo>
                  <a:pt x="395957" y="427942"/>
                </a:lnTo>
                <a:lnTo>
                  <a:pt x="418805" y="412549"/>
                </a:lnTo>
                <a:lnTo>
                  <a:pt x="446786" y="406907"/>
                </a:lnTo>
                <a:lnTo>
                  <a:pt x="1191514" y="406907"/>
                </a:lnTo>
                <a:lnTo>
                  <a:pt x="1219515" y="412549"/>
                </a:lnTo>
                <a:lnTo>
                  <a:pt x="1242361" y="427942"/>
                </a:lnTo>
                <a:lnTo>
                  <a:pt x="1257754" y="450788"/>
                </a:lnTo>
                <a:lnTo>
                  <a:pt x="1263395" y="478789"/>
                </a:lnTo>
                <a:lnTo>
                  <a:pt x="1263395" y="766317"/>
                </a:lnTo>
                <a:lnTo>
                  <a:pt x="1257754" y="794298"/>
                </a:lnTo>
                <a:lnTo>
                  <a:pt x="1242361" y="817146"/>
                </a:lnTo>
                <a:lnTo>
                  <a:pt x="1219515" y="832551"/>
                </a:lnTo>
                <a:lnTo>
                  <a:pt x="1191514" y="838200"/>
                </a:lnTo>
                <a:lnTo>
                  <a:pt x="446786" y="838200"/>
                </a:lnTo>
                <a:lnTo>
                  <a:pt x="418805" y="832551"/>
                </a:lnTo>
                <a:lnTo>
                  <a:pt x="395957" y="817146"/>
                </a:lnTo>
                <a:lnTo>
                  <a:pt x="380552" y="794298"/>
                </a:lnTo>
                <a:lnTo>
                  <a:pt x="374904" y="766317"/>
                </a:lnTo>
                <a:lnTo>
                  <a:pt x="374904" y="478789"/>
                </a:lnTo>
                <a:close/>
              </a:path>
            </a:pathLst>
          </a:custGeom>
          <a:ln w="25908">
            <a:solidFill>
              <a:srgbClr val="464646"/>
            </a:solidFill>
          </a:ln>
        </p:spPr>
        <p:txBody>
          <a:bodyPr wrap="square" lIns="0" tIns="0" rIns="0" bIns="0" rtlCol="0"/>
          <a:lstStyle/>
          <a:p>
            <a:endParaRPr/>
          </a:p>
        </p:txBody>
      </p:sp>
      <p:sp>
        <p:nvSpPr>
          <p:cNvPr id="6" name="object 6"/>
          <p:cNvSpPr txBox="1"/>
          <p:nvPr/>
        </p:nvSpPr>
        <p:spPr>
          <a:xfrm>
            <a:off x="1282446" y="3745788"/>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sp>
        <p:nvSpPr>
          <p:cNvPr id="7" name="object 7"/>
          <p:cNvSpPr/>
          <p:nvPr/>
        </p:nvSpPr>
        <p:spPr>
          <a:xfrm>
            <a:off x="2114550" y="3688841"/>
            <a:ext cx="890269" cy="431800"/>
          </a:xfrm>
          <a:custGeom>
            <a:avLst/>
            <a:gdLst/>
            <a:ahLst/>
            <a:cxnLst/>
            <a:rect l="l" t="t" r="r" b="b"/>
            <a:pathLst>
              <a:path w="890269" h="431800">
                <a:moveTo>
                  <a:pt x="0" y="71882"/>
                </a:moveTo>
                <a:lnTo>
                  <a:pt x="5641" y="43880"/>
                </a:lnTo>
                <a:lnTo>
                  <a:pt x="21034" y="21034"/>
                </a:lnTo>
                <a:lnTo>
                  <a:pt x="43880" y="5641"/>
                </a:lnTo>
                <a:lnTo>
                  <a:pt x="71881" y="0"/>
                </a:lnTo>
                <a:lnTo>
                  <a:pt x="818133" y="0"/>
                </a:lnTo>
                <a:lnTo>
                  <a:pt x="846135" y="5641"/>
                </a:lnTo>
                <a:lnTo>
                  <a:pt x="868981" y="21034"/>
                </a:lnTo>
                <a:lnTo>
                  <a:pt x="884374" y="43880"/>
                </a:lnTo>
                <a:lnTo>
                  <a:pt x="890016" y="71882"/>
                </a:lnTo>
                <a:lnTo>
                  <a:pt x="890016" y="359410"/>
                </a:lnTo>
                <a:lnTo>
                  <a:pt x="884374" y="387390"/>
                </a:lnTo>
                <a:lnTo>
                  <a:pt x="868981" y="410238"/>
                </a:lnTo>
                <a:lnTo>
                  <a:pt x="846135" y="425643"/>
                </a:lnTo>
                <a:lnTo>
                  <a:pt x="818133" y="431292"/>
                </a:lnTo>
                <a:lnTo>
                  <a:pt x="71881" y="431292"/>
                </a:lnTo>
                <a:lnTo>
                  <a:pt x="43880" y="425643"/>
                </a:lnTo>
                <a:lnTo>
                  <a:pt x="21034" y="410238"/>
                </a:lnTo>
                <a:lnTo>
                  <a:pt x="5641" y="387390"/>
                </a:lnTo>
                <a:lnTo>
                  <a:pt x="0" y="359410"/>
                </a:lnTo>
                <a:lnTo>
                  <a:pt x="0" y="71882"/>
                </a:lnTo>
                <a:close/>
              </a:path>
            </a:pathLst>
          </a:custGeom>
          <a:ln w="25908">
            <a:solidFill>
              <a:srgbClr val="464646"/>
            </a:solidFill>
          </a:ln>
        </p:spPr>
        <p:txBody>
          <a:bodyPr wrap="square" lIns="0" tIns="0" rIns="0" bIns="0" rtlCol="0"/>
          <a:lstStyle/>
          <a:p>
            <a:endParaRPr/>
          </a:p>
        </p:txBody>
      </p:sp>
      <p:sp>
        <p:nvSpPr>
          <p:cNvPr id="8" name="object 8"/>
          <p:cNvSpPr txBox="1"/>
          <p:nvPr/>
        </p:nvSpPr>
        <p:spPr>
          <a:xfrm>
            <a:off x="2324480" y="3748227"/>
            <a:ext cx="46990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64646"/>
                </a:solidFill>
                <a:latin typeface="Arial MT"/>
                <a:cs typeface="Arial MT"/>
              </a:rPr>
              <a:t>E</a:t>
            </a:r>
            <a:r>
              <a:rPr sz="1800" spc="-10" dirty="0">
                <a:solidFill>
                  <a:srgbClr val="464646"/>
                </a:solidFill>
                <a:latin typeface="Arial MT"/>
                <a:cs typeface="Arial MT"/>
              </a:rPr>
              <a:t>C</a:t>
            </a:r>
            <a:r>
              <a:rPr sz="1800" dirty="0">
                <a:solidFill>
                  <a:srgbClr val="464646"/>
                </a:solidFill>
                <a:latin typeface="Arial MT"/>
                <a:cs typeface="Arial MT"/>
              </a:rPr>
              <a:t>2</a:t>
            </a:r>
            <a:endParaRPr sz="1800">
              <a:latin typeface="Arial MT"/>
              <a:cs typeface="Arial MT"/>
            </a:endParaRPr>
          </a:p>
        </p:txBody>
      </p:sp>
      <p:sp>
        <p:nvSpPr>
          <p:cNvPr id="9" name="object 9"/>
          <p:cNvSpPr/>
          <p:nvPr/>
        </p:nvSpPr>
        <p:spPr>
          <a:xfrm>
            <a:off x="3156966" y="3682746"/>
            <a:ext cx="1931035" cy="443865"/>
          </a:xfrm>
          <a:custGeom>
            <a:avLst/>
            <a:gdLst/>
            <a:ahLst/>
            <a:cxnLst/>
            <a:rect l="l" t="t" r="r" b="b"/>
            <a:pathLst>
              <a:path w="1931035" h="443864">
                <a:moveTo>
                  <a:pt x="1042416" y="82803"/>
                </a:moveTo>
                <a:lnTo>
                  <a:pt x="1048079" y="54709"/>
                </a:lnTo>
                <a:lnTo>
                  <a:pt x="1063529" y="31781"/>
                </a:lnTo>
                <a:lnTo>
                  <a:pt x="1086457" y="16331"/>
                </a:lnTo>
                <a:lnTo>
                  <a:pt x="1114551" y="10667"/>
                </a:lnTo>
                <a:lnTo>
                  <a:pt x="1858771" y="10667"/>
                </a:lnTo>
                <a:lnTo>
                  <a:pt x="1886866" y="16331"/>
                </a:lnTo>
                <a:lnTo>
                  <a:pt x="1909794" y="31781"/>
                </a:lnTo>
                <a:lnTo>
                  <a:pt x="1925244" y="54709"/>
                </a:lnTo>
                <a:lnTo>
                  <a:pt x="1930908" y="82803"/>
                </a:lnTo>
                <a:lnTo>
                  <a:pt x="1930908" y="371347"/>
                </a:lnTo>
                <a:lnTo>
                  <a:pt x="1925244" y="399426"/>
                </a:lnTo>
                <a:lnTo>
                  <a:pt x="1909794" y="422355"/>
                </a:lnTo>
                <a:lnTo>
                  <a:pt x="1886866" y="437815"/>
                </a:lnTo>
                <a:lnTo>
                  <a:pt x="1858771" y="443483"/>
                </a:lnTo>
                <a:lnTo>
                  <a:pt x="1114551" y="443483"/>
                </a:lnTo>
                <a:lnTo>
                  <a:pt x="1086457" y="437815"/>
                </a:lnTo>
                <a:lnTo>
                  <a:pt x="1063529" y="422355"/>
                </a:lnTo>
                <a:lnTo>
                  <a:pt x="1048079" y="399426"/>
                </a:lnTo>
                <a:lnTo>
                  <a:pt x="1042416" y="371347"/>
                </a:lnTo>
                <a:lnTo>
                  <a:pt x="1042416" y="82803"/>
                </a:lnTo>
                <a:close/>
              </a:path>
              <a:path w="1931035" h="443864">
                <a:moveTo>
                  <a:pt x="0" y="71881"/>
                </a:moveTo>
                <a:lnTo>
                  <a:pt x="5641" y="43880"/>
                </a:lnTo>
                <a:lnTo>
                  <a:pt x="21034" y="21034"/>
                </a:lnTo>
                <a:lnTo>
                  <a:pt x="43880" y="5641"/>
                </a:lnTo>
                <a:lnTo>
                  <a:pt x="71881" y="0"/>
                </a:lnTo>
                <a:lnTo>
                  <a:pt x="818133" y="0"/>
                </a:lnTo>
                <a:lnTo>
                  <a:pt x="846135" y="5641"/>
                </a:lnTo>
                <a:lnTo>
                  <a:pt x="868981" y="21034"/>
                </a:lnTo>
                <a:lnTo>
                  <a:pt x="884374" y="43880"/>
                </a:lnTo>
                <a:lnTo>
                  <a:pt x="890016" y="71881"/>
                </a:lnTo>
                <a:lnTo>
                  <a:pt x="890016" y="359409"/>
                </a:lnTo>
                <a:lnTo>
                  <a:pt x="884374" y="387390"/>
                </a:lnTo>
                <a:lnTo>
                  <a:pt x="868981" y="410238"/>
                </a:lnTo>
                <a:lnTo>
                  <a:pt x="846135" y="425643"/>
                </a:lnTo>
                <a:lnTo>
                  <a:pt x="818133" y="431291"/>
                </a:lnTo>
                <a:lnTo>
                  <a:pt x="71881" y="431291"/>
                </a:lnTo>
                <a:lnTo>
                  <a:pt x="43880" y="425643"/>
                </a:lnTo>
                <a:lnTo>
                  <a:pt x="21034" y="410238"/>
                </a:lnTo>
                <a:lnTo>
                  <a:pt x="5641" y="387390"/>
                </a:lnTo>
                <a:lnTo>
                  <a:pt x="0" y="359409"/>
                </a:lnTo>
                <a:lnTo>
                  <a:pt x="0" y="71881"/>
                </a:lnTo>
                <a:close/>
              </a:path>
            </a:pathLst>
          </a:custGeom>
          <a:ln w="25908">
            <a:solidFill>
              <a:srgbClr val="464646"/>
            </a:solidFill>
          </a:ln>
        </p:spPr>
        <p:txBody>
          <a:bodyPr wrap="square" lIns="0" tIns="0" rIns="0" bIns="0" rtlCol="0"/>
          <a:lstStyle/>
          <a:p>
            <a:endParaRPr/>
          </a:p>
        </p:txBody>
      </p:sp>
      <p:sp>
        <p:nvSpPr>
          <p:cNvPr id="10" name="object 10"/>
          <p:cNvSpPr txBox="1"/>
          <p:nvPr/>
        </p:nvSpPr>
        <p:spPr>
          <a:xfrm>
            <a:off x="3366642" y="3742435"/>
            <a:ext cx="46990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64646"/>
                </a:solidFill>
                <a:latin typeface="Arial MT"/>
                <a:cs typeface="Arial MT"/>
              </a:rPr>
              <a:t>E</a:t>
            </a:r>
            <a:r>
              <a:rPr sz="1800" spc="-10" dirty="0">
                <a:solidFill>
                  <a:srgbClr val="464646"/>
                </a:solidFill>
                <a:latin typeface="Arial MT"/>
                <a:cs typeface="Arial MT"/>
              </a:rPr>
              <a:t>C</a:t>
            </a:r>
            <a:r>
              <a:rPr sz="1800" dirty="0">
                <a:solidFill>
                  <a:srgbClr val="464646"/>
                </a:solidFill>
                <a:latin typeface="Arial MT"/>
                <a:cs typeface="Arial MT"/>
              </a:rPr>
              <a:t>2</a:t>
            </a:r>
            <a:endParaRPr sz="1800">
              <a:latin typeface="Arial MT"/>
              <a:cs typeface="Arial MT"/>
            </a:endParaRPr>
          </a:p>
        </p:txBody>
      </p:sp>
      <p:grpSp>
        <p:nvGrpSpPr>
          <p:cNvPr id="11" name="object 11"/>
          <p:cNvGrpSpPr/>
          <p:nvPr/>
        </p:nvGrpSpPr>
        <p:grpSpPr>
          <a:xfrm>
            <a:off x="2950464" y="716292"/>
            <a:ext cx="2316226" cy="3679939"/>
            <a:chOff x="2950464" y="716292"/>
            <a:chExt cx="2316226" cy="3679939"/>
          </a:xfrm>
        </p:grpSpPr>
        <p:pic>
          <p:nvPicPr>
            <p:cNvPr id="12" name="object 12"/>
            <p:cNvPicPr/>
            <p:nvPr/>
          </p:nvPicPr>
          <p:blipFill>
            <a:blip r:embed="rId3" cstate="print"/>
            <a:stretch>
              <a:fillRect/>
            </a:stretch>
          </p:blipFill>
          <p:spPr>
            <a:xfrm>
              <a:off x="2950464" y="716292"/>
              <a:ext cx="237832" cy="949439"/>
            </a:xfrm>
            <a:prstGeom prst="rect">
              <a:avLst/>
            </a:prstGeom>
          </p:spPr>
        </p:pic>
        <p:sp>
          <p:nvSpPr>
            <p:cNvPr id="13" name="object 13"/>
            <p:cNvSpPr/>
            <p:nvPr/>
          </p:nvSpPr>
          <p:spPr>
            <a:xfrm>
              <a:off x="3032760" y="738378"/>
              <a:ext cx="78105" cy="791845"/>
            </a:xfrm>
            <a:custGeom>
              <a:avLst/>
              <a:gdLst/>
              <a:ahLst/>
              <a:cxnLst/>
              <a:rect l="l" t="t" r="r" b="b"/>
              <a:pathLst>
                <a:path w="78105" h="791844">
                  <a:moveTo>
                    <a:pt x="25907" y="713613"/>
                  </a:moveTo>
                  <a:lnTo>
                    <a:pt x="0" y="713613"/>
                  </a:lnTo>
                  <a:lnTo>
                    <a:pt x="38862" y="791337"/>
                  </a:lnTo>
                  <a:lnTo>
                    <a:pt x="71246" y="726567"/>
                  </a:lnTo>
                  <a:lnTo>
                    <a:pt x="25907" y="726567"/>
                  </a:lnTo>
                  <a:lnTo>
                    <a:pt x="25907" y="713613"/>
                  </a:lnTo>
                  <a:close/>
                </a:path>
                <a:path w="78105" h="791844">
                  <a:moveTo>
                    <a:pt x="51815" y="0"/>
                  </a:moveTo>
                  <a:lnTo>
                    <a:pt x="25907" y="0"/>
                  </a:lnTo>
                  <a:lnTo>
                    <a:pt x="25907" y="726567"/>
                  </a:lnTo>
                  <a:lnTo>
                    <a:pt x="51815" y="726567"/>
                  </a:lnTo>
                  <a:lnTo>
                    <a:pt x="51815" y="0"/>
                  </a:lnTo>
                  <a:close/>
                </a:path>
                <a:path w="78105" h="791844">
                  <a:moveTo>
                    <a:pt x="77723" y="713613"/>
                  </a:moveTo>
                  <a:lnTo>
                    <a:pt x="51815" y="713613"/>
                  </a:lnTo>
                  <a:lnTo>
                    <a:pt x="51815" y="726567"/>
                  </a:lnTo>
                  <a:lnTo>
                    <a:pt x="71246" y="726567"/>
                  </a:lnTo>
                  <a:lnTo>
                    <a:pt x="77723" y="713613"/>
                  </a:lnTo>
                  <a:close/>
                </a:path>
              </a:pathLst>
            </a:custGeom>
            <a:solidFill>
              <a:srgbClr val="FBB64B"/>
            </a:solidFill>
          </p:spPr>
          <p:txBody>
            <a:bodyPr wrap="square" lIns="0" tIns="0" rIns="0" bIns="0" rtlCol="0"/>
            <a:lstStyle/>
            <a:p>
              <a:endParaRPr/>
            </a:p>
          </p:txBody>
        </p:sp>
        <p:pic>
          <p:nvPicPr>
            <p:cNvPr id="14" name="object 14"/>
            <p:cNvPicPr/>
            <p:nvPr/>
          </p:nvPicPr>
          <p:blipFill>
            <a:blip r:embed="rId4" cstate="print"/>
            <a:stretch>
              <a:fillRect/>
            </a:stretch>
          </p:blipFill>
          <p:spPr>
            <a:xfrm>
              <a:off x="2950464" y="2264676"/>
              <a:ext cx="237832" cy="1150607"/>
            </a:xfrm>
            <a:prstGeom prst="rect">
              <a:avLst/>
            </a:prstGeom>
          </p:spPr>
        </p:pic>
        <p:sp>
          <p:nvSpPr>
            <p:cNvPr id="15" name="object 15"/>
            <p:cNvSpPr/>
            <p:nvPr/>
          </p:nvSpPr>
          <p:spPr>
            <a:xfrm>
              <a:off x="3032760" y="2286761"/>
              <a:ext cx="78105" cy="992505"/>
            </a:xfrm>
            <a:custGeom>
              <a:avLst/>
              <a:gdLst/>
              <a:ahLst/>
              <a:cxnLst/>
              <a:rect l="l" t="t" r="r" b="b"/>
              <a:pathLst>
                <a:path w="78105" h="992504">
                  <a:moveTo>
                    <a:pt x="25907" y="914526"/>
                  </a:moveTo>
                  <a:lnTo>
                    <a:pt x="0" y="914526"/>
                  </a:lnTo>
                  <a:lnTo>
                    <a:pt x="38862" y="992251"/>
                  </a:lnTo>
                  <a:lnTo>
                    <a:pt x="71246" y="927481"/>
                  </a:lnTo>
                  <a:lnTo>
                    <a:pt x="25907" y="927481"/>
                  </a:lnTo>
                  <a:lnTo>
                    <a:pt x="25907" y="914526"/>
                  </a:lnTo>
                  <a:close/>
                </a:path>
                <a:path w="78105" h="992504">
                  <a:moveTo>
                    <a:pt x="51815" y="0"/>
                  </a:moveTo>
                  <a:lnTo>
                    <a:pt x="25907" y="0"/>
                  </a:lnTo>
                  <a:lnTo>
                    <a:pt x="25907" y="927481"/>
                  </a:lnTo>
                  <a:lnTo>
                    <a:pt x="51815" y="927481"/>
                  </a:lnTo>
                  <a:lnTo>
                    <a:pt x="51815" y="0"/>
                  </a:lnTo>
                  <a:close/>
                </a:path>
                <a:path w="78105" h="992504">
                  <a:moveTo>
                    <a:pt x="77723" y="914526"/>
                  </a:moveTo>
                  <a:lnTo>
                    <a:pt x="51815" y="914526"/>
                  </a:lnTo>
                  <a:lnTo>
                    <a:pt x="51815" y="927481"/>
                  </a:lnTo>
                  <a:lnTo>
                    <a:pt x="71246" y="927481"/>
                  </a:lnTo>
                  <a:lnTo>
                    <a:pt x="77723" y="914526"/>
                  </a:lnTo>
                  <a:close/>
                </a:path>
              </a:pathLst>
            </a:custGeom>
            <a:solidFill>
              <a:srgbClr val="FBB64B"/>
            </a:solidFill>
          </p:spPr>
          <p:txBody>
            <a:bodyPr wrap="square" lIns="0" tIns="0" rIns="0" bIns="0" rtlCol="0"/>
            <a:lstStyle/>
            <a:p>
              <a:endParaRPr/>
            </a:p>
          </p:txBody>
        </p:sp>
        <p:sp>
          <p:nvSpPr>
            <p:cNvPr id="16" name="object 16"/>
            <p:cNvSpPr/>
            <p:nvPr/>
          </p:nvSpPr>
          <p:spPr>
            <a:xfrm>
              <a:off x="4208526" y="3693414"/>
              <a:ext cx="890269" cy="431800"/>
            </a:xfrm>
            <a:custGeom>
              <a:avLst/>
              <a:gdLst/>
              <a:ahLst/>
              <a:cxnLst/>
              <a:rect l="l" t="t" r="r" b="b"/>
              <a:pathLst>
                <a:path w="890270" h="431800">
                  <a:moveTo>
                    <a:pt x="818134" y="0"/>
                  </a:moveTo>
                  <a:lnTo>
                    <a:pt x="71882" y="0"/>
                  </a:lnTo>
                  <a:lnTo>
                    <a:pt x="43880" y="5641"/>
                  </a:lnTo>
                  <a:lnTo>
                    <a:pt x="21034" y="21034"/>
                  </a:lnTo>
                  <a:lnTo>
                    <a:pt x="5641" y="43880"/>
                  </a:lnTo>
                  <a:lnTo>
                    <a:pt x="0" y="71882"/>
                  </a:lnTo>
                  <a:lnTo>
                    <a:pt x="0" y="359410"/>
                  </a:lnTo>
                  <a:lnTo>
                    <a:pt x="5641" y="387390"/>
                  </a:lnTo>
                  <a:lnTo>
                    <a:pt x="21034" y="410238"/>
                  </a:lnTo>
                  <a:lnTo>
                    <a:pt x="43880" y="425643"/>
                  </a:lnTo>
                  <a:lnTo>
                    <a:pt x="71882" y="431292"/>
                  </a:lnTo>
                  <a:lnTo>
                    <a:pt x="818134" y="431292"/>
                  </a:lnTo>
                  <a:lnTo>
                    <a:pt x="846135" y="425643"/>
                  </a:lnTo>
                  <a:lnTo>
                    <a:pt x="868981" y="410238"/>
                  </a:lnTo>
                  <a:lnTo>
                    <a:pt x="884374" y="387390"/>
                  </a:lnTo>
                  <a:lnTo>
                    <a:pt x="890015" y="359410"/>
                  </a:lnTo>
                  <a:lnTo>
                    <a:pt x="890015" y="71882"/>
                  </a:lnTo>
                  <a:lnTo>
                    <a:pt x="884374" y="43880"/>
                  </a:lnTo>
                  <a:lnTo>
                    <a:pt x="868981" y="21034"/>
                  </a:lnTo>
                  <a:lnTo>
                    <a:pt x="846135" y="5641"/>
                  </a:lnTo>
                  <a:lnTo>
                    <a:pt x="818134" y="0"/>
                  </a:lnTo>
                  <a:close/>
                </a:path>
              </a:pathLst>
            </a:custGeom>
            <a:solidFill>
              <a:srgbClr val="FF0000"/>
            </a:solidFill>
          </p:spPr>
          <p:txBody>
            <a:bodyPr wrap="square" lIns="0" tIns="0" rIns="0" bIns="0" rtlCol="0"/>
            <a:lstStyle/>
            <a:p>
              <a:endParaRPr/>
            </a:p>
          </p:txBody>
        </p:sp>
        <p:sp>
          <p:nvSpPr>
            <p:cNvPr id="17" name="object 17"/>
            <p:cNvSpPr/>
            <p:nvPr/>
          </p:nvSpPr>
          <p:spPr>
            <a:xfrm>
              <a:off x="4208526" y="3693414"/>
              <a:ext cx="890269" cy="431800"/>
            </a:xfrm>
            <a:custGeom>
              <a:avLst/>
              <a:gdLst/>
              <a:ahLst/>
              <a:cxnLst/>
              <a:rect l="l" t="t" r="r" b="b"/>
              <a:pathLst>
                <a:path w="890270" h="431800">
                  <a:moveTo>
                    <a:pt x="0" y="71882"/>
                  </a:moveTo>
                  <a:lnTo>
                    <a:pt x="5641" y="43880"/>
                  </a:lnTo>
                  <a:lnTo>
                    <a:pt x="21034" y="21034"/>
                  </a:lnTo>
                  <a:lnTo>
                    <a:pt x="43880" y="5641"/>
                  </a:lnTo>
                  <a:lnTo>
                    <a:pt x="71882" y="0"/>
                  </a:lnTo>
                  <a:lnTo>
                    <a:pt x="818134" y="0"/>
                  </a:lnTo>
                  <a:lnTo>
                    <a:pt x="846135" y="5641"/>
                  </a:lnTo>
                  <a:lnTo>
                    <a:pt x="868981" y="21034"/>
                  </a:lnTo>
                  <a:lnTo>
                    <a:pt x="884374" y="43880"/>
                  </a:lnTo>
                  <a:lnTo>
                    <a:pt x="890015" y="71882"/>
                  </a:lnTo>
                  <a:lnTo>
                    <a:pt x="890015" y="359410"/>
                  </a:lnTo>
                  <a:lnTo>
                    <a:pt x="884374" y="387390"/>
                  </a:lnTo>
                  <a:lnTo>
                    <a:pt x="868981" y="410238"/>
                  </a:lnTo>
                  <a:lnTo>
                    <a:pt x="846135" y="425643"/>
                  </a:lnTo>
                  <a:lnTo>
                    <a:pt x="818134" y="431292"/>
                  </a:lnTo>
                  <a:lnTo>
                    <a:pt x="71882" y="431292"/>
                  </a:lnTo>
                  <a:lnTo>
                    <a:pt x="43880" y="425643"/>
                  </a:lnTo>
                  <a:lnTo>
                    <a:pt x="21034" y="410238"/>
                  </a:lnTo>
                  <a:lnTo>
                    <a:pt x="5641" y="387390"/>
                  </a:lnTo>
                  <a:lnTo>
                    <a:pt x="0" y="359410"/>
                  </a:lnTo>
                  <a:lnTo>
                    <a:pt x="0" y="71882"/>
                  </a:lnTo>
                  <a:close/>
                </a:path>
              </a:pathLst>
            </a:custGeom>
            <a:ln w="25908">
              <a:solidFill>
                <a:srgbClr val="464646"/>
              </a:solidFill>
            </a:ln>
          </p:spPr>
          <p:txBody>
            <a:bodyPr wrap="square" lIns="0" tIns="0" rIns="0" bIns="0" rtlCol="0"/>
            <a:lstStyle/>
            <a:p>
              <a:endParaRPr/>
            </a:p>
          </p:txBody>
        </p:sp>
        <p:sp>
          <p:nvSpPr>
            <p:cNvPr id="19" name="object 19"/>
            <p:cNvSpPr/>
            <p:nvPr/>
          </p:nvSpPr>
          <p:spPr>
            <a:xfrm>
              <a:off x="4377690" y="3963161"/>
              <a:ext cx="889000" cy="433070"/>
            </a:xfrm>
            <a:custGeom>
              <a:avLst/>
              <a:gdLst/>
              <a:ahLst/>
              <a:cxnLst/>
              <a:rect l="l" t="t" r="r" b="b"/>
              <a:pathLst>
                <a:path w="889000" h="433070">
                  <a:moveTo>
                    <a:pt x="0" y="72135"/>
                  </a:moveTo>
                  <a:lnTo>
                    <a:pt x="5663" y="44057"/>
                  </a:lnTo>
                  <a:lnTo>
                    <a:pt x="21113" y="21128"/>
                  </a:lnTo>
                  <a:lnTo>
                    <a:pt x="44041" y="5668"/>
                  </a:lnTo>
                  <a:lnTo>
                    <a:pt x="72136" y="0"/>
                  </a:lnTo>
                  <a:lnTo>
                    <a:pt x="816356" y="0"/>
                  </a:lnTo>
                  <a:lnTo>
                    <a:pt x="844450" y="5668"/>
                  </a:lnTo>
                  <a:lnTo>
                    <a:pt x="867378" y="21128"/>
                  </a:lnTo>
                  <a:lnTo>
                    <a:pt x="882828" y="44057"/>
                  </a:lnTo>
                  <a:lnTo>
                    <a:pt x="888492" y="72135"/>
                  </a:lnTo>
                  <a:lnTo>
                    <a:pt x="888492" y="360679"/>
                  </a:lnTo>
                  <a:lnTo>
                    <a:pt x="882828" y="388758"/>
                  </a:lnTo>
                  <a:lnTo>
                    <a:pt x="867378" y="411687"/>
                  </a:lnTo>
                  <a:lnTo>
                    <a:pt x="844450" y="427147"/>
                  </a:lnTo>
                  <a:lnTo>
                    <a:pt x="816356" y="432816"/>
                  </a:lnTo>
                  <a:lnTo>
                    <a:pt x="72136" y="432816"/>
                  </a:lnTo>
                  <a:lnTo>
                    <a:pt x="44041" y="427147"/>
                  </a:lnTo>
                  <a:lnTo>
                    <a:pt x="21113" y="411687"/>
                  </a:lnTo>
                  <a:lnTo>
                    <a:pt x="5663" y="388758"/>
                  </a:lnTo>
                  <a:lnTo>
                    <a:pt x="0" y="360679"/>
                  </a:lnTo>
                  <a:lnTo>
                    <a:pt x="0" y="72135"/>
                  </a:lnTo>
                  <a:close/>
                </a:path>
              </a:pathLst>
            </a:custGeom>
            <a:ln w="25908">
              <a:solidFill>
                <a:srgbClr val="464646"/>
              </a:solidFill>
            </a:ln>
          </p:spPr>
          <p:txBody>
            <a:bodyPr wrap="square" lIns="0" tIns="0" rIns="0" bIns="0" rtlCol="0"/>
            <a:lstStyle/>
            <a:p>
              <a:endParaRPr/>
            </a:p>
          </p:txBody>
        </p:sp>
      </p:grpSp>
      <p:sp>
        <p:nvSpPr>
          <p:cNvPr id="20" name="object 20"/>
          <p:cNvSpPr txBox="1"/>
          <p:nvPr/>
        </p:nvSpPr>
        <p:spPr>
          <a:xfrm>
            <a:off x="4884165" y="1464690"/>
            <a:ext cx="2291715" cy="848994"/>
          </a:xfrm>
          <a:prstGeom prst="rect">
            <a:avLst/>
          </a:prstGeom>
        </p:spPr>
        <p:txBody>
          <a:bodyPr vert="horz" wrap="square" lIns="0" tIns="12700" rIns="0" bIns="0" rtlCol="0">
            <a:spAutoFit/>
          </a:bodyPr>
          <a:lstStyle/>
          <a:p>
            <a:pPr marL="299085" indent="-287020">
              <a:lnSpc>
                <a:spcPct val="100000"/>
              </a:lnSpc>
              <a:spcBef>
                <a:spcPts val="100"/>
              </a:spcBef>
              <a:buChar char="•"/>
              <a:tabLst>
                <a:tab pos="299085" algn="l"/>
                <a:tab pos="299720" algn="l"/>
              </a:tabLst>
            </a:pPr>
            <a:r>
              <a:rPr sz="1800" spc="-5" dirty="0">
                <a:solidFill>
                  <a:srgbClr val="464646"/>
                </a:solidFill>
                <a:latin typeface="Arial MT"/>
                <a:cs typeface="Arial MT"/>
              </a:rPr>
              <a:t>Request</a:t>
            </a:r>
            <a:r>
              <a:rPr sz="1800" spc="-30" dirty="0">
                <a:solidFill>
                  <a:srgbClr val="464646"/>
                </a:solidFill>
                <a:latin typeface="Arial MT"/>
                <a:cs typeface="Arial MT"/>
              </a:rPr>
              <a:t> </a:t>
            </a:r>
            <a:r>
              <a:rPr sz="1800" spc="-5" dirty="0">
                <a:solidFill>
                  <a:srgbClr val="464646"/>
                </a:solidFill>
                <a:latin typeface="Arial MT"/>
                <a:cs typeface="Arial MT"/>
              </a:rPr>
              <a:t>Count</a:t>
            </a:r>
            <a:endParaRPr sz="1800">
              <a:latin typeface="Arial MT"/>
              <a:cs typeface="Arial MT"/>
            </a:endParaRPr>
          </a:p>
          <a:p>
            <a:pPr marL="299085" indent="-287020">
              <a:lnSpc>
                <a:spcPct val="100000"/>
              </a:lnSpc>
              <a:buChar char="•"/>
              <a:tabLst>
                <a:tab pos="299085" algn="l"/>
                <a:tab pos="299720" algn="l"/>
              </a:tabLst>
            </a:pPr>
            <a:r>
              <a:rPr sz="1800" dirty="0">
                <a:solidFill>
                  <a:srgbClr val="464646"/>
                </a:solidFill>
                <a:latin typeface="Arial MT"/>
                <a:cs typeface="Arial MT"/>
              </a:rPr>
              <a:t>Errors</a:t>
            </a:r>
            <a:endParaRPr sz="180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Healthy</a:t>
            </a:r>
            <a:r>
              <a:rPr sz="1800" spc="-30" dirty="0">
                <a:solidFill>
                  <a:srgbClr val="464646"/>
                </a:solidFill>
                <a:latin typeface="Arial MT"/>
                <a:cs typeface="Arial MT"/>
              </a:rPr>
              <a:t> </a:t>
            </a:r>
            <a:r>
              <a:rPr sz="1800" spc="-5" dirty="0">
                <a:solidFill>
                  <a:srgbClr val="464646"/>
                </a:solidFill>
                <a:latin typeface="Arial MT"/>
                <a:cs typeface="Arial MT"/>
              </a:rPr>
              <a:t>Host</a:t>
            </a:r>
            <a:r>
              <a:rPr sz="1800" spc="-35" dirty="0">
                <a:solidFill>
                  <a:srgbClr val="464646"/>
                </a:solidFill>
                <a:latin typeface="Arial MT"/>
                <a:cs typeface="Arial MT"/>
              </a:rPr>
              <a:t> </a:t>
            </a:r>
            <a:r>
              <a:rPr sz="1800" spc="-5" dirty="0">
                <a:solidFill>
                  <a:srgbClr val="464646"/>
                </a:solidFill>
                <a:latin typeface="Arial MT"/>
                <a:cs typeface="Arial MT"/>
              </a:rPr>
              <a:t>Count</a:t>
            </a:r>
            <a:endParaRPr sz="1800">
              <a:latin typeface="Arial MT"/>
              <a:cs typeface="Arial MT"/>
            </a:endParaRPr>
          </a:p>
        </p:txBody>
      </p:sp>
      <p:sp>
        <p:nvSpPr>
          <p:cNvPr id="21" name="object 21"/>
          <p:cNvSpPr txBox="1"/>
          <p:nvPr/>
        </p:nvSpPr>
        <p:spPr>
          <a:xfrm>
            <a:off x="4408678" y="3754628"/>
            <a:ext cx="648970" cy="568960"/>
          </a:xfrm>
          <a:prstGeom prst="rect">
            <a:avLst/>
          </a:prstGeom>
        </p:spPr>
        <p:txBody>
          <a:bodyPr vert="horz" wrap="square" lIns="0" tIns="12700" rIns="0" bIns="0" rtlCol="0">
            <a:spAutoFit/>
          </a:bodyPr>
          <a:lstStyle/>
          <a:p>
            <a:pPr marL="12700">
              <a:lnSpc>
                <a:spcPts val="2140"/>
              </a:lnSpc>
              <a:spcBef>
                <a:spcPts val="100"/>
              </a:spcBef>
            </a:pPr>
            <a:r>
              <a:rPr sz="1800" spc="-5" dirty="0">
                <a:solidFill>
                  <a:srgbClr val="464646"/>
                </a:solidFill>
                <a:latin typeface="Arial MT"/>
                <a:cs typeface="Arial MT"/>
              </a:rPr>
              <a:t>E</a:t>
            </a:r>
            <a:r>
              <a:rPr lang="en-IN" sz="1800" spc="-5" dirty="0">
                <a:solidFill>
                  <a:srgbClr val="464646"/>
                </a:solidFill>
                <a:latin typeface="Arial MT"/>
                <a:cs typeface="Arial MT"/>
              </a:rPr>
              <a:t>C2</a:t>
            </a:r>
            <a:endParaRPr lang="en-IN" sz="1800" dirty="0">
              <a:latin typeface="Arial MT"/>
              <a:cs typeface="Arial MT"/>
            </a:endParaRPr>
          </a:p>
          <a:p>
            <a:pPr marL="191135">
              <a:lnSpc>
                <a:spcPts val="2140"/>
              </a:lnSpc>
            </a:pPr>
            <a:r>
              <a:rPr lang="en-IN" sz="1800" spc="-5" dirty="0">
                <a:solidFill>
                  <a:srgbClr val="464646"/>
                </a:solidFill>
                <a:latin typeface="Arial MT"/>
                <a:cs typeface="Arial MT"/>
              </a:rPr>
              <a:t>EC2</a:t>
            </a:r>
            <a:endParaRPr lang="en-IN" sz="1800" dirty="0">
              <a:latin typeface="Arial MT"/>
              <a:cs typeface="Arial MT"/>
            </a:endParaRPr>
          </a:p>
        </p:txBody>
      </p:sp>
      <p:sp>
        <p:nvSpPr>
          <p:cNvPr id="22" name="object 22"/>
          <p:cNvSpPr txBox="1"/>
          <p:nvPr/>
        </p:nvSpPr>
        <p:spPr>
          <a:xfrm>
            <a:off x="5677027" y="3113023"/>
            <a:ext cx="2610485" cy="1671955"/>
          </a:xfrm>
          <a:prstGeom prst="rect">
            <a:avLst/>
          </a:prstGeom>
        </p:spPr>
        <p:txBody>
          <a:bodyPr vert="horz" wrap="square" lIns="0" tIns="12700" rIns="0" bIns="0" rtlCol="0">
            <a:spAutoFit/>
          </a:bodyPr>
          <a:lstStyle/>
          <a:p>
            <a:pPr marL="299085" indent="-287020">
              <a:lnSpc>
                <a:spcPct val="100000"/>
              </a:lnSpc>
              <a:spcBef>
                <a:spcPts val="100"/>
              </a:spcBef>
              <a:buChar char="•"/>
              <a:tabLst>
                <a:tab pos="299085" algn="l"/>
                <a:tab pos="299720" algn="l"/>
              </a:tabLst>
            </a:pPr>
            <a:r>
              <a:rPr sz="1800" spc="-5" dirty="0">
                <a:solidFill>
                  <a:srgbClr val="464646"/>
                </a:solidFill>
                <a:latin typeface="Arial MT"/>
                <a:cs typeface="Arial MT"/>
              </a:rPr>
              <a:t>CPU</a:t>
            </a:r>
            <a:r>
              <a:rPr sz="1800" spc="-50" dirty="0">
                <a:solidFill>
                  <a:srgbClr val="464646"/>
                </a:solidFill>
                <a:latin typeface="Arial MT"/>
                <a:cs typeface="Arial MT"/>
              </a:rPr>
              <a:t> </a:t>
            </a:r>
            <a:r>
              <a:rPr sz="1800" spc="-5" dirty="0">
                <a:solidFill>
                  <a:srgbClr val="464646"/>
                </a:solidFill>
                <a:latin typeface="Arial MT"/>
                <a:cs typeface="Arial MT"/>
              </a:rPr>
              <a:t>%</a:t>
            </a:r>
            <a:endParaRPr sz="1800">
              <a:latin typeface="Arial MT"/>
              <a:cs typeface="Arial MT"/>
            </a:endParaRPr>
          </a:p>
          <a:p>
            <a:pPr marL="299085" indent="-287020">
              <a:lnSpc>
                <a:spcPct val="100000"/>
              </a:lnSpc>
              <a:buChar char="•"/>
              <a:tabLst>
                <a:tab pos="299085" algn="l"/>
                <a:tab pos="299720" algn="l"/>
              </a:tabLst>
            </a:pPr>
            <a:r>
              <a:rPr sz="1800" spc="-10" dirty="0">
                <a:solidFill>
                  <a:srgbClr val="464646"/>
                </a:solidFill>
                <a:latin typeface="Arial MT"/>
                <a:cs typeface="Arial MT"/>
              </a:rPr>
              <a:t>Network</a:t>
            </a:r>
            <a:r>
              <a:rPr sz="1800" spc="5" dirty="0">
                <a:solidFill>
                  <a:srgbClr val="464646"/>
                </a:solidFill>
                <a:latin typeface="Arial MT"/>
                <a:cs typeface="Arial MT"/>
              </a:rPr>
              <a:t> </a:t>
            </a:r>
            <a:r>
              <a:rPr sz="1800" dirty="0">
                <a:solidFill>
                  <a:srgbClr val="464646"/>
                </a:solidFill>
                <a:latin typeface="Arial MT"/>
                <a:cs typeface="Arial MT"/>
              </a:rPr>
              <a:t>I/O</a:t>
            </a:r>
            <a:endParaRPr sz="1800">
              <a:latin typeface="Arial MT"/>
              <a:cs typeface="Arial MT"/>
            </a:endParaRPr>
          </a:p>
          <a:p>
            <a:pPr marL="299085" indent="-287020">
              <a:lnSpc>
                <a:spcPct val="100000"/>
              </a:lnSpc>
              <a:buChar char="•"/>
              <a:tabLst>
                <a:tab pos="299085" algn="l"/>
                <a:tab pos="299720" algn="l"/>
                <a:tab pos="1250950" algn="l"/>
              </a:tabLst>
            </a:pPr>
            <a:r>
              <a:rPr sz="1800" dirty="0">
                <a:solidFill>
                  <a:srgbClr val="464646"/>
                </a:solidFill>
                <a:latin typeface="Arial MT"/>
                <a:cs typeface="Arial MT"/>
              </a:rPr>
              <a:t>M</a:t>
            </a:r>
            <a:r>
              <a:rPr sz="1800" spc="-10" dirty="0">
                <a:solidFill>
                  <a:srgbClr val="464646"/>
                </a:solidFill>
                <a:latin typeface="Arial MT"/>
                <a:cs typeface="Arial MT"/>
              </a:rPr>
              <a:t>e</a:t>
            </a:r>
            <a:r>
              <a:rPr sz="1800" dirty="0">
                <a:solidFill>
                  <a:srgbClr val="464646"/>
                </a:solidFill>
                <a:latin typeface="Arial MT"/>
                <a:cs typeface="Arial MT"/>
              </a:rPr>
              <a:t>m</a:t>
            </a:r>
            <a:r>
              <a:rPr sz="1800" spc="-10" dirty="0">
                <a:solidFill>
                  <a:srgbClr val="464646"/>
                </a:solidFill>
                <a:latin typeface="Arial MT"/>
                <a:cs typeface="Arial MT"/>
              </a:rPr>
              <a:t>o</a:t>
            </a:r>
            <a:r>
              <a:rPr sz="1800" dirty="0">
                <a:solidFill>
                  <a:srgbClr val="464646"/>
                </a:solidFill>
                <a:latin typeface="Arial MT"/>
                <a:cs typeface="Arial MT"/>
              </a:rPr>
              <a:t>ry	(us</a:t>
            </a:r>
            <a:r>
              <a:rPr sz="1800" spc="-10" dirty="0">
                <a:solidFill>
                  <a:srgbClr val="464646"/>
                </a:solidFill>
                <a:latin typeface="Arial MT"/>
                <a:cs typeface="Arial MT"/>
              </a:rPr>
              <a:t>in</a:t>
            </a:r>
            <a:r>
              <a:rPr sz="1800" dirty="0">
                <a:solidFill>
                  <a:srgbClr val="464646"/>
                </a:solidFill>
                <a:latin typeface="Arial MT"/>
                <a:cs typeface="Arial MT"/>
              </a:rPr>
              <a:t>g</a:t>
            </a:r>
            <a:r>
              <a:rPr sz="1800" spc="-90" dirty="0">
                <a:solidFill>
                  <a:srgbClr val="464646"/>
                </a:solidFill>
                <a:latin typeface="Arial MT"/>
                <a:cs typeface="Arial MT"/>
              </a:rPr>
              <a:t> </a:t>
            </a:r>
            <a:r>
              <a:rPr sz="1800" dirty="0">
                <a:solidFill>
                  <a:srgbClr val="464646"/>
                </a:solidFill>
                <a:latin typeface="Arial MT"/>
                <a:cs typeface="Arial MT"/>
              </a:rPr>
              <a:t>A</a:t>
            </a:r>
            <a:r>
              <a:rPr sz="1800" spc="-10" dirty="0">
                <a:solidFill>
                  <a:srgbClr val="464646"/>
                </a:solidFill>
                <a:latin typeface="Arial MT"/>
                <a:cs typeface="Arial MT"/>
              </a:rPr>
              <a:t>gen</a:t>
            </a:r>
            <a:r>
              <a:rPr sz="1800" dirty="0">
                <a:solidFill>
                  <a:srgbClr val="464646"/>
                </a:solidFill>
                <a:latin typeface="Arial MT"/>
                <a:cs typeface="Arial MT"/>
              </a:rPr>
              <a:t>t)</a:t>
            </a:r>
            <a:endParaRPr sz="180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Disk</a:t>
            </a:r>
            <a:r>
              <a:rPr sz="1800" spc="-25" dirty="0">
                <a:solidFill>
                  <a:srgbClr val="464646"/>
                </a:solidFill>
                <a:latin typeface="Arial MT"/>
                <a:cs typeface="Arial MT"/>
              </a:rPr>
              <a:t> </a:t>
            </a:r>
            <a:r>
              <a:rPr sz="1800" spc="-5" dirty="0">
                <a:solidFill>
                  <a:srgbClr val="464646"/>
                </a:solidFill>
                <a:latin typeface="Arial MT"/>
                <a:cs typeface="Arial MT"/>
              </a:rPr>
              <a:t>(using</a:t>
            </a:r>
            <a:r>
              <a:rPr sz="1800" spc="-100" dirty="0">
                <a:solidFill>
                  <a:srgbClr val="464646"/>
                </a:solidFill>
                <a:latin typeface="Arial MT"/>
                <a:cs typeface="Arial MT"/>
              </a:rPr>
              <a:t> </a:t>
            </a:r>
            <a:r>
              <a:rPr sz="1800" spc="-5" dirty="0">
                <a:solidFill>
                  <a:srgbClr val="464646"/>
                </a:solidFill>
                <a:latin typeface="Arial MT"/>
                <a:cs typeface="Arial MT"/>
              </a:rPr>
              <a:t>Agent)</a:t>
            </a:r>
            <a:endParaRPr sz="180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Instance</a:t>
            </a:r>
            <a:r>
              <a:rPr sz="1800" spc="-30" dirty="0">
                <a:solidFill>
                  <a:srgbClr val="464646"/>
                </a:solidFill>
                <a:latin typeface="Arial MT"/>
                <a:cs typeface="Arial MT"/>
              </a:rPr>
              <a:t> </a:t>
            </a:r>
            <a:r>
              <a:rPr sz="1800" dirty="0">
                <a:solidFill>
                  <a:srgbClr val="464646"/>
                </a:solidFill>
                <a:latin typeface="Arial MT"/>
                <a:cs typeface="Arial MT"/>
              </a:rPr>
              <a:t>Status</a:t>
            </a:r>
            <a:r>
              <a:rPr sz="1800" spc="-30" dirty="0">
                <a:solidFill>
                  <a:srgbClr val="464646"/>
                </a:solidFill>
                <a:latin typeface="Arial MT"/>
                <a:cs typeface="Arial MT"/>
              </a:rPr>
              <a:t> </a:t>
            </a:r>
            <a:r>
              <a:rPr sz="1800" spc="-5" dirty="0">
                <a:solidFill>
                  <a:srgbClr val="464646"/>
                </a:solidFill>
                <a:latin typeface="Arial MT"/>
                <a:cs typeface="Arial MT"/>
              </a:rPr>
              <a:t>Check</a:t>
            </a:r>
            <a:endParaRPr sz="180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System</a:t>
            </a:r>
            <a:r>
              <a:rPr sz="1800" spc="-20" dirty="0">
                <a:solidFill>
                  <a:srgbClr val="464646"/>
                </a:solidFill>
                <a:latin typeface="Arial MT"/>
                <a:cs typeface="Arial MT"/>
              </a:rPr>
              <a:t> </a:t>
            </a:r>
            <a:r>
              <a:rPr sz="1800" dirty="0">
                <a:solidFill>
                  <a:srgbClr val="464646"/>
                </a:solidFill>
                <a:latin typeface="Arial MT"/>
                <a:cs typeface="Arial MT"/>
              </a:rPr>
              <a:t>Status</a:t>
            </a:r>
            <a:r>
              <a:rPr sz="1800" spc="-60" dirty="0">
                <a:solidFill>
                  <a:srgbClr val="464646"/>
                </a:solidFill>
                <a:latin typeface="Arial MT"/>
                <a:cs typeface="Arial MT"/>
              </a:rPr>
              <a:t> </a:t>
            </a:r>
            <a:r>
              <a:rPr sz="1800" spc="-5" dirty="0">
                <a:solidFill>
                  <a:srgbClr val="464646"/>
                </a:solidFill>
                <a:latin typeface="Arial MT"/>
                <a:cs typeface="Arial MT"/>
              </a:rPr>
              <a:t>Check</a:t>
            </a:r>
            <a:endParaRPr sz="1800">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2CA8A-DB63-3EC6-9B21-26CB0DA359C9}"/>
              </a:ext>
            </a:extLst>
          </p:cNvPr>
          <p:cNvSpPr>
            <a:spLocks noGrp="1"/>
          </p:cNvSpPr>
          <p:nvPr>
            <p:ph type="title"/>
          </p:nvPr>
        </p:nvSpPr>
        <p:spPr>
          <a:xfrm>
            <a:off x="375665" y="139065"/>
            <a:ext cx="8392668" cy="430887"/>
          </a:xfrm>
        </p:spPr>
        <p:txBody>
          <a:bodyPr/>
          <a:lstStyle/>
          <a:p>
            <a:r>
              <a:rPr lang="en-US" dirty="0" err="1"/>
              <a:t>CloudWacth</a:t>
            </a:r>
            <a:r>
              <a:rPr lang="en-US" dirty="0"/>
              <a:t> Log Architecture </a:t>
            </a:r>
            <a:endParaRPr lang="en-IN" dirty="0"/>
          </a:p>
        </p:txBody>
      </p:sp>
      <p:sp>
        <p:nvSpPr>
          <p:cNvPr id="3" name="Text Placeholder 2">
            <a:extLst>
              <a:ext uri="{FF2B5EF4-FFF2-40B4-BE49-F238E27FC236}">
                <a16:creationId xmlns:a16="http://schemas.microsoft.com/office/drawing/2014/main" id="{B85E196D-F624-4DF0-6B4F-EC241649FD26}"/>
              </a:ext>
            </a:extLst>
          </p:cNvPr>
          <p:cNvSpPr>
            <a:spLocks noGrp="1"/>
          </p:cNvSpPr>
          <p:nvPr>
            <p:ph type="body" idx="1"/>
          </p:nvPr>
        </p:nvSpPr>
        <p:spPr>
          <a:xfrm>
            <a:off x="381406" y="1035177"/>
            <a:ext cx="8381187" cy="1938992"/>
          </a:xfrm>
        </p:spPr>
        <p:txBody>
          <a:bodyPr/>
          <a:lstStyle/>
          <a:p>
            <a:r>
              <a:rPr lang="en-US" dirty="0"/>
              <a:t>Lets look at log monitoring architecture.in Cloud Watch. </a:t>
            </a:r>
          </a:p>
          <a:p>
            <a:r>
              <a:rPr lang="en-US" dirty="0"/>
              <a:t>In this example we have server instance generating log files </a:t>
            </a:r>
          </a:p>
          <a:p>
            <a:r>
              <a:rPr lang="en-US" dirty="0"/>
              <a:t>We want consolidate and monitor Log files .</a:t>
            </a:r>
          </a:p>
          <a:p>
            <a:r>
              <a:rPr lang="en-US" dirty="0"/>
              <a:t>There are couple of ways in which we can collect and publish  cloud Watch </a:t>
            </a:r>
          </a:p>
          <a:p>
            <a:r>
              <a:rPr lang="en-US" dirty="0"/>
              <a:t>We can use AWS product, Log Agents, Once you install and configure logs automatically flow </a:t>
            </a:r>
          </a:p>
          <a:p>
            <a:endParaRPr lang="en-IN" dirty="0"/>
          </a:p>
        </p:txBody>
      </p:sp>
    </p:spTree>
    <p:extLst>
      <p:ext uri="{BB962C8B-B14F-4D97-AF65-F5344CB8AC3E}">
        <p14:creationId xmlns:p14="http://schemas.microsoft.com/office/powerpoint/2010/main" val="2676347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14046"/>
            <a:ext cx="5017135" cy="452120"/>
          </a:xfrm>
          <a:prstGeom prst="rect">
            <a:avLst/>
          </a:prstGeom>
        </p:spPr>
        <p:txBody>
          <a:bodyPr vert="horz" wrap="square" lIns="0" tIns="12065" rIns="0" bIns="0" rtlCol="0">
            <a:spAutoFit/>
          </a:bodyPr>
          <a:lstStyle/>
          <a:p>
            <a:pPr marL="12700">
              <a:lnSpc>
                <a:spcPct val="100000"/>
              </a:lnSpc>
              <a:spcBef>
                <a:spcPts val="95"/>
              </a:spcBef>
            </a:pPr>
            <a:r>
              <a:rPr spc="-15" dirty="0"/>
              <a:t>CloudWatch</a:t>
            </a:r>
            <a:r>
              <a:rPr spc="15" dirty="0"/>
              <a:t> </a:t>
            </a:r>
            <a:r>
              <a:rPr spc="-10" dirty="0"/>
              <a:t>Log</a:t>
            </a:r>
            <a:r>
              <a:rPr spc="-105" dirty="0"/>
              <a:t> </a:t>
            </a:r>
            <a:r>
              <a:rPr spc="-5" dirty="0"/>
              <a:t>Architecture</a:t>
            </a:r>
          </a:p>
        </p:txBody>
      </p:sp>
      <p:sp>
        <p:nvSpPr>
          <p:cNvPr id="3" name="object 3"/>
          <p:cNvSpPr/>
          <p:nvPr/>
        </p:nvSpPr>
        <p:spPr>
          <a:xfrm>
            <a:off x="590550" y="1213866"/>
            <a:ext cx="1795780" cy="906780"/>
          </a:xfrm>
          <a:custGeom>
            <a:avLst/>
            <a:gdLst/>
            <a:ahLst/>
            <a:cxnLst/>
            <a:rect l="l" t="t" r="r" b="b"/>
            <a:pathLst>
              <a:path w="1795780" h="906780">
                <a:moveTo>
                  <a:pt x="0" y="151130"/>
                </a:moveTo>
                <a:lnTo>
                  <a:pt x="7704" y="103371"/>
                </a:lnTo>
                <a:lnTo>
                  <a:pt x="29160" y="61886"/>
                </a:lnTo>
                <a:lnTo>
                  <a:pt x="61875" y="29167"/>
                </a:lnTo>
                <a:lnTo>
                  <a:pt x="103362" y="7707"/>
                </a:lnTo>
                <a:lnTo>
                  <a:pt x="151129" y="0"/>
                </a:lnTo>
                <a:lnTo>
                  <a:pt x="1644142" y="0"/>
                </a:lnTo>
                <a:lnTo>
                  <a:pt x="1691900" y="7707"/>
                </a:lnTo>
                <a:lnTo>
                  <a:pt x="1733385" y="29167"/>
                </a:lnTo>
                <a:lnTo>
                  <a:pt x="1766104" y="61886"/>
                </a:lnTo>
                <a:lnTo>
                  <a:pt x="1787564" y="103371"/>
                </a:lnTo>
                <a:lnTo>
                  <a:pt x="1795272" y="151130"/>
                </a:lnTo>
                <a:lnTo>
                  <a:pt x="1795272" y="755650"/>
                </a:lnTo>
                <a:lnTo>
                  <a:pt x="1787564" y="803408"/>
                </a:lnTo>
                <a:lnTo>
                  <a:pt x="1766104" y="844893"/>
                </a:lnTo>
                <a:lnTo>
                  <a:pt x="1733385" y="877612"/>
                </a:lnTo>
                <a:lnTo>
                  <a:pt x="1691900" y="899072"/>
                </a:lnTo>
                <a:lnTo>
                  <a:pt x="1644142" y="906780"/>
                </a:lnTo>
                <a:lnTo>
                  <a:pt x="151129" y="906780"/>
                </a:lnTo>
                <a:lnTo>
                  <a:pt x="103362" y="899072"/>
                </a:lnTo>
                <a:lnTo>
                  <a:pt x="61875" y="877612"/>
                </a:lnTo>
                <a:lnTo>
                  <a:pt x="29160" y="844893"/>
                </a:lnTo>
                <a:lnTo>
                  <a:pt x="7704" y="803408"/>
                </a:lnTo>
                <a:lnTo>
                  <a:pt x="0" y="755650"/>
                </a:lnTo>
                <a:lnTo>
                  <a:pt x="0" y="151130"/>
                </a:lnTo>
                <a:close/>
              </a:path>
            </a:pathLst>
          </a:custGeom>
          <a:ln w="25908">
            <a:solidFill>
              <a:srgbClr val="464646"/>
            </a:solidFill>
          </a:ln>
        </p:spPr>
        <p:txBody>
          <a:bodyPr wrap="square" lIns="0" tIns="0" rIns="0" bIns="0" rtlCol="0"/>
          <a:lstStyle/>
          <a:p>
            <a:endParaRPr/>
          </a:p>
        </p:txBody>
      </p:sp>
      <p:sp>
        <p:nvSpPr>
          <p:cNvPr id="4" name="object 4"/>
          <p:cNvSpPr txBox="1"/>
          <p:nvPr/>
        </p:nvSpPr>
        <p:spPr>
          <a:xfrm>
            <a:off x="1044041" y="1511300"/>
            <a:ext cx="8890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Instance</a:t>
            </a:r>
            <a:endParaRPr sz="1800">
              <a:latin typeface="Arial MT"/>
              <a:cs typeface="Arial MT"/>
            </a:endParaRPr>
          </a:p>
        </p:txBody>
      </p:sp>
      <p:grpSp>
        <p:nvGrpSpPr>
          <p:cNvPr id="5" name="object 5"/>
          <p:cNvGrpSpPr/>
          <p:nvPr/>
        </p:nvGrpSpPr>
        <p:grpSpPr>
          <a:xfrm>
            <a:off x="850391" y="1772411"/>
            <a:ext cx="1278890" cy="993775"/>
            <a:chOff x="850391" y="1772411"/>
            <a:chExt cx="1278890" cy="993775"/>
          </a:xfrm>
        </p:grpSpPr>
        <p:sp>
          <p:nvSpPr>
            <p:cNvPr id="6" name="object 6"/>
            <p:cNvSpPr/>
            <p:nvPr/>
          </p:nvSpPr>
          <p:spPr>
            <a:xfrm>
              <a:off x="1314450" y="2391917"/>
              <a:ext cx="349250" cy="361315"/>
            </a:xfrm>
            <a:custGeom>
              <a:avLst/>
              <a:gdLst/>
              <a:ahLst/>
              <a:cxnLst/>
              <a:rect l="l" t="t" r="r" b="b"/>
              <a:pathLst>
                <a:path w="349250" h="361314">
                  <a:moveTo>
                    <a:pt x="348995" y="43561"/>
                  </a:moveTo>
                  <a:lnTo>
                    <a:pt x="335285" y="60567"/>
                  </a:lnTo>
                  <a:lnTo>
                    <a:pt x="297894" y="74453"/>
                  </a:lnTo>
                  <a:lnTo>
                    <a:pt x="242429" y="83816"/>
                  </a:lnTo>
                  <a:lnTo>
                    <a:pt x="174497" y="87249"/>
                  </a:lnTo>
                  <a:lnTo>
                    <a:pt x="106566" y="83816"/>
                  </a:lnTo>
                  <a:lnTo>
                    <a:pt x="51101" y="74453"/>
                  </a:lnTo>
                  <a:lnTo>
                    <a:pt x="13710" y="60567"/>
                  </a:lnTo>
                  <a:lnTo>
                    <a:pt x="0" y="43561"/>
                  </a:lnTo>
                  <a:lnTo>
                    <a:pt x="13710" y="26628"/>
                  </a:lnTo>
                  <a:lnTo>
                    <a:pt x="51101" y="12779"/>
                  </a:lnTo>
                  <a:lnTo>
                    <a:pt x="106566" y="3430"/>
                  </a:lnTo>
                  <a:lnTo>
                    <a:pt x="174497" y="0"/>
                  </a:lnTo>
                  <a:lnTo>
                    <a:pt x="242429" y="3430"/>
                  </a:lnTo>
                  <a:lnTo>
                    <a:pt x="297894" y="12779"/>
                  </a:lnTo>
                  <a:lnTo>
                    <a:pt x="335285" y="26628"/>
                  </a:lnTo>
                  <a:lnTo>
                    <a:pt x="348995" y="43561"/>
                  </a:lnTo>
                  <a:close/>
                </a:path>
                <a:path w="349250" h="361314">
                  <a:moveTo>
                    <a:pt x="348995" y="43561"/>
                  </a:moveTo>
                  <a:lnTo>
                    <a:pt x="348995" y="317500"/>
                  </a:lnTo>
                  <a:lnTo>
                    <a:pt x="335285" y="334506"/>
                  </a:lnTo>
                  <a:lnTo>
                    <a:pt x="297894" y="348392"/>
                  </a:lnTo>
                  <a:lnTo>
                    <a:pt x="242429" y="357755"/>
                  </a:lnTo>
                  <a:lnTo>
                    <a:pt x="174497" y="361188"/>
                  </a:lnTo>
                  <a:lnTo>
                    <a:pt x="106566" y="357755"/>
                  </a:lnTo>
                  <a:lnTo>
                    <a:pt x="51101" y="348392"/>
                  </a:lnTo>
                  <a:lnTo>
                    <a:pt x="13710" y="334506"/>
                  </a:lnTo>
                  <a:lnTo>
                    <a:pt x="0" y="317500"/>
                  </a:lnTo>
                  <a:lnTo>
                    <a:pt x="0" y="43561"/>
                  </a:lnTo>
                </a:path>
              </a:pathLst>
            </a:custGeom>
            <a:ln w="25908">
              <a:solidFill>
                <a:srgbClr val="464646"/>
              </a:solidFill>
            </a:ln>
          </p:spPr>
          <p:txBody>
            <a:bodyPr wrap="square" lIns="0" tIns="0" rIns="0" bIns="0" rtlCol="0"/>
            <a:lstStyle/>
            <a:p>
              <a:endParaRPr/>
            </a:p>
          </p:txBody>
        </p:sp>
        <p:pic>
          <p:nvPicPr>
            <p:cNvPr id="7" name="object 7"/>
            <p:cNvPicPr/>
            <p:nvPr/>
          </p:nvPicPr>
          <p:blipFill>
            <a:blip r:embed="rId3" cstate="print"/>
            <a:stretch>
              <a:fillRect/>
            </a:stretch>
          </p:blipFill>
          <p:spPr>
            <a:xfrm>
              <a:off x="1367027" y="2019312"/>
              <a:ext cx="237832" cy="509003"/>
            </a:xfrm>
            <a:prstGeom prst="rect">
              <a:avLst/>
            </a:prstGeom>
          </p:spPr>
        </p:pic>
        <p:sp>
          <p:nvSpPr>
            <p:cNvPr id="8" name="object 8"/>
            <p:cNvSpPr/>
            <p:nvPr/>
          </p:nvSpPr>
          <p:spPr>
            <a:xfrm>
              <a:off x="1449323" y="2120645"/>
              <a:ext cx="78105" cy="271145"/>
            </a:xfrm>
            <a:custGeom>
              <a:avLst/>
              <a:gdLst/>
              <a:ahLst/>
              <a:cxnLst/>
              <a:rect l="l" t="t" r="r" b="b"/>
              <a:pathLst>
                <a:path w="78105" h="271144">
                  <a:moveTo>
                    <a:pt x="25907" y="193421"/>
                  </a:moveTo>
                  <a:lnTo>
                    <a:pt x="0" y="193421"/>
                  </a:lnTo>
                  <a:lnTo>
                    <a:pt x="38862" y="271145"/>
                  </a:lnTo>
                  <a:lnTo>
                    <a:pt x="71247" y="206375"/>
                  </a:lnTo>
                  <a:lnTo>
                    <a:pt x="25907" y="206375"/>
                  </a:lnTo>
                  <a:lnTo>
                    <a:pt x="25907" y="193421"/>
                  </a:lnTo>
                  <a:close/>
                </a:path>
                <a:path w="78105" h="271144">
                  <a:moveTo>
                    <a:pt x="51815" y="64770"/>
                  </a:moveTo>
                  <a:lnTo>
                    <a:pt x="25907" y="64770"/>
                  </a:lnTo>
                  <a:lnTo>
                    <a:pt x="25907" y="206375"/>
                  </a:lnTo>
                  <a:lnTo>
                    <a:pt x="51815" y="206375"/>
                  </a:lnTo>
                  <a:lnTo>
                    <a:pt x="51815" y="64770"/>
                  </a:lnTo>
                  <a:close/>
                </a:path>
                <a:path w="78105" h="271144">
                  <a:moveTo>
                    <a:pt x="77723" y="193421"/>
                  </a:moveTo>
                  <a:lnTo>
                    <a:pt x="51815" y="193421"/>
                  </a:lnTo>
                  <a:lnTo>
                    <a:pt x="51815" y="206375"/>
                  </a:lnTo>
                  <a:lnTo>
                    <a:pt x="71247" y="206375"/>
                  </a:lnTo>
                  <a:lnTo>
                    <a:pt x="77723" y="193421"/>
                  </a:lnTo>
                  <a:close/>
                </a:path>
                <a:path w="78105" h="271144">
                  <a:moveTo>
                    <a:pt x="38862" y="0"/>
                  </a:moveTo>
                  <a:lnTo>
                    <a:pt x="0" y="77724"/>
                  </a:lnTo>
                  <a:lnTo>
                    <a:pt x="25907" y="77724"/>
                  </a:lnTo>
                  <a:lnTo>
                    <a:pt x="25907" y="64770"/>
                  </a:lnTo>
                  <a:lnTo>
                    <a:pt x="71247" y="64770"/>
                  </a:lnTo>
                  <a:lnTo>
                    <a:pt x="38862" y="0"/>
                  </a:lnTo>
                  <a:close/>
                </a:path>
                <a:path w="78105" h="271144">
                  <a:moveTo>
                    <a:pt x="71247" y="64770"/>
                  </a:moveTo>
                  <a:lnTo>
                    <a:pt x="51815" y="64770"/>
                  </a:lnTo>
                  <a:lnTo>
                    <a:pt x="51815" y="77724"/>
                  </a:lnTo>
                  <a:lnTo>
                    <a:pt x="77723" y="77724"/>
                  </a:lnTo>
                  <a:lnTo>
                    <a:pt x="71247" y="64770"/>
                  </a:lnTo>
                  <a:close/>
                </a:path>
              </a:pathLst>
            </a:custGeom>
            <a:solidFill>
              <a:srgbClr val="FBB64B"/>
            </a:solidFill>
          </p:spPr>
          <p:txBody>
            <a:bodyPr wrap="square" lIns="0" tIns="0" rIns="0" bIns="0" rtlCol="0"/>
            <a:lstStyle/>
            <a:p>
              <a:endParaRPr/>
            </a:p>
          </p:txBody>
        </p:sp>
        <p:pic>
          <p:nvPicPr>
            <p:cNvPr id="9" name="object 9"/>
            <p:cNvPicPr/>
            <p:nvPr/>
          </p:nvPicPr>
          <p:blipFill>
            <a:blip r:embed="rId4" cstate="print"/>
            <a:stretch>
              <a:fillRect/>
            </a:stretch>
          </p:blipFill>
          <p:spPr>
            <a:xfrm>
              <a:off x="850391" y="1825713"/>
              <a:ext cx="1278636" cy="339890"/>
            </a:xfrm>
            <a:prstGeom prst="rect">
              <a:avLst/>
            </a:prstGeom>
          </p:spPr>
        </p:pic>
        <p:pic>
          <p:nvPicPr>
            <p:cNvPr id="10" name="object 10"/>
            <p:cNvPicPr/>
            <p:nvPr/>
          </p:nvPicPr>
          <p:blipFill>
            <a:blip r:embed="rId5" cstate="print"/>
            <a:stretch>
              <a:fillRect/>
            </a:stretch>
          </p:blipFill>
          <p:spPr>
            <a:xfrm>
              <a:off x="870203" y="1772411"/>
              <a:ext cx="1239011" cy="507492"/>
            </a:xfrm>
            <a:prstGeom prst="rect">
              <a:avLst/>
            </a:prstGeom>
          </p:spPr>
        </p:pic>
        <p:pic>
          <p:nvPicPr>
            <p:cNvPr id="11" name="object 11"/>
            <p:cNvPicPr/>
            <p:nvPr/>
          </p:nvPicPr>
          <p:blipFill>
            <a:blip r:embed="rId6" cstate="print"/>
            <a:stretch>
              <a:fillRect/>
            </a:stretch>
          </p:blipFill>
          <p:spPr>
            <a:xfrm>
              <a:off x="897635" y="1853183"/>
              <a:ext cx="1188720" cy="249935"/>
            </a:xfrm>
            <a:prstGeom prst="rect">
              <a:avLst/>
            </a:prstGeom>
          </p:spPr>
        </p:pic>
      </p:grpSp>
      <p:sp>
        <p:nvSpPr>
          <p:cNvPr id="12" name="object 12"/>
          <p:cNvSpPr txBox="1"/>
          <p:nvPr/>
        </p:nvSpPr>
        <p:spPr>
          <a:xfrm>
            <a:off x="897139" y="1839848"/>
            <a:ext cx="1189990" cy="269240"/>
          </a:xfrm>
          <a:prstGeom prst="rect">
            <a:avLst/>
          </a:prstGeom>
        </p:spPr>
        <p:txBody>
          <a:bodyPr vert="horz" wrap="square" lIns="0" tIns="12065" rIns="0" bIns="0" rtlCol="0">
            <a:spAutoFit/>
          </a:bodyPr>
          <a:lstStyle/>
          <a:p>
            <a:pPr marL="12700">
              <a:lnSpc>
                <a:spcPct val="100000"/>
              </a:lnSpc>
              <a:spcBef>
                <a:spcPts val="95"/>
              </a:spcBef>
            </a:pPr>
            <a:r>
              <a:rPr sz="1600" u="sng" spc="-5" dirty="0">
                <a:solidFill>
                  <a:srgbClr val="464646"/>
                </a:solidFill>
                <a:uFill>
                  <a:solidFill>
                    <a:srgbClr val="454544"/>
                  </a:solidFill>
                </a:uFill>
                <a:latin typeface="Arial MT"/>
                <a:cs typeface="Arial MT"/>
              </a:rPr>
              <a:t> </a:t>
            </a:r>
            <a:r>
              <a:rPr sz="1600" u="sng" spc="100" dirty="0">
                <a:solidFill>
                  <a:srgbClr val="464646"/>
                </a:solidFill>
                <a:uFill>
                  <a:solidFill>
                    <a:srgbClr val="454544"/>
                  </a:solidFill>
                </a:uFill>
                <a:latin typeface="Arial MT"/>
                <a:cs typeface="Arial MT"/>
              </a:rPr>
              <a:t> </a:t>
            </a:r>
            <a:r>
              <a:rPr sz="1600" u="sng" spc="-5" dirty="0">
                <a:solidFill>
                  <a:srgbClr val="464646"/>
                </a:solidFill>
                <a:uFill>
                  <a:solidFill>
                    <a:srgbClr val="454544"/>
                  </a:solidFill>
                </a:uFill>
                <a:latin typeface="Arial MT"/>
                <a:cs typeface="Arial MT"/>
              </a:rPr>
              <a:t>Log</a:t>
            </a:r>
            <a:r>
              <a:rPr sz="1600" u="sng" spc="-85" dirty="0">
                <a:solidFill>
                  <a:srgbClr val="464646"/>
                </a:solidFill>
                <a:uFill>
                  <a:solidFill>
                    <a:srgbClr val="454544"/>
                  </a:solidFill>
                </a:uFill>
                <a:latin typeface="Arial MT"/>
                <a:cs typeface="Arial MT"/>
              </a:rPr>
              <a:t> </a:t>
            </a:r>
            <a:r>
              <a:rPr sz="1600" u="sng" spc="-5" dirty="0">
                <a:solidFill>
                  <a:srgbClr val="464646"/>
                </a:solidFill>
                <a:uFill>
                  <a:solidFill>
                    <a:srgbClr val="454544"/>
                  </a:solidFill>
                </a:uFill>
                <a:latin typeface="Arial MT"/>
                <a:cs typeface="Arial MT"/>
              </a:rPr>
              <a:t>Agent</a:t>
            </a:r>
            <a:r>
              <a:rPr sz="1600" u="sng" spc="90" dirty="0">
                <a:solidFill>
                  <a:srgbClr val="464646"/>
                </a:solidFill>
                <a:uFill>
                  <a:solidFill>
                    <a:srgbClr val="454544"/>
                  </a:solidFill>
                </a:uFill>
                <a:latin typeface="Arial MT"/>
                <a:cs typeface="Arial MT"/>
              </a:rPr>
              <a:t> </a:t>
            </a:r>
            <a:endParaRPr sz="1600">
              <a:latin typeface="Arial MT"/>
              <a:cs typeface="Arial MT"/>
            </a:endParaRPr>
          </a:p>
        </p:txBody>
      </p:sp>
      <p:grpSp>
        <p:nvGrpSpPr>
          <p:cNvPr id="13" name="object 13"/>
          <p:cNvGrpSpPr/>
          <p:nvPr/>
        </p:nvGrpSpPr>
        <p:grpSpPr>
          <a:xfrm>
            <a:off x="2327148" y="1266456"/>
            <a:ext cx="1075055" cy="454659"/>
            <a:chOff x="2327148" y="1266456"/>
            <a:chExt cx="1075055" cy="454659"/>
          </a:xfrm>
        </p:grpSpPr>
        <p:pic>
          <p:nvPicPr>
            <p:cNvPr id="14" name="object 14"/>
            <p:cNvPicPr/>
            <p:nvPr/>
          </p:nvPicPr>
          <p:blipFill>
            <a:blip r:embed="rId7" cstate="print"/>
            <a:stretch>
              <a:fillRect/>
            </a:stretch>
          </p:blipFill>
          <p:spPr>
            <a:xfrm>
              <a:off x="2337816" y="1269492"/>
              <a:ext cx="1063764" cy="397763"/>
            </a:xfrm>
            <a:prstGeom prst="rect">
              <a:avLst/>
            </a:prstGeom>
          </p:spPr>
        </p:pic>
        <p:pic>
          <p:nvPicPr>
            <p:cNvPr id="15" name="object 15"/>
            <p:cNvPicPr/>
            <p:nvPr/>
          </p:nvPicPr>
          <p:blipFill>
            <a:blip r:embed="rId8" cstate="print"/>
            <a:stretch>
              <a:fillRect/>
            </a:stretch>
          </p:blipFill>
          <p:spPr>
            <a:xfrm>
              <a:off x="2327148" y="1266456"/>
              <a:ext cx="1025664" cy="454139"/>
            </a:xfrm>
            <a:prstGeom prst="rect">
              <a:avLst/>
            </a:prstGeom>
          </p:spPr>
        </p:pic>
        <p:pic>
          <p:nvPicPr>
            <p:cNvPr id="16" name="object 16"/>
            <p:cNvPicPr/>
            <p:nvPr/>
          </p:nvPicPr>
          <p:blipFill>
            <a:blip r:embed="rId9" cstate="print"/>
            <a:stretch>
              <a:fillRect/>
            </a:stretch>
          </p:blipFill>
          <p:spPr>
            <a:xfrm>
              <a:off x="2385060" y="1296924"/>
              <a:ext cx="973836" cy="307848"/>
            </a:xfrm>
            <a:prstGeom prst="rect">
              <a:avLst/>
            </a:prstGeom>
          </p:spPr>
        </p:pic>
        <p:sp>
          <p:nvSpPr>
            <p:cNvPr id="17" name="object 17"/>
            <p:cNvSpPr/>
            <p:nvPr/>
          </p:nvSpPr>
          <p:spPr>
            <a:xfrm>
              <a:off x="2385060" y="1296924"/>
              <a:ext cx="974090" cy="307975"/>
            </a:xfrm>
            <a:custGeom>
              <a:avLst/>
              <a:gdLst/>
              <a:ahLst/>
              <a:cxnLst/>
              <a:rect l="l" t="t" r="r" b="b"/>
              <a:pathLst>
                <a:path w="974089" h="307975">
                  <a:moveTo>
                    <a:pt x="0" y="307848"/>
                  </a:moveTo>
                  <a:lnTo>
                    <a:pt x="973836" y="307848"/>
                  </a:lnTo>
                  <a:lnTo>
                    <a:pt x="973836" y="0"/>
                  </a:lnTo>
                  <a:lnTo>
                    <a:pt x="0" y="0"/>
                  </a:lnTo>
                  <a:lnTo>
                    <a:pt x="0" y="307848"/>
                  </a:lnTo>
                  <a:close/>
                </a:path>
              </a:pathLst>
            </a:custGeom>
            <a:ln w="9144">
              <a:solidFill>
                <a:srgbClr val="454544"/>
              </a:solidFill>
            </a:ln>
          </p:spPr>
          <p:txBody>
            <a:bodyPr wrap="square" lIns="0" tIns="0" rIns="0" bIns="0" rtlCol="0"/>
            <a:lstStyle/>
            <a:p>
              <a:endParaRPr/>
            </a:p>
          </p:txBody>
        </p:sp>
      </p:grpSp>
      <p:sp>
        <p:nvSpPr>
          <p:cNvPr id="18" name="object 18"/>
          <p:cNvSpPr txBox="1"/>
          <p:nvPr/>
        </p:nvSpPr>
        <p:spPr>
          <a:xfrm>
            <a:off x="2465070" y="1324737"/>
            <a:ext cx="757555"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464646"/>
                </a:solidFill>
                <a:latin typeface="Arial MT"/>
                <a:cs typeface="Arial MT"/>
              </a:rPr>
              <a:t>IAM</a:t>
            </a:r>
            <a:r>
              <a:rPr sz="1400" spc="-70" dirty="0">
                <a:solidFill>
                  <a:srgbClr val="464646"/>
                </a:solidFill>
                <a:latin typeface="Arial MT"/>
                <a:cs typeface="Arial MT"/>
              </a:rPr>
              <a:t> </a:t>
            </a:r>
            <a:r>
              <a:rPr sz="1400" spc="-5" dirty="0">
                <a:solidFill>
                  <a:srgbClr val="464646"/>
                </a:solidFill>
                <a:latin typeface="Arial MT"/>
                <a:cs typeface="Arial MT"/>
              </a:rPr>
              <a:t>Role</a:t>
            </a:r>
            <a:endParaRPr sz="1400">
              <a:latin typeface="Arial MT"/>
              <a:cs typeface="Arial MT"/>
            </a:endParaRPr>
          </a:p>
        </p:txBody>
      </p:sp>
      <p:sp>
        <p:nvSpPr>
          <p:cNvPr id="19" name="object 19"/>
          <p:cNvSpPr/>
          <p:nvPr/>
        </p:nvSpPr>
        <p:spPr>
          <a:xfrm>
            <a:off x="6052565" y="1105661"/>
            <a:ext cx="2310765" cy="2552700"/>
          </a:xfrm>
          <a:custGeom>
            <a:avLst/>
            <a:gdLst/>
            <a:ahLst/>
            <a:cxnLst/>
            <a:rect l="l" t="t" r="r" b="b"/>
            <a:pathLst>
              <a:path w="2310765" h="2552700">
                <a:moveTo>
                  <a:pt x="0" y="385063"/>
                </a:moveTo>
                <a:lnTo>
                  <a:pt x="2999" y="336750"/>
                </a:lnTo>
                <a:lnTo>
                  <a:pt x="11756" y="290231"/>
                </a:lnTo>
                <a:lnTo>
                  <a:pt x="25911" y="245866"/>
                </a:lnTo>
                <a:lnTo>
                  <a:pt x="45104" y="204016"/>
                </a:lnTo>
                <a:lnTo>
                  <a:pt x="68974" y="165042"/>
                </a:lnTo>
                <a:lnTo>
                  <a:pt x="97160" y="129303"/>
                </a:lnTo>
                <a:lnTo>
                  <a:pt x="129303" y="97160"/>
                </a:lnTo>
                <a:lnTo>
                  <a:pt x="165042" y="68974"/>
                </a:lnTo>
                <a:lnTo>
                  <a:pt x="204016" y="45104"/>
                </a:lnTo>
                <a:lnTo>
                  <a:pt x="245866" y="25911"/>
                </a:lnTo>
                <a:lnTo>
                  <a:pt x="290231" y="11756"/>
                </a:lnTo>
                <a:lnTo>
                  <a:pt x="336750" y="2999"/>
                </a:lnTo>
                <a:lnTo>
                  <a:pt x="385063" y="0"/>
                </a:lnTo>
                <a:lnTo>
                  <a:pt x="1925319" y="0"/>
                </a:lnTo>
                <a:lnTo>
                  <a:pt x="1973608" y="2999"/>
                </a:lnTo>
                <a:lnTo>
                  <a:pt x="2020110" y="11756"/>
                </a:lnTo>
                <a:lnTo>
                  <a:pt x="2064465" y="25911"/>
                </a:lnTo>
                <a:lnTo>
                  <a:pt x="2106310" y="45104"/>
                </a:lnTo>
                <a:lnTo>
                  <a:pt x="2145286" y="68974"/>
                </a:lnTo>
                <a:lnTo>
                  <a:pt x="2181029" y="97160"/>
                </a:lnTo>
                <a:lnTo>
                  <a:pt x="2213179" y="129303"/>
                </a:lnTo>
                <a:lnTo>
                  <a:pt x="2241375" y="165042"/>
                </a:lnTo>
                <a:lnTo>
                  <a:pt x="2265254" y="204016"/>
                </a:lnTo>
                <a:lnTo>
                  <a:pt x="2284456" y="245866"/>
                </a:lnTo>
                <a:lnTo>
                  <a:pt x="2298619" y="290231"/>
                </a:lnTo>
                <a:lnTo>
                  <a:pt x="2307382" y="336750"/>
                </a:lnTo>
                <a:lnTo>
                  <a:pt x="2310384" y="385063"/>
                </a:lnTo>
                <a:lnTo>
                  <a:pt x="2310384" y="2167636"/>
                </a:lnTo>
                <a:lnTo>
                  <a:pt x="2307382" y="2215949"/>
                </a:lnTo>
                <a:lnTo>
                  <a:pt x="2298619" y="2262468"/>
                </a:lnTo>
                <a:lnTo>
                  <a:pt x="2284456" y="2306833"/>
                </a:lnTo>
                <a:lnTo>
                  <a:pt x="2265254" y="2348683"/>
                </a:lnTo>
                <a:lnTo>
                  <a:pt x="2241375" y="2387657"/>
                </a:lnTo>
                <a:lnTo>
                  <a:pt x="2213179" y="2423396"/>
                </a:lnTo>
                <a:lnTo>
                  <a:pt x="2181029" y="2455539"/>
                </a:lnTo>
                <a:lnTo>
                  <a:pt x="2145286" y="2483725"/>
                </a:lnTo>
                <a:lnTo>
                  <a:pt x="2106310" y="2507595"/>
                </a:lnTo>
                <a:lnTo>
                  <a:pt x="2064465" y="2526788"/>
                </a:lnTo>
                <a:lnTo>
                  <a:pt x="2020110" y="2540943"/>
                </a:lnTo>
                <a:lnTo>
                  <a:pt x="1973608" y="2549700"/>
                </a:lnTo>
                <a:lnTo>
                  <a:pt x="1925319" y="2552700"/>
                </a:lnTo>
                <a:lnTo>
                  <a:pt x="385063" y="2552700"/>
                </a:lnTo>
                <a:lnTo>
                  <a:pt x="336750" y="2549700"/>
                </a:lnTo>
                <a:lnTo>
                  <a:pt x="290231" y="2540943"/>
                </a:lnTo>
                <a:lnTo>
                  <a:pt x="245866" y="2526788"/>
                </a:lnTo>
                <a:lnTo>
                  <a:pt x="204016" y="2507595"/>
                </a:lnTo>
                <a:lnTo>
                  <a:pt x="165042" y="2483725"/>
                </a:lnTo>
                <a:lnTo>
                  <a:pt x="129303" y="2455539"/>
                </a:lnTo>
                <a:lnTo>
                  <a:pt x="97160" y="2423396"/>
                </a:lnTo>
                <a:lnTo>
                  <a:pt x="68974" y="2387657"/>
                </a:lnTo>
                <a:lnTo>
                  <a:pt x="45104" y="2348683"/>
                </a:lnTo>
                <a:lnTo>
                  <a:pt x="25911" y="2306833"/>
                </a:lnTo>
                <a:lnTo>
                  <a:pt x="11756" y="2262468"/>
                </a:lnTo>
                <a:lnTo>
                  <a:pt x="2999" y="2215949"/>
                </a:lnTo>
                <a:lnTo>
                  <a:pt x="0" y="2167636"/>
                </a:lnTo>
                <a:lnTo>
                  <a:pt x="0" y="385063"/>
                </a:lnTo>
                <a:close/>
              </a:path>
            </a:pathLst>
          </a:custGeom>
          <a:ln w="25908">
            <a:solidFill>
              <a:srgbClr val="464646"/>
            </a:solidFill>
          </a:ln>
        </p:spPr>
        <p:txBody>
          <a:bodyPr wrap="square" lIns="0" tIns="0" rIns="0" bIns="0" rtlCol="0"/>
          <a:lstStyle/>
          <a:p>
            <a:endParaRPr/>
          </a:p>
        </p:txBody>
      </p:sp>
      <p:sp>
        <p:nvSpPr>
          <p:cNvPr id="20" name="object 20"/>
          <p:cNvSpPr txBox="1"/>
          <p:nvPr/>
        </p:nvSpPr>
        <p:spPr>
          <a:xfrm>
            <a:off x="6656069" y="3206876"/>
            <a:ext cx="11049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Log</a:t>
            </a:r>
            <a:r>
              <a:rPr sz="1800" spc="-65" dirty="0">
                <a:solidFill>
                  <a:srgbClr val="464646"/>
                </a:solidFill>
                <a:latin typeface="Arial MT"/>
                <a:cs typeface="Arial MT"/>
              </a:rPr>
              <a:t> </a:t>
            </a:r>
            <a:r>
              <a:rPr sz="1800" spc="-5" dirty="0">
                <a:solidFill>
                  <a:srgbClr val="464646"/>
                </a:solidFill>
                <a:latin typeface="Arial MT"/>
                <a:cs typeface="Arial MT"/>
              </a:rPr>
              <a:t>Group</a:t>
            </a:r>
            <a:endParaRPr sz="1800">
              <a:latin typeface="Arial MT"/>
              <a:cs typeface="Arial MT"/>
            </a:endParaRPr>
          </a:p>
        </p:txBody>
      </p:sp>
      <p:sp>
        <p:nvSpPr>
          <p:cNvPr id="21" name="object 21"/>
          <p:cNvSpPr/>
          <p:nvPr/>
        </p:nvSpPr>
        <p:spPr>
          <a:xfrm>
            <a:off x="6276594" y="1393697"/>
            <a:ext cx="1887220" cy="544195"/>
          </a:xfrm>
          <a:custGeom>
            <a:avLst/>
            <a:gdLst/>
            <a:ahLst/>
            <a:cxnLst/>
            <a:rect l="l" t="t" r="r" b="b"/>
            <a:pathLst>
              <a:path w="1887220" h="544194">
                <a:moveTo>
                  <a:pt x="0" y="90677"/>
                </a:moveTo>
                <a:lnTo>
                  <a:pt x="7131" y="55399"/>
                </a:lnTo>
                <a:lnTo>
                  <a:pt x="26574" y="26574"/>
                </a:lnTo>
                <a:lnTo>
                  <a:pt x="55399" y="7131"/>
                </a:lnTo>
                <a:lnTo>
                  <a:pt x="90677" y="0"/>
                </a:lnTo>
                <a:lnTo>
                  <a:pt x="1796033" y="0"/>
                </a:lnTo>
                <a:lnTo>
                  <a:pt x="1831312" y="7131"/>
                </a:lnTo>
                <a:lnTo>
                  <a:pt x="1860137" y="26574"/>
                </a:lnTo>
                <a:lnTo>
                  <a:pt x="1879580" y="55399"/>
                </a:lnTo>
                <a:lnTo>
                  <a:pt x="1886711" y="90677"/>
                </a:lnTo>
                <a:lnTo>
                  <a:pt x="1886711" y="453389"/>
                </a:lnTo>
                <a:lnTo>
                  <a:pt x="1879580" y="488668"/>
                </a:lnTo>
                <a:lnTo>
                  <a:pt x="1860137" y="517493"/>
                </a:lnTo>
                <a:lnTo>
                  <a:pt x="1831312" y="536936"/>
                </a:lnTo>
                <a:lnTo>
                  <a:pt x="1796033" y="544068"/>
                </a:lnTo>
                <a:lnTo>
                  <a:pt x="90677" y="544068"/>
                </a:lnTo>
                <a:lnTo>
                  <a:pt x="55399" y="536936"/>
                </a:lnTo>
                <a:lnTo>
                  <a:pt x="26574" y="517493"/>
                </a:lnTo>
                <a:lnTo>
                  <a:pt x="7131" y="488668"/>
                </a:lnTo>
                <a:lnTo>
                  <a:pt x="0" y="453389"/>
                </a:lnTo>
                <a:lnTo>
                  <a:pt x="0" y="90677"/>
                </a:lnTo>
                <a:close/>
              </a:path>
            </a:pathLst>
          </a:custGeom>
          <a:ln w="25908">
            <a:solidFill>
              <a:srgbClr val="464646"/>
            </a:solidFill>
          </a:ln>
        </p:spPr>
        <p:txBody>
          <a:bodyPr wrap="square" lIns="0" tIns="0" rIns="0" bIns="0" rtlCol="0"/>
          <a:lstStyle/>
          <a:p>
            <a:endParaRPr/>
          </a:p>
        </p:txBody>
      </p:sp>
      <p:sp>
        <p:nvSpPr>
          <p:cNvPr id="22" name="object 22"/>
          <p:cNvSpPr txBox="1"/>
          <p:nvPr/>
        </p:nvSpPr>
        <p:spPr>
          <a:xfrm>
            <a:off x="6616445" y="1509140"/>
            <a:ext cx="12065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Log</a:t>
            </a:r>
            <a:r>
              <a:rPr sz="1800" spc="-60" dirty="0">
                <a:solidFill>
                  <a:srgbClr val="464646"/>
                </a:solidFill>
                <a:latin typeface="Arial MT"/>
                <a:cs typeface="Arial MT"/>
              </a:rPr>
              <a:t> </a:t>
            </a:r>
            <a:r>
              <a:rPr sz="1800" spc="-5" dirty="0">
                <a:solidFill>
                  <a:srgbClr val="464646"/>
                </a:solidFill>
                <a:latin typeface="Arial MT"/>
                <a:cs typeface="Arial MT"/>
              </a:rPr>
              <a:t>Stream</a:t>
            </a:r>
            <a:endParaRPr sz="1800">
              <a:latin typeface="Arial MT"/>
              <a:cs typeface="Arial MT"/>
            </a:endParaRPr>
          </a:p>
        </p:txBody>
      </p:sp>
      <p:sp>
        <p:nvSpPr>
          <p:cNvPr id="23" name="object 23"/>
          <p:cNvSpPr/>
          <p:nvPr/>
        </p:nvSpPr>
        <p:spPr>
          <a:xfrm>
            <a:off x="6276594" y="2109977"/>
            <a:ext cx="1887220" cy="544195"/>
          </a:xfrm>
          <a:custGeom>
            <a:avLst/>
            <a:gdLst/>
            <a:ahLst/>
            <a:cxnLst/>
            <a:rect l="l" t="t" r="r" b="b"/>
            <a:pathLst>
              <a:path w="1887220" h="544194">
                <a:moveTo>
                  <a:pt x="0" y="90678"/>
                </a:moveTo>
                <a:lnTo>
                  <a:pt x="7131" y="55399"/>
                </a:lnTo>
                <a:lnTo>
                  <a:pt x="26574" y="26574"/>
                </a:lnTo>
                <a:lnTo>
                  <a:pt x="55399" y="7131"/>
                </a:lnTo>
                <a:lnTo>
                  <a:pt x="90677" y="0"/>
                </a:lnTo>
                <a:lnTo>
                  <a:pt x="1796033" y="0"/>
                </a:lnTo>
                <a:lnTo>
                  <a:pt x="1831312" y="7131"/>
                </a:lnTo>
                <a:lnTo>
                  <a:pt x="1860137" y="26574"/>
                </a:lnTo>
                <a:lnTo>
                  <a:pt x="1879580" y="55399"/>
                </a:lnTo>
                <a:lnTo>
                  <a:pt x="1886711" y="90678"/>
                </a:lnTo>
                <a:lnTo>
                  <a:pt x="1886711" y="453390"/>
                </a:lnTo>
                <a:lnTo>
                  <a:pt x="1879580" y="488668"/>
                </a:lnTo>
                <a:lnTo>
                  <a:pt x="1860137" y="517493"/>
                </a:lnTo>
                <a:lnTo>
                  <a:pt x="1831312" y="536936"/>
                </a:lnTo>
                <a:lnTo>
                  <a:pt x="1796033" y="544068"/>
                </a:lnTo>
                <a:lnTo>
                  <a:pt x="90677" y="544068"/>
                </a:lnTo>
                <a:lnTo>
                  <a:pt x="55399" y="536936"/>
                </a:lnTo>
                <a:lnTo>
                  <a:pt x="26574" y="517493"/>
                </a:lnTo>
                <a:lnTo>
                  <a:pt x="7131" y="488668"/>
                </a:lnTo>
                <a:lnTo>
                  <a:pt x="0" y="453390"/>
                </a:lnTo>
                <a:lnTo>
                  <a:pt x="0" y="90678"/>
                </a:lnTo>
                <a:close/>
              </a:path>
            </a:pathLst>
          </a:custGeom>
          <a:ln w="25908">
            <a:solidFill>
              <a:srgbClr val="464646"/>
            </a:solidFill>
          </a:ln>
        </p:spPr>
        <p:txBody>
          <a:bodyPr wrap="square" lIns="0" tIns="0" rIns="0" bIns="0" rtlCol="0"/>
          <a:lstStyle/>
          <a:p>
            <a:endParaRPr/>
          </a:p>
        </p:txBody>
      </p:sp>
      <p:sp>
        <p:nvSpPr>
          <p:cNvPr id="24" name="object 24"/>
          <p:cNvSpPr txBox="1"/>
          <p:nvPr/>
        </p:nvSpPr>
        <p:spPr>
          <a:xfrm>
            <a:off x="6616445" y="2226310"/>
            <a:ext cx="12065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Log</a:t>
            </a:r>
            <a:r>
              <a:rPr sz="1800" spc="-60" dirty="0">
                <a:solidFill>
                  <a:srgbClr val="464646"/>
                </a:solidFill>
                <a:latin typeface="Arial MT"/>
                <a:cs typeface="Arial MT"/>
              </a:rPr>
              <a:t> </a:t>
            </a:r>
            <a:r>
              <a:rPr sz="1800" spc="-5" dirty="0">
                <a:solidFill>
                  <a:srgbClr val="464646"/>
                </a:solidFill>
                <a:latin typeface="Arial MT"/>
                <a:cs typeface="Arial MT"/>
              </a:rPr>
              <a:t>Stream</a:t>
            </a:r>
            <a:endParaRPr sz="1800">
              <a:latin typeface="Arial MT"/>
              <a:cs typeface="Arial MT"/>
            </a:endParaRPr>
          </a:p>
        </p:txBody>
      </p:sp>
      <p:grpSp>
        <p:nvGrpSpPr>
          <p:cNvPr id="25" name="object 25"/>
          <p:cNvGrpSpPr/>
          <p:nvPr/>
        </p:nvGrpSpPr>
        <p:grpSpPr>
          <a:xfrm>
            <a:off x="577532" y="1563662"/>
            <a:ext cx="5815965" cy="2505710"/>
            <a:chOff x="577532" y="1563662"/>
            <a:chExt cx="5815965" cy="2505710"/>
          </a:xfrm>
        </p:grpSpPr>
        <p:pic>
          <p:nvPicPr>
            <p:cNvPr id="26" name="object 26"/>
            <p:cNvPicPr/>
            <p:nvPr/>
          </p:nvPicPr>
          <p:blipFill>
            <a:blip r:embed="rId10" cstate="print"/>
            <a:stretch>
              <a:fillRect/>
            </a:stretch>
          </p:blipFill>
          <p:spPr>
            <a:xfrm>
              <a:off x="2343912" y="1563662"/>
              <a:ext cx="4049267" cy="237832"/>
            </a:xfrm>
            <a:prstGeom prst="rect">
              <a:avLst/>
            </a:prstGeom>
          </p:spPr>
        </p:pic>
        <p:sp>
          <p:nvSpPr>
            <p:cNvPr id="27" name="object 27"/>
            <p:cNvSpPr/>
            <p:nvPr/>
          </p:nvSpPr>
          <p:spPr>
            <a:xfrm>
              <a:off x="2385821" y="1626108"/>
              <a:ext cx="3890645" cy="78105"/>
            </a:xfrm>
            <a:custGeom>
              <a:avLst/>
              <a:gdLst/>
              <a:ahLst/>
              <a:cxnLst/>
              <a:rect l="l" t="t" r="r" b="b"/>
              <a:pathLst>
                <a:path w="3890645" h="78105">
                  <a:moveTo>
                    <a:pt x="3812666" y="0"/>
                  </a:moveTo>
                  <a:lnTo>
                    <a:pt x="3812666" y="77724"/>
                  </a:lnTo>
                  <a:lnTo>
                    <a:pt x="3864483" y="51815"/>
                  </a:lnTo>
                  <a:lnTo>
                    <a:pt x="3825620" y="51815"/>
                  </a:lnTo>
                  <a:lnTo>
                    <a:pt x="3825620" y="25907"/>
                  </a:lnTo>
                  <a:lnTo>
                    <a:pt x="3864482" y="25907"/>
                  </a:lnTo>
                  <a:lnTo>
                    <a:pt x="3812666" y="0"/>
                  </a:lnTo>
                  <a:close/>
                </a:path>
                <a:path w="3890645" h="78105">
                  <a:moveTo>
                    <a:pt x="1935987" y="27939"/>
                  </a:moveTo>
                  <a:lnTo>
                    <a:pt x="0" y="27939"/>
                  </a:lnTo>
                  <a:lnTo>
                    <a:pt x="0" y="53847"/>
                  </a:lnTo>
                  <a:lnTo>
                    <a:pt x="1952370" y="53847"/>
                  </a:lnTo>
                  <a:lnTo>
                    <a:pt x="1954402" y="51815"/>
                  </a:lnTo>
                  <a:lnTo>
                    <a:pt x="1945131" y="51815"/>
                  </a:lnTo>
                  <a:lnTo>
                    <a:pt x="1956054" y="40893"/>
                  </a:lnTo>
                  <a:lnTo>
                    <a:pt x="1932177" y="40893"/>
                  </a:lnTo>
                  <a:lnTo>
                    <a:pt x="1932177" y="31750"/>
                  </a:lnTo>
                  <a:lnTo>
                    <a:pt x="1935987" y="27939"/>
                  </a:lnTo>
                  <a:close/>
                </a:path>
                <a:path w="3890645" h="78105">
                  <a:moveTo>
                    <a:pt x="1958086" y="38862"/>
                  </a:moveTo>
                  <a:lnTo>
                    <a:pt x="1945131" y="51815"/>
                  </a:lnTo>
                  <a:lnTo>
                    <a:pt x="1954402" y="51815"/>
                  </a:lnTo>
                  <a:lnTo>
                    <a:pt x="1958086" y="48132"/>
                  </a:lnTo>
                  <a:lnTo>
                    <a:pt x="1958086" y="38862"/>
                  </a:lnTo>
                  <a:close/>
                </a:path>
                <a:path w="3890645" h="78105">
                  <a:moveTo>
                    <a:pt x="3812666" y="38862"/>
                  </a:moveTo>
                  <a:lnTo>
                    <a:pt x="1958086" y="38862"/>
                  </a:lnTo>
                  <a:lnTo>
                    <a:pt x="1958086" y="48132"/>
                  </a:lnTo>
                  <a:lnTo>
                    <a:pt x="1954402" y="51815"/>
                  </a:lnTo>
                  <a:lnTo>
                    <a:pt x="3812666" y="51815"/>
                  </a:lnTo>
                  <a:lnTo>
                    <a:pt x="3812666" y="38862"/>
                  </a:lnTo>
                  <a:close/>
                </a:path>
                <a:path w="3890645" h="78105">
                  <a:moveTo>
                    <a:pt x="3864482" y="25907"/>
                  </a:moveTo>
                  <a:lnTo>
                    <a:pt x="3825620" y="25907"/>
                  </a:lnTo>
                  <a:lnTo>
                    <a:pt x="3825620" y="51815"/>
                  </a:lnTo>
                  <a:lnTo>
                    <a:pt x="3864483" y="51815"/>
                  </a:lnTo>
                  <a:lnTo>
                    <a:pt x="3890391" y="38862"/>
                  </a:lnTo>
                  <a:lnTo>
                    <a:pt x="3864482" y="25907"/>
                  </a:lnTo>
                  <a:close/>
                </a:path>
                <a:path w="3890645" h="78105">
                  <a:moveTo>
                    <a:pt x="3812666" y="25907"/>
                  </a:moveTo>
                  <a:lnTo>
                    <a:pt x="1938019" y="25907"/>
                  </a:lnTo>
                  <a:lnTo>
                    <a:pt x="1932177" y="31750"/>
                  </a:lnTo>
                  <a:lnTo>
                    <a:pt x="1932177" y="40893"/>
                  </a:lnTo>
                  <a:lnTo>
                    <a:pt x="1945131" y="27939"/>
                  </a:lnTo>
                  <a:lnTo>
                    <a:pt x="3812666" y="27939"/>
                  </a:lnTo>
                  <a:lnTo>
                    <a:pt x="3812666" y="25907"/>
                  </a:lnTo>
                  <a:close/>
                </a:path>
                <a:path w="3890645" h="78105">
                  <a:moveTo>
                    <a:pt x="3812666" y="27939"/>
                  </a:moveTo>
                  <a:lnTo>
                    <a:pt x="1945131" y="27939"/>
                  </a:lnTo>
                  <a:lnTo>
                    <a:pt x="1932177" y="40893"/>
                  </a:lnTo>
                  <a:lnTo>
                    <a:pt x="1956054" y="40893"/>
                  </a:lnTo>
                  <a:lnTo>
                    <a:pt x="1958086" y="38862"/>
                  </a:lnTo>
                  <a:lnTo>
                    <a:pt x="3812666" y="38862"/>
                  </a:lnTo>
                  <a:lnTo>
                    <a:pt x="3812666" y="27939"/>
                  </a:lnTo>
                  <a:close/>
                </a:path>
              </a:pathLst>
            </a:custGeom>
            <a:solidFill>
              <a:srgbClr val="FBB64B"/>
            </a:solidFill>
          </p:spPr>
          <p:txBody>
            <a:bodyPr wrap="square" lIns="0" tIns="0" rIns="0" bIns="0" rtlCol="0"/>
            <a:lstStyle/>
            <a:p>
              <a:endParaRPr/>
            </a:p>
          </p:txBody>
        </p:sp>
        <p:sp>
          <p:nvSpPr>
            <p:cNvPr id="28" name="object 28"/>
            <p:cNvSpPr/>
            <p:nvPr/>
          </p:nvSpPr>
          <p:spPr>
            <a:xfrm>
              <a:off x="590549" y="3149346"/>
              <a:ext cx="1795780" cy="906780"/>
            </a:xfrm>
            <a:custGeom>
              <a:avLst/>
              <a:gdLst/>
              <a:ahLst/>
              <a:cxnLst/>
              <a:rect l="l" t="t" r="r" b="b"/>
              <a:pathLst>
                <a:path w="1795780" h="906779">
                  <a:moveTo>
                    <a:pt x="0" y="151130"/>
                  </a:moveTo>
                  <a:lnTo>
                    <a:pt x="7704" y="103371"/>
                  </a:lnTo>
                  <a:lnTo>
                    <a:pt x="29160" y="61886"/>
                  </a:lnTo>
                  <a:lnTo>
                    <a:pt x="61875" y="29167"/>
                  </a:lnTo>
                  <a:lnTo>
                    <a:pt x="103362" y="7707"/>
                  </a:lnTo>
                  <a:lnTo>
                    <a:pt x="151129" y="0"/>
                  </a:lnTo>
                  <a:lnTo>
                    <a:pt x="1644142" y="0"/>
                  </a:lnTo>
                  <a:lnTo>
                    <a:pt x="1691900" y="7707"/>
                  </a:lnTo>
                  <a:lnTo>
                    <a:pt x="1733385" y="29167"/>
                  </a:lnTo>
                  <a:lnTo>
                    <a:pt x="1766104" y="61886"/>
                  </a:lnTo>
                  <a:lnTo>
                    <a:pt x="1787564" y="103371"/>
                  </a:lnTo>
                  <a:lnTo>
                    <a:pt x="1795272" y="151130"/>
                  </a:lnTo>
                  <a:lnTo>
                    <a:pt x="1795272" y="755650"/>
                  </a:lnTo>
                  <a:lnTo>
                    <a:pt x="1787564" y="803417"/>
                  </a:lnTo>
                  <a:lnTo>
                    <a:pt x="1766104" y="844904"/>
                  </a:lnTo>
                  <a:lnTo>
                    <a:pt x="1733385" y="877619"/>
                  </a:lnTo>
                  <a:lnTo>
                    <a:pt x="1691900" y="899075"/>
                  </a:lnTo>
                  <a:lnTo>
                    <a:pt x="1644142" y="906780"/>
                  </a:lnTo>
                  <a:lnTo>
                    <a:pt x="151129" y="906780"/>
                  </a:lnTo>
                  <a:lnTo>
                    <a:pt x="103362" y="899075"/>
                  </a:lnTo>
                  <a:lnTo>
                    <a:pt x="61875" y="877619"/>
                  </a:lnTo>
                  <a:lnTo>
                    <a:pt x="29160" y="844904"/>
                  </a:lnTo>
                  <a:lnTo>
                    <a:pt x="7704" y="803417"/>
                  </a:lnTo>
                  <a:lnTo>
                    <a:pt x="0" y="755650"/>
                  </a:lnTo>
                  <a:lnTo>
                    <a:pt x="0" y="151130"/>
                  </a:lnTo>
                  <a:close/>
                </a:path>
              </a:pathLst>
            </a:custGeom>
            <a:ln w="25908">
              <a:solidFill>
                <a:srgbClr val="464646"/>
              </a:solidFill>
            </a:ln>
          </p:spPr>
          <p:txBody>
            <a:bodyPr wrap="square" lIns="0" tIns="0" rIns="0" bIns="0" rtlCol="0"/>
            <a:lstStyle/>
            <a:p>
              <a:endParaRPr/>
            </a:p>
          </p:txBody>
        </p:sp>
      </p:grpSp>
      <p:sp>
        <p:nvSpPr>
          <p:cNvPr id="29" name="object 29"/>
          <p:cNvSpPr txBox="1"/>
          <p:nvPr/>
        </p:nvSpPr>
        <p:spPr>
          <a:xfrm>
            <a:off x="1044041" y="3446779"/>
            <a:ext cx="8890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Instance</a:t>
            </a:r>
            <a:endParaRPr sz="1800">
              <a:latin typeface="Arial MT"/>
              <a:cs typeface="Arial MT"/>
            </a:endParaRPr>
          </a:p>
        </p:txBody>
      </p:sp>
      <p:grpSp>
        <p:nvGrpSpPr>
          <p:cNvPr id="30" name="object 30"/>
          <p:cNvGrpSpPr/>
          <p:nvPr/>
        </p:nvGrpSpPr>
        <p:grpSpPr>
          <a:xfrm>
            <a:off x="850391" y="3707891"/>
            <a:ext cx="1278890" cy="993775"/>
            <a:chOff x="850391" y="3707891"/>
            <a:chExt cx="1278890" cy="993775"/>
          </a:xfrm>
        </p:grpSpPr>
        <p:sp>
          <p:nvSpPr>
            <p:cNvPr id="31" name="object 31"/>
            <p:cNvSpPr/>
            <p:nvPr/>
          </p:nvSpPr>
          <p:spPr>
            <a:xfrm>
              <a:off x="1314450" y="4325873"/>
              <a:ext cx="349250" cy="363220"/>
            </a:xfrm>
            <a:custGeom>
              <a:avLst/>
              <a:gdLst/>
              <a:ahLst/>
              <a:cxnLst/>
              <a:rect l="l" t="t" r="r" b="b"/>
              <a:pathLst>
                <a:path w="349250" h="363220">
                  <a:moveTo>
                    <a:pt x="348995" y="43624"/>
                  </a:moveTo>
                  <a:lnTo>
                    <a:pt x="335285" y="60604"/>
                  </a:lnTo>
                  <a:lnTo>
                    <a:pt x="297894" y="74471"/>
                  </a:lnTo>
                  <a:lnTo>
                    <a:pt x="242429" y="83820"/>
                  </a:lnTo>
                  <a:lnTo>
                    <a:pt x="174497" y="87248"/>
                  </a:lnTo>
                  <a:lnTo>
                    <a:pt x="106566" y="83820"/>
                  </a:lnTo>
                  <a:lnTo>
                    <a:pt x="51101" y="74471"/>
                  </a:lnTo>
                  <a:lnTo>
                    <a:pt x="13710" y="60604"/>
                  </a:lnTo>
                  <a:lnTo>
                    <a:pt x="0" y="43624"/>
                  </a:lnTo>
                  <a:lnTo>
                    <a:pt x="13710" y="26644"/>
                  </a:lnTo>
                  <a:lnTo>
                    <a:pt x="51101" y="12777"/>
                  </a:lnTo>
                  <a:lnTo>
                    <a:pt x="106566" y="3428"/>
                  </a:lnTo>
                  <a:lnTo>
                    <a:pt x="174497" y="0"/>
                  </a:lnTo>
                  <a:lnTo>
                    <a:pt x="242429" y="3428"/>
                  </a:lnTo>
                  <a:lnTo>
                    <a:pt x="297894" y="12777"/>
                  </a:lnTo>
                  <a:lnTo>
                    <a:pt x="335285" y="26644"/>
                  </a:lnTo>
                  <a:lnTo>
                    <a:pt x="348995" y="43624"/>
                  </a:lnTo>
                  <a:close/>
                </a:path>
                <a:path w="349250" h="363220">
                  <a:moveTo>
                    <a:pt x="348995" y="43624"/>
                  </a:moveTo>
                  <a:lnTo>
                    <a:pt x="348995" y="319087"/>
                  </a:lnTo>
                  <a:lnTo>
                    <a:pt x="335285" y="336067"/>
                  </a:lnTo>
                  <a:lnTo>
                    <a:pt x="297894" y="349934"/>
                  </a:lnTo>
                  <a:lnTo>
                    <a:pt x="242429" y="359283"/>
                  </a:lnTo>
                  <a:lnTo>
                    <a:pt x="174497" y="362711"/>
                  </a:lnTo>
                  <a:lnTo>
                    <a:pt x="106566" y="359283"/>
                  </a:lnTo>
                  <a:lnTo>
                    <a:pt x="51101" y="349934"/>
                  </a:lnTo>
                  <a:lnTo>
                    <a:pt x="13710" y="336067"/>
                  </a:lnTo>
                  <a:lnTo>
                    <a:pt x="0" y="319087"/>
                  </a:lnTo>
                  <a:lnTo>
                    <a:pt x="0" y="43624"/>
                  </a:lnTo>
                </a:path>
              </a:pathLst>
            </a:custGeom>
            <a:ln w="25908">
              <a:solidFill>
                <a:srgbClr val="464646"/>
              </a:solidFill>
            </a:ln>
          </p:spPr>
          <p:txBody>
            <a:bodyPr wrap="square" lIns="0" tIns="0" rIns="0" bIns="0" rtlCol="0"/>
            <a:lstStyle/>
            <a:p>
              <a:endParaRPr/>
            </a:p>
          </p:txBody>
        </p:sp>
        <p:pic>
          <p:nvPicPr>
            <p:cNvPr id="32" name="object 32"/>
            <p:cNvPicPr/>
            <p:nvPr/>
          </p:nvPicPr>
          <p:blipFill>
            <a:blip r:embed="rId3" cstate="print"/>
            <a:stretch>
              <a:fillRect/>
            </a:stretch>
          </p:blipFill>
          <p:spPr>
            <a:xfrm>
              <a:off x="1367027" y="3954779"/>
              <a:ext cx="237832" cy="509003"/>
            </a:xfrm>
            <a:prstGeom prst="rect">
              <a:avLst/>
            </a:prstGeom>
          </p:spPr>
        </p:pic>
        <p:sp>
          <p:nvSpPr>
            <p:cNvPr id="33" name="object 33"/>
            <p:cNvSpPr/>
            <p:nvPr/>
          </p:nvSpPr>
          <p:spPr>
            <a:xfrm>
              <a:off x="1449323" y="4056125"/>
              <a:ext cx="78105" cy="271145"/>
            </a:xfrm>
            <a:custGeom>
              <a:avLst/>
              <a:gdLst/>
              <a:ahLst/>
              <a:cxnLst/>
              <a:rect l="l" t="t" r="r" b="b"/>
              <a:pathLst>
                <a:path w="78105" h="271145">
                  <a:moveTo>
                    <a:pt x="25907" y="193382"/>
                  </a:moveTo>
                  <a:lnTo>
                    <a:pt x="0" y="193382"/>
                  </a:lnTo>
                  <a:lnTo>
                    <a:pt x="38862" y="271106"/>
                  </a:lnTo>
                  <a:lnTo>
                    <a:pt x="71247" y="206336"/>
                  </a:lnTo>
                  <a:lnTo>
                    <a:pt x="25907" y="206336"/>
                  </a:lnTo>
                  <a:lnTo>
                    <a:pt x="25907" y="193382"/>
                  </a:lnTo>
                  <a:close/>
                </a:path>
                <a:path w="78105" h="271145">
                  <a:moveTo>
                    <a:pt x="51815" y="64770"/>
                  </a:moveTo>
                  <a:lnTo>
                    <a:pt x="25907" y="64770"/>
                  </a:lnTo>
                  <a:lnTo>
                    <a:pt x="25907" y="206336"/>
                  </a:lnTo>
                  <a:lnTo>
                    <a:pt x="51815" y="206336"/>
                  </a:lnTo>
                  <a:lnTo>
                    <a:pt x="51815" y="64770"/>
                  </a:lnTo>
                  <a:close/>
                </a:path>
                <a:path w="78105" h="271145">
                  <a:moveTo>
                    <a:pt x="77723" y="193382"/>
                  </a:moveTo>
                  <a:lnTo>
                    <a:pt x="51815" y="193382"/>
                  </a:lnTo>
                  <a:lnTo>
                    <a:pt x="51815" y="206336"/>
                  </a:lnTo>
                  <a:lnTo>
                    <a:pt x="71247" y="206336"/>
                  </a:lnTo>
                  <a:lnTo>
                    <a:pt x="77723" y="193382"/>
                  </a:lnTo>
                  <a:close/>
                </a:path>
                <a:path w="78105" h="271145">
                  <a:moveTo>
                    <a:pt x="38862" y="0"/>
                  </a:moveTo>
                  <a:lnTo>
                    <a:pt x="0" y="77724"/>
                  </a:lnTo>
                  <a:lnTo>
                    <a:pt x="25907" y="77724"/>
                  </a:lnTo>
                  <a:lnTo>
                    <a:pt x="25907" y="64770"/>
                  </a:lnTo>
                  <a:lnTo>
                    <a:pt x="71247" y="64770"/>
                  </a:lnTo>
                  <a:lnTo>
                    <a:pt x="38862" y="0"/>
                  </a:lnTo>
                  <a:close/>
                </a:path>
                <a:path w="78105" h="271145">
                  <a:moveTo>
                    <a:pt x="71247" y="64770"/>
                  </a:moveTo>
                  <a:lnTo>
                    <a:pt x="51815" y="64770"/>
                  </a:lnTo>
                  <a:lnTo>
                    <a:pt x="51815" y="77724"/>
                  </a:lnTo>
                  <a:lnTo>
                    <a:pt x="77723" y="77724"/>
                  </a:lnTo>
                  <a:lnTo>
                    <a:pt x="71247" y="64770"/>
                  </a:lnTo>
                  <a:close/>
                </a:path>
              </a:pathLst>
            </a:custGeom>
            <a:solidFill>
              <a:srgbClr val="FBB64B"/>
            </a:solidFill>
          </p:spPr>
          <p:txBody>
            <a:bodyPr wrap="square" lIns="0" tIns="0" rIns="0" bIns="0" rtlCol="0"/>
            <a:lstStyle/>
            <a:p>
              <a:endParaRPr/>
            </a:p>
          </p:txBody>
        </p:sp>
        <p:pic>
          <p:nvPicPr>
            <p:cNvPr id="34" name="object 34"/>
            <p:cNvPicPr/>
            <p:nvPr/>
          </p:nvPicPr>
          <p:blipFill>
            <a:blip r:embed="rId4" cstate="print"/>
            <a:stretch>
              <a:fillRect/>
            </a:stretch>
          </p:blipFill>
          <p:spPr>
            <a:xfrm>
              <a:off x="850391" y="3761231"/>
              <a:ext cx="1278636" cy="339890"/>
            </a:xfrm>
            <a:prstGeom prst="rect">
              <a:avLst/>
            </a:prstGeom>
          </p:spPr>
        </p:pic>
        <p:pic>
          <p:nvPicPr>
            <p:cNvPr id="35" name="object 35"/>
            <p:cNvPicPr/>
            <p:nvPr/>
          </p:nvPicPr>
          <p:blipFill>
            <a:blip r:embed="rId11" cstate="print"/>
            <a:stretch>
              <a:fillRect/>
            </a:stretch>
          </p:blipFill>
          <p:spPr>
            <a:xfrm>
              <a:off x="870203" y="3707891"/>
              <a:ext cx="1239011" cy="507491"/>
            </a:xfrm>
            <a:prstGeom prst="rect">
              <a:avLst/>
            </a:prstGeom>
          </p:spPr>
        </p:pic>
        <p:pic>
          <p:nvPicPr>
            <p:cNvPr id="36" name="object 36"/>
            <p:cNvPicPr/>
            <p:nvPr/>
          </p:nvPicPr>
          <p:blipFill>
            <a:blip r:embed="rId12" cstate="print"/>
            <a:stretch>
              <a:fillRect/>
            </a:stretch>
          </p:blipFill>
          <p:spPr>
            <a:xfrm>
              <a:off x="897635" y="3788663"/>
              <a:ext cx="1188720" cy="249936"/>
            </a:xfrm>
            <a:prstGeom prst="rect">
              <a:avLst/>
            </a:prstGeom>
          </p:spPr>
        </p:pic>
      </p:grpSp>
      <p:sp>
        <p:nvSpPr>
          <p:cNvPr id="37" name="object 37"/>
          <p:cNvSpPr txBox="1"/>
          <p:nvPr/>
        </p:nvSpPr>
        <p:spPr>
          <a:xfrm>
            <a:off x="897139" y="3775354"/>
            <a:ext cx="1189990" cy="269240"/>
          </a:xfrm>
          <a:prstGeom prst="rect">
            <a:avLst/>
          </a:prstGeom>
        </p:spPr>
        <p:txBody>
          <a:bodyPr vert="horz" wrap="square" lIns="0" tIns="12065" rIns="0" bIns="0" rtlCol="0">
            <a:spAutoFit/>
          </a:bodyPr>
          <a:lstStyle/>
          <a:p>
            <a:pPr marL="12700">
              <a:lnSpc>
                <a:spcPct val="100000"/>
              </a:lnSpc>
              <a:spcBef>
                <a:spcPts val="95"/>
              </a:spcBef>
            </a:pPr>
            <a:r>
              <a:rPr sz="1600" u="sng" spc="-5" dirty="0">
                <a:solidFill>
                  <a:srgbClr val="464646"/>
                </a:solidFill>
                <a:uFill>
                  <a:solidFill>
                    <a:srgbClr val="454544"/>
                  </a:solidFill>
                </a:uFill>
                <a:latin typeface="Arial MT"/>
                <a:cs typeface="Arial MT"/>
              </a:rPr>
              <a:t> </a:t>
            </a:r>
            <a:r>
              <a:rPr sz="1600" u="sng" spc="100" dirty="0">
                <a:solidFill>
                  <a:srgbClr val="464646"/>
                </a:solidFill>
                <a:uFill>
                  <a:solidFill>
                    <a:srgbClr val="454544"/>
                  </a:solidFill>
                </a:uFill>
                <a:latin typeface="Arial MT"/>
                <a:cs typeface="Arial MT"/>
              </a:rPr>
              <a:t> </a:t>
            </a:r>
            <a:r>
              <a:rPr sz="1600" u="sng" spc="-5" dirty="0">
                <a:solidFill>
                  <a:srgbClr val="464646"/>
                </a:solidFill>
                <a:uFill>
                  <a:solidFill>
                    <a:srgbClr val="454544"/>
                  </a:solidFill>
                </a:uFill>
                <a:latin typeface="Arial MT"/>
                <a:cs typeface="Arial MT"/>
              </a:rPr>
              <a:t>Log</a:t>
            </a:r>
            <a:r>
              <a:rPr sz="1600" u="sng" spc="-85" dirty="0">
                <a:solidFill>
                  <a:srgbClr val="464646"/>
                </a:solidFill>
                <a:uFill>
                  <a:solidFill>
                    <a:srgbClr val="454544"/>
                  </a:solidFill>
                </a:uFill>
                <a:latin typeface="Arial MT"/>
                <a:cs typeface="Arial MT"/>
              </a:rPr>
              <a:t> </a:t>
            </a:r>
            <a:r>
              <a:rPr sz="1600" u="sng" spc="-5" dirty="0">
                <a:solidFill>
                  <a:srgbClr val="464646"/>
                </a:solidFill>
                <a:uFill>
                  <a:solidFill>
                    <a:srgbClr val="454544"/>
                  </a:solidFill>
                </a:uFill>
                <a:latin typeface="Arial MT"/>
                <a:cs typeface="Arial MT"/>
              </a:rPr>
              <a:t>Agent</a:t>
            </a:r>
            <a:r>
              <a:rPr sz="1600" u="sng" spc="90" dirty="0">
                <a:solidFill>
                  <a:srgbClr val="464646"/>
                </a:solidFill>
                <a:uFill>
                  <a:solidFill>
                    <a:srgbClr val="454544"/>
                  </a:solidFill>
                </a:uFill>
                <a:latin typeface="Arial MT"/>
                <a:cs typeface="Arial MT"/>
              </a:rPr>
              <a:t> </a:t>
            </a:r>
            <a:endParaRPr sz="1600">
              <a:latin typeface="Arial MT"/>
              <a:cs typeface="Arial MT"/>
            </a:endParaRPr>
          </a:p>
        </p:txBody>
      </p:sp>
      <p:grpSp>
        <p:nvGrpSpPr>
          <p:cNvPr id="38" name="object 38"/>
          <p:cNvGrpSpPr/>
          <p:nvPr/>
        </p:nvGrpSpPr>
        <p:grpSpPr>
          <a:xfrm>
            <a:off x="2327148" y="3201936"/>
            <a:ext cx="1075055" cy="454659"/>
            <a:chOff x="2327148" y="3201936"/>
            <a:chExt cx="1075055" cy="454659"/>
          </a:xfrm>
        </p:grpSpPr>
        <p:pic>
          <p:nvPicPr>
            <p:cNvPr id="39" name="object 39"/>
            <p:cNvPicPr/>
            <p:nvPr/>
          </p:nvPicPr>
          <p:blipFill>
            <a:blip r:embed="rId7" cstate="print"/>
            <a:stretch>
              <a:fillRect/>
            </a:stretch>
          </p:blipFill>
          <p:spPr>
            <a:xfrm>
              <a:off x="2337816" y="3204972"/>
              <a:ext cx="1063764" cy="397763"/>
            </a:xfrm>
            <a:prstGeom prst="rect">
              <a:avLst/>
            </a:prstGeom>
          </p:spPr>
        </p:pic>
        <p:pic>
          <p:nvPicPr>
            <p:cNvPr id="40" name="object 40"/>
            <p:cNvPicPr/>
            <p:nvPr/>
          </p:nvPicPr>
          <p:blipFill>
            <a:blip r:embed="rId13" cstate="print"/>
            <a:stretch>
              <a:fillRect/>
            </a:stretch>
          </p:blipFill>
          <p:spPr>
            <a:xfrm>
              <a:off x="2327148" y="3201936"/>
              <a:ext cx="1025664" cy="454139"/>
            </a:xfrm>
            <a:prstGeom prst="rect">
              <a:avLst/>
            </a:prstGeom>
          </p:spPr>
        </p:pic>
        <p:pic>
          <p:nvPicPr>
            <p:cNvPr id="41" name="object 41"/>
            <p:cNvPicPr/>
            <p:nvPr/>
          </p:nvPicPr>
          <p:blipFill>
            <a:blip r:embed="rId14" cstate="print"/>
            <a:stretch>
              <a:fillRect/>
            </a:stretch>
          </p:blipFill>
          <p:spPr>
            <a:xfrm>
              <a:off x="2385060" y="3232404"/>
              <a:ext cx="973836" cy="307847"/>
            </a:xfrm>
            <a:prstGeom prst="rect">
              <a:avLst/>
            </a:prstGeom>
          </p:spPr>
        </p:pic>
        <p:sp>
          <p:nvSpPr>
            <p:cNvPr id="42" name="object 42"/>
            <p:cNvSpPr/>
            <p:nvPr/>
          </p:nvSpPr>
          <p:spPr>
            <a:xfrm>
              <a:off x="2385060" y="3232404"/>
              <a:ext cx="974090" cy="307975"/>
            </a:xfrm>
            <a:custGeom>
              <a:avLst/>
              <a:gdLst/>
              <a:ahLst/>
              <a:cxnLst/>
              <a:rect l="l" t="t" r="r" b="b"/>
              <a:pathLst>
                <a:path w="974089" h="307975">
                  <a:moveTo>
                    <a:pt x="0" y="307847"/>
                  </a:moveTo>
                  <a:lnTo>
                    <a:pt x="973836" y="307847"/>
                  </a:lnTo>
                  <a:lnTo>
                    <a:pt x="973836" y="0"/>
                  </a:lnTo>
                  <a:lnTo>
                    <a:pt x="0" y="0"/>
                  </a:lnTo>
                  <a:lnTo>
                    <a:pt x="0" y="307847"/>
                  </a:lnTo>
                  <a:close/>
                </a:path>
              </a:pathLst>
            </a:custGeom>
            <a:ln w="9144">
              <a:solidFill>
                <a:srgbClr val="454544"/>
              </a:solidFill>
            </a:ln>
          </p:spPr>
          <p:txBody>
            <a:bodyPr wrap="square" lIns="0" tIns="0" rIns="0" bIns="0" rtlCol="0"/>
            <a:lstStyle/>
            <a:p>
              <a:endParaRPr/>
            </a:p>
          </p:txBody>
        </p:sp>
      </p:grpSp>
      <p:sp>
        <p:nvSpPr>
          <p:cNvPr id="43" name="object 43"/>
          <p:cNvSpPr txBox="1"/>
          <p:nvPr/>
        </p:nvSpPr>
        <p:spPr>
          <a:xfrm>
            <a:off x="2465070" y="3260216"/>
            <a:ext cx="75755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464646"/>
                </a:solidFill>
                <a:latin typeface="Arial MT"/>
                <a:cs typeface="Arial MT"/>
              </a:rPr>
              <a:t>IAM</a:t>
            </a:r>
            <a:r>
              <a:rPr sz="1400" spc="-70" dirty="0">
                <a:solidFill>
                  <a:srgbClr val="464646"/>
                </a:solidFill>
                <a:latin typeface="Arial MT"/>
                <a:cs typeface="Arial MT"/>
              </a:rPr>
              <a:t> </a:t>
            </a:r>
            <a:r>
              <a:rPr sz="1400" spc="-5" dirty="0">
                <a:solidFill>
                  <a:srgbClr val="464646"/>
                </a:solidFill>
                <a:latin typeface="Arial MT"/>
                <a:cs typeface="Arial MT"/>
              </a:rPr>
              <a:t>Role</a:t>
            </a:r>
            <a:endParaRPr sz="1400">
              <a:latin typeface="Arial MT"/>
              <a:cs typeface="Arial MT"/>
            </a:endParaRPr>
          </a:p>
        </p:txBody>
      </p:sp>
      <p:grpSp>
        <p:nvGrpSpPr>
          <p:cNvPr id="44" name="object 44"/>
          <p:cNvGrpSpPr/>
          <p:nvPr/>
        </p:nvGrpSpPr>
        <p:grpSpPr>
          <a:xfrm>
            <a:off x="2343911" y="2281427"/>
            <a:ext cx="4049395" cy="1393190"/>
            <a:chOff x="2343911" y="2281427"/>
            <a:chExt cx="4049395" cy="1393190"/>
          </a:xfrm>
        </p:grpSpPr>
        <p:pic>
          <p:nvPicPr>
            <p:cNvPr id="45" name="object 45"/>
            <p:cNvPicPr/>
            <p:nvPr/>
          </p:nvPicPr>
          <p:blipFill>
            <a:blip r:embed="rId15" cstate="print"/>
            <a:stretch>
              <a:fillRect/>
            </a:stretch>
          </p:blipFill>
          <p:spPr>
            <a:xfrm>
              <a:off x="2343911" y="2281427"/>
              <a:ext cx="4049267" cy="1392936"/>
            </a:xfrm>
            <a:prstGeom prst="rect">
              <a:avLst/>
            </a:prstGeom>
          </p:spPr>
        </p:pic>
        <p:sp>
          <p:nvSpPr>
            <p:cNvPr id="46" name="object 46"/>
            <p:cNvSpPr/>
            <p:nvPr/>
          </p:nvSpPr>
          <p:spPr>
            <a:xfrm>
              <a:off x="2385821" y="2343911"/>
              <a:ext cx="3890645" cy="1271905"/>
            </a:xfrm>
            <a:custGeom>
              <a:avLst/>
              <a:gdLst/>
              <a:ahLst/>
              <a:cxnLst/>
              <a:rect l="l" t="t" r="r" b="b"/>
              <a:pathLst>
                <a:path w="3890645" h="1271904">
                  <a:moveTo>
                    <a:pt x="1932177" y="1245997"/>
                  </a:moveTo>
                  <a:lnTo>
                    <a:pt x="0" y="1245997"/>
                  </a:lnTo>
                  <a:lnTo>
                    <a:pt x="0" y="1271905"/>
                  </a:lnTo>
                  <a:lnTo>
                    <a:pt x="1952370" y="1271905"/>
                  </a:lnTo>
                  <a:lnTo>
                    <a:pt x="1958086" y="1266063"/>
                  </a:lnTo>
                  <a:lnTo>
                    <a:pt x="1958086" y="1258951"/>
                  </a:lnTo>
                  <a:lnTo>
                    <a:pt x="1932177" y="1258951"/>
                  </a:lnTo>
                  <a:lnTo>
                    <a:pt x="1932177" y="1245997"/>
                  </a:lnTo>
                  <a:close/>
                </a:path>
                <a:path w="3890645" h="1271904">
                  <a:moveTo>
                    <a:pt x="3812666" y="25907"/>
                  </a:moveTo>
                  <a:lnTo>
                    <a:pt x="1938019" y="25907"/>
                  </a:lnTo>
                  <a:lnTo>
                    <a:pt x="1932177" y="31750"/>
                  </a:lnTo>
                  <a:lnTo>
                    <a:pt x="1932177" y="1258951"/>
                  </a:lnTo>
                  <a:lnTo>
                    <a:pt x="1945131" y="1245997"/>
                  </a:lnTo>
                  <a:lnTo>
                    <a:pt x="1958086" y="1245997"/>
                  </a:lnTo>
                  <a:lnTo>
                    <a:pt x="1958086" y="51815"/>
                  </a:lnTo>
                  <a:lnTo>
                    <a:pt x="1945131" y="51815"/>
                  </a:lnTo>
                  <a:lnTo>
                    <a:pt x="1958086" y="38862"/>
                  </a:lnTo>
                  <a:lnTo>
                    <a:pt x="3812666" y="38862"/>
                  </a:lnTo>
                  <a:lnTo>
                    <a:pt x="3812666" y="25907"/>
                  </a:lnTo>
                  <a:close/>
                </a:path>
                <a:path w="3890645" h="1271904">
                  <a:moveTo>
                    <a:pt x="1958086" y="1245997"/>
                  </a:moveTo>
                  <a:lnTo>
                    <a:pt x="1945131" y="1245997"/>
                  </a:lnTo>
                  <a:lnTo>
                    <a:pt x="1932177" y="1258951"/>
                  </a:lnTo>
                  <a:lnTo>
                    <a:pt x="1958086" y="1258951"/>
                  </a:lnTo>
                  <a:lnTo>
                    <a:pt x="1958086" y="1245997"/>
                  </a:lnTo>
                  <a:close/>
                </a:path>
                <a:path w="3890645" h="1271904">
                  <a:moveTo>
                    <a:pt x="3812666" y="0"/>
                  </a:moveTo>
                  <a:lnTo>
                    <a:pt x="3812666" y="77724"/>
                  </a:lnTo>
                  <a:lnTo>
                    <a:pt x="3864483" y="51815"/>
                  </a:lnTo>
                  <a:lnTo>
                    <a:pt x="3825620" y="51815"/>
                  </a:lnTo>
                  <a:lnTo>
                    <a:pt x="3825620" y="25907"/>
                  </a:lnTo>
                  <a:lnTo>
                    <a:pt x="3864482" y="25907"/>
                  </a:lnTo>
                  <a:lnTo>
                    <a:pt x="3812666" y="0"/>
                  </a:lnTo>
                  <a:close/>
                </a:path>
                <a:path w="3890645" h="1271904">
                  <a:moveTo>
                    <a:pt x="1958086" y="38862"/>
                  </a:moveTo>
                  <a:lnTo>
                    <a:pt x="1945131" y="51815"/>
                  </a:lnTo>
                  <a:lnTo>
                    <a:pt x="1958086" y="51815"/>
                  </a:lnTo>
                  <a:lnTo>
                    <a:pt x="1958086" y="38862"/>
                  </a:lnTo>
                  <a:close/>
                </a:path>
                <a:path w="3890645" h="1271904">
                  <a:moveTo>
                    <a:pt x="3812666" y="38862"/>
                  </a:moveTo>
                  <a:lnTo>
                    <a:pt x="1958086" y="38862"/>
                  </a:lnTo>
                  <a:lnTo>
                    <a:pt x="1958086" y="51815"/>
                  </a:lnTo>
                  <a:lnTo>
                    <a:pt x="3812666" y="51815"/>
                  </a:lnTo>
                  <a:lnTo>
                    <a:pt x="3812666" y="38862"/>
                  </a:lnTo>
                  <a:close/>
                </a:path>
                <a:path w="3890645" h="1271904">
                  <a:moveTo>
                    <a:pt x="3864482" y="25907"/>
                  </a:moveTo>
                  <a:lnTo>
                    <a:pt x="3825620" y="25907"/>
                  </a:lnTo>
                  <a:lnTo>
                    <a:pt x="3825620" y="51815"/>
                  </a:lnTo>
                  <a:lnTo>
                    <a:pt x="3864483" y="51815"/>
                  </a:lnTo>
                  <a:lnTo>
                    <a:pt x="3890391" y="38862"/>
                  </a:lnTo>
                  <a:lnTo>
                    <a:pt x="3864482" y="25907"/>
                  </a:lnTo>
                  <a:close/>
                </a:path>
              </a:pathLst>
            </a:custGeom>
            <a:solidFill>
              <a:srgbClr val="FBB64B"/>
            </a:solidFill>
          </p:spPr>
          <p:txBody>
            <a:bodyPr wrap="square" lIns="0" tIns="0" rIns="0" bIns="0" rtlCol="0"/>
            <a:lstStyle/>
            <a:p>
              <a:endParaRPr/>
            </a:p>
          </p:txBody>
        </p:sp>
      </p:grpSp>
      <p:sp>
        <p:nvSpPr>
          <p:cNvPr id="47" name="object 47"/>
          <p:cNvSpPr txBox="1"/>
          <p:nvPr/>
        </p:nvSpPr>
        <p:spPr>
          <a:xfrm>
            <a:off x="4015485" y="1297940"/>
            <a:ext cx="939800"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464646"/>
                </a:solidFill>
                <a:latin typeface="Arial MT"/>
                <a:cs typeface="Arial MT"/>
              </a:rPr>
              <a:t>Log</a:t>
            </a:r>
            <a:r>
              <a:rPr sz="1600" spc="-70" dirty="0">
                <a:solidFill>
                  <a:srgbClr val="464646"/>
                </a:solidFill>
                <a:latin typeface="Arial MT"/>
                <a:cs typeface="Arial MT"/>
              </a:rPr>
              <a:t> </a:t>
            </a:r>
            <a:r>
              <a:rPr sz="1600" spc="-5" dirty="0">
                <a:solidFill>
                  <a:srgbClr val="464646"/>
                </a:solidFill>
                <a:latin typeface="Arial MT"/>
                <a:cs typeface="Arial MT"/>
              </a:rPr>
              <a:t>Event</a:t>
            </a:r>
            <a:endParaRPr sz="1600">
              <a:latin typeface="Arial MT"/>
              <a:cs typeface="Arial MT"/>
            </a:endParaRPr>
          </a:p>
        </p:txBody>
      </p:sp>
      <p:sp>
        <p:nvSpPr>
          <p:cNvPr id="48" name="object 48"/>
          <p:cNvSpPr txBox="1"/>
          <p:nvPr/>
        </p:nvSpPr>
        <p:spPr>
          <a:xfrm>
            <a:off x="6550914" y="3766515"/>
            <a:ext cx="1447165" cy="30035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464646"/>
                </a:solidFill>
                <a:latin typeface="Arial MT"/>
                <a:cs typeface="Arial MT"/>
              </a:rPr>
              <a:t>Log</a:t>
            </a:r>
            <a:r>
              <a:rPr sz="1800" spc="-50" dirty="0">
                <a:solidFill>
                  <a:srgbClr val="464646"/>
                </a:solidFill>
                <a:latin typeface="Arial MT"/>
                <a:cs typeface="Arial MT"/>
              </a:rPr>
              <a:t> </a:t>
            </a:r>
            <a:r>
              <a:rPr sz="1800" spc="-5" dirty="0">
                <a:solidFill>
                  <a:srgbClr val="464646"/>
                </a:solidFill>
                <a:latin typeface="Arial MT"/>
                <a:cs typeface="Arial MT"/>
              </a:rPr>
              <a:t>Retention</a:t>
            </a:r>
            <a:endParaRPr sz="1800">
              <a:latin typeface="Arial MT"/>
              <a:cs typeface="Arial MT"/>
            </a:endParaRPr>
          </a:p>
        </p:txBody>
      </p:sp>
      <p:sp>
        <p:nvSpPr>
          <p:cNvPr id="49" name="object 49"/>
          <p:cNvSpPr txBox="1"/>
          <p:nvPr/>
        </p:nvSpPr>
        <p:spPr>
          <a:xfrm>
            <a:off x="560933" y="792226"/>
            <a:ext cx="165036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L</a:t>
            </a:r>
            <a:r>
              <a:rPr sz="1800" spc="-15" dirty="0">
                <a:solidFill>
                  <a:srgbClr val="464646"/>
                </a:solidFill>
                <a:latin typeface="Arial MT"/>
                <a:cs typeface="Arial MT"/>
              </a:rPr>
              <a:t>o</a:t>
            </a:r>
            <a:r>
              <a:rPr sz="1800" spc="-5" dirty="0">
                <a:solidFill>
                  <a:srgbClr val="464646"/>
                </a:solidFill>
                <a:latin typeface="Arial MT"/>
                <a:cs typeface="Arial MT"/>
              </a:rPr>
              <a:t>g</a:t>
            </a:r>
            <a:r>
              <a:rPr sz="1800" spc="-100" dirty="0">
                <a:solidFill>
                  <a:srgbClr val="464646"/>
                </a:solidFill>
                <a:latin typeface="Arial MT"/>
                <a:cs typeface="Arial MT"/>
              </a:rPr>
              <a:t> </a:t>
            </a:r>
            <a:r>
              <a:rPr sz="1800" spc="-5" dirty="0">
                <a:solidFill>
                  <a:srgbClr val="464646"/>
                </a:solidFill>
                <a:latin typeface="Arial MT"/>
                <a:cs typeface="Arial MT"/>
              </a:rPr>
              <a:t>A</a:t>
            </a:r>
            <a:r>
              <a:rPr sz="1800" spc="-15" dirty="0">
                <a:solidFill>
                  <a:srgbClr val="464646"/>
                </a:solidFill>
                <a:latin typeface="Arial MT"/>
                <a:cs typeface="Arial MT"/>
              </a:rPr>
              <a:t>g</a:t>
            </a:r>
            <a:r>
              <a:rPr sz="1800" spc="-5" dirty="0">
                <a:solidFill>
                  <a:srgbClr val="464646"/>
                </a:solidFill>
                <a:latin typeface="Arial MT"/>
                <a:cs typeface="Arial MT"/>
              </a:rPr>
              <a:t>e</a:t>
            </a:r>
            <a:r>
              <a:rPr sz="1800" spc="-15" dirty="0">
                <a:solidFill>
                  <a:srgbClr val="464646"/>
                </a:solidFill>
                <a:latin typeface="Arial MT"/>
                <a:cs typeface="Arial MT"/>
              </a:rPr>
              <a:t>n</a:t>
            </a:r>
            <a:r>
              <a:rPr sz="1800" dirty="0">
                <a:solidFill>
                  <a:srgbClr val="464646"/>
                </a:solidFill>
                <a:latin typeface="Arial MT"/>
                <a:cs typeface="Arial MT"/>
              </a:rPr>
              <a:t>t,</a:t>
            </a:r>
            <a:r>
              <a:rPr sz="1800" spc="5" dirty="0">
                <a:solidFill>
                  <a:srgbClr val="464646"/>
                </a:solidFill>
                <a:latin typeface="Arial MT"/>
                <a:cs typeface="Arial MT"/>
              </a:rPr>
              <a:t> </a:t>
            </a:r>
            <a:r>
              <a:rPr sz="1800" dirty="0">
                <a:solidFill>
                  <a:srgbClr val="464646"/>
                </a:solidFill>
                <a:latin typeface="Arial MT"/>
                <a:cs typeface="Arial MT"/>
              </a:rPr>
              <a:t>SDK</a:t>
            </a:r>
            <a:endParaRPr sz="180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14046"/>
            <a:ext cx="4952365" cy="452120"/>
          </a:xfrm>
          <a:prstGeom prst="rect">
            <a:avLst/>
          </a:prstGeom>
        </p:spPr>
        <p:txBody>
          <a:bodyPr vert="horz" wrap="square" lIns="0" tIns="12065" rIns="0" bIns="0" rtlCol="0">
            <a:spAutoFit/>
          </a:bodyPr>
          <a:lstStyle/>
          <a:p>
            <a:pPr marL="12700">
              <a:lnSpc>
                <a:spcPct val="100000"/>
              </a:lnSpc>
              <a:spcBef>
                <a:spcPts val="95"/>
              </a:spcBef>
            </a:pPr>
            <a:r>
              <a:rPr spc="-15" dirty="0"/>
              <a:t>CloudWatch</a:t>
            </a:r>
            <a:r>
              <a:rPr spc="25" dirty="0"/>
              <a:t> </a:t>
            </a:r>
            <a:r>
              <a:rPr spc="-10" dirty="0"/>
              <a:t>Log</a:t>
            </a:r>
            <a:r>
              <a:rPr spc="5" dirty="0"/>
              <a:t> </a:t>
            </a:r>
            <a:r>
              <a:rPr spc="-5" dirty="0"/>
              <a:t>Metric Filter</a:t>
            </a:r>
          </a:p>
        </p:txBody>
      </p:sp>
      <p:sp>
        <p:nvSpPr>
          <p:cNvPr id="3" name="object 3"/>
          <p:cNvSpPr/>
          <p:nvPr/>
        </p:nvSpPr>
        <p:spPr>
          <a:xfrm>
            <a:off x="557022" y="1223010"/>
            <a:ext cx="2312035" cy="2551430"/>
          </a:xfrm>
          <a:custGeom>
            <a:avLst/>
            <a:gdLst/>
            <a:ahLst/>
            <a:cxnLst/>
            <a:rect l="l" t="t" r="r" b="b"/>
            <a:pathLst>
              <a:path w="2312035" h="2551429">
                <a:moveTo>
                  <a:pt x="0" y="385317"/>
                </a:moveTo>
                <a:lnTo>
                  <a:pt x="3002" y="336975"/>
                </a:lnTo>
                <a:lnTo>
                  <a:pt x="11768" y="290427"/>
                </a:lnTo>
                <a:lnTo>
                  <a:pt x="25936" y="246034"/>
                </a:lnTo>
                <a:lnTo>
                  <a:pt x="45147" y="204157"/>
                </a:lnTo>
                <a:lnTo>
                  <a:pt x="69037" y="165157"/>
                </a:lnTo>
                <a:lnTo>
                  <a:pt x="97248" y="129394"/>
                </a:lnTo>
                <a:lnTo>
                  <a:pt x="129416" y="97229"/>
                </a:lnTo>
                <a:lnTo>
                  <a:pt x="165182" y="69023"/>
                </a:lnTo>
                <a:lnTo>
                  <a:pt x="204184" y="45136"/>
                </a:lnTo>
                <a:lnTo>
                  <a:pt x="246060" y="25930"/>
                </a:lnTo>
                <a:lnTo>
                  <a:pt x="290451" y="11765"/>
                </a:lnTo>
                <a:lnTo>
                  <a:pt x="336995" y="3001"/>
                </a:lnTo>
                <a:lnTo>
                  <a:pt x="385330" y="0"/>
                </a:lnTo>
                <a:lnTo>
                  <a:pt x="1926589" y="0"/>
                </a:lnTo>
                <a:lnTo>
                  <a:pt x="1974932" y="3001"/>
                </a:lnTo>
                <a:lnTo>
                  <a:pt x="2021480" y="11765"/>
                </a:lnTo>
                <a:lnTo>
                  <a:pt x="2065873" y="25930"/>
                </a:lnTo>
                <a:lnTo>
                  <a:pt x="2107750" y="45136"/>
                </a:lnTo>
                <a:lnTo>
                  <a:pt x="2146750" y="69023"/>
                </a:lnTo>
                <a:lnTo>
                  <a:pt x="2182513" y="97229"/>
                </a:lnTo>
                <a:lnTo>
                  <a:pt x="2214678" y="129394"/>
                </a:lnTo>
                <a:lnTo>
                  <a:pt x="2242884" y="165157"/>
                </a:lnTo>
                <a:lnTo>
                  <a:pt x="2266771" y="204157"/>
                </a:lnTo>
                <a:lnTo>
                  <a:pt x="2285977" y="246034"/>
                </a:lnTo>
                <a:lnTo>
                  <a:pt x="2300142" y="290427"/>
                </a:lnTo>
                <a:lnTo>
                  <a:pt x="2308906" y="336975"/>
                </a:lnTo>
                <a:lnTo>
                  <a:pt x="2311908" y="385317"/>
                </a:lnTo>
                <a:lnTo>
                  <a:pt x="2311908" y="2165858"/>
                </a:lnTo>
                <a:lnTo>
                  <a:pt x="2308906" y="2214200"/>
                </a:lnTo>
                <a:lnTo>
                  <a:pt x="2300142" y="2260748"/>
                </a:lnTo>
                <a:lnTo>
                  <a:pt x="2285977" y="2305141"/>
                </a:lnTo>
                <a:lnTo>
                  <a:pt x="2266771" y="2347018"/>
                </a:lnTo>
                <a:lnTo>
                  <a:pt x="2242884" y="2386018"/>
                </a:lnTo>
                <a:lnTo>
                  <a:pt x="2214678" y="2421781"/>
                </a:lnTo>
                <a:lnTo>
                  <a:pt x="2182513" y="2453946"/>
                </a:lnTo>
                <a:lnTo>
                  <a:pt x="2146750" y="2482152"/>
                </a:lnTo>
                <a:lnTo>
                  <a:pt x="2107750" y="2506039"/>
                </a:lnTo>
                <a:lnTo>
                  <a:pt x="2065873" y="2525245"/>
                </a:lnTo>
                <a:lnTo>
                  <a:pt x="2021480" y="2539410"/>
                </a:lnTo>
                <a:lnTo>
                  <a:pt x="1974932" y="2548174"/>
                </a:lnTo>
                <a:lnTo>
                  <a:pt x="1926589" y="2551176"/>
                </a:lnTo>
                <a:lnTo>
                  <a:pt x="385330" y="2551176"/>
                </a:lnTo>
                <a:lnTo>
                  <a:pt x="336995" y="2548174"/>
                </a:lnTo>
                <a:lnTo>
                  <a:pt x="290451" y="2539410"/>
                </a:lnTo>
                <a:lnTo>
                  <a:pt x="246060" y="2525245"/>
                </a:lnTo>
                <a:lnTo>
                  <a:pt x="204184" y="2506039"/>
                </a:lnTo>
                <a:lnTo>
                  <a:pt x="165182" y="2482152"/>
                </a:lnTo>
                <a:lnTo>
                  <a:pt x="129416" y="2453946"/>
                </a:lnTo>
                <a:lnTo>
                  <a:pt x="97248" y="2421781"/>
                </a:lnTo>
                <a:lnTo>
                  <a:pt x="69037" y="2386018"/>
                </a:lnTo>
                <a:lnTo>
                  <a:pt x="45147" y="2347018"/>
                </a:lnTo>
                <a:lnTo>
                  <a:pt x="25936" y="2305141"/>
                </a:lnTo>
                <a:lnTo>
                  <a:pt x="11768" y="2260748"/>
                </a:lnTo>
                <a:lnTo>
                  <a:pt x="3002" y="2214200"/>
                </a:lnTo>
                <a:lnTo>
                  <a:pt x="0" y="2165858"/>
                </a:lnTo>
                <a:lnTo>
                  <a:pt x="0" y="385317"/>
                </a:lnTo>
                <a:close/>
              </a:path>
            </a:pathLst>
          </a:custGeom>
          <a:ln w="25908">
            <a:solidFill>
              <a:srgbClr val="464646"/>
            </a:solidFill>
          </a:ln>
        </p:spPr>
        <p:txBody>
          <a:bodyPr wrap="square" lIns="0" tIns="0" rIns="0" bIns="0" rtlCol="0"/>
          <a:lstStyle/>
          <a:p>
            <a:endParaRPr/>
          </a:p>
        </p:txBody>
      </p:sp>
      <p:sp>
        <p:nvSpPr>
          <p:cNvPr id="4" name="object 4"/>
          <p:cNvSpPr txBox="1"/>
          <p:nvPr/>
        </p:nvSpPr>
        <p:spPr>
          <a:xfrm>
            <a:off x="1160475" y="3323335"/>
            <a:ext cx="11049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Log</a:t>
            </a:r>
            <a:r>
              <a:rPr sz="1800" spc="-65" dirty="0">
                <a:solidFill>
                  <a:srgbClr val="464646"/>
                </a:solidFill>
                <a:latin typeface="Arial MT"/>
                <a:cs typeface="Arial MT"/>
              </a:rPr>
              <a:t> </a:t>
            </a:r>
            <a:r>
              <a:rPr sz="1800" spc="-5" dirty="0">
                <a:solidFill>
                  <a:srgbClr val="464646"/>
                </a:solidFill>
                <a:latin typeface="Arial MT"/>
                <a:cs typeface="Arial MT"/>
              </a:rPr>
              <a:t>Group</a:t>
            </a:r>
            <a:endParaRPr sz="1800">
              <a:latin typeface="Arial MT"/>
              <a:cs typeface="Arial MT"/>
            </a:endParaRPr>
          </a:p>
        </p:txBody>
      </p:sp>
      <p:sp>
        <p:nvSpPr>
          <p:cNvPr id="5" name="object 5"/>
          <p:cNvSpPr/>
          <p:nvPr/>
        </p:nvSpPr>
        <p:spPr>
          <a:xfrm>
            <a:off x="782573" y="1509522"/>
            <a:ext cx="1887220" cy="544195"/>
          </a:xfrm>
          <a:custGeom>
            <a:avLst/>
            <a:gdLst/>
            <a:ahLst/>
            <a:cxnLst/>
            <a:rect l="l" t="t" r="r" b="b"/>
            <a:pathLst>
              <a:path w="1887220" h="544194">
                <a:moveTo>
                  <a:pt x="0" y="90677"/>
                </a:moveTo>
                <a:lnTo>
                  <a:pt x="7126" y="55399"/>
                </a:lnTo>
                <a:lnTo>
                  <a:pt x="26560" y="26574"/>
                </a:lnTo>
                <a:lnTo>
                  <a:pt x="55383" y="7131"/>
                </a:lnTo>
                <a:lnTo>
                  <a:pt x="90678" y="0"/>
                </a:lnTo>
                <a:lnTo>
                  <a:pt x="1796033" y="0"/>
                </a:lnTo>
                <a:lnTo>
                  <a:pt x="1831312" y="7131"/>
                </a:lnTo>
                <a:lnTo>
                  <a:pt x="1860137" y="26574"/>
                </a:lnTo>
                <a:lnTo>
                  <a:pt x="1879580" y="55399"/>
                </a:lnTo>
                <a:lnTo>
                  <a:pt x="1886712" y="90677"/>
                </a:lnTo>
                <a:lnTo>
                  <a:pt x="1886712" y="453389"/>
                </a:lnTo>
                <a:lnTo>
                  <a:pt x="1879580" y="488668"/>
                </a:lnTo>
                <a:lnTo>
                  <a:pt x="1860137" y="517493"/>
                </a:lnTo>
                <a:lnTo>
                  <a:pt x="1831312" y="536936"/>
                </a:lnTo>
                <a:lnTo>
                  <a:pt x="1796033" y="544067"/>
                </a:lnTo>
                <a:lnTo>
                  <a:pt x="90678" y="544067"/>
                </a:lnTo>
                <a:lnTo>
                  <a:pt x="55383" y="536936"/>
                </a:lnTo>
                <a:lnTo>
                  <a:pt x="26560" y="517493"/>
                </a:lnTo>
                <a:lnTo>
                  <a:pt x="7126" y="488668"/>
                </a:lnTo>
                <a:lnTo>
                  <a:pt x="0" y="453389"/>
                </a:lnTo>
                <a:lnTo>
                  <a:pt x="0" y="90677"/>
                </a:lnTo>
                <a:close/>
              </a:path>
            </a:pathLst>
          </a:custGeom>
          <a:ln w="25908">
            <a:solidFill>
              <a:srgbClr val="464646"/>
            </a:solidFill>
          </a:ln>
        </p:spPr>
        <p:txBody>
          <a:bodyPr wrap="square" lIns="0" tIns="0" rIns="0" bIns="0" rtlCol="0"/>
          <a:lstStyle/>
          <a:p>
            <a:endParaRPr/>
          </a:p>
        </p:txBody>
      </p:sp>
      <p:sp>
        <p:nvSpPr>
          <p:cNvPr id="6" name="object 6"/>
          <p:cNvSpPr txBox="1"/>
          <p:nvPr/>
        </p:nvSpPr>
        <p:spPr>
          <a:xfrm>
            <a:off x="1120851" y="1625600"/>
            <a:ext cx="12065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Log</a:t>
            </a:r>
            <a:r>
              <a:rPr sz="1800" spc="-60" dirty="0">
                <a:solidFill>
                  <a:srgbClr val="464646"/>
                </a:solidFill>
                <a:latin typeface="Arial MT"/>
                <a:cs typeface="Arial MT"/>
              </a:rPr>
              <a:t> </a:t>
            </a:r>
            <a:r>
              <a:rPr sz="1800" spc="-5" dirty="0">
                <a:solidFill>
                  <a:srgbClr val="464646"/>
                </a:solidFill>
                <a:latin typeface="Arial MT"/>
                <a:cs typeface="Arial MT"/>
              </a:rPr>
              <a:t>Stream</a:t>
            </a:r>
            <a:endParaRPr sz="1800">
              <a:latin typeface="Arial MT"/>
              <a:cs typeface="Arial MT"/>
            </a:endParaRPr>
          </a:p>
        </p:txBody>
      </p:sp>
      <p:sp>
        <p:nvSpPr>
          <p:cNvPr id="7" name="object 7"/>
          <p:cNvSpPr/>
          <p:nvPr/>
        </p:nvSpPr>
        <p:spPr>
          <a:xfrm>
            <a:off x="782573" y="2225801"/>
            <a:ext cx="1887220" cy="546100"/>
          </a:xfrm>
          <a:custGeom>
            <a:avLst/>
            <a:gdLst/>
            <a:ahLst/>
            <a:cxnLst/>
            <a:rect l="l" t="t" r="r" b="b"/>
            <a:pathLst>
              <a:path w="1887220" h="546100">
                <a:moveTo>
                  <a:pt x="0" y="90931"/>
                </a:moveTo>
                <a:lnTo>
                  <a:pt x="7146" y="55560"/>
                </a:lnTo>
                <a:lnTo>
                  <a:pt x="26635" y="26654"/>
                </a:lnTo>
                <a:lnTo>
                  <a:pt x="55539" y="7153"/>
                </a:lnTo>
                <a:lnTo>
                  <a:pt x="90932" y="0"/>
                </a:lnTo>
                <a:lnTo>
                  <a:pt x="1795780" y="0"/>
                </a:lnTo>
                <a:lnTo>
                  <a:pt x="1831151" y="7153"/>
                </a:lnTo>
                <a:lnTo>
                  <a:pt x="1860057" y="26654"/>
                </a:lnTo>
                <a:lnTo>
                  <a:pt x="1879558" y="55560"/>
                </a:lnTo>
                <a:lnTo>
                  <a:pt x="1886712" y="90931"/>
                </a:lnTo>
                <a:lnTo>
                  <a:pt x="1886712" y="454660"/>
                </a:lnTo>
                <a:lnTo>
                  <a:pt x="1879558" y="490031"/>
                </a:lnTo>
                <a:lnTo>
                  <a:pt x="1860057" y="518937"/>
                </a:lnTo>
                <a:lnTo>
                  <a:pt x="1831151" y="538438"/>
                </a:lnTo>
                <a:lnTo>
                  <a:pt x="1795780" y="545592"/>
                </a:lnTo>
                <a:lnTo>
                  <a:pt x="90932" y="545592"/>
                </a:lnTo>
                <a:lnTo>
                  <a:pt x="55539" y="538438"/>
                </a:lnTo>
                <a:lnTo>
                  <a:pt x="26635" y="518937"/>
                </a:lnTo>
                <a:lnTo>
                  <a:pt x="7146" y="490031"/>
                </a:lnTo>
                <a:lnTo>
                  <a:pt x="0" y="454660"/>
                </a:lnTo>
                <a:lnTo>
                  <a:pt x="0" y="90931"/>
                </a:lnTo>
                <a:close/>
              </a:path>
            </a:pathLst>
          </a:custGeom>
          <a:ln w="25908">
            <a:solidFill>
              <a:srgbClr val="464646"/>
            </a:solidFill>
          </a:ln>
        </p:spPr>
        <p:txBody>
          <a:bodyPr wrap="square" lIns="0" tIns="0" rIns="0" bIns="0" rtlCol="0"/>
          <a:lstStyle/>
          <a:p>
            <a:endParaRPr/>
          </a:p>
        </p:txBody>
      </p:sp>
      <p:sp>
        <p:nvSpPr>
          <p:cNvPr id="8" name="object 8"/>
          <p:cNvSpPr txBox="1"/>
          <p:nvPr/>
        </p:nvSpPr>
        <p:spPr>
          <a:xfrm>
            <a:off x="1120851" y="2342769"/>
            <a:ext cx="12065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Log</a:t>
            </a:r>
            <a:r>
              <a:rPr sz="1800" spc="-60" dirty="0">
                <a:solidFill>
                  <a:srgbClr val="464646"/>
                </a:solidFill>
                <a:latin typeface="Arial MT"/>
                <a:cs typeface="Arial MT"/>
              </a:rPr>
              <a:t> </a:t>
            </a:r>
            <a:r>
              <a:rPr sz="1800" spc="-5" dirty="0">
                <a:solidFill>
                  <a:srgbClr val="464646"/>
                </a:solidFill>
                <a:latin typeface="Arial MT"/>
                <a:cs typeface="Arial MT"/>
              </a:rPr>
              <a:t>Stream</a:t>
            </a:r>
            <a:endParaRPr sz="1800">
              <a:latin typeface="Arial MT"/>
              <a:cs typeface="Arial MT"/>
            </a:endParaRPr>
          </a:p>
        </p:txBody>
      </p:sp>
      <p:grpSp>
        <p:nvGrpSpPr>
          <p:cNvPr id="9" name="object 9"/>
          <p:cNvGrpSpPr/>
          <p:nvPr/>
        </p:nvGrpSpPr>
        <p:grpSpPr>
          <a:xfrm>
            <a:off x="2820923" y="1594065"/>
            <a:ext cx="1976755" cy="576580"/>
            <a:chOff x="2820923" y="1594065"/>
            <a:chExt cx="1976755" cy="576580"/>
          </a:xfrm>
        </p:grpSpPr>
        <p:pic>
          <p:nvPicPr>
            <p:cNvPr id="10" name="object 10"/>
            <p:cNvPicPr/>
            <p:nvPr/>
          </p:nvPicPr>
          <p:blipFill>
            <a:blip r:embed="rId3" cstate="print"/>
            <a:stretch>
              <a:fillRect/>
            </a:stretch>
          </p:blipFill>
          <p:spPr>
            <a:xfrm>
              <a:off x="2820923" y="1594065"/>
              <a:ext cx="1976627" cy="521246"/>
            </a:xfrm>
            <a:prstGeom prst="rect">
              <a:avLst/>
            </a:prstGeom>
          </p:spPr>
        </p:pic>
        <p:pic>
          <p:nvPicPr>
            <p:cNvPr id="11" name="object 11"/>
            <p:cNvPicPr/>
            <p:nvPr/>
          </p:nvPicPr>
          <p:blipFill>
            <a:blip r:embed="rId4" cstate="print"/>
            <a:stretch>
              <a:fillRect/>
            </a:stretch>
          </p:blipFill>
          <p:spPr>
            <a:xfrm>
              <a:off x="3034283" y="1609331"/>
              <a:ext cx="1548383" cy="560844"/>
            </a:xfrm>
            <a:prstGeom prst="rect">
              <a:avLst/>
            </a:prstGeom>
          </p:spPr>
        </p:pic>
        <p:pic>
          <p:nvPicPr>
            <p:cNvPr id="12" name="object 12"/>
            <p:cNvPicPr/>
            <p:nvPr/>
          </p:nvPicPr>
          <p:blipFill>
            <a:blip r:embed="rId5" cstate="print"/>
            <a:stretch>
              <a:fillRect/>
            </a:stretch>
          </p:blipFill>
          <p:spPr>
            <a:xfrm>
              <a:off x="2868167" y="1621535"/>
              <a:ext cx="1886711" cy="431291"/>
            </a:xfrm>
            <a:prstGeom prst="rect">
              <a:avLst/>
            </a:prstGeom>
          </p:spPr>
        </p:pic>
        <p:sp>
          <p:nvSpPr>
            <p:cNvPr id="13" name="object 13"/>
            <p:cNvSpPr/>
            <p:nvPr/>
          </p:nvSpPr>
          <p:spPr>
            <a:xfrm>
              <a:off x="2868167" y="1621535"/>
              <a:ext cx="1887220" cy="431800"/>
            </a:xfrm>
            <a:custGeom>
              <a:avLst/>
              <a:gdLst/>
              <a:ahLst/>
              <a:cxnLst/>
              <a:rect l="l" t="t" r="r" b="b"/>
              <a:pathLst>
                <a:path w="1887220" h="431800">
                  <a:moveTo>
                    <a:pt x="0" y="431291"/>
                  </a:moveTo>
                  <a:lnTo>
                    <a:pt x="1886711" y="431291"/>
                  </a:lnTo>
                  <a:lnTo>
                    <a:pt x="1886711" y="0"/>
                  </a:lnTo>
                  <a:lnTo>
                    <a:pt x="0" y="0"/>
                  </a:lnTo>
                  <a:lnTo>
                    <a:pt x="0" y="431291"/>
                  </a:lnTo>
                  <a:close/>
                </a:path>
              </a:pathLst>
            </a:custGeom>
            <a:ln w="9144">
              <a:solidFill>
                <a:srgbClr val="454544"/>
              </a:solidFill>
            </a:ln>
          </p:spPr>
          <p:txBody>
            <a:bodyPr wrap="square" lIns="0" tIns="0" rIns="0" bIns="0" rtlCol="0"/>
            <a:lstStyle/>
            <a:p>
              <a:endParaRPr/>
            </a:p>
          </p:txBody>
        </p:sp>
      </p:grpSp>
      <p:sp>
        <p:nvSpPr>
          <p:cNvPr id="14" name="object 14"/>
          <p:cNvSpPr txBox="1"/>
          <p:nvPr/>
        </p:nvSpPr>
        <p:spPr>
          <a:xfrm>
            <a:off x="3202051" y="1681733"/>
            <a:ext cx="12192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64646"/>
                </a:solidFill>
                <a:latin typeface="Arial MT"/>
                <a:cs typeface="Arial MT"/>
              </a:rPr>
              <a:t>Metric</a:t>
            </a:r>
            <a:r>
              <a:rPr sz="1800" spc="-85" dirty="0">
                <a:solidFill>
                  <a:srgbClr val="464646"/>
                </a:solidFill>
                <a:latin typeface="Arial MT"/>
                <a:cs typeface="Arial MT"/>
              </a:rPr>
              <a:t> </a:t>
            </a:r>
            <a:r>
              <a:rPr sz="1800" dirty="0">
                <a:solidFill>
                  <a:srgbClr val="464646"/>
                </a:solidFill>
                <a:latin typeface="Arial MT"/>
                <a:cs typeface="Arial MT"/>
              </a:rPr>
              <a:t>Filter</a:t>
            </a:r>
            <a:endParaRPr sz="1800">
              <a:latin typeface="Arial MT"/>
              <a:cs typeface="Arial MT"/>
            </a:endParaRPr>
          </a:p>
        </p:txBody>
      </p:sp>
      <p:sp>
        <p:nvSpPr>
          <p:cNvPr id="15" name="object 15"/>
          <p:cNvSpPr/>
          <p:nvPr/>
        </p:nvSpPr>
        <p:spPr>
          <a:xfrm>
            <a:off x="6418326" y="1416558"/>
            <a:ext cx="1853564" cy="843280"/>
          </a:xfrm>
          <a:custGeom>
            <a:avLst/>
            <a:gdLst/>
            <a:ahLst/>
            <a:cxnLst/>
            <a:rect l="l" t="t" r="r" b="b"/>
            <a:pathLst>
              <a:path w="1853565" h="843280">
                <a:moveTo>
                  <a:pt x="0" y="140462"/>
                </a:moveTo>
                <a:lnTo>
                  <a:pt x="7158" y="96056"/>
                </a:lnTo>
                <a:lnTo>
                  <a:pt x="27094" y="57497"/>
                </a:lnTo>
                <a:lnTo>
                  <a:pt x="57497" y="27094"/>
                </a:lnTo>
                <a:lnTo>
                  <a:pt x="96056" y="7158"/>
                </a:lnTo>
                <a:lnTo>
                  <a:pt x="140462" y="0"/>
                </a:lnTo>
                <a:lnTo>
                  <a:pt x="1712722" y="0"/>
                </a:lnTo>
                <a:lnTo>
                  <a:pt x="1757127" y="7158"/>
                </a:lnTo>
                <a:lnTo>
                  <a:pt x="1795686" y="27094"/>
                </a:lnTo>
                <a:lnTo>
                  <a:pt x="1826089" y="57497"/>
                </a:lnTo>
                <a:lnTo>
                  <a:pt x="1846025" y="96056"/>
                </a:lnTo>
                <a:lnTo>
                  <a:pt x="1853183" y="140462"/>
                </a:lnTo>
                <a:lnTo>
                  <a:pt x="1853183" y="702309"/>
                </a:lnTo>
                <a:lnTo>
                  <a:pt x="1846025" y="746715"/>
                </a:lnTo>
                <a:lnTo>
                  <a:pt x="1826089" y="785274"/>
                </a:lnTo>
                <a:lnTo>
                  <a:pt x="1795686" y="815677"/>
                </a:lnTo>
                <a:lnTo>
                  <a:pt x="1757127" y="835613"/>
                </a:lnTo>
                <a:lnTo>
                  <a:pt x="1712722" y="842771"/>
                </a:lnTo>
                <a:lnTo>
                  <a:pt x="140462" y="842771"/>
                </a:lnTo>
                <a:lnTo>
                  <a:pt x="96056" y="835613"/>
                </a:lnTo>
                <a:lnTo>
                  <a:pt x="57497" y="815677"/>
                </a:lnTo>
                <a:lnTo>
                  <a:pt x="27094" y="785274"/>
                </a:lnTo>
                <a:lnTo>
                  <a:pt x="7158" y="746715"/>
                </a:lnTo>
                <a:lnTo>
                  <a:pt x="0" y="702309"/>
                </a:lnTo>
                <a:lnTo>
                  <a:pt x="0" y="140462"/>
                </a:lnTo>
                <a:close/>
              </a:path>
            </a:pathLst>
          </a:custGeom>
          <a:ln w="25908">
            <a:solidFill>
              <a:srgbClr val="464646"/>
            </a:solidFill>
          </a:ln>
        </p:spPr>
        <p:txBody>
          <a:bodyPr wrap="square" lIns="0" tIns="0" rIns="0" bIns="0" rtlCol="0"/>
          <a:lstStyle/>
          <a:p>
            <a:endParaRPr/>
          </a:p>
        </p:txBody>
      </p:sp>
      <p:sp>
        <p:nvSpPr>
          <p:cNvPr id="16" name="object 16"/>
          <p:cNvSpPr txBox="1"/>
          <p:nvPr/>
        </p:nvSpPr>
        <p:spPr>
          <a:xfrm>
            <a:off x="6715506" y="1681733"/>
            <a:ext cx="125920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l</a:t>
            </a:r>
            <a:r>
              <a:rPr sz="1800" spc="-5" dirty="0">
                <a:solidFill>
                  <a:srgbClr val="464646"/>
                </a:solidFill>
                <a:latin typeface="Arial MT"/>
                <a:cs typeface="Arial MT"/>
              </a:rPr>
              <a:t>o</a:t>
            </a:r>
            <a:r>
              <a:rPr sz="1800" spc="-15" dirty="0">
                <a:solidFill>
                  <a:srgbClr val="464646"/>
                </a:solidFill>
                <a:latin typeface="Arial MT"/>
                <a:cs typeface="Arial MT"/>
              </a:rPr>
              <a:t>u</a:t>
            </a:r>
            <a:r>
              <a:rPr sz="1800" dirty="0">
                <a:solidFill>
                  <a:srgbClr val="464646"/>
                </a:solidFill>
                <a:latin typeface="Arial MT"/>
                <a:cs typeface="Arial MT"/>
              </a:rPr>
              <a:t>d</a:t>
            </a:r>
            <a:r>
              <a:rPr sz="1800" spc="-75" dirty="0">
                <a:solidFill>
                  <a:srgbClr val="464646"/>
                </a:solidFill>
                <a:latin typeface="Arial MT"/>
                <a:cs typeface="Arial MT"/>
              </a:rPr>
              <a:t>W</a:t>
            </a:r>
            <a:r>
              <a:rPr sz="1800" dirty="0">
                <a:solidFill>
                  <a:srgbClr val="464646"/>
                </a:solidFill>
                <a:latin typeface="Arial MT"/>
                <a:cs typeface="Arial MT"/>
              </a:rPr>
              <a:t>atch</a:t>
            </a:r>
            <a:endParaRPr sz="1800">
              <a:latin typeface="Arial MT"/>
              <a:cs typeface="Arial MT"/>
            </a:endParaRPr>
          </a:p>
        </p:txBody>
      </p:sp>
      <p:sp>
        <p:nvSpPr>
          <p:cNvPr id="17" name="object 17"/>
          <p:cNvSpPr/>
          <p:nvPr/>
        </p:nvSpPr>
        <p:spPr>
          <a:xfrm>
            <a:off x="6418326" y="3211829"/>
            <a:ext cx="1853564" cy="843280"/>
          </a:xfrm>
          <a:custGeom>
            <a:avLst/>
            <a:gdLst/>
            <a:ahLst/>
            <a:cxnLst/>
            <a:rect l="l" t="t" r="r" b="b"/>
            <a:pathLst>
              <a:path w="1853565" h="843279">
                <a:moveTo>
                  <a:pt x="0" y="140462"/>
                </a:moveTo>
                <a:lnTo>
                  <a:pt x="7158" y="96056"/>
                </a:lnTo>
                <a:lnTo>
                  <a:pt x="27094" y="57497"/>
                </a:lnTo>
                <a:lnTo>
                  <a:pt x="57497" y="27094"/>
                </a:lnTo>
                <a:lnTo>
                  <a:pt x="96056" y="7158"/>
                </a:lnTo>
                <a:lnTo>
                  <a:pt x="140462" y="0"/>
                </a:lnTo>
                <a:lnTo>
                  <a:pt x="1712722" y="0"/>
                </a:lnTo>
                <a:lnTo>
                  <a:pt x="1757127" y="7158"/>
                </a:lnTo>
                <a:lnTo>
                  <a:pt x="1795686" y="27094"/>
                </a:lnTo>
                <a:lnTo>
                  <a:pt x="1826089" y="57497"/>
                </a:lnTo>
                <a:lnTo>
                  <a:pt x="1846025" y="96056"/>
                </a:lnTo>
                <a:lnTo>
                  <a:pt x="1853183" y="140462"/>
                </a:lnTo>
                <a:lnTo>
                  <a:pt x="1853183" y="702310"/>
                </a:lnTo>
                <a:lnTo>
                  <a:pt x="1846025" y="746705"/>
                </a:lnTo>
                <a:lnTo>
                  <a:pt x="1826089" y="785263"/>
                </a:lnTo>
                <a:lnTo>
                  <a:pt x="1795686" y="815669"/>
                </a:lnTo>
                <a:lnTo>
                  <a:pt x="1757127" y="835610"/>
                </a:lnTo>
                <a:lnTo>
                  <a:pt x="1712722" y="842772"/>
                </a:lnTo>
                <a:lnTo>
                  <a:pt x="140462" y="842772"/>
                </a:lnTo>
                <a:lnTo>
                  <a:pt x="96056" y="835610"/>
                </a:lnTo>
                <a:lnTo>
                  <a:pt x="57497" y="815669"/>
                </a:lnTo>
                <a:lnTo>
                  <a:pt x="27094" y="785263"/>
                </a:lnTo>
                <a:lnTo>
                  <a:pt x="7158" y="746705"/>
                </a:lnTo>
                <a:lnTo>
                  <a:pt x="0" y="702310"/>
                </a:lnTo>
                <a:lnTo>
                  <a:pt x="0" y="140462"/>
                </a:lnTo>
                <a:close/>
              </a:path>
            </a:pathLst>
          </a:custGeom>
          <a:ln w="25907">
            <a:solidFill>
              <a:srgbClr val="464646"/>
            </a:solidFill>
          </a:ln>
        </p:spPr>
        <p:txBody>
          <a:bodyPr wrap="square" lIns="0" tIns="0" rIns="0" bIns="0" rtlCol="0"/>
          <a:lstStyle/>
          <a:p>
            <a:endParaRPr/>
          </a:p>
        </p:txBody>
      </p:sp>
      <p:sp>
        <p:nvSpPr>
          <p:cNvPr id="18" name="object 18"/>
          <p:cNvSpPr txBox="1"/>
          <p:nvPr/>
        </p:nvSpPr>
        <p:spPr>
          <a:xfrm>
            <a:off x="6977633" y="3477895"/>
            <a:ext cx="7359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Al</a:t>
            </a:r>
            <a:r>
              <a:rPr sz="1800" spc="-15" dirty="0">
                <a:solidFill>
                  <a:srgbClr val="464646"/>
                </a:solidFill>
                <a:latin typeface="Arial MT"/>
                <a:cs typeface="Arial MT"/>
              </a:rPr>
              <a:t>a</a:t>
            </a:r>
            <a:r>
              <a:rPr sz="1800" dirty="0">
                <a:solidFill>
                  <a:srgbClr val="464646"/>
                </a:solidFill>
                <a:latin typeface="Arial MT"/>
                <a:cs typeface="Arial MT"/>
              </a:rPr>
              <a:t>rms</a:t>
            </a:r>
            <a:endParaRPr sz="1800">
              <a:latin typeface="Arial MT"/>
              <a:cs typeface="Arial MT"/>
            </a:endParaRPr>
          </a:p>
        </p:txBody>
      </p:sp>
      <p:grpSp>
        <p:nvGrpSpPr>
          <p:cNvPr id="19" name="object 19"/>
          <p:cNvGrpSpPr/>
          <p:nvPr/>
        </p:nvGrpSpPr>
        <p:grpSpPr>
          <a:xfrm>
            <a:off x="4713732" y="1735874"/>
            <a:ext cx="2748280" cy="1612900"/>
            <a:chOff x="4713732" y="1735874"/>
            <a:chExt cx="2748280" cy="1612900"/>
          </a:xfrm>
        </p:grpSpPr>
        <p:pic>
          <p:nvPicPr>
            <p:cNvPr id="20" name="object 20"/>
            <p:cNvPicPr/>
            <p:nvPr/>
          </p:nvPicPr>
          <p:blipFill>
            <a:blip r:embed="rId6" cstate="print"/>
            <a:stretch>
              <a:fillRect/>
            </a:stretch>
          </p:blipFill>
          <p:spPr>
            <a:xfrm>
              <a:off x="7223760" y="2237231"/>
              <a:ext cx="237832" cy="1110996"/>
            </a:xfrm>
            <a:prstGeom prst="rect">
              <a:avLst/>
            </a:prstGeom>
          </p:spPr>
        </p:pic>
        <p:sp>
          <p:nvSpPr>
            <p:cNvPr id="21" name="object 21"/>
            <p:cNvSpPr/>
            <p:nvPr/>
          </p:nvSpPr>
          <p:spPr>
            <a:xfrm>
              <a:off x="7306055" y="2259329"/>
              <a:ext cx="78105" cy="952500"/>
            </a:xfrm>
            <a:custGeom>
              <a:avLst/>
              <a:gdLst/>
              <a:ahLst/>
              <a:cxnLst/>
              <a:rect l="l" t="t" r="r" b="b"/>
              <a:pathLst>
                <a:path w="78104" h="952500">
                  <a:moveTo>
                    <a:pt x="25908" y="874394"/>
                  </a:moveTo>
                  <a:lnTo>
                    <a:pt x="0" y="874394"/>
                  </a:lnTo>
                  <a:lnTo>
                    <a:pt x="38862" y="952119"/>
                  </a:lnTo>
                  <a:lnTo>
                    <a:pt x="71247" y="887349"/>
                  </a:lnTo>
                  <a:lnTo>
                    <a:pt x="25908" y="887349"/>
                  </a:lnTo>
                  <a:lnTo>
                    <a:pt x="25908" y="874394"/>
                  </a:lnTo>
                  <a:close/>
                </a:path>
                <a:path w="78104" h="952500">
                  <a:moveTo>
                    <a:pt x="51816" y="0"/>
                  </a:moveTo>
                  <a:lnTo>
                    <a:pt x="25908" y="0"/>
                  </a:lnTo>
                  <a:lnTo>
                    <a:pt x="25908" y="887349"/>
                  </a:lnTo>
                  <a:lnTo>
                    <a:pt x="51816" y="887349"/>
                  </a:lnTo>
                  <a:lnTo>
                    <a:pt x="51816" y="0"/>
                  </a:lnTo>
                  <a:close/>
                </a:path>
                <a:path w="78104" h="952500">
                  <a:moveTo>
                    <a:pt x="77724" y="874394"/>
                  </a:moveTo>
                  <a:lnTo>
                    <a:pt x="51816" y="874394"/>
                  </a:lnTo>
                  <a:lnTo>
                    <a:pt x="51816" y="887349"/>
                  </a:lnTo>
                  <a:lnTo>
                    <a:pt x="71247" y="887349"/>
                  </a:lnTo>
                  <a:lnTo>
                    <a:pt x="77724" y="874394"/>
                  </a:lnTo>
                  <a:close/>
                </a:path>
              </a:pathLst>
            </a:custGeom>
            <a:solidFill>
              <a:srgbClr val="FBB64B"/>
            </a:solidFill>
          </p:spPr>
          <p:txBody>
            <a:bodyPr wrap="square" lIns="0" tIns="0" rIns="0" bIns="0" rtlCol="0"/>
            <a:lstStyle/>
            <a:p>
              <a:endParaRPr/>
            </a:p>
          </p:txBody>
        </p:sp>
        <p:pic>
          <p:nvPicPr>
            <p:cNvPr id="22" name="object 22"/>
            <p:cNvPicPr/>
            <p:nvPr/>
          </p:nvPicPr>
          <p:blipFill>
            <a:blip r:embed="rId7" cstate="print"/>
            <a:stretch>
              <a:fillRect/>
            </a:stretch>
          </p:blipFill>
          <p:spPr>
            <a:xfrm>
              <a:off x="4713732" y="1735874"/>
              <a:ext cx="1819656" cy="237832"/>
            </a:xfrm>
            <a:prstGeom prst="rect">
              <a:avLst/>
            </a:prstGeom>
          </p:spPr>
        </p:pic>
        <p:sp>
          <p:nvSpPr>
            <p:cNvPr id="23" name="object 23"/>
            <p:cNvSpPr/>
            <p:nvPr/>
          </p:nvSpPr>
          <p:spPr>
            <a:xfrm>
              <a:off x="4755642" y="1798319"/>
              <a:ext cx="1662430" cy="78105"/>
            </a:xfrm>
            <a:custGeom>
              <a:avLst/>
              <a:gdLst/>
              <a:ahLst/>
              <a:cxnLst/>
              <a:rect l="l" t="t" r="r" b="b"/>
              <a:pathLst>
                <a:path w="1662429" h="78105">
                  <a:moveTo>
                    <a:pt x="1584452" y="0"/>
                  </a:moveTo>
                  <a:lnTo>
                    <a:pt x="1584452" y="77724"/>
                  </a:lnTo>
                  <a:lnTo>
                    <a:pt x="1636268" y="51815"/>
                  </a:lnTo>
                  <a:lnTo>
                    <a:pt x="1597406" y="51815"/>
                  </a:lnTo>
                  <a:lnTo>
                    <a:pt x="1597406" y="25907"/>
                  </a:lnTo>
                  <a:lnTo>
                    <a:pt x="1636267" y="25907"/>
                  </a:lnTo>
                  <a:lnTo>
                    <a:pt x="1584452" y="0"/>
                  </a:lnTo>
                  <a:close/>
                </a:path>
                <a:path w="1662429" h="78105">
                  <a:moveTo>
                    <a:pt x="823976" y="25907"/>
                  </a:moveTo>
                  <a:lnTo>
                    <a:pt x="0" y="25907"/>
                  </a:lnTo>
                  <a:lnTo>
                    <a:pt x="0" y="51815"/>
                  </a:lnTo>
                  <a:lnTo>
                    <a:pt x="831088" y="51815"/>
                  </a:lnTo>
                  <a:lnTo>
                    <a:pt x="844042" y="38862"/>
                  </a:lnTo>
                  <a:lnTo>
                    <a:pt x="818134" y="38862"/>
                  </a:lnTo>
                  <a:lnTo>
                    <a:pt x="818134" y="31750"/>
                  </a:lnTo>
                  <a:lnTo>
                    <a:pt x="823976" y="25907"/>
                  </a:lnTo>
                  <a:close/>
                </a:path>
                <a:path w="1662429" h="78105">
                  <a:moveTo>
                    <a:pt x="844042" y="38862"/>
                  </a:moveTo>
                  <a:lnTo>
                    <a:pt x="831088" y="51815"/>
                  </a:lnTo>
                  <a:lnTo>
                    <a:pt x="838200" y="51815"/>
                  </a:lnTo>
                  <a:lnTo>
                    <a:pt x="844042" y="45974"/>
                  </a:lnTo>
                  <a:lnTo>
                    <a:pt x="844042" y="38862"/>
                  </a:lnTo>
                  <a:close/>
                </a:path>
                <a:path w="1662429" h="78105">
                  <a:moveTo>
                    <a:pt x="1584452" y="25907"/>
                  </a:moveTo>
                  <a:lnTo>
                    <a:pt x="831088" y="25907"/>
                  </a:lnTo>
                  <a:lnTo>
                    <a:pt x="818134" y="38862"/>
                  </a:lnTo>
                  <a:lnTo>
                    <a:pt x="844042" y="38862"/>
                  </a:lnTo>
                  <a:lnTo>
                    <a:pt x="844042" y="45974"/>
                  </a:lnTo>
                  <a:lnTo>
                    <a:pt x="838200" y="51815"/>
                  </a:lnTo>
                  <a:lnTo>
                    <a:pt x="1584452" y="51815"/>
                  </a:lnTo>
                  <a:lnTo>
                    <a:pt x="1584452" y="25907"/>
                  </a:lnTo>
                  <a:close/>
                </a:path>
                <a:path w="1662429" h="78105">
                  <a:moveTo>
                    <a:pt x="1636267" y="25907"/>
                  </a:moveTo>
                  <a:lnTo>
                    <a:pt x="1597406" y="25907"/>
                  </a:lnTo>
                  <a:lnTo>
                    <a:pt x="1597406" y="51815"/>
                  </a:lnTo>
                  <a:lnTo>
                    <a:pt x="1636268" y="51815"/>
                  </a:lnTo>
                  <a:lnTo>
                    <a:pt x="1662176" y="38862"/>
                  </a:lnTo>
                  <a:lnTo>
                    <a:pt x="1636267" y="25907"/>
                  </a:lnTo>
                  <a:close/>
                </a:path>
                <a:path w="1662429" h="78105">
                  <a:moveTo>
                    <a:pt x="831088" y="25907"/>
                  </a:moveTo>
                  <a:lnTo>
                    <a:pt x="823976" y="25907"/>
                  </a:lnTo>
                  <a:lnTo>
                    <a:pt x="818134" y="31750"/>
                  </a:lnTo>
                  <a:lnTo>
                    <a:pt x="818134" y="38862"/>
                  </a:lnTo>
                  <a:lnTo>
                    <a:pt x="831088" y="25907"/>
                  </a:lnTo>
                  <a:close/>
                </a:path>
              </a:pathLst>
            </a:custGeom>
            <a:solidFill>
              <a:srgbClr val="FBB64B"/>
            </a:solidFill>
          </p:spPr>
          <p:txBody>
            <a:bodyPr wrap="square" lIns="0" tIns="0" rIns="0" bIns="0" rtlCol="0"/>
            <a:lstStyle/>
            <a:p>
              <a:endParaRPr/>
            </a:p>
          </p:txBody>
        </p:sp>
      </p:grpSp>
      <p:sp>
        <p:nvSpPr>
          <p:cNvPr id="24" name="object 24"/>
          <p:cNvSpPr txBox="1"/>
          <p:nvPr/>
        </p:nvSpPr>
        <p:spPr>
          <a:xfrm>
            <a:off x="4968366" y="1591182"/>
            <a:ext cx="117030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464646"/>
                </a:solidFill>
                <a:latin typeface="Arial MT"/>
                <a:cs typeface="Arial MT"/>
              </a:rPr>
              <a:t>C</a:t>
            </a:r>
            <a:r>
              <a:rPr sz="1400" dirty="0">
                <a:solidFill>
                  <a:srgbClr val="464646"/>
                </a:solidFill>
                <a:latin typeface="Arial MT"/>
                <a:cs typeface="Arial MT"/>
              </a:rPr>
              <a:t>ustom</a:t>
            </a:r>
            <a:r>
              <a:rPr sz="1400" spc="-40" dirty="0">
                <a:solidFill>
                  <a:srgbClr val="464646"/>
                </a:solidFill>
                <a:latin typeface="Arial MT"/>
                <a:cs typeface="Arial MT"/>
              </a:rPr>
              <a:t> </a:t>
            </a:r>
            <a:r>
              <a:rPr sz="1400" spc="-10" dirty="0">
                <a:solidFill>
                  <a:srgbClr val="464646"/>
                </a:solidFill>
                <a:latin typeface="Arial MT"/>
                <a:cs typeface="Arial MT"/>
              </a:rPr>
              <a:t>M</a:t>
            </a:r>
            <a:r>
              <a:rPr sz="1400" dirty="0">
                <a:solidFill>
                  <a:srgbClr val="464646"/>
                </a:solidFill>
                <a:latin typeface="Arial MT"/>
                <a:cs typeface="Arial MT"/>
              </a:rPr>
              <a:t>etric</a:t>
            </a:r>
            <a:endParaRPr sz="1400">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3033395" cy="452120"/>
          </a:xfrm>
          <a:prstGeom prst="rect">
            <a:avLst/>
          </a:prstGeom>
        </p:spPr>
        <p:txBody>
          <a:bodyPr vert="horz" wrap="square" lIns="0" tIns="12065" rIns="0" bIns="0" rtlCol="0">
            <a:spAutoFit/>
          </a:bodyPr>
          <a:lstStyle/>
          <a:p>
            <a:pPr marL="12700">
              <a:lnSpc>
                <a:spcPct val="100000"/>
              </a:lnSpc>
              <a:spcBef>
                <a:spcPts val="95"/>
              </a:spcBef>
            </a:pPr>
            <a:r>
              <a:rPr spc="-15" dirty="0"/>
              <a:t>CloudWatch</a:t>
            </a:r>
            <a:r>
              <a:rPr spc="-45" dirty="0"/>
              <a:t> </a:t>
            </a:r>
            <a:r>
              <a:rPr spc="-5" dirty="0"/>
              <a:t>Logs</a:t>
            </a:r>
          </a:p>
        </p:txBody>
      </p:sp>
      <p:sp>
        <p:nvSpPr>
          <p:cNvPr id="3" name="object 3"/>
          <p:cNvSpPr txBox="1"/>
          <p:nvPr/>
        </p:nvSpPr>
        <p:spPr>
          <a:xfrm>
            <a:off x="419506" y="864565"/>
            <a:ext cx="7914640" cy="3830954"/>
          </a:xfrm>
          <a:prstGeom prst="rect">
            <a:avLst/>
          </a:prstGeom>
        </p:spPr>
        <p:txBody>
          <a:bodyPr vert="horz" wrap="square" lIns="0" tIns="12700" rIns="0" bIns="0" rtlCol="0">
            <a:spAutoFit/>
          </a:bodyPr>
          <a:lstStyle/>
          <a:p>
            <a:pPr marL="355600" indent="-342900">
              <a:lnSpc>
                <a:spcPct val="100000"/>
              </a:lnSpc>
              <a:spcBef>
                <a:spcPts val="100"/>
              </a:spcBef>
              <a:buChar char="•"/>
              <a:tabLst>
                <a:tab pos="354965" algn="l"/>
                <a:tab pos="355600" algn="l"/>
              </a:tabLst>
            </a:pPr>
            <a:r>
              <a:rPr sz="2400" spc="-5" dirty="0">
                <a:solidFill>
                  <a:srgbClr val="4D4D4B"/>
                </a:solidFill>
                <a:latin typeface="Arial MT"/>
                <a:cs typeface="Arial MT"/>
              </a:rPr>
              <a:t>Custom</a:t>
            </a:r>
            <a:r>
              <a:rPr sz="2400" spc="5" dirty="0">
                <a:solidFill>
                  <a:srgbClr val="4D4D4B"/>
                </a:solidFill>
                <a:latin typeface="Arial MT"/>
                <a:cs typeface="Arial MT"/>
              </a:rPr>
              <a:t> </a:t>
            </a:r>
            <a:r>
              <a:rPr sz="2400" spc="-5" dirty="0">
                <a:solidFill>
                  <a:srgbClr val="4D4D4B"/>
                </a:solidFill>
                <a:latin typeface="Arial MT"/>
                <a:cs typeface="Arial MT"/>
              </a:rPr>
              <a:t>application</a:t>
            </a:r>
            <a:r>
              <a:rPr sz="2400" spc="35" dirty="0">
                <a:solidFill>
                  <a:srgbClr val="4D4D4B"/>
                </a:solidFill>
                <a:latin typeface="Arial MT"/>
                <a:cs typeface="Arial MT"/>
              </a:rPr>
              <a:t> </a:t>
            </a:r>
            <a:r>
              <a:rPr sz="2400" spc="-5" dirty="0">
                <a:solidFill>
                  <a:srgbClr val="4D4D4B"/>
                </a:solidFill>
                <a:latin typeface="Arial MT"/>
                <a:cs typeface="Arial MT"/>
              </a:rPr>
              <a:t>and</a:t>
            </a:r>
            <a:r>
              <a:rPr sz="2400" spc="20" dirty="0">
                <a:solidFill>
                  <a:srgbClr val="4D4D4B"/>
                </a:solidFill>
                <a:latin typeface="Arial MT"/>
                <a:cs typeface="Arial MT"/>
              </a:rPr>
              <a:t> </a:t>
            </a:r>
            <a:r>
              <a:rPr sz="2400" spc="-5" dirty="0">
                <a:solidFill>
                  <a:srgbClr val="4D4D4B"/>
                </a:solidFill>
                <a:latin typeface="Arial MT"/>
                <a:cs typeface="Arial MT"/>
              </a:rPr>
              <a:t>System</a:t>
            </a:r>
            <a:r>
              <a:rPr sz="2400" spc="5" dirty="0">
                <a:solidFill>
                  <a:srgbClr val="4D4D4B"/>
                </a:solidFill>
                <a:latin typeface="Arial MT"/>
                <a:cs typeface="Arial MT"/>
              </a:rPr>
              <a:t> </a:t>
            </a:r>
            <a:r>
              <a:rPr sz="2400" spc="-5" dirty="0">
                <a:solidFill>
                  <a:srgbClr val="4D4D4B"/>
                </a:solidFill>
                <a:latin typeface="Arial MT"/>
                <a:cs typeface="Arial MT"/>
              </a:rPr>
              <a:t>log</a:t>
            </a:r>
            <a:r>
              <a:rPr sz="2400" spc="15" dirty="0">
                <a:solidFill>
                  <a:srgbClr val="4D4D4B"/>
                </a:solidFill>
                <a:latin typeface="Arial MT"/>
                <a:cs typeface="Arial MT"/>
              </a:rPr>
              <a:t> </a:t>
            </a:r>
            <a:r>
              <a:rPr sz="2400" dirty="0">
                <a:solidFill>
                  <a:srgbClr val="4D4D4B"/>
                </a:solidFill>
                <a:latin typeface="Arial MT"/>
                <a:cs typeface="Arial MT"/>
              </a:rPr>
              <a:t>file </a:t>
            </a:r>
            <a:r>
              <a:rPr sz="2400" spc="-5" dirty="0">
                <a:solidFill>
                  <a:srgbClr val="4D4D4B"/>
                </a:solidFill>
                <a:latin typeface="Arial MT"/>
                <a:cs typeface="Arial MT"/>
              </a:rPr>
              <a:t>monitoring</a:t>
            </a:r>
            <a:endParaRPr sz="2400">
              <a:latin typeface="Arial MT"/>
              <a:cs typeface="Arial MT"/>
            </a:endParaRPr>
          </a:p>
          <a:p>
            <a:pPr marL="355600">
              <a:lnSpc>
                <a:spcPct val="100000"/>
              </a:lnSpc>
              <a:spcBef>
                <a:spcPts val="5"/>
              </a:spcBef>
            </a:pPr>
            <a:r>
              <a:rPr sz="2400" spc="-5" dirty="0">
                <a:solidFill>
                  <a:srgbClr val="4D4D4B"/>
                </a:solidFill>
                <a:latin typeface="Arial MT"/>
                <a:cs typeface="Arial MT"/>
              </a:rPr>
              <a:t>capability</a:t>
            </a:r>
            <a:endParaRPr sz="2400">
              <a:latin typeface="Arial MT"/>
              <a:cs typeface="Arial MT"/>
            </a:endParaRPr>
          </a:p>
          <a:p>
            <a:pPr marL="1099185" lvl="1" indent="-343535">
              <a:lnSpc>
                <a:spcPct val="100000"/>
              </a:lnSpc>
              <a:spcBef>
                <a:spcPts val="480"/>
              </a:spcBef>
              <a:buChar char="•"/>
              <a:tabLst>
                <a:tab pos="1099185" algn="l"/>
                <a:tab pos="1099820" algn="l"/>
              </a:tabLst>
            </a:pPr>
            <a:r>
              <a:rPr sz="2000" dirty="0">
                <a:solidFill>
                  <a:srgbClr val="4D4D4B"/>
                </a:solidFill>
                <a:latin typeface="Arial MT"/>
                <a:cs typeface="Arial MT"/>
              </a:rPr>
              <a:t>Monitor</a:t>
            </a:r>
            <a:r>
              <a:rPr sz="2000" spc="-30" dirty="0">
                <a:solidFill>
                  <a:srgbClr val="4D4D4B"/>
                </a:solidFill>
                <a:latin typeface="Arial MT"/>
                <a:cs typeface="Arial MT"/>
              </a:rPr>
              <a:t> </a:t>
            </a:r>
            <a:r>
              <a:rPr sz="2000" dirty="0">
                <a:solidFill>
                  <a:srgbClr val="4D4D4B"/>
                </a:solidFill>
                <a:latin typeface="Arial MT"/>
                <a:cs typeface="Arial MT"/>
              </a:rPr>
              <a:t>for</a:t>
            </a:r>
            <a:r>
              <a:rPr sz="2000" spc="-20" dirty="0">
                <a:solidFill>
                  <a:srgbClr val="4D4D4B"/>
                </a:solidFill>
                <a:latin typeface="Arial MT"/>
                <a:cs typeface="Arial MT"/>
              </a:rPr>
              <a:t> </a:t>
            </a:r>
            <a:r>
              <a:rPr sz="2000" dirty="0">
                <a:solidFill>
                  <a:srgbClr val="4D4D4B"/>
                </a:solidFill>
                <a:latin typeface="Arial MT"/>
                <a:cs typeface="Arial MT"/>
              </a:rPr>
              <a:t>specific</a:t>
            </a:r>
            <a:r>
              <a:rPr sz="2000" spc="-30" dirty="0">
                <a:solidFill>
                  <a:srgbClr val="4D4D4B"/>
                </a:solidFill>
                <a:latin typeface="Arial MT"/>
                <a:cs typeface="Arial MT"/>
              </a:rPr>
              <a:t> </a:t>
            </a:r>
            <a:r>
              <a:rPr sz="2000" dirty="0">
                <a:solidFill>
                  <a:srgbClr val="4D4D4B"/>
                </a:solidFill>
                <a:latin typeface="Arial MT"/>
                <a:cs typeface="Arial MT"/>
              </a:rPr>
              <a:t>terms,</a:t>
            </a:r>
            <a:r>
              <a:rPr sz="2000" spc="-45" dirty="0">
                <a:solidFill>
                  <a:srgbClr val="4D4D4B"/>
                </a:solidFill>
                <a:latin typeface="Arial MT"/>
                <a:cs typeface="Arial MT"/>
              </a:rPr>
              <a:t> </a:t>
            </a:r>
            <a:r>
              <a:rPr sz="2000" dirty="0">
                <a:solidFill>
                  <a:srgbClr val="4D4D4B"/>
                </a:solidFill>
                <a:latin typeface="Arial MT"/>
                <a:cs typeface="Arial MT"/>
              </a:rPr>
              <a:t>count</a:t>
            </a:r>
            <a:r>
              <a:rPr sz="2000" spc="-30" dirty="0">
                <a:solidFill>
                  <a:srgbClr val="4D4D4B"/>
                </a:solidFill>
                <a:latin typeface="Arial MT"/>
                <a:cs typeface="Arial MT"/>
              </a:rPr>
              <a:t> </a:t>
            </a:r>
            <a:r>
              <a:rPr sz="2000" dirty="0">
                <a:solidFill>
                  <a:srgbClr val="4D4D4B"/>
                </a:solidFill>
                <a:latin typeface="Arial MT"/>
                <a:cs typeface="Arial MT"/>
              </a:rPr>
              <a:t>of</a:t>
            </a:r>
            <a:r>
              <a:rPr sz="2000" spc="-15" dirty="0">
                <a:solidFill>
                  <a:srgbClr val="4D4D4B"/>
                </a:solidFill>
                <a:latin typeface="Arial MT"/>
                <a:cs typeface="Arial MT"/>
              </a:rPr>
              <a:t> </a:t>
            </a:r>
            <a:r>
              <a:rPr sz="2000" dirty="0">
                <a:solidFill>
                  <a:srgbClr val="4D4D4B"/>
                </a:solidFill>
                <a:latin typeface="Arial MT"/>
                <a:cs typeface="Arial MT"/>
              </a:rPr>
              <a:t>occurrence</a:t>
            </a:r>
            <a:endParaRPr sz="2000">
              <a:latin typeface="Arial MT"/>
              <a:cs typeface="Arial MT"/>
            </a:endParaRPr>
          </a:p>
          <a:p>
            <a:pPr marL="1099185" lvl="1" indent="-343535">
              <a:lnSpc>
                <a:spcPct val="100000"/>
              </a:lnSpc>
              <a:spcBef>
                <a:spcPts val="484"/>
              </a:spcBef>
              <a:buChar char="•"/>
              <a:tabLst>
                <a:tab pos="1099185" algn="l"/>
                <a:tab pos="1099820" algn="l"/>
              </a:tabLst>
            </a:pPr>
            <a:r>
              <a:rPr sz="2000" dirty="0">
                <a:solidFill>
                  <a:srgbClr val="4D4D4B"/>
                </a:solidFill>
                <a:latin typeface="Arial MT"/>
                <a:cs typeface="Arial MT"/>
              </a:rPr>
              <a:t>Monitor</a:t>
            </a:r>
            <a:r>
              <a:rPr sz="2000" spc="-30" dirty="0">
                <a:solidFill>
                  <a:srgbClr val="4D4D4B"/>
                </a:solidFill>
                <a:latin typeface="Arial MT"/>
                <a:cs typeface="Arial MT"/>
              </a:rPr>
              <a:t> </a:t>
            </a:r>
            <a:r>
              <a:rPr sz="2000" dirty="0">
                <a:solidFill>
                  <a:srgbClr val="4D4D4B"/>
                </a:solidFill>
                <a:latin typeface="Arial MT"/>
                <a:cs typeface="Arial MT"/>
              </a:rPr>
              <a:t>logs</a:t>
            </a:r>
            <a:r>
              <a:rPr sz="2000" spc="-20" dirty="0">
                <a:solidFill>
                  <a:srgbClr val="4D4D4B"/>
                </a:solidFill>
                <a:latin typeface="Arial MT"/>
                <a:cs typeface="Arial MT"/>
              </a:rPr>
              <a:t> </a:t>
            </a:r>
            <a:r>
              <a:rPr sz="2000" dirty="0">
                <a:solidFill>
                  <a:srgbClr val="4D4D4B"/>
                </a:solidFill>
                <a:latin typeface="Arial MT"/>
                <a:cs typeface="Arial MT"/>
              </a:rPr>
              <a:t>from</a:t>
            </a:r>
            <a:r>
              <a:rPr sz="2000" spc="-30" dirty="0">
                <a:solidFill>
                  <a:srgbClr val="4D4D4B"/>
                </a:solidFill>
                <a:latin typeface="Arial MT"/>
                <a:cs typeface="Arial MT"/>
              </a:rPr>
              <a:t> </a:t>
            </a:r>
            <a:r>
              <a:rPr sz="2000" dirty="0">
                <a:solidFill>
                  <a:srgbClr val="4D4D4B"/>
                </a:solidFill>
                <a:latin typeface="Arial MT"/>
                <a:cs typeface="Arial MT"/>
              </a:rPr>
              <a:t>EC2</a:t>
            </a:r>
            <a:r>
              <a:rPr sz="2000" spc="-5" dirty="0">
                <a:solidFill>
                  <a:srgbClr val="4D4D4B"/>
                </a:solidFill>
                <a:latin typeface="Arial MT"/>
                <a:cs typeface="Arial MT"/>
              </a:rPr>
              <a:t> </a:t>
            </a:r>
            <a:r>
              <a:rPr sz="2000" dirty="0">
                <a:solidFill>
                  <a:srgbClr val="4D4D4B"/>
                </a:solidFill>
                <a:latin typeface="Arial MT"/>
                <a:cs typeface="Arial MT"/>
              </a:rPr>
              <a:t>instance</a:t>
            </a:r>
            <a:r>
              <a:rPr sz="2000" spc="-35" dirty="0">
                <a:solidFill>
                  <a:srgbClr val="4D4D4B"/>
                </a:solidFill>
                <a:latin typeface="Arial MT"/>
                <a:cs typeface="Arial MT"/>
              </a:rPr>
              <a:t> </a:t>
            </a:r>
            <a:r>
              <a:rPr sz="2000" dirty="0">
                <a:solidFill>
                  <a:srgbClr val="4D4D4B"/>
                </a:solidFill>
                <a:latin typeface="Arial MT"/>
                <a:cs typeface="Arial MT"/>
              </a:rPr>
              <a:t>in</a:t>
            </a:r>
            <a:r>
              <a:rPr sz="2000" spc="-5" dirty="0">
                <a:solidFill>
                  <a:srgbClr val="4D4D4B"/>
                </a:solidFill>
                <a:latin typeface="Arial MT"/>
                <a:cs typeface="Arial MT"/>
              </a:rPr>
              <a:t> </a:t>
            </a:r>
            <a:r>
              <a:rPr sz="2000" dirty="0">
                <a:solidFill>
                  <a:srgbClr val="4D4D4B"/>
                </a:solidFill>
                <a:latin typeface="Arial MT"/>
                <a:cs typeface="Arial MT"/>
              </a:rPr>
              <a:t>Real-time</a:t>
            </a:r>
            <a:endParaRPr sz="2000">
              <a:latin typeface="Arial MT"/>
              <a:cs typeface="Arial MT"/>
            </a:endParaRPr>
          </a:p>
          <a:p>
            <a:pPr marL="1099185" lvl="1" indent="-343535">
              <a:lnSpc>
                <a:spcPct val="100000"/>
              </a:lnSpc>
              <a:spcBef>
                <a:spcPts val="480"/>
              </a:spcBef>
              <a:buChar char="•"/>
              <a:tabLst>
                <a:tab pos="1099185" algn="l"/>
                <a:tab pos="1099820" algn="l"/>
              </a:tabLst>
            </a:pPr>
            <a:r>
              <a:rPr sz="2000" dirty="0">
                <a:solidFill>
                  <a:srgbClr val="4D4D4B"/>
                </a:solidFill>
                <a:latin typeface="Arial MT"/>
                <a:cs typeface="Arial MT"/>
              </a:rPr>
              <a:t>Monitor</a:t>
            </a:r>
            <a:r>
              <a:rPr sz="2000" spc="-30" dirty="0">
                <a:solidFill>
                  <a:srgbClr val="4D4D4B"/>
                </a:solidFill>
                <a:latin typeface="Arial MT"/>
                <a:cs typeface="Arial MT"/>
              </a:rPr>
              <a:t> </a:t>
            </a:r>
            <a:r>
              <a:rPr sz="2000" spc="-10" dirty="0">
                <a:solidFill>
                  <a:srgbClr val="4D4D4B"/>
                </a:solidFill>
                <a:latin typeface="Arial MT"/>
                <a:cs typeface="Arial MT"/>
              </a:rPr>
              <a:t>CloudTrail</a:t>
            </a:r>
            <a:r>
              <a:rPr sz="2000" spc="-20" dirty="0">
                <a:solidFill>
                  <a:srgbClr val="4D4D4B"/>
                </a:solidFill>
                <a:latin typeface="Arial MT"/>
                <a:cs typeface="Arial MT"/>
              </a:rPr>
              <a:t> </a:t>
            </a:r>
            <a:r>
              <a:rPr sz="2000" dirty="0">
                <a:solidFill>
                  <a:srgbClr val="4D4D4B"/>
                </a:solidFill>
                <a:latin typeface="Arial MT"/>
                <a:cs typeface="Arial MT"/>
              </a:rPr>
              <a:t>logs</a:t>
            </a:r>
            <a:r>
              <a:rPr sz="2000" spc="-15" dirty="0">
                <a:solidFill>
                  <a:srgbClr val="4D4D4B"/>
                </a:solidFill>
                <a:latin typeface="Arial MT"/>
                <a:cs typeface="Arial MT"/>
              </a:rPr>
              <a:t> </a:t>
            </a:r>
            <a:r>
              <a:rPr sz="2000" dirty="0">
                <a:solidFill>
                  <a:srgbClr val="4D4D4B"/>
                </a:solidFill>
                <a:latin typeface="Arial MT"/>
                <a:cs typeface="Arial MT"/>
              </a:rPr>
              <a:t>for</a:t>
            </a:r>
            <a:r>
              <a:rPr sz="2000" spc="-15" dirty="0">
                <a:solidFill>
                  <a:srgbClr val="4D4D4B"/>
                </a:solidFill>
                <a:latin typeface="Arial MT"/>
                <a:cs typeface="Arial MT"/>
              </a:rPr>
              <a:t> </a:t>
            </a:r>
            <a:r>
              <a:rPr sz="2000" dirty="0">
                <a:solidFill>
                  <a:srgbClr val="4D4D4B"/>
                </a:solidFill>
                <a:latin typeface="Arial MT"/>
                <a:cs typeface="Arial MT"/>
              </a:rPr>
              <a:t>specific</a:t>
            </a:r>
            <a:r>
              <a:rPr sz="2000" spc="-30" dirty="0">
                <a:solidFill>
                  <a:srgbClr val="4D4D4B"/>
                </a:solidFill>
                <a:latin typeface="Arial MT"/>
                <a:cs typeface="Arial MT"/>
              </a:rPr>
              <a:t> </a:t>
            </a:r>
            <a:r>
              <a:rPr sz="2000" dirty="0">
                <a:solidFill>
                  <a:srgbClr val="4D4D4B"/>
                </a:solidFill>
                <a:latin typeface="Arial MT"/>
                <a:cs typeface="Arial MT"/>
              </a:rPr>
              <a:t>events</a:t>
            </a:r>
            <a:endParaRPr sz="2000">
              <a:latin typeface="Arial MT"/>
              <a:cs typeface="Arial MT"/>
            </a:endParaRPr>
          </a:p>
          <a:p>
            <a:pPr marL="1099185" lvl="1" indent="-343535">
              <a:lnSpc>
                <a:spcPct val="100000"/>
              </a:lnSpc>
              <a:spcBef>
                <a:spcPts val="480"/>
              </a:spcBef>
              <a:buChar char="•"/>
              <a:tabLst>
                <a:tab pos="1099185" algn="l"/>
                <a:tab pos="1099820" algn="l"/>
              </a:tabLst>
            </a:pPr>
            <a:r>
              <a:rPr sz="2000" dirty="0">
                <a:solidFill>
                  <a:srgbClr val="4D4D4B"/>
                </a:solidFill>
                <a:latin typeface="Arial MT"/>
                <a:cs typeface="Arial MT"/>
              </a:rPr>
              <a:t>Send</a:t>
            </a:r>
            <a:r>
              <a:rPr sz="2000" spc="-25" dirty="0">
                <a:solidFill>
                  <a:srgbClr val="4D4D4B"/>
                </a:solidFill>
                <a:latin typeface="Arial MT"/>
                <a:cs typeface="Arial MT"/>
              </a:rPr>
              <a:t> </a:t>
            </a:r>
            <a:r>
              <a:rPr sz="2000" dirty="0">
                <a:solidFill>
                  <a:srgbClr val="4D4D4B"/>
                </a:solidFill>
                <a:latin typeface="Arial MT"/>
                <a:cs typeface="Arial MT"/>
              </a:rPr>
              <a:t>to</a:t>
            </a:r>
            <a:r>
              <a:rPr sz="2000" spc="-15" dirty="0">
                <a:solidFill>
                  <a:srgbClr val="4D4D4B"/>
                </a:solidFill>
                <a:latin typeface="Arial MT"/>
                <a:cs typeface="Arial MT"/>
              </a:rPr>
              <a:t> </a:t>
            </a:r>
            <a:r>
              <a:rPr sz="2000" spc="-5" dirty="0">
                <a:solidFill>
                  <a:srgbClr val="4D4D4B"/>
                </a:solidFill>
                <a:latin typeface="Arial MT"/>
                <a:cs typeface="Arial MT"/>
              </a:rPr>
              <a:t>CloudWatch</a:t>
            </a:r>
            <a:r>
              <a:rPr sz="2000" spc="-40" dirty="0">
                <a:solidFill>
                  <a:srgbClr val="4D4D4B"/>
                </a:solidFill>
                <a:latin typeface="Arial MT"/>
                <a:cs typeface="Arial MT"/>
              </a:rPr>
              <a:t> </a:t>
            </a:r>
            <a:r>
              <a:rPr sz="2000" dirty="0">
                <a:solidFill>
                  <a:srgbClr val="4D4D4B"/>
                </a:solidFill>
                <a:latin typeface="Arial MT"/>
                <a:cs typeface="Arial MT"/>
              </a:rPr>
              <a:t>metric</a:t>
            </a:r>
            <a:r>
              <a:rPr sz="2000" spc="-30" dirty="0">
                <a:solidFill>
                  <a:srgbClr val="4D4D4B"/>
                </a:solidFill>
                <a:latin typeface="Arial MT"/>
                <a:cs typeface="Arial MT"/>
              </a:rPr>
              <a:t> </a:t>
            </a:r>
            <a:r>
              <a:rPr sz="2000" dirty="0">
                <a:solidFill>
                  <a:srgbClr val="4D4D4B"/>
                </a:solidFill>
                <a:latin typeface="Arial MT"/>
                <a:cs typeface="Arial MT"/>
              </a:rPr>
              <a:t>when</a:t>
            </a:r>
            <a:r>
              <a:rPr sz="2000" spc="-25" dirty="0">
                <a:solidFill>
                  <a:srgbClr val="4D4D4B"/>
                </a:solidFill>
                <a:latin typeface="Arial MT"/>
                <a:cs typeface="Arial MT"/>
              </a:rPr>
              <a:t> </a:t>
            </a:r>
            <a:r>
              <a:rPr sz="2000" dirty="0">
                <a:solidFill>
                  <a:srgbClr val="4D4D4B"/>
                </a:solidFill>
                <a:latin typeface="Arial MT"/>
                <a:cs typeface="Arial MT"/>
              </a:rPr>
              <a:t>match</a:t>
            </a:r>
            <a:r>
              <a:rPr sz="2000" spc="-30" dirty="0">
                <a:solidFill>
                  <a:srgbClr val="4D4D4B"/>
                </a:solidFill>
                <a:latin typeface="Arial MT"/>
                <a:cs typeface="Arial MT"/>
              </a:rPr>
              <a:t> </a:t>
            </a:r>
            <a:r>
              <a:rPr sz="2000" dirty="0">
                <a:solidFill>
                  <a:srgbClr val="4D4D4B"/>
                </a:solidFill>
                <a:latin typeface="Arial MT"/>
                <a:cs typeface="Arial MT"/>
              </a:rPr>
              <a:t>found</a:t>
            </a:r>
            <a:endParaRPr sz="2000">
              <a:latin typeface="Arial MT"/>
              <a:cs typeface="Arial MT"/>
            </a:endParaRPr>
          </a:p>
          <a:p>
            <a:pPr marL="355600" marR="5080" indent="-342900">
              <a:lnSpc>
                <a:spcPct val="100000"/>
              </a:lnSpc>
              <a:spcBef>
                <a:spcPts val="575"/>
              </a:spcBef>
              <a:buChar char="•"/>
              <a:tabLst>
                <a:tab pos="354965" algn="l"/>
                <a:tab pos="355600" algn="l"/>
              </a:tabLst>
            </a:pPr>
            <a:r>
              <a:rPr sz="2400" spc="-15" dirty="0">
                <a:solidFill>
                  <a:srgbClr val="4D4D4B"/>
                </a:solidFill>
                <a:latin typeface="Arial MT"/>
                <a:cs typeface="Arial MT"/>
              </a:rPr>
              <a:t>CloudWatch </a:t>
            </a:r>
            <a:r>
              <a:rPr sz="2400" spc="-5" dirty="0">
                <a:solidFill>
                  <a:srgbClr val="4D4D4B"/>
                </a:solidFill>
                <a:latin typeface="Arial MT"/>
                <a:cs typeface="Arial MT"/>
              </a:rPr>
              <a:t>Log Agent collects log </a:t>
            </a:r>
            <a:r>
              <a:rPr sz="2400" dirty="0">
                <a:solidFill>
                  <a:srgbClr val="4D4D4B"/>
                </a:solidFill>
                <a:latin typeface="Arial MT"/>
                <a:cs typeface="Arial MT"/>
              </a:rPr>
              <a:t>from host </a:t>
            </a:r>
            <a:r>
              <a:rPr sz="2400" spc="-5" dirty="0">
                <a:solidFill>
                  <a:srgbClr val="4D4D4B"/>
                </a:solidFill>
                <a:latin typeface="Arial MT"/>
                <a:cs typeface="Arial MT"/>
              </a:rPr>
              <a:t>and sends </a:t>
            </a:r>
            <a:r>
              <a:rPr sz="2400" spc="-655" dirty="0">
                <a:solidFill>
                  <a:srgbClr val="4D4D4B"/>
                </a:solidFill>
                <a:latin typeface="Arial MT"/>
                <a:cs typeface="Arial MT"/>
              </a:rPr>
              <a:t> </a:t>
            </a:r>
            <a:r>
              <a:rPr sz="2400" dirty="0">
                <a:solidFill>
                  <a:srgbClr val="4D4D4B"/>
                </a:solidFill>
                <a:latin typeface="Arial MT"/>
                <a:cs typeface="Arial MT"/>
              </a:rPr>
              <a:t>to</a:t>
            </a:r>
            <a:r>
              <a:rPr sz="2400" spc="-5" dirty="0">
                <a:solidFill>
                  <a:srgbClr val="4D4D4B"/>
                </a:solidFill>
                <a:latin typeface="Arial MT"/>
                <a:cs typeface="Arial MT"/>
              </a:rPr>
              <a:t> log</a:t>
            </a:r>
            <a:r>
              <a:rPr sz="2400" spc="10" dirty="0">
                <a:solidFill>
                  <a:srgbClr val="4D4D4B"/>
                </a:solidFill>
                <a:latin typeface="Arial MT"/>
                <a:cs typeface="Arial MT"/>
              </a:rPr>
              <a:t> </a:t>
            </a:r>
            <a:r>
              <a:rPr sz="2400" spc="-5" dirty="0">
                <a:solidFill>
                  <a:srgbClr val="4D4D4B"/>
                </a:solidFill>
                <a:latin typeface="Arial MT"/>
                <a:cs typeface="Arial MT"/>
              </a:rPr>
              <a:t>service</a:t>
            </a:r>
            <a:r>
              <a:rPr sz="2400" spc="5" dirty="0">
                <a:solidFill>
                  <a:srgbClr val="4D4D4B"/>
                </a:solidFill>
                <a:latin typeface="Arial MT"/>
                <a:cs typeface="Arial MT"/>
              </a:rPr>
              <a:t> </a:t>
            </a:r>
            <a:r>
              <a:rPr sz="2400" dirty="0">
                <a:solidFill>
                  <a:srgbClr val="4D4D4B"/>
                </a:solidFill>
                <a:latin typeface="Arial MT"/>
                <a:cs typeface="Arial MT"/>
              </a:rPr>
              <a:t>– </a:t>
            </a:r>
            <a:r>
              <a:rPr sz="2400" spc="-5" dirty="0">
                <a:solidFill>
                  <a:srgbClr val="4D4D4B"/>
                </a:solidFill>
                <a:latin typeface="Arial MT"/>
                <a:cs typeface="Arial MT"/>
              </a:rPr>
              <a:t>supports</a:t>
            </a:r>
            <a:r>
              <a:rPr sz="2400" dirty="0">
                <a:solidFill>
                  <a:srgbClr val="4D4D4B"/>
                </a:solidFill>
                <a:latin typeface="Arial MT"/>
                <a:cs typeface="Arial MT"/>
              </a:rPr>
              <a:t> rotated </a:t>
            </a:r>
            <a:r>
              <a:rPr sz="2400" spc="-5" dirty="0">
                <a:solidFill>
                  <a:srgbClr val="4D4D4B"/>
                </a:solidFill>
                <a:latin typeface="Arial MT"/>
                <a:cs typeface="Arial MT"/>
              </a:rPr>
              <a:t>and</a:t>
            </a:r>
            <a:r>
              <a:rPr sz="2400" spc="10" dirty="0">
                <a:solidFill>
                  <a:srgbClr val="4D4D4B"/>
                </a:solidFill>
                <a:latin typeface="Arial MT"/>
                <a:cs typeface="Arial MT"/>
              </a:rPr>
              <a:t> </a:t>
            </a:r>
            <a:r>
              <a:rPr sz="2400" dirty="0">
                <a:solidFill>
                  <a:srgbClr val="4D4D4B"/>
                </a:solidFill>
                <a:latin typeface="Arial MT"/>
                <a:cs typeface="Arial MT"/>
              </a:rPr>
              <a:t>non-rotated </a:t>
            </a:r>
            <a:r>
              <a:rPr sz="2400" spc="-5" dirty="0">
                <a:solidFill>
                  <a:srgbClr val="4D4D4B"/>
                </a:solidFill>
                <a:latin typeface="Arial MT"/>
                <a:cs typeface="Arial MT"/>
              </a:rPr>
              <a:t>files</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Archive</a:t>
            </a:r>
            <a:r>
              <a:rPr sz="2400" spc="5" dirty="0">
                <a:solidFill>
                  <a:srgbClr val="4D4D4B"/>
                </a:solidFill>
                <a:latin typeface="Arial MT"/>
                <a:cs typeface="Arial MT"/>
              </a:rPr>
              <a:t> </a:t>
            </a:r>
            <a:r>
              <a:rPr sz="2400" spc="-5" dirty="0">
                <a:solidFill>
                  <a:srgbClr val="4D4D4B"/>
                </a:solidFill>
                <a:latin typeface="Arial MT"/>
                <a:cs typeface="Arial MT"/>
              </a:rPr>
              <a:t>Log</a:t>
            </a:r>
            <a:r>
              <a:rPr sz="2400" spc="10" dirty="0">
                <a:solidFill>
                  <a:srgbClr val="4D4D4B"/>
                </a:solidFill>
                <a:latin typeface="Arial MT"/>
                <a:cs typeface="Arial MT"/>
              </a:rPr>
              <a:t> </a:t>
            </a:r>
            <a:r>
              <a:rPr sz="2400" spc="-5" dirty="0">
                <a:solidFill>
                  <a:srgbClr val="4D4D4B"/>
                </a:solidFill>
                <a:latin typeface="Arial MT"/>
                <a:cs typeface="Arial MT"/>
              </a:rPr>
              <a:t>data </a:t>
            </a:r>
            <a:r>
              <a:rPr sz="2400" dirty="0">
                <a:solidFill>
                  <a:srgbClr val="4D4D4B"/>
                </a:solidFill>
                <a:latin typeface="Arial MT"/>
                <a:cs typeface="Arial MT"/>
              </a:rPr>
              <a:t>to</a:t>
            </a:r>
            <a:r>
              <a:rPr sz="2400" spc="-10" dirty="0">
                <a:solidFill>
                  <a:srgbClr val="4D4D4B"/>
                </a:solidFill>
                <a:latin typeface="Arial MT"/>
                <a:cs typeface="Arial MT"/>
              </a:rPr>
              <a:t> </a:t>
            </a:r>
            <a:r>
              <a:rPr sz="2400" spc="-5" dirty="0">
                <a:solidFill>
                  <a:srgbClr val="4D4D4B"/>
                </a:solidFill>
                <a:latin typeface="Arial MT"/>
                <a:cs typeface="Arial MT"/>
              </a:rPr>
              <a:t>highly</a:t>
            </a:r>
            <a:r>
              <a:rPr sz="2400" spc="25" dirty="0">
                <a:solidFill>
                  <a:srgbClr val="4D4D4B"/>
                </a:solidFill>
                <a:latin typeface="Arial MT"/>
                <a:cs typeface="Arial MT"/>
              </a:rPr>
              <a:t> </a:t>
            </a:r>
            <a:r>
              <a:rPr sz="2400" spc="-5" dirty="0">
                <a:solidFill>
                  <a:srgbClr val="4D4D4B"/>
                </a:solidFill>
                <a:latin typeface="Arial MT"/>
                <a:cs typeface="Arial MT"/>
              </a:rPr>
              <a:t>durable</a:t>
            </a:r>
            <a:r>
              <a:rPr sz="2400" spc="20" dirty="0">
                <a:solidFill>
                  <a:srgbClr val="4D4D4B"/>
                </a:solidFill>
                <a:latin typeface="Arial MT"/>
                <a:cs typeface="Arial MT"/>
              </a:rPr>
              <a:t> </a:t>
            </a:r>
            <a:r>
              <a:rPr sz="2400" dirty="0">
                <a:solidFill>
                  <a:srgbClr val="4D4D4B"/>
                </a:solidFill>
                <a:latin typeface="Arial MT"/>
                <a:cs typeface="Arial MT"/>
              </a:rPr>
              <a:t>storage</a:t>
            </a:r>
            <a:r>
              <a:rPr sz="2400" spc="-10" dirty="0">
                <a:solidFill>
                  <a:srgbClr val="4D4D4B"/>
                </a:solidFill>
                <a:latin typeface="Arial MT"/>
                <a:cs typeface="Arial MT"/>
              </a:rPr>
              <a:t> </a:t>
            </a:r>
            <a:r>
              <a:rPr sz="2400" spc="-5" dirty="0">
                <a:solidFill>
                  <a:srgbClr val="4D4D4B"/>
                </a:solidFill>
                <a:latin typeface="Arial MT"/>
                <a:cs typeface="Arial MT"/>
              </a:rPr>
              <a:t>with</a:t>
            </a:r>
            <a:r>
              <a:rPr sz="2400" spc="20" dirty="0">
                <a:solidFill>
                  <a:srgbClr val="4D4D4B"/>
                </a:solidFill>
                <a:latin typeface="Arial MT"/>
                <a:cs typeface="Arial MT"/>
              </a:rPr>
              <a:t> </a:t>
            </a:r>
            <a:r>
              <a:rPr sz="2400" spc="-5" dirty="0">
                <a:solidFill>
                  <a:srgbClr val="4D4D4B"/>
                </a:solidFill>
                <a:latin typeface="Arial MT"/>
                <a:cs typeface="Arial MT"/>
              </a:rPr>
              <a:t>log</a:t>
            </a:r>
            <a:endParaRPr sz="2400">
              <a:latin typeface="Arial MT"/>
              <a:cs typeface="Arial MT"/>
            </a:endParaRPr>
          </a:p>
          <a:p>
            <a:pPr marL="355600">
              <a:lnSpc>
                <a:spcPct val="100000"/>
              </a:lnSpc>
            </a:pPr>
            <a:r>
              <a:rPr sz="2400" spc="-5" dirty="0">
                <a:solidFill>
                  <a:srgbClr val="4D4D4B"/>
                </a:solidFill>
                <a:latin typeface="Arial MT"/>
                <a:cs typeface="Arial MT"/>
              </a:rPr>
              <a:t>retention</a:t>
            </a:r>
            <a:r>
              <a:rPr sz="2400" dirty="0">
                <a:solidFill>
                  <a:srgbClr val="4D4D4B"/>
                </a:solidFill>
                <a:latin typeface="Arial MT"/>
                <a:cs typeface="Arial MT"/>
              </a:rPr>
              <a:t> </a:t>
            </a:r>
            <a:r>
              <a:rPr sz="2400" spc="-5" dirty="0">
                <a:solidFill>
                  <a:srgbClr val="4D4D4B"/>
                </a:solidFill>
                <a:latin typeface="Arial MT"/>
                <a:cs typeface="Arial MT"/>
              </a:rPr>
              <a:t>setting</a:t>
            </a:r>
            <a:r>
              <a:rPr sz="2400" spc="5" dirty="0">
                <a:solidFill>
                  <a:srgbClr val="4D4D4B"/>
                </a:solidFill>
                <a:latin typeface="Arial MT"/>
                <a:cs typeface="Arial MT"/>
              </a:rPr>
              <a:t> </a:t>
            </a:r>
            <a:r>
              <a:rPr sz="2400" spc="-5" dirty="0">
                <a:solidFill>
                  <a:srgbClr val="4D4D4B"/>
                </a:solidFill>
                <a:latin typeface="Arial MT"/>
                <a:cs typeface="Arial MT"/>
              </a:rPr>
              <a:t>and</a:t>
            </a:r>
            <a:r>
              <a:rPr sz="2400" spc="15" dirty="0">
                <a:solidFill>
                  <a:srgbClr val="4D4D4B"/>
                </a:solidFill>
                <a:latin typeface="Arial MT"/>
                <a:cs typeface="Arial MT"/>
              </a:rPr>
              <a:t> </a:t>
            </a:r>
            <a:r>
              <a:rPr sz="2400" dirty="0">
                <a:solidFill>
                  <a:srgbClr val="4D4D4B"/>
                </a:solidFill>
                <a:latin typeface="Arial MT"/>
                <a:cs typeface="Arial MT"/>
              </a:rPr>
              <a:t>access </a:t>
            </a:r>
            <a:r>
              <a:rPr sz="2400" spc="-5" dirty="0">
                <a:solidFill>
                  <a:srgbClr val="4D4D4B"/>
                </a:solidFill>
                <a:latin typeface="Arial MT"/>
                <a:cs typeface="Arial MT"/>
              </a:rPr>
              <a:t>when</a:t>
            </a:r>
            <a:r>
              <a:rPr sz="2400" spc="15" dirty="0">
                <a:solidFill>
                  <a:srgbClr val="4D4D4B"/>
                </a:solidFill>
                <a:latin typeface="Arial MT"/>
                <a:cs typeface="Arial MT"/>
              </a:rPr>
              <a:t> </a:t>
            </a:r>
            <a:r>
              <a:rPr sz="2400" spc="-5" dirty="0">
                <a:solidFill>
                  <a:srgbClr val="4D4D4B"/>
                </a:solidFill>
                <a:latin typeface="Arial MT"/>
                <a:cs typeface="Arial MT"/>
              </a:rPr>
              <a:t>you</a:t>
            </a:r>
            <a:r>
              <a:rPr sz="2400" spc="5" dirty="0">
                <a:solidFill>
                  <a:srgbClr val="4D4D4B"/>
                </a:solidFill>
                <a:latin typeface="Arial MT"/>
                <a:cs typeface="Arial MT"/>
              </a:rPr>
              <a:t> </a:t>
            </a:r>
            <a:r>
              <a:rPr sz="2400" spc="-5" dirty="0">
                <a:solidFill>
                  <a:srgbClr val="4D4D4B"/>
                </a:solidFill>
                <a:latin typeface="Arial MT"/>
                <a:cs typeface="Arial MT"/>
              </a:rPr>
              <a:t>need</a:t>
            </a:r>
            <a:r>
              <a:rPr sz="2400" spc="5" dirty="0">
                <a:solidFill>
                  <a:srgbClr val="4D4D4B"/>
                </a:solidFill>
                <a:latin typeface="Arial MT"/>
                <a:cs typeface="Arial MT"/>
              </a:rPr>
              <a:t> </a:t>
            </a:r>
            <a:r>
              <a:rPr sz="2400" dirty="0">
                <a:solidFill>
                  <a:srgbClr val="4D4D4B"/>
                </a:solidFill>
                <a:latin typeface="Arial MT"/>
                <a:cs typeface="Arial MT"/>
              </a:rPr>
              <a:t>it</a:t>
            </a:r>
            <a:endParaRPr sz="240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4585970" cy="452120"/>
          </a:xfrm>
          <a:prstGeom prst="rect">
            <a:avLst/>
          </a:prstGeom>
        </p:spPr>
        <p:txBody>
          <a:bodyPr vert="horz" wrap="square" lIns="0" tIns="12065" rIns="0" bIns="0" rtlCol="0">
            <a:spAutoFit/>
          </a:bodyPr>
          <a:lstStyle/>
          <a:p>
            <a:pPr marL="12700">
              <a:lnSpc>
                <a:spcPct val="100000"/>
              </a:lnSpc>
              <a:spcBef>
                <a:spcPts val="95"/>
              </a:spcBef>
            </a:pPr>
            <a:r>
              <a:rPr spc="-15" dirty="0"/>
              <a:t>CloudWatch</a:t>
            </a:r>
            <a:r>
              <a:rPr spc="-30" dirty="0"/>
              <a:t> </a:t>
            </a:r>
            <a:r>
              <a:rPr spc="-20" dirty="0"/>
              <a:t>Terminologies</a:t>
            </a:r>
          </a:p>
        </p:txBody>
      </p:sp>
      <p:sp>
        <p:nvSpPr>
          <p:cNvPr id="3" name="object 3"/>
          <p:cNvSpPr txBox="1"/>
          <p:nvPr/>
        </p:nvSpPr>
        <p:spPr>
          <a:xfrm>
            <a:off x="419506" y="962025"/>
            <a:ext cx="2858770" cy="2220595"/>
          </a:xfrm>
          <a:prstGeom prst="rect">
            <a:avLst/>
          </a:prstGeom>
        </p:spPr>
        <p:txBody>
          <a:bodyPr vert="horz" wrap="square" lIns="0" tIns="85725" rIns="0" bIns="0" rtlCol="0">
            <a:spAutoFit/>
          </a:bodyPr>
          <a:lstStyle/>
          <a:p>
            <a:pPr marL="355600" indent="-342900">
              <a:lnSpc>
                <a:spcPct val="100000"/>
              </a:lnSpc>
              <a:spcBef>
                <a:spcPts val="675"/>
              </a:spcBef>
              <a:buChar char="•"/>
              <a:tabLst>
                <a:tab pos="354965" algn="l"/>
                <a:tab pos="355600" algn="l"/>
              </a:tabLst>
            </a:pPr>
            <a:r>
              <a:rPr sz="2400" spc="-5" dirty="0">
                <a:solidFill>
                  <a:srgbClr val="4D4D4B"/>
                </a:solidFill>
                <a:latin typeface="Arial MT"/>
                <a:cs typeface="Arial MT"/>
              </a:rPr>
              <a:t>Log</a:t>
            </a:r>
            <a:r>
              <a:rPr sz="2400" spc="-30" dirty="0">
                <a:solidFill>
                  <a:srgbClr val="4D4D4B"/>
                </a:solidFill>
                <a:latin typeface="Arial MT"/>
                <a:cs typeface="Arial MT"/>
              </a:rPr>
              <a:t> </a:t>
            </a:r>
            <a:r>
              <a:rPr sz="2400" spc="-5" dirty="0">
                <a:solidFill>
                  <a:srgbClr val="4D4D4B"/>
                </a:solidFill>
                <a:latin typeface="Arial MT"/>
                <a:cs typeface="Arial MT"/>
              </a:rPr>
              <a:t>Events</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Log</a:t>
            </a:r>
            <a:r>
              <a:rPr sz="2400" spc="-35" dirty="0">
                <a:solidFill>
                  <a:srgbClr val="4D4D4B"/>
                </a:solidFill>
                <a:latin typeface="Arial MT"/>
                <a:cs typeface="Arial MT"/>
              </a:rPr>
              <a:t> </a:t>
            </a:r>
            <a:r>
              <a:rPr sz="2400" dirty="0">
                <a:solidFill>
                  <a:srgbClr val="4D4D4B"/>
                </a:solidFill>
                <a:latin typeface="Arial MT"/>
                <a:cs typeface="Arial MT"/>
              </a:rPr>
              <a:t>Streams</a:t>
            </a:r>
            <a:endParaRPr sz="2400">
              <a:latin typeface="Arial MT"/>
              <a:cs typeface="Arial MT"/>
            </a:endParaRPr>
          </a:p>
          <a:p>
            <a:pPr marL="355600" indent="-342900">
              <a:lnSpc>
                <a:spcPct val="100000"/>
              </a:lnSpc>
              <a:spcBef>
                <a:spcPts val="580"/>
              </a:spcBef>
              <a:buChar char="•"/>
              <a:tabLst>
                <a:tab pos="354965" algn="l"/>
                <a:tab pos="355600" algn="l"/>
              </a:tabLst>
            </a:pPr>
            <a:r>
              <a:rPr sz="2400" spc="-5" dirty="0">
                <a:solidFill>
                  <a:srgbClr val="4D4D4B"/>
                </a:solidFill>
                <a:latin typeface="Arial MT"/>
                <a:cs typeface="Arial MT"/>
              </a:rPr>
              <a:t>Log</a:t>
            </a:r>
            <a:r>
              <a:rPr sz="2400" spc="-60" dirty="0">
                <a:solidFill>
                  <a:srgbClr val="4D4D4B"/>
                </a:solidFill>
                <a:latin typeface="Arial MT"/>
                <a:cs typeface="Arial MT"/>
              </a:rPr>
              <a:t> </a:t>
            </a:r>
            <a:r>
              <a:rPr sz="2400" spc="-5" dirty="0">
                <a:solidFill>
                  <a:srgbClr val="4D4D4B"/>
                </a:solidFill>
                <a:latin typeface="Arial MT"/>
                <a:cs typeface="Arial MT"/>
              </a:rPr>
              <a:t>Groups</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Metric</a:t>
            </a:r>
            <a:r>
              <a:rPr sz="2400" spc="-65" dirty="0">
                <a:solidFill>
                  <a:srgbClr val="4D4D4B"/>
                </a:solidFill>
                <a:latin typeface="Arial MT"/>
                <a:cs typeface="Arial MT"/>
              </a:rPr>
              <a:t> </a:t>
            </a:r>
            <a:r>
              <a:rPr sz="2400" spc="-5" dirty="0">
                <a:solidFill>
                  <a:srgbClr val="4D4D4B"/>
                </a:solidFill>
                <a:latin typeface="Arial MT"/>
                <a:cs typeface="Arial MT"/>
              </a:rPr>
              <a:t>Filter</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Retention</a:t>
            </a:r>
            <a:r>
              <a:rPr sz="2400" spc="-25" dirty="0">
                <a:solidFill>
                  <a:srgbClr val="4D4D4B"/>
                </a:solidFill>
                <a:latin typeface="Arial MT"/>
                <a:cs typeface="Arial MT"/>
              </a:rPr>
              <a:t> </a:t>
            </a:r>
            <a:r>
              <a:rPr sz="2400" spc="-5" dirty="0">
                <a:solidFill>
                  <a:srgbClr val="4D4D4B"/>
                </a:solidFill>
                <a:latin typeface="Arial MT"/>
                <a:cs typeface="Arial MT"/>
              </a:rPr>
              <a:t>Settings</a:t>
            </a:r>
            <a:endParaRPr sz="240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1941195" cy="452120"/>
          </a:xfrm>
          <a:prstGeom prst="rect">
            <a:avLst/>
          </a:prstGeom>
        </p:spPr>
        <p:txBody>
          <a:bodyPr vert="horz" wrap="square" lIns="0" tIns="12065" rIns="0" bIns="0" rtlCol="0">
            <a:spAutoFit/>
          </a:bodyPr>
          <a:lstStyle/>
          <a:p>
            <a:pPr marL="12700">
              <a:lnSpc>
                <a:spcPct val="100000"/>
              </a:lnSpc>
              <a:spcBef>
                <a:spcPts val="95"/>
              </a:spcBef>
            </a:pPr>
            <a:r>
              <a:rPr spc="-10" dirty="0"/>
              <a:t>Log</a:t>
            </a:r>
            <a:r>
              <a:rPr spc="-50" dirty="0"/>
              <a:t> </a:t>
            </a:r>
            <a:r>
              <a:rPr spc="-5" dirty="0"/>
              <a:t>Events</a:t>
            </a:r>
          </a:p>
        </p:txBody>
      </p:sp>
      <p:sp>
        <p:nvSpPr>
          <p:cNvPr id="3" name="object 3"/>
          <p:cNvSpPr txBox="1"/>
          <p:nvPr/>
        </p:nvSpPr>
        <p:spPr>
          <a:xfrm>
            <a:off x="419506" y="962171"/>
            <a:ext cx="6791325" cy="2074545"/>
          </a:xfrm>
          <a:prstGeom prst="rect">
            <a:avLst/>
          </a:prstGeom>
        </p:spPr>
        <p:txBody>
          <a:bodyPr vert="horz" wrap="square" lIns="0" tIns="85725" rIns="0" bIns="0" rtlCol="0">
            <a:spAutoFit/>
          </a:bodyPr>
          <a:lstStyle/>
          <a:p>
            <a:pPr marL="355600" indent="-342900">
              <a:lnSpc>
                <a:spcPct val="100000"/>
              </a:lnSpc>
              <a:spcBef>
                <a:spcPts val="675"/>
              </a:spcBef>
              <a:buChar char="•"/>
              <a:tabLst>
                <a:tab pos="354965" algn="l"/>
                <a:tab pos="355600" algn="l"/>
              </a:tabLst>
            </a:pPr>
            <a:r>
              <a:rPr sz="2400" spc="-5" dirty="0">
                <a:solidFill>
                  <a:srgbClr val="4D4D4B"/>
                </a:solidFill>
                <a:latin typeface="Arial MT"/>
                <a:cs typeface="Arial MT"/>
              </a:rPr>
              <a:t>Activity</a:t>
            </a:r>
            <a:r>
              <a:rPr sz="2400" spc="5" dirty="0">
                <a:solidFill>
                  <a:srgbClr val="4D4D4B"/>
                </a:solidFill>
                <a:latin typeface="Arial MT"/>
                <a:cs typeface="Arial MT"/>
              </a:rPr>
              <a:t> </a:t>
            </a:r>
            <a:r>
              <a:rPr sz="2400" spc="-5" dirty="0">
                <a:solidFill>
                  <a:srgbClr val="4D4D4B"/>
                </a:solidFill>
                <a:latin typeface="Arial MT"/>
                <a:cs typeface="Arial MT"/>
              </a:rPr>
              <a:t>recorded</a:t>
            </a:r>
            <a:r>
              <a:rPr sz="2400" spc="5" dirty="0">
                <a:solidFill>
                  <a:srgbClr val="4D4D4B"/>
                </a:solidFill>
                <a:latin typeface="Arial MT"/>
                <a:cs typeface="Arial MT"/>
              </a:rPr>
              <a:t> </a:t>
            </a:r>
            <a:r>
              <a:rPr sz="2400" spc="-5" dirty="0">
                <a:solidFill>
                  <a:srgbClr val="4D4D4B"/>
                </a:solidFill>
                <a:latin typeface="Arial MT"/>
                <a:cs typeface="Arial MT"/>
              </a:rPr>
              <a:t>by</a:t>
            </a:r>
            <a:r>
              <a:rPr sz="2400" spc="5" dirty="0">
                <a:solidFill>
                  <a:srgbClr val="4D4D4B"/>
                </a:solidFill>
                <a:latin typeface="Arial MT"/>
                <a:cs typeface="Arial MT"/>
              </a:rPr>
              <a:t> </a:t>
            </a:r>
            <a:r>
              <a:rPr sz="2400" spc="-5" dirty="0">
                <a:solidFill>
                  <a:srgbClr val="4D4D4B"/>
                </a:solidFill>
                <a:latin typeface="Arial MT"/>
                <a:cs typeface="Arial MT"/>
              </a:rPr>
              <a:t>an</a:t>
            </a:r>
            <a:r>
              <a:rPr sz="2400" spc="5" dirty="0">
                <a:solidFill>
                  <a:srgbClr val="4D4D4B"/>
                </a:solidFill>
                <a:latin typeface="Arial MT"/>
                <a:cs typeface="Arial MT"/>
              </a:rPr>
              <a:t> </a:t>
            </a:r>
            <a:r>
              <a:rPr sz="2400" spc="-5" dirty="0">
                <a:solidFill>
                  <a:srgbClr val="4D4D4B"/>
                </a:solidFill>
                <a:latin typeface="Arial MT"/>
                <a:cs typeface="Arial MT"/>
              </a:rPr>
              <a:t>application</a:t>
            </a:r>
            <a:r>
              <a:rPr sz="2400" spc="45" dirty="0">
                <a:solidFill>
                  <a:srgbClr val="4D4D4B"/>
                </a:solidFill>
                <a:latin typeface="Arial MT"/>
                <a:cs typeface="Arial MT"/>
              </a:rPr>
              <a:t> </a:t>
            </a:r>
            <a:r>
              <a:rPr sz="2400" spc="-5" dirty="0">
                <a:solidFill>
                  <a:srgbClr val="4D4D4B"/>
                </a:solidFill>
                <a:latin typeface="Arial MT"/>
                <a:cs typeface="Arial MT"/>
              </a:rPr>
              <a:t>or</a:t>
            </a:r>
            <a:r>
              <a:rPr sz="2400" spc="5" dirty="0">
                <a:solidFill>
                  <a:srgbClr val="4D4D4B"/>
                </a:solidFill>
                <a:latin typeface="Arial MT"/>
                <a:cs typeface="Arial MT"/>
              </a:rPr>
              <a:t> </a:t>
            </a:r>
            <a:r>
              <a:rPr sz="2400" dirty="0">
                <a:solidFill>
                  <a:srgbClr val="4D4D4B"/>
                </a:solidFill>
                <a:latin typeface="Arial MT"/>
                <a:cs typeface="Arial MT"/>
              </a:rPr>
              <a:t>system</a:t>
            </a:r>
            <a:endParaRPr sz="2400">
              <a:latin typeface="Arial MT"/>
              <a:cs typeface="Arial MT"/>
            </a:endParaRPr>
          </a:p>
          <a:p>
            <a:pPr marL="1099185" lvl="1" indent="-343535">
              <a:lnSpc>
                <a:spcPct val="100000"/>
              </a:lnSpc>
              <a:spcBef>
                <a:spcPts val="480"/>
              </a:spcBef>
              <a:buChar char="•"/>
              <a:tabLst>
                <a:tab pos="1099185" algn="l"/>
                <a:tab pos="1099820" algn="l"/>
              </a:tabLst>
            </a:pPr>
            <a:r>
              <a:rPr sz="2000" spc="-10" dirty="0">
                <a:solidFill>
                  <a:srgbClr val="4D4D4B"/>
                </a:solidFill>
                <a:latin typeface="Arial MT"/>
                <a:cs typeface="Arial MT"/>
              </a:rPr>
              <a:t>TimeStamp</a:t>
            </a:r>
            <a:r>
              <a:rPr sz="2000" spc="-25" dirty="0">
                <a:solidFill>
                  <a:srgbClr val="4D4D4B"/>
                </a:solidFill>
                <a:latin typeface="Arial MT"/>
                <a:cs typeface="Arial MT"/>
              </a:rPr>
              <a:t> </a:t>
            </a:r>
            <a:r>
              <a:rPr sz="2000" dirty="0">
                <a:solidFill>
                  <a:srgbClr val="4D4D4B"/>
                </a:solidFill>
                <a:latin typeface="Arial MT"/>
                <a:cs typeface="Arial MT"/>
              </a:rPr>
              <a:t>when</a:t>
            </a:r>
            <a:r>
              <a:rPr sz="2000" spc="-25" dirty="0">
                <a:solidFill>
                  <a:srgbClr val="4D4D4B"/>
                </a:solidFill>
                <a:latin typeface="Arial MT"/>
                <a:cs typeface="Arial MT"/>
              </a:rPr>
              <a:t> </a:t>
            </a:r>
            <a:r>
              <a:rPr sz="2000" dirty="0">
                <a:solidFill>
                  <a:srgbClr val="4D4D4B"/>
                </a:solidFill>
                <a:latin typeface="Arial MT"/>
                <a:cs typeface="Arial MT"/>
              </a:rPr>
              <a:t>event</a:t>
            </a:r>
            <a:r>
              <a:rPr sz="2000" spc="-25" dirty="0">
                <a:solidFill>
                  <a:srgbClr val="4D4D4B"/>
                </a:solidFill>
                <a:latin typeface="Arial MT"/>
                <a:cs typeface="Arial MT"/>
              </a:rPr>
              <a:t> </a:t>
            </a:r>
            <a:r>
              <a:rPr sz="2000" dirty="0">
                <a:solidFill>
                  <a:srgbClr val="4D4D4B"/>
                </a:solidFill>
                <a:latin typeface="Arial MT"/>
                <a:cs typeface="Arial MT"/>
              </a:rPr>
              <a:t>occured</a:t>
            </a:r>
            <a:endParaRPr sz="2000">
              <a:latin typeface="Arial MT"/>
              <a:cs typeface="Arial MT"/>
            </a:endParaRPr>
          </a:p>
          <a:p>
            <a:pPr marL="1099185" lvl="1" indent="-343535">
              <a:lnSpc>
                <a:spcPct val="100000"/>
              </a:lnSpc>
              <a:spcBef>
                <a:spcPts val="480"/>
              </a:spcBef>
              <a:buChar char="•"/>
              <a:tabLst>
                <a:tab pos="1099185" algn="l"/>
                <a:tab pos="1099820" algn="l"/>
              </a:tabLst>
            </a:pPr>
            <a:r>
              <a:rPr sz="2000" spc="-5" dirty="0">
                <a:solidFill>
                  <a:srgbClr val="4D4D4B"/>
                </a:solidFill>
                <a:latin typeface="Arial MT"/>
                <a:cs typeface="Arial MT"/>
              </a:rPr>
              <a:t>Event</a:t>
            </a:r>
            <a:r>
              <a:rPr sz="2000" spc="-15" dirty="0">
                <a:solidFill>
                  <a:srgbClr val="4D4D4B"/>
                </a:solidFill>
                <a:latin typeface="Arial MT"/>
                <a:cs typeface="Arial MT"/>
              </a:rPr>
              <a:t> </a:t>
            </a:r>
            <a:r>
              <a:rPr sz="2000" dirty="0">
                <a:solidFill>
                  <a:srgbClr val="4D4D4B"/>
                </a:solidFill>
                <a:latin typeface="Arial MT"/>
                <a:cs typeface="Arial MT"/>
              </a:rPr>
              <a:t>Message</a:t>
            </a:r>
            <a:r>
              <a:rPr sz="2000" spc="-40" dirty="0">
                <a:solidFill>
                  <a:srgbClr val="4D4D4B"/>
                </a:solidFill>
                <a:latin typeface="Arial MT"/>
                <a:cs typeface="Arial MT"/>
              </a:rPr>
              <a:t> </a:t>
            </a:r>
            <a:r>
              <a:rPr sz="2000" dirty="0">
                <a:solidFill>
                  <a:srgbClr val="4D4D4B"/>
                </a:solidFill>
                <a:latin typeface="Arial MT"/>
                <a:cs typeface="Arial MT"/>
              </a:rPr>
              <a:t>(UTF8</a:t>
            </a:r>
            <a:r>
              <a:rPr sz="2000" spc="-20" dirty="0">
                <a:solidFill>
                  <a:srgbClr val="4D4D4B"/>
                </a:solidFill>
                <a:latin typeface="Arial MT"/>
                <a:cs typeface="Arial MT"/>
              </a:rPr>
              <a:t> </a:t>
            </a:r>
            <a:r>
              <a:rPr sz="2000" dirty="0">
                <a:solidFill>
                  <a:srgbClr val="4D4D4B"/>
                </a:solidFill>
                <a:latin typeface="Arial MT"/>
                <a:cs typeface="Arial MT"/>
              </a:rPr>
              <a:t>encoded)</a:t>
            </a:r>
            <a:endParaRPr sz="20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Logical</a:t>
            </a:r>
            <a:r>
              <a:rPr sz="2400" dirty="0">
                <a:solidFill>
                  <a:srgbClr val="4D4D4B"/>
                </a:solidFill>
                <a:latin typeface="Arial MT"/>
                <a:cs typeface="Arial MT"/>
              </a:rPr>
              <a:t> </a:t>
            </a:r>
            <a:r>
              <a:rPr sz="2400" spc="-5" dirty="0">
                <a:solidFill>
                  <a:srgbClr val="4D4D4B"/>
                </a:solidFill>
                <a:latin typeface="Arial MT"/>
                <a:cs typeface="Arial MT"/>
              </a:rPr>
              <a:t>record</a:t>
            </a:r>
            <a:endParaRPr sz="2400">
              <a:latin typeface="Arial MT"/>
              <a:cs typeface="Arial MT"/>
            </a:endParaRPr>
          </a:p>
          <a:p>
            <a:pPr marL="355600" indent="-342900">
              <a:lnSpc>
                <a:spcPct val="100000"/>
              </a:lnSpc>
              <a:spcBef>
                <a:spcPts val="580"/>
              </a:spcBef>
              <a:buChar char="•"/>
              <a:tabLst>
                <a:tab pos="354965" algn="l"/>
                <a:tab pos="355600" algn="l"/>
              </a:tabLst>
            </a:pPr>
            <a:r>
              <a:rPr sz="2400" spc="-5" dirty="0">
                <a:solidFill>
                  <a:srgbClr val="4D4D4B"/>
                </a:solidFill>
                <a:latin typeface="Arial MT"/>
                <a:cs typeface="Arial MT"/>
              </a:rPr>
              <a:t>Example:</a:t>
            </a:r>
            <a:r>
              <a:rPr sz="2400" spc="30" dirty="0">
                <a:solidFill>
                  <a:srgbClr val="4D4D4B"/>
                </a:solidFill>
                <a:latin typeface="Arial MT"/>
                <a:cs typeface="Arial MT"/>
              </a:rPr>
              <a:t> </a:t>
            </a:r>
            <a:r>
              <a:rPr sz="2400" spc="-20" dirty="0">
                <a:solidFill>
                  <a:srgbClr val="4D4D4B"/>
                </a:solidFill>
                <a:latin typeface="Arial MT"/>
                <a:cs typeface="Arial MT"/>
              </a:rPr>
              <a:t>Web</a:t>
            </a:r>
            <a:r>
              <a:rPr sz="2400" spc="-10" dirty="0">
                <a:solidFill>
                  <a:srgbClr val="4D4D4B"/>
                </a:solidFill>
                <a:latin typeface="Arial MT"/>
                <a:cs typeface="Arial MT"/>
              </a:rPr>
              <a:t> </a:t>
            </a:r>
            <a:r>
              <a:rPr sz="2400" dirty="0">
                <a:solidFill>
                  <a:srgbClr val="4D4D4B"/>
                </a:solidFill>
                <a:latin typeface="Arial MT"/>
                <a:cs typeface="Arial MT"/>
              </a:rPr>
              <a:t>server</a:t>
            </a:r>
            <a:r>
              <a:rPr sz="2400" spc="5" dirty="0">
                <a:solidFill>
                  <a:srgbClr val="4D4D4B"/>
                </a:solidFill>
                <a:latin typeface="Arial MT"/>
                <a:cs typeface="Arial MT"/>
              </a:rPr>
              <a:t> </a:t>
            </a:r>
            <a:r>
              <a:rPr sz="2400" spc="-5" dirty="0">
                <a:solidFill>
                  <a:srgbClr val="4D4D4B"/>
                </a:solidFill>
                <a:latin typeface="Arial MT"/>
                <a:cs typeface="Arial MT"/>
              </a:rPr>
              <a:t>events,</a:t>
            </a:r>
            <a:r>
              <a:rPr sz="2400" spc="10" dirty="0">
                <a:solidFill>
                  <a:srgbClr val="4D4D4B"/>
                </a:solidFill>
                <a:latin typeface="Arial MT"/>
                <a:cs typeface="Arial MT"/>
              </a:rPr>
              <a:t> </a:t>
            </a:r>
            <a:r>
              <a:rPr sz="2400" spc="-15" dirty="0">
                <a:solidFill>
                  <a:srgbClr val="4D4D4B"/>
                </a:solidFill>
                <a:latin typeface="Arial MT"/>
                <a:cs typeface="Arial MT"/>
              </a:rPr>
              <a:t>CloudTrail</a:t>
            </a:r>
            <a:r>
              <a:rPr sz="2400" spc="40" dirty="0">
                <a:solidFill>
                  <a:srgbClr val="4D4D4B"/>
                </a:solidFill>
                <a:latin typeface="Arial MT"/>
                <a:cs typeface="Arial MT"/>
              </a:rPr>
              <a:t> </a:t>
            </a:r>
            <a:r>
              <a:rPr sz="2400" spc="-5" dirty="0">
                <a:solidFill>
                  <a:srgbClr val="4D4D4B"/>
                </a:solidFill>
                <a:latin typeface="Arial MT"/>
                <a:cs typeface="Arial MT"/>
              </a:rPr>
              <a:t>events</a:t>
            </a:r>
            <a:endParaRPr sz="2400">
              <a:latin typeface="Arial MT"/>
              <a:cs typeface="Arial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1981200" cy="452120"/>
          </a:xfrm>
          <a:prstGeom prst="rect">
            <a:avLst/>
          </a:prstGeom>
        </p:spPr>
        <p:txBody>
          <a:bodyPr vert="horz" wrap="square" lIns="0" tIns="12065" rIns="0" bIns="0" rtlCol="0">
            <a:spAutoFit/>
          </a:bodyPr>
          <a:lstStyle/>
          <a:p>
            <a:pPr marL="12700">
              <a:lnSpc>
                <a:spcPct val="100000"/>
              </a:lnSpc>
              <a:spcBef>
                <a:spcPts val="95"/>
              </a:spcBef>
            </a:pPr>
            <a:r>
              <a:rPr spc="-10" dirty="0"/>
              <a:t>Log</a:t>
            </a:r>
            <a:r>
              <a:rPr spc="-45" dirty="0"/>
              <a:t> </a:t>
            </a:r>
            <a:r>
              <a:rPr spc="-5" dirty="0"/>
              <a:t>Stream</a:t>
            </a:r>
          </a:p>
        </p:txBody>
      </p:sp>
      <p:sp>
        <p:nvSpPr>
          <p:cNvPr id="3" name="object 3"/>
          <p:cNvSpPr txBox="1"/>
          <p:nvPr/>
        </p:nvSpPr>
        <p:spPr>
          <a:xfrm>
            <a:off x="419506" y="1035177"/>
            <a:ext cx="7654290" cy="1196340"/>
          </a:xfrm>
          <a:prstGeom prst="rect">
            <a:avLst/>
          </a:prstGeom>
        </p:spPr>
        <p:txBody>
          <a:bodyPr vert="horz" wrap="square" lIns="0" tIns="12700" rIns="0" bIns="0" rtlCol="0">
            <a:spAutoFit/>
          </a:bodyPr>
          <a:lstStyle/>
          <a:p>
            <a:pPr marL="355600" marR="5080" indent="-342900">
              <a:lnSpc>
                <a:spcPct val="100000"/>
              </a:lnSpc>
              <a:spcBef>
                <a:spcPts val="100"/>
              </a:spcBef>
              <a:buChar char="•"/>
              <a:tabLst>
                <a:tab pos="354965" algn="l"/>
                <a:tab pos="355600" algn="l"/>
              </a:tabLst>
            </a:pPr>
            <a:r>
              <a:rPr sz="2400" spc="-5" dirty="0">
                <a:solidFill>
                  <a:srgbClr val="4D4D4B"/>
                </a:solidFill>
                <a:latin typeface="Arial MT"/>
                <a:cs typeface="Arial MT"/>
              </a:rPr>
              <a:t>Log </a:t>
            </a:r>
            <a:r>
              <a:rPr sz="2400" dirty="0">
                <a:solidFill>
                  <a:srgbClr val="4D4D4B"/>
                </a:solidFill>
                <a:latin typeface="Arial MT"/>
                <a:cs typeface="Arial MT"/>
              </a:rPr>
              <a:t>Streams – </a:t>
            </a:r>
            <a:r>
              <a:rPr sz="2400" spc="-5" dirty="0">
                <a:solidFill>
                  <a:srgbClr val="4D4D4B"/>
                </a:solidFill>
                <a:latin typeface="Arial MT"/>
                <a:cs typeface="Arial MT"/>
              </a:rPr>
              <a:t>Sequence </a:t>
            </a:r>
            <a:r>
              <a:rPr sz="2400" dirty="0">
                <a:solidFill>
                  <a:srgbClr val="4D4D4B"/>
                </a:solidFill>
                <a:latin typeface="Arial MT"/>
                <a:cs typeface="Arial MT"/>
              </a:rPr>
              <a:t>of </a:t>
            </a:r>
            <a:r>
              <a:rPr sz="2400" spc="-5" dirty="0">
                <a:solidFill>
                  <a:srgbClr val="4D4D4B"/>
                </a:solidFill>
                <a:latin typeface="Arial MT"/>
                <a:cs typeface="Arial MT"/>
              </a:rPr>
              <a:t>log </a:t>
            </a:r>
            <a:r>
              <a:rPr sz="2400" dirty="0">
                <a:solidFill>
                  <a:srgbClr val="4D4D4B"/>
                </a:solidFill>
                <a:latin typeface="Arial MT"/>
                <a:cs typeface="Arial MT"/>
              </a:rPr>
              <a:t>events from the </a:t>
            </a:r>
            <a:r>
              <a:rPr sz="2400" spc="-5" dirty="0">
                <a:solidFill>
                  <a:srgbClr val="4D4D4B"/>
                </a:solidFill>
                <a:latin typeface="Arial MT"/>
                <a:cs typeface="Arial MT"/>
              </a:rPr>
              <a:t>same </a:t>
            </a:r>
            <a:r>
              <a:rPr sz="2400" spc="-655" dirty="0">
                <a:solidFill>
                  <a:srgbClr val="4D4D4B"/>
                </a:solidFill>
                <a:latin typeface="Arial MT"/>
                <a:cs typeface="Arial MT"/>
              </a:rPr>
              <a:t> </a:t>
            </a:r>
            <a:r>
              <a:rPr sz="2400" spc="-5" dirty="0">
                <a:solidFill>
                  <a:srgbClr val="4D4D4B"/>
                </a:solidFill>
                <a:latin typeface="Arial MT"/>
                <a:cs typeface="Arial MT"/>
              </a:rPr>
              <a:t>source</a:t>
            </a:r>
            <a:r>
              <a:rPr sz="2400" dirty="0">
                <a:solidFill>
                  <a:srgbClr val="4D4D4B"/>
                </a:solidFill>
                <a:latin typeface="Arial MT"/>
                <a:cs typeface="Arial MT"/>
              </a:rPr>
              <a:t> </a:t>
            </a:r>
            <a:r>
              <a:rPr sz="2400" spc="-5" dirty="0">
                <a:solidFill>
                  <a:srgbClr val="4D4D4B"/>
                </a:solidFill>
                <a:latin typeface="Arial MT"/>
                <a:cs typeface="Arial MT"/>
              </a:rPr>
              <a:t>(application</a:t>
            </a:r>
            <a:r>
              <a:rPr sz="2400" spc="30" dirty="0">
                <a:solidFill>
                  <a:srgbClr val="4D4D4B"/>
                </a:solidFill>
                <a:latin typeface="Arial MT"/>
                <a:cs typeface="Arial MT"/>
              </a:rPr>
              <a:t> </a:t>
            </a:r>
            <a:r>
              <a:rPr sz="2400" spc="-5" dirty="0">
                <a:solidFill>
                  <a:srgbClr val="4D4D4B"/>
                </a:solidFill>
                <a:latin typeface="Arial MT"/>
                <a:cs typeface="Arial MT"/>
              </a:rPr>
              <a:t>instance,</a:t>
            </a:r>
            <a:r>
              <a:rPr sz="2400" spc="15" dirty="0">
                <a:solidFill>
                  <a:srgbClr val="4D4D4B"/>
                </a:solidFill>
                <a:latin typeface="Arial MT"/>
                <a:cs typeface="Arial MT"/>
              </a:rPr>
              <a:t> </a:t>
            </a:r>
            <a:r>
              <a:rPr sz="2400" spc="-5" dirty="0">
                <a:solidFill>
                  <a:srgbClr val="4D4D4B"/>
                </a:solidFill>
                <a:latin typeface="Arial MT"/>
                <a:cs typeface="Arial MT"/>
              </a:rPr>
              <a:t>resource)</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Example:</a:t>
            </a:r>
            <a:r>
              <a:rPr sz="2400" spc="20" dirty="0">
                <a:solidFill>
                  <a:srgbClr val="4D4D4B"/>
                </a:solidFill>
                <a:latin typeface="Arial MT"/>
                <a:cs typeface="Arial MT"/>
              </a:rPr>
              <a:t> </a:t>
            </a:r>
            <a:r>
              <a:rPr sz="2400" spc="-10" dirty="0">
                <a:solidFill>
                  <a:srgbClr val="4D4D4B"/>
                </a:solidFill>
                <a:latin typeface="Arial MT"/>
                <a:cs typeface="Arial MT"/>
              </a:rPr>
              <a:t>Webserver</a:t>
            </a:r>
            <a:r>
              <a:rPr sz="2400" spc="5" dirty="0">
                <a:solidFill>
                  <a:srgbClr val="4D4D4B"/>
                </a:solidFill>
                <a:latin typeface="Arial MT"/>
                <a:cs typeface="Arial MT"/>
              </a:rPr>
              <a:t> </a:t>
            </a:r>
            <a:r>
              <a:rPr sz="2400" spc="-5" dirty="0">
                <a:solidFill>
                  <a:srgbClr val="4D4D4B"/>
                </a:solidFill>
                <a:latin typeface="Arial MT"/>
                <a:cs typeface="Arial MT"/>
              </a:rPr>
              <a:t>log</a:t>
            </a:r>
            <a:r>
              <a:rPr sz="2400" spc="15" dirty="0">
                <a:solidFill>
                  <a:srgbClr val="4D4D4B"/>
                </a:solidFill>
                <a:latin typeface="Arial MT"/>
                <a:cs typeface="Arial MT"/>
              </a:rPr>
              <a:t> </a:t>
            </a:r>
            <a:r>
              <a:rPr sz="2400" spc="-5" dirty="0">
                <a:solidFill>
                  <a:srgbClr val="4D4D4B"/>
                </a:solidFill>
                <a:latin typeface="Arial MT"/>
                <a:cs typeface="Arial MT"/>
              </a:rPr>
              <a:t>files</a:t>
            </a:r>
            <a:r>
              <a:rPr sz="2400" dirty="0">
                <a:solidFill>
                  <a:srgbClr val="4D4D4B"/>
                </a:solidFill>
                <a:latin typeface="Arial MT"/>
                <a:cs typeface="Arial MT"/>
              </a:rPr>
              <a:t> </a:t>
            </a:r>
            <a:r>
              <a:rPr sz="2400" spc="-5" dirty="0">
                <a:solidFill>
                  <a:srgbClr val="4D4D4B"/>
                </a:solidFill>
                <a:latin typeface="Arial MT"/>
                <a:cs typeface="Arial MT"/>
              </a:rPr>
              <a:t>on</a:t>
            </a:r>
            <a:r>
              <a:rPr sz="2400" spc="5" dirty="0">
                <a:solidFill>
                  <a:srgbClr val="4D4D4B"/>
                </a:solidFill>
                <a:latin typeface="Arial MT"/>
                <a:cs typeface="Arial MT"/>
              </a:rPr>
              <a:t> </a:t>
            </a:r>
            <a:r>
              <a:rPr sz="2400" spc="-5" dirty="0">
                <a:solidFill>
                  <a:srgbClr val="4D4D4B"/>
                </a:solidFill>
                <a:latin typeface="Arial MT"/>
                <a:cs typeface="Arial MT"/>
              </a:rPr>
              <a:t>a</a:t>
            </a:r>
            <a:r>
              <a:rPr sz="2400" spc="5" dirty="0">
                <a:solidFill>
                  <a:srgbClr val="4D4D4B"/>
                </a:solidFill>
                <a:latin typeface="Arial MT"/>
                <a:cs typeface="Arial MT"/>
              </a:rPr>
              <a:t> </a:t>
            </a:r>
            <a:r>
              <a:rPr sz="2400" spc="-5" dirty="0">
                <a:solidFill>
                  <a:srgbClr val="4D4D4B"/>
                </a:solidFill>
                <a:latin typeface="Arial MT"/>
                <a:cs typeface="Arial MT"/>
              </a:rPr>
              <a:t>specific</a:t>
            </a:r>
            <a:r>
              <a:rPr sz="2400" spc="15" dirty="0">
                <a:solidFill>
                  <a:srgbClr val="4D4D4B"/>
                </a:solidFill>
                <a:latin typeface="Arial MT"/>
                <a:cs typeface="Arial MT"/>
              </a:rPr>
              <a:t> </a:t>
            </a:r>
            <a:r>
              <a:rPr sz="2400" dirty="0">
                <a:solidFill>
                  <a:srgbClr val="4D4D4B"/>
                </a:solidFill>
                <a:latin typeface="Arial MT"/>
                <a:cs typeface="Arial MT"/>
              </a:rPr>
              <a:t>host</a:t>
            </a:r>
            <a:endParaRPr sz="2400">
              <a:latin typeface="Arial MT"/>
              <a:cs typeface="Arial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2037714" cy="452120"/>
          </a:xfrm>
          <a:prstGeom prst="rect">
            <a:avLst/>
          </a:prstGeom>
        </p:spPr>
        <p:txBody>
          <a:bodyPr vert="horz" wrap="square" lIns="0" tIns="12065" rIns="0" bIns="0" rtlCol="0">
            <a:spAutoFit/>
          </a:bodyPr>
          <a:lstStyle/>
          <a:p>
            <a:pPr marL="12700">
              <a:lnSpc>
                <a:spcPct val="100000"/>
              </a:lnSpc>
              <a:spcBef>
                <a:spcPts val="95"/>
              </a:spcBef>
            </a:pPr>
            <a:r>
              <a:rPr spc="-10" dirty="0"/>
              <a:t>Log</a:t>
            </a:r>
            <a:r>
              <a:rPr spc="-60" dirty="0"/>
              <a:t> </a:t>
            </a:r>
            <a:r>
              <a:rPr spc="-5" dirty="0"/>
              <a:t>Groups</a:t>
            </a:r>
          </a:p>
        </p:txBody>
      </p:sp>
      <p:sp>
        <p:nvSpPr>
          <p:cNvPr id="3" name="object 3"/>
          <p:cNvSpPr txBox="1"/>
          <p:nvPr/>
        </p:nvSpPr>
        <p:spPr>
          <a:xfrm>
            <a:off x="419506" y="962025"/>
            <a:ext cx="7249159" cy="2147570"/>
          </a:xfrm>
          <a:prstGeom prst="rect">
            <a:avLst/>
          </a:prstGeom>
        </p:spPr>
        <p:txBody>
          <a:bodyPr vert="horz" wrap="square" lIns="0" tIns="85725" rIns="0" bIns="0" rtlCol="0">
            <a:spAutoFit/>
          </a:bodyPr>
          <a:lstStyle/>
          <a:p>
            <a:pPr marL="355600" indent="-342900">
              <a:lnSpc>
                <a:spcPct val="100000"/>
              </a:lnSpc>
              <a:spcBef>
                <a:spcPts val="675"/>
              </a:spcBef>
              <a:buChar char="•"/>
              <a:tabLst>
                <a:tab pos="354965" algn="l"/>
                <a:tab pos="355600" algn="l"/>
              </a:tabLst>
            </a:pPr>
            <a:r>
              <a:rPr sz="2400" dirty="0">
                <a:solidFill>
                  <a:srgbClr val="4D4D4B"/>
                </a:solidFill>
                <a:latin typeface="Arial MT"/>
                <a:cs typeface="Arial MT"/>
              </a:rPr>
              <a:t>Group</a:t>
            </a:r>
            <a:r>
              <a:rPr sz="2400" spc="-35" dirty="0">
                <a:solidFill>
                  <a:srgbClr val="4D4D4B"/>
                </a:solidFill>
                <a:latin typeface="Arial MT"/>
                <a:cs typeface="Arial MT"/>
              </a:rPr>
              <a:t> </a:t>
            </a:r>
            <a:r>
              <a:rPr sz="2400" spc="-5" dirty="0">
                <a:solidFill>
                  <a:srgbClr val="4D4D4B"/>
                </a:solidFill>
                <a:latin typeface="Arial MT"/>
                <a:cs typeface="Arial MT"/>
              </a:rPr>
              <a:t>of</a:t>
            </a:r>
            <a:r>
              <a:rPr sz="2400" spc="-20" dirty="0">
                <a:solidFill>
                  <a:srgbClr val="4D4D4B"/>
                </a:solidFill>
                <a:latin typeface="Arial MT"/>
                <a:cs typeface="Arial MT"/>
              </a:rPr>
              <a:t> </a:t>
            </a:r>
            <a:r>
              <a:rPr sz="2400" spc="-5" dirty="0">
                <a:solidFill>
                  <a:srgbClr val="4D4D4B"/>
                </a:solidFill>
                <a:latin typeface="Arial MT"/>
                <a:cs typeface="Arial MT"/>
              </a:rPr>
              <a:t>Log</a:t>
            </a:r>
            <a:r>
              <a:rPr sz="2400" spc="-15" dirty="0">
                <a:solidFill>
                  <a:srgbClr val="4D4D4B"/>
                </a:solidFill>
                <a:latin typeface="Arial MT"/>
                <a:cs typeface="Arial MT"/>
              </a:rPr>
              <a:t> </a:t>
            </a:r>
            <a:r>
              <a:rPr sz="2400" dirty="0">
                <a:solidFill>
                  <a:srgbClr val="4D4D4B"/>
                </a:solidFill>
                <a:latin typeface="Arial MT"/>
                <a:cs typeface="Arial MT"/>
              </a:rPr>
              <a:t>Streams</a:t>
            </a:r>
            <a:endParaRPr sz="2400">
              <a:latin typeface="Arial MT"/>
              <a:cs typeface="Arial MT"/>
            </a:endParaRPr>
          </a:p>
          <a:p>
            <a:pPr marL="355600" marR="5080" indent="-342900">
              <a:lnSpc>
                <a:spcPct val="100000"/>
              </a:lnSpc>
              <a:spcBef>
                <a:spcPts val="575"/>
              </a:spcBef>
              <a:buChar char="•"/>
              <a:tabLst>
                <a:tab pos="354965" algn="l"/>
                <a:tab pos="355600" algn="l"/>
              </a:tabLst>
            </a:pPr>
            <a:r>
              <a:rPr sz="2400" spc="-5" dirty="0">
                <a:solidFill>
                  <a:srgbClr val="4D4D4B"/>
                </a:solidFill>
                <a:latin typeface="Arial MT"/>
                <a:cs typeface="Arial MT"/>
              </a:rPr>
              <a:t>Shares</a:t>
            </a:r>
            <a:r>
              <a:rPr sz="2400" spc="5" dirty="0">
                <a:solidFill>
                  <a:srgbClr val="4D4D4B"/>
                </a:solidFill>
                <a:latin typeface="Arial MT"/>
                <a:cs typeface="Arial MT"/>
              </a:rPr>
              <a:t> </a:t>
            </a:r>
            <a:r>
              <a:rPr sz="2400" dirty="0">
                <a:solidFill>
                  <a:srgbClr val="4D4D4B"/>
                </a:solidFill>
                <a:latin typeface="Arial MT"/>
                <a:cs typeface="Arial MT"/>
              </a:rPr>
              <a:t>the </a:t>
            </a:r>
            <a:r>
              <a:rPr sz="2400" spc="-5" dirty="0">
                <a:solidFill>
                  <a:srgbClr val="4D4D4B"/>
                </a:solidFill>
                <a:latin typeface="Arial MT"/>
                <a:cs typeface="Arial MT"/>
              </a:rPr>
              <a:t>same</a:t>
            </a:r>
            <a:r>
              <a:rPr sz="2400" dirty="0">
                <a:solidFill>
                  <a:srgbClr val="4D4D4B"/>
                </a:solidFill>
                <a:latin typeface="Arial MT"/>
                <a:cs typeface="Arial MT"/>
              </a:rPr>
              <a:t> retention,</a:t>
            </a:r>
            <a:r>
              <a:rPr sz="2400" spc="-10" dirty="0">
                <a:solidFill>
                  <a:srgbClr val="4D4D4B"/>
                </a:solidFill>
                <a:latin typeface="Arial MT"/>
                <a:cs typeface="Arial MT"/>
              </a:rPr>
              <a:t> </a:t>
            </a:r>
            <a:r>
              <a:rPr sz="2400" spc="-5" dirty="0">
                <a:solidFill>
                  <a:srgbClr val="4D4D4B"/>
                </a:solidFill>
                <a:latin typeface="Arial MT"/>
                <a:cs typeface="Arial MT"/>
              </a:rPr>
              <a:t>monitoring,</a:t>
            </a:r>
            <a:r>
              <a:rPr sz="2400" spc="10" dirty="0">
                <a:solidFill>
                  <a:srgbClr val="4D4D4B"/>
                </a:solidFill>
                <a:latin typeface="Arial MT"/>
                <a:cs typeface="Arial MT"/>
              </a:rPr>
              <a:t> </a:t>
            </a:r>
            <a:r>
              <a:rPr sz="2400" spc="-5" dirty="0">
                <a:solidFill>
                  <a:srgbClr val="4D4D4B"/>
                </a:solidFill>
                <a:latin typeface="Arial MT"/>
                <a:cs typeface="Arial MT"/>
              </a:rPr>
              <a:t>and</a:t>
            </a:r>
            <a:r>
              <a:rPr sz="2400" spc="5" dirty="0">
                <a:solidFill>
                  <a:srgbClr val="4D4D4B"/>
                </a:solidFill>
                <a:latin typeface="Arial MT"/>
                <a:cs typeface="Arial MT"/>
              </a:rPr>
              <a:t> </a:t>
            </a:r>
            <a:r>
              <a:rPr sz="2400" dirty="0">
                <a:solidFill>
                  <a:srgbClr val="4D4D4B"/>
                </a:solidFill>
                <a:latin typeface="Arial MT"/>
                <a:cs typeface="Arial MT"/>
              </a:rPr>
              <a:t>access </a:t>
            </a:r>
            <a:r>
              <a:rPr sz="2400" spc="-650" dirty="0">
                <a:solidFill>
                  <a:srgbClr val="4D4D4B"/>
                </a:solidFill>
                <a:latin typeface="Arial MT"/>
                <a:cs typeface="Arial MT"/>
              </a:rPr>
              <a:t> </a:t>
            </a:r>
            <a:r>
              <a:rPr sz="2400" spc="-5" dirty="0">
                <a:solidFill>
                  <a:srgbClr val="4D4D4B"/>
                </a:solidFill>
                <a:latin typeface="Arial MT"/>
                <a:cs typeface="Arial MT"/>
              </a:rPr>
              <a:t>control settings</a:t>
            </a:r>
            <a:endParaRPr sz="2400">
              <a:latin typeface="Arial MT"/>
              <a:cs typeface="Arial MT"/>
            </a:endParaRPr>
          </a:p>
          <a:p>
            <a:pPr marL="355600" indent="-342900">
              <a:lnSpc>
                <a:spcPct val="100000"/>
              </a:lnSpc>
              <a:spcBef>
                <a:spcPts val="580"/>
              </a:spcBef>
              <a:buChar char="•"/>
              <a:tabLst>
                <a:tab pos="354965" algn="l"/>
                <a:tab pos="355600" algn="l"/>
              </a:tabLst>
            </a:pPr>
            <a:r>
              <a:rPr sz="2400" spc="-5" dirty="0">
                <a:solidFill>
                  <a:srgbClr val="4D4D4B"/>
                </a:solidFill>
                <a:latin typeface="Arial MT"/>
                <a:cs typeface="Arial MT"/>
              </a:rPr>
              <a:t>Each log</a:t>
            </a:r>
            <a:r>
              <a:rPr sz="2400" dirty="0">
                <a:solidFill>
                  <a:srgbClr val="4D4D4B"/>
                </a:solidFill>
                <a:latin typeface="Arial MT"/>
                <a:cs typeface="Arial MT"/>
              </a:rPr>
              <a:t> stream</a:t>
            </a:r>
            <a:r>
              <a:rPr sz="2400" spc="-15" dirty="0">
                <a:solidFill>
                  <a:srgbClr val="4D4D4B"/>
                </a:solidFill>
                <a:latin typeface="Arial MT"/>
                <a:cs typeface="Arial MT"/>
              </a:rPr>
              <a:t> </a:t>
            </a:r>
            <a:r>
              <a:rPr sz="2400" spc="-5" dirty="0">
                <a:solidFill>
                  <a:srgbClr val="4D4D4B"/>
                </a:solidFill>
                <a:latin typeface="Arial MT"/>
                <a:cs typeface="Arial MT"/>
              </a:rPr>
              <a:t>belongs</a:t>
            </a:r>
            <a:r>
              <a:rPr sz="2400" spc="20" dirty="0">
                <a:solidFill>
                  <a:srgbClr val="4D4D4B"/>
                </a:solidFill>
                <a:latin typeface="Arial MT"/>
                <a:cs typeface="Arial MT"/>
              </a:rPr>
              <a:t> </a:t>
            </a:r>
            <a:r>
              <a:rPr sz="2400" dirty="0">
                <a:solidFill>
                  <a:srgbClr val="4D4D4B"/>
                </a:solidFill>
                <a:latin typeface="Arial MT"/>
                <a:cs typeface="Arial MT"/>
              </a:rPr>
              <a:t>to</a:t>
            </a:r>
            <a:r>
              <a:rPr sz="2400" spc="-5" dirty="0">
                <a:solidFill>
                  <a:srgbClr val="4D4D4B"/>
                </a:solidFill>
                <a:latin typeface="Arial MT"/>
                <a:cs typeface="Arial MT"/>
              </a:rPr>
              <a:t> one</a:t>
            </a:r>
            <a:r>
              <a:rPr sz="2400" spc="5" dirty="0">
                <a:solidFill>
                  <a:srgbClr val="4D4D4B"/>
                </a:solidFill>
                <a:latin typeface="Arial MT"/>
                <a:cs typeface="Arial MT"/>
              </a:rPr>
              <a:t> </a:t>
            </a:r>
            <a:r>
              <a:rPr sz="2400" spc="-5" dirty="0">
                <a:solidFill>
                  <a:srgbClr val="4D4D4B"/>
                </a:solidFill>
                <a:latin typeface="Arial MT"/>
                <a:cs typeface="Arial MT"/>
              </a:rPr>
              <a:t>Log</a:t>
            </a:r>
            <a:r>
              <a:rPr sz="2400" spc="-15" dirty="0">
                <a:solidFill>
                  <a:srgbClr val="4D4D4B"/>
                </a:solidFill>
                <a:latin typeface="Arial MT"/>
                <a:cs typeface="Arial MT"/>
              </a:rPr>
              <a:t> </a:t>
            </a:r>
            <a:r>
              <a:rPr sz="2400" dirty="0">
                <a:solidFill>
                  <a:srgbClr val="4D4D4B"/>
                </a:solidFill>
                <a:latin typeface="Arial MT"/>
                <a:cs typeface="Arial MT"/>
              </a:rPr>
              <a:t>Group</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Fleet</a:t>
            </a:r>
            <a:r>
              <a:rPr sz="2400" dirty="0">
                <a:solidFill>
                  <a:srgbClr val="4D4D4B"/>
                </a:solidFill>
                <a:latin typeface="Arial MT"/>
                <a:cs typeface="Arial MT"/>
              </a:rPr>
              <a:t> of</a:t>
            </a:r>
            <a:r>
              <a:rPr sz="2400" spc="-15" dirty="0">
                <a:solidFill>
                  <a:srgbClr val="4D4D4B"/>
                </a:solidFill>
                <a:latin typeface="Arial MT"/>
                <a:cs typeface="Arial MT"/>
              </a:rPr>
              <a:t> </a:t>
            </a:r>
            <a:r>
              <a:rPr sz="2400" dirty="0">
                <a:solidFill>
                  <a:srgbClr val="4D4D4B"/>
                </a:solidFill>
                <a:latin typeface="Arial MT"/>
                <a:cs typeface="Arial MT"/>
              </a:rPr>
              <a:t>servers</a:t>
            </a:r>
            <a:r>
              <a:rPr sz="2400" spc="-15" dirty="0">
                <a:solidFill>
                  <a:srgbClr val="4D4D4B"/>
                </a:solidFill>
                <a:latin typeface="Arial MT"/>
                <a:cs typeface="Arial MT"/>
              </a:rPr>
              <a:t> </a:t>
            </a:r>
            <a:r>
              <a:rPr sz="2400" spc="-5" dirty="0">
                <a:solidFill>
                  <a:srgbClr val="4D4D4B"/>
                </a:solidFill>
                <a:latin typeface="Arial MT"/>
                <a:cs typeface="Arial MT"/>
              </a:rPr>
              <a:t>generating</a:t>
            </a:r>
            <a:r>
              <a:rPr sz="2400" spc="15" dirty="0">
                <a:solidFill>
                  <a:srgbClr val="4D4D4B"/>
                </a:solidFill>
                <a:latin typeface="Arial MT"/>
                <a:cs typeface="Arial MT"/>
              </a:rPr>
              <a:t> </a:t>
            </a:r>
            <a:r>
              <a:rPr sz="2400" dirty="0">
                <a:solidFill>
                  <a:srgbClr val="4D4D4B"/>
                </a:solidFill>
                <a:latin typeface="Arial MT"/>
                <a:cs typeface="Arial MT"/>
              </a:rPr>
              <a:t>same type</a:t>
            </a:r>
            <a:r>
              <a:rPr sz="2400" spc="-5" dirty="0">
                <a:solidFill>
                  <a:srgbClr val="4D4D4B"/>
                </a:solidFill>
                <a:latin typeface="Arial MT"/>
                <a:cs typeface="Arial MT"/>
              </a:rPr>
              <a:t> </a:t>
            </a:r>
            <a:r>
              <a:rPr sz="2400" dirty="0">
                <a:solidFill>
                  <a:srgbClr val="4D4D4B"/>
                </a:solidFill>
                <a:latin typeface="Arial MT"/>
                <a:cs typeface="Arial MT"/>
              </a:rPr>
              <a:t>of</a:t>
            </a:r>
            <a:r>
              <a:rPr sz="2400" spc="-30" dirty="0">
                <a:solidFill>
                  <a:srgbClr val="4D4D4B"/>
                </a:solidFill>
                <a:latin typeface="Arial MT"/>
                <a:cs typeface="Arial MT"/>
              </a:rPr>
              <a:t> </a:t>
            </a:r>
            <a:r>
              <a:rPr sz="2400" spc="-5" dirty="0">
                <a:solidFill>
                  <a:srgbClr val="4D4D4B"/>
                </a:solidFill>
                <a:latin typeface="Arial MT"/>
                <a:cs typeface="Arial MT"/>
              </a:rPr>
              <a:t>log</a:t>
            </a:r>
            <a:endParaRPr sz="2400">
              <a:latin typeface="Arial MT"/>
              <a:cs typeface="Arial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2239010" cy="452120"/>
          </a:xfrm>
          <a:prstGeom prst="rect">
            <a:avLst/>
          </a:prstGeom>
        </p:spPr>
        <p:txBody>
          <a:bodyPr vert="horz" wrap="square" lIns="0" tIns="12065" rIns="0" bIns="0" rtlCol="0">
            <a:spAutoFit/>
          </a:bodyPr>
          <a:lstStyle/>
          <a:p>
            <a:pPr marL="12700">
              <a:lnSpc>
                <a:spcPct val="100000"/>
              </a:lnSpc>
              <a:spcBef>
                <a:spcPts val="95"/>
              </a:spcBef>
            </a:pPr>
            <a:r>
              <a:rPr spc="-5" dirty="0"/>
              <a:t>Metric</a:t>
            </a:r>
            <a:r>
              <a:rPr spc="-35" dirty="0"/>
              <a:t> </a:t>
            </a:r>
            <a:r>
              <a:rPr spc="-5" dirty="0"/>
              <a:t>Filters</a:t>
            </a:r>
          </a:p>
        </p:txBody>
      </p:sp>
      <p:sp>
        <p:nvSpPr>
          <p:cNvPr id="3" name="object 3"/>
          <p:cNvSpPr txBox="1"/>
          <p:nvPr/>
        </p:nvSpPr>
        <p:spPr>
          <a:xfrm>
            <a:off x="419506" y="1035177"/>
            <a:ext cx="7896859" cy="2879090"/>
          </a:xfrm>
          <a:prstGeom prst="rect">
            <a:avLst/>
          </a:prstGeom>
        </p:spPr>
        <p:txBody>
          <a:bodyPr vert="horz" wrap="square" lIns="0" tIns="12700" rIns="0" bIns="0" rtlCol="0">
            <a:spAutoFit/>
          </a:bodyPr>
          <a:lstStyle/>
          <a:p>
            <a:pPr marL="355600" marR="5080" indent="-342900">
              <a:lnSpc>
                <a:spcPct val="100000"/>
              </a:lnSpc>
              <a:spcBef>
                <a:spcPts val="100"/>
              </a:spcBef>
              <a:buClr>
                <a:srgbClr val="4D4D4B"/>
              </a:buClr>
              <a:buChar char="•"/>
              <a:tabLst>
                <a:tab pos="354965" algn="l"/>
                <a:tab pos="355600" algn="l"/>
              </a:tabLst>
            </a:pPr>
            <a:r>
              <a:rPr sz="2400" u="heavy" spc="-5" dirty="0">
                <a:solidFill>
                  <a:srgbClr val="686CEA"/>
                </a:solidFill>
                <a:uFill>
                  <a:solidFill>
                    <a:srgbClr val="686CEA"/>
                  </a:solidFill>
                </a:uFill>
                <a:latin typeface="Arial MT"/>
                <a:cs typeface="Arial MT"/>
                <a:hlinkClick r:id="rId2"/>
              </a:rPr>
              <a:t>Metric</a:t>
            </a:r>
            <a:r>
              <a:rPr sz="2400" u="heavy" spc="-10" dirty="0">
                <a:solidFill>
                  <a:srgbClr val="686CEA"/>
                </a:solidFill>
                <a:uFill>
                  <a:solidFill>
                    <a:srgbClr val="686CEA"/>
                  </a:solidFill>
                </a:uFill>
                <a:latin typeface="Arial MT"/>
                <a:cs typeface="Arial MT"/>
                <a:hlinkClick r:id="rId2"/>
              </a:rPr>
              <a:t> </a:t>
            </a:r>
            <a:r>
              <a:rPr sz="2400" u="heavy" spc="-5" dirty="0">
                <a:solidFill>
                  <a:srgbClr val="686CEA"/>
                </a:solidFill>
                <a:uFill>
                  <a:solidFill>
                    <a:srgbClr val="686CEA"/>
                  </a:solidFill>
                </a:uFill>
                <a:latin typeface="Arial MT"/>
                <a:cs typeface="Arial MT"/>
                <a:hlinkClick r:id="rId2"/>
              </a:rPr>
              <a:t>Filters</a:t>
            </a:r>
            <a:r>
              <a:rPr sz="2400" u="heavy" spc="10" dirty="0">
                <a:solidFill>
                  <a:srgbClr val="686CEA"/>
                </a:solidFill>
                <a:uFill>
                  <a:solidFill>
                    <a:srgbClr val="686CEA"/>
                  </a:solidFill>
                </a:uFill>
                <a:latin typeface="Arial MT"/>
                <a:cs typeface="Arial MT"/>
                <a:hlinkClick r:id="rId2"/>
              </a:rPr>
              <a:t> </a:t>
            </a:r>
            <a:r>
              <a:rPr sz="2400" dirty="0">
                <a:solidFill>
                  <a:srgbClr val="4D4D4B"/>
                </a:solidFill>
                <a:latin typeface="Arial MT"/>
                <a:cs typeface="Arial MT"/>
              </a:rPr>
              <a:t>convert</a:t>
            </a:r>
            <a:r>
              <a:rPr sz="2400" spc="5" dirty="0">
                <a:solidFill>
                  <a:srgbClr val="4D4D4B"/>
                </a:solidFill>
                <a:latin typeface="Arial MT"/>
                <a:cs typeface="Arial MT"/>
              </a:rPr>
              <a:t> </a:t>
            </a:r>
            <a:r>
              <a:rPr sz="2400" spc="-5" dirty="0">
                <a:solidFill>
                  <a:srgbClr val="4D4D4B"/>
                </a:solidFill>
                <a:latin typeface="Arial MT"/>
                <a:cs typeface="Arial MT"/>
              </a:rPr>
              <a:t>log</a:t>
            </a:r>
            <a:r>
              <a:rPr sz="2400" spc="15" dirty="0">
                <a:solidFill>
                  <a:srgbClr val="4D4D4B"/>
                </a:solidFill>
                <a:latin typeface="Arial MT"/>
                <a:cs typeface="Arial MT"/>
              </a:rPr>
              <a:t> </a:t>
            </a:r>
            <a:r>
              <a:rPr sz="2400" spc="-5" dirty="0">
                <a:solidFill>
                  <a:srgbClr val="4D4D4B"/>
                </a:solidFill>
                <a:latin typeface="Arial MT"/>
                <a:cs typeface="Arial MT"/>
              </a:rPr>
              <a:t>file</a:t>
            </a:r>
            <a:r>
              <a:rPr sz="2400" spc="10" dirty="0">
                <a:solidFill>
                  <a:srgbClr val="4D4D4B"/>
                </a:solidFill>
                <a:latin typeface="Arial MT"/>
                <a:cs typeface="Arial MT"/>
              </a:rPr>
              <a:t> </a:t>
            </a:r>
            <a:r>
              <a:rPr sz="2400" dirty="0">
                <a:solidFill>
                  <a:srgbClr val="4D4D4B"/>
                </a:solidFill>
                <a:latin typeface="Arial MT"/>
                <a:cs typeface="Arial MT"/>
              </a:rPr>
              <a:t>events</a:t>
            </a:r>
            <a:r>
              <a:rPr sz="2400" spc="5" dirty="0">
                <a:solidFill>
                  <a:srgbClr val="4D4D4B"/>
                </a:solidFill>
                <a:latin typeface="Arial MT"/>
                <a:cs typeface="Arial MT"/>
              </a:rPr>
              <a:t> </a:t>
            </a:r>
            <a:r>
              <a:rPr sz="2400" dirty="0">
                <a:solidFill>
                  <a:srgbClr val="4D4D4B"/>
                </a:solidFill>
                <a:latin typeface="Arial MT"/>
                <a:cs typeface="Arial MT"/>
              </a:rPr>
              <a:t>to</a:t>
            </a:r>
            <a:r>
              <a:rPr sz="2400" spc="-5" dirty="0">
                <a:solidFill>
                  <a:srgbClr val="4D4D4B"/>
                </a:solidFill>
                <a:latin typeface="Arial MT"/>
                <a:cs typeface="Arial MT"/>
              </a:rPr>
              <a:t> </a:t>
            </a:r>
            <a:r>
              <a:rPr sz="2400" spc="-15" dirty="0">
                <a:solidFill>
                  <a:srgbClr val="4D4D4B"/>
                </a:solidFill>
                <a:latin typeface="Arial MT"/>
                <a:cs typeface="Arial MT"/>
              </a:rPr>
              <a:t>CloudWatch</a:t>
            </a:r>
            <a:r>
              <a:rPr sz="2400" spc="15" dirty="0">
                <a:solidFill>
                  <a:srgbClr val="4D4D4B"/>
                </a:solidFill>
                <a:latin typeface="Arial MT"/>
                <a:cs typeface="Arial MT"/>
              </a:rPr>
              <a:t> </a:t>
            </a:r>
            <a:r>
              <a:rPr sz="2400" spc="-5" dirty="0">
                <a:solidFill>
                  <a:srgbClr val="4D4D4B"/>
                </a:solidFill>
                <a:latin typeface="Arial MT"/>
                <a:cs typeface="Arial MT"/>
              </a:rPr>
              <a:t>data </a:t>
            </a:r>
            <a:r>
              <a:rPr sz="2400" spc="-650" dirty="0">
                <a:solidFill>
                  <a:srgbClr val="4D4D4B"/>
                </a:solidFill>
                <a:latin typeface="Arial MT"/>
                <a:cs typeface="Arial MT"/>
              </a:rPr>
              <a:t> </a:t>
            </a:r>
            <a:r>
              <a:rPr sz="2400" spc="-5" dirty="0">
                <a:solidFill>
                  <a:srgbClr val="4D4D4B"/>
                </a:solidFill>
                <a:latin typeface="Arial MT"/>
                <a:cs typeface="Arial MT"/>
              </a:rPr>
              <a:t>points</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Specify patterns </a:t>
            </a:r>
            <a:r>
              <a:rPr sz="2400" dirty="0">
                <a:solidFill>
                  <a:srgbClr val="4D4D4B"/>
                </a:solidFill>
                <a:latin typeface="Arial MT"/>
                <a:cs typeface="Arial MT"/>
              </a:rPr>
              <a:t>to</a:t>
            </a:r>
            <a:r>
              <a:rPr sz="2400" spc="-30" dirty="0">
                <a:solidFill>
                  <a:srgbClr val="4D4D4B"/>
                </a:solidFill>
                <a:latin typeface="Arial MT"/>
                <a:cs typeface="Arial MT"/>
              </a:rPr>
              <a:t> </a:t>
            </a:r>
            <a:r>
              <a:rPr sz="2400" spc="-5" dirty="0">
                <a:solidFill>
                  <a:srgbClr val="4D4D4B"/>
                </a:solidFill>
                <a:latin typeface="Arial MT"/>
                <a:cs typeface="Arial MT"/>
              </a:rPr>
              <a:t>look</a:t>
            </a:r>
            <a:r>
              <a:rPr sz="2400" spc="5" dirty="0">
                <a:solidFill>
                  <a:srgbClr val="4D4D4B"/>
                </a:solidFill>
                <a:latin typeface="Arial MT"/>
                <a:cs typeface="Arial MT"/>
              </a:rPr>
              <a:t> </a:t>
            </a:r>
            <a:r>
              <a:rPr sz="2400" dirty="0">
                <a:solidFill>
                  <a:srgbClr val="4D4D4B"/>
                </a:solidFill>
                <a:latin typeface="Arial MT"/>
                <a:cs typeface="Arial MT"/>
              </a:rPr>
              <a:t>for</a:t>
            </a:r>
            <a:endParaRPr sz="2400">
              <a:latin typeface="Arial MT"/>
              <a:cs typeface="Arial MT"/>
            </a:endParaRPr>
          </a:p>
          <a:p>
            <a:pPr marL="355600" marR="818515" indent="-342900">
              <a:lnSpc>
                <a:spcPct val="100000"/>
              </a:lnSpc>
              <a:spcBef>
                <a:spcPts val="580"/>
              </a:spcBef>
              <a:buChar char="•"/>
              <a:tabLst>
                <a:tab pos="354965" algn="l"/>
                <a:tab pos="355600" algn="l"/>
              </a:tabLst>
            </a:pPr>
            <a:r>
              <a:rPr sz="2400" spc="-5" dirty="0">
                <a:solidFill>
                  <a:srgbClr val="4D4D4B"/>
                </a:solidFill>
                <a:latin typeface="Arial MT"/>
                <a:cs typeface="Arial MT"/>
              </a:rPr>
              <a:t>Match</a:t>
            </a:r>
            <a:r>
              <a:rPr sz="2400" spc="-60" dirty="0">
                <a:solidFill>
                  <a:srgbClr val="4D4D4B"/>
                </a:solidFill>
                <a:latin typeface="Arial MT"/>
                <a:cs typeface="Arial MT"/>
              </a:rPr>
              <a:t> </a:t>
            </a:r>
            <a:r>
              <a:rPr sz="2400" spc="-55" dirty="0">
                <a:solidFill>
                  <a:srgbClr val="4D4D4B"/>
                </a:solidFill>
                <a:latin typeface="Arial MT"/>
                <a:cs typeface="Arial MT"/>
              </a:rPr>
              <a:t>Terms</a:t>
            </a:r>
            <a:r>
              <a:rPr sz="2400" spc="-5" dirty="0">
                <a:solidFill>
                  <a:srgbClr val="4D4D4B"/>
                </a:solidFill>
                <a:latin typeface="Arial MT"/>
                <a:cs typeface="Arial MT"/>
              </a:rPr>
              <a:t> in:</a:t>
            </a:r>
            <a:r>
              <a:rPr sz="2400" spc="-35" dirty="0">
                <a:solidFill>
                  <a:srgbClr val="4D4D4B"/>
                </a:solidFill>
                <a:latin typeface="Arial MT"/>
                <a:cs typeface="Arial MT"/>
              </a:rPr>
              <a:t> </a:t>
            </a:r>
            <a:r>
              <a:rPr sz="2400" spc="-60" dirty="0">
                <a:solidFill>
                  <a:srgbClr val="4D4D4B"/>
                </a:solidFill>
                <a:latin typeface="Arial MT"/>
                <a:cs typeface="Arial MT"/>
              </a:rPr>
              <a:t>Text,</a:t>
            </a:r>
            <a:r>
              <a:rPr sz="2400" spc="10" dirty="0">
                <a:solidFill>
                  <a:srgbClr val="4D4D4B"/>
                </a:solidFill>
                <a:latin typeface="Arial MT"/>
                <a:cs typeface="Arial MT"/>
              </a:rPr>
              <a:t> </a:t>
            </a:r>
            <a:r>
              <a:rPr sz="2400" spc="-5" dirty="0">
                <a:solidFill>
                  <a:srgbClr val="4D4D4B"/>
                </a:solidFill>
                <a:latin typeface="Arial MT"/>
                <a:cs typeface="Arial MT"/>
              </a:rPr>
              <a:t>JSON,</a:t>
            </a:r>
            <a:r>
              <a:rPr sz="2400" spc="5" dirty="0">
                <a:solidFill>
                  <a:srgbClr val="4D4D4B"/>
                </a:solidFill>
                <a:latin typeface="Arial MT"/>
                <a:cs typeface="Arial MT"/>
              </a:rPr>
              <a:t> </a:t>
            </a:r>
            <a:r>
              <a:rPr sz="2400" spc="-5" dirty="0">
                <a:solidFill>
                  <a:srgbClr val="4D4D4B"/>
                </a:solidFill>
                <a:latin typeface="Arial MT"/>
                <a:cs typeface="Arial MT"/>
              </a:rPr>
              <a:t>Space-delimited</a:t>
            </a:r>
            <a:r>
              <a:rPr sz="2400" spc="40" dirty="0">
                <a:solidFill>
                  <a:srgbClr val="4D4D4B"/>
                </a:solidFill>
                <a:latin typeface="Arial MT"/>
                <a:cs typeface="Arial MT"/>
              </a:rPr>
              <a:t> </a:t>
            </a:r>
            <a:r>
              <a:rPr sz="2400" spc="-5" dirty="0">
                <a:solidFill>
                  <a:srgbClr val="4D4D4B"/>
                </a:solidFill>
                <a:latin typeface="Arial MT"/>
                <a:cs typeface="Arial MT"/>
              </a:rPr>
              <a:t>Log </a:t>
            </a:r>
            <a:r>
              <a:rPr sz="2400" spc="-655" dirty="0">
                <a:solidFill>
                  <a:srgbClr val="4D4D4B"/>
                </a:solidFill>
                <a:latin typeface="Arial MT"/>
                <a:cs typeface="Arial MT"/>
              </a:rPr>
              <a:t> </a:t>
            </a:r>
            <a:r>
              <a:rPr sz="2400" spc="-5" dirty="0">
                <a:solidFill>
                  <a:srgbClr val="4D4D4B"/>
                </a:solidFill>
                <a:latin typeface="Arial MT"/>
                <a:cs typeface="Arial MT"/>
              </a:rPr>
              <a:t>Events</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Assigned</a:t>
            </a:r>
            <a:r>
              <a:rPr sz="2400" spc="10" dirty="0">
                <a:solidFill>
                  <a:srgbClr val="4D4D4B"/>
                </a:solidFill>
                <a:latin typeface="Arial MT"/>
                <a:cs typeface="Arial MT"/>
              </a:rPr>
              <a:t> </a:t>
            </a:r>
            <a:r>
              <a:rPr sz="2400" dirty="0">
                <a:solidFill>
                  <a:srgbClr val="4D4D4B"/>
                </a:solidFill>
                <a:latin typeface="Arial MT"/>
                <a:cs typeface="Arial MT"/>
              </a:rPr>
              <a:t>to</a:t>
            </a:r>
            <a:r>
              <a:rPr sz="2400" spc="-5" dirty="0">
                <a:solidFill>
                  <a:srgbClr val="4D4D4B"/>
                </a:solidFill>
                <a:latin typeface="Arial MT"/>
                <a:cs typeface="Arial MT"/>
              </a:rPr>
              <a:t> a</a:t>
            </a:r>
            <a:r>
              <a:rPr sz="2400" spc="-20" dirty="0">
                <a:solidFill>
                  <a:srgbClr val="4D4D4B"/>
                </a:solidFill>
                <a:latin typeface="Arial MT"/>
                <a:cs typeface="Arial MT"/>
              </a:rPr>
              <a:t> </a:t>
            </a:r>
            <a:r>
              <a:rPr sz="2400" spc="-5" dirty="0">
                <a:solidFill>
                  <a:srgbClr val="4D4D4B"/>
                </a:solidFill>
                <a:latin typeface="Arial MT"/>
                <a:cs typeface="Arial MT"/>
              </a:rPr>
              <a:t>Log Group</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Log</a:t>
            </a:r>
            <a:r>
              <a:rPr sz="2400" dirty="0">
                <a:solidFill>
                  <a:srgbClr val="4D4D4B"/>
                </a:solidFill>
                <a:latin typeface="Arial MT"/>
                <a:cs typeface="Arial MT"/>
              </a:rPr>
              <a:t> Group</a:t>
            </a:r>
            <a:r>
              <a:rPr sz="2400" spc="-10" dirty="0">
                <a:solidFill>
                  <a:srgbClr val="4D4D4B"/>
                </a:solidFill>
                <a:latin typeface="Arial MT"/>
                <a:cs typeface="Arial MT"/>
              </a:rPr>
              <a:t> </a:t>
            </a:r>
            <a:r>
              <a:rPr sz="2400" spc="-5" dirty="0">
                <a:solidFill>
                  <a:srgbClr val="4D4D4B"/>
                </a:solidFill>
                <a:latin typeface="Arial MT"/>
                <a:cs typeface="Arial MT"/>
              </a:rPr>
              <a:t>can</a:t>
            </a:r>
            <a:r>
              <a:rPr sz="2400" dirty="0">
                <a:solidFill>
                  <a:srgbClr val="4D4D4B"/>
                </a:solidFill>
                <a:latin typeface="Arial MT"/>
                <a:cs typeface="Arial MT"/>
              </a:rPr>
              <a:t> </a:t>
            </a:r>
            <a:r>
              <a:rPr sz="2400" spc="-5" dirty="0">
                <a:solidFill>
                  <a:srgbClr val="4D4D4B"/>
                </a:solidFill>
                <a:latin typeface="Arial MT"/>
                <a:cs typeface="Arial MT"/>
              </a:rPr>
              <a:t>contain</a:t>
            </a:r>
            <a:r>
              <a:rPr sz="2400" spc="10" dirty="0">
                <a:solidFill>
                  <a:srgbClr val="4D4D4B"/>
                </a:solidFill>
                <a:latin typeface="Arial MT"/>
                <a:cs typeface="Arial MT"/>
              </a:rPr>
              <a:t> </a:t>
            </a:r>
            <a:r>
              <a:rPr sz="2400" spc="-5" dirty="0">
                <a:solidFill>
                  <a:srgbClr val="4D4D4B"/>
                </a:solidFill>
                <a:latin typeface="Arial MT"/>
                <a:cs typeface="Arial MT"/>
              </a:rPr>
              <a:t>one</a:t>
            </a:r>
            <a:r>
              <a:rPr sz="2400" spc="5" dirty="0">
                <a:solidFill>
                  <a:srgbClr val="4D4D4B"/>
                </a:solidFill>
                <a:latin typeface="Arial MT"/>
                <a:cs typeface="Arial MT"/>
              </a:rPr>
              <a:t> </a:t>
            </a:r>
            <a:r>
              <a:rPr sz="2400" spc="-5" dirty="0">
                <a:solidFill>
                  <a:srgbClr val="4D4D4B"/>
                </a:solidFill>
                <a:latin typeface="Arial MT"/>
                <a:cs typeface="Arial MT"/>
              </a:rPr>
              <a:t>or</a:t>
            </a:r>
            <a:r>
              <a:rPr sz="2400" dirty="0">
                <a:solidFill>
                  <a:srgbClr val="4D4D4B"/>
                </a:solidFill>
                <a:latin typeface="Arial MT"/>
                <a:cs typeface="Arial MT"/>
              </a:rPr>
              <a:t> </a:t>
            </a:r>
            <a:r>
              <a:rPr sz="2400" spc="-5" dirty="0">
                <a:solidFill>
                  <a:srgbClr val="4D4D4B"/>
                </a:solidFill>
                <a:latin typeface="Arial MT"/>
                <a:cs typeface="Arial MT"/>
              </a:rPr>
              <a:t>more</a:t>
            </a:r>
            <a:r>
              <a:rPr sz="2400" dirty="0">
                <a:solidFill>
                  <a:srgbClr val="4D4D4B"/>
                </a:solidFill>
                <a:latin typeface="Arial MT"/>
                <a:cs typeface="Arial MT"/>
              </a:rPr>
              <a:t> metric</a:t>
            </a:r>
            <a:r>
              <a:rPr sz="2400" spc="-20" dirty="0">
                <a:solidFill>
                  <a:srgbClr val="4D4D4B"/>
                </a:solidFill>
                <a:latin typeface="Arial MT"/>
                <a:cs typeface="Arial MT"/>
              </a:rPr>
              <a:t> </a:t>
            </a:r>
            <a:r>
              <a:rPr sz="2400" dirty="0">
                <a:solidFill>
                  <a:srgbClr val="4D4D4B"/>
                </a:solidFill>
                <a:latin typeface="Arial MT"/>
                <a:cs typeface="Arial MT"/>
              </a:rPr>
              <a:t>filters</a:t>
            </a:r>
            <a:endParaRPr sz="240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3169285" cy="452120"/>
          </a:xfrm>
          <a:prstGeom prst="rect">
            <a:avLst/>
          </a:prstGeom>
        </p:spPr>
        <p:txBody>
          <a:bodyPr vert="horz" wrap="square" lIns="0" tIns="12065" rIns="0" bIns="0" rtlCol="0">
            <a:spAutoFit/>
          </a:bodyPr>
          <a:lstStyle/>
          <a:p>
            <a:pPr marL="12700">
              <a:lnSpc>
                <a:spcPct val="100000"/>
              </a:lnSpc>
              <a:spcBef>
                <a:spcPts val="95"/>
              </a:spcBef>
            </a:pPr>
            <a:r>
              <a:rPr spc="-5" dirty="0"/>
              <a:t>Retention</a:t>
            </a:r>
            <a:r>
              <a:rPr dirty="0"/>
              <a:t> </a:t>
            </a:r>
            <a:r>
              <a:rPr spc="-5" dirty="0"/>
              <a:t>Settings</a:t>
            </a:r>
          </a:p>
        </p:txBody>
      </p:sp>
      <p:sp>
        <p:nvSpPr>
          <p:cNvPr id="3" name="object 3"/>
          <p:cNvSpPr txBox="1"/>
          <p:nvPr/>
        </p:nvSpPr>
        <p:spPr>
          <a:xfrm>
            <a:off x="419506" y="1035177"/>
            <a:ext cx="7708265" cy="2001520"/>
          </a:xfrm>
          <a:prstGeom prst="rect">
            <a:avLst/>
          </a:prstGeom>
        </p:spPr>
        <p:txBody>
          <a:bodyPr vert="horz" wrap="square" lIns="0" tIns="12700" rIns="0" bIns="0" rtlCol="0">
            <a:spAutoFit/>
          </a:bodyPr>
          <a:lstStyle/>
          <a:p>
            <a:pPr marL="355600" marR="5080" indent="-342900">
              <a:lnSpc>
                <a:spcPct val="100000"/>
              </a:lnSpc>
              <a:spcBef>
                <a:spcPts val="100"/>
              </a:spcBef>
              <a:buChar char="•"/>
              <a:tabLst>
                <a:tab pos="354965" algn="l"/>
                <a:tab pos="355600" algn="l"/>
              </a:tabLst>
            </a:pPr>
            <a:r>
              <a:rPr sz="2400" spc="-5" dirty="0">
                <a:solidFill>
                  <a:srgbClr val="4D4D4B"/>
                </a:solidFill>
                <a:latin typeface="Arial MT"/>
                <a:cs typeface="Arial MT"/>
              </a:rPr>
              <a:t>Specify</a:t>
            </a:r>
            <a:r>
              <a:rPr sz="2400" spc="5" dirty="0">
                <a:solidFill>
                  <a:srgbClr val="4D4D4B"/>
                </a:solidFill>
                <a:latin typeface="Arial MT"/>
                <a:cs typeface="Arial MT"/>
              </a:rPr>
              <a:t> </a:t>
            </a:r>
            <a:r>
              <a:rPr sz="2400" spc="-5" dirty="0">
                <a:solidFill>
                  <a:srgbClr val="4D4D4B"/>
                </a:solidFill>
                <a:latin typeface="Arial MT"/>
                <a:cs typeface="Arial MT"/>
              </a:rPr>
              <a:t>retention</a:t>
            </a:r>
            <a:r>
              <a:rPr sz="2400" spc="10" dirty="0">
                <a:solidFill>
                  <a:srgbClr val="4D4D4B"/>
                </a:solidFill>
                <a:latin typeface="Arial MT"/>
                <a:cs typeface="Arial MT"/>
              </a:rPr>
              <a:t> </a:t>
            </a:r>
            <a:r>
              <a:rPr sz="2400" spc="-5" dirty="0">
                <a:solidFill>
                  <a:srgbClr val="4D4D4B"/>
                </a:solidFill>
                <a:latin typeface="Arial MT"/>
                <a:cs typeface="Arial MT"/>
              </a:rPr>
              <a:t>period</a:t>
            </a:r>
            <a:r>
              <a:rPr sz="2400" spc="15" dirty="0">
                <a:solidFill>
                  <a:srgbClr val="4D4D4B"/>
                </a:solidFill>
                <a:latin typeface="Arial MT"/>
                <a:cs typeface="Arial MT"/>
              </a:rPr>
              <a:t> </a:t>
            </a:r>
            <a:r>
              <a:rPr sz="2400" dirty="0">
                <a:solidFill>
                  <a:srgbClr val="4D4D4B"/>
                </a:solidFill>
                <a:latin typeface="Arial MT"/>
                <a:cs typeface="Arial MT"/>
              </a:rPr>
              <a:t>for</a:t>
            </a:r>
            <a:r>
              <a:rPr sz="2400" spc="10" dirty="0">
                <a:solidFill>
                  <a:srgbClr val="4D4D4B"/>
                </a:solidFill>
                <a:latin typeface="Arial MT"/>
                <a:cs typeface="Arial MT"/>
              </a:rPr>
              <a:t> </a:t>
            </a:r>
            <a:r>
              <a:rPr sz="2400" spc="-5" dirty="0">
                <a:solidFill>
                  <a:srgbClr val="4D4D4B"/>
                </a:solidFill>
                <a:latin typeface="Arial MT"/>
                <a:cs typeface="Arial MT"/>
              </a:rPr>
              <a:t>events</a:t>
            </a:r>
            <a:r>
              <a:rPr sz="2400" spc="5" dirty="0">
                <a:solidFill>
                  <a:srgbClr val="4D4D4B"/>
                </a:solidFill>
                <a:latin typeface="Arial MT"/>
                <a:cs typeface="Arial MT"/>
              </a:rPr>
              <a:t> </a:t>
            </a:r>
            <a:r>
              <a:rPr sz="2400" spc="-5" dirty="0">
                <a:solidFill>
                  <a:srgbClr val="4D4D4B"/>
                </a:solidFill>
                <a:latin typeface="Arial MT"/>
                <a:cs typeface="Arial MT"/>
              </a:rPr>
              <a:t>kept</a:t>
            </a:r>
            <a:r>
              <a:rPr sz="2400" spc="5" dirty="0">
                <a:solidFill>
                  <a:srgbClr val="4D4D4B"/>
                </a:solidFill>
                <a:latin typeface="Arial MT"/>
                <a:cs typeface="Arial MT"/>
              </a:rPr>
              <a:t> </a:t>
            </a:r>
            <a:r>
              <a:rPr sz="2400" spc="-5" dirty="0">
                <a:solidFill>
                  <a:srgbClr val="4D4D4B"/>
                </a:solidFill>
                <a:latin typeface="Arial MT"/>
                <a:cs typeface="Arial MT"/>
              </a:rPr>
              <a:t>in </a:t>
            </a:r>
            <a:r>
              <a:rPr sz="2400" spc="-10" dirty="0">
                <a:solidFill>
                  <a:srgbClr val="4D4D4B"/>
                </a:solidFill>
                <a:latin typeface="Arial MT"/>
                <a:cs typeface="Arial MT"/>
              </a:rPr>
              <a:t>CloudWatch </a:t>
            </a:r>
            <a:r>
              <a:rPr sz="2400" spc="-650" dirty="0">
                <a:solidFill>
                  <a:srgbClr val="4D4D4B"/>
                </a:solidFill>
                <a:latin typeface="Arial MT"/>
                <a:cs typeface="Arial MT"/>
              </a:rPr>
              <a:t> </a:t>
            </a:r>
            <a:r>
              <a:rPr sz="2400" spc="-5" dirty="0">
                <a:solidFill>
                  <a:srgbClr val="4D4D4B"/>
                </a:solidFill>
                <a:latin typeface="Arial MT"/>
                <a:cs typeface="Arial MT"/>
              </a:rPr>
              <a:t>logs</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Expired</a:t>
            </a:r>
            <a:r>
              <a:rPr sz="2400" spc="20" dirty="0">
                <a:solidFill>
                  <a:srgbClr val="4D4D4B"/>
                </a:solidFill>
                <a:latin typeface="Arial MT"/>
                <a:cs typeface="Arial MT"/>
              </a:rPr>
              <a:t> </a:t>
            </a:r>
            <a:r>
              <a:rPr sz="2400" spc="-5" dirty="0">
                <a:solidFill>
                  <a:srgbClr val="4D4D4B"/>
                </a:solidFill>
                <a:latin typeface="Arial MT"/>
                <a:cs typeface="Arial MT"/>
              </a:rPr>
              <a:t>log</a:t>
            </a:r>
            <a:r>
              <a:rPr sz="2400" spc="10" dirty="0">
                <a:solidFill>
                  <a:srgbClr val="4D4D4B"/>
                </a:solidFill>
                <a:latin typeface="Arial MT"/>
                <a:cs typeface="Arial MT"/>
              </a:rPr>
              <a:t> </a:t>
            </a:r>
            <a:r>
              <a:rPr sz="2400" dirty="0">
                <a:solidFill>
                  <a:srgbClr val="4D4D4B"/>
                </a:solidFill>
                <a:latin typeface="Arial MT"/>
                <a:cs typeface="Arial MT"/>
              </a:rPr>
              <a:t>events </a:t>
            </a:r>
            <a:r>
              <a:rPr sz="2400" spc="-5" dirty="0">
                <a:solidFill>
                  <a:srgbClr val="4D4D4B"/>
                </a:solidFill>
                <a:latin typeface="Arial MT"/>
                <a:cs typeface="Arial MT"/>
              </a:rPr>
              <a:t>are</a:t>
            </a:r>
            <a:r>
              <a:rPr sz="2400" spc="5" dirty="0">
                <a:solidFill>
                  <a:srgbClr val="4D4D4B"/>
                </a:solidFill>
                <a:latin typeface="Arial MT"/>
                <a:cs typeface="Arial MT"/>
              </a:rPr>
              <a:t> </a:t>
            </a:r>
            <a:r>
              <a:rPr sz="2400" spc="-5" dirty="0">
                <a:solidFill>
                  <a:srgbClr val="4D4D4B"/>
                </a:solidFill>
                <a:latin typeface="Arial MT"/>
                <a:cs typeface="Arial MT"/>
              </a:rPr>
              <a:t>deleted</a:t>
            </a:r>
            <a:r>
              <a:rPr sz="2400" spc="10" dirty="0">
                <a:solidFill>
                  <a:srgbClr val="4D4D4B"/>
                </a:solidFill>
                <a:latin typeface="Arial MT"/>
                <a:cs typeface="Arial MT"/>
              </a:rPr>
              <a:t> </a:t>
            </a:r>
            <a:r>
              <a:rPr sz="2400" spc="-5" dirty="0">
                <a:solidFill>
                  <a:srgbClr val="4D4D4B"/>
                </a:solidFill>
                <a:latin typeface="Arial MT"/>
                <a:cs typeface="Arial MT"/>
              </a:rPr>
              <a:t>automatically</a:t>
            </a:r>
            <a:endParaRPr sz="2400">
              <a:latin typeface="Arial MT"/>
              <a:cs typeface="Arial MT"/>
            </a:endParaRPr>
          </a:p>
          <a:p>
            <a:pPr marL="355600" marR="426084" indent="-342900">
              <a:lnSpc>
                <a:spcPct val="100000"/>
              </a:lnSpc>
              <a:spcBef>
                <a:spcPts val="580"/>
              </a:spcBef>
              <a:buChar char="•"/>
              <a:tabLst>
                <a:tab pos="354965" algn="l"/>
                <a:tab pos="355600" algn="l"/>
              </a:tabLst>
            </a:pPr>
            <a:r>
              <a:rPr sz="2400" spc="-5" dirty="0">
                <a:solidFill>
                  <a:srgbClr val="4D4D4B"/>
                </a:solidFill>
                <a:latin typeface="Arial MT"/>
                <a:cs typeface="Arial MT"/>
              </a:rPr>
              <a:t>Retention</a:t>
            </a:r>
            <a:r>
              <a:rPr sz="2400" spc="10" dirty="0">
                <a:solidFill>
                  <a:srgbClr val="4D4D4B"/>
                </a:solidFill>
                <a:latin typeface="Arial MT"/>
                <a:cs typeface="Arial MT"/>
              </a:rPr>
              <a:t> </a:t>
            </a:r>
            <a:r>
              <a:rPr sz="2400" spc="-5" dirty="0">
                <a:solidFill>
                  <a:srgbClr val="4D4D4B"/>
                </a:solidFill>
                <a:latin typeface="Arial MT"/>
                <a:cs typeface="Arial MT"/>
              </a:rPr>
              <a:t>is</a:t>
            </a:r>
            <a:r>
              <a:rPr sz="2400" spc="10" dirty="0">
                <a:solidFill>
                  <a:srgbClr val="4D4D4B"/>
                </a:solidFill>
                <a:latin typeface="Arial MT"/>
                <a:cs typeface="Arial MT"/>
              </a:rPr>
              <a:t> </a:t>
            </a:r>
            <a:r>
              <a:rPr sz="2400" spc="-5" dirty="0">
                <a:solidFill>
                  <a:srgbClr val="4D4D4B"/>
                </a:solidFill>
                <a:latin typeface="Arial MT"/>
                <a:cs typeface="Arial MT"/>
              </a:rPr>
              <a:t>applied</a:t>
            </a:r>
            <a:r>
              <a:rPr sz="2400" spc="35" dirty="0">
                <a:solidFill>
                  <a:srgbClr val="4D4D4B"/>
                </a:solidFill>
                <a:latin typeface="Arial MT"/>
                <a:cs typeface="Arial MT"/>
              </a:rPr>
              <a:t> </a:t>
            </a:r>
            <a:r>
              <a:rPr sz="2400" dirty="0">
                <a:solidFill>
                  <a:srgbClr val="4D4D4B"/>
                </a:solidFill>
                <a:latin typeface="Arial MT"/>
                <a:cs typeface="Arial MT"/>
              </a:rPr>
              <a:t>to</a:t>
            </a:r>
            <a:r>
              <a:rPr sz="2400" spc="-20" dirty="0">
                <a:solidFill>
                  <a:srgbClr val="4D4D4B"/>
                </a:solidFill>
                <a:latin typeface="Arial MT"/>
                <a:cs typeface="Arial MT"/>
              </a:rPr>
              <a:t> </a:t>
            </a:r>
            <a:r>
              <a:rPr sz="2400" spc="-5" dirty="0">
                <a:solidFill>
                  <a:srgbClr val="4D4D4B"/>
                </a:solidFill>
                <a:latin typeface="Arial MT"/>
                <a:cs typeface="Arial MT"/>
              </a:rPr>
              <a:t>a</a:t>
            </a:r>
            <a:r>
              <a:rPr sz="2400" spc="5" dirty="0">
                <a:solidFill>
                  <a:srgbClr val="4D4D4B"/>
                </a:solidFill>
                <a:latin typeface="Arial MT"/>
                <a:cs typeface="Arial MT"/>
              </a:rPr>
              <a:t> </a:t>
            </a:r>
            <a:r>
              <a:rPr sz="2400" spc="-5" dirty="0">
                <a:solidFill>
                  <a:srgbClr val="4D4D4B"/>
                </a:solidFill>
                <a:latin typeface="Arial MT"/>
                <a:cs typeface="Arial MT"/>
              </a:rPr>
              <a:t>Log</a:t>
            </a:r>
            <a:r>
              <a:rPr sz="2400" spc="10" dirty="0">
                <a:solidFill>
                  <a:srgbClr val="4D4D4B"/>
                </a:solidFill>
                <a:latin typeface="Arial MT"/>
                <a:cs typeface="Arial MT"/>
              </a:rPr>
              <a:t> </a:t>
            </a:r>
            <a:r>
              <a:rPr sz="2400" dirty="0">
                <a:solidFill>
                  <a:srgbClr val="4D4D4B"/>
                </a:solidFill>
                <a:latin typeface="Arial MT"/>
                <a:cs typeface="Arial MT"/>
              </a:rPr>
              <a:t>Group</a:t>
            </a:r>
            <a:r>
              <a:rPr sz="2400" spc="-5" dirty="0">
                <a:solidFill>
                  <a:srgbClr val="4D4D4B"/>
                </a:solidFill>
                <a:latin typeface="Arial MT"/>
                <a:cs typeface="Arial MT"/>
              </a:rPr>
              <a:t> </a:t>
            </a:r>
            <a:r>
              <a:rPr sz="2400" spc="-10" dirty="0">
                <a:solidFill>
                  <a:srgbClr val="4D4D4B"/>
                </a:solidFill>
                <a:latin typeface="Arial MT"/>
                <a:cs typeface="Arial MT"/>
              </a:rPr>
              <a:t>which</a:t>
            </a:r>
            <a:r>
              <a:rPr sz="2400" spc="20" dirty="0">
                <a:solidFill>
                  <a:srgbClr val="4D4D4B"/>
                </a:solidFill>
                <a:latin typeface="Arial MT"/>
                <a:cs typeface="Arial MT"/>
              </a:rPr>
              <a:t> </a:t>
            </a:r>
            <a:r>
              <a:rPr sz="2400" spc="-5" dirty="0">
                <a:solidFill>
                  <a:srgbClr val="4D4D4B"/>
                </a:solidFill>
                <a:latin typeface="Arial MT"/>
                <a:cs typeface="Arial MT"/>
              </a:rPr>
              <a:t>is</a:t>
            </a:r>
            <a:r>
              <a:rPr sz="2400" dirty="0">
                <a:solidFill>
                  <a:srgbClr val="4D4D4B"/>
                </a:solidFill>
                <a:latin typeface="Arial MT"/>
                <a:cs typeface="Arial MT"/>
              </a:rPr>
              <a:t> in-turn </a:t>
            </a:r>
            <a:r>
              <a:rPr sz="2400" spc="-650" dirty="0">
                <a:solidFill>
                  <a:srgbClr val="4D4D4B"/>
                </a:solidFill>
                <a:latin typeface="Arial MT"/>
                <a:cs typeface="Arial MT"/>
              </a:rPr>
              <a:t> </a:t>
            </a:r>
            <a:r>
              <a:rPr sz="2400" spc="-5" dirty="0">
                <a:solidFill>
                  <a:srgbClr val="4D4D4B"/>
                </a:solidFill>
                <a:latin typeface="Arial MT"/>
                <a:cs typeface="Arial MT"/>
              </a:rPr>
              <a:t>applied</a:t>
            </a:r>
            <a:r>
              <a:rPr sz="2400" spc="25" dirty="0">
                <a:solidFill>
                  <a:srgbClr val="4D4D4B"/>
                </a:solidFill>
                <a:latin typeface="Arial MT"/>
                <a:cs typeface="Arial MT"/>
              </a:rPr>
              <a:t> </a:t>
            </a:r>
            <a:r>
              <a:rPr sz="2400" dirty="0">
                <a:solidFill>
                  <a:srgbClr val="4D4D4B"/>
                </a:solidFill>
                <a:latin typeface="Arial MT"/>
                <a:cs typeface="Arial MT"/>
              </a:rPr>
              <a:t>to</a:t>
            </a:r>
            <a:r>
              <a:rPr sz="2400" spc="-10" dirty="0">
                <a:solidFill>
                  <a:srgbClr val="4D4D4B"/>
                </a:solidFill>
                <a:latin typeface="Arial MT"/>
                <a:cs typeface="Arial MT"/>
              </a:rPr>
              <a:t> </a:t>
            </a:r>
            <a:r>
              <a:rPr sz="2400" spc="-5" dirty="0">
                <a:solidFill>
                  <a:srgbClr val="4D4D4B"/>
                </a:solidFill>
                <a:latin typeface="Arial MT"/>
                <a:cs typeface="Arial MT"/>
              </a:rPr>
              <a:t>their</a:t>
            </a:r>
            <a:r>
              <a:rPr sz="2400" spc="5" dirty="0">
                <a:solidFill>
                  <a:srgbClr val="4D4D4B"/>
                </a:solidFill>
                <a:latin typeface="Arial MT"/>
                <a:cs typeface="Arial MT"/>
              </a:rPr>
              <a:t> </a:t>
            </a:r>
            <a:r>
              <a:rPr sz="2400" spc="-5" dirty="0">
                <a:solidFill>
                  <a:srgbClr val="4D4D4B"/>
                </a:solidFill>
                <a:latin typeface="Arial MT"/>
                <a:cs typeface="Arial MT"/>
              </a:rPr>
              <a:t>log</a:t>
            </a:r>
            <a:r>
              <a:rPr sz="2400" spc="5" dirty="0">
                <a:solidFill>
                  <a:srgbClr val="4D4D4B"/>
                </a:solidFill>
                <a:latin typeface="Arial MT"/>
                <a:cs typeface="Arial MT"/>
              </a:rPr>
              <a:t> </a:t>
            </a:r>
            <a:r>
              <a:rPr sz="2400" dirty="0">
                <a:solidFill>
                  <a:srgbClr val="4D4D4B"/>
                </a:solidFill>
                <a:latin typeface="Arial MT"/>
                <a:cs typeface="Arial MT"/>
              </a:rPr>
              <a:t>streams</a:t>
            </a:r>
            <a:endParaRPr sz="240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686CE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TotalTime>
  <Words>663</Words>
  <Application>Microsoft Office PowerPoint</Application>
  <PresentationFormat>On-screen Show (16:9)</PresentationFormat>
  <Paragraphs>173</Paragraphs>
  <Slides>19</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MT</vt:lpstr>
      <vt:lpstr>Calibri</vt:lpstr>
      <vt:lpstr>Times New Roman</vt:lpstr>
      <vt:lpstr>Office Theme</vt:lpstr>
      <vt:lpstr>Monitoring</vt:lpstr>
      <vt:lpstr>Monitoring</vt:lpstr>
      <vt:lpstr>CloudWatch</vt:lpstr>
      <vt:lpstr>CloudWatch Alarms</vt:lpstr>
      <vt:lpstr>CloudWatch Log – Consolidate Logs and Monitor</vt:lpstr>
      <vt:lpstr>CloudTrail – Audit Trail of all API Activities</vt:lpstr>
      <vt:lpstr>CloudWatch Logs</vt:lpstr>
      <vt:lpstr>CloudWatch</vt:lpstr>
      <vt:lpstr>Elastic Load Balancer and EC2</vt:lpstr>
      <vt:lpstr>CloudWacth Log Architecture </vt:lpstr>
      <vt:lpstr>CloudWatch Log Architecture</vt:lpstr>
      <vt:lpstr>CloudWatch Log Metric Filter</vt:lpstr>
      <vt:lpstr>CloudWatch Logs</vt:lpstr>
      <vt:lpstr>CloudWatch Terminologies</vt:lpstr>
      <vt:lpstr>Log Events</vt:lpstr>
      <vt:lpstr>Log Stream</vt:lpstr>
      <vt:lpstr>Log Groups</vt:lpstr>
      <vt:lpstr>Metric Filters</vt:lpstr>
      <vt:lpstr>Retention Settings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Christopher Olsen</dc:creator>
  <cp:lastModifiedBy>hp</cp:lastModifiedBy>
  <cp:revision>5</cp:revision>
  <dcterms:created xsi:type="dcterms:W3CDTF">2022-05-28T10:00:08Z</dcterms:created>
  <dcterms:modified xsi:type="dcterms:W3CDTF">2022-05-28T10:30:10Z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2020-02-14T00:00:00Z</vt:filetime>
  </property>
  <property fmtid="{D5CDD505-2E9C-101B-9397-08002B2CF9AE}" pid="3" name="Creator">
    <vt:lpwstr>Microsoft® PowerPoint® for Office 365</vt:lpwstr>
  </property>
  <property fmtid="{D5CDD505-2E9C-101B-9397-08002B2CF9AE}" pid="4" name="LastSaved">
    <vt:filetime>2022-05-28T00:00:00Z</vt:filetime>
  </property>
</Properties>
</file>