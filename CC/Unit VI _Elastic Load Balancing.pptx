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83" r:id="rId3"/>
    <p:sldId id="280" r:id="rId4"/>
    <p:sldId id="285" r:id="rId5"/>
    <p:sldId id="286" r:id="rId6"/>
    <p:sldId id="287" r:id="rId7"/>
    <p:sldId id="281" r:id="rId8"/>
    <p:sldId id="288" r:id="rId9"/>
    <p:sldId id="282" r:id="rId10"/>
    <p:sldId id="289"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90" r:id="rId35"/>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186" autoAdjust="0"/>
  </p:normalViewPr>
  <p:slideViewPr>
    <p:cSldViewPr>
      <p:cViewPr varScale="1">
        <p:scale>
          <a:sx n="45" d="100"/>
          <a:sy n="45" d="100"/>
        </p:scale>
        <p:origin x="29" y="4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F1AF7DA-52A6-433C-8427-1DFF94090F0B}" type="datetimeFigureOut">
              <a:rPr lang="en-IN" smtClean="0"/>
              <a:t>03-06-2022</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2DB92727-40A4-4E42-883A-BDD9FAE60F5D}" type="slidenum">
              <a:rPr lang="en-IN" smtClean="0"/>
              <a:t>‹#›</a:t>
            </a:fld>
            <a:endParaRPr lang="en-IN"/>
          </a:p>
        </p:txBody>
      </p:sp>
    </p:spTree>
    <p:extLst>
      <p:ext uri="{BB962C8B-B14F-4D97-AF65-F5344CB8AC3E}">
        <p14:creationId xmlns:p14="http://schemas.microsoft.com/office/powerpoint/2010/main" val="1705035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B92727-40A4-4E42-883A-BDD9FAE60F5D}" type="slidenum">
              <a:rPr lang="en-IN" smtClean="0"/>
              <a:t>11</a:t>
            </a:fld>
            <a:endParaRPr lang="en-IN"/>
          </a:p>
        </p:txBody>
      </p:sp>
    </p:spTree>
    <p:extLst>
      <p:ext uri="{BB962C8B-B14F-4D97-AF65-F5344CB8AC3E}">
        <p14:creationId xmlns:p14="http://schemas.microsoft.com/office/powerpoint/2010/main" val="522058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balancer continues the heath </a:t>
            </a:r>
            <a:r>
              <a:rPr lang="en-US" dirty="0" err="1"/>
              <a:t>chk</a:t>
            </a:r>
            <a:r>
              <a:rPr lang="en-US" dirty="0"/>
              <a:t> </a:t>
            </a:r>
            <a:endParaRPr lang="en-IN" dirty="0"/>
          </a:p>
        </p:txBody>
      </p:sp>
      <p:sp>
        <p:nvSpPr>
          <p:cNvPr id="4" name="Slide Number Placeholder 3"/>
          <p:cNvSpPr>
            <a:spLocks noGrp="1"/>
          </p:cNvSpPr>
          <p:nvPr>
            <p:ph type="sldNum" sz="quarter" idx="5"/>
          </p:nvPr>
        </p:nvSpPr>
        <p:spPr/>
        <p:txBody>
          <a:bodyPr/>
          <a:lstStyle/>
          <a:p>
            <a:fld id="{2DB92727-40A4-4E42-883A-BDD9FAE60F5D}" type="slidenum">
              <a:rPr lang="en-IN" smtClean="0"/>
              <a:t>12</a:t>
            </a:fld>
            <a:endParaRPr lang="en-IN"/>
          </a:p>
        </p:txBody>
      </p:sp>
    </p:spTree>
    <p:extLst>
      <p:ext uri="{BB962C8B-B14F-4D97-AF65-F5344CB8AC3E}">
        <p14:creationId xmlns:p14="http://schemas.microsoft.com/office/powerpoint/2010/main" val="2344567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ELB needs to be in Public Subnet </a:t>
            </a:r>
            <a:endParaRPr lang="en-IN" dirty="0"/>
          </a:p>
        </p:txBody>
      </p:sp>
      <p:sp>
        <p:nvSpPr>
          <p:cNvPr id="4" name="Slide Number Placeholder 3"/>
          <p:cNvSpPr>
            <a:spLocks noGrp="1"/>
          </p:cNvSpPr>
          <p:nvPr>
            <p:ph type="sldNum" sz="quarter" idx="5"/>
          </p:nvPr>
        </p:nvSpPr>
        <p:spPr/>
        <p:txBody>
          <a:bodyPr/>
          <a:lstStyle/>
          <a:p>
            <a:fld id="{2DB92727-40A4-4E42-883A-BDD9FAE60F5D}" type="slidenum">
              <a:rPr lang="en-IN" smtClean="0"/>
              <a:t>14</a:t>
            </a:fld>
            <a:endParaRPr lang="en-IN"/>
          </a:p>
        </p:txBody>
      </p:sp>
    </p:spTree>
    <p:extLst>
      <p:ext uri="{BB962C8B-B14F-4D97-AF65-F5344CB8AC3E}">
        <p14:creationId xmlns:p14="http://schemas.microsoft.com/office/powerpoint/2010/main" val="1034689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Cognito :  user authentication functionality through Amazon trough social accounts </a:t>
            </a:r>
            <a:endParaRPr lang="en-IN" dirty="0"/>
          </a:p>
        </p:txBody>
      </p:sp>
      <p:sp>
        <p:nvSpPr>
          <p:cNvPr id="4" name="Slide Number Placeholder 3"/>
          <p:cNvSpPr>
            <a:spLocks noGrp="1"/>
          </p:cNvSpPr>
          <p:nvPr>
            <p:ph type="sldNum" sz="quarter" idx="5"/>
          </p:nvPr>
        </p:nvSpPr>
        <p:spPr/>
        <p:txBody>
          <a:bodyPr/>
          <a:lstStyle/>
          <a:p>
            <a:fld id="{2DB92727-40A4-4E42-883A-BDD9FAE60F5D}" type="slidenum">
              <a:rPr lang="en-IN" smtClean="0"/>
              <a:t>16</a:t>
            </a:fld>
            <a:endParaRPr lang="en-IN"/>
          </a:p>
        </p:txBody>
      </p:sp>
    </p:spTree>
    <p:extLst>
      <p:ext uri="{BB962C8B-B14F-4D97-AF65-F5344CB8AC3E}">
        <p14:creationId xmlns:p14="http://schemas.microsoft.com/office/powerpoint/2010/main" val="1616100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 performance of the application .</a:t>
            </a:r>
          </a:p>
          <a:p>
            <a:endParaRPr lang="en-IN" dirty="0"/>
          </a:p>
        </p:txBody>
      </p:sp>
      <p:sp>
        <p:nvSpPr>
          <p:cNvPr id="4" name="Slide Number Placeholder 3"/>
          <p:cNvSpPr>
            <a:spLocks noGrp="1"/>
          </p:cNvSpPr>
          <p:nvPr>
            <p:ph type="sldNum" sz="quarter" idx="5"/>
          </p:nvPr>
        </p:nvSpPr>
        <p:spPr/>
        <p:txBody>
          <a:bodyPr/>
          <a:lstStyle/>
          <a:p>
            <a:fld id="{2DB92727-40A4-4E42-883A-BDD9FAE60F5D}" type="slidenum">
              <a:rPr lang="en-IN" smtClean="0"/>
              <a:t>17</a:t>
            </a:fld>
            <a:endParaRPr lang="en-IN"/>
          </a:p>
        </p:txBody>
      </p:sp>
    </p:spTree>
    <p:extLst>
      <p:ext uri="{BB962C8B-B14F-4D97-AF65-F5344CB8AC3E}">
        <p14:creationId xmlns:p14="http://schemas.microsoft.com/office/powerpoint/2010/main" val="59338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B92727-40A4-4E42-883A-BDD9FAE60F5D}" type="slidenum">
              <a:rPr lang="en-IN" smtClean="0"/>
              <a:t>19</a:t>
            </a:fld>
            <a:endParaRPr lang="en-IN"/>
          </a:p>
        </p:txBody>
      </p:sp>
    </p:spTree>
    <p:extLst>
      <p:ext uri="{BB962C8B-B14F-4D97-AF65-F5344CB8AC3E}">
        <p14:creationId xmlns:p14="http://schemas.microsoft.com/office/powerpoint/2010/main" val="3960308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load balancer , Basic  Load balancer, </a:t>
            </a:r>
            <a:endParaRPr lang="en-IN" dirty="0"/>
          </a:p>
        </p:txBody>
      </p:sp>
      <p:sp>
        <p:nvSpPr>
          <p:cNvPr id="4" name="Slide Number Placeholder 3"/>
          <p:cNvSpPr>
            <a:spLocks noGrp="1"/>
          </p:cNvSpPr>
          <p:nvPr>
            <p:ph type="sldNum" sz="quarter" idx="5"/>
          </p:nvPr>
        </p:nvSpPr>
        <p:spPr/>
        <p:txBody>
          <a:bodyPr/>
          <a:lstStyle/>
          <a:p>
            <a:fld id="{2DB92727-40A4-4E42-883A-BDD9FAE60F5D}" type="slidenum">
              <a:rPr lang="en-IN" smtClean="0"/>
              <a:t>21</a:t>
            </a:fld>
            <a:endParaRPr lang="en-IN"/>
          </a:p>
        </p:txBody>
      </p:sp>
    </p:spTree>
    <p:extLst>
      <p:ext uri="{BB962C8B-B14F-4D97-AF65-F5344CB8AC3E}">
        <p14:creationId xmlns:p14="http://schemas.microsoft.com/office/powerpoint/2010/main" val="1720073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7 traffic </a:t>
            </a:r>
            <a:endParaRPr lang="en-IN" dirty="0"/>
          </a:p>
        </p:txBody>
      </p:sp>
      <p:sp>
        <p:nvSpPr>
          <p:cNvPr id="4" name="Slide Number Placeholder 3"/>
          <p:cNvSpPr>
            <a:spLocks noGrp="1"/>
          </p:cNvSpPr>
          <p:nvPr>
            <p:ph type="sldNum" sz="quarter" idx="5"/>
          </p:nvPr>
        </p:nvSpPr>
        <p:spPr/>
        <p:txBody>
          <a:bodyPr/>
          <a:lstStyle/>
          <a:p>
            <a:fld id="{2DB92727-40A4-4E42-883A-BDD9FAE60F5D}" type="slidenum">
              <a:rPr lang="en-IN" smtClean="0"/>
              <a:t>22</a:t>
            </a:fld>
            <a:endParaRPr lang="en-IN"/>
          </a:p>
        </p:txBody>
      </p:sp>
    </p:spTree>
    <p:extLst>
      <p:ext uri="{BB962C8B-B14F-4D97-AF65-F5344CB8AC3E}">
        <p14:creationId xmlns:p14="http://schemas.microsoft.com/office/powerpoint/2010/main" val="5672668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and UDP Traffic </a:t>
            </a:r>
            <a:r>
              <a:rPr lang="en-US" dirty="0" err="1"/>
              <a:t>i.e</a:t>
            </a:r>
            <a:r>
              <a:rPr lang="en-US" dirty="0"/>
              <a:t> Layer 4</a:t>
            </a:r>
            <a:endParaRPr lang="en-IN" dirty="0"/>
          </a:p>
        </p:txBody>
      </p:sp>
      <p:sp>
        <p:nvSpPr>
          <p:cNvPr id="4" name="Slide Number Placeholder 3"/>
          <p:cNvSpPr>
            <a:spLocks noGrp="1"/>
          </p:cNvSpPr>
          <p:nvPr>
            <p:ph type="sldNum" sz="quarter" idx="5"/>
          </p:nvPr>
        </p:nvSpPr>
        <p:spPr/>
        <p:txBody>
          <a:bodyPr/>
          <a:lstStyle/>
          <a:p>
            <a:fld id="{2DB92727-40A4-4E42-883A-BDD9FAE60F5D}" type="slidenum">
              <a:rPr lang="en-IN" smtClean="0"/>
              <a:t>26</a:t>
            </a:fld>
            <a:endParaRPr lang="en-IN"/>
          </a:p>
        </p:txBody>
      </p:sp>
    </p:spTree>
    <p:extLst>
      <p:ext uri="{BB962C8B-B14F-4D97-AF65-F5344CB8AC3E}">
        <p14:creationId xmlns:p14="http://schemas.microsoft.com/office/powerpoint/2010/main" val="1039528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B92727-40A4-4E42-883A-BDD9FAE60F5D}" type="slidenum">
              <a:rPr lang="en-IN" smtClean="0"/>
              <a:t>28</a:t>
            </a:fld>
            <a:endParaRPr lang="en-IN"/>
          </a:p>
        </p:txBody>
      </p:sp>
    </p:spTree>
    <p:extLst>
      <p:ext uri="{BB962C8B-B14F-4D97-AF65-F5344CB8AC3E}">
        <p14:creationId xmlns:p14="http://schemas.microsoft.com/office/powerpoint/2010/main" val="1295800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75284" y="2103881"/>
            <a:ext cx="8193430" cy="63500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u="heavy">
                <a:solidFill>
                  <a:srgbClr val="686CEA"/>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rgbClr val="464646"/>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u="heavy">
                <a:solidFill>
                  <a:srgbClr val="686CEA"/>
                </a:solidFill>
                <a:latin typeface="Arial"/>
                <a:cs typeface="Arial"/>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u="heavy">
                <a:solidFill>
                  <a:srgbClr val="686CEA"/>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6/3/2022</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6/3/2022</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15544" y="139065"/>
            <a:ext cx="8312911" cy="452120"/>
          </a:xfrm>
          <a:prstGeom prst="rect">
            <a:avLst/>
          </a:prstGeom>
        </p:spPr>
        <p:txBody>
          <a:bodyPr wrap="square" lIns="0" tIns="0" rIns="0" bIns="0">
            <a:spAutoFit/>
          </a:bodyPr>
          <a:lstStyle>
            <a:lvl1pPr>
              <a:defRPr sz="2800" b="1" i="0" u="heavy">
                <a:solidFill>
                  <a:srgbClr val="686CEA"/>
                </a:solidFill>
                <a:latin typeface="Arial"/>
                <a:cs typeface="Arial"/>
              </a:defRPr>
            </a:lvl1pPr>
          </a:lstStyle>
          <a:p>
            <a:endParaRPr/>
          </a:p>
        </p:txBody>
      </p:sp>
      <p:sp>
        <p:nvSpPr>
          <p:cNvPr id="3" name="Holder 3"/>
          <p:cNvSpPr>
            <a:spLocks noGrp="1"/>
          </p:cNvSpPr>
          <p:nvPr>
            <p:ph type="body" idx="1"/>
          </p:nvPr>
        </p:nvSpPr>
        <p:spPr>
          <a:xfrm>
            <a:off x="337058" y="1510410"/>
            <a:ext cx="8469883" cy="3044190"/>
          </a:xfrm>
          <a:prstGeom prst="rect">
            <a:avLst/>
          </a:prstGeom>
        </p:spPr>
        <p:txBody>
          <a:bodyPr wrap="square" lIns="0" tIns="0" rIns="0" bIns="0">
            <a:spAutoFit/>
          </a:bodyPr>
          <a:lstStyle>
            <a:lvl1pPr>
              <a:defRPr sz="1800" b="0" i="0">
                <a:solidFill>
                  <a:srgbClr val="464646"/>
                </a:solidFill>
                <a:latin typeface="Arial MT"/>
                <a:cs typeface="Arial MT"/>
              </a:defRPr>
            </a:lvl1pPr>
          </a:lstStyle>
          <a:p>
            <a:endParaRPr/>
          </a:p>
        </p:txBody>
      </p:sp>
      <p:sp>
        <p:nvSpPr>
          <p:cNvPr id="4" name="Holder 4"/>
          <p:cNvSpPr>
            <a:spLocks noGrp="1"/>
          </p:cNvSpPr>
          <p:nvPr>
            <p:ph type="ftr" sz="quarter" idx="5"/>
          </p:nvPr>
        </p:nvSpPr>
        <p:spPr>
          <a:xfrm>
            <a:off x="3123438" y="4961859"/>
            <a:ext cx="2896235" cy="139700"/>
          </a:xfrm>
          <a:prstGeom prst="rect">
            <a:avLst/>
          </a:prstGeom>
        </p:spPr>
        <p:txBody>
          <a:bodyPr wrap="square" lIns="0" tIns="0" rIns="0" bIns="0">
            <a:spAutoFit/>
          </a:bodyPr>
          <a:lstStyle>
            <a:lvl1pPr>
              <a:defRPr sz="800" b="0" i="0">
                <a:solidFill>
                  <a:srgbClr val="464646"/>
                </a:solidFill>
                <a:latin typeface="Arial MT"/>
                <a:cs typeface="Arial MT"/>
              </a:defRPr>
            </a:lvl1p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6/3/2022</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2.png"/><Relationship Id="rId5" Type="http://schemas.openxmlformats.org/officeDocument/2006/relationships/image" Target="../media/image37.png"/><Relationship Id="rId10" Type="http://schemas.openxmlformats.org/officeDocument/2006/relationships/image" Target="../media/image41.png"/><Relationship Id="rId4" Type="http://schemas.openxmlformats.org/officeDocument/2006/relationships/image" Target="../media/image36.png"/><Relationship Id="rId9" Type="http://schemas.openxmlformats.org/officeDocument/2006/relationships/image" Target="../media/image40.png"/></Relationships>
</file>

<file path=ppt/slides/_rels/slide31.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38.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10" Type="http://schemas.openxmlformats.org/officeDocument/2006/relationships/image" Target="../media/image48.png"/><Relationship Id="rId4" Type="http://schemas.openxmlformats.org/officeDocument/2006/relationships/image" Target="../media/image39.png"/><Relationship Id="rId9" Type="http://schemas.openxmlformats.org/officeDocument/2006/relationships/image" Target="../media/image47.png"/><Relationship Id="rId14" Type="http://schemas.openxmlformats.org/officeDocument/2006/relationships/image" Target="../media/image52.png"/></Relationships>
</file>

<file path=ppt/slides/_rels/slide32.xml.rels><?xml version="1.0" encoding="UTF-8" standalone="yes"?>
<Relationships xmlns="http://schemas.openxmlformats.org/package/2006/relationships"><Relationship Id="rId2" Type="http://schemas.openxmlformats.org/officeDocument/2006/relationships/hyperlink" Target="https://docs.aws.amazon.com/elasticloadbalancing/latest/application/load-balancer-access-logs.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5284" y="1776222"/>
            <a:ext cx="5582920" cy="635000"/>
          </a:xfrm>
          <a:prstGeom prst="rect">
            <a:avLst/>
          </a:prstGeom>
        </p:spPr>
        <p:txBody>
          <a:bodyPr vert="horz" wrap="square" lIns="0" tIns="12065" rIns="0" bIns="0" rtlCol="0">
            <a:spAutoFit/>
          </a:bodyPr>
          <a:lstStyle/>
          <a:p>
            <a:pPr marL="12700">
              <a:lnSpc>
                <a:spcPct val="100000"/>
              </a:lnSpc>
              <a:spcBef>
                <a:spcPts val="95"/>
              </a:spcBef>
            </a:pPr>
            <a:r>
              <a:rPr sz="4000" u="none" spc="-5" dirty="0">
                <a:solidFill>
                  <a:srgbClr val="4D4D4B"/>
                </a:solidFill>
              </a:rPr>
              <a:t>Elastic </a:t>
            </a:r>
            <a:r>
              <a:rPr sz="4000" u="none" spc="-10" dirty="0">
                <a:solidFill>
                  <a:srgbClr val="4D4D4B"/>
                </a:solidFill>
              </a:rPr>
              <a:t>Load</a:t>
            </a:r>
            <a:r>
              <a:rPr sz="4000" u="none" spc="-20" dirty="0">
                <a:solidFill>
                  <a:srgbClr val="4D4D4B"/>
                </a:solidFill>
              </a:rPr>
              <a:t> </a:t>
            </a:r>
            <a:r>
              <a:rPr sz="4000" u="none" spc="-5" dirty="0">
                <a:solidFill>
                  <a:srgbClr val="4D4D4B"/>
                </a:solidFill>
              </a:rPr>
              <a:t>Balancing</a:t>
            </a:r>
            <a:endParaRPr sz="4000"/>
          </a:p>
        </p:txBody>
      </p:sp>
      <p:sp>
        <p:nvSpPr>
          <p:cNvPr id="3" name="object 3"/>
          <p:cNvSpPr txBox="1"/>
          <p:nvPr/>
        </p:nvSpPr>
        <p:spPr>
          <a:xfrm>
            <a:off x="475284" y="2597607"/>
            <a:ext cx="3940810" cy="39179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4D4D4B"/>
                </a:solidFill>
                <a:latin typeface="Arial MT"/>
                <a:cs typeface="Arial MT"/>
              </a:rPr>
              <a:t>Classic,</a:t>
            </a:r>
            <a:r>
              <a:rPr sz="2400" spc="-125" dirty="0">
                <a:solidFill>
                  <a:srgbClr val="4D4D4B"/>
                </a:solidFill>
                <a:latin typeface="Arial MT"/>
                <a:cs typeface="Arial MT"/>
              </a:rPr>
              <a:t> </a:t>
            </a:r>
            <a:r>
              <a:rPr sz="2400" spc="-5" dirty="0">
                <a:solidFill>
                  <a:srgbClr val="4D4D4B"/>
                </a:solidFill>
                <a:latin typeface="Arial MT"/>
                <a:cs typeface="Arial MT"/>
              </a:rPr>
              <a:t>Application,</a:t>
            </a:r>
            <a:r>
              <a:rPr sz="2400" spc="30" dirty="0">
                <a:solidFill>
                  <a:srgbClr val="4D4D4B"/>
                </a:solidFill>
                <a:latin typeface="Arial MT"/>
                <a:cs typeface="Arial MT"/>
              </a:rPr>
              <a:t> </a:t>
            </a:r>
            <a:r>
              <a:rPr sz="2400" spc="-5" dirty="0">
                <a:solidFill>
                  <a:srgbClr val="4D4D4B"/>
                </a:solidFill>
                <a:latin typeface="Arial MT"/>
                <a:cs typeface="Arial MT"/>
              </a:rPr>
              <a:t>Network</a:t>
            </a:r>
            <a:endParaRPr sz="240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9CC06-7BF6-2CD6-ECA7-F887A4A1695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9B562D4-D26D-8421-7CD5-5997EEF6D293}"/>
              </a:ext>
            </a:extLst>
          </p:cNvPr>
          <p:cNvSpPr>
            <a:spLocks noGrp="1"/>
          </p:cNvSpPr>
          <p:nvPr>
            <p:ph type="body" idx="1"/>
          </p:nvPr>
        </p:nvSpPr>
        <p:spPr>
          <a:xfrm>
            <a:off x="337058" y="1510410"/>
            <a:ext cx="8469883" cy="830997"/>
          </a:xfrm>
        </p:spPr>
        <p:txBody>
          <a:bodyPr/>
          <a:lstStyle/>
          <a:p>
            <a:r>
              <a:rPr lang="en-US" dirty="0"/>
              <a:t>Elastic Load Balancing (ELB) automatically distributes incoming application traffic across multiple targets and virtual appliances in one or more Availability Zones (AZs).</a:t>
            </a:r>
            <a:endParaRPr lang="en-IN" dirty="0"/>
          </a:p>
        </p:txBody>
      </p:sp>
    </p:spTree>
    <p:extLst>
      <p:ext uri="{BB962C8B-B14F-4D97-AF65-F5344CB8AC3E}">
        <p14:creationId xmlns:p14="http://schemas.microsoft.com/office/powerpoint/2010/main" val="541494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duct-Page-Diagram_Elastic-Load-Balancing_ALB_HIW@2x">
            <a:extLst>
              <a:ext uri="{FF2B5EF4-FFF2-40B4-BE49-F238E27FC236}">
                <a16:creationId xmlns:a16="http://schemas.microsoft.com/office/drawing/2014/main" id="{EC0BECE6-2CDB-AC1E-6E5D-37B6DACCF2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0"/>
            <a:ext cx="8610600" cy="461803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91D289E-0C91-515C-23F5-DF88BC2FAF38}"/>
              </a:ext>
            </a:extLst>
          </p:cNvPr>
          <p:cNvSpPr txBox="1"/>
          <p:nvPr/>
        </p:nvSpPr>
        <p:spPr>
          <a:xfrm>
            <a:off x="2743200" y="4705350"/>
            <a:ext cx="3657600" cy="369332"/>
          </a:xfrm>
          <a:prstGeom prst="rect">
            <a:avLst/>
          </a:prstGeom>
          <a:noFill/>
        </p:spPr>
        <p:txBody>
          <a:bodyPr wrap="square" rtlCol="0">
            <a:spAutoFit/>
          </a:bodyPr>
          <a:lstStyle/>
          <a:p>
            <a:r>
              <a:rPr lang="en-US" dirty="0"/>
              <a:t>Application Load Balancer</a:t>
            </a:r>
            <a:endParaRPr lang="en-IN" dirty="0"/>
          </a:p>
        </p:txBody>
      </p:sp>
    </p:spTree>
    <p:extLst>
      <p:ext uri="{BB962C8B-B14F-4D97-AF65-F5344CB8AC3E}">
        <p14:creationId xmlns:p14="http://schemas.microsoft.com/office/powerpoint/2010/main" val="3651851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9CC06-7BF6-2CD6-ECA7-F887A4A1695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9B562D4-D26D-8421-7CD5-5997EEF6D293}"/>
              </a:ext>
            </a:extLst>
          </p:cNvPr>
          <p:cNvSpPr>
            <a:spLocks noGrp="1"/>
          </p:cNvSpPr>
          <p:nvPr>
            <p:ph type="body" idx="1"/>
          </p:nvPr>
        </p:nvSpPr>
        <p:spPr>
          <a:xfrm>
            <a:off x="337058" y="1510410"/>
            <a:ext cx="8469883" cy="2492990"/>
          </a:xfrm>
        </p:spPr>
        <p:txBody>
          <a:bodyPr/>
          <a:lstStyle/>
          <a:p>
            <a:r>
              <a:rPr lang="en-US" dirty="0"/>
              <a:t>Application Load Balancer operates at the request level (layer 7), routing traffic to targets (EC2 instances, containers, IP addresses, and Lambda functions) based on the content of the request. Ideal for advanced load balancing of HTTP and HTTPS traffic, Application Load Balancer provides advanced request routing targeted at delivery of modern application architectures, including microservices and container-based applications. Application Load Balancer simplifies and improves the security of your application, by ensuring that the latest SSL/TLS ciphers and protocols are used at all times.</a:t>
            </a:r>
          </a:p>
          <a:p>
            <a:endParaRPr lang="en-IN" dirty="0"/>
          </a:p>
        </p:txBody>
      </p:sp>
    </p:spTree>
    <p:extLst>
      <p:ext uri="{BB962C8B-B14F-4D97-AF65-F5344CB8AC3E}">
        <p14:creationId xmlns:p14="http://schemas.microsoft.com/office/powerpoint/2010/main" val="3319941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3EB85-7B00-766A-9F64-473250C26831}"/>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73A7637-216E-9306-8456-5A3F070D6E34}"/>
              </a:ext>
            </a:extLst>
          </p:cNvPr>
          <p:cNvSpPr>
            <a:spLocks noGrp="1"/>
          </p:cNvSpPr>
          <p:nvPr>
            <p:ph type="body" idx="1"/>
          </p:nvPr>
        </p:nvSpPr>
        <p:spPr>
          <a:xfrm>
            <a:off x="337058" y="1510410"/>
            <a:ext cx="8469883" cy="5539978"/>
          </a:xfrm>
        </p:spPr>
        <p:txBody>
          <a:bodyPr/>
          <a:lstStyle/>
          <a:p>
            <a:r>
              <a:rPr lang="en-US" dirty="0"/>
              <a:t>Features</a:t>
            </a:r>
          </a:p>
          <a:p>
            <a:r>
              <a:rPr lang="en-US" dirty="0"/>
              <a:t>Layer-7 Load Balancing</a:t>
            </a:r>
          </a:p>
          <a:p>
            <a:r>
              <a:rPr lang="en-US" dirty="0"/>
              <a:t>You can load balance HTTP/HTTPS traffic to targets - Amazon EC2 instances, microservices, and containers based on request attributes (such as X-Forwarded-For headers).</a:t>
            </a:r>
          </a:p>
          <a:p>
            <a:endParaRPr lang="en-US" dirty="0"/>
          </a:p>
          <a:p>
            <a:r>
              <a:rPr lang="en-US" dirty="0"/>
              <a:t>Security Features</a:t>
            </a:r>
          </a:p>
          <a:p>
            <a:r>
              <a:rPr lang="en-US" dirty="0"/>
              <a:t>When using Amazon Virtual Private Cloud (VPC), you can create and manage security groups associated with Elastic Load Balancing to provide additional networking and security options. You can configure an Application Load Balancer to be Internet facing or create a load balancer without public IP addresses to serve as an internal (non-internet-facing) load balancer.</a:t>
            </a:r>
          </a:p>
          <a:p>
            <a:endParaRPr lang="en-US" dirty="0"/>
          </a:p>
          <a:p>
            <a:r>
              <a:rPr lang="en-US" dirty="0"/>
              <a:t>ALB supports implementation of Desync protections based on the </a:t>
            </a:r>
            <a:r>
              <a:rPr lang="en-US" dirty="0" err="1"/>
              <a:t>http_desync_guardian</a:t>
            </a:r>
            <a:r>
              <a:rPr lang="en-US" dirty="0"/>
              <a:t> library With this new feature customer applications are protected from HTTP vulnerabilities due to Desync without making major compromises on availability and/or latency. Customers also have the capability to choose their level of tolerance to suspicious requests based on their application architecture.</a:t>
            </a:r>
          </a:p>
          <a:p>
            <a:endParaRPr lang="en-US" dirty="0"/>
          </a:p>
        </p:txBody>
      </p:sp>
    </p:spTree>
    <p:extLst>
      <p:ext uri="{BB962C8B-B14F-4D97-AF65-F5344CB8AC3E}">
        <p14:creationId xmlns:p14="http://schemas.microsoft.com/office/powerpoint/2010/main" val="2789917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40272-452B-C19E-3085-590EB6547E3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1979086-D067-CAA3-56AE-5F95FDF32176}"/>
              </a:ext>
            </a:extLst>
          </p:cNvPr>
          <p:cNvSpPr>
            <a:spLocks noGrp="1"/>
          </p:cNvSpPr>
          <p:nvPr>
            <p:ph type="body" idx="1"/>
          </p:nvPr>
        </p:nvSpPr>
        <p:spPr/>
        <p:txBody>
          <a:bodyPr/>
          <a:lstStyle/>
          <a:p>
            <a:r>
              <a:rPr lang="en-US" dirty="0"/>
              <a:t>Outposts Support</a:t>
            </a:r>
          </a:p>
          <a:p>
            <a:r>
              <a:rPr lang="en-US" dirty="0"/>
              <a:t>Application Load Balancer (ALB) supports AWS Outposts, a fully managed service that extends AWS infrastructure, services, and tools to virtually any datacenter, co-location space, or on-premises facility for a truly consistent hybrid experience. Customers can provision ALBs on supported instance types and the ALB will auto scale up to the capacity available on the rack to meet varying levels of application load without manual intervention. Customers can also get notifications to help them navigate their load balancing related capacity needs. Customers can use the same AWS Console, APIs, and CLI to provision and manage ALBs on Outposts as they do today with ALBs in the Region.</a:t>
            </a:r>
            <a:endParaRPr lang="en-IN" dirty="0"/>
          </a:p>
          <a:p>
            <a:endParaRPr lang="en-IN" dirty="0"/>
          </a:p>
        </p:txBody>
      </p:sp>
    </p:spTree>
    <p:extLst>
      <p:ext uri="{BB962C8B-B14F-4D97-AF65-F5344CB8AC3E}">
        <p14:creationId xmlns:p14="http://schemas.microsoft.com/office/powerpoint/2010/main" val="1374983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4EB1B8-4891-B1FF-4877-9EAD23DB6F01}"/>
              </a:ext>
            </a:extLst>
          </p:cNvPr>
          <p:cNvPicPr>
            <a:picLocks noChangeAspect="1"/>
          </p:cNvPicPr>
          <p:nvPr/>
        </p:nvPicPr>
        <p:blipFill>
          <a:blip r:embed="rId2"/>
          <a:stretch>
            <a:fillRect/>
          </a:stretch>
        </p:blipFill>
        <p:spPr>
          <a:xfrm>
            <a:off x="0" y="429109"/>
            <a:ext cx="9144000" cy="4285281"/>
          </a:xfrm>
          <a:prstGeom prst="rect">
            <a:avLst/>
          </a:prstGeom>
        </p:spPr>
      </p:pic>
      <p:sp>
        <p:nvSpPr>
          <p:cNvPr id="3" name="TextBox 2">
            <a:extLst>
              <a:ext uri="{FF2B5EF4-FFF2-40B4-BE49-F238E27FC236}">
                <a16:creationId xmlns:a16="http://schemas.microsoft.com/office/drawing/2014/main" id="{62834E5E-2737-B236-EB67-A7383D22BD38}"/>
              </a:ext>
            </a:extLst>
          </p:cNvPr>
          <p:cNvSpPr txBox="1"/>
          <p:nvPr/>
        </p:nvSpPr>
        <p:spPr>
          <a:xfrm>
            <a:off x="2705100" y="4529724"/>
            <a:ext cx="3733800" cy="369332"/>
          </a:xfrm>
          <a:prstGeom prst="rect">
            <a:avLst/>
          </a:prstGeom>
          <a:noFill/>
        </p:spPr>
        <p:txBody>
          <a:bodyPr wrap="square" rtlCol="0">
            <a:spAutoFit/>
          </a:bodyPr>
          <a:lstStyle/>
          <a:p>
            <a:r>
              <a:rPr lang="en-US" dirty="0"/>
              <a:t>Gateway Load Balancer </a:t>
            </a:r>
            <a:endParaRPr lang="en-IN" dirty="0"/>
          </a:p>
        </p:txBody>
      </p:sp>
    </p:spTree>
    <p:extLst>
      <p:ext uri="{BB962C8B-B14F-4D97-AF65-F5344CB8AC3E}">
        <p14:creationId xmlns:p14="http://schemas.microsoft.com/office/powerpoint/2010/main" val="1851069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C612C-E47B-3561-9280-69136BA0053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685D93E7-BE20-C930-4DA8-A2E69494EB2B}"/>
              </a:ext>
            </a:extLst>
          </p:cNvPr>
          <p:cNvSpPr>
            <a:spLocks noGrp="1"/>
          </p:cNvSpPr>
          <p:nvPr>
            <p:ph type="body" idx="1"/>
          </p:nvPr>
        </p:nvSpPr>
        <p:spPr>
          <a:xfrm>
            <a:off x="337058" y="1510410"/>
            <a:ext cx="8469883" cy="2492990"/>
          </a:xfrm>
        </p:spPr>
        <p:txBody>
          <a:bodyPr/>
          <a:lstStyle/>
          <a:p>
            <a:r>
              <a:rPr lang="en-US" dirty="0"/>
              <a:t>Network Load Balancer operates at the connection level (Layer 4), routing connections to targets (Amazon EC2 instances, microservices, and containers) within Amazon VPC, based on IP protocol data. Ideal for load balancing of both TCP and UDP traffic, Network Load Balancer is capable of handling millions of requests per second while maintaining ultra-low latencies. Network Load Balancer is optimized to handle sudden and volatile traffic patterns while using a single static IP address per Availability Zone. It is integrated with other popular AWS services such as Auto Scaling, Amazon EC2 Container Service (ECS), Amazon CloudFormation, and AWS Certificate Manager (ACM).</a:t>
            </a:r>
            <a:endParaRPr lang="en-IN" dirty="0"/>
          </a:p>
        </p:txBody>
      </p:sp>
    </p:spTree>
    <p:extLst>
      <p:ext uri="{BB962C8B-B14F-4D97-AF65-F5344CB8AC3E}">
        <p14:creationId xmlns:p14="http://schemas.microsoft.com/office/powerpoint/2010/main" val="2965681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roduct-Page-Diagram_Elastic-Load-Balancing_NLB_HIW@2x">
            <a:extLst>
              <a:ext uri="{FF2B5EF4-FFF2-40B4-BE49-F238E27FC236}">
                <a16:creationId xmlns:a16="http://schemas.microsoft.com/office/drawing/2014/main" id="{A6B17964-D17F-54AB-4F7A-B90421F0A2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355600"/>
            <a:ext cx="9144000" cy="39687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8CB6A88-8491-2A0F-63A6-9202C0813E1B}"/>
              </a:ext>
            </a:extLst>
          </p:cNvPr>
          <p:cNvSpPr txBox="1"/>
          <p:nvPr/>
        </p:nvSpPr>
        <p:spPr>
          <a:xfrm>
            <a:off x="2819400" y="4476750"/>
            <a:ext cx="2819400" cy="369332"/>
          </a:xfrm>
          <a:prstGeom prst="rect">
            <a:avLst/>
          </a:prstGeom>
          <a:noFill/>
        </p:spPr>
        <p:txBody>
          <a:bodyPr wrap="square" rtlCol="0">
            <a:spAutoFit/>
          </a:bodyPr>
          <a:lstStyle/>
          <a:p>
            <a:r>
              <a:rPr lang="en-US" dirty="0"/>
              <a:t>Network Load Balancer</a:t>
            </a:r>
            <a:endParaRPr lang="en-IN" dirty="0"/>
          </a:p>
        </p:txBody>
      </p:sp>
    </p:spTree>
    <p:extLst>
      <p:ext uri="{BB962C8B-B14F-4D97-AF65-F5344CB8AC3E}">
        <p14:creationId xmlns:p14="http://schemas.microsoft.com/office/powerpoint/2010/main" val="2333402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A1A25-102C-2DDF-9869-5E53B0196E4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1D42886-C3AF-3740-BF29-54D0E7F9B172}"/>
              </a:ext>
            </a:extLst>
          </p:cNvPr>
          <p:cNvSpPr>
            <a:spLocks noGrp="1"/>
          </p:cNvSpPr>
          <p:nvPr>
            <p:ph type="body" idx="1"/>
          </p:nvPr>
        </p:nvSpPr>
        <p:spPr>
          <a:xfrm>
            <a:off x="337058" y="1510410"/>
            <a:ext cx="8469883" cy="2492990"/>
          </a:xfrm>
        </p:spPr>
        <p:txBody>
          <a:bodyPr/>
          <a:lstStyle/>
          <a:p>
            <a:r>
              <a:rPr lang="en-US" dirty="0"/>
              <a:t>Gateway Load Balancer helps you easily deploy, scale, and manage your third-party virtual appliances. It gives you one gateway for distributing traffic across multiple virtual appliances while scaling them up or down, based on demand. This decreases potential points of failure in your network and increases availability.</a:t>
            </a:r>
          </a:p>
          <a:p>
            <a:endParaRPr lang="en-US" dirty="0"/>
          </a:p>
          <a:p>
            <a:r>
              <a:rPr lang="en-US" dirty="0"/>
              <a:t>You can find, test, and buy virtual appliances from third-party vendors directly in AWS Marketplace. </a:t>
            </a:r>
            <a:r>
              <a:rPr lang="en-US"/>
              <a:t>This integrated experience streamlines the deployment process so you see value from your virtual appliances more quickly—whether you want to keep working with your current vendors or try something new.</a:t>
            </a:r>
            <a:endParaRPr lang="en-IN"/>
          </a:p>
        </p:txBody>
      </p:sp>
    </p:spTree>
    <p:extLst>
      <p:ext uri="{BB962C8B-B14F-4D97-AF65-F5344CB8AC3E}">
        <p14:creationId xmlns:p14="http://schemas.microsoft.com/office/powerpoint/2010/main" val="3614766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579691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Elastic</a:t>
            </a:r>
            <a:r>
              <a:rPr u="none" spc="10" dirty="0">
                <a:solidFill>
                  <a:srgbClr val="4D4D4B"/>
                </a:solidFill>
              </a:rPr>
              <a:t> </a:t>
            </a:r>
            <a:r>
              <a:rPr u="none" spc="-5" dirty="0">
                <a:solidFill>
                  <a:srgbClr val="4D4D4B"/>
                </a:solidFill>
              </a:rPr>
              <a:t>Load</a:t>
            </a:r>
            <a:r>
              <a:rPr u="none" spc="20" dirty="0">
                <a:solidFill>
                  <a:srgbClr val="4D4D4B"/>
                </a:solidFill>
              </a:rPr>
              <a:t> </a:t>
            </a:r>
            <a:r>
              <a:rPr u="none" spc="-5" dirty="0">
                <a:solidFill>
                  <a:srgbClr val="4D4D4B"/>
                </a:solidFill>
              </a:rPr>
              <a:t>Balancing</a:t>
            </a:r>
            <a:r>
              <a:rPr u="none" spc="20" dirty="0">
                <a:solidFill>
                  <a:srgbClr val="4D4D4B"/>
                </a:solidFill>
              </a:rPr>
              <a:t> </a:t>
            </a:r>
            <a:r>
              <a:rPr u="none" spc="-5" dirty="0">
                <a:solidFill>
                  <a:srgbClr val="4D4D4B"/>
                </a:solidFill>
              </a:rPr>
              <a:t>Motivation</a:t>
            </a:r>
          </a:p>
        </p:txBody>
      </p:sp>
      <p:sp>
        <p:nvSpPr>
          <p:cNvPr id="3" name="object 3"/>
          <p:cNvSpPr/>
          <p:nvPr/>
        </p:nvSpPr>
        <p:spPr>
          <a:xfrm>
            <a:off x="3667505" y="3089910"/>
            <a:ext cx="1811020" cy="965200"/>
          </a:xfrm>
          <a:custGeom>
            <a:avLst/>
            <a:gdLst/>
            <a:ahLst/>
            <a:cxnLst/>
            <a:rect l="l" t="t" r="r" b="b"/>
            <a:pathLst>
              <a:path w="1811020" h="965200">
                <a:moveTo>
                  <a:pt x="0" y="160781"/>
                </a:moveTo>
                <a:lnTo>
                  <a:pt x="8199" y="109971"/>
                </a:lnTo>
                <a:lnTo>
                  <a:pt x="31028" y="65836"/>
                </a:lnTo>
                <a:lnTo>
                  <a:pt x="65836" y="31028"/>
                </a:lnTo>
                <a:lnTo>
                  <a:pt x="109971" y="8199"/>
                </a:lnTo>
                <a:lnTo>
                  <a:pt x="160782" y="0"/>
                </a:lnTo>
                <a:lnTo>
                  <a:pt x="1649730" y="0"/>
                </a:lnTo>
                <a:lnTo>
                  <a:pt x="1700540" y="8199"/>
                </a:lnTo>
                <a:lnTo>
                  <a:pt x="1744675" y="31028"/>
                </a:lnTo>
                <a:lnTo>
                  <a:pt x="1779483" y="65836"/>
                </a:lnTo>
                <a:lnTo>
                  <a:pt x="1802312" y="109971"/>
                </a:lnTo>
                <a:lnTo>
                  <a:pt x="1810512" y="160781"/>
                </a:lnTo>
                <a:lnTo>
                  <a:pt x="1810512" y="803909"/>
                </a:lnTo>
                <a:lnTo>
                  <a:pt x="1802312" y="854729"/>
                </a:lnTo>
                <a:lnTo>
                  <a:pt x="1779483" y="898866"/>
                </a:lnTo>
                <a:lnTo>
                  <a:pt x="1744675" y="933670"/>
                </a:lnTo>
                <a:lnTo>
                  <a:pt x="1700540" y="956495"/>
                </a:lnTo>
                <a:lnTo>
                  <a:pt x="1649730" y="964691"/>
                </a:lnTo>
                <a:lnTo>
                  <a:pt x="160782" y="964691"/>
                </a:lnTo>
                <a:lnTo>
                  <a:pt x="109971" y="956495"/>
                </a:lnTo>
                <a:lnTo>
                  <a:pt x="65836" y="933670"/>
                </a:lnTo>
                <a:lnTo>
                  <a:pt x="31028" y="898866"/>
                </a:lnTo>
                <a:lnTo>
                  <a:pt x="8199" y="854729"/>
                </a:lnTo>
                <a:lnTo>
                  <a:pt x="0" y="803909"/>
                </a:lnTo>
                <a:lnTo>
                  <a:pt x="0" y="160781"/>
                </a:lnTo>
                <a:close/>
              </a:path>
            </a:pathLst>
          </a:custGeom>
          <a:ln w="25908">
            <a:solidFill>
              <a:srgbClr val="464646"/>
            </a:solidFill>
          </a:ln>
        </p:spPr>
        <p:txBody>
          <a:bodyPr wrap="square" lIns="0" tIns="0" rIns="0" bIns="0" rtlCol="0"/>
          <a:lstStyle/>
          <a:p>
            <a:endParaRPr/>
          </a:p>
        </p:txBody>
      </p:sp>
      <p:sp>
        <p:nvSpPr>
          <p:cNvPr id="4" name="object 4"/>
          <p:cNvSpPr txBox="1"/>
          <p:nvPr/>
        </p:nvSpPr>
        <p:spPr>
          <a:xfrm>
            <a:off x="3959478" y="3416934"/>
            <a:ext cx="122682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464646"/>
                </a:solidFill>
                <a:latin typeface="Arial MT"/>
                <a:cs typeface="Arial MT"/>
              </a:rPr>
              <a:t>Web</a:t>
            </a:r>
            <a:r>
              <a:rPr sz="1800" spc="-70" dirty="0">
                <a:solidFill>
                  <a:srgbClr val="464646"/>
                </a:solidFill>
                <a:latin typeface="Arial MT"/>
                <a:cs typeface="Arial MT"/>
              </a:rPr>
              <a:t> </a:t>
            </a:r>
            <a:r>
              <a:rPr sz="1800" spc="-5" dirty="0">
                <a:solidFill>
                  <a:srgbClr val="464646"/>
                </a:solidFill>
                <a:latin typeface="Arial MT"/>
                <a:cs typeface="Arial MT"/>
              </a:rPr>
              <a:t>Server</a:t>
            </a:r>
            <a:endParaRPr sz="1800">
              <a:latin typeface="Arial MT"/>
              <a:cs typeface="Arial MT"/>
            </a:endParaRPr>
          </a:p>
        </p:txBody>
      </p:sp>
      <p:grpSp>
        <p:nvGrpSpPr>
          <p:cNvPr id="5" name="object 5"/>
          <p:cNvGrpSpPr/>
          <p:nvPr/>
        </p:nvGrpSpPr>
        <p:grpSpPr>
          <a:xfrm>
            <a:off x="4434840" y="2065007"/>
            <a:ext cx="254635" cy="1161415"/>
            <a:chOff x="4434840" y="2065007"/>
            <a:chExt cx="254635" cy="1161415"/>
          </a:xfrm>
        </p:grpSpPr>
        <p:pic>
          <p:nvPicPr>
            <p:cNvPr id="6" name="object 6"/>
            <p:cNvPicPr/>
            <p:nvPr/>
          </p:nvPicPr>
          <p:blipFill>
            <a:blip r:embed="rId3" cstate="print"/>
            <a:stretch>
              <a:fillRect/>
            </a:stretch>
          </p:blipFill>
          <p:spPr>
            <a:xfrm>
              <a:off x="4434840" y="2065007"/>
              <a:ext cx="254457" cy="1161300"/>
            </a:xfrm>
            <a:prstGeom prst="rect">
              <a:avLst/>
            </a:prstGeom>
          </p:spPr>
        </p:pic>
        <p:sp>
          <p:nvSpPr>
            <p:cNvPr id="7" name="object 7"/>
            <p:cNvSpPr/>
            <p:nvPr/>
          </p:nvSpPr>
          <p:spPr>
            <a:xfrm>
              <a:off x="4518533" y="2166365"/>
              <a:ext cx="92075" cy="924560"/>
            </a:xfrm>
            <a:custGeom>
              <a:avLst/>
              <a:gdLst/>
              <a:ahLst/>
              <a:cxnLst/>
              <a:rect l="l" t="t" r="r" b="b"/>
              <a:pathLst>
                <a:path w="92075" h="924560">
                  <a:moveTo>
                    <a:pt x="40273" y="846624"/>
                  </a:moveTo>
                  <a:lnTo>
                    <a:pt x="14350" y="847089"/>
                  </a:lnTo>
                  <a:lnTo>
                    <a:pt x="54737" y="924051"/>
                  </a:lnTo>
                  <a:lnTo>
                    <a:pt x="85478" y="859535"/>
                  </a:lnTo>
                  <a:lnTo>
                    <a:pt x="40512" y="859535"/>
                  </a:lnTo>
                  <a:lnTo>
                    <a:pt x="40273" y="846624"/>
                  </a:lnTo>
                  <a:close/>
                </a:path>
                <a:path w="92075" h="924560">
                  <a:moveTo>
                    <a:pt x="66177" y="846158"/>
                  </a:moveTo>
                  <a:lnTo>
                    <a:pt x="40273" y="846624"/>
                  </a:lnTo>
                  <a:lnTo>
                    <a:pt x="40512" y="859535"/>
                  </a:lnTo>
                  <a:lnTo>
                    <a:pt x="66420" y="859154"/>
                  </a:lnTo>
                  <a:lnTo>
                    <a:pt x="66177" y="846158"/>
                  </a:lnTo>
                  <a:close/>
                </a:path>
                <a:path w="92075" h="924560">
                  <a:moveTo>
                    <a:pt x="92075" y="845692"/>
                  </a:moveTo>
                  <a:lnTo>
                    <a:pt x="66177" y="846158"/>
                  </a:lnTo>
                  <a:lnTo>
                    <a:pt x="66420" y="859154"/>
                  </a:lnTo>
                  <a:lnTo>
                    <a:pt x="40512" y="859535"/>
                  </a:lnTo>
                  <a:lnTo>
                    <a:pt x="85478" y="859535"/>
                  </a:lnTo>
                  <a:lnTo>
                    <a:pt x="92075" y="845692"/>
                  </a:lnTo>
                  <a:close/>
                </a:path>
                <a:path w="92075" h="924560">
                  <a:moveTo>
                    <a:pt x="51804" y="77470"/>
                  </a:moveTo>
                  <a:lnTo>
                    <a:pt x="26021" y="77975"/>
                  </a:lnTo>
                  <a:lnTo>
                    <a:pt x="40273" y="846624"/>
                  </a:lnTo>
                  <a:lnTo>
                    <a:pt x="66177" y="846158"/>
                  </a:lnTo>
                  <a:lnTo>
                    <a:pt x="51804" y="77470"/>
                  </a:lnTo>
                  <a:close/>
                </a:path>
                <a:path w="92075" h="924560">
                  <a:moveTo>
                    <a:pt x="37464" y="0"/>
                  </a:moveTo>
                  <a:lnTo>
                    <a:pt x="0" y="78485"/>
                  </a:lnTo>
                  <a:lnTo>
                    <a:pt x="26021" y="77975"/>
                  </a:lnTo>
                  <a:lnTo>
                    <a:pt x="25780" y="65023"/>
                  </a:lnTo>
                  <a:lnTo>
                    <a:pt x="51562" y="64515"/>
                  </a:lnTo>
                  <a:lnTo>
                    <a:pt x="71213" y="64515"/>
                  </a:lnTo>
                  <a:lnTo>
                    <a:pt x="37464" y="0"/>
                  </a:lnTo>
                  <a:close/>
                </a:path>
                <a:path w="92075" h="924560">
                  <a:moveTo>
                    <a:pt x="51562" y="64515"/>
                  </a:moveTo>
                  <a:lnTo>
                    <a:pt x="25780" y="65023"/>
                  </a:lnTo>
                  <a:lnTo>
                    <a:pt x="26021" y="77975"/>
                  </a:lnTo>
                  <a:lnTo>
                    <a:pt x="51804" y="77470"/>
                  </a:lnTo>
                  <a:lnTo>
                    <a:pt x="51562" y="64515"/>
                  </a:lnTo>
                  <a:close/>
                </a:path>
                <a:path w="92075" h="924560">
                  <a:moveTo>
                    <a:pt x="71213" y="64515"/>
                  </a:moveTo>
                  <a:lnTo>
                    <a:pt x="51562" y="64515"/>
                  </a:lnTo>
                  <a:lnTo>
                    <a:pt x="51804" y="77470"/>
                  </a:lnTo>
                  <a:lnTo>
                    <a:pt x="77724" y="76961"/>
                  </a:lnTo>
                  <a:lnTo>
                    <a:pt x="71213" y="64515"/>
                  </a:lnTo>
                  <a:close/>
                </a:path>
              </a:pathLst>
            </a:custGeom>
            <a:solidFill>
              <a:srgbClr val="FBB64B"/>
            </a:solidFill>
          </p:spPr>
          <p:txBody>
            <a:bodyPr wrap="square" lIns="0" tIns="0" rIns="0" bIns="0" rtlCol="0"/>
            <a:lstStyle/>
            <a:p>
              <a:endParaRPr/>
            </a:p>
          </p:txBody>
        </p:sp>
      </p:grpSp>
      <p:pic>
        <p:nvPicPr>
          <p:cNvPr id="8" name="object 8"/>
          <p:cNvPicPr/>
          <p:nvPr/>
        </p:nvPicPr>
        <p:blipFill>
          <a:blip r:embed="rId4" cstate="print"/>
          <a:stretch>
            <a:fillRect/>
          </a:stretch>
        </p:blipFill>
        <p:spPr>
          <a:xfrm>
            <a:off x="4204642" y="1165883"/>
            <a:ext cx="752442" cy="839184"/>
          </a:xfrm>
          <a:prstGeom prst="rect">
            <a:avLst/>
          </a:prstGeom>
        </p:spPr>
      </p:pic>
      <p:sp>
        <p:nvSpPr>
          <p:cNvPr id="9" name="object 9"/>
          <p:cNvSpPr txBox="1"/>
          <p:nvPr/>
        </p:nvSpPr>
        <p:spPr>
          <a:xfrm>
            <a:off x="5721222" y="3276727"/>
            <a:ext cx="2543810" cy="574040"/>
          </a:xfrm>
          <a:prstGeom prst="rect">
            <a:avLst/>
          </a:prstGeom>
        </p:spPr>
        <p:txBody>
          <a:bodyPr vert="horz" wrap="square" lIns="0" tIns="12700" rIns="0" bIns="0" rtlCol="0">
            <a:spAutoFit/>
          </a:bodyPr>
          <a:lstStyle/>
          <a:p>
            <a:pPr marL="299085" indent="-287020">
              <a:lnSpc>
                <a:spcPct val="100000"/>
              </a:lnSpc>
              <a:spcBef>
                <a:spcPts val="100"/>
              </a:spcBef>
              <a:buChar char="•"/>
              <a:tabLst>
                <a:tab pos="299085" algn="l"/>
                <a:tab pos="299720" algn="l"/>
              </a:tabLst>
            </a:pPr>
            <a:r>
              <a:rPr sz="1800" spc="-5" dirty="0">
                <a:solidFill>
                  <a:srgbClr val="464646"/>
                </a:solidFill>
                <a:latin typeface="Arial MT"/>
                <a:cs typeface="Arial MT"/>
              </a:rPr>
              <a:t>Scalability</a:t>
            </a:r>
            <a:r>
              <a:rPr sz="1800" spc="-35" dirty="0">
                <a:solidFill>
                  <a:srgbClr val="464646"/>
                </a:solidFill>
                <a:latin typeface="Arial MT"/>
                <a:cs typeface="Arial MT"/>
              </a:rPr>
              <a:t> </a:t>
            </a:r>
            <a:r>
              <a:rPr sz="1800" spc="-5" dirty="0">
                <a:solidFill>
                  <a:srgbClr val="464646"/>
                </a:solidFill>
                <a:latin typeface="Arial MT"/>
                <a:cs typeface="Arial MT"/>
              </a:rPr>
              <a:t>Challenges</a:t>
            </a:r>
            <a:endParaRPr sz="180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Single</a:t>
            </a:r>
            <a:r>
              <a:rPr sz="1800" spc="-15" dirty="0">
                <a:solidFill>
                  <a:srgbClr val="464646"/>
                </a:solidFill>
                <a:latin typeface="Arial MT"/>
                <a:cs typeface="Arial MT"/>
              </a:rPr>
              <a:t> </a:t>
            </a:r>
            <a:r>
              <a:rPr sz="1800" spc="-5" dirty="0">
                <a:solidFill>
                  <a:srgbClr val="464646"/>
                </a:solidFill>
                <a:latin typeface="Arial MT"/>
                <a:cs typeface="Arial MT"/>
              </a:rPr>
              <a:t>point </a:t>
            </a:r>
            <a:r>
              <a:rPr sz="1800" dirty="0">
                <a:solidFill>
                  <a:srgbClr val="464646"/>
                </a:solidFill>
                <a:latin typeface="Arial MT"/>
                <a:cs typeface="Arial MT"/>
              </a:rPr>
              <a:t>of</a:t>
            </a:r>
            <a:r>
              <a:rPr sz="1800" spc="-15" dirty="0">
                <a:solidFill>
                  <a:srgbClr val="464646"/>
                </a:solidFill>
                <a:latin typeface="Arial MT"/>
                <a:cs typeface="Arial MT"/>
              </a:rPr>
              <a:t> </a:t>
            </a:r>
            <a:r>
              <a:rPr sz="1800" spc="-5" dirty="0">
                <a:solidFill>
                  <a:srgbClr val="464646"/>
                </a:solidFill>
                <a:latin typeface="Arial MT"/>
                <a:cs typeface="Arial MT"/>
              </a:rPr>
              <a:t>failure</a:t>
            </a:r>
            <a:endParaRPr sz="1800">
              <a:latin typeface="Arial MT"/>
              <a:cs typeface="Arial MT"/>
            </a:endParaRPr>
          </a:p>
        </p:txBody>
      </p:sp>
      <p:grpSp>
        <p:nvGrpSpPr>
          <p:cNvPr id="10" name="object 10"/>
          <p:cNvGrpSpPr/>
          <p:nvPr/>
        </p:nvGrpSpPr>
        <p:grpSpPr>
          <a:xfrm>
            <a:off x="3654552" y="3076955"/>
            <a:ext cx="1836420" cy="990600"/>
            <a:chOff x="3654552" y="3076955"/>
            <a:chExt cx="1836420" cy="990600"/>
          </a:xfrm>
        </p:grpSpPr>
        <p:sp>
          <p:nvSpPr>
            <p:cNvPr id="11" name="object 11"/>
            <p:cNvSpPr/>
            <p:nvPr/>
          </p:nvSpPr>
          <p:spPr>
            <a:xfrm>
              <a:off x="3667506" y="3089909"/>
              <a:ext cx="1811020" cy="965200"/>
            </a:xfrm>
            <a:custGeom>
              <a:avLst/>
              <a:gdLst/>
              <a:ahLst/>
              <a:cxnLst/>
              <a:rect l="l" t="t" r="r" b="b"/>
              <a:pathLst>
                <a:path w="1811020" h="965200">
                  <a:moveTo>
                    <a:pt x="1649730" y="0"/>
                  </a:moveTo>
                  <a:lnTo>
                    <a:pt x="160782" y="0"/>
                  </a:lnTo>
                  <a:lnTo>
                    <a:pt x="109971" y="8199"/>
                  </a:lnTo>
                  <a:lnTo>
                    <a:pt x="65836" y="31028"/>
                  </a:lnTo>
                  <a:lnTo>
                    <a:pt x="31028" y="65836"/>
                  </a:lnTo>
                  <a:lnTo>
                    <a:pt x="8199" y="109971"/>
                  </a:lnTo>
                  <a:lnTo>
                    <a:pt x="0" y="160781"/>
                  </a:lnTo>
                  <a:lnTo>
                    <a:pt x="0" y="803909"/>
                  </a:lnTo>
                  <a:lnTo>
                    <a:pt x="8199" y="854729"/>
                  </a:lnTo>
                  <a:lnTo>
                    <a:pt x="31028" y="898866"/>
                  </a:lnTo>
                  <a:lnTo>
                    <a:pt x="65836" y="933670"/>
                  </a:lnTo>
                  <a:lnTo>
                    <a:pt x="109971" y="956495"/>
                  </a:lnTo>
                  <a:lnTo>
                    <a:pt x="160782" y="964691"/>
                  </a:lnTo>
                  <a:lnTo>
                    <a:pt x="1649730" y="964691"/>
                  </a:lnTo>
                  <a:lnTo>
                    <a:pt x="1700540" y="956495"/>
                  </a:lnTo>
                  <a:lnTo>
                    <a:pt x="1744675" y="933670"/>
                  </a:lnTo>
                  <a:lnTo>
                    <a:pt x="1779483" y="898866"/>
                  </a:lnTo>
                  <a:lnTo>
                    <a:pt x="1802312" y="854729"/>
                  </a:lnTo>
                  <a:lnTo>
                    <a:pt x="1810512" y="803909"/>
                  </a:lnTo>
                  <a:lnTo>
                    <a:pt x="1810512" y="160781"/>
                  </a:lnTo>
                  <a:lnTo>
                    <a:pt x="1802312" y="109971"/>
                  </a:lnTo>
                  <a:lnTo>
                    <a:pt x="1779483" y="65836"/>
                  </a:lnTo>
                  <a:lnTo>
                    <a:pt x="1744675" y="31028"/>
                  </a:lnTo>
                  <a:lnTo>
                    <a:pt x="1700540" y="8199"/>
                  </a:lnTo>
                  <a:lnTo>
                    <a:pt x="1649730" y="0"/>
                  </a:lnTo>
                  <a:close/>
                </a:path>
              </a:pathLst>
            </a:custGeom>
            <a:solidFill>
              <a:srgbClr val="FF0000"/>
            </a:solidFill>
          </p:spPr>
          <p:txBody>
            <a:bodyPr wrap="square" lIns="0" tIns="0" rIns="0" bIns="0" rtlCol="0"/>
            <a:lstStyle/>
            <a:p>
              <a:endParaRPr lang="en-US" dirty="0">
                <a:solidFill>
                  <a:schemeClr val="bg1"/>
                </a:solidFill>
              </a:endParaRPr>
            </a:p>
            <a:p>
              <a:r>
                <a:rPr lang="en-US" dirty="0">
                  <a:solidFill>
                    <a:schemeClr val="bg1"/>
                  </a:solidFill>
                </a:rPr>
                <a:t>     WEB SERVER</a:t>
              </a:r>
              <a:endParaRPr dirty="0">
                <a:solidFill>
                  <a:schemeClr val="bg1"/>
                </a:solidFill>
              </a:endParaRPr>
            </a:p>
          </p:txBody>
        </p:sp>
        <p:sp>
          <p:nvSpPr>
            <p:cNvPr id="12" name="object 12"/>
            <p:cNvSpPr/>
            <p:nvPr/>
          </p:nvSpPr>
          <p:spPr>
            <a:xfrm>
              <a:off x="3667506" y="3089909"/>
              <a:ext cx="1811020" cy="965200"/>
            </a:xfrm>
            <a:custGeom>
              <a:avLst/>
              <a:gdLst/>
              <a:ahLst/>
              <a:cxnLst/>
              <a:rect l="l" t="t" r="r" b="b"/>
              <a:pathLst>
                <a:path w="1811020" h="965200">
                  <a:moveTo>
                    <a:pt x="0" y="160781"/>
                  </a:moveTo>
                  <a:lnTo>
                    <a:pt x="8199" y="109971"/>
                  </a:lnTo>
                  <a:lnTo>
                    <a:pt x="31028" y="65836"/>
                  </a:lnTo>
                  <a:lnTo>
                    <a:pt x="65836" y="31028"/>
                  </a:lnTo>
                  <a:lnTo>
                    <a:pt x="109971" y="8199"/>
                  </a:lnTo>
                  <a:lnTo>
                    <a:pt x="160782" y="0"/>
                  </a:lnTo>
                  <a:lnTo>
                    <a:pt x="1649730" y="0"/>
                  </a:lnTo>
                  <a:lnTo>
                    <a:pt x="1700540" y="8199"/>
                  </a:lnTo>
                  <a:lnTo>
                    <a:pt x="1744675" y="31028"/>
                  </a:lnTo>
                  <a:lnTo>
                    <a:pt x="1779483" y="65836"/>
                  </a:lnTo>
                  <a:lnTo>
                    <a:pt x="1802312" y="109971"/>
                  </a:lnTo>
                  <a:lnTo>
                    <a:pt x="1810512" y="160781"/>
                  </a:lnTo>
                  <a:lnTo>
                    <a:pt x="1810512" y="803909"/>
                  </a:lnTo>
                  <a:lnTo>
                    <a:pt x="1802312" y="854729"/>
                  </a:lnTo>
                  <a:lnTo>
                    <a:pt x="1779483" y="898866"/>
                  </a:lnTo>
                  <a:lnTo>
                    <a:pt x="1744675" y="933670"/>
                  </a:lnTo>
                  <a:lnTo>
                    <a:pt x="1700540" y="956495"/>
                  </a:lnTo>
                  <a:lnTo>
                    <a:pt x="1649730" y="964691"/>
                  </a:lnTo>
                  <a:lnTo>
                    <a:pt x="160782" y="964691"/>
                  </a:lnTo>
                  <a:lnTo>
                    <a:pt x="109971" y="956495"/>
                  </a:lnTo>
                  <a:lnTo>
                    <a:pt x="65836" y="933670"/>
                  </a:lnTo>
                  <a:lnTo>
                    <a:pt x="31028" y="898866"/>
                  </a:lnTo>
                  <a:lnTo>
                    <a:pt x="8199" y="854729"/>
                  </a:lnTo>
                  <a:lnTo>
                    <a:pt x="0" y="803909"/>
                  </a:lnTo>
                  <a:lnTo>
                    <a:pt x="0" y="160781"/>
                  </a:lnTo>
                  <a:close/>
                </a:path>
              </a:pathLst>
            </a:custGeom>
            <a:ln w="25908">
              <a:solidFill>
                <a:srgbClr val="464646"/>
              </a:solidFill>
            </a:ln>
          </p:spPr>
          <p:txBody>
            <a:bodyPr wrap="square" lIns="0" tIns="0" rIns="0" bIns="0" rtlCol="0"/>
            <a:lstStyle/>
            <a:p>
              <a:endParaRPr/>
            </a:p>
          </p:txBody>
        </p:sp>
      </p:grpSp>
      <p:pic>
        <p:nvPicPr>
          <p:cNvPr id="13" name="object 13"/>
          <p:cNvPicPr/>
          <p:nvPr/>
        </p:nvPicPr>
        <p:blipFill>
          <a:blip r:embed="rId5" cstate="print"/>
          <a:stretch>
            <a:fillRect/>
          </a:stretch>
        </p:blipFill>
        <p:spPr>
          <a:xfrm>
            <a:off x="5047414" y="1149119"/>
            <a:ext cx="752442" cy="839184"/>
          </a:xfrm>
          <a:prstGeom prst="rect">
            <a:avLst/>
          </a:prstGeom>
        </p:spPr>
      </p:pic>
      <p:pic>
        <p:nvPicPr>
          <p:cNvPr id="14" name="object 14"/>
          <p:cNvPicPr/>
          <p:nvPr/>
        </p:nvPicPr>
        <p:blipFill>
          <a:blip r:embed="rId6" cstate="print"/>
          <a:stretch>
            <a:fillRect/>
          </a:stretch>
        </p:blipFill>
        <p:spPr>
          <a:xfrm>
            <a:off x="3361870" y="1149119"/>
            <a:ext cx="752442" cy="8391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49872" y="2285936"/>
            <a:ext cx="5779135" cy="2489200"/>
            <a:chOff x="1549872" y="2285936"/>
            <a:chExt cx="5779135" cy="2489200"/>
          </a:xfrm>
        </p:grpSpPr>
        <p:pic>
          <p:nvPicPr>
            <p:cNvPr id="3" name="object 3"/>
            <p:cNvPicPr/>
            <p:nvPr/>
          </p:nvPicPr>
          <p:blipFill>
            <a:blip r:embed="rId3" cstate="print"/>
            <a:stretch>
              <a:fillRect/>
            </a:stretch>
          </p:blipFill>
          <p:spPr>
            <a:xfrm>
              <a:off x="1549872" y="2526572"/>
              <a:ext cx="300580" cy="1684484"/>
            </a:xfrm>
            <a:prstGeom prst="rect">
              <a:avLst/>
            </a:prstGeom>
          </p:spPr>
        </p:pic>
        <p:sp>
          <p:nvSpPr>
            <p:cNvPr id="4" name="object 4"/>
            <p:cNvSpPr/>
            <p:nvPr/>
          </p:nvSpPr>
          <p:spPr>
            <a:xfrm>
              <a:off x="1583943" y="2534411"/>
              <a:ext cx="241935" cy="1633855"/>
            </a:xfrm>
            <a:custGeom>
              <a:avLst/>
              <a:gdLst/>
              <a:ahLst/>
              <a:cxnLst/>
              <a:rect l="l" t="t" r="r" b="b"/>
              <a:pathLst>
                <a:path w="241935" h="1633854">
                  <a:moveTo>
                    <a:pt x="151130" y="1555699"/>
                  </a:moveTo>
                  <a:lnTo>
                    <a:pt x="151130" y="1633423"/>
                  </a:lnTo>
                  <a:lnTo>
                    <a:pt x="202946" y="1607515"/>
                  </a:lnTo>
                  <a:lnTo>
                    <a:pt x="164083" y="1607515"/>
                  </a:lnTo>
                  <a:lnTo>
                    <a:pt x="164083" y="1581607"/>
                  </a:lnTo>
                  <a:lnTo>
                    <a:pt x="202946" y="1581607"/>
                  </a:lnTo>
                  <a:lnTo>
                    <a:pt x="151130" y="1555699"/>
                  </a:lnTo>
                  <a:close/>
                </a:path>
                <a:path w="241935" h="1633854">
                  <a:moveTo>
                    <a:pt x="163830" y="25907"/>
                  </a:moveTo>
                  <a:lnTo>
                    <a:pt x="5842" y="25907"/>
                  </a:lnTo>
                  <a:lnTo>
                    <a:pt x="0" y="31750"/>
                  </a:lnTo>
                  <a:lnTo>
                    <a:pt x="0" y="1601711"/>
                  </a:lnTo>
                  <a:lnTo>
                    <a:pt x="5842" y="1607515"/>
                  </a:lnTo>
                  <a:lnTo>
                    <a:pt x="151130" y="1607515"/>
                  </a:lnTo>
                  <a:lnTo>
                    <a:pt x="151130" y="1594561"/>
                  </a:lnTo>
                  <a:lnTo>
                    <a:pt x="25908" y="1594561"/>
                  </a:lnTo>
                  <a:lnTo>
                    <a:pt x="12953" y="1581607"/>
                  </a:lnTo>
                  <a:lnTo>
                    <a:pt x="25908" y="1581607"/>
                  </a:lnTo>
                  <a:lnTo>
                    <a:pt x="25908" y="51815"/>
                  </a:lnTo>
                  <a:lnTo>
                    <a:pt x="12953" y="51815"/>
                  </a:lnTo>
                  <a:lnTo>
                    <a:pt x="25908" y="38862"/>
                  </a:lnTo>
                  <a:lnTo>
                    <a:pt x="163830" y="38862"/>
                  </a:lnTo>
                  <a:lnTo>
                    <a:pt x="163830" y="25907"/>
                  </a:lnTo>
                  <a:close/>
                </a:path>
                <a:path w="241935" h="1633854">
                  <a:moveTo>
                    <a:pt x="202946" y="1581607"/>
                  </a:moveTo>
                  <a:lnTo>
                    <a:pt x="164083" y="1581607"/>
                  </a:lnTo>
                  <a:lnTo>
                    <a:pt x="164083" y="1607515"/>
                  </a:lnTo>
                  <a:lnTo>
                    <a:pt x="202946" y="1607515"/>
                  </a:lnTo>
                  <a:lnTo>
                    <a:pt x="228854" y="1594561"/>
                  </a:lnTo>
                  <a:lnTo>
                    <a:pt x="202946" y="1581607"/>
                  </a:lnTo>
                  <a:close/>
                </a:path>
                <a:path w="241935" h="1633854">
                  <a:moveTo>
                    <a:pt x="25908" y="1581607"/>
                  </a:moveTo>
                  <a:lnTo>
                    <a:pt x="12953" y="1581607"/>
                  </a:lnTo>
                  <a:lnTo>
                    <a:pt x="25908" y="1594561"/>
                  </a:lnTo>
                  <a:lnTo>
                    <a:pt x="25908" y="1581607"/>
                  </a:lnTo>
                  <a:close/>
                </a:path>
                <a:path w="241935" h="1633854">
                  <a:moveTo>
                    <a:pt x="151130" y="1581607"/>
                  </a:moveTo>
                  <a:lnTo>
                    <a:pt x="25908" y="1581607"/>
                  </a:lnTo>
                  <a:lnTo>
                    <a:pt x="25908" y="1594561"/>
                  </a:lnTo>
                  <a:lnTo>
                    <a:pt x="151130" y="1594561"/>
                  </a:lnTo>
                  <a:lnTo>
                    <a:pt x="151130" y="1581607"/>
                  </a:lnTo>
                  <a:close/>
                </a:path>
                <a:path w="241935" h="1633854">
                  <a:moveTo>
                    <a:pt x="163830" y="0"/>
                  </a:moveTo>
                  <a:lnTo>
                    <a:pt x="163830" y="77724"/>
                  </a:lnTo>
                  <a:lnTo>
                    <a:pt x="215646" y="51815"/>
                  </a:lnTo>
                  <a:lnTo>
                    <a:pt x="176783" y="51815"/>
                  </a:lnTo>
                  <a:lnTo>
                    <a:pt x="176783" y="25907"/>
                  </a:lnTo>
                  <a:lnTo>
                    <a:pt x="215645" y="25907"/>
                  </a:lnTo>
                  <a:lnTo>
                    <a:pt x="163830" y="0"/>
                  </a:lnTo>
                  <a:close/>
                </a:path>
                <a:path w="241935" h="1633854">
                  <a:moveTo>
                    <a:pt x="25908" y="38862"/>
                  </a:moveTo>
                  <a:lnTo>
                    <a:pt x="12953" y="51815"/>
                  </a:lnTo>
                  <a:lnTo>
                    <a:pt x="25908" y="51815"/>
                  </a:lnTo>
                  <a:lnTo>
                    <a:pt x="25908" y="38862"/>
                  </a:lnTo>
                  <a:close/>
                </a:path>
                <a:path w="241935" h="1633854">
                  <a:moveTo>
                    <a:pt x="163830" y="38862"/>
                  </a:moveTo>
                  <a:lnTo>
                    <a:pt x="25908" y="38862"/>
                  </a:lnTo>
                  <a:lnTo>
                    <a:pt x="25908" y="51815"/>
                  </a:lnTo>
                  <a:lnTo>
                    <a:pt x="163830" y="51815"/>
                  </a:lnTo>
                  <a:lnTo>
                    <a:pt x="163830" y="38862"/>
                  </a:lnTo>
                  <a:close/>
                </a:path>
                <a:path w="241935" h="1633854">
                  <a:moveTo>
                    <a:pt x="215645" y="25907"/>
                  </a:moveTo>
                  <a:lnTo>
                    <a:pt x="176783" y="25907"/>
                  </a:lnTo>
                  <a:lnTo>
                    <a:pt x="176783" y="51815"/>
                  </a:lnTo>
                  <a:lnTo>
                    <a:pt x="215646" y="51815"/>
                  </a:lnTo>
                  <a:lnTo>
                    <a:pt x="241554" y="38862"/>
                  </a:lnTo>
                  <a:lnTo>
                    <a:pt x="215645" y="25907"/>
                  </a:lnTo>
                  <a:close/>
                </a:path>
              </a:pathLst>
            </a:custGeom>
            <a:solidFill>
              <a:srgbClr val="FBB64B"/>
            </a:solidFill>
          </p:spPr>
          <p:txBody>
            <a:bodyPr wrap="square" lIns="0" tIns="0" rIns="0" bIns="0" rtlCol="0"/>
            <a:lstStyle/>
            <a:p>
              <a:endParaRPr/>
            </a:p>
          </p:txBody>
        </p:sp>
        <p:sp>
          <p:nvSpPr>
            <p:cNvPr id="5" name="object 5"/>
            <p:cNvSpPr/>
            <p:nvPr/>
          </p:nvSpPr>
          <p:spPr>
            <a:xfrm>
              <a:off x="1812797" y="2298953"/>
              <a:ext cx="5503545" cy="547370"/>
            </a:xfrm>
            <a:custGeom>
              <a:avLst/>
              <a:gdLst/>
              <a:ahLst/>
              <a:cxnLst/>
              <a:rect l="l" t="t" r="r" b="b"/>
              <a:pathLst>
                <a:path w="5503545" h="547369">
                  <a:moveTo>
                    <a:pt x="5411978" y="0"/>
                  </a:moveTo>
                  <a:lnTo>
                    <a:pt x="91185" y="0"/>
                  </a:lnTo>
                  <a:lnTo>
                    <a:pt x="55667" y="7157"/>
                  </a:lnTo>
                  <a:lnTo>
                    <a:pt x="26685" y="26685"/>
                  </a:lnTo>
                  <a:lnTo>
                    <a:pt x="7157" y="55667"/>
                  </a:lnTo>
                  <a:lnTo>
                    <a:pt x="0" y="91185"/>
                  </a:lnTo>
                  <a:lnTo>
                    <a:pt x="0" y="455929"/>
                  </a:lnTo>
                  <a:lnTo>
                    <a:pt x="7157" y="491448"/>
                  </a:lnTo>
                  <a:lnTo>
                    <a:pt x="26685" y="520430"/>
                  </a:lnTo>
                  <a:lnTo>
                    <a:pt x="55667" y="539958"/>
                  </a:lnTo>
                  <a:lnTo>
                    <a:pt x="91185" y="547115"/>
                  </a:lnTo>
                  <a:lnTo>
                    <a:pt x="5411978" y="547115"/>
                  </a:lnTo>
                  <a:lnTo>
                    <a:pt x="5447496" y="539958"/>
                  </a:lnTo>
                  <a:lnTo>
                    <a:pt x="5476478" y="520430"/>
                  </a:lnTo>
                  <a:lnTo>
                    <a:pt x="5496006" y="491448"/>
                  </a:lnTo>
                  <a:lnTo>
                    <a:pt x="5503163" y="455929"/>
                  </a:lnTo>
                  <a:lnTo>
                    <a:pt x="5503163" y="91185"/>
                  </a:lnTo>
                  <a:lnTo>
                    <a:pt x="5496006" y="55667"/>
                  </a:lnTo>
                  <a:lnTo>
                    <a:pt x="5476478" y="26685"/>
                  </a:lnTo>
                  <a:lnTo>
                    <a:pt x="5447496" y="7157"/>
                  </a:lnTo>
                  <a:lnTo>
                    <a:pt x="5411978" y="0"/>
                  </a:lnTo>
                  <a:close/>
                </a:path>
              </a:pathLst>
            </a:custGeom>
            <a:solidFill>
              <a:srgbClr val="FFFFFF"/>
            </a:solidFill>
          </p:spPr>
          <p:txBody>
            <a:bodyPr wrap="square" lIns="0" tIns="0" rIns="0" bIns="0" rtlCol="0"/>
            <a:lstStyle/>
            <a:p>
              <a:endParaRPr/>
            </a:p>
          </p:txBody>
        </p:sp>
        <p:sp>
          <p:nvSpPr>
            <p:cNvPr id="6" name="object 6"/>
            <p:cNvSpPr/>
            <p:nvPr/>
          </p:nvSpPr>
          <p:spPr>
            <a:xfrm>
              <a:off x="1812797" y="2298953"/>
              <a:ext cx="5503545" cy="547370"/>
            </a:xfrm>
            <a:custGeom>
              <a:avLst/>
              <a:gdLst/>
              <a:ahLst/>
              <a:cxnLst/>
              <a:rect l="l" t="t" r="r" b="b"/>
              <a:pathLst>
                <a:path w="5503545" h="547369">
                  <a:moveTo>
                    <a:pt x="0" y="91185"/>
                  </a:moveTo>
                  <a:lnTo>
                    <a:pt x="7157" y="55667"/>
                  </a:lnTo>
                  <a:lnTo>
                    <a:pt x="26685" y="26685"/>
                  </a:lnTo>
                  <a:lnTo>
                    <a:pt x="55667" y="7157"/>
                  </a:lnTo>
                  <a:lnTo>
                    <a:pt x="91185" y="0"/>
                  </a:lnTo>
                  <a:lnTo>
                    <a:pt x="5411978" y="0"/>
                  </a:lnTo>
                  <a:lnTo>
                    <a:pt x="5447496" y="7157"/>
                  </a:lnTo>
                  <a:lnTo>
                    <a:pt x="5476478" y="26685"/>
                  </a:lnTo>
                  <a:lnTo>
                    <a:pt x="5496006" y="55667"/>
                  </a:lnTo>
                  <a:lnTo>
                    <a:pt x="5503163" y="91185"/>
                  </a:lnTo>
                  <a:lnTo>
                    <a:pt x="5503163" y="455929"/>
                  </a:lnTo>
                  <a:lnTo>
                    <a:pt x="5496006" y="491448"/>
                  </a:lnTo>
                  <a:lnTo>
                    <a:pt x="5476478" y="520430"/>
                  </a:lnTo>
                  <a:lnTo>
                    <a:pt x="5447496" y="539958"/>
                  </a:lnTo>
                  <a:lnTo>
                    <a:pt x="5411978" y="547115"/>
                  </a:lnTo>
                  <a:lnTo>
                    <a:pt x="91185" y="547115"/>
                  </a:lnTo>
                  <a:lnTo>
                    <a:pt x="55667" y="539958"/>
                  </a:lnTo>
                  <a:lnTo>
                    <a:pt x="26685" y="520430"/>
                  </a:lnTo>
                  <a:lnTo>
                    <a:pt x="7157" y="491448"/>
                  </a:lnTo>
                  <a:lnTo>
                    <a:pt x="0" y="455929"/>
                  </a:lnTo>
                  <a:lnTo>
                    <a:pt x="0" y="91185"/>
                  </a:lnTo>
                  <a:close/>
                </a:path>
              </a:pathLst>
            </a:custGeom>
            <a:ln w="25908">
              <a:solidFill>
                <a:srgbClr val="464646"/>
              </a:solidFill>
            </a:ln>
          </p:spPr>
          <p:txBody>
            <a:bodyPr wrap="square" lIns="0" tIns="0" rIns="0" bIns="0" rtlCol="0"/>
            <a:lstStyle/>
            <a:p>
              <a:endParaRPr/>
            </a:p>
          </p:txBody>
        </p:sp>
        <p:sp>
          <p:nvSpPr>
            <p:cNvPr id="7" name="object 7"/>
            <p:cNvSpPr/>
            <p:nvPr/>
          </p:nvSpPr>
          <p:spPr>
            <a:xfrm>
              <a:off x="1812797" y="3493769"/>
              <a:ext cx="5503545" cy="1268095"/>
            </a:xfrm>
            <a:custGeom>
              <a:avLst/>
              <a:gdLst/>
              <a:ahLst/>
              <a:cxnLst/>
              <a:rect l="l" t="t" r="r" b="b"/>
              <a:pathLst>
                <a:path w="5503545" h="1268095">
                  <a:moveTo>
                    <a:pt x="5291835" y="0"/>
                  </a:moveTo>
                  <a:lnTo>
                    <a:pt x="211327" y="0"/>
                  </a:lnTo>
                  <a:lnTo>
                    <a:pt x="162872" y="5581"/>
                  </a:lnTo>
                  <a:lnTo>
                    <a:pt x="118391" y="21479"/>
                  </a:lnTo>
                  <a:lnTo>
                    <a:pt x="79153" y="46426"/>
                  </a:lnTo>
                  <a:lnTo>
                    <a:pt x="46426" y="79153"/>
                  </a:lnTo>
                  <a:lnTo>
                    <a:pt x="21479" y="118391"/>
                  </a:lnTo>
                  <a:lnTo>
                    <a:pt x="5581" y="162872"/>
                  </a:lnTo>
                  <a:lnTo>
                    <a:pt x="0" y="211327"/>
                  </a:lnTo>
                  <a:lnTo>
                    <a:pt x="0" y="1056627"/>
                  </a:lnTo>
                  <a:lnTo>
                    <a:pt x="5581" y="1105087"/>
                  </a:lnTo>
                  <a:lnTo>
                    <a:pt x="21479" y="1149571"/>
                  </a:lnTo>
                  <a:lnTo>
                    <a:pt x="46426" y="1188812"/>
                  </a:lnTo>
                  <a:lnTo>
                    <a:pt x="79153" y="1221540"/>
                  </a:lnTo>
                  <a:lnTo>
                    <a:pt x="118391" y="1246488"/>
                  </a:lnTo>
                  <a:lnTo>
                    <a:pt x="162872" y="1262386"/>
                  </a:lnTo>
                  <a:lnTo>
                    <a:pt x="211327" y="1267967"/>
                  </a:lnTo>
                  <a:lnTo>
                    <a:pt x="5291835" y="1267967"/>
                  </a:lnTo>
                  <a:lnTo>
                    <a:pt x="5340291" y="1262386"/>
                  </a:lnTo>
                  <a:lnTo>
                    <a:pt x="5384772" y="1246488"/>
                  </a:lnTo>
                  <a:lnTo>
                    <a:pt x="5424010" y="1221540"/>
                  </a:lnTo>
                  <a:lnTo>
                    <a:pt x="5456737" y="1188812"/>
                  </a:lnTo>
                  <a:lnTo>
                    <a:pt x="5481684" y="1149571"/>
                  </a:lnTo>
                  <a:lnTo>
                    <a:pt x="5497582" y="1105087"/>
                  </a:lnTo>
                  <a:lnTo>
                    <a:pt x="5503163" y="1056627"/>
                  </a:lnTo>
                  <a:lnTo>
                    <a:pt x="5503163" y="211327"/>
                  </a:lnTo>
                  <a:lnTo>
                    <a:pt x="5497582" y="162872"/>
                  </a:lnTo>
                  <a:lnTo>
                    <a:pt x="5481684" y="118391"/>
                  </a:lnTo>
                  <a:lnTo>
                    <a:pt x="5456737" y="79153"/>
                  </a:lnTo>
                  <a:lnTo>
                    <a:pt x="5424010" y="46426"/>
                  </a:lnTo>
                  <a:lnTo>
                    <a:pt x="5384772" y="21479"/>
                  </a:lnTo>
                  <a:lnTo>
                    <a:pt x="5340291" y="5581"/>
                  </a:lnTo>
                  <a:lnTo>
                    <a:pt x="5291835" y="0"/>
                  </a:lnTo>
                  <a:close/>
                </a:path>
              </a:pathLst>
            </a:custGeom>
            <a:solidFill>
              <a:srgbClr val="FFFFFF"/>
            </a:solidFill>
          </p:spPr>
          <p:txBody>
            <a:bodyPr wrap="square" lIns="0" tIns="0" rIns="0" bIns="0" rtlCol="0"/>
            <a:lstStyle/>
            <a:p>
              <a:endParaRPr/>
            </a:p>
          </p:txBody>
        </p:sp>
        <p:sp>
          <p:nvSpPr>
            <p:cNvPr id="8" name="object 8"/>
            <p:cNvSpPr/>
            <p:nvPr/>
          </p:nvSpPr>
          <p:spPr>
            <a:xfrm>
              <a:off x="1812797" y="3493769"/>
              <a:ext cx="5503545" cy="1268095"/>
            </a:xfrm>
            <a:custGeom>
              <a:avLst/>
              <a:gdLst/>
              <a:ahLst/>
              <a:cxnLst/>
              <a:rect l="l" t="t" r="r" b="b"/>
              <a:pathLst>
                <a:path w="5503545" h="1268095">
                  <a:moveTo>
                    <a:pt x="0" y="211327"/>
                  </a:moveTo>
                  <a:lnTo>
                    <a:pt x="5581" y="162872"/>
                  </a:lnTo>
                  <a:lnTo>
                    <a:pt x="21479" y="118391"/>
                  </a:lnTo>
                  <a:lnTo>
                    <a:pt x="46426" y="79153"/>
                  </a:lnTo>
                  <a:lnTo>
                    <a:pt x="79153" y="46426"/>
                  </a:lnTo>
                  <a:lnTo>
                    <a:pt x="118391" y="21479"/>
                  </a:lnTo>
                  <a:lnTo>
                    <a:pt x="162872" y="5581"/>
                  </a:lnTo>
                  <a:lnTo>
                    <a:pt x="211327" y="0"/>
                  </a:lnTo>
                  <a:lnTo>
                    <a:pt x="5291835" y="0"/>
                  </a:lnTo>
                  <a:lnTo>
                    <a:pt x="5340291" y="5581"/>
                  </a:lnTo>
                  <a:lnTo>
                    <a:pt x="5384772" y="21479"/>
                  </a:lnTo>
                  <a:lnTo>
                    <a:pt x="5424010" y="46426"/>
                  </a:lnTo>
                  <a:lnTo>
                    <a:pt x="5456737" y="79153"/>
                  </a:lnTo>
                  <a:lnTo>
                    <a:pt x="5481684" y="118391"/>
                  </a:lnTo>
                  <a:lnTo>
                    <a:pt x="5497582" y="162872"/>
                  </a:lnTo>
                  <a:lnTo>
                    <a:pt x="5503163" y="211327"/>
                  </a:lnTo>
                  <a:lnTo>
                    <a:pt x="5503163" y="1056627"/>
                  </a:lnTo>
                  <a:lnTo>
                    <a:pt x="5497582" y="1105087"/>
                  </a:lnTo>
                  <a:lnTo>
                    <a:pt x="5481684" y="1149571"/>
                  </a:lnTo>
                  <a:lnTo>
                    <a:pt x="5456737" y="1188812"/>
                  </a:lnTo>
                  <a:lnTo>
                    <a:pt x="5424010" y="1221540"/>
                  </a:lnTo>
                  <a:lnTo>
                    <a:pt x="5384772" y="1246488"/>
                  </a:lnTo>
                  <a:lnTo>
                    <a:pt x="5340291" y="1262386"/>
                  </a:lnTo>
                  <a:lnTo>
                    <a:pt x="5291835" y="1267967"/>
                  </a:lnTo>
                  <a:lnTo>
                    <a:pt x="211327" y="1267967"/>
                  </a:lnTo>
                  <a:lnTo>
                    <a:pt x="162872" y="1262386"/>
                  </a:lnTo>
                  <a:lnTo>
                    <a:pt x="118391" y="1246488"/>
                  </a:lnTo>
                  <a:lnTo>
                    <a:pt x="79153" y="1221540"/>
                  </a:lnTo>
                  <a:lnTo>
                    <a:pt x="46426" y="1188812"/>
                  </a:lnTo>
                  <a:lnTo>
                    <a:pt x="21479" y="1149571"/>
                  </a:lnTo>
                  <a:lnTo>
                    <a:pt x="5581" y="1105087"/>
                  </a:lnTo>
                  <a:lnTo>
                    <a:pt x="0" y="1056627"/>
                  </a:lnTo>
                  <a:lnTo>
                    <a:pt x="0" y="211327"/>
                  </a:lnTo>
                  <a:close/>
                </a:path>
              </a:pathLst>
            </a:custGeom>
            <a:ln w="25908">
              <a:solidFill>
                <a:srgbClr val="464646"/>
              </a:solidFill>
            </a:ln>
          </p:spPr>
          <p:txBody>
            <a:bodyPr wrap="square" lIns="0" tIns="0" rIns="0" bIns="0" rtlCol="0"/>
            <a:lstStyle/>
            <a:p>
              <a:endParaRPr/>
            </a:p>
          </p:txBody>
        </p:sp>
        <p:sp>
          <p:nvSpPr>
            <p:cNvPr id="9" name="object 9"/>
            <p:cNvSpPr/>
            <p:nvPr/>
          </p:nvSpPr>
          <p:spPr>
            <a:xfrm>
              <a:off x="5898641" y="3815333"/>
              <a:ext cx="940435" cy="449580"/>
            </a:xfrm>
            <a:custGeom>
              <a:avLst/>
              <a:gdLst/>
              <a:ahLst/>
              <a:cxnLst/>
              <a:rect l="l" t="t" r="r" b="b"/>
              <a:pathLst>
                <a:path w="940434" h="449579">
                  <a:moveTo>
                    <a:pt x="865378" y="0"/>
                  </a:moveTo>
                  <a:lnTo>
                    <a:pt x="74930" y="0"/>
                  </a:lnTo>
                  <a:lnTo>
                    <a:pt x="45755" y="5885"/>
                  </a:lnTo>
                  <a:lnTo>
                    <a:pt x="21939" y="21939"/>
                  </a:lnTo>
                  <a:lnTo>
                    <a:pt x="5885" y="45755"/>
                  </a:lnTo>
                  <a:lnTo>
                    <a:pt x="0" y="74929"/>
                  </a:lnTo>
                  <a:lnTo>
                    <a:pt x="0" y="374649"/>
                  </a:lnTo>
                  <a:lnTo>
                    <a:pt x="5885" y="403813"/>
                  </a:lnTo>
                  <a:lnTo>
                    <a:pt x="21939" y="427631"/>
                  </a:lnTo>
                  <a:lnTo>
                    <a:pt x="45755" y="443690"/>
                  </a:lnTo>
                  <a:lnTo>
                    <a:pt x="74930" y="449579"/>
                  </a:lnTo>
                  <a:lnTo>
                    <a:pt x="865378" y="449579"/>
                  </a:lnTo>
                  <a:lnTo>
                    <a:pt x="894552" y="443690"/>
                  </a:lnTo>
                  <a:lnTo>
                    <a:pt x="918368" y="427631"/>
                  </a:lnTo>
                  <a:lnTo>
                    <a:pt x="934422" y="403813"/>
                  </a:lnTo>
                  <a:lnTo>
                    <a:pt x="940308" y="374649"/>
                  </a:lnTo>
                  <a:lnTo>
                    <a:pt x="940308" y="74929"/>
                  </a:lnTo>
                  <a:lnTo>
                    <a:pt x="934422" y="45755"/>
                  </a:lnTo>
                  <a:lnTo>
                    <a:pt x="918368" y="21939"/>
                  </a:lnTo>
                  <a:lnTo>
                    <a:pt x="894552" y="5885"/>
                  </a:lnTo>
                  <a:lnTo>
                    <a:pt x="865378" y="0"/>
                  </a:lnTo>
                  <a:close/>
                </a:path>
              </a:pathLst>
            </a:custGeom>
            <a:solidFill>
              <a:srgbClr val="FFFFFF"/>
            </a:solidFill>
          </p:spPr>
          <p:txBody>
            <a:bodyPr wrap="square" lIns="0" tIns="0" rIns="0" bIns="0" rtlCol="0"/>
            <a:lstStyle/>
            <a:p>
              <a:endParaRPr/>
            </a:p>
          </p:txBody>
        </p:sp>
        <p:sp>
          <p:nvSpPr>
            <p:cNvPr id="10" name="object 10"/>
            <p:cNvSpPr/>
            <p:nvPr/>
          </p:nvSpPr>
          <p:spPr>
            <a:xfrm>
              <a:off x="5898641" y="3815333"/>
              <a:ext cx="940435" cy="449580"/>
            </a:xfrm>
            <a:custGeom>
              <a:avLst/>
              <a:gdLst/>
              <a:ahLst/>
              <a:cxnLst/>
              <a:rect l="l" t="t" r="r" b="b"/>
              <a:pathLst>
                <a:path w="940434" h="449579">
                  <a:moveTo>
                    <a:pt x="0" y="74929"/>
                  </a:moveTo>
                  <a:lnTo>
                    <a:pt x="5885" y="45755"/>
                  </a:lnTo>
                  <a:lnTo>
                    <a:pt x="21939" y="21939"/>
                  </a:lnTo>
                  <a:lnTo>
                    <a:pt x="45755" y="5885"/>
                  </a:lnTo>
                  <a:lnTo>
                    <a:pt x="74930" y="0"/>
                  </a:lnTo>
                  <a:lnTo>
                    <a:pt x="865378" y="0"/>
                  </a:lnTo>
                  <a:lnTo>
                    <a:pt x="894552" y="5885"/>
                  </a:lnTo>
                  <a:lnTo>
                    <a:pt x="918368" y="21939"/>
                  </a:lnTo>
                  <a:lnTo>
                    <a:pt x="934422" y="45755"/>
                  </a:lnTo>
                  <a:lnTo>
                    <a:pt x="940308" y="74929"/>
                  </a:lnTo>
                  <a:lnTo>
                    <a:pt x="940308" y="374649"/>
                  </a:lnTo>
                  <a:lnTo>
                    <a:pt x="934422" y="403813"/>
                  </a:lnTo>
                  <a:lnTo>
                    <a:pt x="918368" y="427631"/>
                  </a:lnTo>
                  <a:lnTo>
                    <a:pt x="894552" y="443690"/>
                  </a:lnTo>
                  <a:lnTo>
                    <a:pt x="865378" y="449579"/>
                  </a:lnTo>
                  <a:lnTo>
                    <a:pt x="74930" y="449579"/>
                  </a:lnTo>
                  <a:lnTo>
                    <a:pt x="45755" y="443690"/>
                  </a:lnTo>
                  <a:lnTo>
                    <a:pt x="21939" y="427631"/>
                  </a:lnTo>
                  <a:lnTo>
                    <a:pt x="5885" y="403813"/>
                  </a:lnTo>
                  <a:lnTo>
                    <a:pt x="0" y="374649"/>
                  </a:lnTo>
                  <a:lnTo>
                    <a:pt x="0" y="74929"/>
                  </a:lnTo>
                  <a:close/>
                </a:path>
              </a:pathLst>
            </a:custGeom>
            <a:ln w="25907">
              <a:solidFill>
                <a:srgbClr val="464646"/>
              </a:solidFill>
            </a:ln>
          </p:spPr>
          <p:txBody>
            <a:bodyPr wrap="square" lIns="0" tIns="0" rIns="0" bIns="0" rtlCol="0"/>
            <a:lstStyle/>
            <a:p>
              <a:endParaRPr/>
            </a:p>
          </p:txBody>
        </p:sp>
      </p:grpSp>
      <p:sp>
        <p:nvSpPr>
          <p:cNvPr id="11" name="object 11"/>
          <p:cNvSpPr txBox="1">
            <a:spLocks noGrp="1"/>
          </p:cNvSpPr>
          <p:nvPr>
            <p:ph type="title"/>
          </p:nvPr>
        </p:nvSpPr>
        <p:spPr>
          <a:xfrm>
            <a:off x="415544" y="139065"/>
            <a:ext cx="3919220"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Elastic Load</a:t>
            </a:r>
            <a:r>
              <a:rPr u="none" dirty="0">
                <a:solidFill>
                  <a:srgbClr val="4D4D4B"/>
                </a:solidFill>
              </a:rPr>
              <a:t> </a:t>
            </a:r>
            <a:r>
              <a:rPr u="none" spc="-5" dirty="0">
                <a:solidFill>
                  <a:srgbClr val="4D4D4B"/>
                </a:solidFill>
              </a:rPr>
              <a:t>Balancing</a:t>
            </a:r>
          </a:p>
        </p:txBody>
      </p:sp>
      <p:sp>
        <p:nvSpPr>
          <p:cNvPr id="12" name="object 12"/>
          <p:cNvSpPr txBox="1"/>
          <p:nvPr/>
        </p:nvSpPr>
        <p:spPr>
          <a:xfrm>
            <a:off x="6133846" y="3884777"/>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grpSp>
        <p:nvGrpSpPr>
          <p:cNvPr id="13" name="object 13"/>
          <p:cNvGrpSpPr/>
          <p:nvPr/>
        </p:nvGrpSpPr>
        <p:grpSpPr>
          <a:xfrm>
            <a:off x="2279840" y="3806888"/>
            <a:ext cx="966469" cy="474345"/>
            <a:chOff x="2279840" y="3806888"/>
            <a:chExt cx="966469" cy="474345"/>
          </a:xfrm>
        </p:grpSpPr>
        <p:sp>
          <p:nvSpPr>
            <p:cNvPr id="14" name="object 14"/>
            <p:cNvSpPr/>
            <p:nvPr/>
          </p:nvSpPr>
          <p:spPr>
            <a:xfrm>
              <a:off x="2292857" y="3819906"/>
              <a:ext cx="940435" cy="448309"/>
            </a:xfrm>
            <a:custGeom>
              <a:avLst/>
              <a:gdLst/>
              <a:ahLst/>
              <a:cxnLst/>
              <a:rect l="l" t="t" r="r" b="b"/>
              <a:pathLst>
                <a:path w="940435" h="448310">
                  <a:moveTo>
                    <a:pt x="865632" y="0"/>
                  </a:moveTo>
                  <a:lnTo>
                    <a:pt x="74675" y="0"/>
                  </a:lnTo>
                  <a:lnTo>
                    <a:pt x="45594" y="5863"/>
                  </a:lnTo>
                  <a:lnTo>
                    <a:pt x="21859" y="21859"/>
                  </a:lnTo>
                  <a:lnTo>
                    <a:pt x="5863" y="45594"/>
                  </a:lnTo>
                  <a:lnTo>
                    <a:pt x="0" y="74676"/>
                  </a:lnTo>
                  <a:lnTo>
                    <a:pt x="0" y="373380"/>
                  </a:lnTo>
                  <a:lnTo>
                    <a:pt x="5863" y="402444"/>
                  </a:lnTo>
                  <a:lnTo>
                    <a:pt x="21859" y="426181"/>
                  </a:lnTo>
                  <a:lnTo>
                    <a:pt x="45594" y="442186"/>
                  </a:lnTo>
                  <a:lnTo>
                    <a:pt x="74675" y="448056"/>
                  </a:lnTo>
                  <a:lnTo>
                    <a:pt x="865632" y="448056"/>
                  </a:lnTo>
                  <a:lnTo>
                    <a:pt x="894713" y="442186"/>
                  </a:lnTo>
                  <a:lnTo>
                    <a:pt x="918448" y="426181"/>
                  </a:lnTo>
                  <a:lnTo>
                    <a:pt x="934444" y="402444"/>
                  </a:lnTo>
                  <a:lnTo>
                    <a:pt x="940308" y="373380"/>
                  </a:lnTo>
                  <a:lnTo>
                    <a:pt x="940308" y="74676"/>
                  </a:lnTo>
                  <a:lnTo>
                    <a:pt x="934444" y="45594"/>
                  </a:lnTo>
                  <a:lnTo>
                    <a:pt x="918448" y="21859"/>
                  </a:lnTo>
                  <a:lnTo>
                    <a:pt x="894713" y="5863"/>
                  </a:lnTo>
                  <a:lnTo>
                    <a:pt x="865632" y="0"/>
                  </a:lnTo>
                  <a:close/>
                </a:path>
              </a:pathLst>
            </a:custGeom>
            <a:solidFill>
              <a:srgbClr val="FFFFFF"/>
            </a:solidFill>
          </p:spPr>
          <p:txBody>
            <a:bodyPr wrap="square" lIns="0" tIns="0" rIns="0" bIns="0" rtlCol="0"/>
            <a:lstStyle/>
            <a:p>
              <a:endParaRPr/>
            </a:p>
          </p:txBody>
        </p:sp>
        <p:sp>
          <p:nvSpPr>
            <p:cNvPr id="15" name="object 15"/>
            <p:cNvSpPr/>
            <p:nvPr/>
          </p:nvSpPr>
          <p:spPr>
            <a:xfrm>
              <a:off x="2292857" y="3819906"/>
              <a:ext cx="940435" cy="448309"/>
            </a:xfrm>
            <a:custGeom>
              <a:avLst/>
              <a:gdLst/>
              <a:ahLst/>
              <a:cxnLst/>
              <a:rect l="l" t="t" r="r" b="b"/>
              <a:pathLst>
                <a:path w="940435" h="448310">
                  <a:moveTo>
                    <a:pt x="0" y="74676"/>
                  </a:moveTo>
                  <a:lnTo>
                    <a:pt x="5863" y="45594"/>
                  </a:lnTo>
                  <a:lnTo>
                    <a:pt x="21859" y="21859"/>
                  </a:lnTo>
                  <a:lnTo>
                    <a:pt x="45594" y="5863"/>
                  </a:lnTo>
                  <a:lnTo>
                    <a:pt x="74675" y="0"/>
                  </a:lnTo>
                  <a:lnTo>
                    <a:pt x="865632" y="0"/>
                  </a:lnTo>
                  <a:lnTo>
                    <a:pt x="894713" y="5863"/>
                  </a:lnTo>
                  <a:lnTo>
                    <a:pt x="918448" y="21859"/>
                  </a:lnTo>
                  <a:lnTo>
                    <a:pt x="934444" y="45594"/>
                  </a:lnTo>
                  <a:lnTo>
                    <a:pt x="940308" y="74676"/>
                  </a:lnTo>
                  <a:lnTo>
                    <a:pt x="940308" y="373380"/>
                  </a:lnTo>
                  <a:lnTo>
                    <a:pt x="934444" y="402444"/>
                  </a:lnTo>
                  <a:lnTo>
                    <a:pt x="918448" y="426181"/>
                  </a:lnTo>
                  <a:lnTo>
                    <a:pt x="894713" y="442186"/>
                  </a:lnTo>
                  <a:lnTo>
                    <a:pt x="865632" y="448056"/>
                  </a:lnTo>
                  <a:lnTo>
                    <a:pt x="74675" y="448056"/>
                  </a:lnTo>
                  <a:lnTo>
                    <a:pt x="45594" y="442186"/>
                  </a:lnTo>
                  <a:lnTo>
                    <a:pt x="21859" y="426181"/>
                  </a:lnTo>
                  <a:lnTo>
                    <a:pt x="5863" y="402444"/>
                  </a:lnTo>
                  <a:lnTo>
                    <a:pt x="0" y="373380"/>
                  </a:lnTo>
                  <a:lnTo>
                    <a:pt x="0" y="74676"/>
                  </a:lnTo>
                  <a:close/>
                </a:path>
              </a:pathLst>
            </a:custGeom>
            <a:ln w="25908">
              <a:solidFill>
                <a:srgbClr val="464646"/>
              </a:solidFill>
            </a:ln>
          </p:spPr>
          <p:txBody>
            <a:bodyPr wrap="square" lIns="0" tIns="0" rIns="0" bIns="0" rtlCol="0"/>
            <a:lstStyle/>
            <a:p>
              <a:endParaRPr/>
            </a:p>
          </p:txBody>
        </p:sp>
      </p:grpSp>
      <p:sp>
        <p:nvSpPr>
          <p:cNvPr id="16" name="object 16"/>
          <p:cNvSpPr txBox="1"/>
          <p:nvPr/>
        </p:nvSpPr>
        <p:spPr>
          <a:xfrm>
            <a:off x="2527554" y="3887520"/>
            <a:ext cx="46990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64646"/>
                </a:solidFill>
                <a:latin typeface="Arial MT"/>
                <a:cs typeface="Arial MT"/>
              </a:rPr>
              <a:t>E</a:t>
            </a:r>
            <a:r>
              <a:rPr sz="1800" spc="-10" dirty="0">
                <a:solidFill>
                  <a:srgbClr val="464646"/>
                </a:solidFill>
                <a:latin typeface="Arial MT"/>
                <a:cs typeface="Arial MT"/>
              </a:rPr>
              <a:t>C</a:t>
            </a:r>
            <a:r>
              <a:rPr sz="1800" dirty="0">
                <a:solidFill>
                  <a:srgbClr val="464646"/>
                </a:solidFill>
                <a:latin typeface="Arial MT"/>
                <a:cs typeface="Arial MT"/>
              </a:rPr>
              <a:t>2</a:t>
            </a:r>
            <a:endParaRPr sz="1800">
              <a:latin typeface="Arial MT"/>
              <a:cs typeface="Arial MT"/>
            </a:endParaRPr>
          </a:p>
        </p:txBody>
      </p:sp>
      <p:grpSp>
        <p:nvGrpSpPr>
          <p:cNvPr id="17" name="object 17"/>
          <p:cNvGrpSpPr/>
          <p:nvPr/>
        </p:nvGrpSpPr>
        <p:grpSpPr>
          <a:xfrm>
            <a:off x="3480752" y="3806888"/>
            <a:ext cx="2169160" cy="474345"/>
            <a:chOff x="3480752" y="3806888"/>
            <a:chExt cx="2169160" cy="474345"/>
          </a:xfrm>
        </p:grpSpPr>
        <p:sp>
          <p:nvSpPr>
            <p:cNvPr id="18" name="object 18"/>
            <p:cNvSpPr/>
            <p:nvPr/>
          </p:nvSpPr>
          <p:spPr>
            <a:xfrm>
              <a:off x="3493770" y="3819906"/>
              <a:ext cx="940435" cy="448309"/>
            </a:xfrm>
            <a:custGeom>
              <a:avLst/>
              <a:gdLst/>
              <a:ahLst/>
              <a:cxnLst/>
              <a:rect l="l" t="t" r="r" b="b"/>
              <a:pathLst>
                <a:path w="940435" h="448310">
                  <a:moveTo>
                    <a:pt x="865631" y="0"/>
                  </a:moveTo>
                  <a:lnTo>
                    <a:pt x="74675" y="0"/>
                  </a:lnTo>
                  <a:lnTo>
                    <a:pt x="45594" y="5863"/>
                  </a:lnTo>
                  <a:lnTo>
                    <a:pt x="21859" y="21859"/>
                  </a:lnTo>
                  <a:lnTo>
                    <a:pt x="5863" y="45594"/>
                  </a:lnTo>
                  <a:lnTo>
                    <a:pt x="0" y="74676"/>
                  </a:lnTo>
                  <a:lnTo>
                    <a:pt x="0" y="373380"/>
                  </a:lnTo>
                  <a:lnTo>
                    <a:pt x="5863" y="402444"/>
                  </a:lnTo>
                  <a:lnTo>
                    <a:pt x="21859" y="426181"/>
                  </a:lnTo>
                  <a:lnTo>
                    <a:pt x="45594" y="442186"/>
                  </a:lnTo>
                  <a:lnTo>
                    <a:pt x="74675" y="448056"/>
                  </a:lnTo>
                  <a:lnTo>
                    <a:pt x="865631" y="448056"/>
                  </a:lnTo>
                  <a:lnTo>
                    <a:pt x="894713" y="442186"/>
                  </a:lnTo>
                  <a:lnTo>
                    <a:pt x="918448" y="426181"/>
                  </a:lnTo>
                  <a:lnTo>
                    <a:pt x="934444" y="402444"/>
                  </a:lnTo>
                  <a:lnTo>
                    <a:pt x="940307" y="373380"/>
                  </a:lnTo>
                  <a:lnTo>
                    <a:pt x="940307" y="74676"/>
                  </a:lnTo>
                  <a:lnTo>
                    <a:pt x="934444" y="45594"/>
                  </a:lnTo>
                  <a:lnTo>
                    <a:pt x="918448" y="21859"/>
                  </a:lnTo>
                  <a:lnTo>
                    <a:pt x="894713" y="5863"/>
                  </a:lnTo>
                  <a:lnTo>
                    <a:pt x="865631" y="0"/>
                  </a:lnTo>
                  <a:close/>
                </a:path>
              </a:pathLst>
            </a:custGeom>
            <a:solidFill>
              <a:srgbClr val="FFFFFF"/>
            </a:solidFill>
          </p:spPr>
          <p:txBody>
            <a:bodyPr wrap="square" lIns="0" tIns="0" rIns="0" bIns="0" rtlCol="0"/>
            <a:lstStyle/>
            <a:p>
              <a:endParaRPr/>
            </a:p>
          </p:txBody>
        </p:sp>
        <p:sp>
          <p:nvSpPr>
            <p:cNvPr id="19" name="object 19"/>
            <p:cNvSpPr/>
            <p:nvPr/>
          </p:nvSpPr>
          <p:spPr>
            <a:xfrm>
              <a:off x="3493770" y="3819906"/>
              <a:ext cx="940435" cy="448309"/>
            </a:xfrm>
            <a:custGeom>
              <a:avLst/>
              <a:gdLst/>
              <a:ahLst/>
              <a:cxnLst/>
              <a:rect l="l" t="t" r="r" b="b"/>
              <a:pathLst>
                <a:path w="940435" h="448310">
                  <a:moveTo>
                    <a:pt x="0" y="74676"/>
                  </a:moveTo>
                  <a:lnTo>
                    <a:pt x="5863" y="45594"/>
                  </a:lnTo>
                  <a:lnTo>
                    <a:pt x="21859" y="21859"/>
                  </a:lnTo>
                  <a:lnTo>
                    <a:pt x="45594" y="5863"/>
                  </a:lnTo>
                  <a:lnTo>
                    <a:pt x="74675" y="0"/>
                  </a:lnTo>
                  <a:lnTo>
                    <a:pt x="865631" y="0"/>
                  </a:lnTo>
                  <a:lnTo>
                    <a:pt x="894713" y="5863"/>
                  </a:lnTo>
                  <a:lnTo>
                    <a:pt x="918448" y="21859"/>
                  </a:lnTo>
                  <a:lnTo>
                    <a:pt x="934444" y="45594"/>
                  </a:lnTo>
                  <a:lnTo>
                    <a:pt x="940307" y="74676"/>
                  </a:lnTo>
                  <a:lnTo>
                    <a:pt x="940307" y="373380"/>
                  </a:lnTo>
                  <a:lnTo>
                    <a:pt x="934444" y="402444"/>
                  </a:lnTo>
                  <a:lnTo>
                    <a:pt x="918448" y="426181"/>
                  </a:lnTo>
                  <a:lnTo>
                    <a:pt x="894713" y="442186"/>
                  </a:lnTo>
                  <a:lnTo>
                    <a:pt x="865631" y="448056"/>
                  </a:lnTo>
                  <a:lnTo>
                    <a:pt x="74675" y="448056"/>
                  </a:lnTo>
                  <a:lnTo>
                    <a:pt x="45594" y="442186"/>
                  </a:lnTo>
                  <a:lnTo>
                    <a:pt x="21859" y="426181"/>
                  </a:lnTo>
                  <a:lnTo>
                    <a:pt x="5863" y="402444"/>
                  </a:lnTo>
                  <a:lnTo>
                    <a:pt x="0" y="373380"/>
                  </a:lnTo>
                  <a:lnTo>
                    <a:pt x="0" y="74676"/>
                  </a:lnTo>
                  <a:close/>
                </a:path>
              </a:pathLst>
            </a:custGeom>
            <a:ln w="25908">
              <a:solidFill>
                <a:srgbClr val="464646"/>
              </a:solidFill>
            </a:ln>
          </p:spPr>
          <p:txBody>
            <a:bodyPr wrap="square" lIns="0" tIns="0" rIns="0" bIns="0" rtlCol="0"/>
            <a:lstStyle/>
            <a:p>
              <a:endParaRPr/>
            </a:p>
          </p:txBody>
        </p:sp>
        <p:sp>
          <p:nvSpPr>
            <p:cNvPr id="20" name="object 20"/>
            <p:cNvSpPr/>
            <p:nvPr/>
          </p:nvSpPr>
          <p:spPr>
            <a:xfrm>
              <a:off x="4696206" y="3819906"/>
              <a:ext cx="940435" cy="448309"/>
            </a:xfrm>
            <a:custGeom>
              <a:avLst/>
              <a:gdLst/>
              <a:ahLst/>
              <a:cxnLst/>
              <a:rect l="l" t="t" r="r" b="b"/>
              <a:pathLst>
                <a:path w="940435" h="448310">
                  <a:moveTo>
                    <a:pt x="865632" y="0"/>
                  </a:moveTo>
                  <a:lnTo>
                    <a:pt x="74676" y="0"/>
                  </a:lnTo>
                  <a:lnTo>
                    <a:pt x="45594" y="5863"/>
                  </a:lnTo>
                  <a:lnTo>
                    <a:pt x="21859" y="21859"/>
                  </a:lnTo>
                  <a:lnTo>
                    <a:pt x="5863" y="45594"/>
                  </a:lnTo>
                  <a:lnTo>
                    <a:pt x="0" y="74676"/>
                  </a:lnTo>
                  <a:lnTo>
                    <a:pt x="0" y="373380"/>
                  </a:lnTo>
                  <a:lnTo>
                    <a:pt x="5863" y="402444"/>
                  </a:lnTo>
                  <a:lnTo>
                    <a:pt x="21859" y="426181"/>
                  </a:lnTo>
                  <a:lnTo>
                    <a:pt x="45594" y="442186"/>
                  </a:lnTo>
                  <a:lnTo>
                    <a:pt x="74676" y="448056"/>
                  </a:lnTo>
                  <a:lnTo>
                    <a:pt x="865632" y="448056"/>
                  </a:lnTo>
                  <a:lnTo>
                    <a:pt x="894713" y="442186"/>
                  </a:lnTo>
                  <a:lnTo>
                    <a:pt x="918448" y="426181"/>
                  </a:lnTo>
                  <a:lnTo>
                    <a:pt x="934444" y="402444"/>
                  </a:lnTo>
                  <a:lnTo>
                    <a:pt x="940308" y="373380"/>
                  </a:lnTo>
                  <a:lnTo>
                    <a:pt x="940308" y="74676"/>
                  </a:lnTo>
                  <a:lnTo>
                    <a:pt x="934444" y="45594"/>
                  </a:lnTo>
                  <a:lnTo>
                    <a:pt x="918448" y="21859"/>
                  </a:lnTo>
                  <a:lnTo>
                    <a:pt x="894713" y="5863"/>
                  </a:lnTo>
                  <a:lnTo>
                    <a:pt x="865632" y="0"/>
                  </a:lnTo>
                  <a:close/>
                </a:path>
              </a:pathLst>
            </a:custGeom>
            <a:solidFill>
              <a:srgbClr val="FFFFFF"/>
            </a:solidFill>
          </p:spPr>
          <p:txBody>
            <a:bodyPr wrap="square" lIns="0" tIns="0" rIns="0" bIns="0" rtlCol="0"/>
            <a:lstStyle/>
            <a:p>
              <a:endParaRPr/>
            </a:p>
          </p:txBody>
        </p:sp>
        <p:sp>
          <p:nvSpPr>
            <p:cNvPr id="21" name="object 21"/>
            <p:cNvSpPr/>
            <p:nvPr/>
          </p:nvSpPr>
          <p:spPr>
            <a:xfrm>
              <a:off x="4696206" y="3819906"/>
              <a:ext cx="940435" cy="448309"/>
            </a:xfrm>
            <a:custGeom>
              <a:avLst/>
              <a:gdLst/>
              <a:ahLst/>
              <a:cxnLst/>
              <a:rect l="l" t="t" r="r" b="b"/>
              <a:pathLst>
                <a:path w="940435" h="448310">
                  <a:moveTo>
                    <a:pt x="0" y="74676"/>
                  </a:moveTo>
                  <a:lnTo>
                    <a:pt x="5863" y="45594"/>
                  </a:lnTo>
                  <a:lnTo>
                    <a:pt x="21859" y="21859"/>
                  </a:lnTo>
                  <a:lnTo>
                    <a:pt x="45594" y="5863"/>
                  </a:lnTo>
                  <a:lnTo>
                    <a:pt x="74676" y="0"/>
                  </a:lnTo>
                  <a:lnTo>
                    <a:pt x="865632" y="0"/>
                  </a:lnTo>
                  <a:lnTo>
                    <a:pt x="894713" y="5863"/>
                  </a:lnTo>
                  <a:lnTo>
                    <a:pt x="918448" y="21859"/>
                  </a:lnTo>
                  <a:lnTo>
                    <a:pt x="934444" y="45594"/>
                  </a:lnTo>
                  <a:lnTo>
                    <a:pt x="940308" y="74676"/>
                  </a:lnTo>
                  <a:lnTo>
                    <a:pt x="940308" y="373380"/>
                  </a:lnTo>
                  <a:lnTo>
                    <a:pt x="934444" y="402444"/>
                  </a:lnTo>
                  <a:lnTo>
                    <a:pt x="918448" y="426181"/>
                  </a:lnTo>
                  <a:lnTo>
                    <a:pt x="894713" y="442186"/>
                  </a:lnTo>
                  <a:lnTo>
                    <a:pt x="865632" y="448056"/>
                  </a:lnTo>
                  <a:lnTo>
                    <a:pt x="74676" y="448056"/>
                  </a:lnTo>
                  <a:lnTo>
                    <a:pt x="45594" y="442186"/>
                  </a:lnTo>
                  <a:lnTo>
                    <a:pt x="21859" y="426181"/>
                  </a:lnTo>
                  <a:lnTo>
                    <a:pt x="5863" y="402444"/>
                  </a:lnTo>
                  <a:lnTo>
                    <a:pt x="0" y="373380"/>
                  </a:lnTo>
                  <a:lnTo>
                    <a:pt x="0" y="74676"/>
                  </a:lnTo>
                  <a:close/>
                </a:path>
              </a:pathLst>
            </a:custGeom>
            <a:ln w="25908">
              <a:solidFill>
                <a:srgbClr val="464646"/>
              </a:solidFill>
            </a:ln>
          </p:spPr>
          <p:txBody>
            <a:bodyPr wrap="square" lIns="0" tIns="0" rIns="0" bIns="0" rtlCol="0"/>
            <a:lstStyle/>
            <a:p>
              <a:endParaRPr/>
            </a:p>
          </p:txBody>
        </p:sp>
      </p:grpSp>
      <p:sp>
        <p:nvSpPr>
          <p:cNvPr id="22" name="object 22"/>
          <p:cNvSpPr txBox="1"/>
          <p:nvPr/>
        </p:nvSpPr>
        <p:spPr>
          <a:xfrm>
            <a:off x="3729609" y="3887520"/>
            <a:ext cx="1671955" cy="774700"/>
          </a:xfrm>
          <a:prstGeom prst="rect">
            <a:avLst/>
          </a:prstGeom>
        </p:spPr>
        <p:txBody>
          <a:bodyPr vert="horz" wrap="square" lIns="0" tIns="12700" rIns="0" bIns="0" rtlCol="0">
            <a:spAutoFit/>
          </a:bodyPr>
          <a:lstStyle/>
          <a:p>
            <a:pPr algn="ctr">
              <a:lnSpc>
                <a:spcPct val="100000"/>
              </a:lnSpc>
              <a:spcBef>
                <a:spcPts val="100"/>
              </a:spcBef>
              <a:tabLst>
                <a:tab pos="1202055" algn="l"/>
              </a:tabLst>
            </a:pPr>
            <a:r>
              <a:rPr sz="1800" spc="-5" dirty="0">
                <a:solidFill>
                  <a:srgbClr val="464646"/>
                </a:solidFill>
                <a:latin typeface="Arial MT"/>
                <a:cs typeface="Arial MT"/>
              </a:rPr>
              <a:t>EC2	EC2</a:t>
            </a:r>
            <a:endParaRPr sz="1800">
              <a:latin typeface="Arial MT"/>
              <a:cs typeface="Arial MT"/>
            </a:endParaRPr>
          </a:p>
          <a:p>
            <a:pPr algn="ctr">
              <a:lnSpc>
                <a:spcPct val="100000"/>
              </a:lnSpc>
              <a:spcBef>
                <a:spcPts val="1575"/>
              </a:spcBef>
            </a:pPr>
            <a:r>
              <a:rPr sz="1800" spc="-35" dirty="0">
                <a:solidFill>
                  <a:srgbClr val="464646"/>
                </a:solidFill>
                <a:latin typeface="Arial MT"/>
                <a:cs typeface="Arial MT"/>
              </a:rPr>
              <a:t>Target</a:t>
            </a:r>
            <a:r>
              <a:rPr sz="1800" spc="-50" dirty="0">
                <a:solidFill>
                  <a:srgbClr val="464646"/>
                </a:solidFill>
                <a:latin typeface="Arial MT"/>
                <a:cs typeface="Arial MT"/>
              </a:rPr>
              <a:t> </a:t>
            </a:r>
            <a:r>
              <a:rPr sz="1800" spc="-5" dirty="0">
                <a:solidFill>
                  <a:srgbClr val="464646"/>
                </a:solidFill>
                <a:latin typeface="Arial MT"/>
                <a:cs typeface="Arial MT"/>
              </a:rPr>
              <a:t>Pool</a:t>
            </a:r>
            <a:endParaRPr sz="1800">
              <a:latin typeface="Arial MT"/>
              <a:cs typeface="Arial MT"/>
            </a:endParaRPr>
          </a:p>
        </p:txBody>
      </p:sp>
      <p:grpSp>
        <p:nvGrpSpPr>
          <p:cNvPr id="23" name="object 23"/>
          <p:cNvGrpSpPr/>
          <p:nvPr/>
        </p:nvGrpSpPr>
        <p:grpSpPr>
          <a:xfrm>
            <a:off x="3249094" y="737639"/>
            <a:ext cx="2632075" cy="2894330"/>
            <a:chOff x="3249094" y="737639"/>
            <a:chExt cx="2632075" cy="2894330"/>
          </a:xfrm>
        </p:grpSpPr>
        <p:pic>
          <p:nvPicPr>
            <p:cNvPr id="24" name="object 24"/>
            <p:cNvPicPr/>
            <p:nvPr/>
          </p:nvPicPr>
          <p:blipFill>
            <a:blip r:embed="rId4" cstate="print"/>
            <a:stretch>
              <a:fillRect/>
            </a:stretch>
          </p:blipFill>
          <p:spPr>
            <a:xfrm>
              <a:off x="4442460" y="2744698"/>
              <a:ext cx="237832" cy="886993"/>
            </a:xfrm>
            <a:prstGeom prst="rect">
              <a:avLst/>
            </a:prstGeom>
          </p:spPr>
        </p:pic>
        <p:sp>
          <p:nvSpPr>
            <p:cNvPr id="25" name="object 25"/>
            <p:cNvSpPr/>
            <p:nvPr/>
          </p:nvSpPr>
          <p:spPr>
            <a:xfrm>
              <a:off x="4524756" y="2846069"/>
              <a:ext cx="78105" cy="648970"/>
            </a:xfrm>
            <a:custGeom>
              <a:avLst/>
              <a:gdLst/>
              <a:ahLst/>
              <a:cxnLst/>
              <a:rect l="l" t="t" r="r" b="b"/>
              <a:pathLst>
                <a:path w="78104" h="648970">
                  <a:moveTo>
                    <a:pt x="25908" y="571119"/>
                  </a:moveTo>
                  <a:lnTo>
                    <a:pt x="0" y="571119"/>
                  </a:lnTo>
                  <a:lnTo>
                    <a:pt x="38862" y="648843"/>
                  </a:lnTo>
                  <a:lnTo>
                    <a:pt x="71247" y="584073"/>
                  </a:lnTo>
                  <a:lnTo>
                    <a:pt x="25908" y="584073"/>
                  </a:lnTo>
                  <a:lnTo>
                    <a:pt x="25908" y="571119"/>
                  </a:lnTo>
                  <a:close/>
                </a:path>
                <a:path w="78104" h="648970">
                  <a:moveTo>
                    <a:pt x="51816" y="64769"/>
                  </a:moveTo>
                  <a:lnTo>
                    <a:pt x="25908" y="64769"/>
                  </a:lnTo>
                  <a:lnTo>
                    <a:pt x="25908" y="584073"/>
                  </a:lnTo>
                  <a:lnTo>
                    <a:pt x="51816" y="584073"/>
                  </a:lnTo>
                  <a:lnTo>
                    <a:pt x="51816" y="64769"/>
                  </a:lnTo>
                  <a:close/>
                </a:path>
                <a:path w="78104" h="648970">
                  <a:moveTo>
                    <a:pt x="77724" y="571119"/>
                  </a:moveTo>
                  <a:lnTo>
                    <a:pt x="51816" y="571119"/>
                  </a:lnTo>
                  <a:lnTo>
                    <a:pt x="51816" y="584073"/>
                  </a:lnTo>
                  <a:lnTo>
                    <a:pt x="71247" y="584073"/>
                  </a:lnTo>
                  <a:lnTo>
                    <a:pt x="77724" y="571119"/>
                  </a:lnTo>
                  <a:close/>
                </a:path>
                <a:path w="78104" h="648970">
                  <a:moveTo>
                    <a:pt x="38862" y="0"/>
                  </a:moveTo>
                  <a:lnTo>
                    <a:pt x="0" y="77724"/>
                  </a:lnTo>
                  <a:lnTo>
                    <a:pt x="25908" y="77724"/>
                  </a:lnTo>
                  <a:lnTo>
                    <a:pt x="25908" y="64769"/>
                  </a:lnTo>
                  <a:lnTo>
                    <a:pt x="71247" y="64769"/>
                  </a:lnTo>
                  <a:lnTo>
                    <a:pt x="38862" y="0"/>
                  </a:lnTo>
                  <a:close/>
                </a:path>
                <a:path w="78104" h="648970">
                  <a:moveTo>
                    <a:pt x="71247" y="64769"/>
                  </a:moveTo>
                  <a:lnTo>
                    <a:pt x="51816" y="64769"/>
                  </a:lnTo>
                  <a:lnTo>
                    <a:pt x="51816" y="77724"/>
                  </a:lnTo>
                  <a:lnTo>
                    <a:pt x="77724" y="77724"/>
                  </a:lnTo>
                  <a:lnTo>
                    <a:pt x="71247" y="64769"/>
                  </a:lnTo>
                  <a:close/>
                </a:path>
              </a:pathLst>
            </a:custGeom>
            <a:solidFill>
              <a:srgbClr val="FBB64B"/>
            </a:solidFill>
          </p:spPr>
          <p:txBody>
            <a:bodyPr wrap="square" lIns="0" tIns="0" rIns="0" bIns="0" rtlCol="0"/>
            <a:lstStyle/>
            <a:p>
              <a:endParaRPr/>
            </a:p>
          </p:txBody>
        </p:sp>
        <p:pic>
          <p:nvPicPr>
            <p:cNvPr id="26" name="object 26"/>
            <p:cNvPicPr/>
            <p:nvPr/>
          </p:nvPicPr>
          <p:blipFill>
            <a:blip r:embed="rId5" cstate="print"/>
            <a:stretch>
              <a:fillRect/>
            </a:stretch>
          </p:blipFill>
          <p:spPr>
            <a:xfrm>
              <a:off x="4439412" y="1551444"/>
              <a:ext cx="240817" cy="883907"/>
            </a:xfrm>
            <a:prstGeom prst="rect">
              <a:avLst/>
            </a:prstGeom>
          </p:spPr>
        </p:pic>
        <p:sp>
          <p:nvSpPr>
            <p:cNvPr id="27" name="object 27"/>
            <p:cNvSpPr/>
            <p:nvPr/>
          </p:nvSpPr>
          <p:spPr>
            <a:xfrm>
              <a:off x="4522088" y="1652777"/>
              <a:ext cx="80010" cy="647065"/>
            </a:xfrm>
            <a:custGeom>
              <a:avLst/>
              <a:gdLst/>
              <a:ahLst/>
              <a:cxnLst/>
              <a:rect l="l" t="t" r="r" b="b"/>
              <a:pathLst>
                <a:path w="80010" h="647064">
                  <a:moveTo>
                    <a:pt x="28009" y="569341"/>
                  </a:moveTo>
                  <a:lnTo>
                    <a:pt x="2159" y="569468"/>
                  </a:lnTo>
                  <a:lnTo>
                    <a:pt x="41401" y="646938"/>
                  </a:lnTo>
                  <a:lnTo>
                    <a:pt x="73354" y="582295"/>
                  </a:lnTo>
                  <a:lnTo>
                    <a:pt x="28066" y="582295"/>
                  </a:lnTo>
                  <a:lnTo>
                    <a:pt x="28009" y="569341"/>
                  </a:lnTo>
                  <a:close/>
                </a:path>
                <a:path w="80010" h="647064">
                  <a:moveTo>
                    <a:pt x="53917" y="569214"/>
                  </a:moveTo>
                  <a:lnTo>
                    <a:pt x="28009" y="569341"/>
                  </a:lnTo>
                  <a:lnTo>
                    <a:pt x="28066" y="582295"/>
                  </a:lnTo>
                  <a:lnTo>
                    <a:pt x="53975" y="582168"/>
                  </a:lnTo>
                  <a:lnTo>
                    <a:pt x="53917" y="569214"/>
                  </a:lnTo>
                  <a:close/>
                </a:path>
                <a:path w="80010" h="647064">
                  <a:moveTo>
                    <a:pt x="79883" y="569087"/>
                  </a:moveTo>
                  <a:lnTo>
                    <a:pt x="53917" y="569214"/>
                  </a:lnTo>
                  <a:lnTo>
                    <a:pt x="53975" y="582168"/>
                  </a:lnTo>
                  <a:lnTo>
                    <a:pt x="28066" y="582295"/>
                  </a:lnTo>
                  <a:lnTo>
                    <a:pt x="73354" y="582295"/>
                  </a:lnTo>
                  <a:lnTo>
                    <a:pt x="79883" y="569087"/>
                  </a:lnTo>
                  <a:close/>
                </a:path>
                <a:path w="80010" h="647064">
                  <a:moveTo>
                    <a:pt x="51746" y="77681"/>
                  </a:moveTo>
                  <a:lnTo>
                    <a:pt x="25838" y="77766"/>
                  </a:lnTo>
                  <a:lnTo>
                    <a:pt x="28009" y="569341"/>
                  </a:lnTo>
                  <a:lnTo>
                    <a:pt x="53917" y="569214"/>
                  </a:lnTo>
                  <a:lnTo>
                    <a:pt x="51746" y="77681"/>
                  </a:lnTo>
                  <a:close/>
                </a:path>
                <a:path w="80010" h="647064">
                  <a:moveTo>
                    <a:pt x="38481" y="0"/>
                  </a:moveTo>
                  <a:lnTo>
                    <a:pt x="0" y="77850"/>
                  </a:lnTo>
                  <a:lnTo>
                    <a:pt x="25838" y="77766"/>
                  </a:lnTo>
                  <a:lnTo>
                    <a:pt x="25781" y="64770"/>
                  </a:lnTo>
                  <a:lnTo>
                    <a:pt x="71237" y="64770"/>
                  </a:lnTo>
                  <a:lnTo>
                    <a:pt x="38481" y="0"/>
                  </a:lnTo>
                  <a:close/>
                </a:path>
                <a:path w="80010" h="647064">
                  <a:moveTo>
                    <a:pt x="51688" y="64770"/>
                  </a:moveTo>
                  <a:lnTo>
                    <a:pt x="25781" y="64770"/>
                  </a:lnTo>
                  <a:lnTo>
                    <a:pt x="25838" y="77766"/>
                  </a:lnTo>
                  <a:lnTo>
                    <a:pt x="51746" y="77681"/>
                  </a:lnTo>
                  <a:lnTo>
                    <a:pt x="51688" y="64770"/>
                  </a:lnTo>
                  <a:close/>
                </a:path>
                <a:path w="80010" h="647064">
                  <a:moveTo>
                    <a:pt x="71237" y="64770"/>
                  </a:moveTo>
                  <a:lnTo>
                    <a:pt x="51688" y="64770"/>
                  </a:lnTo>
                  <a:lnTo>
                    <a:pt x="51746" y="77681"/>
                  </a:lnTo>
                  <a:lnTo>
                    <a:pt x="77724" y="77597"/>
                  </a:lnTo>
                  <a:lnTo>
                    <a:pt x="71237" y="64770"/>
                  </a:lnTo>
                  <a:close/>
                </a:path>
              </a:pathLst>
            </a:custGeom>
            <a:solidFill>
              <a:srgbClr val="FBB64B"/>
            </a:solidFill>
          </p:spPr>
          <p:txBody>
            <a:bodyPr wrap="square" lIns="0" tIns="0" rIns="0" bIns="0" rtlCol="0"/>
            <a:lstStyle/>
            <a:p>
              <a:endParaRPr/>
            </a:p>
          </p:txBody>
        </p:sp>
        <p:pic>
          <p:nvPicPr>
            <p:cNvPr id="28" name="object 28"/>
            <p:cNvPicPr/>
            <p:nvPr/>
          </p:nvPicPr>
          <p:blipFill>
            <a:blip r:embed="rId6" cstate="print"/>
            <a:stretch>
              <a:fillRect/>
            </a:stretch>
          </p:blipFill>
          <p:spPr>
            <a:xfrm>
              <a:off x="4192450" y="737639"/>
              <a:ext cx="752442" cy="839184"/>
            </a:xfrm>
            <a:prstGeom prst="rect">
              <a:avLst/>
            </a:prstGeom>
          </p:spPr>
        </p:pic>
        <p:pic>
          <p:nvPicPr>
            <p:cNvPr id="29" name="object 29"/>
            <p:cNvPicPr/>
            <p:nvPr/>
          </p:nvPicPr>
          <p:blipFill>
            <a:blip r:embed="rId6" cstate="print"/>
            <a:stretch>
              <a:fillRect/>
            </a:stretch>
          </p:blipFill>
          <p:spPr>
            <a:xfrm>
              <a:off x="5128186" y="737639"/>
              <a:ext cx="752442" cy="839184"/>
            </a:xfrm>
            <a:prstGeom prst="rect">
              <a:avLst/>
            </a:prstGeom>
          </p:spPr>
        </p:pic>
        <p:pic>
          <p:nvPicPr>
            <p:cNvPr id="30" name="object 30"/>
            <p:cNvPicPr/>
            <p:nvPr/>
          </p:nvPicPr>
          <p:blipFill>
            <a:blip r:embed="rId6" cstate="print"/>
            <a:stretch>
              <a:fillRect/>
            </a:stretch>
          </p:blipFill>
          <p:spPr>
            <a:xfrm>
              <a:off x="3249094" y="737639"/>
              <a:ext cx="752442" cy="839184"/>
            </a:xfrm>
            <a:prstGeom prst="rect">
              <a:avLst/>
            </a:prstGeom>
          </p:spPr>
        </p:pic>
      </p:grpSp>
      <p:sp>
        <p:nvSpPr>
          <p:cNvPr id="31" name="object 31"/>
          <p:cNvSpPr txBox="1"/>
          <p:nvPr/>
        </p:nvSpPr>
        <p:spPr>
          <a:xfrm>
            <a:off x="3447669" y="2416555"/>
            <a:ext cx="5196205" cy="104330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Elastic</a:t>
            </a:r>
            <a:r>
              <a:rPr sz="1800" spc="-20" dirty="0">
                <a:solidFill>
                  <a:srgbClr val="464646"/>
                </a:solidFill>
                <a:latin typeface="Arial MT"/>
                <a:cs typeface="Arial MT"/>
              </a:rPr>
              <a:t> </a:t>
            </a:r>
            <a:r>
              <a:rPr sz="1800" spc="-5" dirty="0">
                <a:solidFill>
                  <a:srgbClr val="464646"/>
                </a:solidFill>
                <a:latin typeface="Arial MT"/>
                <a:cs typeface="Arial MT"/>
              </a:rPr>
              <a:t>Load</a:t>
            </a:r>
            <a:r>
              <a:rPr sz="1800" spc="-15" dirty="0">
                <a:solidFill>
                  <a:srgbClr val="464646"/>
                </a:solidFill>
                <a:latin typeface="Arial MT"/>
                <a:cs typeface="Arial MT"/>
              </a:rPr>
              <a:t> </a:t>
            </a:r>
            <a:r>
              <a:rPr sz="1800" spc="-5" dirty="0">
                <a:solidFill>
                  <a:srgbClr val="464646"/>
                </a:solidFill>
                <a:latin typeface="Arial MT"/>
                <a:cs typeface="Arial MT"/>
              </a:rPr>
              <a:t>Balancer</a:t>
            </a:r>
            <a:endParaRPr sz="1800">
              <a:latin typeface="Arial MT"/>
              <a:cs typeface="Arial MT"/>
            </a:endParaRPr>
          </a:p>
          <a:p>
            <a:pPr marL="2896235" indent="-287020">
              <a:lnSpc>
                <a:spcPct val="100000"/>
              </a:lnSpc>
              <a:spcBef>
                <a:spcPts val="1535"/>
              </a:spcBef>
              <a:buChar char="•"/>
              <a:tabLst>
                <a:tab pos="2896235" algn="l"/>
                <a:tab pos="2896870" algn="l"/>
              </a:tabLst>
            </a:pPr>
            <a:r>
              <a:rPr sz="1800" spc="-5" dirty="0">
                <a:solidFill>
                  <a:srgbClr val="464646"/>
                </a:solidFill>
                <a:latin typeface="Arial MT"/>
                <a:cs typeface="Arial MT"/>
              </a:rPr>
              <a:t>Scalable</a:t>
            </a:r>
            <a:r>
              <a:rPr sz="1800" spc="-60" dirty="0">
                <a:solidFill>
                  <a:srgbClr val="464646"/>
                </a:solidFill>
                <a:latin typeface="Arial MT"/>
                <a:cs typeface="Arial MT"/>
              </a:rPr>
              <a:t> </a:t>
            </a:r>
            <a:r>
              <a:rPr sz="1800" dirty="0">
                <a:solidFill>
                  <a:srgbClr val="464646"/>
                </a:solidFill>
                <a:latin typeface="Arial MT"/>
                <a:cs typeface="Arial MT"/>
              </a:rPr>
              <a:t>Infrastructure</a:t>
            </a:r>
            <a:endParaRPr sz="1800">
              <a:latin typeface="Arial MT"/>
              <a:cs typeface="Arial MT"/>
            </a:endParaRPr>
          </a:p>
          <a:p>
            <a:pPr marL="2896235" indent="-287020">
              <a:lnSpc>
                <a:spcPct val="100000"/>
              </a:lnSpc>
              <a:buChar char="•"/>
              <a:tabLst>
                <a:tab pos="2896235" algn="l"/>
                <a:tab pos="2896870" algn="l"/>
              </a:tabLst>
            </a:pPr>
            <a:r>
              <a:rPr sz="1800" spc="-5" dirty="0">
                <a:solidFill>
                  <a:srgbClr val="464646"/>
                </a:solidFill>
                <a:latin typeface="Arial MT"/>
                <a:cs typeface="Arial MT"/>
              </a:rPr>
              <a:t>Fault</a:t>
            </a:r>
            <a:r>
              <a:rPr sz="1800" spc="-60" dirty="0">
                <a:solidFill>
                  <a:srgbClr val="464646"/>
                </a:solidFill>
                <a:latin typeface="Arial MT"/>
                <a:cs typeface="Arial MT"/>
              </a:rPr>
              <a:t> </a:t>
            </a:r>
            <a:r>
              <a:rPr sz="1800" spc="-30" dirty="0">
                <a:solidFill>
                  <a:srgbClr val="464646"/>
                </a:solidFill>
                <a:latin typeface="Arial MT"/>
                <a:cs typeface="Arial MT"/>
              </a:rPr>
              <a:t>Tolerant</a:t>
            </a:r>
            <a:endParaRPr sz="1800">
              <a:latin typeface="Arial MT"/>
              <a:cs typeface="Arial MT"/>
            </a:endParaRPr>
          </a:p>
        </p:txBody>
      </p:sp>
      <p:grpSp>
        <p:nvGrpSpPr>
          <p:cNvPr id="32" name="object 32"/>
          <p:cNvGrpSpPr/>
          <p:nvPr/>
        </p:nvGrpSpPr>
        <p:grpSpPr>
          <a:xfrm>
            <a:off x="4683252" y="3802379"/>
            <a:ext cx="966469" cy="475615"/>
            <a:chOff x="4683252" y="3802379"/>
            <a:chExt cx="966469" cy="475615"/>
          </a:xfrm>
        </p:grpSpPr>
        <p:sp>
          <p:nvSpPr>
            <p:cNvPr id="33" name="object 33"/>
            <p:cNvSpPr/>
            <p:nvPr/>
          </p:nvSpPr>
          <p:spPr>
            <a:xfrm>
              <a:off x="4696206" y="3815333"/>
              <a:ext cx="940435" cy="449580"/>
            </a:xfrm>
            <a:custGeom>
              <a:avLst/>
              <a:gdLst/>
              <a:ahLst/>
              <a:cxnLst/>
              <a:rect l="l" t="t" r="r" b="b"/>
              <a:pathLst>
                <a:path w="940435" h="449579">
                  <a:moveTo>
                    <a:pt x="865378" y="0"/>
                  </a:moveTo>
                  <a:lnTo>
                    <a:pt x="74930" y="0"/>
                  </a:lnTo>
                  <a:lnTo>
                    <a:pt x="45755" y="5885"/>
                  </a:lnTo>
                  <a:lnTo>
                    <a:pt x="21939" y="21939"/>
                  </a:lnTo>
                  <a:lnTo>
                    <a:pt x="5885" y="45755"/>
                  </a:lnTo>
                  <a:lnTo>
                    <a:pt x="0" y="74929"/>
                  </a:lnTo>
                  <a:lnTo>
                    <a:pt x="0" y="374649"/>
                  </a:lnTo>
                  <a:lnTo>
                    <a:pt x="5885" y="403813"/>
                  </a:lnTo>
                  <a:lnTo>
                    <a:pt x="21939" y="427631"/>
                  </a:lnTo>
                  <a:lnTo>
                    <a:pt x="45755" y="443690"/>
                  </a:lnTo>
                  <a:lnTo>
                    <a:pt x="74930" y="449579"/>
                  </a:lnTo>
                  <a:lnTo>
                    <a:pt x="865378" y="449579"/>
                  </a:lnTo>
                  <a:lnTo>
                    <a:pt x="894552" y="443690"/>
                  </a:lnTo>
                  <a:lnTo>
                    <a:pt x="918368" y="427631"/>
                  </a:lnTo>
                  <a:lnTo>
                    <a:pt x="934422" y="403813"/>
                  </a:lnTo>
                  <a:lnTo>
                    <a:pt x="940308" y="374649"/>
                  </a:lnTo>
                  <a:lnTo>
                    <a:pt x="940308" y="74929"/>
                  </a:lnTo>
                  <a:lnTo>
                    <a:pt x="934422" y="45755"/>
                  </a:lnTo>
                  <a:lnTo>
                    <a:pt x="918368" y="21939"/>
                  </a:lnTo>
                  <a:lnTo>
                    <a:pt x="894552" y="5885"/>
                  </a:lnTo>
                  <a:lnTo>
                    <a:pt x="865378" y="0"/>
                  </a:lnTo>
                  <a:close/>
                </a:path>
              </a:pathLst>
            </a:custGeom>
            <a:solidFill>
              <a:srgbClr val="FF0000"/>
            </a:solidFill>
          </p:spPr>
          <p:txBody>
            <a:bodyPr wrap="square" lIns="0" tIns="0" rIns="0" bIns="0" rtlCol="0"/>
            <a:lstStyle/>
            <a:p>
              <a:endParaRPr/>
            </a:p>
          </p:txBody>
        </p:sp>
        <p:sp>
          <p:nvSpPr>
            <p:cNvPr id="34" name="object 34"/>
            <p:cNvSpPr/>
            <p:nvPr/>
          </p:nvSpPr>
          <p:spPr>
            <a:xfrm>
              <a:off x="4696206" y="3815333"/>
              <a:ext cx="940435" cy="449580"/>
            </a:xfrm>
            <a:custGeom>
              <a:avLst/>
              <a:gdLst/>
              <a:ahLst/>
              <a:cxnLst/>
              <a:rect l="l" t="t" r="r" b="b"/>
              <a:pathLst>
                <a:path w="940435" h="449579">
                  <a:moveTo>
                    <a:pt x="0" y="74929"/>
                  </a:moveTo>
                  <a:lnTo>
                    <a:pt x="5885" y="45755"/>
                  </a:lnTo>
                  <a:lnTo>
                    <a:pt x="21939" y="21939"/>
                  </a:lnTo>
                  <a:lnTo>
                    <a:pt x="45755" y="5885"/>
                  </a:lnTo>
                  <a:lnTo>
                    <a:pt x="74930" y="0"/>
                  </a:lnTo>
                  <a:lnTo>
                    <a:pt x="865378" y="0"/>
                  </a:lnTo>
                  <a:lnTo>
                    <a:pt x="894552" y="5885"/>
                  </a:lnTo>
                  <a:lnTo>
                    <a:pt x="918368" y="21939"/>
                  </a:lnTo>
                  <a:lnTo>
                    <a:pt x="934422" y="45755"/>
                  </a:lnTo>
                  <a:lnTo>
                    <a:pt x="940308" y="74929"/>
                  </a:lnTo>
                  <a:lnTo>
                    <a:pt x="940308" y="374649"/>
                  </a:lnTo>
                  <a:lnTo>
                    <a:pt x="934422" y="403813"/>
                  </a:lnTo>
                  <a:lnTo>
                    <a:pt x="918368" y="427631"/>
                  </a:lnTo>
                  <a:lnTo>
                    <a:pt x="894552" y="443690"/>
                  </a:lnTo>
                  <a:lnTo>
                    <a:pt x="865378" y="449579"/>
                  </a:lnTo>
                  <a:lnTo>
                    <a:pt x="74930" y="449579"/>
                  </a:lnTo>
                  <a:lnTo>
                    <a:pt x="45755" y="443690"/>
                  </a:lnTo>
                  <a:lnTo>
                    <a:pt x="21939" y="427631"/>
                  </a:lnTo>
                  <a:lnTo>
                    <a:pt x="5885" y="403813"/>
                  </a:lnTo>
                  <a:lnTo>
                    <a:pt x="0" y="374649"/>
                  </a:lnTo>
                  <a:lnTo>
                    <a:pt x="0" y="74929"/>
                  </a:lnTo>
                  <a:close/>
                </a:path>
              </a:pathLst>
            </a:custGeom>
            <a:ln w="25907">
              <a:solidFill>
                <a:srgbClr val="464646"/>
              </a:solidFill>
            </a:ln>
          </p:spPr>
          <p:txBody>
            <a:bodyPr wrap="square" lIns="0" tIns="0" rIns="0" bIns="0" rtlCol="0"/>
            <a:lstStyle/>
            <a:p>
              <a:endParaRPr/>
            </a:p>
          </p:txBody>
        </p:sp>
      </p:grpSp>
      <p:sp>
        <p:nvSpPr>
          <p:cNvPr id="35" name="object 35"/>
          <p:cNvSpPr/>
          <p:nvPr/>
        </p:nvSpPr>
        <p:spPr>
          <a:xfrm>
            <a:off x="948498" y="3098470"/>
            <a:ext cx="529590" cy="504190"/>
          </a:xfrm>
          <a:custGeom>
            <a:avLst/>
            <a:gdLst/>
            <a:ahLst/>
            <a:cxnLst/>
            <a:rect l="l" t="t" r="r" b="b"/>
            <a:pathLst>
              <a:path w="529590" h="504189">
                <a:moveTo>
                  <a:pt x="137907" y="0"/>
                </a:moveTo>
                <a:lnTo>
                  <a:pt x="99101" y="4680"/>
                </a:lnTo>
                <a:lnTo>
                  <a:pt x="63820" y="21669"/>
                </a:lnTo>
                <a:lnTo>
                  <a:pt x="34216" y="47998"/>
                </a:lnTo>
                <a:lnTo>
                  <a:pt x="12439" y="80697"/>
                </a:lnTo>
                <a:lnTo>
                  <a:pt x="0" y="125549"/>
                </a:lnTo>
                <a:lnTo>
                  <a:pt x="2812" y="171207"/>
                </a:lnTo>
                <a:lnTo>
                  <a:pt x="16641" y="215752"/>
                </a:lnTo>
                <a:lnTo>
                  <a:pt x="37252" y="257261"/>
                </a:lnTo>
                <a:lnTo>
                  <a:pt x="62467" y="297115"/>
                </a:lnTo>
                <a:lnTo>
                  <a:pt x="90798" y="334762"/>
                </a:lnTo>
                <a:lnTo>
                  <a:pt x="121499" y="370489"/>
                </a:lnTo>
                <a:lnTo>
                  <a:pt x="153825" y="404580"/>
                </a:lnTo>
                <a:lnTo>
                  <a:pt x="207383" y="455962"/>
                </a:lnTo>
                <a:lnTo>
                  <a:pt x="264234" y="503653"/>
                </a:lnTo>
                <a:lnTo>
                  <a:pt x="266418" y="501933"/>
                </a:lnTo>
                <a:lnTo>
                  <a:pt x="316541" y="459896"/>
                </a:lnTo>
                <a:lnTo>
                  <a:pt x="364187" y="415058"/>
                </a:lnTo>
                <a:lnTo>
                  <a:pt x="378794" y="400267"/>
                </a:lnTo>
                <a:lnTo>
                  <a:pt x="241546" y="400267"/>
                </a:lnTo>
                <a:lnTo>
                  <a:pt x="235982" y="398067"/>
                </a:lnTo>
                <a:lnTo>
                  <a:pt x="231534" y="393744"/>
                </a:lnTo>
                <a:lnTo>
                  <a:pt x="230285" y="391926"/>
                </a:lnTo>
                <a:lnTo>
                  <a:pt x="229440" y="389867"/>
                </a:lnTo>
                <a:lnTo>
                  <a:pt x="229043" y="387690"/>
                </a:lnTo>
                <a:lnTo>
                  <a:pt x="227249" y="380496"/>
                </a:lnTo>
                <a:lnTo>
                  <a:pt x="226312" y="372990"/>
                </a:lnTo>
                <a:lnTo>
                  <a:pt x="224908" y="365796"/>
                </a:lnTo>
                <a:lnTo>
                  <a:pt x="206603" y="267892"/>
                </a:lnTo>
                <a:lnTo>
                  <a:pt x="141154" y="267892"/>
                </a:lnTo>
                <a:lnTo>
                  <a:pt x="132533" y="267866"/>
                </a:lnTo>
                <a:lnTo>
                  <a:pt x="115357" y="267661"/>
                </a:lnTo>
                <a:lnTo>
                  <a:pt x="80245" y="267661"/>
                </a:lnTo>
                <a:lnTo>
                  <a:pt x="75173" y="259849"/>
                </a:lnTo>
                <a:lnTo>
                  <a:pt x="70277" y="252022"/>
                </a:lnTo>
                <a:lnTo>
                  <a:pt x="65585" y="244195"/>
                </a:lnTo>
                <a:lnTo>
                  <a:pt x="61128" y="236383"/>
                </a:lnTo>
                <a:lnTo>
                  <a:pt x="139390" y="236070"/>
                </a:lnTo>
                <a:lnTo>
                  <a:pt x="162928" y="165304"/>
                </a:lnTo>
                <a:lnTo>
                  <a:pt x="176687" y="123860"/>
                </a:lnTo>
                <a:lnTo>
                  <a:pt x="179861" y="115402"/>
                </a:lnTo>
                <a:lnTo>
                  <a:pt x="184470" y="107860"/>
                </a:lnTo>
                <a:lnTo>
                  <a:pt x="191214" y="103528"/>
                </a:lnTo>
                <a:lnTo>
                  <a:pt x="263489" y="103528"/>
                </a:lnTo>
                <a:lnTo>
                  <a:pt x="242344" y="67956"/>
                </a:lnTo>
                <a:lnTo>
                  <a:pt x="214120" y="35148"/>
                </a:lnTo>
                <a:lnTo>
                  <a:pt x="179371" y="10961"/>
                </a:lnTo>
                <a:lnTo>
                  <a:pt x="137907" y="0"/>
                </a:lnTo>
                <a:close/>
              </a:path>
              <a:path w="529590" h="504189">
                <a:moveTo>
                  <a:pt x="319867" y="229267"/>
                </a:moveTo>
                <a:lnTo>
                  <a:pt x="305057" y="268745"/>
                </a:lnTo>
                <a:lnTo>
                  <a:pt x="289459" y="310539"/>
                </a:lnTo>
                <a:lnTo>
                  <a:pt x="275494" y="347641"/>
                </a:lnTo>
                <a:lnTo>
                  <a:pt x="260332" y="386986"/>
                </a:lnTo>
                <a:lnTo>
                  <a:pt x="259181" y="391255"/>
                </a:lnTo>
                <a:lnTo>
                  <a:pt x="256697" y="395041"/>
                </a:lnTo>
                <a:lnTo>
                  <a:pt x="253232" y="397777"/>
                </a:lnTo>
                <a:lnTo>
                  <a:pt x="247529" y="400213"/>
                </a:lnTo>
                <a:lnTo>
                  <a:pt x="241546" y="400267"/>
                </a:lnTo>
                <a:lnTo>
                  <a:pt x="378794" y="400267"/>
                </a:lnTo>
                <a:lnTo>
                  <a:pt x="396808" y="382024"/>
                </a:lnTo>
                <a:lnTo>
                  <a:pt x="427409" y="347153"/>
                </a:lnTo>
                <a:lnTo>
                  <a:pt x="441879" y="328566"/>
                </a:lnTo>
                <a:lnTo>
                  <a:pt x="361870" y="328566"/>
                </a:lnTo>
                <a:lnTo>
                  <a:pt x="355920" y="327946"/>
                </a:lnTo>
                <a:lnTo>
                  <a:pt x="343510" y="310512"/>
                </a:lnTo>
                <a:lnTo>
                  <a:pt x="329028" y="260858"/>
                </a:lnTo>
                <a:lnTo>
                  <a:pt x="319867" y="229267"/>
                </a:lnTo>
                <a:close/>
              </a:path>
              <a:path w="529590" h="504189">
                <a:moveTo>
                  <a:pt x="502508" y="235816"/>
                </a:moveTo>
                <a:lnTo>
                  <a:pt x="422034" y="235816"/>
                </a:lnTo>
                <a:lnTo>
                  <a:pt x="438079" y="236383"/>
                </a:lnTo>
                <a:lnTo>
                  <a:pt x="467105" y="236383"/>
                </a:lnTo>
                <a:lnTo>
                  <a:pt x="462659" y="244195"/>
                </a:lnTo>
                <a:lnTo>
                  <a:pt x="457986" y="252022"/>
                </a:lnTo>
                <a:lnTo>
                  <a:pt x="453093" y="259849"/>
                </a:lnTo>
                <a:lnTo>
                  <a:pt x="447988" y="267661"/>
                </a:lnTo>
                <a:lnTo>
                  <a:pt x="422629" y="267661"/>
                </a:lnTo>
                <a:lnTo>
                  <a:pt x="410258" y="281611"/>
                </a:lnTo>
                <a:lnTo>
                  <a:pt x="372458" y="323023"/>
                </a:lnTo>
                <a:lnTo>
                  <a:pt x="361870" y="328566"/>
                </a:lnTo>
                <a:lnTo>
                  <a:pt x="441879" y="328566"/>
                </a:lnTo>
                <a:lnTo>
                  <a:pt x="455931" y="310512"/>
                </a:lnTo>
                <a:lnTo>
                  <a:pt x="482242" y="272274"/>
                </a:lnTo>
                <a:lnTo>
                  <a:pt x="502508" y="235816"/>
                </a:lnTo>
                <a:close/>
              </a:path>
              <a:path w="529590" h="504189">
                <a:moveTo>
                  <a:pt x="263489" y="103528"/>
                </a:moveTo>
                <a:lnTo>
                  <a:pt x="191214" y="103528"/>
                </a:lnTo>
                <a:lnTo>
                  <a:pt x="200797" y="104703"/>
                </a:lnTo>
                <a:lnTo>
                  <a:pt x="209848" y="108534"/>
                </a:lnTo>
                <a:lnTo>
                  <a:pt x="210395" y="117918"/>
                </a:lnTo>
                <a:lnTo>
                  <a:pt x="211955" y="126128"/>
                </a:lnTo>
                <a:lnTo>
                  <a:pt x="249564" y="327324"/>
                </a:lnTo>
                <a:lnTo>
                  <a:pt x="304808" y="180943"/>
                </a:lnTo>
                <a:lnTo>
                  <a:pt x="307695" y="173123"/>
                </a:lnTo>
                <a:lnTo>
                  <a:pt x="310660" y="165304"/>
                </a:lnTo>
                <a:lnTo>
                  <a:pt x="320413" y="164444"/>
                </a:lnTo>
                <a:lnTo>
                  <a:pt x="525794" y="164444"/>
                </a:lnTo>
                <a:lnTo>
                  <a:pt x="529452" y="142344"/>
                </a:lnTo>
                <a:lnTo>
                  <a:pt x="523915" y="104781"/>
                </a:lnTo>
                <a:lnTo>
                  <a:pt x="264234" y="104781"/>
                </a:lnTo>
                <a:lnTo>
                  <a:pt x="263489" y="103528"/>
                </a:lnTo>
                <a:close/>
              </a:path>
              <a:path w="529590" h="504189">
                <a:moveTo>
                  <a:pt x="525794" y="164444"/>
                </a:moveTo>
                <a:lnTo>
                  <a:pt x="320413" y="164444"/>
                </a:lnTo>
                <a:lnTo>
                  <a:pt x="328202" y="165528"/>
                </a:lnTo>
                <a:lnTo>
                  <a:pt x="333444" y="169839"/>
                </a:lnTo>
                <a:lnTo>
                  <a:pt x="336872" y="176143"/>
                </a:lnTo>
                <a:lnTo>
                  <a:pt x="339218" y="183210"/>
                </a:lnTo>
                <a:lnTo>
                  <a:pt x="367854" y="281814"/>
                </a:lnTo>
                <a:lnTo>
                  <a:pt x="386674" y="261073"/>
                </a:lnTo>
                <a:lnTo>
                  <a:pt x="422034" y="235816"/>
                </a:lnTo>
                <a:lnTo>
                  <a:pt x="502508" y="235816"/>
                </a:lnTo>
                <a:lnTo>
                  <a:pt x="504621" y="232014"/>
                </a:lnTo>
                <a:lnTo>
                  <a:pt x="521885" y="188058"/>
                </a:lnTo>
                <a:lnTo>
                  <a:pt x="525794" y="164444"/>
                </a:lnTo>
                <a:close/>
              </a:path>
              <a:path w="529590" h="504189">
                <a:moveTo>
                  <a:pt x="190420" y="181334"/>
                </a:moveTo>
                <a:lnTo>
                  <a:pt x="168416" y="247565"/>
                </a:lnTo>
                <a:lnTo>
                  <a:pt x="141154" y="267892"/>
                </a:lnTo>
                <a:lnTo>
                  <a:pt x="206603" y="267892"/>
                </a:lnTo>
                <a:lnTo>
                  <a:pt x="190420" y="181334"/>
                </a:lnTo>
                <a:close/>
              </a:path>
              <a:path w="529590" h="504189">
                <a:moveTo>
                  <a:pt x="407024" y="312"/>
                </a:moveTo>
                <a:lnTo>
                  <a:pt x="360321" y="6189"/>
                </a:lnTo>
                <a:lnTo>
                  <a:pt x="320794" y="29674"/>
                </a:lnTo>
                <a:lnTo>
                  <a:pt x="288684" y="64596"/>
                </a:lnTo>
                <a:lnTo>
                  <a:pt x="264234" y="104781"/>
                </a:lnTo>
                <a:lnTo>
                  <a:pt x="523915" y="104781"/>
                </a:lnTo>
                <a:lnTo>
                  <a:pt x="505097" y="61594"/>
                </a:lnTo>
                <a:lnTo>
                  <a:pt x="478517" y="31932"/>
                </a:lnTo>
                <a:lnTo>
                  <a:pt x="445118" y="10584"/>
                </a:lnTo>
                <a:lnTo>
                  <a:pt x="407024" y="312"/>
                </a:lnTo>
                <a:close/>
              </a:path>
            </a:pathLst>
          </a:custGeom>
          <a:solidFill>
            <a:srgbClr val="FBB64B"/>
          </a:solidFill>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89253" y="2571750"/>
            <a:ext cx="7367270" cy="1932939"/>
          </a:xfrm>
          <a:custGeom>
            <a:avLst/>
            <a:gdLst/>
            <a:ahLst/>
            <a:cxnLst/>
            <a:rect l="l" t="t" r="r" b="b"/>
            <a:pathLst>
              <a:path w="7367270" h="1932939">
                <a:moveTo>
                  <a:pt x="0" y="322072"/>
                </a:moveTo>
                <a:lnTo>
                  <a:pt x="3492" y="274466"/>
                </a:lnTo>
                <a:lnTo>
                  <a:pt x="13636" y="229034"/>
                </a:lnTo>
                <a:lnTo>
                  <a:pt x="29934" y="186272"/>
                </a:lnTo>
                <a:lnTo>
                  <a:pt x="51888" y="146677"/>
                </a:lnTo>
                <a:lnTo>
                  <a:pt x="78999" y="110748"/>
                </a:lnTo>
                <a:lnTo>
                  <a:pt x="110770" y="78981"/>
                </a:lnTo>
                <a:lnTo>
                  <a:pt x="146703" y="51874"/>
                </a:lnTo>
                <a:lnTo>
                  <a:pt x="186299" y="29925"/>
                </a:lnTo>
                <a:lnTo>
                  <a:pt x="229060" y="13632"/>
                </a:lnTo>
                <a:lnTo>
                  <a:pt x="274487" y="3490"/>
                </a:lnTo>
                <a:lnTo>
                  <a:pt x="322084" y="0"/>
                </a:lnTo>
                <a:lnTo>
                  <a:pt x="7044944" y="0"/>
                </a:lnTo>
                <a:lnTo>
                  <a:pt x="7092549" y="3490"/>
                </a:lnTo>
                <a:lnTo>
                  <a:pt x="7137981" y="13632"/>
                </a:lnTo>
                <a:lnTo>
                  <a:pt x="7180743" y="29925"/>
                </a:lnTo>
                <a:lnTo>
                  <a:pt x="7220338" y="51874"/>
                </a:lnTo>
                <a:lnTo>
                  <a:pt x="7256267" y="78981"/>
                </a:lnTo>
                <a:lnTo>
                  <a:pt x="7288034" y="110748"/>
                </a:lnTo>
                <a:lnTo>
                  <a:pt x="7315141" y="146677"/>
                </a:lnTo>
                <a:lnTo>
                  <a:pt x="7337090" y="186272"/>
                </a:lnTo>
                <a:lnTo>
                  <a:pt x="7353383" y="229034"/>
                </a:lnTo>
                <a:lnTo>
                  <a:pt x="7363525" y="274466"/>
                </a:lnTo>
                <a:lnTo>
                  <a:pt x="7367016" y="322072"/>
                </a:lnTo>
                <a:lnTo>
                  <a:pt x="7367016" y="1610347"/>
                </a:lnTo>
                <a:lnTo>
                  <a:pt x="7363525" y="1657944"/>
                </a:lnTo>
                <a:lnTo>
                  <a:pt x="7353383" y="1703371"/>
                </a:lnTo>
                <a:lnTo>
                  <a:pt x="7337090" y="1746132"/>
                </a:lnTo>
                <a:lnTo>
                  <a:pt x="7315141" y="1785728"/>
                </a:lnTo>
                <a:lnTo>
                  <a:pt x="7288034" y="1821661"/>
                </a:lnTo>
                <a:lnTo>
                  <a:pt x="7256267" y="1853432"/>
                </a:lnTo>
                <a:lnTo>
                  <a:pt x="7220338" y="1880543"/>
                </a:lnTo>
                <a:lnTo>
                  <a:pt x="7180743" y="1902497"/>
                </a:lnTo>
                <a:lnTo>
                  <a:pt x="7137981" y="1918795"/>
                </a:lnTo>
                <a:lnTo>
                  <a:pt x="7092549" y="1928939"/>
                </a:lnTo>
                <a:lnTo>
                  <a:pt x="7044944" y="1932432"/>
                </a:lnTo>
                <a:lnTo>
                  <a:pt x="322084" y="1932432"/>
                </a:lnTo>
                <a:lnTo>
                  <a:pt x="274487" y="1928939"/>
                </a:lnTo>
                <a:lnTo>
                  <a:pt x="229060" y="1918795"/>
                </a:lnTo>
                <a:lnTo>
                  <a:pt x="186299" y="1902497"/>
                </a:lnTo>
                <a:lnTo>
                  <a:pt x="146703" y="1880543"/>
                </a:lnTo>
                <a:lnTo>
                  <a:pt x="110770" y="1853432"/>
                </a:lnTo>
                <a:lnTo>
                  <a:pt x="78999" y="1821661"/>
                </a:lnTo>
                <a:lnTo>
                  <a:pt x="51888" y="1785728"/>
                </a:lnTo>
                <a:lnTo>
                  <a:pt x="29934" y="1746132"/>
                </a:lnTo>
                <a:lnTo>
                  <a:pt x="13636" y="1703371"/>
                </a:lnTo>
                <a:lnTo>
                  <a:pt x="3492" y="1657944"/>
                </a:lnTo>
                <a:lnTo>
                  <a:pt x="0" y="1610347"/>
                </a:lnTo>
                <a:lnTo>
                  <a:pt x="0" y="322072"/>
                </a:lnTo>
                <a:close/>
              </a:path>
            </a:pathLst>
          </a:custGeom>
          <a:ln w="25908">
            <a:solidFill>
              <a:srgbClr val="464646"/>
            </a:solidFill>
          </a:ln>
        </p:spPr>
        <p:txBody>
          <a:bodyPr wrap="square" lIns="0" tIns="0" rIns="0" bIns="0" rtlCol="0"/>
          <a:lstStyle/>
          <a:p>
            <a:endParaRPr/>
          </a:p>
        </p:txBody>
      </p:sp>
      <p:sp>
        <p:nvSpPr>
          <p:cNvPr id="3" name="object 3"/>
          <p:cNvSpPr txBox="1"/>
          <p:nvPr/>
        </p:nvSpPr>
        <p:spPr>
          <a:xfrm>
            <a:off x="3982592" y="4070705"/>
            <a:ext cx="1179830" cy="300355"/>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464646"/>
                </a:solidFill>
                <a:latin typeface="Arial MT"/>
                <a:cs typeface="Arial MT"/>
              </a:rPr>
              <a:t>Target</a:t>
            </a:r>
            <a:r>
              <a:rPr sz="1800" spc="-65" dirty="0">
                <a:solidFill>
                  <a:srgbClr val="464646"/>
                </a:solidFill>
                <a:latin typeface="Arial MT"/>
                <a:cs typeface="Arial MT"/>
              </a:rPr>
              <a:t> </a:t>
            </a:r>
            <a:r>
              <a:rPr sz="1800" spc="-5" dirty="0">
                <a:solidFill>
                  <a:srgbClr val="464646"/>
                </a:solidFill>
                <a:latin typeface="Arial MT"/>
                <a:cs typeface="Arial MT"/>
              </a:rPr>
              <a:t>Pool</a:t>
            </a:r>
            <a:endParaRPr sz="1800">
              <a:latin typeface="Arial MT"/>
              <a:cs typeface="Arial MT"/>
            </a:endParaRPr>
          </a:p>
        </p:txBody>
      </p:sp>
      <p:grpSp>
        <p:nvGrpSpPr>
          <p:cNvPr id="4" name="object 4"/>
          <p:cNvGrpSpPr/>
          <p:nvPr/>
        </p:nvGrpSpPr>
        <p:grpSpPr>
          <a:xfrm>
            <a:off x="617219" y="1011872"/>
            <a:ext cx="7652384" cy="2662555"/>
            <a:chOff x="617219" y="1011872"/>
            <a:chExt cx="7652384" cy="2662555"/>
          </a:xfrm>
        </p:grpSpPr>
        <p:pic>
          <p:nvPicPr>
            <p:cNvPr id="5" name="object 5"/>
            <p:cNvPicPr/>
            <p:nvPr/>
          </p:nvPicPr>
          <p:blipFill>
            <a:blip r:embed="rId2" cstate="print"/>
            <a:stretch>
              <a:fillRect/>
            </a:stretch>
          </p:blipFill>
          <p:spPr>
            <a:xfrm>
              <a:off x="617219" y="1196340"/>
              <a:ext cx="400773" cy="2478024"/>
            </a:xfrm>
            <a:prstGeom prst="rect">
              <a:avLst/>
            </a:prstGeom>
          </p:spPr>
        </p:pic>
        <p:sp>
          <p:nvSpPr>
            <p:cNvPr id="6" name="object 6"/>
            <p:cNvSpPr/>
            <p:nvPr/>
          </p:nvSpPr>
          <p:spPr>
            <a:xfrm>
              <a:off x="660399" y="1258824"/>
              <a:ext cx="241935" cy="2319020"/>
            </a:xfrm>
            <a:custGeom>
              <a:avLst/>
              <a:gdLst/>
              <a:ahLst/>
              <a:cxnLst/>
              <a:rect l="l" t="t" r="r" b="b"/>
              <a:pathLst>
                <a:path w="241934" h="2319020">
                  <a:moveTo>
                    <a:pt x="151129" y="2240788"/>
                  </a:moveTo>
                  <a:lnTo>
                    <a:pt x="151129" y="2318512"/>
                  </a:lnTo>
                  <a:lnTo>
                    <a:pt x="202946" y="2292604"/>
                  </a:lnTo>
                  <a:lnTo>
                    <a:pt x="164084" y="2292604"/>
                  </a:lnTo>
                  <a:lnTo>
                    <a:pt x="164084" y="2266696"/>
                  </a:lnTo>
                  <a:lnTo>
                    <a:pt x="202945" y="2266696"/>
                  </a:lnTo>
                  <a:lnTo>
                    <a:pt x="151129" y="2240788"/>
                  </a:lnTo>
                  <a:close/>
                </a:path>
                <a:path w="241934" h="2319020">
                  <a:moveTo>
                    <a:pt x="163830" y="25908"/>
                  </a:moveTo>
                  <a:lnTo>
                    <a:pt x="5803" y="25908"/>
                  </a:lnTo>
                  <a:lnTo>
                    <a:pt x="0" y="31750"/>
                  </a:lnTo>
                  <a:lnTo>
                    <a:pt x="0" y="2286762"/>
                  </a:lnTo>
                  <a:lnTo>
                    <a:pt x="5803" y="2292604"/>
                  </a:lnTo>
                  <a:lnTo>
                    <a:pt x="151129" y="2292604"/>
                  </a:lnTo>
                  <a:lnTo>
                    <a:pt x="151129" y="2279650"/>
                  </a:lnTo>
                  <a:lnTo>
                    <a:pt x="25907" y="2279650"/>
                  </a:lnTo>
                  <a:lnTo>
                    <a:pt x="12954" y="2266696"/>
                  </a:lnTo>
                  <a:lnTo>
                    <a:pt x="25907" y="2266696"/>
                  </a:lnTo>
                  <a:lnTo>
                    <a:pt x="25907" y="51815"/>
                  </a:lnTo>
                  <a:lnTo>
                    <a:pt x="12954" y="51815"/>
                  </a:lnTo>
                  <a:lnTo>
                    <a:pt x="25907" y="38862"/>
                  </a:lnTo>
                  <a:lnTo>
                    <a:pt x="163830" y="38862"/>
                  </a:lnTo>
                  <a:lnTo>
                    <a:pt x="163830" y="25908"/>
                  </a:lnTo>
                  <a:close/>
                </a:path>
                <a:path w="241934" h="2319020">
                  <a:moveTo>
                    <a:pt x="202945" y="2266696"/>
                  </a:moveTo>
                  <a:lnTo>
                    <a:pt x="164084" y="2266696"/>
                  </a:lnTo>
                  <a:lnTo>
                    <a:pt x="164084" y="2292604"/>
                  </a:lnTo>
                  <a:lnTo>
                    <a:pt x="202946" y="2292604"/>
                  </a:lnTo>
                  <a:lnTo>
                    <a:pt x="228853" y="2279650"/>
                  </a:lnTo>
                  <a:lnTo>
                    <a:pt x="202945" y="2266696"/>
                  </a:lnTo>
                  <a:close/>
                </a:path>
                <a:path w="241934" h="2319020">
                  <a:moveTo>
                    <a:pt x="25907" y="2266696"/>
                  </a:moveTo>
                  <a:lnTo>
                    <a:pt x="12954" y="2266696"/>
                  </a:lnTo>
                  <a:lnTo>
                    <a:pt x="25907" y="2279650"/>
                  </a:lnTo>
                  <a:lnTo>
                    <a:pt x="25907" y="2266696"/>
                  </a:lnTo>
                  <a:close/>
                </a:path>
                <a:path w="241934" h="2319020">
                  <a:moveTo>
                    <a:pt x="151129" y="2266696"/>
                  </a:moveTo>
                  <a:lnTo>
                    <a:pt x="25907" y="2266696"/>
                  </a:lnTo>
                  <a:lnTo>
                    <a:pt x="25907" y="2279650"/>
                  </a:lnTo>
                  <a:lnTo>
                    <a:pt x="151129" y="2279650"/>
                  </a:lnTo>
                  <a:lnTo>
                    <a:pt x="151129" y="2266696"/>
                  </a:lnTo>
                  <a:close/>
                </a:path>
                <a:path w="241934" h="2319020">
                  <a:moveTo>
                    <a:pt x="163830" y="0"/>
                  </a:moveTo>
                  <a:lnTo>
                    <a:pt x="163830" y="77724"/>
                  </a:lnTo>
                  <a:lnTo>
                    <a:pt x="215646" y="51815"/>
                  </a:lnTo>
                  <a:lnTo>
                    <a:pt x="176784" y="51815"/>
                  </a:lnTo>
                  <a:lnTo>
                    <a:pt x="176784" y="25908"/>
                  </a:lnTo>
                  <a:lnTo>
                    <a:pt x="215646" y="25908"/>
                  </a:lnTo>
                  <a:lnTo>
                    <a:pt x="163830" y="0"/>
                  </a:lnTo>
                  <a:close/>
                </a:path>
                <a:path w="241934" h="2319020">
                  <a:moveTo>
                    <a:pt x="25907" y="38862"/>
                  </a:moveTo>
                  <a:lnTo>
                    <a:pt x="12954" y="51815"/>
                  </a:lnTo>
                  <a:lnTo>
                    <a:pt x="25907" y="51815"/>
                  </a:lnTo>
                  <a:lnTo>
                    <a:pt x="25907" y="38862"/>
                  </a:lnTo>
                  <a:close/>
                </a:path>
                <a:path w="241934" h="2319020">
                  <a:moveTo>
                    <a:pt x="163830" y="38862"/>
                  </a:moveTo>
                  <a:lnTo>
                    <a:pt x="25907" y="38862"/>
                  </a:lnTo>
                  <a:lnTo>
                    <a:pt x="25907" y="51815"/>
                  </a:lnTo>
                  <a:lnTo>
                    <a:pt x="163830" y="51815"/>
                  </a:lnTo>
                  <a:lnTo>
                    <a:pt x="163830" y="38862"/>
                  </a:lnTo>
                  <a:close/>
                </a:path>
                <a:path w="241934" h="2319020">
                  <a:moveTo>
                    <a:pt x="215646" y="25908"/>
                  </a:moveTo>
                  <a:lnTo>
                    <a:pt x="176784" y="25908"/>
                  </a:lnTo>
                  <a:lnTo>
                    <a:pt x="176784" y="51815"/>
                  </a:lnTo>
                  <a:lnTo>
                    <a:pt x="215646" y="51815"/>
                  </a:lnTo>
                  <a:lnTo>
                    <a:pt x="241553" y="38862"/>
                  </a:lnTo>
                  <a:lnTo>
                    <a:pt x="215646" y="25908"/>
                  </a:lnTo>
                  <a:close/>
                </a:path>
              </a:pathLst>
            </a:custGeom>
            <a:solidFill>
              <a:srgbClr val="FBB64B"/>
            </a:solidFill>
          </p:spPr>
          <p:txBody>
            <a:bodyPr wrap="square" lIns="0" tIns="0" rIns="0" bIns="0" rtlCol="0"/>
            <a:lstStyle/>
            <a:p>
              <a:endParaRPr/>
            </a:p>
          </p:txBody>
        </p:sp>
        <p:sp>
          <p:nvSpPr>
            <p:cNvPr id="7" name="object 7"/>
            <p:cNvSpPr/>
            <p:nvPr/>
          </p:nvSpPr>
          <p:spPr>
            <a:xfrm>
              <a:off x="889253" y="1024890"/>
              <a:ext cx="7367270" cy="546100"/>
            </a:xfrm>
            <a:custGeom>
              <a:avLst/>
              <a:gdLst/>
              <a:ahLst/>
              <a:cxnLst/>
              <a:rect l="l" t="t" r="r" b="b"/>
              <a:pathLst>
                <a:path w="7367270" h="546100">
                  <a:moveTo>
                    <a:pt x="7276084" y="0"/>
                  </a:moveTo>
                  <a:lnTo>
                    <a:pt x="90932" y="0"/>
                  </a:lnTo>
                  <a:lnTo>
                    <a:pt x="55539" y="7153"/>
                  </a:lnTo>
                  <a:lnTo>
                    <a:pt x="26635" y="26654"/>
                  </a:lnTo>
                  <a:lnTo>
                    <a:pt x="7146" y="55560"/>
                  </a:lnTo>
                  <a:lnTo>
                    <a:pt x="0" y="90932"/>
                  </a:lnTo>
                  <a:lnTo>
                    <a:pt x="0" y="454660"/>
                  </a:lnTo>
                  <a:lnTo>
                    <a:pt x="7146" y="490031"/>
                  </a:lnTo>
                  <a:lnTo>
                    <a:pt x="26635" y="518937"/>
                  </a:lnTo>
                  <a:lnTo>
                    <a:pt x="55539" y="538438"/>
                  </a:lnTo>
                  <a:lnTo>
                    <a:pt x="90932" y="545592"/>
                  </a:lnTo>
                  <a:lnTo>
                    <a:pt x="7276084" y="545592"/>
                  </a:lnTo>
                  <a:lnTo>
                    <a:pt x="7311455" y="538438"/>
                  </a:lnTo>
                  <a:lnTo>
                    <a:pt x="7340361" y="518937"/>
                  </a:lnTo>
                  <a:lnTo>
                    <a:pt x="7359862" y="490031"/>
                  </a:lnTo>
                  <a:lnTo>
                    <a:pt x="7367016" y="454660"/>
                  </a:lnTo>
                  <a:lnTo>
                    <a:pt x="7367016" y="90932"/>
                  </a:lnTo>
                  <a:lnTo>
                    <a:pt x="7359862" y="55560"/>
                  </a:lnTo>
                  <a:lnTo>
                    <a:pt x="7340361" y="26654"/>
                  </a:lnTo>
                  <a:lnTo>
                    <a:pt x="7311455" y="7153"/>
                  </a:lnTo>
                  <a:lnTo>
                    <a:pt x="7276084" y="0"/>
                  </a:lnTo>
                  <a:close/>
                </a:path>
              </a:pathLst>
            </a:custGeom>
            <a:solidFill>
              <a:srgbClr val="FFFFFF"/>
            </a:solidFill>
          </p:spPr>
          <p:txBody>
            <a:bodyPr wrap="square" lIns="0" tIns="0" rIns="0" bIns="0" rtlCol="0"/>
            <a:lstStyle/>
            <a:p>
              <a:endParaRPr/>
            </a:p>
          </p:txBody>
        </p:sp>
        <p:sp>
          <p:nvSpPr>
            <p:cNvPr id="8" name="object 8"/>
            <p:cNvSpPr/>
            <p:nvPr/>
          </p:nvSpPr>
          <p:spPr>
            <a:xfrm>
              <a:off x="889253" y="1024890"/>
              <a:ext cx="7367270" cy="546100"/>
            </a:xfrm>
            <a:custGeom>
              <a:avLst/>
              <a:gdLst/>
              <a:ahLst/>
              <a:cxnLst/>
              <a:rect l="l" t="t" r="r" b="b"/>
              <a:pathLst>
                <a:path w="7367270" h="546100">
                  <a:moveTo>
                    <a:pt x="0" y="90932"/>
                  </a:moveTo>
                  <a:lnTo>
                    <a:pt x="7146" y="55560"/>
                  </a:lnTo>
                  <a:lnTo>
                    <a:pt x="26635" y="26654"/>
                  </a:lnTo>
                  <a:lnTo>
                    <a:pt x="55539" y="7153"/>
                  </a:lnTo>
                  <a:lnTo>
                    <a:pt x="90932" y="0"/>
                  </a:lnTo>
                  <a:lnTo>
                    <a:pt x="7276084" y="0"/>
                  </a:lnTo>
                  <a:lnTo>
                    <a:pt x="7311455" y="7153"/>
                  </a:lnTo>
                  <a:lnTo>
                    <a:pt x="7340361" y="26654"/>
                  </a:lnTo>
                  <a:lnTo>
                    <a:pt x="7359862" y="55560"/>
                  </a:lnTo>
                  <a:lnTo>
                    <a:pt x="7367016" y="90932"/>
                  </a:lnTo>
                  <a:lnTo>
                    <a:pt x="7367016" y="454660"/>
                  </a:lnTo>
                  <a:lnTo>
                    <a:pt x="7359862" y="490031"/>
                  </a:lnTo>
                  <a:lnTo>
                    <a:pt x="7340361" y="518937"/>
                  </a:lnTo>
                  <a:lnTo>
                    <a:pt x="7311455" y="538438"/>
                  </a:lnTo>
                  <a:lnTo>
                    <a:pt x="7276084" y="545592"/>
                  </a:lnTo>
                  <a:lnTo>
                    <a:pt x="90932" y="545592"/>
                  </a:lnTo>
                  <a:lnTo>
                    <a:pt x="55539" y="538438"/>
                  </a:lnTo>
                  <a:lnTo>
                    <a:pt x="26635" y="518937"/>
                  </a:lnTo>
                  <a:lnTo>
                    <a:pt x="7146" y="490031"/>
                  </a:lnTo>
                  <a:lnTo>
                    <a:pt x="0" y="454660"/>
                  </a:lnTo>
                  <a:lnTo>
                    <a:pt x="0" y="90932"/>
                  </a:lnTo>
                  <a:close/>
                </a:path>
              </a:pathLst>
            </a:custGeom>
            <a:ln w="25907">
              <a:solidFill>
                <a:srgbClr val="464646"/>
              </a:solidFill>
            </a:ln>
          </p:spPr>
          <p:txBody>
            <a:bodyPr wrap="square" lIns="0" tIns="0" rIns="0" bIns="0" rtlCol="0"/>
            <a:lstStyle/>
            <a:p>
              <a:endParaRPr/>
            </a:p>
          </p:txBody>
        </p:sp>
        <p:pic>
          <p:nvPicPr>
            <p:cNvPr id="9" name="object 9"/>
            <p:cNvPicPr/>
            <p:nvPr/>
          </p:nvPicPr>
          <p:blipFill>
            <a:blip r:embed="rId3" cstate="print"/>
            <a:stretch>
              <a:fillRect/>
            </a:stretch>
          </p:blipFill>
          <p:spPr>
            <a:xfrm>
              <a:off x="4451604" y="1469136"/>
              <a:ext cx="237832" cy="1240536"/>
            </a:xfrm>
            <a:prstGeom prst="rect">
              <a:avLst/>
            </a:prstGeom>
          </p:spPr>
        </p:pic>
        <p:sp>
          <p:nvSpPr>
            <p:cNvPr id="10" name="object 10"/>
            <p:cNvSpPr/>
            <p:nvPr/>
          </p:nvSpPr>
          <p:spPr>
            <a:xfrm>
              <a:off x="4533899" y="1570482"/>
              <a:ext cx="78105" cy="1002665"/>
            </a:xfrm>
            <a:custGeom>
              <a:avLst/>
              <a:gdLst/>
              <a:ahLst/>
              <a:cxnLst/>
              <a:rect l="l" t="t" r="r" b="b"/>
              <a:pathLst>
                <a:path w="78104" h="1002664">
                  <a:moveTo>
                    <a:pt x="25908" y="924559"/>
                  </a:moveTo>
                  <a:lnTo>
                    <a:pt x="0" y="924559"/>
                  </a:lnTo>
                  <a:lnTo>
                    <a:pt x="38862" y="1002283"/>
                  </a:lnTo>
                  <a:lnTo>
                    <a:pt x="71247" y="937513"/>
                  </a:lnTo>
                  <a:lnTo>
                    <a:pt x="25908" y="937513"/>
                  </a:lnTo>
                  <a:lnTo>
                    <a:pt x="25908" y="924559"/>
                  </a:lnTo>
                  <a:close/>
                </a:path>
                <a:path w="78104" h="1002664">
                  <a:moveTo>
                    <a:pt x="51815" y="64769"/>
                  </a:moveTo>
                  <a:lnTo>
                    <a:pt x="25908" y="64769"/>
                  </a:lnTo>
                  <a:lnTo>
                    <a:pt x="25908" y="937513"/>
                  </a:lnTo>
                  <a:lnTo>
                    <a:pt x="51815" y="937513"/>
                  </a:lnTo>
                  <a:lnTo>
                    <a:pt x="51815" y="64769"/>
                  </a:lnTo>
                  <a:close/>
                </a:path>
                <a:path w="78104" h="1002664">
                  <a:moveTo>
                    <a:pt x="77724" y="924559"/>
                  </a:moveTo>
                  <a:lnTo>
                    <a:pt x="51815" y="924559"/>
                  </a:lnTo>
                  <a:lnTo>
                    <a:pt x="51815" y="937513"/>
                  </a:lnTo>
                  <a:lnTo>
                    <a:pt x="71247" y="937513"/>
                  </a:lnTo>
                  <a:lnTo>
                    <a:pt x="77724" y="924559"/>
                  </a:lnTo>
                  <a:close/>
                </a:path>
                <a:path w="78104" h="1002664">
                  <a:moveTo>
                    <a:pt x="38862" y="0"/>
                  </a:moveTo>
                  <a:lnTo>
                    <a:pt x="0" y="77723"/>
                  </a:lnTo>
                  <a:lnTo>
                    <a:pt x="25908" y="77723"/>
                  </a:lnTo>
                  <a:lnTo>
                    <a:pt x="25908" y="64769"/>
                  </a:lnTo>
                  <a:lnTo>
                    <a:pt x="71247" y="64769"/>
                  </a:lnTo>
                  <a:lnTo>
                    <a:pt x="38862" y="0"/>
                  </a:lnTo>
                  <a:close/>
                </a:path>
                <a:path w="78104" h="1002664">
                  <a:moveTo>
                    <a:pt x="71247" y="64769"/>
                  </a:moveTo>
                  <a:lnTo>
                    <a:pt x="51815" y="64769"/>
                  </a:lnTo>
                  <a:lnTo>
                    <a:pt x="51815" y="77723"/>
                  </a:lnTo>
                  <a:lnTo>
                    <a:pt x="77724" y="77723"/>
                  </a:lnTo>
                  <a:lnTo>
                    <a:pt x="71247" y="64769"/>
                  </a:lnTo>
                  <a:close/>
                </a:path>
              </a:pathLst>
            </a:custGeom>
            <a:solidFill>
              <a:srgbClr val="FBB64B"/>
            </a:solidFill>
          </p:spPr>
          <p:txBody>
            <a:bodyPr wrap="square" lIns="0" tIns="0" rIns="0" bIns="0" rtlCol="0"/>
            <a:lstStyle/>
            <a:p>
              <a:endParaRPr/>
            </a:p>
          </p:txBody>
        </p:sp>
      </p:grpSp>
      <p:sp>
        <p:nvSpPr>
          <p:cNvPr id="11" name="object 11"/>
          <p:cNvSpPr txBox="1">
            <a:spLocks noGrp="1"/>
          </p:cNvSpPr>
          <p:nvPr>
            <p:ph type="title"/>
          </p:nvPr>
        </p:nvSpPr>
        <p:spPr>
          <a:xfrm>
            <a:off x="415544" y="139065"/>
            <a:ext cx="3919220"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Elastic Load</a:t>
            </a:r>
            <a:r>
              <a:rPr u="none" dirty="0">
                <a:solidFill>
                  <a:srgbClr val="4D4D4B"/>
                </a:solidFill>
              </a:rPr>
              <a:t> </a:t>
            </a:r>
            <a:r>
              <a:rPr u="none" spc="-5" dirty="0">
                <a:solidFill>
                  <a:srgbClr val="4D4D4B"/>
                </a:solidFill>
              </a:rPr>
              <a:t>Balancing</a:t>
            </a:r>
          </a:p>
        </p:txBody>
      </p:sp>
      <p:sp>
        <p:nvSpPr>
          <p:cNvPr id="12" name="object 12"/>
          <p:cNvSpPr txBox="1"/>
          <p:nvPr/>
        </p:nvSpPr>
        <p:spPr>
          <a:xfrm>
            <a:off x="3456559" y="1140967"/>
            <a:ext cx="5008245" cy="127063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Elastic</a:t>
            </a:r>
            <a:r>
              <a:rPr sz="1800" spc="-20" dirty="0">
                <a:solidFill>
                  <a:srgbClr val="464646"/>
                </a:solidFill>
                <a:latin typeface="Arial MT"/>
                <a:cs typeface="Arial MT"/>
              </a:rPr>
              <a:t> </a:t>
            </a:r>
            <a:r>
              <a:rPr sz="1800" spc="-5" dirty="0">
                <a:solidFill>
                  <a:srgbClr val="464646"/>
                </a:solidFill>
                <a:latin typeface="Arial MT"/>
                <a:cs typeface="Arial MT"/>
              </a:rPr>
              <a:t>Load</a:t>
            </a:r>
            <a:r>
              <a:rPr sz="1800" spc="-15" dirty="0">
                <a:solidFill>
                  <a:srgbClr val="464646"/>
                </a:solidFill>
                <a:latin typeface="Arial MT"/>
                <a:cs typeface="Arial MT"/>
              </a:rPr>
              <a:t> </a:t>
            </a:r>
            <a:r>
              <a:rPr sz="1800" spc="-5" dirty="0">
                <a:solidFill>
                  <a:srgbClr val="464646"/>
                </a:solidFill>
                <a:latin typeface="Arial MT"/>
                <a:cs typeface="Arial MT"/>
              </a:rPr>
              <a:t>Balancer</a:t>
            </a:r>
            <a:endParaRPr sz="1800">
              <a:latin typeface="Arial MT"/>
              <a:cs typeface="Arial MT"/>
            </a:endParaRPr>
          </a:p>
          <a:p>
            <a:pPr>
              <a:lnSpc>
                <a:spcPct val="100000"/>
              </a:lnSpc>
              <a:spcBef>
                <a:spcPts val="45"/>
              </a:spcBef>
            </a:pPr>
            <a:endParaRPr sz="2850">
              <a:latin typeface="Arial MT"/>
              <a:cs typeface="Arial MT"/>
            </a:endParaRPr>
          </a:p>
          <a:p>
            <a:pPr marL="2708275" indent="-287020">
              <a:lnSpc>
                <a:spcPct val="100000"/>
              </a:lnSpc>
              <a:buChar char="•"/>
              <a:tabLst>
                <a:tab pos="2708275" algn="l"/>
                <a:tab pos="2708910" algn="l"/>
              </a:tabLst>
            </a:pPr>
            <a:r>
              <a:rPr sz="1800" spc="-5" dirty="0">
                <a:solidFill>
                  <a:srgbClr val="464646"/>
                </a:solidFill>
                <a:latin typeface="Arial MT"/>
                <a:cs typeface="Arial MT"/>
              </a:rPr>
              <a:t>Scalable</a:t>
            </a:r>
            <a:r>
              <a:rPr sz="1800" spc="-60" dirty="0">
                <a:solidFill>
                  <a:srgbClr val="464646"/>
                </a:solidFill>
                <a:latin typeface="Arial MT"/>
                <a:cs typeface="Arial MT"/>
              </a:rPr>
              <a:t> </a:t>
            </a:r>
            <a:r>
              <a:rPr sz="1800" dirty="0">
                <a:solidFill>
                  <a:srgbClr val="464646"/>
                </a:solidFill>
                <a:latin typeface="Arial MT"/>
                <a:cs typeface="Arial MT"/>
              </a:rPr>
              <a:t>Infrastructure</a:t>
            </a:r>
            <a:endParaRPr sz="1800">
              <a:latin typeface="Arial MT"/>
              <a:cs typeface="Arial MT"/>
            </a:endParaRPr>
          </a:p>
          <a:p>
            <a:pPr marL="2708275" indent="-287020">
              <a:lnSpc>
                <a:spcPct val="100000"/>
              </a:lnSpc>
              <a:buChar char="•"/>
              <a:tabLst>
                <a:tab pos="2708275" algn="l"/>
                <a:tab pos="2708910" algn="l"/>
              </a:tabLst>
            </a:pPr>
            <a:r>
              <a:rPr sz="1800" spc="-5" dirty="0">
                <a:solidFill>
                  <a:srgbClr val="464646"/>
                </a:solidFill>
                <a:latin typeface="Arial MT"/>
                <a:cs typeface="Arial MT"/>
              </a:rPr>
              <a:t>Fault</a:t>
            </a:r>
            <a:r>
              <a:rPr sz="1800" spc="-60" dirty="0">
                <a:solidFill>
                  <a:srgbClr val="464646"/>
                </a:solidFill>
                <a:latin typeface="Arial MT"/>
                <a:cs typeface="Arial MT"/>
              </a:rPr>
              <a:t> </a:t>
            </a:r>
            <a:r>
              <a:rPr sz="1800" spc="-30" dirty="0">
                <a:solidFill>
                  <a:srgbClr val="464646"/>
                </a:solidFill>
                <a:latin typeface="Arial MT"/>
                <a:cs typeface="Arial MT"/>
              </a:rPr>
              <a:t>Tolerant</a:t>
            </a:r>
            <a:endParaRPr sz="1800">
              <a:latin typeface="Arial MT"/>
              <a:cs typeface="Arial MT"/>
            </a:endParaRPr>
          </a:p>
        </p:txBody>
      </p:sp>
      <p:sp>
        <p:nvSpPr>
          <p:cNvPr id="13" name="object 13"/>
          <p:cNvSpPr/>
          <p:nvPr/>
        </p:nvSpPr>
        <p:spPr>
          <a:xfrm>
            <a:off x="1268730" y="2823210"/>
            <a:ext cx="3122930" cy="1094740"/>
          </a:xfrm>
          <a:custGeom>
            <a:avLst/>
            <a:gdLst/>
            <a:ahLst/>
            <a:cxnLst/>
            <a:rect l="l" t="t" r="r" b="b"/>
            <a:pathLst>
              <a:path w="3122929" h="1094739">
                <a:moveTo>
                  <a:pt x="0" y="182371"/>
                </a:moveTo>
                <a:lnTo>
                  <a:pt x="6515" y="133893"/>
                </a:lnTo>
                <a:lnTo>
                  <a:pt x="24901" y="90329"/>
                </a:lnTo>
                <a:lnTo>
                  <a:pt x="53419" y="53419"/>
                </a:lnTo>
                <a:lnTo>
                  <a:pt x="90329" y="24901"/>
                </a:lnTo>
                <a:lnTo>
                  <a:pt x="133893" y="6515"/>
                </a:lnTo>
                <a:lnTo>
                  <a:pt x="182372" y="0"/>
                </a:lnTo>
                <a:lnTo>
                  <a:pt x="2940304" y="0"/>
                </a:lnTo>
                <a:lnTo>
                  <a:pt x="2988782" y="6515"/>
                </a:lnTo>
                <a:lnTo>
                  <a:pt x="3032346" y="24901"/>
                </a:lnTo>
                <a:lnTo>
                  <a:pt x="3069256" y="53419"/>
                </a:lnTo>
                <a:lnTo>
                  <a:pt x="3097774" y="90329"/>
                </a:lnTo>
                <a:lnTo>
                  <a:pt x="3116160" y="133893"/>
                </a:lnTo>
                <a:lnTo>
                  <a:pt x="3122675" y="182371"/>
                </a:lnTo>
                <a:lnTo>
                  <a:pt x="3122675" y="911859"/>
                </a:lnTo>
                <a:lnTo>
                  <a:pt x="3116160" y="960338"/>
                </a:lnTo>
                <a:lnTo>
                  <a:pt x="3097774" y="1003902"/>
                </a:lnTo>
                <a:lnTo>
                  <a:pt x="3069256" y="1040812"/>
                </a:lnTo>
                <a:lnTo>
                  <a:pt x="3032346" y="1069330"/>
                </a:lnTo>
                <a:lnTo>
                  <a:pt x="2988782" y="1087716"/>
                </a:lnTo>
                <a:lnTo>
                  <a:pt x="2940304" y="1094231"/>
                </a:lnTo>
                <a:lnTo>
                  <a:pt x="182372" y="1094231"/>
                </a:lnTo>
                <a:lnTo>
                  <a:pt x="133893" y="1087716"/>
                </a:lnTo>
                <a:lnTo>
                  <a:pt x="90329" y="1069330"/>
                </a:lnTo>
                <a:lnTo>
                  <a:pt x="53419" y="1040812"/>
                </a:lnTo>
                <a:lnTo>
                  <a:pt x="24901" y="1003902"/>
                </a:lnTo>
                <a:lnTo>
                  <a:pt x="6515" y="960338"/>
                </a:lnTo>
                <a:lnTo>
                  <a:pt x="0" y="911859"/>
                </a:lnTo>
                <a:lnTo>
                  <a:pt x="0" y="182371"/>
                </a:lnTo>
                <a:close/>
              </a:path>
              <a:path w="3122929" h="1094739">
                <a:moveTo>
                  <a:pt x="202691" y="309625"/>
                </a:moveTo>
                <a:lnTo>
                  <a:pt x="208577" y="280451"/>
                </a:lnTo>
                <a:lnTo>
                  <a:pt x="224631" y="256635"/>
                </a:lnTo>
                <a:lnTo>
                  <a:pt x="248447" y="240581"/>
                </a:lnTo>
                <a:lnTo>
                  <a:pt x="277622" y="234695"/>
                </a:lnTo>
                <a:lnTo>
                  <a:pt x="1385062" y="234695"/>
                </a:lnTo>
                <a:lnTo>
                  <a:pt x="1414236" y="240581"/>
                </a:lnTo>
                <a:lnTo>
                  <a:pt x="1438052" y="256635"/>
                </a:lnTo>
                <a:lnTo>
                  <a:pt x="1454106" y="280451"/>
                </a:lnTo>
                <a:lnTo>
                  <a:pt x="1459992" y="309625"/>
                </a:lnTo>
                <a:lnTo>
                  <a:pt x="1459992" y="609345"/>
                </a:lnTo>
                <a:lnTo>
                  <a:pt x="1454106" y="638520"/>
                </a:lnTo>
                <a:lnTo>
                  <a:pt x="1438052" y="662336"/>
                </a:lnTo>
                <a:lnTo>
                  <a:pt x="1414236" y="678390"/>
                </a:lnTo>
                <a:lnTo>
                  <a:pt x="1385062" y="684276"/>
                </a:lnTo>
                <a:lnTo>
                  <a:pt x="277622" y="684276"/>
                </a:lnTo>
                <a:lnTo>
                  <a:pt x="248447" y="678390"/>
                </a:lnTo>
                <a:lnTo>
                  <a:pt x="224631" y="662336"/>
                </a:lnTo>
                <a:lnTo>
                  <a:pt x="208577" y="638520"/>
                </a:lnTo>
                <a:lnTo>
                  <a:pt x="202691" y="609345"/>
                </a:lnTo>
                <a:lnTo>
                  <a:pt x="202691" y="309625"/>
                </a:lnTo>
                <a:close/>
              </a:path>
            </a:pathLst>
          </a:custGeom>
          <a:ln w="25908">
            <a:solidFill>
              <a:srgbClr val="464646"/>
            </a:solidFill>
          </a:ln>
        </p:spPr>
        <p:txBody>
          <a:bodyPr wrap="square" lIns="0" tIns="0" rIns="0" bIns="0" rtlCol="0"/>
          <a:lstStyle/>
          <a:p>
            <a:endParaRPr/>
          </a:p>
        </p:txBody>
      </p:sp>
      <p:sp>
        <p:nvSpPr>
          <p:cNvPr id="14" name="object 14"/>
          <p:cNvSpPr txBox="1"/>
          <p:nvPr/>
        </p:nvSpPr>
        <p:spPr>
          <a:xfrm>
            <a:off x="1865122" y="3126994"/>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sp>
        <p:nvSpPr>
          <p:cNvPr id="15" name="object 15"/>
          <p:cNvSpPr/>
          <p:nvPr/>
        </p:nvSpPr>
        <p:spPr>
          <a:xfrm>
            <a:off x="2884170" y="3057905"/>
            <a:ext cx="1259205" cy="449580"/>
          </a:xfrm>
          <a:custGeom>
            <a:avLst/>
            <a:gdLst/>
            <a:ahLst/>
            <a:cxnLst/>
            <a:rect l="l" t="t" r="r" b="b"/>
            <a:pathLst>
              <a:path w="1259204" h="449579">
                <a:moveTo>
                  <a:pt x="0" y="74930"/>
                </a:moveTo>
                <a:lnTo>
                  <a:pt x="5885" y="45755"/>
                </a:lnTo>
                <a:lnTo>
                  <a:pt x="21939" y="21939"/>
                </a:lnTo>
                <a:lnTo>
                  <a:pt x="45755" y="5885"/>
                </a:lnTo>
                <a:lnTo>
                  <a:pt x="74930" y="0"/>
                </a:lnTo>
                <a:lnTo>
                  <a:pt x="1183894" y="0"/>
                </a:lnTo>
                <a:lnTo>
                  <a:pt x="1213068" y="5885"/>
                </a:lnTo>
                <a:lnTo>
                  <a:pt x="1236884" y="21939"/>
                </a:lnTo>
                <a:lnTo>
                  <a:pt x="1252938" y="45755"/>
                </a:lnTo>
                <a:lnTo>
                  <a:pt x="1258824" y="74930"/>
                </a:lnTo>
                <a:lnTo>
                  <a:pt x="1258824" y="374650"/>
                </a:lnTo>
                <a:lnTo>
                  <a:pt x="1252938" y="403824"/>
                </a:lnTo>
                <a:lnTo>
                  <a:pt x="1236884" y="427640"/>
                </a:lnTo>
                <a:lnTo>
                  <a:pt x="1213068" y="443694"/>
                </a:lnTo>
                <a:lnTo>
                  <a:pt x="1183894" y="449580"/>
                </a:lnTo>
                <a:lnTo>
                  <a:pt x="74930" y="449580"/>
                </a:lnTo>
                <a:lnTo>
                  <a:pt x="45755" y="443694"/>
                </a:lnTo>
                <a:lnTo>
                  <a:pt x="21939" y="427640"/>
                </a:lnTo>
                <a:lnTo>
                  <a:pt x="5885" y="403824"/>
                </a:lnTo>
                <a:lnTo>
                  <a:pt x="0" y="374650"/>
                </a:lnTo>
                <a:lnTo>
                  <a:pt x="0" y="74930"/>
                </a:lnTo>
                <a:close/>
              </a:path>
            </a:pathLst>
          </a:custGeom>
          <a:ln w="25908">
            <a:solidFill>
              <a:srgbClr val="464646"/>
            </a:solidFill>
          </a:ln>
        </p:spPr>
        <p:txBody>
          <a:bodyPr wrap="square" lIns="0" tIns="0" rIns="0" bIns="0" rtlCol="0"/>
          <a:lstStyle/>
          <a:p>
            <a:endParaRPr/>
          </a:p>
        </p:txBody>
      </p:sp>
      <p:sp>
        <p:nvSpPr>
          <p:cNvPr id="16" name="object 16"/>
          <p:cNvSpPr txBox="1"/>
          <p:nvPr/>
        </p:nvSpPr>
        <p:spPr>
          <a:xfrm>
            <a:off x="3279140" y="3126994"/>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grpSp>
        <p:nvGrpSpPr>
          <p:cNvPr id="17" name="object 17"/>
          <p:cNvGrpSpPr/>
          <p:nvPr/>
        </p:nvGrpSpPr>
        <p:grpSpPr>
          <a:xfrm>
            <a:off x="828101" y="1882070"/>
            <a:ext cx="7061834" cy="2048510"/>
            <a:chOff x="828101" y="1882070"/>
            <a:chExt cx="7061834" cy="2048510"/>
          </a:xfrm>
        </p:grpSpPr>
        <p:sp>
          <p:nvSpPr>
            <p:cNvPr id="18" name="object 18"/>
            <p:cNvSpPr/>
            <p:nvPr/>
          </p:nvSpPr>
          <p:spPr>
            <a:xfrm>
              <a:off x="828101" y="1882070"/>
              <a:ext cx="529590" cy="502920"/>
            </a:xfrm>
            <a:custGeom>
              <a:avLst/>
              <a:gdLst/>
              <a:ahLst/>
              <a:cxnLst/>
              <a:rect l="l" t="t" r="r" b="b"/>
              <a:pathLst>
                <a:path w="529590" h="502919">
                  <a:moveTo>
                    <a:pt x="137907" y="0"/>
                  </a:moveTo>
                  <a:lnTo>
                    <a:pt x="99101" y="4671"/>
                  </a:lnTo>
                  <a:lnTo>
                    <a:pt x="63820" y="21625"/>
                  </a:lnTo>
                  <a:lnTo>
                    <a:pt x="34216" y="47900"/>
                  </a:lnTo>
                  <a:lnTo>
                    <a:pt x="12439" y="80532"/>
                  </a:lnTo>
                  <a:lnTo>
                    <a:pt x="0" y="125293"/>
                  </a:lnTo>
                  <a:lnTo>
                    <a:pt x="2812" y="170859"/>
                  </a:lnTo>
                  <a:lnTo>
                    <a:pt x="16641" y="215312"/>
                  </a:lnTo>
                  <a:lnTo>
                    <a:pt x="37252" y="256737"/>
                  </a:lnTo>
                  <a:lnTo>
                    <a:pt x="62467" y="296510"/>
                  </a:lnTo>
                  <a:lnTo>
                    <a:pt x="90798" y="334080"/>
                  </a:lnTo>
                  <a:lnTo>
                    <a:pt x="121499" y="369734"/>
                  </a:lnTo>
                  <a:lnTo>
                    <a:pt x="153825" y="403756"/>
                  </a:lnTo>
                  <a:lnTo>
                    <a:pt x="207383" y="455033"/>
                  </a:lnTo>
                  <a:lnTo>
                    <a:pt x="264234" y="502628"/>
                  </a:lnTo>
                  <a:lnTo>
                    <a:pt x="266418" y="500911"/>
                  </a:lnTo>
                  <a:lnTo>
                    <a:pt x="316541" y="458959"/>
                  </a:lnTo>
                  <a:lnTo>
                    <a:pt x="364187" y="414213"/>
                  </a:lnTo>
                  <a:lnTo>
                    <a:pt x="378794" y="399451"/>
                  </a:lnTo>
                  <a:lnTo>
                    <a:pt x="241546" y="399451"/>
                  </a:lnTo>
                  <a:lnTo>
                    <a:pt x="235982" y="397256"/>
                  </a:lnTo>
                  <a:lnTo>
                    <a:pt x="231534" y="392942"/>
                  </a:lnTo>
                  <a:lnTo>
                    <a:pt x="230285" y="391128"/>
                  </a:lnTo>
                  <a:lnTo>
                    <a:pt x="229440" y="389073"/>
                  </a:lnTo>
                  <a:lnTo>
                    <a:pt x="229043" y="386901"/>
                  </a:lnTo>
                  <a:lnTo>
                    <a:pt x="227249" y="379721"/>
                  </a:lnTo>
                  <a:lnTo>
                    <a:pt x="226312" y="372230"/>
                  </a:lnTo>
                  <a:lnTo>
                    <a:pt x="224908" y="365051"/>
                  </a:lnTo>
                  <a:lnTo>
                    <a:pt x="206603" y="267346"/>
                  </a:lnTo>
                  <a:lnTo>
                    <a:pt x="141154" y="267346"/>
                  </a:lnTo>
                  <a:lnTo>
                    <a:pt x="132533" y="267321"/>
                  </a:lnTo>
                  <a:lnTo>
                    <a:pt x="115357" y="267116"/>
                  </a:lnTo>
                  <a:lnTo>
                    <a:pt x="80245" y="267116"/>
                  </a:lnTo>
                  <a:lnTo>
                    <a:pt x="75173" y="259320"/>
                  </a:lnTo>
                  <a:lnTo>
                    <a:pt x="70277" y="251509"/>
                  </a:lnTo>
                  <a:lnTo>
                    <a:pt x="65585" y="243698"/>
                  </a:lnTo>
                  <a:lnTo>
                    <a:pt x="61128" y="235901"/>
                  </a:lnTo>
                  <a:lnTo>
                    <a:pt x="139390" y="235589"/>
                  </a:lnTo>
                  <a:lnTo>
                    <a:pt x="162928" y="164967"/>
                  </a:lnTo>
                  <a:lnTo>
                    <a:pt x="176687" y="123608"/>
                  </a:lnTo>
                  <a:lnTo>
                    <a:pt x="179861" y="115167"/>
                  </a:lnTo>
                  <a:lnTo>
                    <a:pt x="184470" y="107640"/>
                  </a:lnTo>
                  <a:lnTo>
                    <a:pt x="191214" y="103318"/>
                  </a:lnTo>
                  <a:lnTo>
                    <a:pt x="263489" y="103318"/>
                  </a:lnTo>
                  <a:lnTo>
                    <a:pt x="242344" y="67817"/>
                  </a:lnTo>
                  <a:lnTo>
                    <a:pt x="214120" y="35077"/>
                  </a:lnTo>
                  <a:lnTo>
                    <a:pt x="179371" y="10939"/>
                  </a:lnTo>
                  <a:lnTo>
                    <a:pt x="137907" y="0"/>
                  </a:lnTo>
                  <a:close/>
                </a:path>
                <a:path w="529590" h="502919">
                  <a:moveTo>
                    <a:pt x="319867" y="228800"/>
                  </a:moveTo>
                  <a:lnTo>
                    <a:pt x="305057" y="268197"/>
                  </a:lnTo>
                  <a:lnTo>
                    <a:pt x="289459" y="309906"/>
                  </a:lnTo>
                  <a:lnTo>
                    <a:pt x="275494" y="346933"/>
                  </a:lnTo>
                  <a:lnTo>
                    <a:pt x="260332" y="386198"/>
                  </a:lnTo>
                  <a:lnTo>
                    <a:pt x="259181" y="390458"/>
                  </a:lnTo>
                  <a:lnTo>
                    <a:pt x="256697" y="394236"/>
                  </a:lnTo>
                  <a:lnTo>
                    <a:pt x="253232" y="396967"/>
                  </a:lnTo>
                  <a:lnTo>
                    <a:pt x="247529" y="399398"/>
                  </a:lnTo>
                  <a:lnTo>
                    <a:pt x="241546" y="399451"/>
                  </a:lnTo>
                  <a:lnTo>
                    <a:pt x="378794" y="399451"/>
                  </a:lnTo>
                  <a:lnTo>
                    <a:pt x="396808" y="381246"/>
                  </a:lnTo>
                  <a:lnTo>
                    <a:pt x="427409" y="346446"/>
                  </a:lnTo>
                  <a:lnTo>
                    <a:pt x="441879" y="327897"/>
                  </a:lnTo>
                  <a:lnTo>
                    <a:pt x="361870" y="327897"/>
                  </a:lnTo>
                  <a:lnTo>
                    <a:pt x="355920" y="327279"/>
                  </a:lnTo>
                  <a:lnTo>
                    <a:pt x="343510" y="309879"/>
                  </a:lnTo>
                  <a:lnTo>
                    <a:pt x="329028" y="260327"/>
                  </a:lnTo>
                  <a:lnTo>
                    <a:pt x="319867" y="228800"/>
                  </a:lnTo>
                  <a:close/>
                </a:path>
                <a:path w="529590" h="502919">
                  <a:moveTo>
                    <a:pt x="502508" y="235336"/>
                  </a:moveTo>
                  <a:lnTo>
                    <a:pt x="422034" y="235336"/>
                  </a:lnTo>
                  <a:lnTo>
                    <a:pt x="438079" y="235901"/>
                  </a:lnTo>
                  <a:lnTo>
                    <a:pt x="467105" y="235901"/>
                  </a:lnTo>
                  <a:lnTo>
                    <a:pt x="462659" y="243698"/>
                  </a:lnTo>
                  <a:lnTo>
                    <a:pt x="457986" y="251509"/>
                  </a:lnTo>
                  <a:lnTo>
                    <a:pt x="453093" y="259320"/>
                  </a:lnTo>
                  <a:lnTo>
                    <a:pt x="447988" y="267116"/>
                  </a:lnTo>
                  <a:lnTo>
                    <a:pt x="422629" y="267116"/>
                  </a:lnTo>
                  <a:lnTo>
                    <a:pt x="410258" y="281038"/>
                  </a:lnTo>
                  <a:lnTo>
                    <a:pt x="372458" y="322365"/>
                  </a:lnTo>
                  <a:lnTo>
                    <a:pt x="361870" y="327897"/>
                  </a:lnTo>
                  <a:lnTo>
                    <a:pt x="441879" y="327897"/>
                  </a:lnTo>
                  <a:lnTo>
                    <a:pt x="455931" y="309879"/>
                  </a:lnTo>
                  <a:lnTo>
                    <a:pt x="482242" y="271720"/>
                  </a:lnTo>
                  <a:lnTo>
                    <a:pt x="502508" y="235336"/>
                  </a:lnTo>
                  <a:close/>
                </a:path>
                <a:path w="529590" h="502919">
                  <a:moveTo>
                    <a:pt x="263489" y="103318"/>
                  </a:moveTo>
                  <a:lnTo>
                    <a:pt x="191214" y="103318"/>
                  </a:lnTo>
                  <a:lnTo>
                    <a:pt x="200797" y="104489"/>
                  </a:lnTo>
                  <a:lnTo>
                    <a:pt x="209848" y="108313"/>
                  </a:lnTo>
                  <a:lnTo>
                    <a:pt x="210395" y="117677"/>
                  </a:lnTo>
                  <a:lnTo>
                    <a:pt x="211955" y="125871"/>
                  </a:lnTo>
                  <a:lnTo>
                    <a:pt x="249564" y="326657"/>
                  </a:lnTo>
                  <a:lnTo>
                    <a:pt x="304808" y="180574"/>
                  </a:lnTo>
                  <a:lnTo>
                    <a:pt x="307695" y="172771"/>
                  </a:lnTo>
                  <a:lnTo>
                    <a:pt x="310660" y="164967"/>
                  </a:lnTo>
                  <a:lnTo>
                    <a:pt x="320413" y="164109"/>
                  </a:lnTo>
                  <a:lnTo>
                    <a:pt x="525794" y="164109"/>
                  </a:lnTo>
                  <a:lnTo>
                    <a:pt x="529452" y="142054"/>
                  </a:lnTo>
                  <a:lnTo>
                    <a:pt x="523915" y="104567"/>
                  </a:lnTo>
                  <a:lnTo>
                    <a:pt x="264234" y="104567"/>
                  </a:lnTo>
                  <a:lnTo>
                    <a:pt x="263489" y="103318"/>
                  </a:lnTo>
                  <a:close/>
                </a:path>
                <a:path w="529590" h="502919">
                  <a:moveTo>
                    <a:pt x="525794" y="164109"/>
                  </a:moveTo>
                  <a:lnTo>
                    <a:pt x="320413" y="164109"/>
                  </a:lnTo>
                  <a:lnTo>
                    <a:pt x="328202" y="165191"/>
                  </a:lnTo>
                  <a:lnTo>
                    <a:pt x="333444" y="169493"/>
                  </a:lnTo>
                  <a:lnTo>
                    <a:pt x="336872" y="175785"/>
                  </a:lnTo>
                  <a:lnTo>
                    <a:pt x="339218" y="182837"/>
                  </a:lnTo>
                  <a:lnTo>
                    <a:pt x="367854" y="281240"/>
                  </a:lnTo>
                  <a:lnTo>
                    <a:pt x="386674" y="260541"/>
                  </a:lnTo>
                  <a:lnTo>
                    <a:pt x="422034" y="235336"/>
                  </a:lnTo>
                  <a:lnTo>
                    <a:pt x="502508" y="235336"/>
                  </a:lnTo>
                  <a:lnTo>
                    <a:pt x="504621" y="231541"/>
                  </a:lnTo>
                  <a:lnTo>
                    <a:pt x="521885" y="187675"/>
                  </a:lnTo>
                  <a:lnTo>
                    <a:pt x="525794" y="164109"/>
                  </a:lnTo>
                  <a:close/>
                </a:path>
                <a:path w="529590" h="502919">
                  <a:moveTo>
                    <a:pt x="190420" y="180964"/>
                  </a:moveTo>
                  <a:lnTo>
                    <a:pt x="168416" y="247061"/>
                  </a:lnTo>
                  <a:lnTo>
                    <a:pt x="141154" y="267346"/>
                  </a:lnTo>
                  <a:lnTo>
                    <a:pt x="206603" y="267346"/>
                  </a:lnTo>
                  <a:lnTo>
                    <a:pt x="190420" y="180964"/>
                  </a:lnTo>
                  <a:close/>
                </a:path>
                <a:path w="529590" h="502919">
                  <a:moveTo>
                    <a:pt x="407024" y="312"/>
                  </a:moveTo>
                  <a:lnTo>
                    <a:pt x="360321" y="6177"/>
                  </a:lnTo>
                  <a:lnTo>
                    <a:pt x="320794" y="29614"/>
                  </a:lnTo>
                  <a:lnTo>
                    <a:pt x="288684" y="64464"/>
                  </a:lnTo>
                  <a:lnTo>
                    <a:pt x="264234" y="104567"/>
                  </a:lnTo>
                  <a:lnTo>
                    <a:pt x="523915" y="104567"/>
                  </a:lnTo>
                  <a:lnTo>
                    <a:pt x="505097" y="61468"/>
                  </a:lnTo>
                  <a:lnTo>
                    <a:pt x="478517" y="31867"/>
                  </a:lnTo>
                  <a:lnTo>
                    <a:pt x="445118" y="10562"/>
                  </a:lnTo>
                  <a:lnTo>
                    <a:pt x="407024" y="312"/>
                  </a:lnTo>
                  <a:close/>
                </a:path>
              </a:pathLst>
            </a:custGeom>
            <a:solidFill>
              <a:srgbClr val="FBB64B"/>
            </a:solidFill>
          </p:spPr>
          <p:txBody>
            <a:bodyPr wrap="square" lIns="0" tIns="0" rIns="0" bIns="0" rtlCol="0"/>
            <a:lstStyle/>
            <a:p>
              <a:endParaRPr/>
            </a:p>
          </p:txBody>
        </p:sp>
        <p:sp>
          <p:nvSpPr>
            <p:cNvPr id="19" name="object 19"/>
            <p:cNvSpPr/>
            <p:nvPr/>
          </p:nvSpPr>
          <p:spPr>
            <a:xfrm>
              <a:off x="4754118" y="2823210"/>
              <a:ext cx="3122930" cy="1094740"/>
            </a:xfrm>
            <a:custGeom>
              <a:avLst/>
              <a:gdLst/>
              <a:ahLst/>
              <a:cxnLst/>
              <a:rect l="l" t="t" r="r" b="b"/>
              <a:pathLst>
                <a:path w="3122929" h="1094739">
                  <a:moveTo>
                    <a:pt x="0" y="182371"/>
                  </a:moveTo>
                  <a:lnTo>
                    <a:pt x="6515" y="133893"/>
                  </a:lnTo>
                  <a:lnTo>
                    <a:pt x="24901" y="90329"/>
                  </a:lnTo>
                  <a:lnTo>
                    <a:pt x="53419" y="53419"/>
                  </a:lnTo>
                  <a:lnTo>
                    <a:pt x="90329" y="24901"/>
                  </a:lnTo>
                  <a:lnTo>
                    <a:pt x="133893" y="6515"/>
                  </a:lnTo>
                  <a:lnTo>
                    <a:pt x="182372" y="0"/>
                  </a:lnTo>
                  <a:lnTo>
                    <a:pt x="2940304" y="0"/>
                  </a:lnTo>
                  <a:lnTo>
                    <a:pt x="2988782" y="6515"/>
                  </a:lnTo>
                  <a:lnTo>
                    <a:pt x="3032346" y="24901"/>
                  </a:lnTo>
                  <a:lnTo>
                    <a:pt x="3069256" y="53419"/>
                  </a:lnTo>
                  <a:lnTo>
                    <a:pt x="3097774" y="90329"/>
                  </a:lnTo>
                  <a:lnTo>
                    <a:pt x="3116160" y="133893"/>
                  </a:lnTo>
                  <a:lnTo>
                    <a:pt x="3122676" y="182371"/>
                  </a:lnTo>
                  <a:lnTo>
                    <a:pt x="3122676" y="911859"/>
                  </a:lnTo>
                  <a:lnTo>
                    <a:pt x="3116160" y="960338"/>
                  </a:lnTo>
                  <a:lnTo>
                    <a:pt x="3097774" y="1003902"/>
                  </a:lnTo>
                  <a:lnTo>
                    <a:pt x="3069256" y="1040812"/>
                  </a:lnTo>
                  <a:lnTo>
                    <a:pt x="3032346" y="1069330"/>
                  </a:lnTo>
                  <a:lnTo>
                    <a:pt x="2988782" y="1087716"/>
                  </a:lnTo>
                  <a:lnTo>
                    <a:pt x="2940304" y="1094231"/>
                  </a:lnTo>
                  <a:lnTo>
                    <a:pt x="182372" y="1094231"/>
                  </a:lnTo>
                  <a:lnTo>
                    <a:pt x="133893" y="1087716"/>
                  </a:lnTo>
                  <a:lnTo>
                    <a:pt x="90329" y="1069330"/>
                  </a:lnTo>
                  <a:lnTo>
                    <a:pt x="53419" y="1040812"/>
                  </a:lnTo>
                  <a:lnTo>
                    <a:pt x="24901" y="1003902"/>
                  </a:lnTo>
                  <a:lnTo>
                    <a:pt x="6515" y="960338"/>
                  </a:lnTo>
                  <a:lnTo>
                    <a:pt x="0" y="911859"/>
                  </a:lnTo>
                  <a:lnTo>
                    <a:pt x="0" y="182371"/>
                  </a:lnTo>
                  <a:close/>
                </a:path>
              </a:pathLst>
            </a:custGeom>
            <a:ln w="25908">
              <a:solidFill>
                <a:srgbClr val="464646"/>
              </a:solidFill>
            </a:ln>
          </p:spPr>
          <p:txBody>
            <a:bodyPr wrap="square" lIns="0" tIns="0" rIns="0" bIns="0" rtlCol="0"/>
            <a:lstStyle/>
            <a:p>
              <a:endParaRPr/>
            </a:p>
          </p:txBody>
        </p:sp>
      </p:grpSp>
      <p:sp>
        <p:nvSpPr>
          <p:cNvPr id="20" name="object 20"/>
          <p:cNvSpPr txBox="1"/>
          <p:nvPr/>
        </p:nvSpPr>
        <p:spPr>
          <a:xfrm>
            <a:off x="6061709" y="3525392"/>
            <a:ext cx="508634"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64646"/>
                </a:solidFill>
                <a:latin typeface="Arial MT"/>
                <a:cs typeface="Arial MT"/>
              </a:rPr>
              <a:t>AZ</a:t>
            </a:r>
            <a:r>
              <a:rPr sz="1800" spc="-80" dirty="0">
                <a:solidFill>
                  <a:srgbClr val="464646"/>
                </a:solidFill>
                <a:latin typeface="Arial MT"/>
                <a:cs typeface="Arial MT"/>
              </a:rPr>
              <a:t> </a:t>
            </a:r>
            <a:r>
              <a:rPr sz="1800" spc="-5" dirty="0">
                <a:solidFill>
                  <a:srgbClr val="464646"/>
                </a:solidFill>
                <a:latin typeface="Arial MT"/>
                <a:cs typeface="Arial MT"/>
              </a:rPr>
              <a:t>2</a:t>
            </a:r>
            <a:endParaRPr sz="1800">
              <a:latin typeface="Arial MT"/>
              <a:cs typeface="Arial MT"/>
            </a:endParaRPr>
          </a:p>
        </p:txBody>
      </p:sp>
      <p:sp>
        <p:nvSpPr>
          <p:cNvPr id="21" name="object 21"/>
          <p:cNvSpPr/>
          <p:nvPr/>
        </p:nvSpPr>
        <p:spPr>
          <a:xfrm>
            <a:off x="4955285" y="3057905"/>
            <a:ext cx="1259205" cy="449580"/>
          </a:xfrm>
          <a:custGeom>
            <a:avLst/>
            <a:gdLst/>
            <a:ahLst/>
            <a:cxnLst/>
            <a:rect l="l" t="t" r="r" b="b"/>
            <a:pathLst>
              <a:path w="1259204" h="449579">
                <a:moveTo>
                  <a:pt x="0" y="74930"/>
                </a:moveTo>
                <a:lnTo>
                  <a:pt x="5885" y="45755"/>
                </a:lnTo>
                <a:lnTo>
                  <a:pt x="21939" y="21939"/>
                </a:lnTo>
                <a:lnTo>
                  <a:pt x="45755" y="5885"/>
                </a:lnTo>
                <a:lnTo>
                  <a:pt x="74929" y="0"/>
                </a:lnTo>
                <a:lnTo>
                  <a:pt x="1183893" y="0"/>
                </a:lnTo>
                <a:lnTo>
                  <a:pt x="1213068" y="5885"/>
                </a:lnTo>
                <a:lnTo>
                  <a:pt x="1236884" y="21939"/>
                </a:lnTo>
                <a:lnTo>
                  <a:pt x="1252938" y="45755"/>
                </a:lnTo>
                <a:lnTo>
                  <a:pt x="1258824" y="74930"/>
                </a:lnTo>
                <a:lnTo>
                  <a:pt x="1258824" y="374650"/>
                </a:lnTo>
                <a:lnTo>
                  <a:pt x="1252938" y="403824"/>
                </a:lnTo>
                <a:lnTo>
                  <a:pt x="1236884" y="427640"/>
                </a:lnTo>
                <a:lnTo>
                  <a:pt x="1213068" y="443694"/>
                </a:lnTo>
                <a:lnTo>
                  <a:pt x="1183893" y="449580"/>
                </a:lnTo>
                <a:lnTo>
                  <a:pt x="74929" y="449580"/>
                </a:lnTo>
                <a:lnTo>
                  <a:pt x="45755" y="443694"/>
                </a:lnTo>
                <a:lnTo>
                  <a:pt x="21939" y="427640"/>
                </a:lnTo>
                <a:lnTo>
                  <a:pt x="5885" y="403824"/>
                </a:lnTo>
                <a:lnTo>
                  <a:pt x="0" y="374650"/>
                </a:lnTo>
                <a:lnTo>
                  <a:pt x="0" y="74930"/>
                </a:lnTo>
                <a:close/>
              </a:path>
            </a:pathLst>
          </a:custGeom>
          <a:ln w="25908">
            <a:solidFill>
              <a:srgbClr val="464646"/>
            </a:solidFill>
          </a:ln>
        </p:spPr>
        <p:txBody>
          <a:bodyPr wrap="square" lIns="0" tIns="0" rIns="0" bIns="0" rtlCol="0"/>
          <a:lstStyle/>
          <a:p>
            <a:endParaRPr/>
          </a:p>
        </p:txBody>
      </p:sp>
      <p:sp>
        <p:nvSpPr>
          <p:cNvPr id="22" name="object 22"/>
          <p:cNvSpPr txBox="1"/>
          <p:nvPr/>
        </p:nvSpPr>
        <p:spPr>
          <a:xfrm>
            <a:off x="5350890" y="3126994"/>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sp>
        <p:nvSpPr>
          <p:cNvPr id="23" name="object 23"/>
          <p:cNvSpPr/>
          <p:nvPr/>
        </p:nvSpPr>
        <p:spPr>
          <a:xfrm>
            <a:off x="6369558" y="3057905"/>
            <a:ext cx="1259205" cy="449580"/>
          </a:xfrm>
          <a:custGeom>
            <a:avLst/>
            <a:gdLst/>
            <a:ahLst/>
            <a:cxnLst/>
            <a:rect l="l" t="t" r="r" b="b"/>
            <a:pathLst>
              <a:path w="1259204" h="449579">
                <a:moveTo>
                  <a:pt x="0" y="74930"/>
                </a:moveTo>
                <a:lnTo>
                  <a:pt x="5885" y="45755"/>
                </a:lnTo>
                <a:lnTo>
                  <a:pt x="21939" y="21939"/>
                </a:lnTo>
                <a:lnTo>
                  <a:pt x="45755" y="5885"/>
                </a:lnTo>
                <a:lnTo>
                  <a:pt x="74929" y="0"/>
                </a:lnTo>
                <a:lnTo>
                  <a:pt x="1183893" y="0"/>
                </a:lnTo>
                <a:lnTo>
                  <a:pt x="1213068" y="5885"/>
                </a:lnTo>
                <a:lnTo>
                  <a:pt x="1236884" y="21939"/>
                </a:lnTo>
                <a:lnTo>
                  <a:pt x="1252938" y="45755"/>
                </a:lnTo>
                <a:lnTo>
                  <a:pt x="1258823" y="74930"/>
                </a:lnTo>
                <a:lnTo>
                  <a:pt x="1258823" y="374650"/>
                </a:lnTo>
                <a:lnTo>
                  <a:pt x="1252938" y="403824"/>
                </a:lnTo>
                <a:lnTo>
                  <a:pt x="1236884" y="427640"/>
                </a:lnTo>
                <a:lnTo>
                  <a:pt x="1213068" y="443694"/>
                </a:lnTo>
                <a:lnTo>
                  <a:pt x="1183893" y="449580"/>
                </a:lnTo>
                <a:lnTo>
                  <a:pt x="74929" y="449580"/>
                </a:lnTo>
                <a:lnTo>
                  <a:pt x="45755" y="443694"/>
                </a:lnTo>
                <a:lnTo>
                  <a:pt x="21939" y="427640"/>
                </a:lnTo>
                <a:lnTo>
                  <a:pt x="5885" y="403824"/>
                </a:lnTo>
                <a:lnTo>
                  <a:pt x="0" y="374650"/>
                </a:lnTo>
                <a:lnTo>
                  <a:pt x="0" y="74930"/>
                </a:lnTo>
                <a:close/>
              </a:path>
            </a:pathLst>
          </a:custGeom>
          <a:ln w="25908">
            <a:solidFill>
              <a:srgbClr val="464646"/>
            </a:solidFill>
          </a:ln>
        </p:spPr>
        <p:txBody>
          <a:bodyPr wrap="square" lIns="0" tIns="0" rIns="0" bIns="0" rtlCol="0"/>
          <a:lstStyle/>
          <a:p>
            <a:endParaRPr/>
          </a:p>
        </p:txBody>
      </p:sp>
      <p:sp>
        <p:nvSpPr>
          <p:cNvPr id="24" name="object 24"/>
          <p:cNvSpPr txBox="1"/>
          <p:nvPr/>
        </p:nvSpPr>
        <p:spPr>
          <a:xfrm>
            <a:off x="6764781" y="3126994"/>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grpSp>
        <p:nvGrpSpPr>
          <p:cNvPr id="25" name="object 25"/>
          <p:cNvGrpSpPr/>
          <p:nvPr/>
        </p:nvGrpSpPr>
        <p:grpSpPr>
          <a:xfrm>
            <a:off x="1255775" y="2810255"/>
            <a:ext cx="3148965" cy="1120140"/>
            <a:chOff x="1255775" y="2810255"/>
            <a:chExt cx="3148965" cy="1120140"/>
          </a:xfrm>
        </p:grpSpPr>
        <p:sp>
          <p:nvSpPr>
            <p:cNvPr id="26" name="object 26"/>
            <p:cNvSpPr/>
            <p:nvPr/>
          </p:nvSpPr>
          <p:spPr>
            <a:xfrm>
              <a:off x="1268729" y="2823209"/>
              <a:ext cx="3122930" cy="1094740"/>
            </a:xfrm>
            <a:custGeom>
              <a:avLst/>
              <a:gdLst/>
              <a:ahLst/>
              <a:cxnLst/>
              <a:rect l="l" t="t" r="r" b="b"/>
              <a:pathLst>
                <a:path w="3122929" h="1094739">
                  <a:moveTo>
                    <a:pt x="2940304" y="0"/>
                  </a:moveTo>
                  <a:lnTo>
                    <a:pt x="182372" y="0"/>
                  </a:lnTo>
                  <a:lnTo>
                    <a:pt x="133893" y="6515"/>
                  </a:lnTo>
                  <a:lnTo>
                    <a:pt x="90329" y="24901"/>
                  </a:lnTo>
                  <a:lnTo>
                    <a:pt x="53419" y="53419"/>
                  </a:lnTo>
                  <a:lnTo>
                    <a:pt x="24901" y="90329"/>
                  </a:lnTo>
                  <a:lnTo>
                    <a:pt x="6515" y="133893"/>
                  </a:lnTo>
                  <a:lnTo>
                    <a:pt x="0" y="182371"/>
                  </a:lnTo>
                  <a:lnTo>
                    <a:pt x="0" y="911859"/>
                  </a:lnTo>
                  <a:lnTo>
                    <a:pt x="6515" y="960338"/>
                  </a:lnTo>
                  <a:lnTo>
                    <a:pt x="24901" y="1003902"/>
                  </a:lnTo>
                  <a:lnTo>
                    <a:pt x="53419" y="1040812"/>
                  </a:lnTo>
                  <a:lnTo>
                    <a:pt x="90329" y="1069330"/>
                  </a:lnTo>
                  <a:lnTo>
                    <a:pt x="133893" y="1087716"/>
                  </a:lnTo>
                  <a:lnTo>
                    <a:pt x="182372" y="1094231"/>
                  </a:lnTo>
                  <a:lnTo>
                    <a:pt x="2940304" y="1094231"/>
                  </a:lnTo>
                  <a:lnTo>
                    <a:pt x="2988782" y="1087716"/>
                  </a:lnTo>
                  <a:lnTo>
                    <a:pt x="3032346" y="1069330"/>
                  </a:lnTo>
                  <a:lnTo>
                    <a:pt x="3069256" y="1040812"/>
                  </a:lnTo>
                  <a:lnTo>
                    <a:pt x="3097774" y="1003902"/>
                  </a:lnTo>
                  <a:lnTo>
                    <a:pt x="3116160" y="960338"/>
                  </a:lnTo>
                  <a:lnTo>
                    <a:pt x="3122675" y="911859"/>
                  </a:lnTo>
                  <a:lnTo>
                    <a:pt x="3122675" y="182371"/>
                  </a:lnTo>
                  <a:lnTo>
                    <a:pt x="3116160" y="133893"/>
                  </a:lnTo>
                  <a:lnTo>
                    <a:pt x="3097774" y="90329"/>
                  </a:lnTo>
                  <a:lnTo>
                    <a:pt x="3069256" y="53419"/>
                  </a:lnTo>
                  <a:lnTo>
                    <a:pt x="3032346" y="24901"/>
                  </a:lnTo>
                  <a:lnTo>
                    <a:pt x="2988782" y="6515"/>
                  </a:lnTo>
                  <a:lnTo>
                    <a:pt x="2940304" y="0"/>
                  </a:lnTo>
                  <a:close/>
                </a:path>
              </a:pathLst>
            </a:custGeom>
            <a:solidFill>
              <a:srgbClr val="FF0000"/>
            </a:solidFill>
          </p:spPr>
          <p:txBody>
            <a:bodyPr wrap="square" lIns="0" tIns="0" rIns="0" bIns="0" rtlCol="0"/>
            <a:lstStyle/>
            <a:p>
              <a:endParaRPr/>
            </a:p>
          </p:txBody>
        </p:sp>
        <p:sp>
          <p:nvSpPr>
            <p:cNvPr id="27" name="object 27"/>
            <p:cNvSpPr/>
            <p:nvPr/>
          </p:nvSpPr>
          <p:spPr>
            <a:xfrm>
              <a:off x="1268729" y="2823209"/>
              <a:ext cx="3122930" cy="1094740"/>
            </a:xfrm>
            <a:custGeom>
              <a:avLst/>
              <a:gdLst/>
              <a:ahLst/>
              <a:cxnLst/>
              <a:rect l="l" t="t" r="r" b="b"/>
              <a:pathLst>
                <a:path w="3122929" h="1094739">
                  <a:moveTo>
                    <a:pt x="0" y="182371"/>
                  </a:moveTo>
                  <a:lnTo>
                    <a:pt x="6515" y="133893"/>
                  </a:lnTo>
                  <a:lnTo>
                    <a:pt x="24901" y="90329"/>
                  </a:lnTo>
                  <a:lnTo>
                    <a:pt x="53419" y="53419"/>
                  </a:lnTo>
                  <a:lnTo>
                    <a:pt x="90329" y="24901"/>
                  </a:lnTo>
                  <a:lnTo>
                    <a:pt x="133893" y="6515"/>
                  </a:lnTo>
                  <a:lnTo>
                    <a:pt x="182372" y="0"/>
                  </a:lnTo>
                  <a:lnTo>
                    <a:pt x="2940304" y="0"/>
                  </a:lnTo>
                  <a:lnTo>
                    <a:pt x="2988782" y="6515"/>
                  </a:lnTo>
                  <a:lnTo>
                    <a:pt x="3032346" y="24901"/>
                  </a:lnTo>
                  <a:lnTo>
                    <a:pt x="3069256" y="53419"/>
                  </a:lnTo>
                  <a:lnTo>
                    <a:pt x="3097774" y="90329"/>
                  </a:lnTo>
                  <a:lnTo>
                    <a:pt x="3116160" y="133893"/>
                  </a:lnTo>
                  <a:lnTo>
                    <a:pt x="3122675" y="182371"/>
                  </a:lnTo>
                  <a:lnTo>
                    <a:pt x="3122675" y="911859"/>
                  </a:lnTo>
                  <a:lnTo>
                    <a:pt x="3116160" y="960338"/>
                  </a:lnTo>
                  <a:lnTo>
                    <a:pt x="3097774" y="1003902"/>
                  </a:lnTo>
                  <a:lnTo>
                    <a:pt x="3069256" y="1040812"/>
                  </a:lnTo>
                  <a:lnTo>
                    <a:pt x="3032346" y="1069330"/>
                  </a:lnTo>
                  <a:lnTo>
                    <a:pt x="2988782" y="1087716"/>
                  </a:lnTo>
                  <a:lnTo>
                    <a:pt x="2940304" y="1094231"/>
                  </a:lnTo>
                  <a:lnTo>
                    <a:pt x="182372" y="1094231"/>
                  </a:lnTo>
                  <a:lnTo>
                    <a:pt x="133893" y="1087716"/>
                  </a:lnTo>
                  <a:lnTo>
                    <a:pt x="90329" y="1069330"/>
                  </a:lnTo>
                  <a:lnTo>
                    <a:pt x="53419" y="1040812"/>
                  </a:lnTo>
                  <a:lnTo>
                    <a:pt x="24901" y="1003902"/>
                  </a:lnTo>
                  <a:lnTo>
                    <a:pt x="6515" y="960338"/>
                  </a:lnTo>
                  <a:lnTo>
                    <a:pt x="0" y="911859"/>
                  </a:lnTo>
                  <a:lnTo>
                    <a:pt x="0" y="182371"/>
                  </a:lnTo>
                  <a:close/>
                </a:path>
              </a:pathLst>
            </a:custGeom>
            <a:ln w="25908">
              <a:solidFill>
                <a:srgbClr val="464646"/>
              </a:solidFill>
            </a:ln>
          </p:spPr>
          <p:txBody>
            <a:bodyPr wrap="square" lIns="0" tIns="0" rIns="0" bIns="0" rtlCol="0"/>
            <a:lstStyle/>
            <a:p>
              <a:endParaRPr/>
            </a:p>
          </p:txBody>
        </p:sp>
      </p:grpSp>
      <p:sp>
        <p:nvSpPr>
          <p:cNvPr id="28" name="object 28"/>
          <p:cNvSpPr txBox="1"/>
          <p:nvPr/>
        </p:nvSpPr>
        <p:spPr>
          <a:xfrm>
            <a:off x="2576322" y="3525392"/>
            <a:ext cx="508634"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64646"/>
                </a:solidFill>
                <a:latin typeface="Arial MT"/>
                <a:cs typeface="Arial MT"/>
              </a:rPr>
              <a:t>AZ</a:t>
            </a:r>
            <a:r>
              <a:rPr sz="1800" spc="-80" dirty="0">
                <a:solidFill>
                  <a:srgbClr val="464646"/>
                </a:solidFill>
                <a:latin typeface="Arial MT"/>
                <a:cs typeface="Arial MT"/>
              </a:rPr>
              <a:t> </a:t>
            </a:r>
            <a:r>
              <a:rPr sz="1800" spc="-5" dirty="0">
                <a:solidFill>
                  <a:srgbClr val="464646"/>
                </a:solidFill>
                <a:latin typeface="Arial MT"/>
                <a:cs typeface="Arial MT"/>
              </a:rPr>
              <a:t>1</a:t>
            </a:r>
            <a:endParaRPr sz="180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82118" y="1040130"/>
            <a:ext cx="4730750" cy="3893820"/>
          </a:xfrm>
          <a:custGeom>
            <a:avLst/>
            <a:gdLst/>
            <a:ahLst/>
            <a:cxnLst/>
            <a:rect l="l" t="t" r="r" b="b"/>
            <a:pathLst>
              <a:path w="4730750" h="3893820">
                <a:moveTo>
                  <a:pt x="0" y="648970"/>
                </a:moveTo>
                <a:lnTo>
                  <a:pt x="1780" y="600539"/>
                </a:lnTo>
                <a:lnTo>
                  <a:pt x="7036" y="553074"/>
                </a:lnTo>
                <a:lnTo>
                  <a:pt x="15644" y="506702"/>
                </a:lnTo>
                <a:lnTo>
                  <a:pt x="27477" y="461547"/>
                </a:lnTo>
                <a:lnTo>
                  <a:pt x="42410" y="417734"/>
                </a:lnTo>
                <a:lnTo>
                  <a:pt x="60318" y="375390"/>
                </a:lnTo>
                <a:lnTo>
                  <a:pt x="81075" y="334639"/>
                </a:lnTo>
                <a:lnTo>
                  <a:pt x="104556" y="295608"/>
                </a:lnTo>
                <a:lnTo>
                  <a:pt x="130634" y="258422"/>
                </a:lnTo>
                <a:lnTo>
                  <a:pt x="159185" y="223207"/>
                </a:lnTo>
                <a:lnTo>
                  <a:pt x="190084" y="190087"/>
                </a:lnTo>
                <a:lnTo>
                  <a:pt x="223203" y="159188"/>
                </a:lnTo>
                <a:lnTo>
                  <a:pt x="258419" y="130637"/>
                </a:lnTo>
                <a:lnTo>
                  <a:pt x="295606" y="104558"/>
                </a:lnTo>
                <a:lnTo>
                  <a:pt x="334638" y="81077"/>
                </a:lnTo>
                <a:lnTo>
                  <a:pt x="375389" y="60320"/>
                </a:lnTo>
                <a:lnTo>
                  <a:pt x="417735" y="42412"/>
                </a:lnTo>
                <a:lnTo>
                  <a:pt x="461549" y="27478"/>
                </a:lnTo>
                <a:lnTo>
                  <a:pt x="506706" y="15644"/>
                </a:lnTo>
                <a:lnTo>
                  <a:pt x="553081" y="7037"/>
                </a:lnTo>
                <a:lnTo>
                  <a:pt x="600548" y="1780"/>
                </a:lnTo>
                <a:lnTo>
                  <a:pt x="648982" y="0"/>
                </a:lnTo>
                <a:lnTo>
                  <a:pt x="4081526" y="0"/>
                </a:lnTo>
                <a:lnTo>
                  <a:pt x="4129956" y="1780"/>
                </a:lnTo>
                <a:lnTo>
                  <a:pt x="4177421" y="7037"/>
                </a:lnTo>
                <a:lnTo>
                  <a:pt x="4223793" y="15644"/>
                </a:lnTo>
                <a:lnTo>
                  <a:pt x="4268948" y="27478"/>
                </a:lnTo>
                <a:lnTo>
                  <a:pt x="4312761" y="42412"/>
                </a:lnTo>
                <a:lnTo>
                  <a:pt x="4355105" y="60320"/>
                </a:lnTo>
                <a:lnTo>
                  <a:pt x="4395856" y="81077"/>
                </a:lnTo>
                <a:lnTo>
                  <a:pt x="4434887" y="104558"/>
                </a:lnTo>
                <a:lnTo>
                  <a:pt x="4472073" y="130637"/>
                </a:lnTo>
                <a:lnTo>
                  <a:pt x="4507288" y="159188"/>
                </a:lnTo>
                <a:lnTo>
                  <a:pt x="4540408" y="190087"/>
                </a:lnTo>
                <a:lnTo>
                  <a:pt x="4571307" y="223207"/>
                </a:lnTo>
                <a:lnTo>
                  <a:pt x="4599858" y="258422"/>
                </a:lnTo>
                <a:lnTo>
                  <a:pt x="4625937" y="295608"/>
                </a:lnTo>
                <a:lnTo>
                  <a:pt x="4649418" y="334639"/>
                </a:lnTo>
                <a:lnTo>
                  <a:pt x="4670175" y="375390"/>
                </a:lnTo>
                <a:lnTo>
                  <a:pt x="4688083" y="417734"/>
                </a:lnTo>
                <a:lnTo>
                  <a:pt x="4703017" y="461547"/>
                </a:lnTo>
                <a:lnTo>
                  <a:pt x="4714851" y="506702"/>
                </a:lnTo>
                <a:lnTo>
                  <a:pt x="4723458" y="553074"/>
                </a:lnTo>
                <a:lnTo>
                  <a:pt x="4728715" y="600539"/>
                </a:lnTo>
                <a:lnTo>
                  <a:pt x="4730496" y="648970"/>
                </a:lnTo>
                <a:lnTo>
                  <a:pt x="4730496" y="3244837"/>
                </a:lnTo>
                <a:lnTo>
                  <a:pt x="4728715" y="3293271"/>
                </a:lnTo>
                <a:lnTo>
                  <a:pt x="4723458" y="3340738"/>
                </a:lnTo>
                <a:lnTo>
                  <a:pt x="4714851" y="3387113"/>
                </a:lnTo>
                <a:lnTo>
                  <a:pt x="4703017" y="3432270"/>
                </a:lnTo>
                <a:lnTo>
                  <a:pt x="4688083" y="3476084"/>
                </a:lnTo>
                <a:lnTo>
                  <a:pt x="4670175" y="3518430"/>
                </a:lnTo>
                <a:lnTo>
                  <a:pt x="4649418" y="3559181"/>
                </a:lnTo>
                <a:lnTo>
                  <a:pt x="4625937" y="3598213"/>
                </a:lnTo>
                <a:lnTo>
                  <a:pt x="4599858" y="3635400"/>
                </a:lnTo>
                <a:lnTo>
                  <a:pt x="4571307" y="3670616"/>
                </a:lnTo>
                <a:lnTo>
                  <a:pt x="4540408" y="3703735"/>
                </a:lnTo>
                <a:lnTo>
                  <a:pt x="4507288" y="3734634"/>
                </a:lnTo>
                <a:lnTo>
                  <a:pt x="4472073" y="3763185"/>
                </a:lnTo>
                <a:lnTo>
                  <a:pt x="4434887" y="3789263"/>
                </a:lnTo>
                <a:lnTo>
                  <a:pt x="4395856" y="3812744"/>
                </a:lnTo>
                <a:lnTo>
                  <a:pt x="4355105" y="3833501"/>
                </a:lnTo>
                <a:lnTo>
                  <a:pt x="4312761" y="3851409"/>
                </a:lnTo>
                <a:lnTo>
                  <a:pt x="4268948" y="3866342"/>
                </a:lnTo>
                <a:lnTo>
                  <a:pt x="4223793" y="3878175"/>
                </a:lnTo>
                <a:lnTo>
                  <a:pt x="4177421" y="3886783"/>
                </a:lnTo>
                <a:lnTo>
                  <a:pt x="4129956" y="3892039"/>
                </a:lnTo>
                <a:lnTo>
                  <a:pt x="4081526" y="3893820"/>
                </a:lnTo>
                <a:lnTo>
                  <a:pt x="648982" y="3893820"/>
                </a:lnTo>
                <a:lnTo>
                  <a:pt x="600548" y="3892039"/>
                </a:lnTo>
                <a:lnTo>
                  <a:pt x="553081" y="3886783"/>
                </a:lnTo>
                <a:lnTo>
                  <a:pt x="506706" y="3878175"/>
                </a:lnTo>
                <a:lnTo>
                  <a:pt x="461549" y="3866342"/>
                </a:lnTo>
                <a:lnTo>
                  <a:pt x="417735" y="3851409"/>
                </a:lnTo>
                <a:lnTo>
                  <a:pt x="375389" y="3833501"/>
                </a:lnTo>
                <a:lnTo>
                  <a:pt x="334638" y="3812744"/>
                </a:lnTo>
                <a:lnTo>
                  <a:pt x="295606" y="3789263"/>
                </a:lnTo>
                <a:lnTo>
                  <a:pt x="258419" y="3763185"/>
                </a:lnTo>
                <a:lnTo>
                  <a:pt x="223203" y="3734634"/>
                </a:lnTo>
                <a:lnTo>
                  <a:pt x="190084" y="3703735"/>
                </a:lnTo>
                <a:lnTo>
                  <a:pt x="159185" y="3670616"/>
                </a:lnTo>
                <a:lnTo>
                  <a:pt x="130634" y="3635400"/>
                </a:lnTo>
                <a:lnTo>
                  <a:pt x="104556" y="3598213"/>
                </a:lnTo>
                <a:lnTo>
                  <a:pt x="81075" y="3559181"/>
                </a:lnTo>
                <a:lnTo>
                  <a:pt x="60318" y="3518430"/>
                </a:lnTo>
                <a:lnTo>
                  <a:pt x="42410" y="3476084"/>
                </a:lnTo>
                <a:lnTo>
                  <a:pt x="27477" y="3432270"/>
                </a:lnTo>
                <a:lnTo>
                  <a:pt x="15644" y="3387113"/>
                </a:lnTo>
                <a:lnTo>
                  <a:pt x="7036" y="3340738"/>
                </a:lnTo>
                <a:lnTo>
                  <a:pt x="1780" y="3293271"/>
                </a:lnTo>
                <a:lnTo>
                  <a:pt x="0" y="3244837"/>
                </a:lnTo>
                <a:lnTo>
                  <a:pt x="0" y="648970"/>
                </a:lnTo>
                <a:close/>
              </a:path>
              <a:path w="4730750" h="3893820">
                <a:moveTo>
                  <a:pt x="269748" y="550164"/>
                </a:moveTo>
                <a:lnTo>
                  <a:pt x="274940" y="505083"/>
                </a:lnTo>
                <a:lnTo>
                  <a:pt x="289731" y="463702"/>
                </a:lnTo>
                <a:lnTo>
                  <a:pt x="312939" y="427199"/>
                </a:lnTo>
                <a:lnTo>
                  <a:pt x="343385" y="396755"/>
                </a:lnTo>
                <a:lnTo>
                  <a:pt x="379888" y="373548"/>
                </a:lnTo>
                <a:lnTo>
                  <a:pt x="421267" y="358759"/>
                </a:lnTo>
                <a:lnTo>
                  <a:pt x="466344" y="353568"/>
                </a:lnTo>
                <a:lnTo>
                  <a:pt x="4194048" y="353568"/>
                </a:lnTo>
                <a:lnTo>
                  <a:pt x="4239128" y="358759"/>
                </a:lnTo>
                <a:lnTo>
                  <a:pt x="4280509" y="373548"/>
                </a:lnTo>
                <a:lnTo>
                  <a:pt x="4317012" y="396755"/>
                </a:lnTo>
                <a:lnTo>
                  <a:pt x="4347456" y="427199"/>
                </a:lnTo>
                <a:lnTo>
                  <a:pt x="4370663" y="463702"/>
                </a:lnTo>
                <a:lnTo>
                  <a:pt x="4385452" y="505083"/>
                </a:lnTo>
                <a:lnTo>
                  <a:pt x="4390644" y="550164"/>
                </a:lnTo>
                <a:lnTo>
                  <a:pt x="4390644" y="1336548"/>
                </a:lnTo>
                <a:lnTo>
                  <a:pt x="4385452" y="1381628"/>
                </a:lnTo>
                <a:lnTo>
                  <a:pt x="4370663" y="1423009"/>
                </a:lnTo>
                <a:lnTo>
                  <a:pt x="4347456" y="1459512"/>
                </a:lnTo>
                <a:lnTo>
                  <a:pt x="4317012" y="1489956"/>
                </a:lnTo>
                <a:lnTo>
                  <a:pt x="4280509" y="1513163"/>
                </a:lnTo>
                <a:lnTo>
                  <a:pt x="4239128" y="1527952"/>
                </a:lnTo>
                <a:lnTo>
                  <a:pt x="4194048" y="1533144"/>
                </a:lnTo>
                <a:lnTo>
                  <a:pt x="466344" y="1533144"/>
                </a:lnTo>
                <a:lnTo>
                  <a:pt x="421267" y="1527952"/>
                </a:lnTo>
                <a:lnTo>
                  <a:pt x="379888" y="1513163"/>
                </a:lnTo>
                <a:lnTo>
                  <a:pt x="343385" y="1489956"/>
                </a:lnTo>
                <a:lnTo>
                  <a:pt x="312939" y="1459512"/>
                </a:lnTo>
                <a:lnTo>
                  <a:pt x="289731" y="1423009"/>
                </a:lnTo>
                <a:lnTo>
                  <a:pt x="274940" y="1381628"/>
                </a:lnTo>
                <a:lnTo>
                  <a:pt x="269748" y="1336548"/>
                </a:lnTo>
                <a:lnTo>
                  <a:pt x="269748" y="550164"/>
                </a:lnTo>
                <a:close/>
              </a:path>
            </a:pathLst>
          </a:custGeom>
          <a:ln w="25908">
            <a:solidFill>
              <a:srgbClr val="464646"/>
            </a:solidFill>
          </a:ln>
        </p:spPr>
        <p:txBody>
          <a:bodyPr wrap="square" lIns="0" tIns="0" rIns="0" bIns="0" rtlCol="0"/>
          <a:lstStyle/>
          <a:p>
            <a:endParaRPr/>
          </a:p>
        </p:txBody>
      </p:sp>
      <p:sp>
        <p:nvSpPr>
          <p:cNvPr id="3" name="object 3"/>
          <p:cNvSpPr txBox="1">
            <a:spLocks noGrp="1"/>
          </p:cNvSpPr>
          <p:nvPr>
            <p:ph type="title"/>
          </p:nvPr>
        </p:nvSpPr>
        <p:spPr>
          <a:xfrm>
            <a:off x="415544" y="139065"/>
            <a:ext cx="6871970"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Elastic</a:t>
            </a:r>
            <a:r>
              <a:rPr u="none" spc="10" dirty="0">
                <a:solidFill>
                  <a:srgbClr val="4D4D4B"/>
                </a:solidFill>
              </a:rPr>
              <a:t> </a:t>
            </a:r>
            <a:r>
              <a:rPr u="none" spc="-5" dirty="0">
                <a:solidFill>
                  <a:srgbClr val="4D4D4B"/>
                </a:solidFill>
              </a:rPr>
              <a:t>Load</a:t>
            </a:r>
            <a:r>
              <a:rPr u="none" spc="15" dirty="0">
                <a:solidFill>
                  <a:srgbClr val="4D4D4B"/>
                </a:solidFill>
              </a:rPr>
              <a:t> </a:t>
            </a:r>
            <a:r>
              <a:rPr u="none" spc="-5" dirty="0">
                <a:solidFill>
                  <a:srgbClr val="4D4D4B"/>
                </a:solidFill>
              </a:rPr>
              <a:t>Balancing</a:t>
            </a:r>
            <a:r>
              <a:rPr u="none" spc="35" dirty="0">
                <a:solidFill>
                  <a:srgbClr val="4D4D4B"/>
                </a:solidFill>
              </a:rPr>
              <a:t> </a:t>
            </a:r>
            <a:r>
              <a:rPr u="none" spc="-5" dirty="0">
                <a:solidFill>
                  <a:srgbClr val="4D4D4B"/>
                </a:solidFill>
              </a:rPr>
              <a:t>–</a:t>
            </a:r>
            <a:r>
              <a:rPr u="none" spc="5" dirty="0">
                <a:solidFill>
                  <a:srgbClr val="4D4D4B"/>
                </a:solidFill>
              </a:rPr>
              <a:t> </a:t>
            </a:r>
            <a:r>
              <a:rPr u="none" dirty="0">
                <a:solidFill>
                  <a:srgbClr val="4D4D4B"/>
                </a:solidFill>
              </a:rPr>
              <a:t>Internet</a:t>
            </a:r>
            <a:r>
              <a:rPr u="none" spc="20" dirty="0">
                <a:solidFill>
                  <a:srgbClr val="4D4D4B"/>
                </a:solidFill>
              </a:rPr>
              <a:t> </a:t>
            </a:r>
            <a:r>
              <a:rPr u="none" spc="-5" dirty="0">
                <a:solidFill>
                  <a:srgbClr val="4D4D4B"/>
                </a:solidFill>
              </a:rPr>
              <a:t>Facing</a:t>
            </a:r>
          </a:p>
        </p:txBody>
      </p:sp>
      <p:sp>
        <p:nvSpPr>
          <p:cNvPr id="4" name="object 4"/>
          <p:cNvSpPr txBox="1"/>
          <p:nvPr/>
        </p:nvSpPr>
        <p:spPr>
          <a:xfrm>
            <a:off x="1794510" y="2176017"/>
            <a:ext cx="143383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Public</a:t>
            </a:r>
            <a:r>
              <a:rPr sz="1800" spc="-60" dirty="0">
                <a:solidFill>
                  <a:srgbClr val="464646"/>
                </a:solidFill>
                <a:latin typeface="Arial MT"/>
                <a:cs typeface="Arial MT"/>
              </a:rPr>
              <a:t> </a:t>
            </a:r>
            <a:r>
              <a:rPr sz="1800" spc="-5" dirty="0">
                <a:solidFill>
                  <a:srgbClr val="464646"/>
                </a:solidFill>
                <a:latin typeface="Arial MT"/>
                <a:cs typeface="Arial MT"/>
              </a:rPr>
              <a:t>Subnet</a:t>
            </a:r>
            <a:endParaRPr sz="1800">
              <a:latin typeface="Arial MT"/>
              <a:cs typeface="Arial MT"/>
            </a:endParaRPr>
          </a:p>
        </p:txBody>
      </p:sp>
      <p:sp>
        <p:nvSpPr>
          <p:cNvPr id="5" name="object 5"/>
          <p:cNvSpPr/>
          <p:nvPr/>
        </p:nvSpPr>
        <p:spPr>
          <a:xfrm>
            <a:off x="791718" y="1544574"/>
            <a:ext cx="3421379" cy="547370"/>
          </a:xfrm>
          <a:custGeom>
            <a:avLst/>
            <a:gdLst/>
            <a:ahLst/>
            <a:cxnLst/>
            <a:rect l="l" t="t" r="r" b="b"/>
            <a:pathLst>
              <a:path w="3421379" h="547369">
                <a:moveTo>
                  <a:pt x="0" y="91186"/>
                </a:moveTo>
                <a:lnTo>
                  <a:pt x="7166" y="55667"/>
                </a:lnTo>
                <a:lnTo>
                  <a:pt x="26709" y="26685"/>
                </a:lnTo>
                <a:lnTo>
                  <a:pt x="55694" y="7157"/>
                </a:lnTo>
                <a:lnTo>
                  <a:pt x="91185" y="0"/>
                </a:lnTo>
                <a:lnTo>
                  <a:pt x="3330194" y="0"/>
                </a:lnTo>
                <a:lnTo>
                  <a:pt x="3365712" y="7157"/>
                </a:lnTo>
                <a:lnTo>
                  <a:pt x="3394694" y="26685"/>
                </a:lnTo>
                <a:lnTo>
                  <a:pt x="3414222" y="55667"/>
                </a:lnTo>
                <a:lnTo>
                  <a:pt x="3421379" y="91186"/>
                </a:lnTo>
                <a:lnTo>
                  <a:pt x="3421379" y="455930"/>
                </a:lnTo>
                <a:lnTo>
                  <a:pt x="3414222" y="491448"/>
                </a:lnTo>
                <a:lnTo>
                  <a:pt x="3394694" y="520430"/>
                </a:lnTo>
                <a:lnTo>
                  <a:pt x="3365712" y="539958"/>
                </a:lnTo>
                <a:lnTo>
                  <a:pt x="3330194" y="547115"/>
                </a:lnTo>
                <a:lnTo>
                  <a:pt x="91185" y="547115"/>
                </a:lnTo>
                <a:lnTo>
                  <a:pt x="55694" y="539958"/>
                </a:lnTo>
                <a:lnTo>
                  <a:pt x="26709" y="520430"/>
                </a:lnTo>
                <a:lnTo>
                  <a:pt x="7166" y="491448"/>
                </a:lnTo>
                <a:lnTo>
                  <a:pt x="0" y="455930"/>
                </a:lnTo>
                <a:lnTo>
                  <a:pt x="0" y="91186"/>
                </a:lnTo>
                <a:close/>
              </a:path>
            </a:pathLst>
          </a:custGeom>
          <a:ln w="25907">
            <a:solidFill>
              <a:srgbClr val="464646"/>
            </a:solidFill>
          </a:ln>
        </p:spPr>
        <p:txBody>
          <a:bodyPr wrap="square" lIns="0" tIns="0" rIns="0" bIns="0" rtlCol="0"/>
          <a:lstStyle/>
          <a:p>
            <a:endParaRPr/>
          </a:p>
        </p:txBody>
      </p:sp>
      <p:sp>
        <p:nvSpPr>
          <p:cNvPr id="6" name="object 6"/>
          <p:cNvSpPr txBox="1"/>
          <p:nvPr/>
        </p:nvSpPr>
        <p:spPr>
          <a:xfrm>
            <a:off x="1386077" y="1661617"/>
            <a:ext cx="2232660"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Elastic</a:t>
            </a:r>
            <a:r>
              <a:rPr sz="1800" spc="-30" dirty="0">
                <a:solidFill>
                  <a:srgbClr val="464646"/>
                </a:solidFill>
                <a:latin typeface="Arial MT"/>
                <a:cs typeface="Arial MT"/>
              </a:rPr>
              <a:t> </a:t>
            </a:r>
            <a:r>
              <a:rPr sz="1800" spc="-10" dirty="0">
                <a:solidFill>
                  <a:srgbClr val="464646"/>
                </a:solidFill>
                <a:latin typeface="Arial MT"/>
                <a:cs typeface="Arial MT"/>
              </a:rPr>
              <a:t>Load</a:t>
            </a:r>
            <a:r>
              <a:rPr sz="1800" spc="-20" dirty="0">
                <a:solidFill>
                  <a:srgbClr val="464646"/>
                </a:solidFill>
                <a:latin typeface="Arial MT"/>
                <a:cs typeface="Arial MT"/>
              </a:rPr>
              <a:t> </a:t>
            </a:r>
            <a:r>
              <a:rPr sz="1800" spc="-5" dirty="0">
                <a:solidFill>
                  <a:srgbClr val="464646"/>
                </a:solidFill>
                <a:latin typeface="Arial MT"/>
                <a:cs typeface="Arial MT"/>
              </a:rPr>
              <a:t>Balancer</a:t>
            </a:r>
            <a:endParaRPr sz="1800">
              <a:latin typeface="Arial MT"/>
              <a:cs typeface="Arial MT"/>
            </a:endParaRPr>
          </a:p>
        </p:txBody>
      </p:sp>
      <p:grpSp>
        <p:nvGrpSpPr>
          <p:cNvPr id="7" name="object 7"/>
          <p:cNvGrpSpPr/>
          <p:nvPr/>
        </p:nvGrpSpPr>
        <p:grpSpPr>
          <a:xfrm>
            <a:off x="438848" y="2471915"/>
            <a:ext cx="4147185" cy="1885314"/>
            <a:chOff x="438848" y="2471915"/>
            <a:chExt cx="4147185" cy="1885314"/>
          </a:xfrm>
        </p:grpSpPr>
        <p:pic>
          <p:nvPicPr>
            <p:cNvPr id="8" name="object 8"/>
            <p:cNvPicPr/>
            <p:nvPr/>
          </p:nvPicPr>
          <p:blipFill>
            <a:blip r:embed="rId3" cstate="print"/>
            <a:stretch>
              <a:fillRect/>
            </a:stretch>
          </p:blipFill>
          <p:spPr>
            <a:xfrm>
              <a:off x="2391156" y="2471915"/>
              <a:ext cx="237832" cy="742200"/>
            </a:xfrm>
            <a:prstGeom prst="rect">
              <a:avLst/>
            </a:prstGeom>
          </p:spPr>
        </p:pic>
        <p:sp>
          <p:nvSpPr>
            <p:cNvPr id="9" name="object 9"/>
            <p:cNvSpPr/>
            <p:nvPr/>
          </p:nvSpPr>
          <p:spPr>
            <a:xfrm>
              <a:off x="2473452" y="2573274"/>
              <a:ext cx="78105" cy="504190"/>
            </a:xfrm>
            <a:custGeom>
              <a:avLst/>
              <a:gdLst/>
              <a:ahLst/>
              <a:cxnLst/>
              <a:rect l="l" t="t" r="r" b="b"/>
              <a:pathLst>
                <a:path w="78105" h="504189">
                  <a:moveTo>
                    <a:pt x="25908" y="426212"/>
                  </a:moveTo>
                  <a:lnTo>
                    <a:pt x="0" y="426212"/>
                  </a:lnTo>
                  <a:lnTo>
                    <a:pt x="38862" y="503936"/>
                  </a:lnTo>
                  <a:lnTo>
                    <a:pt x="71247" y="439165"/>
                  </a:lnTo>
                  <a:lnTo>
                    <a:pt x="25908" y="439165"/>
                  </a:lnTo>
                  <a:lnTo>
                    <a:pt x="25908" y="426212"/>
                  </a:lnTo>
                  <a:close/>
                </a:path>
                <a:path w="78105" h="504189">
                  <a:moveTo>
                    <a:pt x="51816" y="64769"/>
                  </a:moveTo>
                  <a:lnTo>
                    <a:pt x="25908" y="64769"/>
                  </a:lnTo>
                  <a:lnTo>
                    <a:pt x="25908" y="439165"/>
                  </a:lnTo>
                  <a:lnTo>
                    <a:pt x="51816" y="439165"/>
                  </a:lnTo>
                  <a:lnTo>
                    <a:pt x="51816" y="64769"/>
                  </a:lnTo>
                  <a:close/>
                </a:path>
                <a:path w="78105" h="504189">
                  <a:moveTo>
                    <a:pt x="77724" y="426212"/>
                  </a:moveTo>
                  <a:lnTo>
                    <a:pt x="51816" y="426212"/>
                  </a:lnTo>
                  <a:lnTo>
                    <a:pt x="51816" y="439165"/>
                  </a:lnTo>
                  <a:lnTo>
                    <a:pt x="71247" y="439165"/>
                  </a:lnTo>
                  <a:lnTo>
                    <a:pt x="77724" y="426212"/>
                  </a:lnTo>
                  <a:close/>
                </a:path>
                <a:path w="78105" h="504189">
                  <a:moveTo>
                    <a:pt x="38862" y="0"/>
                  </a:moveTo>
                  <a:lnTo>
                    <a:pt x="0" y="77724"/>
                  </a:lnTo>
                  <a:lnTo>
                    <a:pt x="25908" y="77724"/>
                  </a:lnTo>
                  <a:lnTo>
                    <a:pt x="25908" y="64769"/>
                  </a:lnTo>
                  <a:lnTo>
                    <a:pt x="71247" y="64769"/>
                  </a:lnTo>
                  <a:lnTo>
                    <a:pt x="38862" y="0"/>
                  </a:lnTo>
                  <a:close/>
                </a:path>
                <a:path w="78105" h="504189">
                  <a:moveTo>
                    <a:pt x="71247" y="64769"/>
                  </a:moveTo>
                  <a:lnTo>
                    <a:pt x="51816" y="64769"/>
                  </a:lnTo>
                  <a:lnTo>
                    <a:pt x="51816" y="77724"/>
                  </a:lnTo>
                  <a:lnTo>
                    <a:pt x="77724" y="77724"/>
                  </a:lnTo>
                  <a:lnTo>
                    <a:pt x="71247" y="64769"/>
                  </a:lnTo>
                  <a:close/>
                </a:path>
              </a:pathLst>
            </a:custGeom>
            <a:solidFill>
              <a:srgbClr val="FBB64B"/>
            </a:solidFill>
          </p:spPr>
          <p:txBody>
            <a:bodyPr wrap="square" lIns="0" tIns="0" rIns="0" bIns="0" rtlCol="0"/>
            <a:lstStyle/>
            <a:p>
              <a:endParaRPr/>
            </a:p>
          </p:txBody>
        </p:sp>
        <p:sp>
          <p:nvSpPr>
            <p:cNvPr id="10" name="object 10"/>
            <p:cNvSpPr/>
            <p:nvPr/>
          </p:nvSpPr>
          <p:spPr>
            <a:xfrm>
              <a:off x="451866" y="3076194"/>
              <a:ext cx="4121150" cy="1268095"/>
            </a:xfrm>
            <a:custGeom>
              <a:avLst/>
              <a:gdLst/>
              <a:ahLst/>
              <a:cxnLst/>
              <a:rect l="l" t="t" r="r" b="b"/>
              <a:pathLst>
                <a:path w="4121150" h="1268095">
                  <a:moveTo>
                    <a:pt x="3909568" y="0"/>
                  </a:moveTo>
                  <a:lnTo>
                    <a:pt x="211328" y="0"/>
                  </a:lnTo>
                  <a:lnTo>
                    <a:pt x="162872" y="5581"/>
                  </a:lnTo>
                  <a:lnTo>
                    <a:pt x="118391" y="21479"/>
                  </a:lnTo>
                  <a:lnTo>
                    <a:pt x="79153" y="46426"/>
                  </a:lnTo>
                  <a:lnTo>
                    <a:pt x="46426" y="79153"/>
                  </a:lnTo>
                  <a:lnTo>
                    <a:pt x="21479" y="118391"/>
                  </a:lnTo>
                  <a:lnTo>
                    <a:pt x="5581" y="162872"/>
                  </a:lnTo>
                  <a:lnTo>
                    <a:pt x="0" y="211328"/>
                  </a:lnTo>
                  <a:lnTo>
                    <a:pt x="0" y="1056640"/>
                  </a:lnTo>
                  <a:lnTo>
                    <a:pt x="5581" y="1105095"/>
                  </a:lnTo>
                  <a:lnTo>
                    <a:pt x="21479" y="1149576"/>
                  </a:lnTo>
                  <a:lnTo>
                    <a:pt x="46426" y="1188814"/>
                  </a:lnTo>
                  <a:lnTo>
                    <a:pt x="79153" y="1221541"/>
                  </a:lnTo>
                  <a:lnTo>
                    <a:pt x="118391" y="1246488"/>
                  </a:lnTo>
                  <a:lnTo>
                    <a:pt x="162872" y="1262386"/>
                  </a:lnTo>
                  <a:lnTo>
                    <a:pt x="211328" y="1267968"/>
                  </a:lnTo>
                  <a:lnTo>
                    <a:pt x="3909568" y="1267968"/>
                  </a:lnTo>
                  <a:lnTo>
                    <a:pt x="3958023" y="1262386"/>
                  </a:lnTo>
                  <a:lnTo>
                    <a:pt x="4002504" y="1246488"/>
                  </a:lnTo>
                  <a:lnTo>
                    <a:pt x="4041742" y="1221541"/>
                  </a:lnTo>
                  <a:lnTo>
                    <a:pt x="4074469" y="1188814"/>
                  </a:lnTo>
                  <a:lnTo>
                    <a:pt x="4099416" y="1149576"/>
                  </a:lnTo>
                  <a:lnTo>
                    <a:pt x="4115314" y="1105095"/>
                  </a:lnTo>
                  <a:lnTo>
                    <a:pt x="4120896" y="1056640"/>
                  </a:lnTo>
                  <a:lnTo>
                    <a:pt x="4120896" y="211328"/>
                  </a:lnTo>
                  <a:lnTo>
                    <a:pt x="4115314" y="162872"/>
                  </a:lnTo>
                  <a:lnTo>
                    <a:pt x="4099416" y="118391"/>
                  </a:lnTo>
                  <a:lnTo>
                    <a:pt x="4074469" y="79153"/>
                  </a:lnTo>
                  <a:lnTo>
                    <a:pt x="4041742" y="46426"/>
                  </a:lnTo>
                  <a:lnTo>
                    <a:pt x="4002504" y="21479"/>
                  </a:lnTo>
                  <a:lnTo>
                    <a:pt x="3958023" y="5581"/>
                  </a:lnTo>
                  <a:lnTo>
                    <a:pt x="3909568" y="0"/>
                  </a:lnTo>
                  <a:close/>
                </a:path>
              </a:pathLst>
            </a:custGeom>
            <a:solidFill>
              <a:srgbClr val="FFFFFF"/>
            </a:solidFill>
          </p:spPr>
          <p:txBody>
            <a:bodyPr wrap="square" lIns="0" tIns="0" rIns="0" bIns="0" rtlCol="0"/>
            <a:lstStyle/>
            <a:p>
              <a:endParaRPr/>
            </a:p>
          </p:txBody>
        </p:sp>
        <p:sp>
          <p:nvSpPr>
            <p:cNvPr id="11" name="object 11"/>
            <p:cNvSpPr/>
            <p:nvPr/>
          </p:nvSpPr>
          <p:spPr>
            <a:xfrm>
              <a:off x="451866" y="3076194"/>
              <a:ext cx="4121150" cy="1268095"/>
            </a:xfrm>
            <a:custGeom>
              <a:avLst/>
              <a:gdLst/>
              <a:ahLst/>
              <a:cxnLst/>
              <a:rect l="l" t="t" r="r" b="b"/>
              <a:pathLst>
                <a:path w="4121150" h="1268095">
                  <a:moveTo>
                    <a:pt x="0" y="211328"/>
                  </a:moveTo>
                  <a:lnTo>
                    <a:pt x="5581" y="162872"/>
                  </a:lnTo>
                  <a:lnTo>
                    <a:pt x="21479" y="118391"/>
                  </a:lnTo>
                  <a:lnTo>
                    <a:pt x="46426" y="79153"/>
                  </a:lnTo>
                  <a:lnTo>
                    <a:pt x="79153" y="46426"/>
                  </a:lnTo>
                  <a:lnTo>
                    <a:pt x="118391" y="21479"/>
                  </a:lnTo>
                  <a:lnTo>
                    <a:pt x="162872" y="5581"/>
                  </a:lnTo>
                  <a:lnTo>
                    <a:pt x="211328" y="0"/>
                  </a:lnTo>
                  <a:lnTo>
                    <a:pt x="3909568" y="0"/>
                  </a:lnTo>
                  <a:lnTo>
                    <a:pt x="3958023" y="5581"/>
                  </a:lnTo>
                  <a:lnTo>
                    <a:pt x="4002504" y="21479"/>
                  </a:lnTo>
                  <a:lnTo>
                    <a:pt x="4041742" y="46426"/>
                  </a:lnTo>
                  <a:lnTo>
                    <a:pt x="4074469" y="79153"/>
                  </a:lnTo>
                  <a:lnTo>
                    <a:pt x="4099416" y="118391"/>
                  </a:lnTo>
                  <a:lnTo>
                    <a:pt x="4115314" y="162872"/>
                  </a:lnTo>
                  <a:lnTo>
                    <a:pt x="4120896" y="211328"/>
                  </a:lnTo>
                  <a:lnTo>
                    <a:pt x="4120896" y="1056640"/>
                  </a:lnTo>
                  <a:lnTo>
                    <a:pt x="4115314" y="1105095"/>
                  </a:lnTo>
                  <a:lnTo>
                    <a:pt x="4099416" y="1149576"/>
                  </a:lnTo>
                  <a:lnTo>
                    <a:pt x="4074469" y="1188814"/>
                  </a:lnTo>
                  <a:lnTo>
                    <a:pt x="4041742" y="1221541"/>
                  </a:lnTo>
                  <a:lnTo>
                    <a:pt x="4002504" y="1246488"/>
                  </a:lnTo>
                  <a:lnTo>
                    <a:pt x="3958023" y="1262386"/>
                  </a:lnTo>
                  <a:lnTo>
                    <a:pt x="3909568" y="1267968"/>
                  </a:lnTo>
                  <a:lnTo>
                    <a:pt x="211328" y="1267968"/>
                  </a:lnTo>
                  <a:lnTo>
                    <a:pt x="162872" y="1262386"/>
                  </a:lnTo>
                  <a:lnTo>
                    <a:pt x="118391" y="1246488"/>
                  </a:lnTo>
                  <a:lnTo>
                    <a:pt x="79153" y="1221541"/>
                  </a:lnTo>
                  <a:lnTo>
                    <a:pt x="46426" y="1188814"/>
                  </a:lnTo>
                  <a:lnTo>
                    <a:pt x="21479" y="1149576"/>
                  </a:lnTo>
                  <a:lnTo>
                    <a:pt x="5581" y="1105095"/>
                  </a:lnTo>
                  <a:lnTo>
                    <a:pt x="0" y="1056640"/>
                  </a:lnTo>
                  <a:lnTo>
                    <a:pt x="0" y="211328"/>
                  </a:lnTo>
                  <a:close/>
                </a:path>
              </a:pathLst>
            </a:custGeom>
            <a:ln w="25908">
              <a:solidFill>
                <a:srgbClr val="464646"/>
              </a:solidFill>
            </a:ln>
          </p:spPr>
          <p:txBody>
            <a:bodyPr wrap="square" lIns="0" tIns="0" rIns="0" bIns="0" rtlCol="0"/>
            <a:lstStyle/>
            <a:p>
              <a:endParaRPr/>
            </a:p>
          </p:txBody>
        </p:sp>
        <p:sp>
          <p:nvSpPr>
            <p:cNvPr id="12" name="object 12"/>
            <p:cNvSpPr/>
            <p:nvPr/>
          </p:nvSpPr>
          <p:spPr>
            <a:xfrm>
              <a:off x="2634234" y="3400806"/>
              <a:ext cx="704215" cy="449580"/>
            </a:xfrm>
            <a:custGeom>
              <a:avLst/>
              <a:gdLst/>
              <a:ahLst/>
              <a:cxnLst/>
              <a:rect l="l" t="t" r="r" b="b"/>
              <a:pathLst>
                <a:path w="704214" h="449579">
                  <a:moveTo>
                    <a:pt x="629157" y="0"/>
                  </a:moveTo>
                  <a:lnTo>
                    <a:pt x="74930" y="0"/>
                  </a:lnTo>
                  <a:lnTo>
                    <a:pt x="45755" y="5885"/>
                  </a:lnTo>
                  <a:lnTo>
                    <a:pt x="21939" y="21939"/>
                  </a:lnTo>
                  <a:lnTo>
                    <a:pt x="5885" y="45755"/>
                  </a:lnTo>
                  <a:lnTo>
                    <a:pt x="0" y="74930"/>
                  </a:lnTo>
                  <a:lnTo>
                    <a:pt x="0" y="374650"/>
                  </a:lnTo>
                  <a:lnTo>
                    <a:pt x="5885" y="403824"/>
                  </a:lnTo>
                  <a:lnTo>
                    <a:pt x="21939" y="427640"/>
                  </a:lnTo>
                  <a:lnTo>
                    <a:pt x="45755" y="443694"/>
                  </a:lnTo>
                  <a:lnTo>
                    <a:pt x="74930" y="449580"/>
                  </a:lnTo>
                  <a:lnTo>
                    <a:pt x="629157" y="449580"/>
                  </a:lnTo>
                  <a:lnTo>
                    <a:pt x="658332" y="443694"/>
                  </a:lnTo>
                  <a:lnTo>
                    <a:pt x="682148" y="427640"/>
                  </a:lnTo>
                  <a:lnTo>
                    <a:pt x="698202" y="403824"/>
                  </a:lnTo>
                  <a:lnTo>
                    <a:pt x="704088" y="374650"/>
                  </a:lnTo>
                  <a:lnTo>
                    <a:pt x="704088" y="74930"/>
                  </a:lnTo>
                  <a:lnTo>
                    <a:pt x="698202" y="45755"/>
                  </a:lnTo>
                  <a:lnTo>
                    <a:pt x="682148" y="21939"/>
                  </a:lnTo>
                  <a:lnTo>
                    <a:pt x="658332" y="5885"/>
                  </a:lnTo>
                  <a:lnTo>
                    <a:pt x="629157" y="0"/>
                  </a:lnTo>
                  <a:close/>
                </a:path>
              </a:pathLst>
            </a:custGeom>
            <a:solidFill>
              <a:srgbClr val="FFFFFF"/>
            </a:solidFill>
          </p:spPr>
          <p:txBody>
            <a:bodyPr wrap="square" lIns="0" tIns="0" rIns="0" bIns="0" rtlCol="0"/>
            <a:lstStyle/>
            <a:p>
              <a:endParaRPr/>
            </a:p>
          </p:txBody>
        </p:sp>
        <p:sp>
          <p:nvSpPr>
            <p:cNvPr id="13" name="object 13"/>
            <p:cNvSpPr/>
            <p:nvPr/>
          </p:nvSpPr>
          <p:spPr>
            <a:xfrm>
              <a:off x="2634234" y="3400806"/>
              <a:ext cx="704215" cy="449580"/>
            </a:xfrm>
            <a:custGeom>
              <a:avLst/>
              <a:gdLst/>
              <a:ahLst/>
              <a:cxnLst/>
              <a:rect l="l" t="t" r="r" b="b"/>
              <a:pathLst>
                <a:path w="704214" h="449579">
                  <a:moveTo>
                    <a:pt x="0" y="74930"/>
                  </a:moveTo>
                  <a:lnTo>
                    <a:pt x="5885" y="45755"/>
                  </a:lnTo>
                  <a:lnTo>
                    <a:pt x="21939" y="21939"/>
                  </a:lnTo>
                  <a:lnTo>
                    <a:pt x="45755" y="5885"/>
                  </a:lnTo>
                  <a:lnTo>
                    <a:pt x="74930" y="0"/>
                  </a:lnTo>
                  <a:lnTo>
                    <a:pt x="629157" y="0"/>
                  </a:lnTo>
                  <a:lnTo>
                    <a:pt x="658332" y="5885"/>
                  </a:lnTo>
                  <a:lnTo>
                    <a:pt x="682148" y="21939"/>
                  </a:lnTo>
                  <a:lnTo>
                    <a:pt x="698202" y="45755"/>
                  </a:lnTo>
                  <a:lnTo>
                    <a:pt x="704088" y="74930"/>
                  </a:lnTo>
                  <a:lnTo>
                    <a:pt x="704088" y="374650"/>
                  </a:lnTo>
                  <a:lnTo>
                    <a:pt x="698202" y="403824"/>
                  </a:lnTo>
                  <a:lnTo>
                    <a:pt x="682148" y="427640"/>
                  </a:lnTo>
                  <a:lnTo>
                    <a:pt x="658332" y="443694"/>
                  </a:lnTo>
                  <a:lnTo>
                    <a:pt x="629157" y="449580"/>
                  </a:lnTo>
                  <a:lnTo>
                    <a:pt x="74930" y="449580"/>
                  </a:lnTo>
                  <a:lnTo>
                    <a:pt x="45755" y="443694"/>
                  </a:lnTo>
                  <a:lnTo>
                    <a:pt x="21939" y="427640"/>
                  </a:lnTo>
                  <a:lnTo>
                    <a:pt x="5885" y="403824"/>
                  </a:lnTo>
                  <a:lnTo>
                    <a:pt x="0" y="374650"/>
                  </a:lnTo>
                  <a:lnTo>
                    <a:pt x="0" y="74930"/>
                  </a:lnTo>
                  <a:close/>
                </a:path>
              </a:pathLst>
            </a:custGeom>
            <a:ln w="25907">
              <a:solidFill>
                <a:srgbClr val="464646"/>
              </a:solidFill>
            </a:ln>
          </p:spPr>
          <p:txBody>
            <a:bodyPr wrap="square" lIns="0" tIns="0" rIns="0" bIns="0" rtlCol="0"/>
            <a:lstStyle/>
            <a:p>
              <a:endParaRPr/>
            </a:p>
          </p:txBody>
        </p:sp>
        <p:sp>
          <p:nvSpPr>
            <p:cNvPr id="14" name="object 14"/>
            <p:cNvSpPr/>
            <p:nvPr/>
          </p:nvSpPr>
          <p:spPr>
            <a:xfrm>
              <a:off x="1710689" y="3400806"/>
              <a:ext cx="704215" cy="449580"/>
            </a:xfrm>
            <a:custGeom>
              <a:avLst/>
              <a:gdLst/>
              <a:ahLst/>
              <a:cxnLst/>
              <a:rect l="l" t="t" r="r" b="b"/>
              <a:pathLst>
                <a:path w="704214" h="449579">
                  <a:moveTo>
                    <a:pt x="629158" y="0"/>
                  </a:moveTo>
                  <a:lnTo>
                    <a:pt x="74930" y="0"/>
                  </a:lnTo>
                  <a:lnTo>
                    <a:pt x="45755" y="5885"/>
                  </a:lnTo>
                  <a:lnTo>
                    <a:pt x="21939" y="21939"/>
                  </a:lnTo>
                  <a:lnTo>
                    <a:pt x="5885" y="45755"/>
                  </a:lnTo>
                  <a:lnTo>
                    <a:pt x="0" y="74930"/>
                  </a:lnTo>
                  <a:lnTo>
                    <a:pt x="0" y="374650"/>
                  </a:lnTo>
                  <a:lnTo>
                    <a:pt x="5885" y="403824"/>
                  </a:lnTo>
                  <a:lnTo>
                    <a:pt x="21939" y="427640"/>
                  </a:lnTo>
                  <a:lnTo>
                    <a:pt x="45755" y="443694"/>
                  </a:lnTo>
                  <a:lnTo>
                    <a:pt x="74930" y="449580"/>
                  </a:lnTo>
                  <a:lnTo>
                    <a:pt x="629158" y="449580"/>
                  </a:lnTo>
                  <a:lnTo>
                    <a:pt x="658332" y="443694"/>
                  </a:lnTo>
                  <a:lnTo>
                    <a:pt x="682148" y="427640"/>
                  </a:lnTo>
                  <a:lnTo>
                    <a:pt x="698202" y="403824"/>
                  </a:lnTo>
                  <a:lnTo>
                    <a:pt x="704088" y="374650"/>
                  </a:lnTo>
                  <a:lnTo>
                    <a:pt x="704088" y="74930"/>
                  </a:lnTo>
                  <a:lnTo>
                    <a:pt x="698202" y="45755"/>
                  </a:lnTo>
                  <a:lnTo>
                    <a:pt x="682148" y="21939"/>
                  </a:lnTo>
                  <a:lnTo>
                    <a:pt x="658332" y="5885"/>
                  </a:lnTo>
                  <a:lnTo>
                    <a:pt x="629158" y="0"/>
                  </a:lnTo>
                  <a:close/>
                </a:path>
              </a:pathLst>
            </a:custGeom>
            <a:solidFill>
              <a:srgbClr val="FFFFFF"/>
            </a:solidFill>
          </p:spPr>
          <p:txBody>
            <a:bodyPr wrap="square" lIns="0" tIns="0" rIns="0" bIns="0" rtlCol="0"/>
            <a:lstStyle/>
            <a:p>
              <a:endParaRPr/>
            </a:p>
          </p:txBody>
        </p:sp>
        <p:sp>
          <p:nvSpPr>
            <p:cNvPr id="15" name="object 15"/>
            <p:cNvSpPr/>
            <p:nvPr/>
          </p:nvSpPr>
          <p:spPr>
            <a:xfrm>
              <a:off x="1710689" y="3400806"/>
              <a:ext cx="704215" cy="449580"/>
            </a:xfrm>
            <a:custGeom>
              <a:avLst/>
              <a:gdLst/>
              <a:ahLst/>
              <a:cxnLst/>
              <a:rect l="l" t="t" r="r" b="b"/>
              <a:pathLst>
                <a:path w="704214" h="449579">
                  <a:moveTo>
                    <a:pt x="0" y="74930"/>
                  </a:moveTo>
                  <a:lnTo>
                    <a:pt x="5885" y="45755"/>
                  </a:lnTo>
                  <a:lnTo>
                    <a:pt x="21939" y="21939"/>
                  </a:lnTo>
                  <a:lnTo>
                    <a:pt x="45755" y="5885"/>
                  </a:lnTo>
                  <a:lnTo>
                    <a:pt x="74930" y="0"/>
                  </a:lnTo>
                  <a:lnTo>
                    <a:pt x="629158" y="0"/>
                  </a:lnTo>
                  <a:lnTo>
                    <a:pt x="658332" y="5885"/>
                  </a:lnTo>
                  <a:lnTo>
                    <a:pt x="682148" y="21939"/>
                  </a:lnTo>
                  <a:lnTo>
                    <a:pt x="698202" y="45755"/>
                  </a:lnTo>
                  <a:lnTo>
                    <a:pt x="704088" y="74930"/>
                  </a:lnTo>
                  <a:lnTo>
                    <a:pt x="704088" y="374650"/>
                  </a:lnTo>
                  <a:lnTo>
                    <a:pt x="698202" y="403824"/>
                  </a:lnTo>
                  <a:lnTo>
                    <a:pt x="682148" y="427640"/>
                  </a:lnTo>
                  <a:lnTo>
                    <a:pt x="658332" y="443694"/>
                  </a:lnTo>
                  <a:lnTo>
                    <a:pt x="629158" y="449580"/>
                  </a:lnTo>
                  <a:lnTo>
                    <a:pt x="74930" y="449580"/>
                  </a:lnTo>
                  <a:lnTo>
                    <a:pt x="45755" y="443694"/>
                  </a:lnTo>
                  <a:lnTo>
                    <a:pt x="21939" y="427640"/>
                  </a:lnTo>
                  <a:lnTo>
                    <a:pt x="5885" y="403824"/>
                  </a:lnTo>
                  <a:lnTo>
                    <a:pt x="0" y="374650"/>
                  </a:lnTo>
                  <a:lnTo>
                    <a:pt x="0" y="74930"/>
                  </a:lnTo>
                  <a:close/>
                </a:path>
              </a:pathLst>
            </a:custGeom>
            <a:ln w="25908">
              <a:solidFill>
                <a:srgbClr val="464646"/>
              </a:solidFill>
            </a:ln>
          </p:spPr>
          <p:txBody>
            <a:bodyPr wrap="square" lIns="0" tIns="0" rIns="0" bIns="0" rtlCol="0"/>
            <a:lstStyle/>
            <a:p>
              <a:endParaRPr/>
            </a:p>
          </p:txBody>
        </p:sp>
      </p:grpSp>
      <p:sp>
        <p:nvSpPr>
          <p:cNvPr id="16" name="object 16"/>
          <p:cNvSpPr txBox="1"/>
          <p:nvPr/>
        </p:nvSpPr>
        <p:spPr>
          <a:xfrm>
            <a:off x="1273555" y="3470275"/>
            <a:ext cx="2473960" cy="1235710"/>
          </a:xfrm>
          <a:prstGeom prst="rect">
            <a:avLst/>
          </a:prstGeom>
        </p:spPr>
        <p:txBody>
          <a:bodyPr vert="horz" wrap="square" lIns="0" tIns="12700" rIns="0" bIns="0" rtlCol="0">
            <a:spAutoFit/>
          </a:bodyPr>
          <a:lstStyle/>
          <a:p>
            <a:pPr marL="28575" algn="ctr">
              <a:lnSpc>
                <a:spcPct val="100000"/>
              </a:lnSpc>
              <a:spcBef>
                <a:spcPts val="100"/>
              </a:spcBef>
              <a:tabLst>
                <a:tab pos="951865" algn="l"/>
              </a:tabLst>
            </a:pPr>
            <a:r>
              <a:rPr sz="1800" spc="-5" dirty="0">
                <a:solidFill>
                  <a:srgbClr val="464646"/>
                </a:solidFill>
                <a:latin typeface="Arial MT"/>
                <a:cs typeface="Arial MT"/>
              </a:rPr>
              <a:t>EC2	EC2</a:t>
            </a:r>
            <a:endParaRPr sz="1800">
              <a:latin typeface="Arial MT"/>
              <a:cs typeface="Arial MT"/>
            </a:endParaRPr>
          </a:p>
          <a:p>
            <a:pPr marL="12065" marR="5080" algn="ctr">
              <a:lnSpc>
                <a:spcPct val="168300"/>
              </a:lnSpc>
              <a:spcBef>
                <a:spcPts val="95"/>
              </a:spcBef>
            </a:pPr>
            <a:r>
              <a:rPr sz="1800" spc="-5" dirty="0">
                <a:solidFill>
                  <a:srgbClr val="464646"/>
                </a:solidFill>
                <a:latin typeface="Arial MT"/>
                <a:cs typeface="Arial MT"/>
              </a:rPr>
              <a:t>Public</a:t>
            </a:r>
            <a:r>
              <a:rPr sz="1800" spc="-10" dirty="0">
                <a:solidFill>
                  <a:srgbClr val="464646"/>
                </a:solidFill>
                <a:latin typeface="Arial MT"/>
                <a:cs typeface="Arial MT"/>
              </a:rPr>
              <a:t> </a:t>
            </a:r>
            <a:r>
              <a:rPr sz="1800" spc="-5" dirty="0">
                <a:solidFill>
                  <a:srgbClr val="464646"/>
                </a:solidFill>
                <a:latin typeface="Arial MT"/>
                <a:cs typeface="Arial MT"/>
              </a:rPr>
              <a:t>or</a:t>
            </a:r>
            <a:r>
              <a:rPr sz="1800" spc="-15" dirty="0">
                <a:solidFill>
                  <a:srgbClr val="464646"/>
                </a:solidFill>
                <a:latin typeface="Arial MT"/>
                <a:cs typeface="Arial MT"/>
              </a:rPr>
              <a:t> </a:t>
            </a:r>
            <a:r>
              <a:rPr sz="1800" spc="-5" dirty="0">
                <a:solidFill>
                  <a:srgbClr val="464646"/>
                </a:solidFill>
                <a:latin typeface="Arial MT"/>
                <a:cs typeface="Arial MT"/>
              </a:rPr>
              <a:t>Private</a:t>
            </a:r>
            <a:r>
              <a:rPr sz="1800" spc="-15" dirty="0">
                <a:solidFill>
                  <a:srgbClr val="464646"/>
                </a:solidFill>
                <a:latin typeface="Arial MT"/>
                <a:cs typeface="Arial MT"/>
              </a:rPr>
              <a:t> </a:t>
            </a:r>
            <a:r>
              <a:rPr sz="1800" spc="-5" dirty="0">
                <a:solidFill>
                  <a:srgbClr val="464646"/>
                </a:solidFill>
                <a:latin typeface="Arial MT"/>
                <a:cs typeface="Arial MT"/>
              </a:rPr>
              <a:t>Subnet </a:t>
            </a:r>
            <a:r>
              <a:rPr sz="1800" spc="-484" dirty="0">
                <a:solidFill>
                  <a:srgbClr val="464646"/>
                </a:solidFill>
                <a:latin typeface="Arial MT"/>
                <a:cs typeface="Arial MT"/>
              </a:rPr>
              <a:t> </a:t>
            </a:r>
            <a:r>
              <a:rPr sz="1800" spc="-10" dirty="0">
                <a:solidFill>
                  <a:srgbClr val="464646"/>
                </a:solidFill>
                <a:latin typeface="Arial MT"/>
                <a:cs typeface="Arial MT"/>
              </a:rPr>
              <a:t>VPC</a:t>
            </a:r>
            <a:endParaRPr sz="1800">
              <a:latin typeface="Arial MT"/>
              <a:cs typeface="Arial MT"/>
            </a:endParaRPr>
          </a:p>
        </p:txBody>
      </p:sp>
      <p:grpSp>
        <p:nvGrpSpPr>
          <p:cNvPr id="17" name="object 17"/>
          <p:cNvGrpSpPr/>
          <p:nvPr/>
        </p:nvGrpSpPr>
        <p:grpSpPr>
          <a:xfrm>
            <a:off x="2391155" y="617232"/>
            <a:ext cx="238125" cy="913130"/>
            <a:chOff x="2391155" y="617232"/>
            <a:chExt cx="238125" cy="913130"/>
          </a:xfrm>
        </p:grpSpPr>
        <p:pic>
          <p:nvPicPr>
            <p:cNvPr id="18" name="object 18"/>
            <p:cNvPicPr/>
            <p:nvPr/>
          </p:nvPicPr>
          <p:blipFill>
            <a:blip r:embed="rId4" cstate="print"/>
            <a:stretch>
              <a:fillRect/>
            </a:stretch>
          </p:blipFill>
          <p:spPr>
            <a:xfrm>
              <a:off x="2391155" y="617232"/>
              <a:ext cx="237832" cy="912863"/>
            </a:xfrm>
            <a:prstGeom prst="rect">
              <a:avLst/>
            </a:prstGeom>
          </p:spPr>
        </p:pic>
        <p:sp>
          <p:nvSpPr>
            <p:cNvPr id="19" name="object 19"/>
            <p:cNvSpPr/>
            <p:nvPr/>
          </p:nvSpPr>
          <p:spPr>
            <a:xfrm>
              <a:off x="2473451" y="718566"/>
              <a:ext cx="78105" cy="676275"/>
            </a:xfrm>
            <a:custGeom>
              <a:avLst/>
              <a:gdLst/>
              <a:ahLst/>
              <a:cxnLst/>
              <a:rect l="l" t="t" r="r" b="b"/>
              <a:pathLst>
                <a:path w="78105" h="676275">
                  <a:moveTo>
                    <a:pt x="25908" y="598043"/>
                  </a:moveTo>
                  <a:lnTo>
                    <a:pt x="0" y="598043"/>
                  </a:lnTo>
                  <a:lnTo>
                    <a:pt x="38862" y="675767"/>
                  </a:lnTo>
                  <a:lnTo>
                    <a:pt x="71247" y="610997"/>
                  </a:lnTo>
                  <a:lnTo>
                    <a:pt x="25908" y="610997"/>
                  </a:lnTo>
                  <a:lnTo>
                    <a:pt x="25908" y="598043"/>
                  </a:lnTo>
                  <a:close/>
                </a:path>
                <a:path w="78105" h="676275">
                  <a:moveTo>
                    <a:pt x="51816" y="64770"/>
                  </a:moveTo>
                  <a:lnTo>
                    <a:pt x="25908" y="64770"/>
                  </a:lnTo>
                  <a:lnTo>
                    <a:pt x="25908" y="610997"/>
                  </a:lnTo>
                  <a:lnTo>
                    <a:pt x="51816" y="610997"/>
                  </a:lnTo>
                  <a:lnTo>
                    <a:pt x="51816" y="64770"/>
                  </a:lnTo>
                  <a:close/>
                </a:path>
                <a:path w="78105" h="676275">
                  <a:moveTo>
                    <a:pt x="77724" y="598043"/>
                  </a:moveTo>
                  <a:lnTo>
                    <a:pt x="51816" y="598043"/>
                  </a:lnTo>
                  <a:lnTo>
                    <a:pt x="51816" y="610997"/>
                  </a:lnTo>
                  <a:lnTo>
                    <a:pt x="71247" y="610997"/>
                  </a:lnTo>
                  <a:lnTo>
                    <a:pt x="77724" y="598043"/>
                  </a:lnTo>
                  <a:close/>
                </a:path>
                <a:path w="78105" h="676275">
                  <a:moveTo>
                    <a:pt x="38862" y="0"/>
                  </a:moveTo>
                  <a:lnTo>
                    <a:pt x="0" y="77724"/>
                  </a:lnTo>
                  <a:lnTo>
                    <a:pt x="25908" y="77724"/>
                  </a:lnTo>
                  <a:lnTo>
                    <a:pt x="25908" y="64770"/>
                  </a:lnTo>
                  <a:lnTo>
                    <a:pt x="71247" y="64770"/>
                  </a:lnTo>
                  <a:lnTo>
                    <a:pt x="38862" y="0"/>
                  </a:lnTo>
                  <a:close/>
                </a:path>
                <a:path w="78105" h="676275">
                  <a:moveTo>
                    <a:pt x="71247" y="64770"/>
                  </a:moveTo>
                  <a:lnTo>
                    <a:pt x="51816" y="64770"/>
                  </a:lnTo>
                  <a:lnTo>
                    <a:pt x="51816" y="77724"/>
                  </a:lnTo>
                  <a:lnTo>
                    <a:pt x="77724" y="77724"/>
                  </a:lnTo>
                  <a:lnTo>
                    <a:pt x="71247" y="64770"/>
                  </a:lnTo>
                  <a:close/>
                </a:path>
              </a:pathLst>
            </a:custGeom>
            <a:solidFill>
              <a:srgbClr val="FBB64B"/>
            </a:solidFill>
          </p:spPr>
          <p:txBody>
            <a:bodyPr wrap="square" lIns="0" tIns="0" rIns="0" bIns="0" rtlCol="0"/>
            <a:lstStyle/>
            <a:p>
              <a:endParaRPr/>
            </a:p>
          </p:txBody>
        </p:sp>
      </p:grpSp>
      <p:sp>
        <p:nvSpPr>
          <p:cNvPr id="20" name="object 20"/>
          <p:cNvSpPr txBox="1"/>
          <p:nvPr/>
        </p:nvSpPr>
        <p:spPr>
          <a:xfrm>
            <a:off x="5103621" y="687070"/>
            <a:ext cx="3664585" cy="574675"/>
          </a:xfrm>
          <a:prstGeom prst="rect">
            <a:avLst/>
          </a:prstGeom>
        </p:spPr>
        <p:txBody>
          <a:bodyPr vert="horz" wrap="square" lIns="0" tIns="12700" rIns="0" bIns="0" rtlCol="0">
            <a:spAutoFit/>
          </a:bodyPr>
          <a:lstStyle/>
          <a:p>
            <a:pPr marL="299085" indent="-287020">
              <a:lnSpc>
                <a:spcPct val="100000"/>
              </a:lnSpc>
              <a:spcBef>
                <a:spcPts val="100"/>
              </a:spcBef>
              <a:buChar char="•"/>
              <a:tabLst>
                <a:tab pos="299085" algn="l"/>
                <a:tab pos="299720" algn="l"/>
              </a:tabLst>
            </a:pPr>
            <a:r>
              <a:rPr sz="1800" spc="-5" dirty="0">
                <a:solidFill>
                  <a:srgbClr val="464646"/>
                </a:solidFill>
                <a:latin typeface="Arial MT"/>
                <a:cs typeface="Arial MT"/>
              </a:rPr>
              <a:t>Load</a:t>
            </a:r>
            <a:r>
              <a:rPr sz="1800" spc="-10" dirty="0">
                <a:solidFill>
                  <a:srgbClr val="464646"/>
                </a:solidFill>
                <a:latin typeface="Arial MT"/>
                <a:cs typeface="Arial MT"/>
              </a:rPr>
              <a:t> </a:t>
            </a:r>
            <a:r>
              <a:rPr sz="1800" spc="-5" dirty="0">
                <a:solidFill>
                  <a:srgbClr val="464646"/>
                </a:solidFill>
                <a:latin typeface="Arial MT"/>
                <a:cs typeface="Arial MT"/>
              </a:rPr>
              <a:t>Balancer</a:t>
            </a:r>
            <a:r>
              <a:rPr sz="1800" dirty="0">
                <a:solidFill>
                  <a:srgbClr val="464646"/>
                </a:solidFill>
                <a:latin typeface="Arial MT"/>
                <a:cs typeface="Arial MT"/>
              </a:rPr>
              <a:t> </a:t>
            </a:r>
            <a:r>
              <a:rPr sz="1800" spc="-5" dirty="0">
                <a:solidFill>
                  <a:srgbClr val="464646"/>
                </a:solidFill>
                <a:latin typeface="Arial MT"/>
                <a:cs typeface="Arial MT"/>
              </a:rPr>
              <a:t>is</a:t>
            </a:r>
            <a:r>
              <a:rPr sz="1800" spc="-10" dirty="0">
                <a:solidFill>
                  <a:srgbClr val="464646"/>
                </a:solidFill>
                <a:latin typeface="Arial MT"/>
                <a:cs typeface="Arial MT"/>
              </a:rPr>
              <a:t> </a:t>
            </a:r>
            <a:r>
              <a:rPr sz="1800" spc="-5" dirty="0">
                <a:solidFill>
                  <a:srgbClr val="464646"/>
                </a:solidFill>
                <a:latin typeface="Arial MT"/>
                <a:cs typeface="Arial MT"/>
              </a:rPr>
              <a:t>accessible</a:t>
            </a:r>
            <a:r>
              <a:rPr sz="1800" spc="5" dirty="0">
                <a:solidFill>
                  <a:srgbClr val="464646"/>
                </a:solidFill>
                <a:latin typeface="Arial MT"/>
                <a:cs typeface="Arial MT"/>
              </a:rPr>
              <a:t> </a:t>
            </a:r>
            <a:r>
              <a:rPr sz="1800" dirty="0">
                <a:solidFill>
                  <a:srgbClr val="464646"/>
                </a:solidFill>
                <a:latin typeface="Arial MT"/>
                <a:cs typeface="Arial MT"/>
              </a:rPr>
              <a:t>from</a:t>
            </a:r>
            <a:endParaRPr sz="1800">
              <a:latin typeface="Arial MT"/>
              <a:cs typeface="Arial MT"/>
            </a:endParaRPr>
          </a:p>
          <a:p>
            <a:pPr marL="299085">
              <a:lnSpc>
                <a:spcPct val="100000"/>
              </a:lnSpc>
            </a:pPr>
            <a:r>
              <a:rPr sz="1800" dirty="0">
                <a:solidFill>
                  <a:srgbClr val="464646"/>
                </a:solidFill>
                <a:latin typeface="Arial MT"/>
                <a:cs typeface="Arial MT"/>
              </a:rPr>
              <a:t>the</a:t>
            </a:r>
            <a:r>
              <a:rPr sz="1800" spc="-50" dirty="0">
                <a:solidFill>
                  <a:srgbClr val="464646"/>
                </a:solidFill>
                <a:latin typeface="Arial MT"/>
                <a:cs typeface="Arial MT"/>
              </a:rPr>
              <a:t> </a:t>
            </a:r>
            <a:r>
              <a:rPr sz="1800" spc="-5" dirty="0">
                <a:solidFill>
                  <a:srgbClr val="464646"/>
                </a:solidFill>
                <a:latin typeface="Arial MT"/>
                <a:cs typeface="Arial MT"/>
              </a:rPr>
              <a:t>internet</a:t>
            </a:r>
            <a:endParaRPr sz="1800">
              <a:latin typeface="Arial MT"/>
              <a:cs typeface="Arial MT"/>
            </a:endParaRPr>
          </a:p>
        </p:txBody>
      </p:sp>
      <p:sp>
        <p:nvSpPr>
          <p:cNvPr id="21" name="object 21"/>
          <p:cNvSpPr txBox="1">
            <a:spLocks noGrp="1"/>
          </p:cNvSpPr>
          <p:nvPr>
            <p:ph type="body" idx="1"/>
          </p:nvPr>
        </p:nvSpPr>
        <p:spPr>
          <a:prstGeom prst="rect">
            <a:avLst/>
          </a:prstGeom>
        </p:spPr>
        <p:txBody>
          <a:bodyPr vert="horz" wrap="square" lIns="0" tIns="12700" rIns="0" bIns="0" rtlCol="0">
            <a:spAutoFit/>
          </a:bodyPr>
          <a:lstStyle/>
          <a:p>
            <a:pPr marL="5065395" marR="628015" indent="-287020">
              <a:lnSpc>
                <a:spcPct val="100000"/>
              </a:lnSpc>
              <a:spcBef>
                <a:spcPts val="100"/>
              </a:spcBef>
              <a:buChar char="•"/>
              <a:tabLst>
                <a:tab pos="5065395" algn="l"/>
                <a:tab pos="5066030" algn="l"/>
              </a:tabLst>
            </a:pPr>
            <a:r>
              <a:rPr spc="-5" dirty="0"/>
              <a:t>Load</a:t>
            </a:r>
            <a:r>
              <a:rPr spc="-15" dirty="0"/>
              <a:t> </a:t>
            </a:r>
            <a:r>
              <a:rPr spc="-5" dirty="0"/>
              <a:t>Balancer </a:t>
            </a:r>
            <a:r>
              <a:rPr dirty="0"/>
              <a:t>talks</a:t>
            </a:r>
            <a:r>
              <a:rPr spc="-20" dirty="0"/>
              <a:t> </a:t>
            </a:r>
            <a:r>
              <a:rPr dirty="0"/>
              <a:t>to</a:t>
            </a:r>
            <a:r>
              <a:rPr spc="-15" dirty="0"/>
              <a:t> </a:t>
            </a:r>
            <a:r>
              <a:rPr spc="-5" dirty="0"/>
              <a:t>EC2 </a:t>
            </a:r>
            <a:r>
              <a:rPr spc="-484" dirty="0"/>
              <a:t> </a:t>
            </a:r>
            <a:r>
              <a:rPr spc="-5" dirty="0"/>
              <a:t>instance using</a:t>
            </a:r>
            <a:r>
              <a:rPr dirty="0"/>
              <a:t> </a:t>
            </a:r>
            <a:r>
              <a:rPr spc="-5" dirty="0"/>
              <a:t>Private </a:t>
            </a:r>
            <a:r>
              <a:rPr dirty="0"/>
              <a:t>IP</a:t>
            </a:r>
          </a:p>
          <a:p>
            <a:pPr marL="4766310">
              <a:lnSpc>
                <a:spcPct val="100000"/>
              </a:lnSpc>
              <a:spcBef>
                <a:spcPts val="30"/>
              </a:spcBef>
              <a:buClr>
                <a:srgbClr val="464646"/>
              </a:buClr>
              <a:buFont typeface="Arial MT"/>
              <a:buChar char="•"/>
            </a:pPr>
            <a:endParaRPr sz="1850"/>
          </a:p>
          <a:p>
            <a:pPr marL="5065395" marR="5080" indent="-287020">
              <a:lnSpc>
                <a:spcPct val="100000"/>
              </a:lnSpc>
              <a:spcBef>
                <a:spcPts val="5"/>
              </a:spcBef>
              <a:buChar char="•"/>
              <a:tabLst>
                <a:tab pos="5065395" algn="l"/>
                <a:tab pos="5066030" algn="l"/>
              </a:tabLst>
            </a:pPr>
            <a:r>
              <a:rPr spc="-5" dirty="0"/>
              <a:t>EC2</a:t>
            </a:r>
            <a:r>
              <a:rPr spc="-10" dirty="0"/>
              <a:t> </a:t>
            </a:r>
            <a:r>
              <a:rPr spc="-5" dirty="0"/>
              <a:t>instances</a:t>
            </a:r>
            <a:r>
              <a:rPr spc="10" dirty="0"/>
              <a:t> </a:t>
            </a:r>
            <a:r>
              <a:rPr spc="-5" dirty="0"/>
              <a:t>can</a:t>
            </a:r>
            <a:r>
              <a:rPr spc="10" dirty="0"/>
              <a:t> </a:t>
            </a:r>
            <a:r>
              <a:rPr spc="-5" dirty="0"/>
              <a:t>be</a:t>
            </a:r>
            <a:r>
              <a:rPr spc="-10" dirty="0"/>
              <a:t> </a:t>
            </a:r>
            <a:r>
              <a:rPr spc="-5" dirty="0"/>
              <a:t>in</a:t>
            </a:r>
            <a:r>
              <a:rPr dirty="0"/>
              <a:t> </a:t>
            </a:r>
            <a:r>
              <a:rPr spc="-10" dirty="0"/>
              <a:t>public</a:t>
            </a:r>
            <a:r>
              <a:rPr spc="30" dirty="0"/>
              <a:t> </a:t>
            </a:r>
            <a:r>
              <a:rPr spc="-5" dirty="0"/>
              <a:t>or </a:t>
            </a:r>
            <a:r>
              <a:rPr spc="-490" dirty="0"/>
              <a:t> </a:t>
            </a:r>
            <a:r>
              <a:rPr spc="-5" dirty="0"/>
              <a:t>private</a:t>
            </a:r>
            <a:r>
              <a:rPr dirty="0"/>
              <a:t> </a:t>
            </a:r>
            <a:r>
              <a:rPr spc="-5" dirty="0"/>
              <a:t>subnet</a:t>
            </a:r>
          </a:p>
          <a:p>
            <a:pPr marL="4766310">
              <a:lnSpc>
                <a:spcPct val="100000"/>
              </a:lnSpc>
              <a:spcBef>
                <a:spcPts val="30"/>
              </a:spcBef>
              <a:buClr>
                <a:srgbClr val="464646"/>
              </a:buClr>
              <a:buFont typeface="Arial MT"/>
              <a:buChar char="•"/>
            </a:pPr>
            <a:endParaRPr sz="1850"/>
          </a:p>
          <a:p>
            <a:pPr marL="5065395" marR="310515" indent="-287020">
              <a:lnSpc>
                <a:spcPct val="100000"/>
              </a:lnSpc>
              <a:buChar char="•"/>
              <a:tabLst>
                <a:tab pos="5065395" algn="l"/>
                <a:tab pos="5066030" algn="l"/>
              </a:tabLst>
            </a:pPr>
            <a:r>
              <a:rPr spc="-10" dirty="0"/>
              <a:t>Reduces</a:t>
            </a:r>
            <a:r>
              <a:rPr spc="5" dirty="0"/>
              <a:t> </a:t>
            </a:r>
            <a:r>
              <a:rPr spc="-5" dirty="0"/>
              <a:t>attack</a:t>
            </a:r>
            <a:r>
              <a:rPr dirty="0"/>
              <a:t> </a:t>
            </a:r>
            <a:r>
              <a:rPr spc="-5" dirty="0"/>
              <a:t>surface</a:t>
            </a:r>
            <a:r>
              <a:rPr spc="-10" dirty="0"/>
              <a:t> </a:t>
            </a:r>
            <a:r>
              <a:rPr dirty="0"/>
              <a:t>–</a:t>
            </a:r>
            <a:r>
              <a:rPr spc="-5" dirty="0"/>
              <a:t> EC2 </a:t>
            </a:r>
            <a:r>
              <a:rPr spc="-484" dirty="0"/>
              <a:t> </a:t>
            </a:r>
            <a:r>
              <a:rPr spc="-5" dirty="0"/>
              <a:t>instance configured</a:t>
            </a:r>
            <a:r>
              <a:rPr spc="10" dirty="0"/>
              <a:t> </a:t>
            </a:r>
            <a:r>
              <a:rPr spc="-5" dirty="0"/>
              <a:t>only</a:t>
            </a:r>
            <a:r>
              <a:rPr spc="-10" dirty="0"/>
              <a:t> </a:t>
            </a:r>
            <a:r>
              <a:rPr dirty="0"/>
              <a:t>for </a:t>
            </a:r>
            <a:r>
              <a:rPr spc="5" dirty="0"/>
              <a:t> </a:t>
            </a:r>
            <a:r>
              <a:rPr spc="-5" dirty="0"/>
              <a:t>private</a:t>
            </a:r>
            <a:r>
              <a:rPr dirty="0"/>
              <a:t> </a:t>
            </a:r>
            <a:r>
              <a:rPr spc="-5" dirty="0"/>
              <a:t>traffic</a:t>
            </a:r>
          </a:p>
          <a:p>
            <a:pPr marL="4766310">
              <a:lnSpc>
                <a:spcPct val="100000"/>
              </a:lnSpc>
              <a:spcBef>
                <a:spcPts val="35"/>
              </a:spcBef>
              <a:buClr>
                <a:srgbClr val="464646"/>
              </a:buClr>
              <a:buFont typeface="Arial MT"/>
              <a:buChar char="•"/>
            </a:pPr>
            <a:endParaRPr sz="1850"/>
          </a:p>
          <a:p>
            <a:pPr marL="5065395" indent="-287020">
              <a:lnSpc>
                <a:spcPct val="100000"/>
              </a:lnSpc>
              <a:buChar char="•"/>
              <a:tabLst>
                <a:tab pos="5065395" algn="l"/>
                <a:tab pos="5066030" algn="l"/>
              </a:tabLst>
            </a:pPr>
            <a:r>
              <a:rPr spc="-5" dirty="0"/>
              <a:t>DDOS</a:t>
            </a:r>
            <a:r>
              <a:rPr spc="-30" dirty="0"/>
              <a:t> </a:t>
            </a:r>
            <a:r>
              <a:rPr spc="-5" dirty="0"/>
              <a:t>Protection</a:t>
            </a:r>
          </a:p>
        </p:txBody>
      </p:sp>
      <p:sp>
        <p:nvSpPr>
          <p:cNvPr id="22" name="object 22"/>
          <p:cNvSpPr txBox="1"/>
          <p:nvPr/>
        </p:nvSpPr>
        <p:spPr>
          <a:xfrm>
            <a:off x="2665602" y="2687269"/>
            <a:ext cx="1016000"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Private</a:t>
            </a:r>
            <a:r>
              <a:rPr sz="1800" spc="-65" dirty="0">
                <a:solidFill>
                  <a:srgbClr val="464646"/>
                </a:solidFill>
                <a:latin typeface="Arial MT"/>
                <a:cs typeface="Arial MT"/>
              </a:rPr>
              <a:t> </a:t>
            </a:r>
            <a:r>
              <a:rPr sz="1800" dirty="0">
                <a:solidFill>
                  <a:srgbClr val="464646"/>
                </a:solidFill>
                <a:latin typeface="Arial MT"/>
                <a:cs typeface="Arial MT"/>
              </a:rPr>
              <a:t>IP</a:t>
            </a:r>
            <a:endParaRPr sz="180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82118" y="1040130"/>
            <a:ext cx="4730750" cy="3893820"/>
          </a:xfrm>
          <a:custGeom>
            <a:avLst/>
            <a:gdLst/>
            <a:ahLst/>
            <a:cxnLst/>
            <a:rect l="l" t="t" r="r" b="b"/>
            <a:pathLst>
              <a:path w="4730750" h="3893820">
                <a:moveTo>
                  <a:pt x="0" y="648970"/>
                </a:moveTo>
                <a:lnTo>
                  <a:pt x="1780" y="600539"/>
                </a:lnTo>
                <a:lnTo>
                  <a:pt x="7036" y="553074"/>
                </a:lnTo>
                <a:lnTo>
                  <a:pt x="15644" y="506702"/>
                </a:lnTo>
                <a:lnTo>
                  <a:pt x="27477" y="461547"/>
                </a:lnTo>
                <a:lnTo>
                  <a:pt x="42410" y="417734"/>
                </a:lnTo>
                <a:lnTo>
                  <a:pt x="60318" y="375390"/>
                </a:lnTo>
                <a:lnTo>
                  <a:pt x="81075" y="334639"/>
                </a:lnTo>
                <a:lnTo>
                  <a:pt x="104556" y="295608"/>
                </a:lnTo>
                <a:lnTo>
                  <a:pt x="130634" y="258422"/>
                </a:lnTo>
                <a:lnTo>
                  <a:pt x="159185" y="223207"/>
                </a:lnTo>
                <a:lnTo>
                  <a:pt x="190084" y="190087"/>
                </a:lnTo>
                <a:lnTo>
                  <a:pt x="223203" y="159188"/>
                </a:lnTo>
                <a:lnTo>
                  <a:pt x="258419" y="130637"/>
                </a:lnTo>
                <a:lnTo>
                  <a:pt x="295606" y="104558"/>
                </a:lnTo>
                <a:lnTo>
                  <a:pt x="334638" y="81077"/>
                </a:lnTo>
                <a:lnTo>
                  <a:pt x="375389" y="60320"/>
                </a:lnTo>
                <a:lnTo>
                  <a:pt x="417735" y="42412"/>
                </a:lnTo>
                <a:lnTo>
                  <a:pt x="461549" y="27478"/>
                </a:lnTo>
                <a:lnTo>
                  <a:pt x="506706" y="15644"/>
                </a:lnTo>
                <a:lnTo>
                  <a:pt x="553081" y="7037"/>
                </a:lnTo>
                <a:lnTo>
                  <a:pt x="600548" y="1780"/>
                </a:lnTo>
                <a:lnTo>
                  <a:pt x="648982" y="0"/>
                </a:lnTo>
                <a:lnTo>
                  <a:pt x="4081526" y="0"/>
                </a:lnTo>
                <a:lnTo>
                  <a:pt x="4129956" y="1780"/>
                </a:lnTo>
                <a:lnTo>
                  <a:pt x="4177421" y="7037"/>
                </a:lnTo>
                <a:lnTo>
                  <a:pt x="4223793" y="15644"/>
                </a:lnTo>
                <a:lnTo>
                  <a:pt x="4268948" y="27478"/>
                </a:lnTo>
                <a:lnTo>
                  <a:pt x="4312761" y="42412"/>
                </a:lnTo>
                <a:lnTo>
                  <a:pt x="4355105" y="60320"/>
                </a:lnTo>
                <a:lnTo>
                  <a:pt x="4395856" y="81077"/>
                </a:lnTo>
                <a:lnTo>
                  <a:pt x="4434887" y="104558"/>
                </a:lnTo>
                <a:lnTo>
                  <a:pt x="4472073" y="130637"/>
                </a:lnTo>
                <a:lnTo>
                  <a:pt x="4507288" y="159188"/>
                </a:lnTo>
                <a:lnTo>
                  <a:pt x="4540408" y="190087"/>
                </a:lnTo>
                <a:lnTo>
                  <a:pt x="4571307" y="223207"/>
                </a:lnTo>
                <a:lnTo>
                  <a:pt x="4599858" y="258422"/>
                </a:lnTo>
                <a:lnTo>
                  <a:pt x="4625937" y="295608"/>
                </a:lnTo>
                <a:lnTo>
                  <a:pt x="4649418" y="334639"/>
                </a:lnTo>
                <a:lnTo>
                  <a:pt x="4670175" y="375390"/>
                </a:lnTo>
                <a:lnTo>
                  <a:pt x="4688083" y="417734"/>
                </a:lnTo>
                <a:lnTo>
                  <a:pt x="4703017" y="461547"/>
                </a:lnTo>
                <a:lnTo>
                  <a:pt x="4714851" y="506702"/>
                </a:lnTo>
                <a:lnTo>
                  <a:pt x="4723458" y="553074"/>
                </a:lnTo>
                <a:lnTo>
                  <a:pt x="4728715" y="600539"/>
                </a:lnTo>
                <a:lnTo>
                  <a:pt x="4730496" y="648970"/>
                </a:lnTo>
                <a:lnTo>
                  <a:pt x="4730496" y="3244837"/>
                </a:lnTo>
                <a:lnTo>
                  <a:pt x="4728715" y="3293271"/>
                </a:lnTo>
                <a:lnTo>
                  <a:pt x="4723458" y="3340738"/>
                </a:lnTo>
                <a:lnTo>
                  <a:pt x="4714851" y="3387113"/>
                </a:lnTo>
                <a:lnTo>
                  <a:pt x="4703017" y="3432270"/>
                </a:lnTo>
                <a:lnTo>
                  <a:pt x="4688083" y="3476084"/>
                </a:lnTo>
                <a:lnTo>
                  <a:pt x="4670175" y="3518430"/>
                </a:lnTo>
                <a:lnTo>
                  <a:pt x="4649418" y="3559181"/>
                </a:lnTo>
                <a:lnTo>
                  <a:pt x="4625937" y="3598213"/>
                </a:lnTo>
                <a:lnTo>
                  <a:pt x="4599858" y="3635400"/>
                </a:lnTo>
                <a:lnTo>
                  <a:pt x="4571307" y="3670616"/>
                </a:lnTo>
                <a:lnTo>
                  <a:pt x="4540408" y="3703735"/>
                </a:lnTo>
                <a:lnTo>
                  <a:pt x="4507288" y="3734634"/>
                </a:lnTo>
                <a:lnTo>
                  <a:pt x="4472073" y="3763185"/>
                </a:lnTo>
                <a:lnTo>
                  <a:pt x="4434887" y="3789263"/>
                </a:lnTo>
                <a:lnTo>
                  <a:pt x="4395856" y="3812744"/>
                </a:lnTo>
                <a:lnTo>
                  <a:pt x="4355105" y="3833501"/>
                </a:lnTo>
                <a:lnTo>
                  <a:pt x="4312761" y="3851409"/>
                </a:lnTo>
                <a:lnTo>
                  <a:pt x="4268948" y="3866342"/>
                </a:lnTo>
                <a:lnTo>
                  <a:pt x="4223793" y="3878175"/>
                </a:lnTo>
                <a:lnTo>
                  <a:pt x="4177421" y="3886783"/>
                </a:lnTo>
                <a:lnTo>
                  <a:pt x="4129956" y="3892039"/>
                </a:lnTo>
                <a:lnTo>
                  <a:pt x="4081526" y="3893820"/>
                </a:lnTo>
                <a:lnTo>
                  <a:pt x="648982" y="3893820"/>
                </a:lnTo>
                <a:lnTo>
                  <a:pt x="600548" y="3892039"/>
                </a:lnTo>
                <a:lnTo>
                  <a:pt x="553081" y="3886783"/>
                </a:lnTo>
                <a:lnTo>
                  <a:pt x="506706" y="3878175"/>
                </a:lnTo>
                <a:lnTo>
                  <a:pt x="461549" y="3866342"/>
                </a:lnTo>
                <a:lnTo>
                  <a:pt x="417735" y="3851409"/>
                </a:lnTo>
                <a:lnTo>
                  <a:pt x="375389" y="3833501"/>
                </a:lnTo>
                <a:lnTo>
                  <a:pt x="334638" y="3812744"/>
                </a:lnTo>
                <a:lnTo>
                  <a:pt x="295606" y="3789263"/>
                </a:lnTo>
                <a:lnTo>
                  <a:pt x="258419" y="3763185"/>
                </a:lnTo>
                <a:lnTo>
                  <a:pt x="223203" y="3734634"/>
                </a:lnTo>
                <a:lnTo>
                  <a:pt x="190084" y="3703735"/>
                </a:lnTo>
                <a:lnTo>
                  <a:pt x="159185" y="3670616"/>
                </a:lnTo>
                <a:lnTo>
                  <a:pt x="130634" y="3635400"/>
                </a:lnTo>
                <a:lnTo>
                  <a:pt x="104556" y="3598213"/>
                </a:lnTo>
                <a:lnTo>
                  <a:pt x="81075" y="3559181"/>
                </a:lnTo>
                <a:lnTo>
                  <a:pt x="60318" y="3518430"/>
                </a:lnTo>
                <a:lnTo>
                  <a:pt x="42410" y="3476084"/>
                </a:lnTo>
                <a:lnTo>
                  <a:pt x="27477" y="3432270"/>
                </a:lnTo>
                <a:lnTo>
                  <a:pt x="15644" y="3387113"/>
                </a:lnTo>
                <a:lnTo>
                  <a:pt x="7036" y="3340738"/>
                </a:lnTo>
                <a:lnTo>
                  <a:pt x="1780" y="3293271"/>
                </a:lnTo>
                <a:lnTo>
                  <a:pt x="0" y="3244837"/>
                </a:lnTo>
                <a:lnTo>
                  <a:pt x="0" y="648970"/>
                </a:lnTo>
                <a:close/>
              </a:path>
              <a:path w="4730750" h="3893820">
                <a:moveTo>
                  <a:pt x="269748" y="550164"/>
                </a:moveTo>
                <a:lnTo>
                  <a:pt x="274940" y="505083"/>
                </a:lnTo>
                <a:lnTo>
                  <a:pt x="289731" y="463702"/>
                </a:lnTo>
                <a:lnTo>
                  <a:pt x="312939" y="427199"/>
                </a:lnTo>
                <a:lnTo>
                  <a:pt x="343385" y="396755"/>
                </a:lnTo>
                <a:lnTo>
                  <a:pt x="379888" y="373548"/>
                </a:lnTo>
                <a:lnTo>
                  <a:pt x="421267" y="358759"/>
                </a:lnTo>
                <a:lnTo>
                  <a:pt x="466344" y="353568"/>
                </a:lnTo>
                <a:lnTo>
                  <a:pt x="4194048" y="353568"/>
                </a:lnTo>
                <a:lnTo>
                  <a:pt x="4239128" y="358759"/>
                </a:lnTo>
                <a:lnTo>
                  <a:pt x="4280509" y="373548"/>
                </a:lnTo>
                <a:lnTo>
                  <a:pt x="4317012" y="396755"/>
                </a:lnTo>
                <a:lnTo>
                  <a:pt x="4347456" y="427199"/>
                </a:lnTo>
                <a:lnTo>
                  <a:pt x="4370663" y="463702"/>
                </a:lnTo>
                <a:lnTo>
                  <a:pt x="4385452" y="505083"/>
                </a:lnTo>
                <a:lnTo>
                  <a:pt x="4390644" y="550164"/>
                </a:lnTo>
                <a:lnTo>
                  <a:pt x="4390644" y="1336548"/>
                </a:lnTo>
                <a:lnTo>
                  <a:pt x="4385452" y="1381628"/>
                </a:lnTo>
                <a:lnTo>
                  <a:pt x="4370663" y="1423009"/>
                </a:lnTo>
                <a:lnTo>
                  <a:pt x="4347456" y="1459512"/>
                </a:lnTo>
                <a:lnTo>
                  <a:pt x="4317012" y="1489956"/>
                </a:lnTo>
                <a:lnTo>
                  <a:pt x="4280509" y="1513163"/>
                </a:lnTo>
                <a:lnTo>
                  <a:pt x="4239128" y="1527952"/>
                </a:lnTo>
                <a:lnTo>
                  <a:pt x="4194048" y="1533144"/>
                </a:lnTo>
                <a:lnTo>
                  <a:pt x="466344" y="1533144"/>
                </a:lnTo>
                <a:lnTo>
                  <a:pt x="421267" y="1527952"/>
                </a:lnTo>
                <a:lnTo>
                  <a:pt x="379888" y="1513163"/>
                </a:lnTo>
                <a:lnTo>
                  <a:pt x="343385" y="1489956"/>
                </a:lnTo>
                <a:lnTo>
                  <a:pt x="312939" y="1459512"/>
                </a:lnTo>
                <a:lnTo>
                  <a:pt x="289731" y="1423009"/>
                </a:lnTo>
                <a:lnTo>
                  <a:pt x="274940" y="1381628"/>
                </a:lnTo>
                <a:lnTo>
                  <a:pt x="269748" y="1336548"/>
                </a:lnTo>
                <a:lnTo>
                  <a:pt x="269748" y="550164"/>
                </a:lnTo>
                <a:close/>
              </a:path>
            </a:pathLst>
          </a:custGeom>
          <a:ln w="25908">
            <a:solidFill>
              <a:srgbClr val="464646"/>
            </a:solidFill>
          </a:ln>
        </p:spPr>
        <p:txBody>
          <a:bodyPr wrap="square" lIns="0" tIns="0" rIns="0" bIns="0" rtlCol="0"/>
          <a:lstStyle/>
          <a:p>
            <a:endParaRPr/>
          </a:p>
        </p:txBody>
      </p:sp>
      <p:sp>
        <p:nvSpPr>
          <p:cNvPr id="3" name="object 3"/>
          <p:cNvSpPr txBox="1">
            <a:spLocks noGrp="1"/>
          </p:cNvSpPr>
          <p:nvPr>
            <p:ph type="title"/>
          </p:nvPr>
        </p:nvSpPr>
        <p:spPr>
          <a:xfrm>
            <a:off x="415544" y="139065"/>
            <a:ext cx="6850380"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Elastic</a:t>
            </a:r>
            <a:r>
              <a:rPr u="none" spc="10" dirty="0">
                <a:solidFill>
                  <a:srgbClr val="4D4D4B"/>
                </a:solidFill>
              </a:rPr>
              <a:t> </a:t>
            </a:r>
            <a:r>
              <a:rPr u="none" spc="-5" dirty="0">
                <a:solidFill>
                  <a:srgbClr val="4D4D4B"/>
                </a:solidFill>
              </a:rPr>
              <a:t>Load</a:t>
            </a:r>
            <a:r>
              <a:rPr u="none" spc="15" dirty="0">
                <a:solidFill>
                  <a:srgbClr val="4D4D4B"/>
                </a:solidFill>
              </a:rPr>
              <a:t> </a:t>
            </a:r>
            <a:r>
              <a:rPr u="none" spc="-5" dirty="0">
                <a:solidFill>
                  <a:srgbClr val="4D4D4B"/>
                </a:solidFill>
              </a:rPr>
              <a:t>Balancing</a:t>
            </a:r>
            <a:r>
              <a:rPr u="none" spc="35" dirty="0">
                <a:solidFill>
                  <a:srgbClr val="4D4D4B"/>
                </a:solidFill>
              </a:rPr>
              <a:t> </a:t>
            </a:r>
            <a:r>
              <a:rPr u="none" spc="-5" dirty="0">
                <a:solidFill>
                  <a:srgbClr val="4D4D4B"/>
                </a:solidFill>
              </a:rPr>
              <a:t>–</a:t>
            </a:r>
            <a:r>
              <a:rPr u="none" spc="5" dirty="0">
                <a:solidFill>
                  <a:srgbClr val="4D4D4B"/>
                </a:solidFill>
              </a:rPr>
              <a:t> </a:t>
            </a:r>
            <a:r>
              <a:rPr u="none" dirty="0">
                <a:solidFill>
                  <a:srgbClr val="4D4D4B"/>
                </a:solidFill>
              </a:rPr>
              <a:t>Internal </a:t>
            </a:r>
            <a:r>
              <a:rPr u="none" spc="-5" dirty="0">
                <a:solidFill>
                  <a:srgbClr val="4D4D4B"/>
                </a:solidFill>
              </a:rPr>
              <a:t>Facing</a:t>
            </a:r>
          </a:p>
        </p:txBody>
      </p:sp>
      <p:sp>
        <p:nvSpPr>
          <p:cNvPr id="4" name="object 4"/>
          <p:cNvSpPr txBox="1"/>
          <p:nvPr/>
        </p:nvSpPr>
        <p:spPr>
          <a:xfrm>
            <a:off x="1750314" y="2176017"/>
            <a:ext cx="152209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Private</a:t>
            </a:r>
            <a:r>
              <a:rPr sz="1800" spc="-55" dirty="0">
                <a:solidFill>
                  <a:srgbClr val="464646"/>
                </a:solidFill>
                <a:latin typeface="Arial MT"/>
                <a:cs typeface="Arial MT"/>
              </a:rPr>
              <a:t> </a:t>
            </a:r>
            <a:r>
              <a:rPr sz="1800" spc="-5" dirty="0">
                <a:solidFill>
                  <a:srgbClr val="464646"/>
                </a:solidFill>
                <a:latin typeface="Arial MT"/>
                <a:cs typeface="Arial MT"/>
              </a:rPr>
              <a:t>Subnet</a:t>
            </a:r>
            <a:endParaRPr sz="1800">
              <a:latin typeface="Arial MT"/>
              <a:cs typeface="Arial MT"/>
            </a:endParaRPr>
          </a:p>
        </p:txBody>
      </p:sp>
      <p:sp>
        <p:nvSpPr>
          <p:cNvPr id="5" name="object 5"/>
          <p:cNvSpPr/>
          <p:nvPr/>
        </p:nvSpPr>
        <p:spPr>
          <a:xfrm>
            <a:off x="791718" y="1544574"/>
            <a:ext cx="3421379" cy="547370"/>
          </a:xfrm>
          <a:custGeom>
            <a:avLst/>
            <a:gdLst/>
            <a:ahLst/>
            <a:cxnLst/>
            <a:rect l="l" t="t" r="r" b="b"/>
            <a:pathLst>
              <a:path w="3421379" h="547369">
                <a:moveTo>
                  <a:pt x="0" y="91186"/>
                </a:moveTo>
                <a:lnTo>
                  <a:pt x="7166" y="55667"/>
                </a:lnTo>
                <a:lnTo>
                  <a:pt x="26709" y="26685"/>
                </a:lnTo>
                <a:lnTo>
                  <a:pt x="55694" y="7157"/>
                </a:lnTo>
                <a:lnTo>
                  <a:pt x="91185" y="0"/>
                </a:lnTo>
                <a:lnTo>
                  <a:pt x="3330194" y="0"/>
                </a:lnTo>
                <a:lnTo>
                  <a:pt x="3365712" y="7157"/>
                </a:lnTo>
                <a:lnTo>
                  <a:pt x="3394694" y="26685"/>
                </a:lnTo>
                <a:lnTo>
                  <a:pt x="3414222" y="55667"/>
                </a:lnTo>
                <a:lnTo>
                  <a:pt x="3421379" y="91186"/>
                </a:lnTo>
                <a:lnTo>
                  <a:pt x="3421379" y="455930"/>
                </a:lnTo>
                <a:lnTo>
                  <a:pt x="3414222" y="491448"/>
                </a:lnTo>
                <a:lnTo>
                  <a:pt x="3394694" y="520430"/>
                </a:lnTo>
                <a:lnTo>
                  <a:pt x="3365712" y="539958"/>
                </a:lnTo>
                <a:lnTo>
                  <a:pt x="3330194" y="547115"/>
                </a:lnTo>
                <a:lnTo>
                  <a:pt x="91185" y="547115"/>
                </a:lnTo>
                <a:lnTo>
                  <a:pt x="55694" y="539958"/>
                </a:lnTo>
                <a:lnTo>
                  <a:pt x="26709" y="520430"/>
                </a:lnTo>
                <a:lnTo>
                  <a:pt x="7166" y="491448"/>
                </a:lnTo>
                <a:lnTo>
                  <a:pt x="0" y="455930"/>
                </a:lnTo>
                <a:lnTo>
                  <a:pt x="0" y="91186"/>
                </a:lnTo>
                <a:close/>
              </a:path>
            </a:pathLst>
          </a:custGeom>
          <a:ln w="25907">
            <a:solidFill>
              <a:srgbClr val="464646"/>
            </a:solidFill>
          </a:ln>
        </p:spPr>
        <p:txBody>
          <a:bodyPr wrap="square" lIns="0" tIns="0" rIns="0" bIns="0" rtlCol="0"/>
          <a:lstStyle/>
          <a:p>
            <a:endParaRPr/>
          </a:p>
        </p:txBody>
      </p:sp>
      <p:sp>
        <p:nvSpPr>
          <p:cNvPr id="6" name="object 6"/>
          <p:cNvSpPr txBox="1"/>
          <p:nvPr/>
        </p:nvSpPr>
        <p:spPr>
          <a:xfrm>
            <a:off x="1386077" y="1661617"/>
            <a:ext cx="2232660"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Elastic</a:t>
            </a:r>
            <a:r>
              <a:rPr sz="1800" spc="-30" dirty="0">
                <a:solidFill>
                  <a:srgbClr val="464646"/>
                </a:solidFill>
                <a:latin typeface="Arial MT"/>
                <a:cs typeface="Arial MT"/>
              </a:rPr>
              <a:t> </a:t>
            </a:r>
            <a:r>
              <a:rPr sz="1800" spc="-10" dirty="0">
                <a:solidFill>
                  <a:srgbClr val="464646"/>
                </a:solidFill>
                <a:latin typeface="Arial MT"/>
                <a:cs typeface="Arial MT"/>
              </a:rPr>
              <a:t>Load</a:t>
            </a:r>
            <a:r>
              <a:rPr sz="1800" spc="-20" dirty="0">
                <a:solidFill>
                  <a:srgbClr val="464646"/>
                </a:solidFill>
                <a:latin typeface="Arial MT"/>
                <a:cs typeface="Arial MT"/>
              </a:rPr>
              <a:t> </a:t>
            </a:r>
            <a:r>
              <a:rPr sz="1800" spc="-5" dirty="0">
                <a:solidFill>
                  <a:srgbClr val="464646"/>
                </a:solidFill>
                <a:latin typeface="Arial MT"/>
                <a:cs typeface="Arial MT"/>
              </a:rPr>
              <a:t>Balancer</a:t>
            </a:r>
            <a:endParaRPr sz="1800">
              <a:latin typeface="Arial MT"/>
              <a:cs typeface="Arial MT"/>
            </a:endParaRPr>
          </a:p>
        </p:txBody>
      </p:sp>
      <p:grpSp>
        <p:nvGrpSpPr>
          <p:cNvPr id="7" name="object 7"/>
          <p:cNvGrpSpPr/>
          <p:nvPr/>
        </p:nvGrpSpPr>
        <p:grpSpPr>
          <a:xfrm>
            <a:off x="438912" y="2471902"/>
            <a:ext cx="4147185" cy="1875155"/>
            <a:chOff x="438912" y="2471902"/>
            <a:chExt cx="4147185" cy="1875155"/>
          </a:xfrm>
        </p:grpSpPr>
        <p:pic>
          <p:nvPicPr>
            <p:cNvPr id="8" name="object 8"/>
            <p:cNvPicPr/>
            <p:nvPr/>
          </p:nvPicPr>
          <p:blipFill>
            <a:blip r:embed="rId2" cstate="print"/>
            <a:stretch>
              <a:fillRect/>
            </a:stretch>
          </p:blipFill>
          <p:spPr>
            <a:xfrm>
              <a:off x="2391156" y="2471902"/>
              <a:ext cx="237832" cy="731545"/>
            </a:xfrm>
            <a:prstGeom prst="rect">
              <a:avLst/>
            </a:prstGeom>
          </p:spPr>
        </p:pic>
        <p:sp>
          <p:nvSpPr>
            <p:cNvPr id="9" name="object 9"/>
            <p:cNvSpPr/>
            <p:nvPr/>
          </p:nvSpPr>
          <p:spPr>
            <a:xfrm>
              <a:off x="2473451" y="2573274"/>
              <a:ext cx="78105" cy="493395"/>
            </a:xfrm>
            <a:custGeom>
              <a:avLst/>
              <a:gdLst/>
              <a:ahLst/>
              <a:cxnLst/>
              <a:rect l="l" t="t" r="r" b="b"/>
              <a:pathLst>
                <a:path w="78105" h="493394">
                  <a:moveTo>
                    <a:pt x="25908" y="415670"/>
                  </a:moveTo>
                  <a:lnTo>
                    <a:pt x="0" y="415670"/>
                  </a:lnTo>
                  <a:lnTo>
                    <a:pt x="38862" y="493394"/>
                  </a:lnTo>
                  <a:lnTo>
                    <a:pt x="71247" y="428625"/>
                  </a:lnTo>
                  <a:lnTo>
                    <a:pt x="25908" y="428625"/>
                  </a:lnTo>
                  <a:lnTo>
                    <a:pt x="25908" y="415670"/>
                  </a:lnTo>
                  <a:close/>
                </a:path>
                <a:path w="78105" h="493394">
                  <a:moveTo>
                    <a:pt x="51816" y="64769"/>
                  </a:moveTo>
                  <a:lnTo>
                    <a:pt x="25908" y="64769"/>
                  </a:lnTo>
                  <a:lnTo>
                    <a:pt x="25908" y="428625"/>
                  </a:lnTo>
                  <a:lnTo>
                    <a:pt x="51816" y="428625"/>
                  </a:lnTo>
                  <a:lnTo>
                    <a:pt x="51816" y="64769"/>
                  </a:lnTo>
                  <a:close/>
                </a:path>
                <a:path w="78105" h="493394">
                  <a:moveTo>
                    <a:pt x="77724" y="415670"/>
                  </a:moveTo>
                  <a:lnTo>
                    <a:pt x="51816" y="415670"/>
                  </a:lnTo>
                  <a:lnTo>
                    <a:pt x="51816" y="428625"/>
                  </a:lnTo>
                  <a:lnTo>
                    <a:pt x="71247" y="428625"/>
                  </a:lnTo>
                  <a:lnTo>
                    <a:pt x="77724" y="415670"/>
                  </a:lnTo>
                  <a:close/>
                </a:path>
                <a:path w="78105" h="493394">
                  <a:moveTo>
                    <a:pt x="38862" y="0"/>
                  </a:moveTo>
                  <a:lnTo>
                    <a:pt x="0" y="77724"/>
                  </a:lnTo>
                  <a:lnTo>
                    <a:pt x="25908" y="77724"/>
                  </a:lnTo>
                  <a:lnTo>
                    <a:pt x="25908" y="64769"/>
                  </a:lnTo>
                  <a:lnTo>
                    <a:pt x="71247" y="64769"/>
                  </a:lnTo>
                  <a:lnTo>
                    <a:pt x="38862" y="0"/>
                  </a:lnTo>
                  <a:close/>
                </a:path>
                <a:path w="78105" h="493394">
                  <a:moveTo>
                    <a:pt x="71247" y="64769"/>
                  </a:moveTo>
                  <a:lnTo>
                    <a:pt x="51816" y="64769"/>
                  </a:lnTo>
                  <a:lnTo>
                    <a:pt x="51816" y="77724"/>
                  </a:lnTo>
                  <a:lnTo>
                    <a:pt x="77724" y="77724"/>
                  </a:lnTo>
                  <a:lnTo>
                    <a:pt x="71247" y="64769"/>
                  </a:lnTo>
                  <a:close/>
                </a:path>
              </a:pathLst>
            </a:custGeom>
            <a:solidFill>
              <a:srgbClr val="FBB64B"/>
            </a:solidFill>
          </p:spPr>
          <p:txBody>
            <a:bodyPr wrap="square" lIns="0" tIns="0" rIns="0" bIns="0" rtlCol="0"/>
            <a:lstStyle/>
            <a:p>
              <a:endParaRPr/>
            </a:p>
          </p:txBody>
        </p:sp>
        <p:sp>
          <p:nvSpPr>
            <p:cNvPr id="10" name="object 10"/>
            <p:cNvSpPr/>
            <p:nvPr/>
          </p:nvSpPr>
          <p:spPr>
            <a:xfrm>
              <a:off x="451866" y="3065526"/>
              <a:ext cx="4121150" cy="1268095"/>
            </a:xfrm>
            <a:custGeom>
              <a:avLst/>
              <a:gdLst/>
              <a:ahLst/>
              <a:cxnLst/>
              <a:rect l="l" t="t" r="r" b="b"/>
              <a:pathLst>
                <a:path w="4121150" h="1268095">
                  <a:moveTo>
                    <a:pt x="3909568" y="0"/>
                  </a:moveTo>
                  <a:lnTo>
                    <a:pt x="211328" y="0"/>
                  </a:lnTo>
                  <a:lnTo>
                    <a:pt x="162872" y="5581"/>
                  </a:lnTo>
                  <a:lnTo>
                    <a:pt x="118391" y="21479"/>
                  </a:lnTo>
                  <a:lnTo>
                    <a:pt x="79153" y="46426"/>
                  </a:lnTo>
                  <a:lnTo>
                    <a:pt x="46426" y="79153"/>
                  </a:lnTo>
                  <a:lnTo>
                    <a:pt x="21479" y="118391"/>
                  </a:lnTo>
                  <a:lnTo>
                    <a:pt x="5581" y="162872"/>
                  </a:lnTo>
                  <a:lnTo>
                    <a:pt x="0" y="211328"/>
                  </a:lnTo>
                  <a:lnTo>
                    <a:pt x="0" y="1056640"/>
                  </a:lnTo>
                  <a:lnTo>
                    <a:pt x="5581" y="1105095"/>
                  </a:lnTo>
                  <a:lnTo>
                    <a:pt x="21479" y="1149576"/>
                  </a:lnTo>
                  <a:lnTo>
                    <a:pt x="46426" y="1188814"/>
                  </a:lnTo>
                  <a:lnTo>
                    <a:pt x="79153" y="1221541"/>
                  </a:lnTo>
                  <a:lnTo>
                    <a:pt x="118391" y="1246488"/>
                  </a:lnTo>
                  <a:lnTo>
                    <a:pt x="162872" y="1262386"/>
                  </a:lnTo>
                  <a:lnTo>
                    <a:pt x="211328" y="1267968"/>
                  </a:lnTo>
                  <a:lnTo>
                    <a:pt x="3909568" y="1267968"/>
                  </a:lnTo>
                  <a:lnTo>
                    <a:pt x="3958023" y="1262386"/>
                  </a:lnTo>
                  <a:lnTo>
                    <a:pt x="4002504" y="1246488"/>
                  </a:lnTo>
                  <a:lnTo>
                    <a:pt x="4041742" y="1221541"/>
                  </a:lnTo>
                  <a:lnTo>
                    <a:pt x="4074469" y="1188814"/>
                  </a:lnTo>
                  <a:lnTo>
                    <a:pt x="4099416" y="1149576"/>
                  </a:lnTo>
                  <a:lnTo>
                    <a:pt x="4115314" y="1105095"/>
                  </a:lnTo>
                  <a:lnTo>
                    <a:pt x="4120896" y="1056640"/>
                  </a:lnTo>
                  <a:lnTo>
                    <a:pt x="4120896" y="211328"/>
                  </a:lnTo>
                  <a:lnTo>
                    <a:pt x="4115314" y="162872"/>
                  </a:lnTo>
                  <a:lnTo>
                    <a:pt x="4099416" y="118391"/>
                  </a:lnTo>
                  <a:lnTo>
                    <a:pt x="4074469" y="79153"/>
                  </a:lnTo>
                  <a:lnTo>
                    <a:pt x="4041742" y="46426"/>
                  </a:lnTo>
                  <a:lnTo>
                    <a:pt x="4002504" y="21479"/>
                  </a:lnTo>
                  <a:lnTo>
                    <a:pt x="3958023" y="5581"/>
                  </a:lnTo>
                  <a:lnTo>
                    <a:pt x="3909568" y="0"/>
                  </a:lnTo>
                  <a:close/>
                </a:path>
              </a:pathLst>
            </a:custGeom>
            <a:solidFill>
              <a:srgbClr val="FFFFFF"/>
            </a:solidFill>
          </p:spPr>
          <p:txBody>
            <a:bodyPr wrap="square" lIns="0" tIns="0" rIns="0" bIns="0" rtlCol="0"/>
            <a:lstStyle/>
            <a:p>
              <a:endParaRPr/>
            </a:p>
          </p:txBody>
        </p:sp>
        <p:sp>
          <p:nvSpPr>
            <p:cNvPr id="11" name="object 11"/>
            <p:cNvSpPr/>
            <p:nvPr/>
          </p:nvSpPr>
          <p:spPr>
            <a:xfrm>
              <a:off x="451866" y="3065526"/>
              <a:ext cx="4121150" cy="1268095"/>
            </a:xfrm>
            <a:custGeom>
              <a:avLst/>
              <a:gdLst/>
              <a:ahLst/>
              <a:cxnLst/>
              <a:rect l="l" t="t" r="r" b="b"/>
              <a:pathLst>
                <a:path w="4121150" h="1268095">
                  <a:moveTo>
                    <a:pt x="0" y="211328"/>
                  </a:moveTo>
                  <a:lnTo>
                    <a:pt x="5581" y="162872"/>
                  </a:lnTo>
                  <a:lnTo>
                    <a:pt x="21479" y="118391"/>
                  </a:lnTo>
                  <a:lnTo>
                    <a:pt x="46426" y="79153"/>
                  </a:lnTo>
                  <a:lnTo>
                    <a:pt x="79153" y="46426"/>
                  </a:lnTo>
                  <a:lnTo>
                    <a:pt x="118391" y="21479"/>
                  </a:lnTo>
                  <a:lnTo>
                    <a:pt x="162872" y="5581"/>
                  </a:lnTo>
                  <a:lnTo>
                    <a:pt x="211328" y="0"/>
                  </a:lnTo>
                  <a:lnTo>
                    <a:pt x="3909568" y="0"/>
                  </a:lnTo>
                  <a:lnTo>
                    <a:pt x="3958023" y="5581"/>
                  </a:lnTo>
                  <a:lnTo>
                    <a:pt x="4002504" y="21479"/>
                  </a:lnTo>
                  <a:lnTo>
                    <a:pt x="4041742" y="46426"/>
                  </a:lnTo>
                  <a:lnTo>
                    <a:pt x="4074469" y="79153"/>
                  </a:lnTo>
                  <a:lnTo>
                    <a:pt x="4099416" y="118391"/>
                  </a:lnTo>
                  <a:lnTo>
                    <a:pt x="4115314" y="162872"/>
                  </a:lnTo>
                  <a:lnTo>
                    <a:pt x="4120896" y="211328"/>
                  </a:lnTo>
                  <a:lnTo>
                    <a:pt x="4120896" y="1056640"/>
                  </a:lnTo>
                  <a:lnTo>
                    <a:pt x="4115314" y="1105095"/>
                  </a:lnTo>
                  <a:lnTo>
                    <a:pt x="4099416" y="1149576"/>
                  </a:lnTo>
                  <a:lnTo>
                    <a:pt x="4074469" y="1188814"/>
                  </a:lnTo>
                  <a:lnTo>
                    <a:pt x="4041742" y="1221541"/>
                  </a:lnTo>
                  <a:lnTo>
                    <a:pt x="4002504" y="1246488"/>
                  </a:lnTo>
                  <a:lnTo>
                    <a:pt x="3958023" y="1262386"/>
                  </a:lnTo>
                  <a:lnTo>
                    <a:pt x="3909568" y="1267968"/>
                  </a:lnTo>
                  <a:lnTo>
                    <a:pt x="211328" y="1267968"/>
                  </a:lnTo>
                  <a:lnTo>
                    <a:pt x="162872" y="1262386"/>
                  </a:lnTo>
                  <a:lnTo>
                    <a:pt x="118391" y="1246488"/>
                  </a:lnTo>
                  <a:lnTo>
                    <a:pt x="79153" y="1221541"/>
                  </a:lnTo>
                  <a:lnTo>
                    <a:pt x="46426" y="1188814"/>
                  </a:lnTo>
                  <a:lnTo>
                    <a:pt x="21479" y="1149576"/>
                  </a:lnTo>
                  <a:lnTo>
                    <a:pt x="5581" y="1105095"/>
                  </a:lnTo>
                  <a:lnTo>
                    <a:pt x="0" y="1056640"/>
                  </a:lnTo>
                  <a:lnTo>
                    <a:pt x="0" y="211328"/>
                  </a:lnTo>
                  <a:close/>
                </a:path>
              </a:pathLst>
            </a:custGeom>
            <a:ln w="25908">
              <a:solidFill>
                <a:srgbClr val="464646"/>
              </a:solidFill>
            </a:ln>
          </p:spPr>
          <p:txBody>
            <a:bodyPr wrap="square" lIns="0" tIns="0" rIns="0" bIns="0" rtlCol="0"/>
            <a:lstStyle/>
            <a:p>
              <a:endParaRPr/>
            </a:p>
          </p:txBody>
        </p:sp>
        <p:sp>
          <p:nvSpPr>
            <p:cNvPr id="12" name="object 12"/>
            <p:cNvSpPr/>
            <p:nvPr/>
          </p:nvSpPr>
          <p:spPr>
            <a:xfrm>
              <a:off x="2634234" y="3475482"/>
              <a:ext cx="704215" cy="449580"/>
            </a:xfrm>
            <a:custGeom>
              <a:avLst/>
              <a:gdLst/>
              <a:ahLst/>
              <a:cxnLst/>
              <a:rect l="l" t="t" r="r" b="b"/>
              <a:pathLst>
                <a:path w="704214" h="449579">
                  <a:moveTo>
                    <a:pt x="629157" y="0"/>
                  </a:moveTo>
                  <a:lnTo>
                    <a:pt x="74930" y="0"/>
                  </a:lnTo>
                  <a:lnTo>
                    <a:pt x="45755" y="5885"/>
                  </a:lnTo>
                  <a:lnTo>
                    <a:pt x="21939" y="21939"/>
                  </a:lnTo>
                  <a:lnTo>
                    <a:pt x="5885" y="45755"/>
                  </a:lnTo>
                  <a:lnTo>
                    <a:pt x="0" y="74930"/>
                  </a:lnTo>
                  <a:lnTo>
                    <a:pt x="0" y="374650"/>
                  </a:lnTo>
                  <a:lnTo>
                    <a:pt x="5885" y="403813"/>
                  </a:lnTo>
                  <a:lnTo>
                    <a:pt x="21939" y="427631"/>
                  </a:lnTo>
                  <a:lnTo>
                    <a:pt x="45755" y="443690"/>
                  </a:lnTo>
                  <a:lnTo>
                    <a:pt x="74930" y="449580"/>
                  </a:lnTo>
                  <a:lnTo>
                    <a:pt x="629157" y="449580"/>
                  </a:lnTo>
                  <a:lnTo>
                    <a:pt x="658332" y="443690"/>
                  </a:lnTo>
                  <a:lnTo>
                    <a:pt x="682148" y="427631"/>
                  </a:lnTo>
                  <a:lnTo>
                    <a:pt x="698202" y="403813"/>
                  </a:lnTo>
                  <a:lnTo>
                    <a:pt x="704088" y="374650"/>
                  </a:lnTo>
                  <a:lnTo>
                    <a:pt x="704088" y="74930"/>
                  </a:lnTo>
                  <a:lnTo>
                    <a:pt x="698202" y="45755"/>
                  </a:lnTo>
                  <a:lnTo>
                    <a:pt x="682148" y="21939"/>
                  </a:lnTo>
                  <a:lnTo>
                    <a:pt x="658332" y="5885"/>
                  </a:lnTo>
                  <a:lnTo>
                    <a:pt x="629157" y="0"/>
                  </a:lnTo>
                  <a:close/>
                </a:path>
              </a:pathLst>
            </a:custGeom>
            <a:solidFill>
              <a:srgbClr val="FFFFFF"/>
            </a:solidFill>
          </p:spPr>
          <p:txBody>
            <a:bodyPr wrap="square" lIns="0" tIns="0" rIns="0" bIns="0" rtlCol="0"/>
            <a:lstStyle/>
            <a:p>
              <a:endParaRPr/>
            </a:p>
          </p:txBody>
        </p:sp>
        <p:sp>
          <p:nvSpPr>
            <p:cNvPr id="13" name="object 13"/>
            <p:cNvSpPr/>
            <p:nvPr/>
          </p:nvSpPr>
          <p:spPr>
            <a:xfrm>
              <a:off x="2634234" y="3475482"/>
              <a:ext cx="704215" cy="449580"/>
            </a:xfrm>
            <a:custGeom>
              <a:avLst/>
              <a:gdLst/>
              <a:ahLst/>
              <a:cxnLst/>
              <a:rect l="l" t="t" r="r" b="b"/>
              <a:pathLst>
                <a:path w="704214" h="449579">
                  <a:moveTo>
                    <a:pt x="0" y="74930"/>
                  </a:moveTo>
                  <a:lnTo>
                    <a:pt x="5885" y="45755"/>
                  </a:lnTo>
                  <a:lnTo>
                    <a:pt x="21939" y="21939"/>
                  </a:lnTo>
                  <a:lnTo>
                    <a:pt x="45755" y="5885"/>
                  </a:lnTo>
                  <a:lnTo>
                    <a:pt x="74930" y="0"/>
                  </a:lnTo>
                  <a:lnTo>
                    <a:pt x="629157" y="0"/>
                  </a:lnTo>
                  <a:lnTo>
                    <a:pt x="658332" y="5885"/>
                  </a:lnTo>
                  <a:lnTo>
                    <a:pt x="682148" y="21939"/>
                  </a:lnTo>
                  <a:lnTo>
                    <a:pt x="698202" y="45755"/>
                  </a:lnTo>
                  <a:lnTo>
                    <a:pt x="704088" y="74930"/>
                  </a:lnTo>
                  <a:lnTo>
                    <a:pt x="704088" y="374650"/>
                  </a:lnTo>
                  <a:lnTo>
                    <a:pt x="698202" y="403813"/>
                  </a:lnTo>
                  <a:lnTo>
                    <a:pt x="682148" y="427631"/>
                  </a:lnTo>
                  <a:lnTo>
                    <a:pt x="658332" y="443690"/>
                  </a:lnTo>
                  <a:lnTo>
                    <a:pt x="629157" y="449580"/>
                  </a:lnTo>
                  <a:lnTo>
                    <a:pt x="74930" y="449580"/>
                  </a:lnTo>
                  <a:lnTo>
                    <a:pt x="45755" y="443690"/>
                  </a:lnTo>
                  <a:lnTo>
                    <a:pt x="21939" y="427631"/>
                  </a:lnTo>
                  <a:lnTo>
                    <a:pt x="5885" y="403813"/>
                  </a:lnTo>
                  <a:lnTo>
                    <a:pt x="0" y="374650"/>
                  </a:lnTo>
                  <a:lnTo>
                    <a:pt x="0" y="74930"/>
                  </a:lnTo>
                  <a:close/>
                </a:path>
              </a:pathLst>
            </a:custGeom>
            <a:ln w="25907">
              <a:solidFill>
                <a:srgbClr val="464646"/>
              </a:solidFill>
            </a:ln>
          </p:spPr>
          <p:txBody>
            <a:bodyPr wrap="square" lIns="0" tIns="0" rIns="0" bIns="0" rtlCol="0"/>
            <a:lstStyle/>
            <a:p>
              <a:endParaRPr/>
            </a:p>
          </p:txBody>
        </p:sp>
        <p:sp>
          <p:nvSpPr>
            <p:cNvPr id="14" name="object 14"/>
            <p:cNvSpPr/>
            <p:nvPr/>
          </p:nvSpPr>
          <p:spPr>
            <a:xfrm>
              <a:off x="1710690" y="3475482"/>
              <a:ext cx="704215" cy="449580"/>
            </a:xfrm>
            <a:custGeom>
              <a:avLst/>
              <a:gdLst/>
              <a:ahLst/>
              <a:cxnLst/>
              <a:rect l="l" t="t" r="r" b="b"/>
              <a:pathLst>
                <a:path w="704214" h="449579">
                  <a:moveTo>
                    <a:pt x="629158" y="0"/>
                  </a:moveTo>
                  <a:lnTo>
                    <a:pt x="74930" y="0"/>
                  </a:lnTo>
                  <a:lnTo>
                    <a:pt x="45755" y="5885"/>
                  </a:lnTo>
                  <a:lnTo>
                    <a:pt x="21939" y="21939"/>
                  </a:lnTo>
                  <a:lnTo>
                    <a:pt x="5885" y="45755"/>
                  </a:lnTo>
                  <a:lnTo>
                    <a:pt x="0" y="74930"/>
                  </a:lnTo>
                  <a:lnTo>
                    <a:pt x="0" y="374650"/>
                  </a:lnTo>
                  <a:lnTo>
                    <a:pt x="5885" y="403813"/>
                  </a:lnTo>
                  <a:lnTo>
                    <a:pt x="21939" y="427631"/>
                  </a:lnTo>
                  <a:lnTo>
                    <a:pt x="45755" y="443690"/>
                  </a:lnTo>
                  <a:lnTo>
                    <a:pt x="74930" y="449580"/>
                  </a:lnTo>
                  <a:lnTo>
                    <a:pt x="629158" y="449580"/>
                  </a:lnTo>
                  <a:lnTo>
                    <a:pt x="658332" y="443690"/>
                  </a:lnTo>
                  <a:lnTo>
                    <a:pt x="682148" y="427631"/>
                  </a:lnTo>
                  <a:lnTo>
                    <a:pt x="698202" y="403813"/>
                  </a:lnTo>
                  <a:lnTo>
                    <a:pt x="704088" y="374650"/>
                  </a:lnTo>
                  <a:lnTo>
                    <a:pt x="704088" y="74930"/>
                  </a:lnTo>
                  <a:lnTo>
                    <a:pt x="698202" y="45755"/>
                  </a:lnTo>
                  <a:lnTo>
                    <a:pt x="682148" y="21939"/>
                  </a:lnTo>
                  <a:lnTo>
                    <a:pt x="658332" y="5885"/>
                  </a:lnTo>
                  <a:lnTo>
                    <a:pt x="629158" y="0"/>
                  </a:lnTo>
                  <a:close/>
                </a:path>
              </a:pathLst>
            </a:custGeom>
            <a:solidFill>
              <a:srgbClr val="FFFFFF"/>
            </a:solidFill>
          </p:spPr>
          <p:txBody>
            <a:bodyPr wrap="square" lIns="0" tIns="0" rIns="0" bIns="0" rtlCol="0"/>
            <a:lstStyle/>
            <a:p>
              <a:endParaRPr/>
            </a:p>
          </p:txBody>
        </p:sp>
        <p:sp>
          <p:nvSpPr>
            <p:cNvPr id="15" name="object 15"/>
            <p:cNvSpPr/>
            <p:nvPr/>
          </p:nvSpPr>
          <p:spPr>
            <a:xfrm>
              <a:off x="1710690" y="3475482"/>
              <a:ext cx="704215" cy="449580"/>
            </a:xfrm>
            <a:custGeom>
              <a:avLst/>
              <a:gdLst/>
              <a:ahLst/>
              <a:cxnLst/>
              <a:rect l="l" t="t" r="r" b="b"/>
              <a:pathLst>
                <a:path w="704214" h="449579">
                  <a:moveTo>
                    <a:pt x="0" y="74930"/>
                  </a:moveTo>
                  <a:lnTo>
                    <a:pt x="5885" y="45755"/>
                  </a:lnTo>
                  <a:lnTo>
                    <a:pt x="21939" y="21939"/>
                  </a:lnTo>
                  <a:lnTo>
                    <a:pt x="45755" y="5885"/>
                  </a:lnTo>
                  <a:lnTo>
                    <a:pt x="74930" y="0"/>
                  </a:lnTo>
                  <a:lnTo>
                    <a:pt x="629158" y="0"/>
                  </a:lnTo>
                  <a:lnTo>
                    <a:pt x="658332" y="5885"/>
                  </a:lnTo>
                  <a:lnTo>
                    <a:pt x="682148" y="21939"/>
                  </a:lnTo>
                  <a:lnTo>
                    <a:pt x="698202" y="45755"/>
                  </a:lnTo>
                  <a:lnTo>
                    <a:pt x="704088" y="74930"/>
                  </a:lnTo>
                  <a:lnTo>
                    <a:pt x="704088" y="374650"/>
                  </a:lnTo>
                  <a:lnTo>
                    <a:pt x="698202" y="403813"/>
                  </a:lnTo>
                  <a:lnTo>
                    <a:pt x="682148" y="427631"/>
                  </a:lnTo>
                  <a:lnTo>
                    <a:pt x="658332" y="443690"/>
                  </a:lnTo>
                  <a:lnTo>
                    <a:pt x="629158" y="449580"/>
                  </a:lnTo>
                  <a:lnTo>
                    <a:pt x="74930" y="449580"/>
                  </a:lnTo>
                  <a:lnTo>
                    <a:pt x="45755" y="443690"/>
                  </a:lnTo>
                  <a:lnTo>
                    <a:pt x="21939" y="427631"/>
                  </a:lnTo>
                  <a:lnTo>
                    <a:pt x="5885" y="403813"/>
                  </a:lnTo>
                  <a:lnTo>
                    <a:pt x="0" y="374650"/>
                  </a:lnTo>
                  <a:lnTo>
                    <a:pt x="0" y="74930"/>
                  </a:lnTo>
                  <a:close/>
                </a:path>
              </a:pathLst>
            </a:custGeom>
            <a:ln w="25908">
              <a:solidFill>
                <a:srgbClr val="464646"/>
              </a:solidFill>
            </a:ln>
          </p:spPr>
          <p:txBody>
            <a:bodyPr wrap="square" lIns="0" tIns="0" rIns="0" bIns="0" rtlCol="0"/>
            <a:lstStyle/>
            <a:p>
              <a:endParaRPr/>
            </a:p>
          </p:txBody>
        </p:sp>
      </p:grpSp>
      <p:sp>
        <p:nvSpPr>
          <p:cNvPr id="16" name="object 16"/>
          <p:cNvSpPr txBox="1"/>
          <p:nvPr/>
        </p:nvSpPr>
        <p:spPr>
          <a:xfrm>
            <a:off x="1750567" y="3430371"/>
            <a:ext cx="1522095" cy="1275715"/>
          </a:xfrm>
          <a:prstGeom prst="rect">
            <a:avLst/>
          </a:prstGeom>
        </p:spPr>
        <p:txBody>
          <a:bodyPr vert="horz" wrap="square" lIns="0" tIns="127000" rIns="0" bIns="0" rtlCol="0">
            <a:spAutoFit/>
          </a:bodyPr>
          <a:lstStyle/>
          <a:p>
            <a:pPr marL="26670" algn="ctr">
              <a:lnSpc>
                <a:spcPct val="100000"/>
              </a:lnSpc>
              <a:spcBef>
                <a:spcPts val="1000"/>
              </a:spcBef>
              <a:tabLst>
                <a:tab pos="949960" algn="l"/>
              </a:tabLst>
            </a:pPr>
            <a:r>
              <a:rPr sz="1800" spc="-5" dirty="0">
                <a:solidFill>
                  <a:srgbClr val="464646"/>
                </a:solidFill>
                <a:latin typeface="Arial MT"/>
                <a:cs typeface="Arial MT"/>
              </a:rPr>
              <a:t>EC2	EC2</a:t>
            </a:r>
            <a:endParaRPr sz="1800">
              <a:latin typeface="Arial MT"/>
              <a:cs typeface="Arial MT"/>
            </a:endParaRPr>
          </a:p>
          <a:p>
            <a:pPr algn="ctr">
              <a:lnSpc>
                <a:spcPct val="100000"/>
              </a:lnSpc>
              <a:spcBef>
                <a:spcPts val="900"/>
              </a:spcBef>
            </a:pPr>
            <a:r>
              <a:rPr sz="1800" spc="-5" dirty="0">
                <a:solidFill>
                  <a:srgbClr val="464646"/>
                </a:solidFill>
                <a:latin typeface="Arial MT"/>
                <a:cs typeface="Arial MT"/>
              </a:rPr>
              <a:t>Private</a:t>
            </a:r>
            <a:r>
              <a:rPr sz="1800" spc="-40" dirty="0">
                <a:solidFill>
                  <a:srgbClr val="464646"/>
                </a:solidFill>
                <a:latin typeface="Arial MT"/>
                <a:cs typeface="Arial MT"/>
              </a:rPr>
              <a:t> </a:t>
            </a:r>
            <a:r>
              <a:rPr sz="1800" spc="-10" dirty="0">
                <a:solidFill>
                  <a:srgbClr val="464646"/>
                </a:solidFill>
                <a:latin typeface="Arial MT"/>
                <a:cs typeface="Arial MT"/>
              </a:rPr>
              <a:t>Subnet</a:t>
            </a:r>
            <a:endParaRPr sz="1800">
              <a:latin typeface="Arial MT"/>
              <a:cs typeface="Arial MT"/>
            </a:endParaRPr>
          </a:p>
          <a:p>
            <a:pPr marL="69850" algn="ctr">
              <a:lnSpc>
                <a:spcPct val="100000"/>
              </a:lnSpc>
              <a:spcBef>
                <a:spcPts val="1560"/>
              </a:spcBef>
            </a:pPr>
            <a:r>
              <a:rPr sz="1800" spc="-10" dirty="0">
                <a:solidFill>
                  <a:srgbClr val="464646"/>
                </a:solidFill>
                <a:latin typeface="Arial MT"/>
                <a:cs typeface="Arial MT"/>
              </a:rPr>
              <a:t>VPC</a:t>
            </a:r>
            <a:endParaRPr sz="1800">
              <a:latin typeface="Arial MT"/>
              <a:cs typeface="Arial MT"/>
            </a:endParaRPr>
          </a:p>
        </p:txBody>
      </p:sp>
      <p:sp>
        <p:nvSpPr>
          <p:cNvPr id="17" name="object 17"/>
          <p:cNvSpPr txBox="1"/>
          <p:nvPr/>
        </p:nvSpPr>
        <p:spPr>
          <a:xfrm>
            <a:off x="4991480" y="1204671"/>
            <a:ext cx="3625850" cy="574675"/>
          </a:xfrm>
          <a:prstGeom prst="rect">
            <a:avLst/>
          </a:prstGeom>
        </p:spPr>
        <p:txBody>
          <a:bodyPr vert="horz" wrap="square" lIns="0" tIns="12700" rIns="0" bIns="0" rtlCol="0">
            <a:spAutoFit/>
          </a:bodyPr>
          <a:lstStyle/>
          <a:p>
            <a:pPr marL="299085" indent="-287020">
              <a:lnSpc>
                <a:spcPct val="100000"/>
              </a:lnSpc>
              <a:spcBef>
                <a:spcPts val="100"/>
              </a:spcBef>
              <a:buChar char="•"/>
              <a:tabLst>
                <a:tab pos="299085" algn="l"/>
                <a:tab pos="299720" algn="l"/>
              </a:tabLst>
            </a:pPr>
            <a:r>
              <a:rPr sz="1800" spc="-10" dirty="0">
                <a:solidFill>
                  <a:srgbClr val="464646"/>
                </a:solidFill>
                <a:latin typeface="Arial MT"/>
                <a:cs typeface="Arial MT"/>
              </a:rPr>
              <a:t>Load </a:t>
            </a:r>
            <a:r>
              <a:rPr sz="1800" spc="-5" dirty="0">
                <a:solidFill>
                  <a:srgbClr val="464646"/>
                </a:solidFill>
                <a:latin typeface="Arial MT"/>
                <a:cs typeface="Arial MT"/>
              </a:rPr>
              <a:t>Balancer </a:t>
            </a:r>
            <a:r>
              <a:rPr sz="1800" dirty="0">
                <a:solidFill>
                  <a:srgbClr val="464646"/>
                </a:solidFill>
                <a:latin typeface="Arial MT"/>
                <a:cs typeface="Arial MT"/>
              </a:rPr>
              <a:t>is</a:t>
            </a:r>
            <a:r>
              <a:rPr sz="1800" spc="-15" dirty="0">
                <a:solidFill>
                  <a:srgbClr val="464646"/>
                </a:solidFill>
                <a:latin typeface="Arial MT"/>
                <a:cs typeface="Arial MT"/>
              </a:rPr>
              <a:t> </a:t>
            </a:r>
            <a:r>
              <a:rPr sz="1800" spc="-5" dirty="0">
                <a:solidFill>
                  <a:srgbClr val="464646"/>
                </a:solidFill>
                <a:latin typeface="Arial MT"/>
                <a:cs typeface="Arial MT"/>
              </a:rPr>
              <a:t>accessible</a:t>
            </a:r>
            <a:r>
              <a:rPr sz="1800" spc="5" dirty="0">
                <a:solidFill>
                  <a:srgbClr val="464646"/>
                </a:solidFill>
                <a:latin typeface="Arial MT"/>
                <a:cs typeface="Arial MT"/>
              </a:rPr>
              <a:t> </a:t>
            </a:r>
            <a:r>
              <a:rPr sz="1800" spc="-5" dirty="0">
                <a:solidFill>
                  <a:srgbClr val="464646"/>
                </a:solidFill>
                <a:latin typeface="Arial MT"/>
                <a:cs typeface="Arial MT"/>
              </a:rPr>
              <a:t>only</a:t>
            </a:r>
            <a:endParaRPr sz="1800">
              <a:latin typeface="Arial MT"/>
              <a:cs typeface="Arial MT"/>
            </a:endParaRPr>
          </a:p>
          <a:p>
            <a:pPr marL="299085">
              <a:lnSpc>
                <a:spcPct val="100000"/>
              </a:lnSpc>
              <a:spcBef>
                <a:spcPts val="5"/>
              </a:spcBef>
            </a:pPr>
            <a:r>
              <a:rPr sz="1800" spc="-5" dirty="0">
                <a:solidFill>
                  <a:srgbClr val="464646"/>
                </a:solidFill>
                <a:latin typeface="Arial MT"/>
                <a:cs typeface="Arial MT"/>
              </a:rPr>
              <a:t>inside</a:t>
            </a:r>
            <a:r>
              <a:rPr sz="1800" spc="-40" dirty="0">
                <a:solidFill>
                  <a:srgbClr val="464646"/>
                </a:solidFill>
                <a:latin typeface="Arial MT"/>
                <a:cs typeface="Arial MT"/>
              </a:rPr>
              <a:t> </a:t>
            </a:r>
            <a:r>
              <a:rPr sz="1800" dirty="0">
                <a:solidFill>
                  <a:srgbClr val="464646"/>
                </a:solidFill>
                <a:latin typeface="Arial MT"/>
                <a:cs typeface="Arial MT"/>
              </a:rPr>
              <a:t>VPC</a:t>
            </a:r>
            <a:endParaRPr sz="1800">
              <a:latin typeface="Arial MT"/>
              <a:cs typeface="Arial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02741" y="1259586"/>
            <a:ext cx="3850004" cy="3451860"/>
          </a:xfrm>
          <a:custGeom>
            <a:avLst/>
            <a:gdLst/>
            <a:ahLst/>
            <a:cxnLst/>
            <a:rect l="l" t="t" r="r" b="b"/>
            <a:pathLst>
              <a:path w="3850004" h="3451860">
                <a:moveTo>
                  <a:pt x="0" y="575310"/>
                </a:moveTo>
                <a:lnTo>
                  <a:pt x="1907" y="528123"/>
                </a:lnTo>
                <a:lnTo>
                  <a:pt x="7530" y="481987"/>
                </a:lnTo>
                <a:lnTo>
                  <a:pt x="16720" y="437050"/>
                </a:lnTo>
                <a:lnTo>
                  <a:pt x="29330" y="393460"/>
                </a:lnTo>
                <a:lnTo>
                  <a:pt x="45211" y="351365"/>
                </a:lnTo>
                <a:lnTo>
                  <a:pt x="64216" y="310913"/>
                </a:lnTo>
                <a:lnTo>
                  <a:pt x="86196" y="272252"/>
                </a:lnTo>
                <a:lnTo>
                  <a:pt x="111004" y="235531"/>
                </a:lnTo>
                <a:lnTo>
                  <a:pt x="138490" y="200896"/>
                </a:lnTo>
                <a:lnTo>
                  <a:pt x="168508" y="168497"/>
                </a:lnTo>
                <a:lnTo>
                  <a:pt x="200909" y="138481"/>
                </a:lnTo>
                <a:lnTo>
                  <a:pt x="235544" y="110995"/>
                </a:lnTo>
                <a:lnTo>
                  <a:pt x="272267" y="86190"/>
                </a:lnTo>
                <a:lnTo>
                  <a:pt x="310929" y="64211"/>
                </a:lnTo>
                <a:lnTo>
                  <a:pt x="351381" y="45208"/>
                </a:lnTo>
                <a:lnTo>
                  <a:pt x="393476" y="29327"/>
                </a:lnTo>
                <a:lnTo>
                  <a:pt x="437066" y="16718"/>
                </a:lnTo>
                <a:lnTo>
                  <a:pt x="482002" y="7529"/>
                </a:lnTo>
                <a:lnTo>
                  <a:pt x="528137" y="1907"/>
                </a:lnTo>
                <a:lnTo>
                  <a:pt x="575322" y="0"/>
                </a:lnTo>
                <a:lnTo>
                  <a:pt x="3274314" y="0"/>
                </a:lnTo>
                <a:lnTo>
                  <a:pt x="3321500" y="1907"/>
                </a:lnTo>
                <a:lnTo>
                  <a:pt x="3367636" y="7529"/>
                </a:lnTo>
                <a:lnTo>
                  <a:pt x="3412573" y="16718"/>
                </a:lnTo>
                <a:lnTo>
                  <a:pt x="3456163" y="29327"/>
                </a:lnTo>
                <a:lnTo>
                  <a:pt x="3498258" y="45208"/>
                </a:lnTo>
                <a:lnTo>
                  <a:pt x="3538710" y="64211"/>
                </a:lnTo>
                <a:lnTo>
                  <a:pt x="3577371" y="86190"/>
                </a:lnTo>
                <a:lnTo>
                  <a:pt x="3614092" y="110995"/>
                </a:lnTo>
                <a:lnTo>
                  <a:pt x="3648727" y="138481"/>
                </a:lnTo>
                <a:lnTo>
                  <a:pt x="3681126" y="168497"/>
                </a:lnTo>
                <a:lnTo>
                  <a:pt x="3711142" y="200896"/>
                </a:lnTo>
                <a:lnTo>
                  <a:pt x="3738628" y="235531"/>
                </a:lnTo>
                <a:lnTo>
                  <a:pt x="3763433" y="272252"/>
                </a:lnTo>
                <a:lnTo>
                  <a:pt x="3785412" y="310913"/>
                </a:lnTo>
                <a:lnTo>
                  <a:pt x="3804415" y="351365"/>
                </a:lnTo>
                <a:lnTo>
                  <a:pt x="3820296" y="393460"/>
                </a:lnTo>
                <a:lnTo>
                  <a:pt x="3832905" y="437050"/>
                </a:lnTo>
                <a:lnTo>
                  <a:pt x="3842094" y="481987"/>
                </a:lnTo>
                <a:lnTo>
                  <a:pt x="3847716" y="528123"/>
                </a:lnTo>
                <a:lnTo>
                  <a:pt x="3849624" y="575310"/>
                </a:lnTo>
                <a:lnTo>
                  <a:pt x="3849624" y="2876537"/>
                </a:lnTo>
                <a:lnTo>
                  <a:pt x="3847716" y="2923722"/>
                </a:lnTo>
                <a:lnTo>
                  <a:pt x="3842094" y="2969857"/>
                </a:lnTo>
                <a:lnTo>
                  <a:pt x="3832905" y="3014793"/>
                </a:lnTo>
                <a:lnTo>
                  <a:pt x="3820296" y="3058383"/>
                </a:lnTo>
                <a:lnTo>
                  <a:pt x="3804415" y="3100478"/>
                </a:lnTo>
                <a:lnTo>
                  <a:pt x="3785412" y="3140930"/>
                </a:lnTo>
                <a:lnTo>
                  <a:pt x="3763433" y="3179592"/>
                </a:lnTo>
                <a:lnTo>
                  <a:pt x="3738628" y="3216315"/>
                </a:lnTo>
                <a:lnTo>
                  <a:pt x="3711142" y="3250950"/>
                </a:lnTo>
                <a:lnTo>
                  <a:pt x="3681126" y="3283351"/>
                </a:lnTo>
                <a:lnTo>
                  <a:pt x="3648727" y="3313369"/>
                </a:lnTo>
                <a:lnTo>
                  <a:pt x="3614092" y="3340855"/>
                </a:lnTo>
                <a:lnTo>
                  <a:pt x="3577371" y="3365663"/>
                </a:lnTo>
                <a:lnTo>
                  <a:pt x="3538710" y="3387643"/>
                </a:lnTo>
                <a:lnTo>
                  <a:pt x="3498258" y="3406648"/>
                </a:lnTo>
                <a:lnTo>
                  <a:pt x="3456163" y="3422529"/>
                </a:lnTo>
                <a:lnTo>
                  <a:pt x="3412573" y="3435139"/>
                </a:lnTo>
                <a:lnTo>
                  <a:pt x="3367636" y="3444329"/>
                </a:lnTo>
                <a:lnTo>
                  <a:pt x="3321500" y="3449952"/>
                </a:lnTo>
                <a:lnTo>
                  <a:pt x="3274314" y="3451860"/>
                </a:lnTo>
                <a:lnTo>
                  <a:pt x="575322" y="3451860"/>
                </a:lnTo>
                <a:lnTo>
                  <a:pt x="528137" y="3449952"/>
                </a:lnTo>
                <a:lnTo>
                  <a:pt x="482002" y="3444329"/>
                </a:lnTo>
                <a:lnTo>
                  <a:pt x="437066" y="3435139"/>
                </a:lnTo>
                <a:lnTo>
                  <a:pt x="393476" y="3422529"/>
                </a:lnTo>
                <a:lnTo>
                  <a:pt x="351381" y="3406648"/>
                </a:lnTo>
                <a:lnTo>
                  <a:pt x="310929" y="3387643"/>
                </a:lnTo>
                <a:lnTo>
                  <a:pt x="272267" y="3365663"/>
                </a:lnTo>
                <a:lnTo>
                  <a:pt x="235544" y="3340855"/>
                </a:lnTo>
                <a:lnTo>
                  <a:pt x="200909" y="3313369"/>
                </a:lnTo>
                <a:lnTo>
                  <a:pt x="168508" y="3283351"/>
                </a:lnTo>
                <a:lnTo>
                  <a:pt x="138490" y="3250950"/>
                </a:lnTo>
                <a:lnTo>
                  <a:pt x="111004" y="3216315"/>
                </a:lnTo>
                <a:lnTo>
                  <a:pt x="86196" y="3179592"/>
                </a:lnTo>
                <a:lnTo>
                  <a:pt x="64216" y="3140930"/>
                </a:lnTo>
                <a:lnTo>
                  <a:pt x="45211" y="3100478"/>
                </a:lnTo>
                <a:lnTo>
                  <a:pt x="29330" y="3058383"/>
                </a:lnTo>
                <a:lnTo>
                  <a:pt x="16720" y="3014793"/>
                </a:lnTo>
                <a:lnTo>
                  <a:pt x="7530" y="2969857"/>
                </a:lnTo>
                <a:lnTo>
                  <a:pt x="1907" y="2923722"/>
                </a:lnTo>
                <a:lnTo>
                  <a:pt x="0" y="2876537"/>
                </a:lnTo>
                <a:lnTo>
                  <a:pt x="0" y="575310"/>
                </a:lnTo>
                <a:close/>
              </a:path>
            </a:pathLst>
          </a:custGeom>
          <a:ln w="25908">
            <a:solidFill>
              <a:srgbClr val="464646"/>
            </a:solidFill>
          </a:ln>
        </p:spPr>
        <p:txBody>
          <a:bodyPr wrap="square" lIns="0" tIns="0" rIns="0" bIns="0" rtlCol="0"/>
          <a:lstStyle/>
          <a:p>
            <a:endParaRPr/>
          </a:p>
        </p:txBody>
      </p:sp>
      <p:sp>
        <p:nvSpPr>
          <p:cNvPr id="3" name="object 3"/>
          <p:cNvSpPr txBox="1"/>
          <p:nvPr/>
        </p:nvSpPr>
        <p:spPr>
          <a:xfrm>
            <a:off x="2279395" y="4203598"/>
            <a:ext cx="495300" cy="30035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VPC</a:t>
            </a:r>
            <a:endParaRPr sz="1800">
              <a:latin typeface="Arial MT"/>
              <a:cs typeface="Arial MT"/>
            </a:endParaRPr>
          </a:p>
        </p:txBody>
      </p:sp>
      <p:sp>
        <p:nvSpPr>
          <p:cNvPr id="4" name="object 4"/>
          <p:cNvSpPr txBox="1">
            <a:spLocks noGrp="1"/>
          </p:cNvSpPr>
          <p:nvPr>
            <p:ph type="title"/>
          </p:nvPr>
        </p:nvSpPr>
        <p:spPr>
          <a:xfrm>
            <a:off x="415544" y="139065"/>
            <a:ext cx="572325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Elastic</a:t>
            </a:r>
            <a:r>
              <a:rPr u="none" dirty="0">
                <a:solidFill>
                  <a:srgbClr val="4D4D4B"/>
                </a:solidFill>
              </a:rPr>
              <a:t> </a:t>
            </a:r>
            <a:r>
              <a:rPr u="none" spc="-5" dirty="0">
                <a:solidFill>
                  <a:srgbClr val="4D4D4B"/>
                </a:solidFill>
              </a:rPr>
              <a:t>Load</a:t>
            </a:r>
            <a:r>
              <a:rPr u="none" spc="10" dirty="0">
                <a:solidFill>
                  <a:srgbClr val="4D4D4B"/>
                </a:solidFill>
              </a:rPr>
              <a:t> </a:t>
            </a:r>
            <a:r>
              <a:rPr u="none" spc="-5" dirty="0">
                <a:solidFill>
                  <a:srgbClr val="4D4D4B"/>
                </a:solidFill>
              </a:rPr>
              <a:t>Balancing</a:t>
            </a:r>
            <a:r>
              <a:rPr u="none" spc="30" dirty="0">
                <a:solidFill>
                  <a:srgbClr val="4D4D4B"/>
                </a:solidFill>
              </a:rPr>
              <a:t> </a:t>
            </a:r>
            <a:r>
              <a:rPr u="none" spc="-5" dirty="0">
                <a:solidFill>
                  <a:srgbClr val="4D4D4B"/>
                </a:solidFill>
              </a:rPr>
              <a:t>–</a:t>
            </a:r>
            <a:r>
              <a:rPr u="none" dirty="0">
                <a:solidFill>
                  <a:srgbClr val="4D4D4B"/>
                </a:solidFill>
              </a:rPr>
              <a:t> Security</a:t>
            </a:r>
          </a:p>
        </p:txBody>
      </p:sp>
      <p:sp>
        <p:nvSpPr>
          <p:cNvPr id="5" name="object 5"/>
          <p:cNvSpPr/>
          <p:nvPr/>
        </p:nvSpPr>
        <p:spPr>
          <a:xfrm>
            <a:off x="791718" y="1875282"/>
            <a:ext cx="3421379" cy="546100"/>
          </a:xfrm>
          <a:custGeom>
            <a:avLst/>
            <a:gdLst/>
            <a:ahLst/>
            <a:cxnLst/>
            <a:rect l="l" t="t" r="r" b="b"/>
            <a:pathLst>
              <a:path w="3421379" h="546100">
                <a:moveTo>
                  <a:pt x="0" y="90931"/>
                </a:moveTo>
                <a:lnTo>
                  <a:pt x="7146" y="55560"/>
                </a:lnTo>
                <a:lnTo>
                  <a:pt x="26635" y="26654"/>
                </a:lnTo>
                <a:lnTo>
                  <a:pt x="55539" y="7153"/>
                </a:lnTo>
                <a:lnTo>
                  <a:pt x="90931" y="0"/>
                </a:lnTo>
                <a:lnTo>
                  <a:pt x="3330448" y="0"/>
                </a:lnTo>
                <a:lnTo>
                  <a:pt x="3365819" y="7153"/>
                </a:lnTo>
                <a:lnTo>
                  <a:pt x="3394725" y="26654"/>
                </a:lnTo>
                <a:lnTo>
                  <a:pt x="3414226" y="55560"/>
                </a:lnTo>
                <a:lnTo>
                  <a:pt x="3421379" y="90931"/>
                </a:lnTo>
                <a:lnTo>
                  <a:pt x="3421379" y="454659"/>
                </a:lnTo>
                <a:lnTo>
                  <a:pt x="3414226" y="490031"/>
                </a:lnTo>
                <a:lnTo>
                  <a:pt x="3394725" y="518937"/>
                </a:lnTo>
                <a:lnTo>
                  <a:pt x="3365819" y="538438"/>
                </a:lnTo>
                <a:lnTo>
                  <a:pt x="3330448" y="545591"/>
                </a:lnTo>
                <a:lnTo>
                  <a:pt x="90931" y="545591"/>
                </a:lnTo>
                <a:lnTo>
                  <a:pt x="55539" y="538438"/>
                </a:lnTo>
                <a:lnTo>
                  <a:pt x="26635" y="518937"/>
                </a:lnTo>
                <a:lnTo>
                  <a:pt x="7146" y="490031"/>
                </a:lnTo>
                <a:lnTo>
                  <a:pt x="0" y="454659"/>
                </a:lnTo>
                <a:lnTo>
                  <a:pt x="0" y="90931"/>
                </a:lnTo>
                <a:close/>
              </a:path>
            </a:pathLst>
          </a:custGeom>
          <a:ln w="25907">
            <a:solidFill>
              <a:srgbClr val="464646"/>
            </a:solidFill>
          </a:ln>
        </p:spPr>
        <p:txBody>
          <a:bodyPr wrap="square" lIns="0" tIns="0" rIns="0" bIns="0" rtlCol="0"/>
          <a:lstStyle/>
          <a:p>
            <a:endParaRPr/>
          </a:p>
        </p:txBody>
      </p:sp>
      <p:sp>
        <p:nvSpPr>
          <p:cNvPr id="6" name="object 6"/>
          <p:cNvSpPr txBox="1"/>
          <p:nvPr/>
        </p:nvSpPr>
        <p:spPr>
          <a:xfrm>
            <a:off x="1386077" y="1991614"/>
            <a:ext cx="223266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Elastic</a:t>
            </a:r>
            <a:r>
              <a:rPr sz="1800" spc="-30" dirty="0">
                <a:solidFill>
                  <a:srgbClr val="464646"/>
                </a:solidFill>
                <a:latin typeface="Arial MT"/>
                <a:cs typeface="Arial MT"/>
              </a:rPr>
              <a:t> </a:t>
            </a:r>
            <a:r>
              <a:rPr sz="1800" spc="-5" dirty="0">
                <a:solidFill>
                  <a:srgbClr val="464646"/>
                </a:solidFill>
                <a:latin typeface="Arial MT"/>
                <a:cs typeface="Arial MT"/>
              </a:rPr>
              <a:t>Load</a:t>
            </a:r>
            <a:r>
              <a:rPr sz="1800" spc="-20" dirty="0">
                <a:solidFill>
                  <a:srgbClr val="464646"/>
                </a:solidFill>
                <a:latin typeface="Arial MT"/>
                <a:cs typeface="Arial MT"/>
              </a:rPr>
              <a:t> </a:t>
            </a:r>
            <a:r>
              <a:rPr sz="1800" spc="-5" dirty="0">
                <a:solidFill>
                  <a:srgbClr val="464646"/>
                </a:solidFill>
                <a:latin typeface="Arial MT"/>
                <a:cs typeface="Arial MT"/>
              </a:rPr>
              <a:t>Balancer</a:t>
            </a:r>
            <a:endParaRPr sz="1800">
              <a:latin typeface="Arial MT"/>
              <a:cs typeface="Arial MT"/>
            </a:endParaRPr>
          </a:p>
        </p:txBody>
      </p:sp>
      <p:grpSp>
        <p:nvGrpSpPr>
          <p:cNvPr id="7" name="object 7"/>
          <p:cNvGrpSpPr/>
          <p:nvPr/>
        </p:nvGrpSpPr>
        <p:grpSpPr>
          <a:xfrm>
            <a:off x="1802828" y="2319540"/>
            <a:ext cx="1399540" cy="1763395"/>
            <a:chOff x="1802828" y="2319540"/>
            <a:chExt cx="1399540" cy="1763395"/>
          </a:xfrm>
        </p:grpSpPr>
        <p:pic>
          <p:nvPicPr>
            <p:cNvPr id="8" name="object 8"/>
            <p:cNvPicPr/>
            <p:nvPr/>
          </p:nvPicPr>
          <p:blipFill>
            <a:blip r:embed="rId3" cstate="print"/>
            <a:stretch>
              <a:fillRect/>
            </a:stretch>
          </p:blipFill>
          <p:spPr>
            <a:xfrm>
              <a:off x="2380488" y="2319540"/>
              <a:ext cx="246964" cy="1095743"/>
            </a:xfrm>
            <a:prstGeom prst="rect">
              <a:avLst/>
            </a:prstGeom>
          </p:spPr>
        </p:pic>
        <p:sp>
          <p:nvSpPr>
            <p:cNvPr id="9" name="object 9"/>
            <p:cNvSpPr/>
            <p:nvPr/>
          </p:nvSpPr>
          <p:spPr>
            <a:xfrm>
              <a:off x="2463673" y="2420874"/>
              <a:ext cx="85725" cy="857885"/>
            </a:xfrm>
            <a:custGeom>
              <a:avLst/>
              <a:gdLst/>
              <a:ahLst/>
              <a:cxnLst/>
              <a:rect l="l" t="t" r="r" b="b"/>
              <a:pathLst>
                <a:path w="85725" h="857885">
                  <a:moveTo>
                    <a:pt x="33890" y="780372"/>
                  </a:moveTo>
                  <a:lnTo>
                    <a:pt x="8000" y="780669"/>
                  </a:lnTo>
                  <a:lnTo>
                    <a:pt x="47751" y="857884"/>
                  </a:lnTo>
                  <a:lnTo>
                    <a:pt x="79180" y="793242"/>
                  </a:lnTo>
                  <a:lnTo>
                    <a:pt x="34035" y="793242"/>
                  </a:lnTo>
                  <a:lnTo>
                    <a:pt x="33890" y="780372"/>
                  </a:lnTo>
                  <a:close/>
                </a:path>
                <a:path w="85725" h="857885">
                  <a:moveTo>
                    <a:pt x="59797" y="780076"/>
                  </a:moveTo>
                  <a:lnTo>
                    <a:pt x="33890" y="780372"/>
                  </a:lnTo>
                  <a:lnTo>
                    <a:pt x="34035" y="793242"/>
                  </a:lnTo>
                  <a:lnTo>
                    <a:pt x="59943" y="792988"/>
                  </a:lnTo>
                  <a:lnTo>
                    <a:pt x="59797" y="780076"/>
                  </a:lnTo>
                  <a:close/>
                </a:path>
                <a:path w="85725" h="857885">
                  <a:moveTo>
                    <a:pt x="85725" y="779780"/>
                  </a:moveTo>
                  <a:lnTo>
                    <a:pt x="59797" y="780076"/>
                  </a:lnTo>
                  <a:lnTo>
                    <a:pt x="59943" y="792988"/>
                  </a:lnTo>
                  <a:lnTo>
                    <a:pt x="34035" y="793242"/>
                  </a:lnTo>
                  <a:lnTo>
                    <a:pt x="79180" y="793242"/>
                  </a:lnTo>
                  <a:lnTo>
                    <a:pt x="85725" y="779780"/>
                  </a:lnTo>
                  <a:close/>
                </a:path>
                <a:path w="85725" h="857885">
                  <a:moveTo>
                    <a:pt x="51834" y="77512"/>
                  </a:moveTo>
                  <a:lnTo>
                    <a:pt x="25927" y="77808"/>
                  </a:lnTo>
                  <a:lnTo>
                    <a:pt x="33890" y="780372"/>
                  </a:lnTo>
                  <a:lnTo>
                    <a:pt x="59797" y="780076"/>
                  </a:lnTo>
                  <a:lnTo>
                    <a:pt x="51834" y="77512"/>
                  </a:lnTo>
                  <a:close/>
                </a:path>
                <a:path w="85725" h="857885">
                  <a:moveTo>
                    <a:pt x="37972" y="0"/>
                  </a:moveTo>
                  <a:lnTo>
                    <a:pt x="0" y="78105"/>
                  </a:lnTo>
                  <a:lnTo>
                    <a:pt x="25927" y="77808"/>
                  </a:lnTo>
                  <a:lnTo>
                    <a:pt x="25781" y="64896"/>
                  </a:lnTo>
                  <a:lnTo>
                    <a:pt x="71251" y="64643"/>
                  </a:lnTo>
                  <a:lnTo>
                    <a:pt x="37972" y="0"/>
                  </a:lnTo>
                  <a:close/>
                </a:path>
                <a:path w="85725" h="857885">
                  <a:moveTo>
                    <a:pt x="51688" y="64643"/>
                  </a:moveTo>
                  <a:lnTo>
                    <a:pt x="25781" y="64896"/>
                  </a:lnTo>
                  <a:lnTo>
                    <a:pt x="25927" y="77808"/>
                  </a:lnTo>
                  <a:lnTo>
                    <a:pt x="51834" y="77512"/>
                  </a:lnTo>
                  <a:lnTo>
                    <a:pt x="51688" y="64643"/>
                  </a:lnTo>
                  <a:close/>
                </a:path>
                <a:path w="85725" h="857885">
                  <a:moveTo>
                    <a:pt x="71251" y="64643"/>
                  </a:moveTo>
                  <a:lnTo>
                    <a:pt x="51688" y="64643"/>
                  </a:lnTo>
                  <a:lnTo>
                    <a:pt x="51834" y="77512"/>
                  </a:lnTo>
                  <a:lnTo>
                    <a:pt x="77724" y="77215"/>
                  </a:lnTo>
                  <a:lnTo>
                    <a:pt x="71251" y="64643"/>
                  </a:lnTo>
                  <a:close/>
                </a:path>
              </a:pathLst>
            </a:custGeom>
            <a:solidFill>
              <a:srgbClr val="FBB64B"/>
            </a:solidFill>
          </p:spPr>
          <p:txBody>
            <a:bodyPr wrap="square" lIns="0" tIns="0" rIns="0" bIns="0" rtlCol="0"/>
            <a:lstStyle/>
            <a:p>
              <a:endParaRPr/>
            </a:p>
          </p:txBody>
        </p:sp>
        <p:sp>
          <p:nvSpPr>
            <p:cNvPr id="10" name="object 10"/>
            <p:cNvSpPr/>
            <p:nvPr/>
          </p:nvSpPr>
          <p:spPr>
            <a:xfrm>
              <a:off x="1815846" y="3278886"/>
              <a:ext cx="1373505" cy="791210"/>
            </a:xfrm>
            <a:custGeom>
              <a:avLst/>
              <a:gdLst/>
              <a:ahLst/>
              <a:cxnLst/>
              <a:rect l="l" t="t" r="r" b="b"/>
              <a:pathLst>
                <a:path w="1373505" h="791210">
                  <a:moveTo>
                    <a:pt x="1241298" y="0"/>
                  </a:moveTo>
                  <a:lnTo>
                    <a:pt x="131826" y="0"/>
                  </a:lnTo>
                  <a:lnTo>
                    <a:pt x="90172" y="6723"/>
                  </a:lnTo>
                  <a:lnTo>
                    <a:pt x="53986" y="25444"/>
                  </a:lnTo>
                  <a:lnTo>
                    <a:pt x="25444" y="53986"/>
                  </a:lnTo>
                  <a:lnTo>
                    <a:pt x="6723" y="90172"/>
                  </a:lnTo>
                  <a:lnTo>
                    <a:pt x="0" y="131825"/>
                  </a:lnTo>
                  <a:lnTo>
                    <a:pt x="0" y="659129"/>
                  </a:lnTo>
                  <a:lnTo>
                    <a:pt x="6723" y="700798"/>
                  </a:lnTo>
                  <a:lnTo>
                    <a:pt x="25444" y="736986"/>
                  </a:lnTo>
                  <a:lnTo>
                    <a:pt x="53986" y="765522"/>
                  </a:lnTo>
                  <a:lnTo>
                    <a:pt x="90172" y="784235"/>
                  </a:lnTo>
                  <a:lnTo>
                    <a:pt x="131826" y="790955"/>
                  </a:lnTo>
                  <a:lnTo>
                    <a:pt x="1241298" y="790955"/>
                  </a:lnTo>
                  <a:lnTo>
                    <a:pt x="1282951" y="784235"/>
                  </a:lnTo>
                  <a:lnTo>
                    <a:pt x="1319137" y="765522"/>
                  </a:lnTo>
                  <a:lnTo>
                    <a:pt x="1347679" y="736986"/>
                  </a:lnTo>
                  <a:lnTo>
                    <a:pt x="1366400" y="700798"/>
                  </a:lnTo>
                  <a:lnTo>
                    <a:pt x="1373124" y="659129"/>
                  </a:lnTo>
                  <a:lnTo>
                    <a:pt x="1373124" y="131825"/>
                  </a:lnTo>
                  <a:lnTo>
                    <a:pt x="1366400" y="90172"/>
                  </a:lnTo>
                  <a:lnTo>
                    <a:pt x="1347679" y="53986"/>
                  </a:lnTo>
                  <a:lnTo>
                    <a:pt x="1319137" y="25444"/>
                  </a:lnTo>
                  <a:lnTo>
                    <a:pt x="1282951" y="6723"/>
                  </a:lnTo>
                  <a:lnTo>
                    <a:pt x="1241298" y="0"/>
                  </a:lnTo>
                  <a:close/>
                </a:path>
              </a:pathLst>
            </a:custGeom>
            <a:solidFill>
              <a:srgbClr val="FFFFFF"/>
            </a:solidFill>
          </p:spPr>
          <p:txBody>
            <a:bodyPr wrap="square" lIns="0" tIns="0" rIns="0" bIns="0" rtlCol="0"/>
            <a:lstStyle/>
            <a:p>
              <a:endParaRPr/>
            </a:p>
          </p:txBody>
        </p:sp>
        <p:sp>
          <p:nvSpPr>
            <p:cNvPr id="11" name="object 11"/>
            <p:cNvSpPr/>
            <p:nvPr/>
          </p:nvSpPr>
          <p:spPr>
            <a:xfrm>
              <a:off x="1815846" y="3278886"/>
              <a:ext cx="1373505" cy="791210"/>
            </a:xfrm>
            <a:custGeom>
              <a:avLst/>
              <a:gdLst/>
              <a:ahLst/>
              <a:cxnLst/>
              <a:rect l="l" t="t" r="r" b="b"/>
              <a:pathLst>
                <a:path w="1373505" h="791210">
                  <a:moveTo>
                    <a:pt x="0" y="131825"/>
                  </a:moveTo>
                  <a:lnTo>
                    <a:pt x="6723" y="90172"/>
                  </a:lnTo>
                  <a:lnTo>
                    <a:pt x="25444" y="53986"/>
                  </a:lnTo>
                  <a:lnTo>
                    <a:pt x="53986" y="25444"/>
                  </a:lnTo>
                  <a:lnTo>
                    <a:pt x="90172" y="6723"/>
                  </a:lnTo>
                  <a:lnTo>
                    <a:pt x="131826" y="0"/>
                  </a:lnTo>
                  <a:lnTo>
                    <a:pt x="1241298" y="0"/>
                  </a:lnTo>
                  <a:lnTo>
                    <a:pt x="1282951" y="6723"/>
                  </a:lnTo>
                  <a:lnTo>
                    <a:pt x="1319137" y="25444"/>
                  </a:lnTo>
                  <a:lnTo>
                    <a:pt x="1347679" y="53986"/>
                  </a:lnTo>
                  <a:lnTo>
                    <a:pt x="1366400" y="90172"/>
                  </a:lnTo>
                  <a:lnTo>
                    <a:pt x="1373124" y="131825"/>
                  </a:lnTo>
                  <a:lnTo>
                    <a:pt x="1373124" y="659129"/>
                  </a:lnTo>
                  <a:lnTo>
                    <a:pt x="1366400" y="700798"/>
                  </a:lnTo>
                  <a:lnTo>
                    <a:pt x="1347679" y="736986"/>
                  </a:lnTo>
                  <a:lnTo>
                    <a:pt x="1319137" y="765522"/>
                  </a:lnTo>
                  <a:lnTo>
                    <a:pt x="1282951" y="784235"/>
                  </a:lnTo>
                  <a:lnTo>
                    <a:pt x="1241298" y="790955"/>
                  </a:lnTo>
                  <a:lnTo>
                    <a:pt x="131826" y="790955"/>
                  </a:lnTo>
                  <a:lnTo>
                    <a:pt x="90172" y="784235"/>
                  </a:lnTo>
                  <a:lnTo>
                    <a:pt x="53986" y="765522"/>
                  </a:lnTo>
                  <a:lnTo>
                    <a:pt x="25444" y="736986"/>
                  </a:lnTo>
                  <a:lnTo>
                    <a:pt x="6723" y="700798"/>
                  </a:lnTo>
                  <a:lnTo>
                    <a:pt x="0" y="659129"/>
                  </a:lnTo>
                  <a:lnTo>
                    <a:pt x="0" y="131825"/>
                  </a:lnTo>
                  <a:close/>
                </a:path>
              </a:pathLst>
            </a:custGeom>
            <a:ln w="25908">
              <a:solidFill>
                <a:srgbClr val="464646"/>
              </a:solidFill>
            </a:ln>
          </p:spPr>
          <p:txBody>
            <a:bodyPr wrap="square" lIns="0" tIns="0" rIns="0" bIns="0" rtlCol="0"/>
            <a:lstStyle/>
            <a:p>
              <a:endParaRPr/>
            </a:p>
          </p:txBody>
        </p:sp>
      </p:grpSp>
      <p:sp>
        <p:nvSpPr>
          <p:cNvPr id="12" name="object 12"/>
          <p:cNvSpPr txBox="1"/>
          <p:nvPr/>
        </p:nvSpPr>
        <p:spPr>
          <a:xfrm>
            <a:off x="2267204" y="3519042"/>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grpSp>
        <p:nvGrpSpPr>
          <p:cNvPr id="13" name="object 13"/>
          <p:cNvGrpSpPr/>
          <p:nvPr/>
        </p:nvGrpSpPr>
        <p:grpSpPr>
          <a:xfrm>
            <a:off x="2380488" y="641604"/>
            <a:ext cx="247015" cy="1370330"/>
            <a:chOff x="2380488" y="641604"/>
            <a:chExt cx="247015" cy="1370330"/>
          </a:xfrm>
        </p:grpSpPr>
        <p:pic>
          <p:nvPicPr>
            <p:cNvPr id="14" name="object 14"/>
            <p:cNvPicPr/>
            <p:nvPr/>
          </p:nvPicPr>
          <p:blipFill>
            <a:blip r:embed="rId4" cstate="print"/>
            <a:stretch>
              <a:fillRect/>
            </a:stretch>
          </p:blipFill>
          <p:spPr>
            <a:xfrm>
              <a:off x="2380488" y="641604"/>
              <a:ext cx="246964" cy="1370076"/>
            </a:xfrm>
            <a:prstGeom prst="rect">
              <a:avLst/>
            </a:prstGeom>
          </p:spPr>
        </p:pic>
        <p:sp>
          <p:nvSpPr>
            <p:cNvPr id="15" name="object 15"/>
            <p:cNvSpPr/>
            <p:nvPr/>
          </p:nvSpPr>
          <p:spPr>
            <a:xfrm>
              <a:off x="2463419" y="742950"/>
              <a:ext cx="86360" cy="1132205"/>
            </a:xfrm>
            <a:custGeom>
              <a:avLst/>
              <a:gdLst/>
              <a:ahLst/>
              <a:cxnLst/>
              <a:rect l="l" t="t" r="r" b="b"/>
              <a:pathLst>
                <a:path w="86360" h="1132205">
                  <a:moveTo>
                    <a:pt x="0" y="1054227"/>
                  </a:moveTo>
                  <a:lnTo>
                    <a:pt x="38226" y="1132204"/>
                  </a:lnTo>
                  <a:lnTo>
                    <a:pt x="71238" y="1067562"/>
                  </a:lnTo>
                  <a:lnTo>
                    <a:pt x="51688" y="1067562"/>
                  </a:lnTo>
                  <a:lnTo>
                    <a:pt x="25781" y="1067308"/>
                  </a:lnTo>
                  <a:lnTo>
                    <a:pt x="25891" y="1054438"/>
                  </a:lnTo>
                  <a:lnTo>
                    <a:pt x="0" y="1054227"/>
                  </a:lnTo>
                  <a:close/>
                </a:path>
                <a:path w="86360" h="1132205">
                  <a:moveTo>
                    <a:pt x="25891" y="1054438"/>
                  </a:moveTo>
                  <a:lnTo>
                    <a:pt x="25781" y="1067308"/>
                  </a:lnTo>
                  <a:lnTo>
                    <a:pt x="51688" y="1067562"/>
                  </a:lnTo>
                  <a:lnTo>
                    <a:pt x="51800" y="1054650"/>
                  </a:lnTo>
                  <a:lnTo>
                    <a:pt x="25891" y="1054438"/>
                  </a:lnTo>
                  <a:close/>
                </a:path>
                <a:path w="86360" h="1132205">
                  <a:moveTo>
                    <a:pt x="51800" y="1054650"/>
                  </a:moveTo>
                  <a:lnTo>
                    <a:pt x="51688" y="1067562"/>
                  </a:lnTo>
                  <a:lnTo>
                    <a:pt x="71238" y="1067562"/>
                  </a:lnTo>
                  <a:lnTo>
                    <a:pt x="77724" y="1054862"/>
                  </a:lnTo>
                  <a:lnTo>
                    <a:pt x="51800" y="1054650"/>
                  </a:lnTo>
                  <a:close/>
                </a:path>
                <a:path w="86360" h="1132205">
                  <a:moveTo>
                    <a:pt x="34305" y="77597"/>
                  </a:moveTo>
                  <a:lnTo>
                    <a:pt x="25891" y="1054438"/>
                  </a:lnTo>
                  <a:lnTo>
                    <a:pt x="51800" y="1054650"/>
                  </a:lnTo>
                  <a:lnTo>
                    <a:pt x="60213" y="77851"/>
                  </a:lnTo>
                  <a:lnTo>
                    <a:pt x="34305" y="77597"/>
                  </a:lnTo>
                  <a:close/>
                </a:path>
                <a:path w="86360" h="1132205">
                  <a:moveTo>
                    <a:pt x="79539" y="64642"/>
                  </a:moveTo>
                  <a:lnTo>
                    <a:pt x="34417" y="64642"/>
                  </a:lnTo>
                  <a:lnTo>
                    <a:pt x="60325" y="64897"/>
                  </a:lnTo>
                  <a:lnTo>
                    <a:pt x="60213" y="77851"/>
                  </a:lnTo>
                  <a:lnTo>
                    <a:pt x="86106" y="78104"/>
                  </a:lnTo>
                  <a:lnTo>
                    <a:pt x="79539" y="64642"/>
                  </a:lnTo>
                  <a:close/>
                </a:path>
                <a:path w="86360" h="1132205">
                  <a:moveTo>
                    <a:pt x="34417" y="64642"/>
                  </a:moveTo>
                  <a:lnTo>
                    <a:pt x="34305" y="77597"/>
                  </a:lnTo>
                  <a:lnTo>
                    <a:pt x="60213" y="77851"/>
                  </a:lnTo>
                  <a:lnTo>
                    <a:pt x="60325" y="64897"/>
                  </a:lnTo>
                  <a:lnTo>
                    <a:pt x="34417" y="64642"/>
                  </a:lnTo>
                  <a:close/>
                </a:path>
                <a:path w="86360" h="1132205">
                  <a:moveTo>
                    <a:pt x="48006" y="0"/>
                  </a:moveTo>
                  <a:lnTo>
                    <a:pt x="8381" y="77342"/>
                  </a:lnTo>
                  <a:lnTo>
                    <a:pt x="34305" y="77597"/>
                  </a:lnTo>
                  <a:lnTo>
                    <a:pt x="34417" y="64642"/>
                  </a:lnTo>
                  <a:lnTo>
                    <a:pt x="79539" y="64642"/>
                  </a:lnTo>
                  <a:lnTo>
                    <a:pt x="48006" y="0"/>
                  </a:lnTo>
                  <a:close/>
                </a:path>
              </a:pathLst>
            </a:custGeom>
            <a:solidFill>
              <a:srgbClr val="FBB64B"/>
            </a:solidFill>
          </p:spPr>
          <p:txBody>
            <a:bodyPr wrap="square" lIns="0" tIns="0" rIns="0" bIns="0" rtlCol="0"/>
            <a:lstStyle/>
            <a:p>
              <a:endParaRPr/>
            </a:p>
          </p:txBody>
        </p:sp>
      </p:grpSp>
      <p:sp>
        <p:nvSpPr>
          <p:cNvPr id="16" name="object 16"/>
          <p:cNvSpPr txBox="1"/>
          <p:nvPr/>
        </p:nvSpPr>
        <p:spPr>
          <a:xfrm>
            <a:off x="2684145" y="907237"/>
            <a:ext cx="3991610" cy="883919"/>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Encrypted</a:t>
            </a:r>
            <a:endParaRPr sz="1800">
              <a:latin typeface="Arial MT"/>
              <a:cs typeface="Arial MT"/>
            </a:endParaRPr>
          </a:p>
          <a:p>
            <a:pPr>
              <a:lnSpc>
                <a:spcPct val="100000"/>
              </a:lnSpc>
              <a:spcBef>
                <a:spcPts val="20"/>
              </a:spcBef>
            </a:pPr>
            <a:endParaRPr sz="2100">
              <a:latin typeface="Arial MT"/>
              <a:cs typeface="Arial MT"/>
            </a:endParaRPr>
          </a:p>
          <a:p>
            <a:pPr marL="2266315" indent="-287020">
              <a:lnSpc>
                <a:spcPct val="100000"/>
              </a:lnSpc>
              <a:buChar char="•"/>
              <a:tabLst>
                <a:tab pos="2266315" algn="l"/>
                <a:tab pos="2266950" algn="l"/>
              </a:tabLst>
            </a:pPr>
            <a:r>
              <a:rPr sz="1800" spc="-10" dirty="0">
                <a:solidFill>
                  <a:srgbClr val="464646"/>
                </a:solidFill>
                <a:latin typeface="Arial MT"/>
                <a:cs typeface="Arial MT"/>
              </a:rPr>
              <a:t>Offload</a:t>
            </a:r>
            <a:r>
              <a:rPr sz="1800" spc="-65" dirty="0">
                <a:solidFill>
                  <a:srgbClr val="464646"/>
                </a:solidFill>
                <a:latin typeface="Arial MT"/>
                <a:cs typeface="Arial MT"/>
              </a:rPr>
              <a:t> </a:t>
            </a:r>
            <a:r>
              <a:rPr sz="1800" dirty="0">
                <a:solidFill>
                  <a:srgbClr val="464646"/>
                </a:solidFill>
                <a:latin typeface="Arial MT"/>
                <a:cs typeface="Arial MT"/>
              </a:rPr>
              <a:t>SSL/TLS</a:t>
            </a:r>
            <a:endParaRPr sz="1800">
              <a:latin typeface="Arial MT"/>
              <a:cs typeface="Arial MT"/>
            </a:endParaRPr>
          </a:p>
        </p:txBody>
      </p:sp>
      <p:sp>
        <p:nvSpPr>
          <p:cNvPr id="21" name="object 21"/>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17" name="object 17"/>
          <p:cNvSpPr txBox="1"/>
          <p:nvPr/>
        </p:nvSpPr>
        <p:spPr>
          <a:xfrm>
            <a:off x="4651375" y="2039873"/>
            <a:ext cx="2432685" cy="574040"/>
          </a:xfrm>
          <a:prstGeom prst="rect">
            <a:avLst/>
          </a:prstGeom>
        </p:spPr>
        <p:txBody>
          <a:bodyPr vert="horz" wrap="square" lIns="0" tIns="12700" rIns="0" bIns="0" rtlCol="0">
            <a:spAutoFit/>
          </a:bodyPr>
          <a:lstStyle/>
          <a:p>
            <a:pPr marL="299085" marR="5080" indent="-287020">
              <a:lnSpc>
                <a:spcPct val="100000"/>
              </a:lnSpc>
              <a:spcBef>
                <a:spcPts val="100"/>
              </a:spcBef>
              <a:buChar char="•"/>
              <a:tabLst>
                <a:tab pos="299085" algn="l"/>
                <a:tab pos="299720" algn="l"/>
              </a:tabLst>
            </a:pPr>
            <a:r>
              <a:rPr sz="1800" spc="-5" dirty="0">
                <a:solidFill>
                  <a:srgbClr val="464646"/>
                </a:solidFill>
                <a:latin typeface="Arial MT"/>
                <a:cs typeface="Arial MT"/>
              </a:rPr>
              <a:t>Integrated Certificate </a:t>
            </a:r>
            <a:r>
              <a:rPr sz="1800" spc="-495" dirty="0">
                <a:solidFill>
                  <a:srgbClr val="464646"/>
                </a:solidFill>
                <a:latin typeface="Arial MT"/>
                <a:cs typeface="Arial MT"/>
              </a:rPr>
              <a:t> </a:t>
            </a:r>
            <a:r>
              <a:rPr sz="1800" spc="-5" dirty="0">
                <a:solidFill>
                  <a:srgbClr val="464646"/>
                </a:solidFill>
                <a:latin typeface="Arial MT"/>
                <a:cs typeface="Arial MT"/>
              </a:rPr>
              <a:t>Management</a:t>
            </a:r>
            <a:endParaRPr sz="1800">
              <a:latin typeface="Arial MT"/>
              <a:cs typeface="Arial MT"/>
            </a:endParaRPr>
          </a:p>
        </p:txBody>
      </p:sp>
      <p:sp>
        <p:nvSpPr>
          <p:cNvPr id="18" name="object 18"/>
          <p:cNvSpPr txBox="1"/>
          <p:nvPr/>
        </p:nvSpPr>
        <p:spPr>
          <a:xfrm>
            <a:off x="4651375" y="2863088"/>
            <a:ext cx="3333750" cy="574040"/>
          </a:xfrm>
          <a:prstGeom prst="rect">
            <a:avLst/>
          </a:prstGeom>
        </p:spPr>
        <p:txBody>
          <a:bodyPr vert="horz" wrap="square" lIns="0" tIns="12700" rIns="0" bIns="0" rtlCol="0">
            <a:spAutoFit/>
          </a:bodyPr>
          <a:lstStyle/>
          <a:p>
            <a:pPr marL="299085" marR="5080" indent="-287020">
              <a:lnSpc>
                <a:spcPct val="100000"/>
              </a:lnSpc>
              <a:spcBef>
                <a:spcPts val="100"/>
              </a:spcBef>
              <a:buChar char="•"/>
              <a:tabLst>
                <a:tab pos="299085" algn="l"/>
                <a:tab pos="299720" algn="l"/>
              </a:tabLst>
            </a:pPr>
            <a:r>
              <a:rPr sz="1800" spc="-5" dirty="0">
                <a:solidFill>
                  <a:srgbClr val="464646"/>
                </a:solidFill>
                <a:latin typeface="Arial MT"/>
                <a:cs typeface="Arial MT"/>
              </a:rPr>
              <a:t>User</a:t>
            </a:r>
            <a:r>
              <a:rPr sz="1800" spc="-110" dirty="0">
                <a:solidFill>
                  <a:srgbClr val="464646"/>
                </a:solidFill>
                <a:latin typeface="Arial MT"/>
                <a:cs typeface="Arial MT"/>
              </a:rPr>
              <a:t> </a:t>
            </a:r>
            <a:r>
              <a:rPr sz="1800" spc="-5" dirty="0">
                <a:solidFill>
                  <a:srgbClr val="464646"/>
                </a:solidFill>
                <a:latin typeface="Arial MT"/>
                <a:cs typeface="Arial MT"/>
              </a:rPr>
              <a:t>Authentication</a:t>
            </a:r>
            <a:r>
              <a:rPr sz="1800" spc="10" dirty="0">
                <a:solidFill>
                  <a:srgbClr val="464646"/>
                </a:solidFill>
                <a:latin typeface="Arial MT"/>
                <a:cs typeface="Arial MT"/>
              </a:rPr>
              <a:t> </a:t>
            </a:r>
            <a:r>
              <a:rPr sz="1800" dirty="0">
                <a:solidFill>
                  <a:srgbClr val="464646"/>
                </a:solidFill>
                <a:latin typeface="Arial MT"/>
                <a:cs typeface="Arial MT"/>
              </a:rPr>
              <a:t>–</a:t>
            </a:r>
            <a:r>
              <a:rPr sz="1800" spc="-20" dirty="0">
                <a:solidFill>
                  <a:srgbClr val="464646"/>
                </a:solidFill>
                <a:latin typeface="Arial MT"/>
                <a:cs typeface="Arial MT"/>
              </a:rPr>
              <a:t> </a:t>
            </a:r>
            <a:r>
              <a:rPr sz="1800" spc="-5" dirty="0">
                <a:solidFill>
                  <a:srgbClr val="464646"/>
                </a:solidFill>
                <a:latin typeface="Arial MT"/>
                <a:cs typeface="Arial MT"/>
              </a:rPr>
              <a:t>Cognito </a:t>
            </a:r>
            <a:r>
              <a:rPr sz="1800" spc="-484" dirty="0">
                <a:solidFill>
                  <a:srgbClr val="464646"/>
                </a:solidFill>
                <a:latin typeface="Arial MT"/>
                <a:cs typeface="Arial MT"/>
              </a:rPr>
              <a:t> </a:t>
            </a:r>
            <a:r>
              <a:rPr sz="1800" spc="-5" dirty="0">
                <a:solidFill>
                  <a:srgbClr val="464646"/>
                </a:solidFill>
                <a:latin typeface="Arial MT"/>
                <a:cs typeface="Arial MT"/>
              </a:rPr>
              <a:t>(Application</a:t>
            </a:r>
            <a:r>
              <a:rPr sz="1800" spc="10" dirty="0">
                <a:solidFill>
                  <a:srgbClr val="464646"/>
                </a:solidFill>
                <a:latin typeface="Arial MT"/>
                <a:cs typeface="Arial MT"/>
              </a:rPr>
              <a:t> </a:t>
            </a:r>
            <a:r>
              <a:rPr sz="1800" spc="-5" dirty="0">
                <a:solidFill>
                  <a:srgbClr val="464646"/>
                </a:solidFill>
                <a:latin typeface="Arial MT"/>
                <a:cs typeface="Arial MT"/>
              </a:rPr>
              <a:t>Load Balancer)</a:t>
            </a:r>
            <a:endParaRPr sz="1800">
              <a:latin typeface="Arial MT"/>
              <a:cs typeface="Arial MT"/>
            </a:endParaRPr>
          </a:p>
        </p:txBody>
      </p:sp>
      <p:sp>
        <p:nvSpPr>
          <p:cNvPr id="19" name="object 19"/>
          <p:cNvSpPr txBox="1"/>
          <p:nvPr/>
        </p:nvSpPr>
        <p:spPr>
          <a:xfrm>
            <a:off x="5108828" y="3411728"/>
            <a:ext cx="2912745" cy="848994"/>
          </a:xfrm>
          <a:prstGeom prst="rect">
            <a:avLst/>
          </a:prstGeom>
        </p:spPr>
        <p:txBody>
          <a:bodyPr vert="horz" wrap="square" lIns="0" tIns="12700" rIns="0" bIns="0" rtlCol="0">
            <a:spAutoFit/>
          </a:bodyPr>
          <a:lstStyle/>
          <a:p>
            <a:pPr marL="299085" indent="-287020">
              <a:lnSpc>
                <a:spcPct val="100000"/>
              </a:lnSpc>
              <a:spcBef>
                <a:spcPts val="100"/>
              </a:spcBef>
              <a:buChar char="•"/>
              <a:tabLst>
                <a:tab pos="299085" algn="l"/>
                <a:tab pos="299720" algn="l"/>
              </a:tabLst>
            </a:pPr>
            <a:r>
              <a:rPr sz="1800" spc="-5" dirty="0">
                <a:solidFill>
                  <a:srgbClr val="464646"/>
                </a:solidFill>
                <a:latin typeface="Arial MT"/>
                <a:cs typeface="Arial MT"/>
              </a:rPr>
              <a:t>Internet</a:t>
            </a:r>
            <a:r>
              <a:rPr sz="1800" spc="-10" dirty="0">
                <a:solidFill>
                  <a:srgbClr val="464646"/>
                </a:solidFill>
                <a:latin typeface="Arial MT"/>
                <a:cs typeface="Arial MT"/>
              </a:rPr>
              <a:t> </a:t>
            </a:r>
            <a:r>
              <a:rPr sz="1800" spc="-5" dirty="0">
                <a:solidFill>
                  <a:srgbClr val="464646"/>
                </a:solidFill>
                <a:latin typeface="Arial MT"/>
                <a:cs typeface="Arial MT"/>
              </a:rPr>
              <a:t>Identity Providers</a:t>
            </a:r>
            <a:endParaRPr sz="1800">
              <a:latin typeface="Arial MT"/>
              <a:cs typeface="Arial MT"/>
            </a:endParaRPr>
          </a:p>
          <a:p>
            <a:pPr marL="299085" indent="-287020">
              <a:lnSpc>
                <a:spcPct val="100000"/>
              </a:lnSpc>
              <a:buChar char="•"/>
              <a:tabLst>
                <a:tab pos="299085" algn="l"/>
                <a:tab pos="299720" algn="l"/>
              </a:tabLst>
            </a:pPr>
            <a:r>
              <a:rPr sz="1800" dirty="0">
                <a:solidFill>
                  <a:srgbClr val="464646"/>
                </a:solidFill>
                <a:latin typeface="Arial MT"/>
                <a:cs typeface="Arial MT"/>
              </a:rPr>
              <a:t>SAML</a:t>
            </a:r>
            <a:endParaRPr sz="180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OpenID</a:t>
            </a:r>
            <a:r>
              <a:rPr sz="1800" spc="-30" dirty="0">
                <a:solidFill>
                  <a:srgbClr val="464646"/>
                </a:solidFill>
                <a:latin typeface="Arial MT"/>
                <a:cs typeface="Arial MT"/>
              </a:rPr>
              <a:t> </a:t>
            </a:r>
            <a:r>
              <a:rPr sz="1800" spc="-5" dirty="0">
                <a:solidFill>
                  <a:srgbClr val="464646"/>
                </a:solidFill>
                <a:latin typeface="Arial MT"/>
                <a:cs typeface="Arial MT"/>
              </a:rPr>
              <a:t>Connect</a:t>
            </a:r>
            <a:endParaRPr sz="1800">
              <a:latin typeface="Arial MT"/>
              <a:cs typeface="Arial MT"/>
            </a:endParaRPr>
          </a:p>
        </p:txBody>
      </p:sp>
      <p:sp>
        <p:nvSpPr>
          <p:cNvPr id="20" name="object 20"/>
          <p:cNvSpPr txBox="1"/>
          <p:nvPr/>
        </p:nvSpPr>
        <p:spPr>
          <a:xfrm>
            <a:off x="2807335" y="2704338"/>
            <a:ext cx="106235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464646"/>
                </a:solidFill>
                <a:latin typeface="Arial MT"/>
                <a:cs typeface="Arial MT"/>
              </a:rPr>
              <a:t>Decrypted</a:t>
            </a:r>
            <a:endParaRPr sz="1800">
              <a:latin typeface="Arial MT"/>
              <a:cs typeface="Arial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150685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Fea</a:t>
            </a:r>
            <a:r>
              <a:rPr u="none" dirty="0">
                <a:solidFill>
                  <a:srgbClr val="4D4D4B"/>
                </a:solidFill>
              </a:rPr>
              <a:t>t</a:t>
            </a:r>
            <a:r>
              <a:rPr u="none" spc="-5" dirty="0">
                <a:solidFill>
                  <a:srgbClr val="4D4D4B"/>
                </a:solidFill>
              </a:rPr>
              <a:t>ures</a:t>
            </a:r>
          </a:p>
        </p:txBody>
      </p:sp>
      <p:sp>
        <p:nvSpPr>
          <p:cNvPr id="3" name="object 3"/>
          <p:cNvSpPr txBox="1"/>
          <p:nvPr/>
        </p:nvSpPr>
        <p:spPr>
          <a:xfrm>
            <a:off x="419506" y="962025"/>
            <a:ext cx="7762240" cy="3464560"/>
          </a:xfrm>
          <a:prstGeom prst="rect">
            <a:avLst/>
          </a:prstGeom>
        </p:spPr>
        <p:txBody>
          <a:bodyPr vert="horz" wrap="square" lIns="0" tIns="85725" rIns="0" bIns="0" rtlCol="0">
            <a:spAutoFit/>
          </a:bodyPr>
          <a:lstStyle/>
          <a:p>
            <a:pPr marL="12700">
              <a:lnSpc>
                <a:spcPct val="100000"/>
              </a:lnSpc>
              <a:spcBef>
                <a:spcPts val="675"/>
              </a:spcBef>
            </a:pPr>
            <a:r>
              <a:rPr sz="2400" spc="-15" dirty="0">
                <a:solidFill>
                  <a:srgbClr val="4D4D4B"/>
                </a:solidFill>
                <a:latin typeface="Arial MT"/>
                <a:cs typeface="Arial MT"/>
              </a:rPr>
              <a:t>CloudWatch</a:t>
            </a:r>
            <a:r>
              <a:rPr sz="2400" spc="5" dirty="0">
                <a:solidFill>
                  <a:srgbClr val="4D4D4B"/>
                </a:solidFill>
                <a:latin typeface="Arial MT"/>
                <a:cs typeface="Arial MT"/>
              </a:rPr>
              <a:t> </a:t>
            </a:r>
            <a:r>
              <a:rPr sz="2400" spc="-5" dirty="0">
                <a:solidFill>
                  <a:srgbClr val="4D4D4B"/>
                </a:solidFill>
                <a:latin typeface="Arial MT"/>
                <a:cs typeface="Arial MT"/>
              </a:rPr>
              <a:t>Monitoring</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Real</a:t>
            </a:r>
            <a:r>
              <a:rPr sz="2400" spc="10" dirty="0">
                <a:solidFill>
                  <a:srgbClr val="4D4D4B"/>
                </a:solidFill>
                <a:latin typeface="Arial MT"/>
                <a:cs typeface="Arial MT"/>
              </a:rPr>
              <a:t> </a:t>
            </a:r>
            <a:r>
              <a:rPr sz="2400" dirty="0">
                <a:solidFill>
                  <a:srgbClr val="4D4D4B"/>
                </a:solidFill>
                <a:latin typeface="Arial MT"/>
                <a:cs typeface="Arial MT"/>
              </a:rPr>
              <a:t>time</a:t>
            </a:r>
            <a:r>
              <a:rPr sz="2400" spc="-5" dirty="0">
                <a:solidFill>
                  <a:srgbClr val="4D4D4B"/>
                </a:solidFill>
                <a:latin typeface="Arial MT"/>
                <a:cs typeface="Arial MT"/>
              </a:rPr>
              <a:t> monitoring</a:t>
            </a:r>
            <a:r>
              <a:rPr sz="2400" spc="15" dirty="0">
                <a:solidFill>
                  <a:srgbClr val="4D4D4B"/>
                </a:solidFill>
                <a:latin typeface="Arial MT"/>
                <a:cs typeface="Arial MT"/>
              </a:rPr>
              <a:t> </a:t>
            </a:r>
            <a:r>
              <a:rPr sz="2400" dirty="0">
                <a:solidFill>
                  <a:srgbClr val="4D4D4B"/>
                </a:solidFill>
                <a:latin typeface="Arial MT"/>
                <a:cs typeface="Arial MT"/>
              </a:rPr>
              <a:t>of</a:t>
            </a:r>
            <a:r>
              <a:rPr sz="2400" spc="-5" dirty="0">
                <a:solidFill>
                  <a:srgbClr val="4D4D4B"/>
                </a:solidFill>
                <a:latin typeface="Arial MT"/>
                <a:cs typeface="Arial MT"/>
              </a:rPr>
              <a:t> key</a:t>
            </a:r>
            <a:r>
              <a:rPr sz="2400" spc="-10" dirty="0">
                <a:solidFill>
                  <a:srgbClr val="4D4D4B"/>
                </a:solidFill>
                <a:latin typeface="Arial MT"/>
                <a:cs typeface="Arial MT"/>
              </a:rPr>
              <a:t> </a:t>
            </a:r>
            <a:r>
              <a:rPr sz="2400" spc="-5" dirty="0">
                <a:solidFill>
                  <a:srgbClr val="4D4D4B"/>
                </a:solidFill>
                <a:latin typeface="Arial MT"/>
                <a:cs typeface="Arial MT"/>
              </a:rPr>
              <a:t>metrics</a:t>
            </a:r>
            <a:endParaRPr sz="2400">
              <a:latin typeface="Arial MT"/>
              <a:cs typeface="Arial MT"/>
            </a:endParaRPr>
          </a:p>
          <a:p>
            <a:pPr>
              <a:lnSpc>
                <a:spcPct val="100000"/>
              </a:lnSpc>
              <a:spcBef>
                <a:spcPts val="10"/>
              </a:spcBef>
              <a:buClr>
                <a:srgbClr val="4D4D4B"/>
              </a:buClr>
              <a:buFont typeface="Arial MT"/>
              <a:buChar char="•"/>
            </a:pPr>
            <a:endParaRPr sz="3500">
              <a:latin typeface="Arial MT"/>
              <a:cs typeface="Arial MT"/>
            </a:endParaRPr>
          </a:p>
          <a:p>
            <a:pPr marL="12700">
              <a:lnSpc>
                <a:spcPct val="100000"/>
              </a:lnSpc>
            </a:pPr>
            <a:r>
              <a:rPr sz="2400" spc="-5" dirty="0">
                <a:solidFill>
                  <a:srgbClr val="4D4D4B"/>
                </a:solidFill>
                <a:latin typeface="Arial MT"/>
                <a:cs typeface="Arial MT"/>
              </a:rPr>
              <a:t>Connection</a:t>
            </a:r>
            <a:r>
              <a:rPr sz="2400" dirty="0">
                <a:solidFill>
                  <a:srgbClr val="4D4D4B"/>
                </a:solidFill>
                <a:latin typeface="Arial MT"/>
                <a:cs typeface="Arial MT"/>
              </a:rPr>
              <a:t> </a:t>
            </a:r>
            <a:r>
              <a:rPr sz="2400" spc="-5" dirty="0">
                <a:solidFill>
                  <a:srgbClr val="4D4D4B"/>
                </a:solidFill>
                <a:latin typeface="Arial MT"/>
                <a:cs typeface="Arial MT"/>
              </a:rPr>
              <a:t>Draining</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When</a:t>
            </a:r>
            <a:r>
              <a:rPr sz="2400" spc="5" dirty="0">
                <a:solidFill>
                  <a:srgbClr val="4D4D4B"/>
                </a:solidFill>
                <a:latin typeface="Arial MT"/>
                <a:cs typeface="Arial MT"/>
              </a:rPr>
              <a:t> </a:t>
            </a:r>
            <a:r>
              <a:rPr sz="2400" spc="-5" dirty="0">
                <a:solidFill>
                  <a:srgbClr val="4D4D4B"/>
                </a:solidFill>
                <a:latin typeface="Arial MT"/>
                <a:cs typeface="Arial MT"/>
              </a:rPr>
              <a:t>deregistering</a:t>
            </a:r>
            <a:r>
              <a:rPr sz="2400" spc="40" dirty="0">
                <a:solidFill>
                  <a:srgbClr val="4D4D4B"/>
                </a:solidFill>
                <a:latin typeface="Arial MT"/>
                <a:cs typeface="Arial MT"/>
              </a:rPr>
              <a:t> </a:t>
            </a:r>
            <a:r>
              <a:rPr sz="2400" spc="-5" dirty="0">
                <a:solidFill>
                  <a:srgbClr val="4D4D4B"/>
                </a:solidFill>
                <a:latin typeface="Arial MT"/>
                <a:cs typeface="Arial MT"/>
              </a:rPr>
              <a:t>instance,</a:t>
            </a:r>
            <a:r>
              <a:rPr sz="2400" spc="15" dirty="0">
                <a:solidFill>
                  <a:srgbClr val="4D4D4B"/>
                </a:solidFill>
                <a:latin typeface="Arial MT"/>
                <a:cs typeface="Arial MT"/>
              </a:rPr>
              <a:t> </a:t>
            </a:r>
            <a:r>
              <a:rPr sz="2400" spc="-5" dirty="0">
                <a:solidFill>
                  <a:srgbClr val="4D4D4B"/>
                </a:solidFill>
                <a:latin typeface="Arial MT"/>
                <a:cs typeface="Arial MT"/>
              </a:rPr>
              <a:t>allow</a:t>
            </a:r>
            <a:r>
              <a:rPr sz="2400" spc="30" dirty="0">
                <a:solidFill>
                  <a:srgbClr val="4D4D4B"/>
                </a:solidFill>
                <a:latin typeface="Arial MT"/>
                <a:cs typeface="Arial MT"/>
              </a:rPr>
              <a:t> </a:t>
            </a:r>
            <a:r>
              <a:rPr sz="2400" dirty="0">
                <a:solidFill>
                  <a:srgbClr val="4D4D4B"/>
                </a:solidFill>
                <a:latin typeface="Arial MT"/>
                <a:cs typeface="Arial MT"/>
              </a:rPr>
              <a:t>in-flight</a:t>
            </a:r>
            <a:r>
              <a:rPr sz="2400" spc="20" dirty="0">
                <a:solidFill>
                  <a:srgbClr val="4D4D4B"/>
                </a:solidFill>
                <a:latin typeface="Arial MT"/>
                <a:cs typeface="Arial MT"/>
              </a:rPr>
              <a:t> </a:t>
            </a:r>
            <a:r>
              <a:rPr sz="2400" spc="-5" dirty="0">
                <a:solidFill>
                  <a:srgbClr val="4D4D4B"/>
                </a:solidFill>
                <a:latin typeface="Arial MT"/>
                <a:cs typeface="Arial MT"/>
              </a:rPr>
              <a:t>requests</a:t>
            </a:r>
            <a:r>
              <a:rPr sz="2400" spc="10" dirty="0">
                <a:solidFill>
                  <a:srgbClr val="4D4D4B"/>
                </a:solidFill>
                <a:latin typeface="Arial MT"/>
                <a:cs typeface="Arial MT"/>
              </a:rPr>
              <a:t> </a:t>
            </a:r>
            <a:r>
              <a:rPr sz="2400" dirty="0">
                <a:solidFill>
                  <a:srgbClr val="4D4D4B"/>
                </a:solidFill>
                <a:latin typeface="Arial MT"/>
                <a:cs typeface="Arial MT"/>
              </a:rPr>
              <a:t>to</a:t>
            </a:r>
            <a:endParaRPr sz="2400">
              <a:latin typeface="Arial MT"/>
              <a:cs typeface="Arial MT"/>
            </a:endParaRPr>
          </a:p>
          <a:p>
            <a:pPr marL="355600">
              <a:lnSpc>
                <a:spcPct val="100000"/>
              </a:lnSpc>
              <a:spcBef>
                <a:spcPts val="5"/>
              </a:spcBef>
            </a:pPr>
            <a:r>
              <a:rPr sz="2400" spc="-5" dirty="0">
                <a:solidFill>
                  <a:srgbClr val="4D4D4B"/>
                </a:solidFill>
                <a:latin typeface="Arial MT"/>
                <a:cs typeface="Arial MT"/>
              </a:rPr>
              <a:t>complete</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Default</a:t>
            </a:r>
            <a:r>
              <a:rPr sz="2400" spc="10" dirty="0">
                <a:solidFill>
                  <a:srgbClr val="4D4D4B"/>
                </a:solidFill>
                <a:latin typeface="Arial MT"/>
                <a:cs typeface="Arial MT"/>
              </a:rPr>
              <a:t> </a:t>
            </a:r>
            <a:r>
              <a:rPr sz="2400" spc="-5" dirty="0">
                <a:solidFill>
                  <a:srgbClr val="4D4D4B"/>
                </a:solidFill>
                <a:latin typeface="Arial MT"/>
                <a:cs typeface="Arial MT"/>
              </a:rPr>
              <a:t>wait</a:t>
            </a:r>
            <a:r>
              <a:rPr sz="2400" dirty="0">
                <a:solidFill>
                  <a:srgbClr val="4D4D4B"/>
                </a:solidFill>
                <a:latin typeface="Arial MT"/>
                <a:cs typeface="Arial MT"/>
              </a:rPr>
              <a:t> time</a:t>
            </a:r>
            <a:r>
              <a:rPr sz="2400" spc="-10" dirty="0">
                <a:solidFill>
                  <a:srgbClr val="4D4D4B"/>
                </a:solidFill>
                <a:latin typeface="Arial MT"/>
                <a:cs typeface="Arial MT"/>
              </a:rPr>
              <a:t> </a:t>
            </a:r>
            <a:r>
              <a:rPr sz="2400" spc="-5" dirty="0">
                <a:solidFill>
                  <a:srgbClr val="4D4D4B"/>
                </a:solidFill>
                <a:latin typeface="Arial MT"/>
                <a:cs typeface="Arial MT"/>
              </a:rPr>
              <a:t>is</a:t>
            </a:r>
            <a:r>
              <a:rPr sz="2400" dirty="0">
                <a:solidFill>
                  <a:srgbClr val="4D4D4B"/>
                </a:solidFill>
                <a:latin typeface="Arial MT"/>
                <a:cs typeface="Arial MT"/>
              </a:rPr>
              <a:t> </a:t>
            </a:r>
            <a:r>
              <a:rPr sz="2400" spc="-5" dirty="0">
                <a:solidFill>
                  <a:srgbClr val="4D4D4B"/>
                </a:solidFill>
                <a:latin typeface="Arial MT"/>
                <a:cs typeface="Arial MT"/>
              </a:rPr>
              <a:t>5</a:t>
            </a:r>
            <a:r>
              <a:rPr sz="2400" spc="5" dirty="0">
                <a:solidFill>
                  <a:srgbClr val="4D4D4B"/>
                </a:solidFill>
                <a:latin typeface="Arial MT"/>
                <a:cs typeface="Arial MT"/>
              </a:rPr>
              <a:t> </a:t>
            </a:r>
            <a:r>
              <a:rPr sz="2400" spc="-5" dirty="0">
                <a:solidFill>
                  <a:srgbClr val="4D4D4B"/>
                </a:solidFill>
                <a:latin typeface="Arial MT"/>
                <a:cs typeface="Arial MT"/>
              </a:rPr>
              <a:t>minutes</a:t>
            </a:r>
            <a:r>
              <a:rPr sz="2400" dirty="0">
                <a:solidFill>
                  <a:srgbClr val="4D4D4B"/>
                </a:solidFill>
                <a:latin typeface="Arial MT"/>
                <a:cs typeface="Arial MT"/>
              </a:rPr>
              <a:t> (300</a:t>
            </a:r>
            <a:r>
              <a:rPr sz="2400" spc="5" dirty="0">
                <a:solidFill>
                  <a:srgbClr val="4D4D4B"/>
                </a:solidFill>
                <a:latin typeface="Arial MT"/>
                <a:cs typeface="Arial MT"/>
              </a:rPr>
              <a:t> </a:t>
            </a:r>
            <a:r>
              <a:rPr sz="2400" spc="-5" dirty="0">
                <a:solidFill>
                  <a:srgbClr val="4D4D4B"/>
                </a:solidFill>
                <a:latin typeface="Arial MT"/>
                <a:cs typeface="Arial MT"/>
              </a:rPr>
              <a:t>seconds)</a:t>
            </a:r>
            <a:endParaRPr sz="2400">
              <a:latin typeface="Arial MT"/>
              <a:cs typeface="Arial MT"/>
            </a:endParaRPr>
          </a:p>
          <a:p>
            <a:pPr marL="355600" indent="-342900">
              <a:lnSpc>
                <a:spcPct val="100000"/>
              </a:lnSpc>
              <a:spcBef>
                <a:spcPts val="580"/>
              </a:spcBef>
              <a:buChar char="•"/>
              <a:tabLst>
                <a:tab pos="354965" algn="l"/>
                <a:tab pos="355600" algn="l"/>
              </a:tabLst>
            </a:pPr>
            <a:r>
              <a:rPr sz="2400" dirty="0">
                <a:solidFill>
                  <a:srgbClr val="4D4D4B"/>
                </a:solidFill>
                <a:latin typeface="Arial MT"/>
                <a:cs typeface="Arial MT"/>
              </a:rPr>
              <a:t>After</a:t>
            </a:r>
            <a:r>
              <a:rPr sz="2400" spc="-15" dirty="0">
                <a:solidFill>
                  <a:srgbClr val="4D4D4B"/>
                </a:solidFill>
                <a:latin typeface="Arial MT"/>
                <a:cs typeface="Arial MT"/>
              </a:rPr>
              <a:t> </a:t>
            </a:r>
            <a:r>
              <a:rPr sz="2400" spc="-5" dirty="0">
                <a:solidFill>
                  <a:srgbClr val="4D4D4B"/>
                </a:solidFill>
                <a:latin typeface="Arial MT"/>
                <a:cs typeface="Arial MT"/>
              </a:rPr>
              <a:t>wait</a:t>
            </a:r>
            <a:r>
              <a:rPr sz="2400" spc="10" dirty="0">
                <a:solidFill>
                  <a:srgbClr val="4D4D4B"/>
                </a:solidFill>
                <a:latin typeface="Arial MT"/>
                <a:cs typeface="Arial MT"/>
              </a:rPr>
              <a:t> </a:t>
            </a:r>
            <a:r>
              <a:rPr sz="2400" dirty="0">
                <a:solidFill>
                  <a:srgbClr val="4D4D4B"/>
                </a:solidFill>
                <a:latin typeface="Arial MT"/>
                <a:cs typeface="Arial MT"/>
              </a:rPr>
              <a:t>time </a:t>
            </a:r>
            <a:r>
              <a:rPr sz="2400" spc="-5" dirty="0">
                <a:solidFill>
                  <a:srgbClr val="4D4D4B"/>
                </a:solidFill>
                <a:latin typeface="Arial MT"/>
                <a:cs typeface="Arial MT"/>
              </a:rPr>
              <a:t>elapses,</a:t>
            </a:r>
            <a:r>
              <a:rPr sz="2400" spc="15" dirty="0">
                <a:solidFill>
                  <a:srgbClr val="4D4D4B"/>
                </a:solidFill>
                <a:latin typeface="Arial MT"/>
                <a:cs typeface="Arial MT"/>
              </a:rPr>
              <a:t> </a:t>
            </a:r>
            <a:r>
              <a:rPr sz="2400" spc="-5" dirty="0">
                <a:solidFill>
                  <a:srgbClr val="4D4D4B"/>
                </a:solidFill>
                <a:latin typeface="Arial MT"/>
                <a:cs typeface="Arial MT"/>
              </a:rPr>
              <a:t>instance</a:t>
            </a:r>
            <a:r>
              <a:rPr sz="2400" spc="15" dirty="0">
                <a:solidFill>
                  <a:srgbClr val="4D4D4B"/>
                </a:solidFill>
                <a:latin typeface="Arial MT"/>
                <a:cs typeface="Arial MT"/>
              </a:rPr>
              <a:t> </a:t>
            </a:r>
            <a:r>
              <a:rPr sz="2400" spc="-5" dirty="0">
                <a:solidFill>
                  <a:srgbClr val="4D4D4B"/>
                </a:solidFill>
                <a:latin typeface="Arial MT"/>
                <a:cs typeface="Arial MT"/>
              </a:rPr>
              <a:t>is</a:t>
            </a:r>
            <a:r>
              <a:rPr sz="2400" dirty="0">
                <a:solidFill>
                  <a:srgbClr val="4D4D4B"/>
                </a:solidFill>
                <a:latin typeface="Arial MT"/>
                <a:cs typeface="Arial MT"/>
              </a:rPr>
              <a:t> </a:t>
            </a:r>
            <a:r>
              <a:rPr sz="2400" spc="-5" dirty="0">
                <a:solidFill>
                  <a:srgbClr val="4D4D4B"/>
                </a:solidFill>
                <a:latin typeface="Arial MT"/>
                <a:cs typeface="Arial MT"/>
              </a:rPr>
              <a:t>deregistered</a:t>
            </a:r>
            <a:endParaRPr sz="2400">
              <a:latin typeface="Arial MT"/>
              <a:cs typeface="Arial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348043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Additional</a:t>
            </a:r>
            <a:r>
              <a:rPr u="none" spc="-40" dirty="0">
                <a:solidFill>
                  <a:srgbClr val="4D4D4B"/>
                </a:solidFill>
              </a:rPr>
              <a:t> </a:t>
            </a:r>
            <a:r>
              <a:rPr u="none" spc="-5" dirty="0">
                <a:solidFill>
                  <a:srgbClr val="4D4D4B"/>
                </a:solidFill>
              </a:rPr>
              <a:t>Concepts</a:t>
            </a:r>
          </a:p>
        </p:txBody>
      </p:sp>
      <p:sp>
        <p:nvSpPr>
          <p:cNvPr id="3" name="object 3"/>
          <p:cNvSpPr txBox="1"/>
          <p:nvPr/>
        </p:nvSpPr>
        <p:spPr>
          <a:xfrm>
            <a:off x="419506" y="962025"/>
            <a:ext cx="7656195" cy="3595215"/>
          </a:xfrm>
          <a:prstGeom prst="rect">
            <a:avLst/>
          </a:prstGeom>
        </p:spPr>
        <p:txBody>
          <a:bodyPr vert="horz" wrap="square" lIns="0" tIns="85725" rIns="0" bIns="0" rtlCol="0">
            <a:spAutoFit/>
          </a:bodyPr>
          <a:lstStyle/>
          <a:p>
            <a:pPr marL="12700">
              <a:lnSpc>
                <a:spcPct val="100000"/>
              </a:lnSpc>
              <a:spcBef>
                <a:spcPts val="675"/>
              </a:spcBef>
            </a:pPr>
            <a:r>
              <a:rPr sz="2400" dirty="0">
                <a:solidFill>
                  <a:srgbClr val="4D4D4B"/>
                </a:solidFill>
                <a:latin typeface="Arial MT"/>
                <a:cs typeface="Arial MT"/>
              </a:rPr>
              <a:t>Sticky</a:t>
            </a:r>
            <a:r>
              <a:rPr sz="2400" spc="-40" dirty="0">
                <a:solidFill>
                  <a:srgbClr val="4D4D4B"/>
                </a:solidFill>
                <a:latin typeface="Arial MT"/>
                <a:cs typeface="Arial MT"/>
              </a:rPr>
              <a:t> </a:t>
            </a:r>
            <a:r>
              <a:rPr sz="2400" spc="-5" dirty="0">
                <a:solidFill>
                  <a:srgbClr val="4D4D4B"/>
                </a:solidFill>
                <a:latin typeface="Arial MT"/>
                <a:cs typeface="Arial MT"/>
              </a:rPr>
              <a:t>Sessions</a:t>
            </a:r>
            <a:endParaRPr sz="2400" dirty="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Route</a:t>
            </a:r>
            <a:r>
              <a:rPr sz="2400" spc="5" dirty="0">
                <a:solidFill>
                  <a:srgbClr val="4D4D4B"/>
                </a:solidFill>
                <a:latin typeface="Arial MT"/>
                <a:cs typeface="Arial MT"/>
              </a:rPr>
              <a:t> </a:t>
            </a:r>
            <a:r>
              <a:rPr sz="2400" spc="-5" dirty="0">
                <a:solidFill>
                  <a:srgbClr val="4D4D4B"/>
                </a:solidFill>
                <a:latin typeface="Arial MT"/>
                <a:cs typeface="Arial MT"/>
              </a:rPr>
              <a:t>requests</a:t>
            </a:r>
            <a:r>
              <a:rPr sz="2400" dirty="0">
                <a:solidFill>
                  <a:srgbClr val="4D4D4B"/>
                </a:solidFill>
                <a:latin typeface="Arial MT"/>
                <a:cs typeface="Arial MT"/>
              </a:rPr>
              <a:t> from</a:t>
            </a:r>
            <a:r>
              <a:rPr sz="2400" spc="-15" dirty="0">
                <a:solidFill>
                  <a:srgbClr val="4D4D4B"/>
                </a:solidFill>
                <a:latin typeface="Arial MT"/>
                <a:cs typeface="Arial MT"/>
              </a:rPr>
              <a:t> </a:t>
            </a:r>
            <a:r>
              <a:rPr sz="2400" spc="-5" dirty="0">
                <a:solidFill>
                  <a:srgbClr val="4D4D4B"/>
                </a:solidFill>
                <a:latin typeface="Arial MT"/>
                <a:cs typeface="Arial MT"/>
              </a:rPr>
              <a:t>a</a:t>
            </a:r>
            <a:r>
              <a:rPr sz="2400" spc="-10" dirty="0">
                <a:solidFill>
                  <a:srgbClr val="4D4D4B"/>
                </a:solidFill>
                <a:latin typeface="Arial MT"/>
                <a:cs typeface="Arial MT"/>
              </a:rPr>
              <a:t> </a:t>
            </a:r>
            <a:r>
              <a:rPr sz="2400" spc="-5" dirty="0">
                <a:solidFill>
                  <a:srgbClr val="4D4D4B"/>
                </a:solidFill>
                <a:latin typeface="Arial MT"/>
                <a:cs typeface="Arial MT"/>
              </a:rPr>
              <a:t>client</a:t>
            </a:r>
            <a:r>
              <a:rPr sz="2400" spc="5" dirty="0">
                <a:solidFill>
                  <a:srgbClr val="4D4D4B"/>
                </a:solidFill>
                <a:latin typeface="Arial MT"/>
                <a:cs typeface="Arial MT"/>
              </a:rPr>
              <a:t> </a:t>
            </a:r>
            <a:r>
              <a:rPr sz="2400" dirty="0">
                <a:solidFill>
                  <a:srgbClr val="4D4D4B"/>
                </a:solidFill>
                <a:latin typeface="Arial MT"/>
                <a:cs typeface="Arial MT"/>
              </a:rPr>
              <a:t>to </a:t>
            </a:r>
            <a:r>
              <a:rPr sz="2400" spc="-5" dirty="0">
                <a:solidFill>
                  <a:srgbClr val="4D4D4B"/>
                </a:solidFill>
                <a:latin typeface="Arial MT"/>
                <a:cs typeface="Arial MT"/>
              </a:rPr>
              <a:t>same</a:t>
            </a:r>
            <a:r>
              <a:rPr sz="2400" spc="5" dirty="0">
                <a:solidFill>
                  <a:srgbClr val="4D4D4B"/>
                </a:solidFill>
                <a:latin typeface="Arial MT"/>
                <a:cs typeface="Arial MT"/>
              </a:rPr>
              <a:t> </a:t>
            </a:r>
            <a:r>
              <a:rPr sz="2400" dirty="0">
                <a:solidFill>
                  <a:srgbClr val="4D4D4B"/>
                </a:solidFill>
                <a:latin typeface="Arial MT"/>
                <a:cs typeface="Arial MT"/>
              </a:rPr>
              <a:t>target</a:t>
            </a:r>
            <a:endParaRPr sz="2400" dirty="0">
              <a:latin typeface="Arial MT"/>
              <a:cs typeface="Arial MT"/>
            </a:endParaRPr>
          </a:p>
          <a:p>
            <a:pPr marL="355600" indent="-342900">
              <a:lnSpc>
                <a:spcPct val="100000"/>
              </a:lnSpc>
              <a:spcBef>
                <a:spcPts val="580"/>
              </a:spcBef>
              <a:buChar char="•"/>
              <a:tabLst>
                <a:tab pos="354965" algn="l"/>
                <a:tab pos="355600" algn="l"/>
              </a:tabLst>
            </a:pPr>
            <a:r>
              <a:rPr sz="2400" spc="-5" dirty="0">
                <a:solidFill>
                  <a:srgbClr val="4D4D4B"/>
                </a:solidFill>
                <a:latin typeface="Arial MT"/>
                <a:cs typeface="Arial MT"/>
              </a:rPr>
              <a:t>Used</a:t>
            </a:r>
            <a:r>
              <a:rPr sz="2400" spc="5" dirty="0">
                <a:solidFill>
                  <a:srgbClr val="4D4D4B"/>
                </a:solidFill>
                <a:latin typeface="Arial MT"/>
                <a:cs typeface="Arial MT"/>
              </a:rPr>
              <a:t> </a:t>
            </a:r>
            <a:r>
              <a:rPr sz="2400" dirty="0">
                <a:solidFill>
                  <a:srgbClr val="4D4D4B"/>
                </a:solidFill>
                <a:latin typeface="Arial MT"/>
                <a:cs typeface="Arial MT"/>
              </a:rPr>
              <a:t>for</a:t>
            </a:r>
            <a:r>
              <a:rPr sz="2400" spc="-15" dirty="0">
                <a:solidFill>
                  <a:srgbClr val="4D4D4B"/>
                </a:solidFill>
                <a:latin typeface="Arial MT"/>
                <a:cs typeface="Arial MT"/>
              </a:rPr>
              <a:t> </a:t>
            </a:r>
            <a:r>
              <a:rPr sz="2400" dirty="0">
                <a:solidFill>
                  <a:srgbClr val="4D4D4B"/>
                </a:solidFill>
                <a:latin typeface="Arial MT"/>
                <a:cs typeface="Arial MT"/>
              </a:rPr>
              <a:t>stateful</a:t>
            </a:r>
            <a:r>
              <a:rPr sz="2400" spc="-15" dirty="0">
                <a:solidFill>
                  <a:srgbClr val="4D4D4B"/>
                </a:solidFill>
                <a:latin typeface="Arial MT"/>
                <a:cs typeface="Arial MT"/>
              </a:rPr>
              <a:t> </a:t>
            </a:r>
            <a:r>
              <a:rPr sz="2400" spc="-5" dirty="0">
                <a:solidFill>
                  <a:srgbClr val="4D4D4B"/>
                </a:solidFill>
                <a:latin typeface="Arial MT"/>
                <a:cs typeface="Arial MT"/>
              </a:rPr>
              <a:t>application</a:t>
            </a:r>
            <a:r>
              <a:rPr sz="2400" spc="60" dirty="0">
                <a:solidFill>
                  <a:srgbClr val="4D4D4B"/>
                </a:solidFill>
                <a:latin typeface="Arial MT"/>
                <a:cs typeface="Arial MT"/>
              </a:rPr>
              <a:t> </a:t>
            </a:r>
            <a:r>
              <a:rPr sz="2400" dirty="0">
                <a:solidFill>
                  <a:srgbClr val="4D4D4B"/>
                </a:solidFill>
                <a:latin typeface="Arial MT"/>
                <a:cs typeface="Arial MT"/>
              </a:rPr>
              <a:t>-</a:t>
            </a:r>
            <a:r>
              <a:rPr sz="2400" spc="-5" dirty="0">
                <a:solidFill>
                  <a:srgbClr val="4D4D4B"/>
                </a:solidFill>
                <a:latin typeface="Arial MT"/>
                <a:cs typeface="Arial MT"/>
              </a:rPr>
              <a:t> </a:t>
            </a:r>
            <a:r>
              <a:rPr sz="2400" dirty="0">
                <a:solidFill>
                  <a:srgbClr val="4D4D4B"/>
                </a:solidFill>
                <a:latin typeface="Arial MT"/>
                <a:cs typeface="Arial MT"/>
              </a:rPr>
              <a:t>servers </a:t>
            </a:r>
            <a:r>
              <a:rPr sz="2400" spc="-5" dirty="0">
                <a:solidFill>
                  <a:srgbClr val="4D4D4B"/>
                </a:solidFill>
                <a:latin typeface="Arial MT"/>
                <a:cs typeface="Arial MT"/>
              </a:rPr>
              <a:t>cache</a:t>
            </a:r>
            <a:r>
              <a:rPr sz="2400" spc="10" dirty="0">
                <a:solidFill>
                  <a:srgbClr val="4D4D4B"/>
                </a:solidFill>
                <a:latin typeface="Arial MT"/>
                <a:cs typeface="Arial MT"/>
              </a:rPr>
              <a:t> </a:t>
            </a:r>
            <a:r>
              <a:rPr sz="2400" spc="-5" dirty="0">
                <a:solidFill>
                  <a:srgbClr val="4D4D4B"/>
                </a:solidFill>
                <a:latin typeface="Arial MT"/>
                <a:cs typeface="Arial MT"/>
              </a:rPr>
              <a:t>user</a:t>
            </a:r>
            <a:r>
              <a:rPr sz="2400" dirty="0">
                <a:solidFill>
                  <a:srgbClr val="4D4D4B"/>
                </a:solidFill>
                <a:latin typeface="Arial MT"/>
                <a:cs typeface="Arial MT"/>
              </a:rPr>
              <a:t> </a:t>
            </a:r>
            <a:r>
              <a:rPr sz="2400" spc="-5" dirty="0">
                <a:solidFill>
                  <a:srgbClr val="4D4D4B"/>
                </a:solidFill>
                <a:latin typeface="Arial MT"/>
                <a:cs typeface="Arial MT"/>
              </a:rPr>
              <a:t>data</a:t>
            </a:r>
            <a:endParaRPr sz="2400" dirty="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Disabled</a:t>
            </a:r>
            <a:r>
              <a:rPr sz="2400" spc="15" dirty="0">
                <a:solidFill>
                  <a:srgbClr val="4D4D4B"/>
                </a:solidFill>
                <a:latin typeface="Arial MT"/>
                <a:cs typeface="Arial MT"/>
              </a:rPr>
              <a:t> </a:t>
            </a:r>
            <a:r>
              <a:rPr sz="2400" spc="-5" dirty="0">
                <a:solidFill>
                  <a:srgbClr val="4D4D4B"/>
                </a:solidFill>
                <a:latin typeface="Arial MT"/>
                <a:cs typeface="Arial MT"/>
              </a:rPr>
              <a:t>by</a:t>
            </a:r>
            <a:r>
              <a:rPr sz="2400" spc="-10" dirty="0">
                <a:solidFill>
                  <a:srgbClr val="4D4D4B"/>
                </a:solidFill>
                <a:latin typeface="Arial MT"/>
                <a:cs typeface="Arial MT"/>
              </a:rPr>
              <a:t> </a:t>
            </a:r>
            <a:r>
              <a:rPr sz="2400" spc="-5" dirty="0">
                <a:solidFill>
                  <a:srgbClr val="4D4D4B"/>
                </a:solidFill>
                <a:latin typeface="Arial MT"/>
                <a:cs typeface="Arial MT"/>
              </a:rPr>
              <a:t>default</a:t>
            </a:r>
            <a:r>
              <a:rPr lang="en-US" sz="2400" spc="-5" dirty="0">
                <a:solidFill>
                  <a:srgbClr val="4D4D4B"/>
                </a:solidFill>
                <a:latin typeface="Arial MT"/>
                <a:cs typeface="Arial MT"/>
              </a:rPr>
              <a:t> the Sticky session</a:t>
            </a:r>
            <a:endParaRPr sz="2400" dirty="0">
              <a:latin typeface="Arial MT"/>
              <a:cs typeface="Arial MT"/>
            </a:endParaRPr>
          </a:p>
          <a:p>
            <a:pPr>
              <a:lnSpc>
                <a:spcPct val="100000"/>
              </a:lnSpc>
              <a:spcBef>
                <a:spcPts val="10"/>
              </a:spcBef>
              <a:buClr>
                <a:srgbClr val="4D4D4B"/>
              </a:buClr>
              <a:buFont typeface="Arial MT"/>
              <a:buChar char="•"/>
            </a:pPr>
            <a:endParaRPr sz="3500" dirty="0">
              <a:latin typeface="Arial MT"/>
              <a:cs typeface="Arial MT"/>
            </a:endParaRPr>
          </a:p>
          <a:p>
            <a:pPr marL="12700">
              <a:lnSpc>
                <a:spcPct val="100000"/>
              </a:lnSpc>
            </a:pPr>
            <a:r>
              <a:rPr sz="2400" spc="-5" dirty="0">
                <a:solidFill>
                  <a:srgbClr val="4D4D4B"/>
                </a:solidFill>
                <a:latin typeface="Arial MT"/>
                <a:cs typeface="Arial MT"/>
              </a:rPr>
              <a:t>HTTP/2</a:t>
            </a:r>
            <a:endParaRPr sz="2400" dirty="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Multiple</a:t>
            </a:r>
            <a:r>
              <a:rPr sz="2400" spc="20" dirty="0">
                <a:solidFill>
                  <a:srgbClr val="4D4D4B"/>
                </a:solidFill>
                <a:latin typeface="Arial MT"/>
                <a:cs typeface="Arial MT"/>
              </a:rPr>
              <a:t> </a:t>
            </a:r>
            <a:r>
              <a:rPr sz="2400" spc="-5" dirty="0">
                <a:solidFill>
                  <a:srgbClr val="4D4D4B"/>
                </a:solidFill>
                <a:latin typeface="Arial MT"/>
                <a:cs typeface="Arial MT"/>
              </a:rPr>
              <a:t>requests</a:t>
            </a:r>
            <a:r>
              <a:rPr sz="2400" dirty="0">
                <a:solidFill>
                  <a:srgbClr val="4D4D4B"/>
                </a:solidFill>
                <a:latin typeface="Arial MT"/>
                <a:cs typeface="Arial MT"/>
              </a:rPr>
              <a:t> sent</a:t>
            </a:r>
            <a:r>
              <a:rPr sz="2400" spc="5" dirty="0">
                <a:solidFill>
                  <a:srgbClr val="4D4D4B"/>
                </a:solidFill>
                <a:latin typeface="Arial MT"/>
                <a:cs typeface="Arial MT"/>
              </a:rPr>
              <a:t> </a:t>
            </a:r>
            <a:r>
              <a:rPr sz="2400" spc="-5" dirty="0">
                <a:solidFill>
                  <a:srgbClr val="4D4D4B"/>
                </a:solidFill>
                <a:latin typeface="Arial MT"/>
                <a:cs typeface="Arial MT"/>
              </a:rPr>
              <a:t>on</a:t>
            </a:r>
            <a:r>
              <a:rPr sz="2400" dirty="0">
                <a:solidFill>
                  <a:srgbClr val="4D4D4B"/>
                </a:solidFill>
                <a:latin typeface="Arial MT"/>
                <a:cs typeface="Arial MT"/>
              </a:rPr>
              <a:t> the same</a:t>
            </a:r>
            <a:r>
              <a:rPr sz="2400" spc="-10" dirty="0">
                <a:solidFill>
                  <a:srgbClr val="4D4D4B"/>
                </a:solidFill>
                <a:latin typeface="Arial MT"/>
                <a:cs typeface="Arial MT"/>
              </a:rPr>
              <a:t> </a:t>
            </a:r>
            <a:r>
              <a:rPr sz="2400" spc="-5" dirty="0">
                <a:solidFill>
                  <a:srgbClr val="4D4D4B"/>
                </a:solidFill>
                <a:latin typeface="Arial MT"/>
                <a:cs typeface="Arial MT"/>
              </a:rPr>
              <a:t>connection</a:t>
            </a:r>
            <a:endParaRPr sz="2400" dirty="0">
              <a:latin typeface="Arial MT"/>
              <a:cs typeface="Arial MT"/>
            </a:endParaRPr>
          </a:p>
          <a:p>
            <a:pPr marL="355600" indent="-342900">
              <a:lnSpc>
                <a:spcPct val="100000"/>
              </a:lnSpc>
              <a:spcBef>
                <a:spcPts val="580"/>
              </a:spcBef>
              <a:buChar char="•"/>
              <a:tabLst>
                <a:tab pos="354965" algn="l"/>
                <a:tab pos="355600" algn="l"/>
              </a:tabLst>
            </a:pPr>
            <a:r>
              <a:rPr sz="2400" spc="-10" dirty="0">
                <a:solidFill>
                  <a:srgbClr val="4D4D4B"/>
                </a:solidFill>
                <a:latin typeface="Arial MT"/>
                <a:cs typeface="Arial MT"/>
              </a:rPr>
              <a:t>Efficient</a:t>
            </a:r>
            <a:r>
              <a:rPr sz="2400" spc="5" dirty="0">
                <a:solidFill>
                  <a:srgbClr val="4D4D4B"/>
                </a:solidFill>
                <a:latin typeface="Arial MT"/>
                <a:cs typeface="Arial MT"/>
              </a:rPr>
              <a:t> </a:t>
            </a:r>
            <a:r>
              <a:rPr sz="2400" spc="-5" dirty="0">
                <a:solidFill>
                  <a:srgbClr val="4D4D4B"/>
                </a:solidFill>
                <a:latin typeface="Arial MT"/>
                <a:cs typeface="Arial MT"/>
              </a:rPr>
              <a:t>use</a:t>
            </a:r>
            <a:r>
              <a:rPr sz="2400" dirty="0">
                <a:solidFill>
                  <a:srgbClr val="4D4D4B"/>
                </a:solidFill>
                <a:latin typeface="Arial MT"/>
                <a:cs typeface="Arial MT"/>
              </a:rPr>
              <a:t> of</a:t>
            </a:r>
            <a:r>
              <a:rPr sz="2400" spc="5" dirty="0">
                <a:solidFill>
                  <a:srgbClr val="4D4D4B"/>
                </a:solidFill>
                <a:latin typeface="Arial MT"/>
                <a:cs typeface="Arial MT"/>
              </a:rPr>
              <a:t> </a:t>
            </a:r>
            <a:r>
              <a:rPr sz="2400" spc="-5" dirty="0">
                <a:solidFill>
                  <a:srgbClr val="4D4D4B"/>
                </a:solidFill>
                <a:latin typeface="Arial MT"/>
                <a:cs typeface="Arial MT"/>
              </a:rPr>
              <a:t>network</a:t>
            </a:r>
            <a:r>
              <a:rPr sz="2400" spc="5" dirty="0">
                <a:solidFill>
                  <a:srgbClr val="4D4D4B"/>
                </a:solidFill>
                <a:latin typeface="Arial MT"/>
                <a:cs typeface="Arial MT"/>
              </a:rPr>
              <a:t> </a:t>
            </a:r>
            <a:r>
              <a:rPr sz="2400" spc="-5" dirty="0">
                <a:solidFill>
                  <a:srgbClr val="4D4D4B"/>
                </a:solidFill>
                <a:latin typeface="Arial MT"/>
                <a:cs typeface="Arial MT"/>
              </a:rPr>
              <a:t>resources</a:t>
            </a:r>
            <a:endParaRPr sz="2400" dirty="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348043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Additional</a:t>
            </a:r>
            <a:r>
              <a:rPr u="none" spc="-40" dirty="0">
                <a:solidFill>
                  <a:srgbClr val="4D4D4B"/>
                </a:solidFill>
              </a:rPr>
              <a:t> </a:t>
            </a:r>
            <a:r>
              <a:rPr u="none" spc="-5" dirty="0">
                <a:solidFill>
                  <a:srgbClr val="4D4D4B"/>
                </a:solidFill>
              </a:rPr>
              <a:t>Concepts</a:t>
            </a:r>
          </a:p>
        </p:txBody>
      </p:sp>
      <p:sp>
        <p:nvSpPr>
          <p:cNvPr id="3" name="object 3"/>
          <p:cNvSpPr txBox="1"/>
          <p:nvPr/>
        </p:nvSpPr>
        <p:spPr>
          <a:xfrm>
            <a:off x="419506" y="962025"/>
            <a:ext cx="8295640" cy="4041491"/>
          </a:xfrm>
          <a:prstGeom prst="rect">
            <a:avLst/>
          </a:prstGeom>
        </p:spPr>
        <p:txBody>
          <a:bodyPr vert="horz" wrap="square" lIns="0" tIns="85725" rIns="0" bIns="0" rtlCol="0">
            <a:spAutoFit/>
          </a:bodyPr>
          <a:lstStyle/>
          <a:p>
            <a:pPr marL="12700">
              <a:lnSpc>
                <a:spcPct val="100000"/>
              </a:lnSpc>
              <a:spcBef>
                <a:spcPts val="675"/>
              </a:spcBef>
            </a:pPr>
            <a:r>
              <a:rPr sz="2400" spc="-10" dirty="0">
                <a:solidFill>
                  <a:srgbClr val="4D4D4B"/>
                </a:solidFill>
                <a:latin typeface="Arial MT"/>
                <a:cs typeface="Arial MT"/>
              </a:rPr>
              <a:t>WebSockets</a:t>
            </a:r>
            <a:endParaRPr sz="2400" dirty="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Long</a:t>
            </a:r>
            <a:r>
              <a:rPr sz="2400" dirty="0">
                <a:solidFill>
                  <a:srgbClr val="4D4D4B"/>
                </a:solidFill>
                <a:latin typeface="Arial MT"/>
                <a:cs typeface="Arial MT"/>
              </a:rPr>
              <a:t> </a:t>
            </a:r>
            <a:r>
              <a:rPr sz="2400" spc="-5" dirty="0">
                <a:solidFill>
                  <a:srgbClr val="4D4D4B"/>
                </a:solidFill>
                <a:latin typeface="Arial MT"/>
                <a:cs typeface="Arial MT"/>
              </a:rPr>
              <a:t>running</a:t>
            </a:r>
            <a:r>
              <a:rPr sz="2400" spc="-35" dirty="0">
                <a:solidFill>
                  <a:srgbClr val="4D4D4B"/>
                </a:solidFill>
                <a:latin typeface="Arial MT"/>
                <a:cs typeface="Arial MT"/>
              </a:rPr>
              <a:t> </a:t>
            </a:r>
            <a:r>
              <a:rPr sz="2400" spc="-5" dirty="0">
                <a:solidFill>
                  <a:srgbClr val="4D4D4B"/>
                </a:solidFill>
                <a:latin typeface="Arial MT"/>
                <a:cs typeface="Arial MT"/>
              </a:rPr>
              <a:t>TCP</a:t>
            </a:r>
            <a:r>
              <a:rPr sz="2400" spc="-50" dirty="0">
                <a:solidFill>
                  <a:srgbClr val="4D4D4B"/>
                </a:solidFill>
                <a:latin typeface="Arial MT"/>
                <a:cs typeface="Arial MT"/>
              </a:rPr>
              <a:t> </a:t>
            </a:r>
            <a:r>
              <a:rPr sz="2400" spc="-5" dirty="0">
                <a:solidFill>
                  <a:srgbClr val="4D4D4B"/>
                </a:solidFill>
                <a:latin typeface="Arial MT"/>
                <a:cs typeface="Arial MT"/>
              </a:rPr>
              <a:t>Connection</a:t>
            </a:r>
            <a:endParaRPr sz="2400" dirty="0">
              <a:latin typeface="Arial MT"/>
              <a:cs typeface="Arial MT"/>
            </a:endParaRPr>
          </a:p>
          <a:p>
            <a:pPr marL="355600" indent="-342900">
              <a:lnSpc>
                <a:spcPct val="100000"/>
              </a:lnSpc>
              <a:spcBef>
                <a:spcPts val="580"/>
              </a:spcBef>
              <a:buChar char="•"/>
              <a:tabLst>
                <a:tab pos="354965" algn="l"/>
                <a:tab pos="355600" algn="l"/>
              </a:tabLst>
            </a:pPr>
            <a:r>
              <a:rPr sz="2400" spc="-5" dirty="0">
                <a:solidFill>
                  <a:srgbClr val="4D4D4B"/>
                </a:solidFill>
                <a:latin typeface="Arial MT"/>
                <a:cs typeface="Arial MT"/>
              </a:rPr>
              <a:t>Bi-directional</a:t>
            </a:r>
            <a:endParaRPr sz="2400" dirty="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Server</a:t>
            </a:r>
            <a:r>
              <a:rPr sz="2400" spc="5" dirty="0">
                <a:solidFill>
                  <a:srgbClr val="4D4D4B"/>
                </a:solidFill>
                <a:latin typeface="Arial MT"/>
                <a:cs typeface="Arial MT"/>
              </a:rPr>
              <a:t> </a:t>
            </a:r>
            <a:r>
              <a:rPr sz="2400" dirty="0">
                <a:solidFill>
                  <a:srgbClr val="4D4D4B"/>
                </a:solidFill>
                <a:latin typeface="Arial MT"/>
                <a:cs typeface="Arial MT"/>
              </a:rPr>
              <a:t>to</a:t>
            </a:r>
            <a:r>
              <a:rPr sz="2400" spc="-10" dirty="0">
                <a:solidFill>
                  <a:srgbClr val="4D4D4B"/>
                </a:solidFill>
                <a:latin typeface="Arial MT"/>
                <a:cs typeface="Arial MT"/>
              </a:rPr>
              <a:t> </a:t>
            </a:r>
            <a:r>
              <a:rPr sz="2400" spc="-5" dirty="0">
                <a:solidFill>
                  <a:srgbClr val="4D4D4B"/>
                </a:solidFill>
                <a:latin typeface="Arial MT"/>
                <a:cs typeface="Arial MT"/>
              </a:rPr>
              <a:t>Client</a:t>
            </a:r>
            <a:r>
              <a:rPr sz="2400" spc="20" dirty="0">
                <a:solidFill>
                  <a:srgbClr val="4D4D4B"/>
                </a:solidFill>
                <a:latin typeface="Arial MT"/>
                <a:cs typeface="Arial MT"/>
              </a:rPr>
              <a:t> </a:t>
            </a:r>
            <a:r>
              <a:rPr sz="2400" spc="-5" dirty="0">
                <a:solidFill>
                  <a:srgbClr val="4D4D4B"/>
                </a:solidFill>
                <a:latin typeface="Arial MT"/>
                <a:cs typeface="Arial MT"/>
              </a:rPr>
              <a:t>Push</a:t>
            </a:r>
            <a:r>
              <a:rPr sz="2400" spc="10" dirty="0">
                <a:solidFill>
                  <a:srgbClr val="4D4D4B"/>
                </a:solidFill>
                <a:latin typeface="Arial MT"/>
                <a:cs typeface="Arial MT"/>
              </a:rPr>
              <a:t> </a:t>
            </a:r>
            <a:r>
              <a:rPr sz="2400" spc="-5" dirty="0">
                <a:solidFill>
                  <a:srgbClr val="4D4D4B"/>
                </a:solidFill>
                <a:latin typeface="Arial MT"/>
                <a:cs typeface="Arial MT"/>
              </a:rPr>
              <a:t>notification</a:t>
            </a:r>
            <a:r>
              <a:rPr sz="2400" spc="15" dirty="0">
                <a:solidFill>
                  <a:srgbClr val="4D4D4B"/>
                </a:solidFill>
                <a:latin typeface="Arial MT"/>
                <a:cs typeface="Arial MT"/>
              </a:rPr>
              <a:t> </a:t>
            </a:r>
            <a:r>
              <a:rPr sz="2400" spc="-5" dirty="0">
                <a:solidFill>
                  <a:srgbClr val="4D4D4B"/>
                </a:solidFill>
                <a:latin typeface="Arial MT"/>
                <a:cs typeface="Arial MT"/>
              </a:rPr>
              <a:t>support</a:t>
            </a:r>
            <a:endParaRPr lang="en-US" sz="2400" spc="-5" dirty="0">
              <a:solidFill>
                <a:srgbClr val="4D4D4B"/>
              </a:solidFill>
              <a:latin typeface="Arial MT"/>
              <a:cs typeface="Arial MT"/>
            </a:endParaRPr>
          </a:p>
          <a:p>
            <a:pPr marL="355600" indent="-342900">
              <a:lnSpc>
                <a:spcPct val="100000"/>
              </a:lnSpc>
              <a:spcBef>
                <a:spcPts val="575"/>
              </a:spcBef>
              <a:buChar char="•"/>
              <a:tabLst>
                <a:tab pos="354965" algn="l"/>
                <a:tab pos="355600" algn="l"/>
              </a:tabLst>
            </a:pPr>
            <a:r>
              <a:rPr lang="en-IN" sz="2400" spc="-5" dirty="0">
                <a:solidFill>
                  <a:srgbClr val="4D4D4B"/>
                </a:solidFill>
                <a:latin typeface="Arial MT"/>
                <a:cs typeface="Arial MT"/>
              </a:rPr>
              <a:t>(</a:t>
            </a:r>
            <a:r>
              <a:rPr lang="en-IN" sz="2400" spc="-5" dirty="0" err="1">
                <a:solidFill>
                  <a:srgbClr val="4D4D4B"/>
                </a:solidFill>
                <a:latin typeface="Arial MT"/>
                <a:cs typeface="Arial MT"/>
              </a:rPr>
              <a:t>eg.</a:t>
            </a:r>
            <a:r>
              <a:rPr lang="en-IN" sz="2400" spc="-5" dirty="0">
                <a:solidFill>
                  <a:srgbClr val="4D4D4B"/>
                </a:solidFill>
                <a:latin typeface="Arial MT"/>
                <a:cs typeface="Arial MT"/>
              </a:rPr>
              <a:t> Gmail : Automatically receives mail alerts)</a:t>
            </a:r>
            <a:endParaRPr sz="2400" dirty="0">
              <a:latin typeface="Arial MT"/>
              <a:cs typeface="Arial MT"/>
            </a:endParaRPr>
          </a:p>
          <a:p>
            <a:pPr>
              <a:lnSpc>
                <a:spcPct val="100000"/>
              </a:lnSpc>
              <a:spcBef>
                <a:spcPts val="10"/>
              </a:spcBef>
              <a:buClr>
                <a:srgbClr val="4D4D4B"/>
              </a:buClr>
              <a:buFont typeface="Arial MT"/>
              <a:buChar char="•"/>
            </a:pPr>
            <a:endParaRPr sz="3500" dirty="0">
              <a:latin typeface="Arial MT"/>
              <a:cs typeface="Arial MT"/>
            </a:endParaRPr>
          </a:p>
          <a:p>
            <a:pPr marL="12700">
              <a:lnSpc>
                <a:spcPct val="100000"/>
              </a:lnSpc>
            </a:pPr>
            <a:r>
              <a:rPr sz="2400" spc="-5" dirty="0">
                <a:solidFill>
                  <a:srgbClr val="4D4D4B"/>
                </a:solidFill>
                <a:latin typeface="Arial MT"/>
                <a:cs typeface="Arial MT"/>
              </a:rPr>
              <a:t>Cross</a:t>
            </a:r>
            <a:r>
              <a:rPr sz="2400" spc="-10" dirty="0">
                <a:solidFill>
                  <a:srgbClr val="4D4D4B"/>
                </a:solidFill>
                <a:latin typeface="Arial MT"/>
                <a:cs typeface="Arial MT"/>
              </a:rPr>
              <a:t> </a:t>
            </a:r>
            <a:r>
              <a:rPr sz="2400" spc="-5" dirty="0">
                <a:solidFill>
                  <a:srgbClr val="4D4D4B"/>
                </a:solidFill>
                <a:latin typeface="Arial MT"/>
                <a:cs typeface="Arial MT"/>
              </a:rPr>
              <a:t>Zone Load</a:t>
            </a:r>
            <a:r>
              <a:rPr sz="2400" dirty="0">
                <a:solidFill>
                  <a:srgbClr val="4D4D4B"/>
                </a:solidFill>
                <a:latin typeface="Arial MT"/>
                <a:cs typeface="Arial MT"/>
              </a:rPr>
              <a:t> </a:t>
            </a:r>
            <a:r>
              <a:rPr sz="2400" spc="-5" dirty="0">
                <a:solidFill>
                  <a:srgbClr val="4D4D4B"/>
                </a:solidFill>
                <a:latin typeface="Arial MT"/>
                <a:cs typeface="Arial MT"/>
              </a:rPr>
              <a:t>Balancing</a:t>
            </a:r>
            <a:endParaRPr sz="2400" dirty="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Enabled</a:t>
            </a:r>
            <a:r>
              <a:rPr sz="2400" spc="45" dirty="0">
                <a:solidFill>
                  <a:srgbClr val="4D4D4B"/>
                </a:solidFill>
                <a:latin typeface="Arial MT"/>
                <a:cs typeface="Arial MT"/>
              </a:rPr>
              <a:t> </a:t>
            </a:r>
            <a:r>
              <a:rPr sz="2400" dirty="0">
                <a:solidFill>
                  <a:srgbClr val="4D4D4B"/>
                </a:solidFill>
                <a:latin typeface="Arial MT"/>
                <a:cs typeface="Arial MT"/>
              </a:rPr>
              <a:t>–</a:t>
            </a:r>
            <a:r>
              <a:rPr sz="2400" spc="-10" dirty="0">
                <a:solidFill>
                  <a:srgbClr val="4D4D4B"/>
                </a:solidFill>
                <a:latin typeface="Arial MT"/>
                <a:cs typeface="Arial MT"/>
              </a:rPr>
              <a:t> </a:t>
            </a:r>
            <a:r>
              <a:rPr sz="2400" spc="-5" dirty="0">
                <a:solidFill>
                  <a:srgbClr val="4D4D4B"/>
                </a:solidFill>
                <a:latin typeface="Arial MT"/>
                <a:cs typeface="Arial MT"/>
              </a:rPr>
              <a:t>distribute</a:t>
            </a:r>
            <a:r>
              <a:rPr sz="2400" spc="10" dirty="0">
                <a:solidFill>
                  <a:srgbClr val="4D4D4B"/>
                </a:solidFill>
                <a:latin typeface="Arial MT"/>
                <a:cs typeface="Arial MT"/>
              </a:rPr>
              <a:t> </a:t>
            </a:r>
            <a:r>
              <a:rPr sz="2400" spc="-10" dirty="0">
                <a:solidFill>
                  <a:srgbClr val="4D4D4B"/>
                </a:solidFill>
                <a:latin typeface="Arial MT"/>
                <a:cs typeface="Arial MT"/>
              </a:rPr>
              <a:t>traffic</a:t>
            </a:r>
            <a:r>
              <a:rPr sz="2400" spc="-15" dirty="0">
                <a:solidFill>
                  <a:srgbClr val="4D4D4B"/>
                </a:solidFill>
                <a:latin typeface="Arial MT"/>
                <a:cs typeface="Arial MT"/>
              </a:rPr>
              <a:t> </a:t>
            </a:r>
            <a:r>
              <a:rPr sz="2400" spc="-5" dirty="0">
                <a:solidFill>
                  <a:srgbClr val="4D4D4B"/>
                </a:solidFill>
                <a:latin typeface="Arial MT"/>
                <a:cs typeface="Arial MT"/>
              </a:rPr>
              <a:t>evenly</a:t>
            </a:r>
            <a:r>
              <a:rPr sz="2400" spc="30" dirty="0">
                <a:solidFill>
                  <a:srgbClr val="4D4D4B"/>
                </a:solidFill>
                <a:latin typeface="Arial MT"/>
                <a:cs typeface="Arial MT"/>
              </a:rPr>
              <a:t> </a:t>
            </a:r>
            <a:r>
              <a:rPr sz="2400" dirty="0">
                <a:solidFill>
                  <a:srgbClr val="4D4D4B"/>
                </a:solidFill>
                <a:latin typeface="Arial MT"/>
                <a:cs typeface="Arial MT"/>
              </a:rPr>
              <a:t>across</a:t>
            </a:r>
            <a:r>
              <a:rPr sz="2400" spc="-10" dirty="0">
                <a:solidFill>
                  <a:srgbClr val="4D4D4B"/>
                </a:solidFill>
                <a:latin typeface="Arial MT"/>
                <a:cs typeface="Arial MT"/>
              </a:rPr>
              <a:t> </a:t>
            </a:r>
            <a:r>
              <a:rPr sz="2400" spc="-5" dirty="0">
                <a:solidFill>
                  <a:srgbClr val="4D4D4B"/>
                </a:solidFill>
                <a:latin typeface="Arial MT"/>
                <a:cs typeface="Arial MT"/>
              </a:rPr>
              <a:t>all</a:t>
            </a:r>
            <a:r>
              <a:rPr sz="2400" spc="25" dirty="0">
                <a:solidFill>
                  <a:srgbClr val="4D4D4B"/>
                </a:solidFill>
                <a:latin typeface="Arial MT"/>
                <a:cs typeface="Arial MT"/>
              </a:rPr>
              <a:t> </a:t>
            </a:r>
            <a:r>
              <a:rPr sz="2400" spc="-5" dirty="0">
                <a:solidFill>
                  <a:srgbClr val="4D4D4B"/>
                </a:solidFill>
                <a:latin typeface="Arial MT"/>
                <a:cs typeface="Arial MT"/>
              </a:rPr>
              <a:t>EC2</a:t>
            </a:r>
            <a:r>
              <a:rPr sz="2400" spc="10" dirty="0">
                <a:solidFill>
                  <a:srgbClr val="4D4D4B"/>
                </a:solidFill>
                <a:latin typeface="Arial MT"/>
                <a:cs typeface="Arial MT"/>
              </a:rPr>
              <a:t> </a:t>
            </a:r>
            <a:r>
              <a:rPr sz="2400" spc="-5" dirty="0">
                <a:solidFill>
                  <a:srgbClr val="4D4D4B"/>
                </a:solidFill>
                <a:latin typeface="Arial MT"/>
                <a:cs typeface="Arial MT"/>
              </a:rPr>
              <a:t>instances</a:t>
            </a:r>
            <a:endParaRPr sz="2400" dirty="0">
              <a:latin typeface="Arial MT"/>
              <a:cs typeface="Arial MT"/>
            </a:endParaRPr>
          </a:p>
          <a:p>
            <a:pPr marL="355600" indent="-342900">
              <a:lnSpc>
                <a:spcPct val="100000"/>
              </a:lnSpc>
              <a:spcBef>
                <a:spcPts val="580"/>
              </a:spcBef>
              <a:buChar char="•"/>
              <a:tabLst>
                <a:tab pos="354965" algn="l"/>
                <a:tab pos="355600" algn="l"/>
              </a:tabLst>
            </a:pPr>
            <a:r>
              <a:rPr sz="2400" spc="-5" dirty="0">
                <a:solidFill>
                  <a:srgbClr val="4D4D4B"/>
                </a:solidFill>
                <a:latin typeface="Arial MT"/>
                <a:cs typeface="Arial MT"/>
              </a:rPr>
              <a:t>Disabled</a:t>
            </a:r>
            <a:r>
              <a:rPr sz="2400" spc="45" dirty="0">
                <a:solidFill>
                  <a:srgbClr val="4D4D4B"/>
                </a:solidFill>
                <a:latin typeface="Arial MT"/>
                <a:cs typeface="Arial MT"/>
              </a:rPr>
              <a:t> </a:t>
            </a:r>
            <a:r>
              <a:rPr sz="2400" dirty="0">
                <a:solidFill>
                  <a:srgbClr val="4D4D4B"/>
                </a:solidFill>
                <a:latin typeface="Arial MT"/>
                <a:cs typeface="Arial MT"/>
              </a:rPr>
              <a:t>–</a:t>
            </a:r>
            <a:r>
              <a:rPr sz="2400" spc="10" dirty="0">
                <a:solidFill>
                  <a:srgbClr val="4D4D4B"/>
                </a:solidFill>
                <a:latin typeface="Arial MT"/>
                <a:cs typeface="Arial MT"/>
              </a:rPr>
              <a:t> </a:t>
            </a:r>
            <a:r>
              <a:rPr sz="2400" spc="-5" dirty="0">
                <a:solidFill>
                  <a:srgbClr val="4D4D4B"/>
                </a:solidFill>
                <a:latin typeface="Arial MT"/>
                <a:cs typeface="Arial MT"/>
              </a:rPr>
              <a:t>distribute</a:t>
            </a:r>
            <a:r>
              <a:rPr sz="2400" spc="20" dirty="0">
                <a:solidFill>
                  <a:srgbClr val="4D4D4B"/>
                </a:solidFill>
                <a:latin typeface="Arial MT"/>
                <a:cs typeface="Arial MT"/>
              </a:rPr>
              <a:t> </a:t>
            </a:r>
            <a:r>
              <a:rPr sz="2400" spc="-10" dirty="0">
                <a:solidFill>
                  <a:srgbClr val="4D4D4B"/>
                </a:solidFill>
                <a:latin typeface="Arial MT"/>
                <a:cs typeface="Arial MT"/>
              </a:rPr>
              <a:t>traffic </a:t>
            </a:r>
            <a:r>
              <a:rPr sz="2400" spc="-5" dirty="0">
                <a:solidFill>
                  <a:srgbClr val="4D4D4B"/>
                </a:solidFill>
                <a:latin typeface="Arial MT"/>
                <a:cs typeface="Arial MT"/>
              </a:rPr>
              <a:t>evenly</a:t>
            </a:r>
            <a:r>
              <a:rPr sz="2400" spc="25" dirty="0">
                <a:solidFill>
                  <a:srgbClr val="4D4D4B"/>
                </a:solidFill>
                <a:latin typeface="Arial MT"/>
                <a:cs typeface="Arial MT"/>
              </a:rPr>
              <a:t> </a:t>
            </a:r>
            <a:r>
              <a:rPr sz="2400" spc="-5" dirty="0">
                <a:solidFill>
                  <a:srgbClr val="4D4D4B"/>
                </a:solidFill>
                <a:latin typeface="Arial MT"/>
                <a:cs typeface="Arial MT"/>
              </a:rPr>
              <a:t>across</a:t>
            </a:r>
            <a:r>
              <a:rPr sz="2400" spc="10" dirty="0">
                <a:solidFill>
                  <a:srgbClr val="4D4D4B"/>
                </a:solidFill>
                <a:latin typeface="Arial MT"/>
                <a:cs typeface="Arial MT"/>
              </a:rPr>
              <a:t> </a:t>
            </a:r>
            <a:r>
              <a:rPr sz="2400" spc="-5" dirty="0">
                <a:solidFill>
                  <a:srgbClr val="4D4D4B"/>
                </a:solidFill>
                <a:latin typeface="Arial MT"/>
                <a:cs typeface="Arial MT"/>
              </a:rPr>
              <a:t>availability</a:t>
            </a:r>
            <a:r>
              <a:rPr sz="2400" spc="45" dirty="0">
                <a:solidFill>
                  <a:srgbClr val="4D4D4B"/>
                </a:solidFill>
                <a:latin typeface="Arial MT"/>
                <a:cs typeface="Arial MT"/>
              </a:rPr>
              <a:t> </a:t>
            </a:r>
            <a:r>
              <a:rPr sz="2400" spc="-5" dirty="0">
                <a:solidFill>
                  <a:srgbClr val="4D4D4B"/>
                </a:solidFill>
                <a:latin typeface="Arial MT"/>
                <a:cs typeface="Arial MT"/>
              </a:rPr>
              <a:t>zones</a:t>
            </a:r>
            <a:endParaRPr sz="2400" dirty="0">
              <a:latin typeface="Arial MT"/>
              <a:cs typeface="Arial M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75284" y="2103881"/>
            <a:ext cx="5094605" cy="635000"/>
          </a:xfrm>
          <a:prstGeom prst="rect">
            <a:avLst/>
          </a:prstGeom>
        </p:spPr>
        <p:txBody>
          <a:bodyPr vert="horz" wrap="square" lIns="0" tIns="12065" rIns="0" bIns="0" rtlCol="0">
            <a:spAutoFit/>
          </a:bodyPr>
          <a:lstStyle/>
          <a:p>
            <a:pPr marL="12700">
              <a:lnSpc>
                <a:spcPct val="100000"/>
              </a:lnSpc>
              <a:spcBef>
                <a:spcPts val="95"/>
              </a:spcBef>
            </a:pPr>
            <a:r>
              <a:rPr sz="4000" b="1" spc="-10" dirty="0">
                <a:solidFill>
                  <a:srgbClr val="4D4D4B"/>
                </a:solidFill>
                <a:latin typeface="Arial"/>
                <a:cs typeface="Arial"/>
              </a:rPr>
              <a:t>Load</a:t>
            </a:r>
            <a:r>
              <a:rPr sz="4000" b="1" spc="-40" dirty="0">
                <a:solidFill>
                  <a:srgbClr val="4D4D4B"/>
                </a:solidFill>
                <a:latin typeface="Arial"/>
                <a:cs typeface="Arial"/>
              </a:rPr>
              <a:t> </a:t>
            </a:r>
            <a:r>
              <a:rPr sz="4000" b="1" spc="-5" dirty="0">
                <a:solidFill>
                  <a:srgbClr val="4D4D4B"/>
                </a:solidFill>
                <a:latin typeface="Arial"/>
                <a:cs typeface="Arial"/>
              </a:rPr>
              <a:t>Balancer</a:t>
            </a:r>
            <a:r>
              <a:rPr sz="4000" b="1" spc="5" dirty="0">
                <a:solidFill>
                  <a:srgbClr val="4D4D4B"/>
                </a:solidFill>
                <a:latin typeface="Arial"/>
                <a:cs typeface="Arial"/>
              </a:rPr>
              <a:t> </a:t>
            </a:r>
            <a:r>
              <a:rPr sz="4000" b="1" spc="-65" dirty="0">
                <a:solidFill>
                  <a:srgbClr val="4D4D4B"/>
                </a:solidFill>
                <a:latin typeface="Arial"/>
                <a:cs typeface="Arial"/>
              </a:rPr>
              <a:t>Types</a:t>
            </a:r>
            <a:endParaRPr sz="4000">
              <a:latin typeface="Arial"/>
              <a:cs typeface="Arial"/>
            </a:endParaRPr>
          </a:p>
        </p:txBody>
      </p:sp>
      <p:sp>
        <p:nvSpPr>
          <p:cNvPr id="3" name="object 3"/>
          <p:cNvSpPr txBox="1"/>
          <p:nvPr/>
        </p:nvSpPr>
        <p:spPr>
          <a:xfrm>
            <a:off x="475284" y="2985973"/>
            <a:ext cx="3940810" cy="39179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4D4D4B"/>
                </a:solidFill>
                <a:latin typeface="Arial MT"/>
                <a:cs typeface="Arial MT"/>
              </a:rPr>
              <a:t>Classic,</a:t>
            </a:r>
            <a:r>
              <a:rPr sz="2400" spc="-125" dirty="0">
                <a:solidFill>
                  <a:srgbClr val="4D4D4B"/>
                </a:solidFill>
                <a:latin typeface="Arial MT"/>
                <a:cs typeface="Arial MT"/>
              </a:rPr>
              <a:t> </a:t>
            </a:r>
            <a:r>
              <a:rPr sz="2400" spc="-5" dirty="0">
                <a:solidFill>
                  <a:srgbClr val="4D4D4B"/>
                </a:solidFill>
                <a:latin typeface="Arial MT"/>
                <a:cs typeface="Arial MT"/>
              </a:rPr>
              <a:t>Application,</a:t>
            </a:r>
            <a:r>
              <a:rPr sz="2400" spc="30" dirty="0">
                <a:solidFill>
                  <a:srgbClr val="4D4D4B"/>
                </a:solidFill>
                <a:latin typeface="Arial MT"/>
                <a:cs typeface="Arial MT"/>
              </a:rPr>
              <a:t> </a:t>
            </a:r>
            <a:r>
              <a:rPr sz="2400" spc="-5" dirty="0">
                <a:solidFill>
                  <a:srgbClr val="4D4D4B"/>
                </a:solidFill>
                <a:latin typeface="Arial MT"/>
                <a:cs typeface="Arial MT"/>
              </a:rPr>
              <a:t>Network</a:t>
            </a:r>
            <a:endParaRPr sz="2400">
              <a:latin typeface="Arial MT"/>
              <a:cs typeface="Arial M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382079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Classic</a:t>
            </a:r>
            <a:r>
              <a:rPr u="none" spc="-10" dirty="0">
                <a:solidFill>
                  <a:srgbClr val="4D4D4B"/>
                </a:solidFill>
              </a:rPr>
              <a:t> </a:t>
            </a:r>
            <a:r>
              <a:rPr u="none" spc="-5" dirty="0">
                <a:solidFill>
                  <a:srgbClr val="4D4D4B"/>
                </a:solidFill>
              </a:rPr>
              <a:t>Load Balancer</a:t>
            </a:r>
          </a:p>
        </p:txBody>
      </p:sp>
      <p:sp>
        <p:nvSpPr>
          <p:cNvPr id="3" name="object 3"/>
          <p:cNvSpPr/>
          <p:nvPr/>
        </p:nvSpPr>
        <p:spPr>
          <a:xfrm>
            <a:off x="791718" y="1700022"/>
            <a:ext cx="3421379" cy="546100"/>
          </a:xfrm>
          <a:custGeom>
            <a:avLst/>
            <a:gdLst/>
            <a:ahLst/>
            <a:cxnLst/>
            <a:rect l="l" t="t" r="r" b="b"/>
            <a:pathLst>
              <a:path w="3421379" h="546100">
                <a:moveTo>
                  <a:pt x="0" y="90931"/>
                </a:moveTo>
                <a:lnTo>
                  <a:pt x="7146" y="55560"/>
                </a:lnTo>
                <a:lnTo>
                  <a:pt x="26635" y="26654"/>
                </a:lnTo>
                <a:lnTo>
                  <a:pt x="55539" y="7153"/>
                </a:lnTo>
                <a:lnTo>
                  <a:pt x="90931" y="0"/>
                </a:lnTo>
                <a:lnTo>
                  <a:pt x="3330448" y="0"/>
                </a:lnTo>
                <a:lnTo>
                  <a:pt x="3365819" y="7153"/>
                </a:lnTo>
                <a:lnTo>
                  <a:pt x="3394725" y="26654"/>
                </a:lnTo>
                <a:lnTo>
                  <a:pt x="3414226" y="55560"/>
                </a:lnTo>
                <a:lnTo>
                  <a:pt x="3421379" y="90931"/>
                </a:lnTo>
                <a:lnTo>
                  <a:pt x="3421379" y="454659"/>
                </a:lnTo>
                <a:lnTo>
                  <a:pt x="3414226" y="490031"/>
                </a:lnTo>
                <a:lnTo>
                  <a:pt x="3394725" y="518937"/>
                </a:lnTo>
                <a:lnTo>
                  <a:pt x="3365819" y="538438"/>
                </a:lnTo>
                <a:lnTo>
                  <a:pt x="3330448" y="545591"/>
                </a:lnTo>
                <a:lnTo>
                  <a:pt x="90931" y="545591"/>
                </a:lnTo>
                <a:lnTo>
                  <a:pt x="55539" y="538438"/>
                </a:lnTo>
                <a:lnTo>
                  <a:pt x="26635" y="518937"/>
                </a:lnTo>
                <a:lnTo>
                  <a:pt x="7146" y="490031"/>
                </a:lnTo>
                <a:lnTo>
                  <a:pt x="0" y="454659"/>
                </a:lnTo>
                <a:lnTo>
                  <a:pt x="0" y="90931"/>
                </a:lnTo>
                <a:close/>
              </a:path>
            </a:pathLst>
          </a:custGeom>
          <a:ln w="25907">
            <a:solidFill>
              <a:srgbClr val="464646"/>
            </a:solidFill>
          </a:ln>
        </p:spPr>
        <p:txBody>
          <a:bodyPr wrap="square" lIns="0" tIns="0" rIns="0" bIns="0" rtlCol="0"/>
          <a:lstStyle/>
          <a:p>
            <a:endParaRPr/>
          </a:p>
        </p:txBody>
      </p:sp>
      <p:sp>
        <p:nvSpPr>
          <p:cNvPr id="4" name="object 4"/>
          <p:cNvSpPr txBox="1"/>
          <p:nvPr/>
        </p:nvSpPr>
        <p:spPr>
          <a:xfrm>
            <a:off x="1354074" y="1817370"/>
            <a:ext cx="229616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Classic</a:t>
            </a:r>
            <a:r>
              <a:rPr sz="1800" spc="-25" dirty="0">
                <a:solidFill>
                  <a:srgbClr val="464646"/>
                </a:solidFill>
                <a:latin typeface="Arial MT"/>
                <a:cs typeface="Arial MT"/>
              </a:rPr>
              <a:t> </a:t>
            </a:r>
            <a:r>
              <a:rPr sz="1800" spc="-5" dirty="0">
                <a:solidFill>
                  <a:srgbClr val="464646"/>
                </a:solidFill>
                <a:latin typeface="Arial MT"/>
                <a:cs typeface="Arial MT"/>
              </a:rPr>
              <a:t>Load</a:t>
            </a:r>
            <a:r>
              <a:rPr sz="1800" spc="-25" dirty="0">
                <a:solidFill>
                  <a:srgbClr val="464646"/>
                </a:solidFill>
                <a:latin typeface="Arial MT"/>
                <a:cs typeface="Arial MT"/>
              </a:rPr>
              <a:t> </a:t>
            </a:r>
            <a:r>
              <a:rPr sz="1800" spc="-5" dirty="0">
                <a:solidFill>
                  <a:srgbClr val="464646"/>
                </a:solidFill>
                <a:latin typeface="Arial MT"/>
                <a:cs typeface="Arial MT"/>
              </a:rPr>
              <a:t>Balancer</a:t>
            </a:r>
            <a:endParaRPr sz="1800">
              <a:latin typeface="Arial MT"/>
              <a:cs typeface="Arial MT"/>
            </a:endParaRPr>
          </a:p>
        </p:txBody>
      </p:sp>
      <p:grpSp>
        <p:nvGrpSpPr>
          <p:cNvPr id="5" name="object 5"/>
          <p:cNvGrpSpPr/>
          <p:nvPr/>
        </p:nvGrpSpPr>
        <p:grpSpPr>
          <a:xfrm>
            <a:off x="438848" y="2144280"/>
            <a:ext cx="4147185" cy="2001520"/>
            <a:chOff x="438848" y="2144280"/>
            <a:chExt cx="4147185" cy="2001520"/>
          </a:xfrm>
        </p:grpSpPr>
        <p:pic>
          <p:nvPicPr>
            <p:cNvPr id="6" name="object 6"/>
            <p:cNvPicPr/>
            <p:nvPr/>
          </p:nvPicPr>
          <p:blipFill>
            <a:blip r:embed="rId3" cstate="print"/>
            <a:stretch>
              <a:fillRect/>
            </a:stretch>
          </p:blipFill>
          <p:spPr>
            <a:xfrm>
              <a:off x="2380487" y="2144280"/>
              <a:ext cx="246964" cy="1068311"/>
            </a:xfrm>
            <a:prstGeom prst="rect">
              <a:avLst/>
            </a:prstGeom>
          </p:spPr>
        </p:pic>
        <p:sp>
          <p:nvSpPr>
            <p:cNvPr id="7" name="object 7"/>
            <p:cNvSpPr/>
            <p:nvPr/>
          </p:nvSpPr>
          <p:spPr>
            <a:xfrm>
              <a:off x="2463672" y="2245614"/>
              <a:ext cx="85725" cy="830580"/>
            </a:xfrm>
            <a:custGeom>
              <a:avLst/>
              <a:gdLst/>
              <a:ahLst/>
              <a:cxnLst/>
              <a:rect l="l" t="t" r="r" b="b"/>
              <a:pathLst>
                <a:path w="85725" h="830580">
                  <a:moveTo>
                    <a:pt x="33883" y="752644"/>
                  </a:moveTo>
                  <a:lnTo>
                    <a:pt x="8000" y="752983"/>
                  </a:lnTo>
                  <a:lnTo>
                    <a:pt x="47751" y="830199"/>
                  </a:lnTo>
                  <a:lnTo>
                    <a:pt x="79129" y="765556"/>
                  </a:lnTo>
                  <a:lnTo>
                    <a:pt x="34035" y="765556"/>
                  </a:lnTo>
                  <a:lnTo>
                    <a:pt x="33883" y="752644"/>
                  </a:lnTo>
                  <a:close/>
                </a:path>
                <a:path w="85725" h="830580">
                  <a:moveTo>
                    <a:pt x="59790" y="752306"/>
                  </a:moveTo>
                  <a:lnTo>
                    <a:pt x="33883" y="752644"/>
                  </a:lnTo>
                  <a:lnTo>
                    <a:pt x="34035" y="765556"/>
                  </a:lnTo>
                  <a:lnTo>
                    <a:pt x="59943" y="765302"/>
                  </a:lnTo>
                  <a:lnTo>
                    <a:pt x="59790" y="752306"/>
                  </a:lnTo>
                  <a:close/>
                </a:path>
                <a:path w="85725" h="830580">
                  <a:moveTo>
                    <a:pt x="85725" y="751967"/>
                  </a:moveTo>
                  <a:lnTo>
                    <a:pt x="59790" y="752306"/>
                  </a:lnTo>
                  <a:lnTo>
                    <a:pt x="59943" y="765302"/>
                  </a:lnTo>
                  <a:lnTo>
                    <a:pt x="34035" y="765556"/>
                  </a:lnTo>
                  <a:lnTo>
                    <a:pt x="79129" y="765556"/>
                  </a:lnTo>
                  <a:lnTo>
                    <a:pt x="85725" y="751967"/>
                  </a:lnTo>
                  <a:close/>
                </a:path>
                <a:path w="85725" h="830580">
                  <a:moveTo>
                    <a:pt x="51841" y="77554"/>
                  </a:moveTo>
                  <a:lnTo>
                    <a:pt x="25934" y="77892"/>
                  </a:lnTo>
                  <a:lnTo>
                    <a:pt x="33883" y="752644"/>
                  </a:lnTo>
                  <a:lnTo>
                    <a:pt x="59790" y="752306"/>
                  </a:lnTo>
                  <a:lnTo>
                    <a:pt x="51841" y="77554"/>
                  </a:lnTo>
                  <a:close/>
                </a:path>
                <a:path w="85725" h="830580">
                  <a:moveTo>
                    <a:pt x="37972" y="0"/>
                  </a:moveTo>
                  <a:lnTo>
                    <a:pt x="0" y="78231"/>
                  </a:lnTo>
                  <a:lnTo>
                    <a:pt x="25934" y="77892"/>
                  </a:lnTo>
                  <a:lnTo>
                    <a:pt x="25781" y="64897"/>
                  </a:lnTo>
                  <a:lnTo>
                    <a:pt x="71251" y="64643"/>
                  </a:lnTo>
                  <a:lnTo>
                    <a:pt x="37972" y="0"/>
                  </a:lnTo>
                  <a:close/>
                </a:path>
                <a:path w="85725" h="830580">
                  <a:moveTo>
                    <a:pt x="51688" y="64643"/>
                  </a:moveTo>
                  <a:lnTo>
                    <a:pt x="25781" y="64897"/>
                  </a:lnTo>
                  <a:lnTo>
                    <a:pt x="25934" y="77892"/>
                  </a:lnTo>
                  <a:lnTo>
                    <a:pt x="51841" y="77554"/>
                  </a:lnTo>
                  <a:lnTo>
                    <a:pt x="51688" y="64643"/>
                  </a:lnTo>
                  <a:close/>
                </a:path>
                <a:path w="85725" h="830580">
                  <a:moveTo>
                    <a:pt x="71251" y="64643"/>
                  </a:moveTo>
                  <a:lnTo>
                    <a:pt x="51688" y="64643"/>
                  </a:lnTo>
                  <a:lnTo>
                    <a:pt x="51841" y="77554"/>
                  </a:lnTo>
                  <a:lnTo>
                    <a:pt x="77724" y="77216"/>
                  </a:lnTo>
                  <a:lnTo>
                    <a:pt x="71251" y="64643"/>
                  </a:lnTo>
                  <a:close/>
                </a:path>
              </a:pathLst>
            </a:custGeom>
            <a:solidFill>
              <a:srgbClr val="FBB64B"/>
            </a:solidFill>
          </p:spPr>
          <p:txBody>
            <a:bodyPr wrap="square" lIns="0" tIns="0" rIns="0" bIns="0" rtlCol="0"/>
            <a:lstStyle/>
            <a:p>
              <a:endParaRPr/>
            </a:p>
          </p:txBody>
        </p:sp>
        <p:sp>
          <p:nvSpPr>
            <p:cNvPr id="8" name="object 8"/>
            <p:cNvSpPr/>
            <p:nvPr/>
          </p:nvSpPr>
          <p:spPr>
            <a:xfrm>
              <a:off x="451866" y="3076194"/>
              <a:ext cx="4121150" cy="1056640"/>
            </a:xfrm>
            <a:custGeom>
              <a:avLst/>
              <a:gdLst/>
              <a:ahLst/>
              <a:cxnLst/>
              <a:rect l="l" t="t" r="r" b="b"/>
              <a:pathLst>
                <a:path w="4121150" h="1056639">
                  <a:moveTo>
                    <a:pt x="3944874" y="0"/>
                  </a:moveTo>
                  <a:lnTo>
                    <a:pt x="176022" y="0"/>
                  </a:lnTo>
                  <a:lnTo>
                    <a:pt x="129226" y="6291"/>
                  </a:lnTo>
                  <a:lnTo>
                    <a:pt x="87178" y="24045"/>
                  </a:lnTo>
                  <a:lnTo>
                    <a:pt x="51554" y="51577"/>
                  </a:lnTo>
                  <a:lnTo>
                    <a:pt x="24031" y="87206"/>
                  </a:lnTo>
                  <a:lnTo>
                    <a:pt x="6287" y="129248"/>
                  </a:lnTo>
                  <a:lnTo>
                    <a:pt x="0" y="176022"/>
                  </a:lnTo>
                  <a:lnTo>
                    <a:pt x="0" y="880110"/>
                  </a:lnTo>
                  <a:lnTo>
                    <a:pt x="6287" y="926900"/>
                  </a:lnTo>
                  <a:lnTo>
                    <a:pt x="24031" y="968947"/>
                  </a:lnTo>
                  <a:lnTo>
                    <a:pt x="51554" y="1004573"/>
                  </a:lnTo>
                  <a:lnTo>
                    <a:pt x="87178" y="1032097"/>
                  </a:lnTo>
                  <a:lnTo>
                    <a:pt x="129226" y="1049843"/>
                  </a:lnTo>
                  <a:lnTo>
                    <a:pt x="176022" y="1056132"/>
                  </a:lnTo>
                  <a:lnTo>
                    <a:pt x="3944874" y="1056132"/>
                  </a:lnTo>
                  <a:lnTo>
                    <a:pt x="3991647" y="1049843"/>
                  </a:lnTo>
                  <a:lnTo>
                    <a:pt x="4033689" y="1032097"/>
                  </a:lnTo>
                  <a:lnTo>
                    <a:pt x="4069318" y="1004573"/>
                  </a:lnTo>
                  <a:lnTo>
                    <a:pt x="4096850" y="968947"/>
                  </a:lnTo>
                  <a:lnTo>
                    <a:pt x="4114604" y="926900"/>
                  </a:lnTo>
                  <a:lnTo>
                    <a:pt x="4120896" y="880110"/>
                  </a:lnTo>
                  <a:lnTo>
                    <a:pt x="4120896" y="176022"/>
                  </a:lnTo>
                  <a:lnTo>
                    <a:pt x="4114604" y="129248"/>
                  </a:lnTo>
                  <a:lnTo>
                    <a:pt x="4096850" y="87206"/>
                  </a:lnTo>
                  <a:lnTo>
                    <a:pt x="4069318" y="51577"/>
                  </a:lnTo>
                  <a:lnTo>
                    <a:pt x="4033689" y="24045"/>
                  </a:lnTo>
                  <a:lnTo>
                    <a:pt x="3991647" y="6291"/>
                  </a:lnTo>
                  <a:lnTo>
                    <a:pt x="3944874" y="0"/>
                  </a:lnTo>
                  <a:close/>
                </a:path>
              </a:pathLst>
            </a:custGeom>
            <a:solidFill>
              <a:srgbClr val="FFFFFF"/>
            </a:solidFill>
          </p:spPr>
          <p:txBody>
            <a:bodyPr wrap="square" lIns="0" tIns="0" rIns="0" bIns="0" rtlCol="0"/>
            <a:lstStyle/>
            <a:p>
              <a:endParaRPr/>
            </a:p>
          </p:txBody>
        </p:sp>
        <p:sp>
          <p:nvSpPr>
            <p:cNvPr id="9" name="object 9"/>
            <p:cNvSpPr/>
            <p:nvPr/>
          </p:nvSpPr>
          <p:spPr>
            <a:xfrm>
              <a:off x="451866" y="3076194"/>
              <a:ext cx="4121150" cy="1056640"/>
            </a:xfrm>
            <a:custGeom>
              <a:avLst/>
              <a:gdLst/>
              <a:ahLst/>
              <a:cxnLst/>
              <a:rect l="l" t="t" r="r" b="b"/>
              <a:pathLst>
                <a:path w="4121150" h="1056639">
                  <a:moveTo>
                    <a:pt x="0" y="176022"/>
                  </a:moveTo>
                  <a:lnTo>
                    <a:pt x="6287" y="129248"/>
                  </a:lnTo>
                  <a:lnTo>
                    <a:pt x="24031" y="87206"/>
                  </a:lnTo>
                  <a:lnTo>
                    <a:pt x="51554" y="51577"/>
                  </a:lnTo>
                  <a:lnTo>
                    <a:pt x="87178" y="24045"/>
                  </a:lnTo>
                  <a:lnTo>
                    <a:pt x="129226" y="6291"/>
                  </a:lnTo>
                  <a:lnTo>
                    <a:pt x="176022" y="0"/>
                  </a:lnTo>
                  <a:lnTo>
                    <a:pt x="3944874" y="0"/>
                  </a:lnTo>
                  <a:lnTo>
                    <a:pt x="3991647" y="6291"/>
                  </a:lnTo>
                  <a:lnTo>
                    <a:pt x="4033689" y="24045"/>
                  </a:lnTo>
                  <a:lnTo>
                    <a:pt x="4069318" y="51577"/>
                  </a:lnTo>
                  <a:lnTo>
                    <a:pt x="4096850" y="87206"/>
                  </a:lnTo>
                  <a:lnTo>
                    <a:pt x="4114604" y="129248"/>
                  </a:lnTo>
                  <a:lnTo>
                    <a:pt x="4120896" y="176022"/>
                  </a:lnTo>
                  <a:lnTo>
                    <a:pt x="4120896" y="880110"/>
                  </a:lnTo>
                  <a:lnTo>
                    <a:pt x="4114604" y="926900"/>
                  </a:lnTo>
                  <a:lnTo>
                    <a:pt x="4096850" y="968947"/>
                  </a:lnTo>
                  <a:lnTo>
                    <a:pt x="4069318" y="1004573"/>
                  </a:lnTo>
                  <a:lnTo>
                    <a:pt x="4033689" y="1032097"/>
                  </a:lnTo>
                  <a:lnTo>
                    <a:pt x="3991647" y="1049843"/>
                  </a:lnTo>
                  <a:lnTo>
                    <a:pt x="3944874" y="1056132"/>
                  </a:lnTo>
                  <a:lnTo>
                    <a:pt x="176022" y="1056132"/>
                  </a:lnTo>
                  <a:lnTo>
                    <a:pt x="129226" y="1049843"/>
                  </a:lnTo>
                  <a:lnTo>
                    <a:pt x="87178" y="1032097"/>
                  </a:lnTo>
                  <a:lnTo>
                    <a:pt x="51554" y="1004573"/>
                  </a:lnTo>
                  <a:lnTo>
                    <a:pt x="24031" y="968947"/>
                  </a:lnTo>
                  <a:lnTo>
                    <a:pt x="6287" y="926900"/>
                  </a:lnTo>
                  <a:lnTo>
                    <a:pt x="0" y="880110"/>
                  </a:lnTo>
                  <a:lnTo>
                    <a:pt x="0" y="176022"/>
                  </a:lnTo>
                  <a:close/>
                </a:path>
              </a:pathLst>
            </a:custGeom>
            <a:ln w="25908">
              <a:solidFill>
                <a:srgbClr val="464646"/>
              </a:solidFill>
            </a:ln>
          </p:spPr>
          <p:txBody>
            <a:bodyPr wrap="square" lIns="0" tIns="0" rIns="0" bIns="0" rtlCol="0"/>
            <a:lstStyle/>
            <a:p>
              <a:endParaRPr/>
            </a:p>
          </p:txBody>
        </p:sp>
        <p:sp>
          <p:nvSpPr>
            <p:cNvPr id="10" name="object 10"/>
            <p:cNvSpPr/>
            <p:nvPr/>
          </p:nvSpPr>
          <p:spPr>
            <a:xfrm>
              <a:off x="2634234" y="3400806"/>
              <a:ext cx="704215" cy="449580"/>
            </a:xfrm>
            <a:custGeom>
              <a:avLst/>
              <a:gdLst/>
              <a:ahLst/>
              <a:cxnLst/>
              <a:rect l="l" t="t" r="r" b="b"/>
              <a:pathLst>
                <a:path w="704214" h="449579">
                  <a:moveTo>
                    <a:pt x="629157" y="0"/>
                  </a:moveTo>
                  <a:lnTo>
                    <a:pt x="74930" y="0"/>
                  </a:lnTo>
                  <a:lnTo>
                    <a:pt x="45755" y="5885"/>
                  </a:lnTo>
                  <a:lnTo>
                    <a:pt x="21939" y="21939"/>
                  </a:lnTo>
                  <a:lnTo>
                    <a:pt x="5885" y="45755"/>
                  </a:lnTo>
                  <a:lnTo>
                    <a:pt x="0" y="74930"/>
                  </a:lnTo>
                  <a:lnTo>
                    <a:pt x="0" y="374650"/>
                  </a:lnTo>
                  <a:lnTo>
                    <a:pt x="5885" y="403824"/>
                  </a:lnTo>
                  <a:lnTo>
                    <a:pt x="21939" y="427640"/>
                  </a:lnTo>
                  <a:lnTo>
                    <a:pt x="45755" y="443694"/>
                  </a:lnTo>
                  <a:lnTo>
                    <a:pt x="74930" y="449580"/>
                  </a:lnTo>
                  <a:lnTo>
                    <a:pt x="629157" y="449580"/>
                  </a:lnTo>
                  <a:lnTo>
                    <a:pt x="658332" y="443694"/>
                  </a:lnTo>
                  <a:lnTo>
                    <a:pt x="682148" y="427640"/>
                  </a:lnTo>
                  <a:lnTo>
                    <a:pt x="698202" y="403824"/>
                  </a:lnTo>
                  <a:lnTo>
                    <a:pt x="704088" y="374650"/>
                  </a:lnTo>
                  <a:lnTo>
                    <a:pt x="704088" y="74930"/>
                  </a:lnTo>
                  <a:lnTo>
                    <a:pt x="698202" y="45755"/>
                  </a:lnTo>
                  <a:lnTo>
                    <a:pt x="682148" y="21939"/>
                  </a:lnTo>
                  <a:lnTo>
                    <a:pt x="658332" y="5885"/>
                  </a:lnTo>
                  <a:lnTo>
                    <a:pt x="629157" y="0"/>
                  </a:lnTo>
                  <a:close/>
                </a:path>
              </a:pathLst>
            </a:custGeom>
            <a:solidFill>
              <a:srgbClr val="FFFFFF"/>
            </a:solidFill>
          </p:spPr>
          <p:txBody>
            <a:bodyPr wrap="square" lIns="0" tIns="0" rIns="0" bIns="0" rtlCol="0"/>
            <a:lstStyle/>
            <a:p>
              <a:endParaRPr/>
            </a:p>
          </p:txBody>
        </p:sp>
        <p:sp>
          <p:nvSpPr>
            <p:cNvPr id="11" name="object 11"/>
            <p:cNvSpPr/>
            <p:nvPr/>
          </p:nvSpPr>
          <p:spPr>
            <a:xfrm>
              <a:off x="2634234" y="3400806"/>
              <a:ext cx="704215" cy="449580"/>
            </a:xfrm>
            <a:custGeom>
              <a:avLst/>
              <a:gdLst/>
              <a:ahLst/>
              <a:cxnLst/>
              <a:rect l="l" t="t" r="r" b="b"/>
              <a:pathLst>
                <a:path w="704214" h="449579">
                  <a:moveTo>
                    <a:pt x="0" y="74930"/>
                  </a:moveTo>
                  <a:lnTo>
                    <a:pt x="5885" y="45755"/>
                  </a:lnTo>
                  <a:lnTo>
                    <a:pt x="21939" y="21939"/>
                  </a:lnTo>
                  <a:lnTo>
                    <a:pt x="45755" y="5885"/>
                  </a:lnTo>
                  <a:lnTo>
                    <a:pt x="74930" y="0"/>
                  </a:lnTo>
                  <a:lnTo>
                    <a:pt x="629157" y="0"/>
                  </a:lnTo>
                  <a:lnTo>
                    <a:pt x="658332" y="5885"/>
                  </a:lnTo>
                  <a:lnTo>
                    <a:pt x="682148" y="21939"/>
                  </a:lnTo>
                  <a:lnTo>
                    <a:pt x="698202" y="45755"/>
                  </a:lnTo>
                  <a:lnTo>
                    <a:pt x="704088" y="74930"/>
                  </a:lnTo>
                  <a:lnTo>
                    <a:pt x="704088" y="374650"/>
                  </a:lnTo>
                  <a:lnTo>
                    <a:pt x="698202" y="403824"/>
                  </a:lnTo>
                  <a:lnTo>
                    <a:pt x="682148" y="427640"/>
                  </a:lnTo>
                  <a:lnTo>
                    <a:pt x="658332" y="443694"/>
                  </a:lnTo>
                  <a:lnTo>
                    <a:pt x="629157" y="449580"/>
                  </a:lnTo>
                  <a:lnTo>
                    <a:pt x="74930" y="449580"/>
                  </a:lnTo>
                  <a:lnTo>
                    <a:pt x="45755" y="443694"/>
                  </a:lnTo>
                  <a:lnTo>
                    <a:pt x="21939" y="427640"/>
                  </a:lnTo>
                  <a:lnTo>
                    <a:pt x="5885" y="403824"/>
                  </a:lnTo>
                  <a:lnTo>
                    <a:pt x="0" y="374650"/>
                  </a:lnTo>
                  <a:lnTo>
                    <a:pt x="0" y="74930"/>
                  </a:lnTo>
                  <a:close/>
                </a:path>
              </a:pathLst>
            </a:custGeom>
            <a:ln w="25907">
              <a:solidFill>
                <a:srgbClr val="464646"/>
              </a:solidFill>
            </a:ln>
          </p:spPr>
          <p:txBody>
            <a:bodyPr wrap="square" lIns="0" tIns="0" rIns="0" bIns="0" rtlCol="0"/>
            <a:lstStyle/>
            <a:p>
              <a:endParaRPr/>
            </a:p>
          </p:txBody>
        </p:sp>
      </p:grpSp>
      <p:sp>
        <p:nvSpPr>
          <p:cNvPr id="12" name="object 12"/>
          <p:cNvSpPr txBox="1"/>
          <p:nvPr/>
        </p:nvSpPr>
        <p:spPr>
          <a:xfrm>
            <a:off x="2751582" y="3470275"/>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grpSp>
        <p:nvGrpSpPr>
          <p:cNvPr id="13" name="object 13"/>
          <p:cNvGrpSpPr/>
          <p:nvPr/>
        </p:nvGrpSpPr>
        <p:grpSpPr>
          <a:xfrm>
            <a:off x="1697672" y="3387788"/>
            <a:ext cx="730250" cy="475615"/>
            <a:chOff x="1697672" y="3387788"/>
            <a:chExt cx="730250" cy="475615"/>
          </a:xfrm>
        </p:grpSpPr>
        <p:sp>
          <p:nvSpPr>
            <p:cNvPr id="14" name="object 14"/>
            <p:cNvSpPr/>
            <p:nvPr/>
          </p:nvSpPr>
          <p:spPr>
            <a:xfrm>
              <a:off x="1710690" y="3400806"/>
              <a:ext cx="704215" cy="449580"/>
            </a:xfrm>
            <a:custGeom>
              <a:avLst/>
              <a:gdLst/>
              <a:ahLst/>
              <a:cxnLst/>
              <a:rect l="l" t="t" r="r" b="b"/>
              <a:pathLst>
                <a:path w="704214" h="449579">
                  <a:moveTo>
                    <a:pt x="629158" y="0"/>
                  </a:moveTo>
                  <a:lnTo>
                    <a:pt x="74930" y="0"/>
                  </a:lnTo>
                  <a:lnTo>
                    <a:pt x="45755" y="5885"/>
                  </a:lnTo>
                  <a:lnTo>
                    <a:pt x="21939" y="21939"/>
                  </a:lnTo>
                  <a:lnTo>
                    <a:pt x="5885" y="45755"/>
                  </a:lnTo>
                  <a:lnTo>
                    <a:pt x="0" y="74930"/>
                  </a:lnTo>
                  <a:lnTo>
                    <a:pt x="0" y="374650"/>
                  </a:lnTo>
                  <a:lnTo>
                    <a:pt x="5885" y="403824"/>
                  </a:lnTo>
                  <a:lnTo>
                    <a:pt x="21939" y="427640"/>
                  </a:lnTo>
                  <a:lnTo>
                    <a:pt x="45755" y="443694"/>
                  </a:lnTo>
                  <a:lnTo>
                    <a:pt x="74930" y="449580"/>
                  </a:lnTo>
                  <a:lnTo>
                    <a:pt x="629158" y="449580"/>
                  </a:lnTo>
                  <a:lnTo>
                    <a:pt x="658332" y="443694"/>
                  </a:lnTo>
                  <a:lnTo>
                    <a:pt x="682148" y="427640"/>
                  </a:lnTo>
                  <a:lnTo>
                    <a:pt x="698202" y="403824"/>
                  </a:lnTo>
                  <a:lnTo>
                    <a:pt x="704088" y="374650"/>
                  </a:lnTo>
                  <a:lnTo>
                    <a:pt x="704088" y="74930"/>
                  </a:lnTo>
                  <a:lnTo>
                    <a:pt x="698202" y="45755"/>
                  </a:lnTo>
                  <a:lnTo>
                    <a:pt x="682148" y="21939"/>
                  </a:lnTo>
                  <a:lnTo>
                    <a:pt x="658332" y="5885"/>
                  </a:lnTo>
                  <a:lnTo>
                    <a:pt x="629158" y="0"/>
                  </a:lnTo>
                  <a:close/>
                </a:path>
              </a:pathLst>
            </a:custGeom>
            <a:solidFill>
              <a:srgbClr val="FFFFFF"/>
            </a:solidFill>
          </p:spPr>
          <p:txBody>
            <a:bodyPr wrap="square" lIns="0" tIns="0" rIns="0" bIns="0" rtlCol="0"/>
            <a:lstStyle/>
            <a:p>
              <a:endParaRPr/>
            </a:p>
          </p:txBody>
        </p:sp>
        <p:sp>
          <p:nvSpPr>
            <p:cNvPr id="15" name="object 15"/>
            <p:cNvSpPr/>
            <p:nvPr/>
          </p:nvSpPr>
          <p:spPr>
            <a:xfrm>
              <a:off x="1710690" y="3400806"/>
              <a:ext cx="704215" cy="449580"/>
            </a:xfrm>
            <a:custGeom>
              <a:avLst/>
              <a:gdLst/>
              <a:ahLst/>
              <a:cxnLst/>
              <a:rect l="l" t="t" r="r" b="b"/>
              <a:pathLst>
                <a:path w="704214" h="449579">
                  <a:moveTo>
                    <a:pt x="0" y="74930"/>
                  </a:moveTo>
                  <a:lnTo>
                    <a:pt x="5885" y="45755"/>
                  </a:lnTo>
                  <a:lnTo>
                    <a:pt x="21939" y="21939"/>
                  </a:lnTo>
                  <a:lnTo>
                    <a:pt x="45755" y="5885"/>
                  </a:lnTo>
                  <a:lnTo>
                    <a:pt x="74930" y="0"/>
                  </a:lnTo>
                  <a:lnTo>
                    <a:pt x="629158" y="0"/>
                  </a:lnTo>
                  <a:lnTo>
                    <a:pt x="658332" y="5885"/>
                  </a:lnTo>
                  <a:lnTo>
                    <a:pt x="682148" y="21939"/>
                  </a:lnTo>
                  <a:lnTo>
                    <a:pt x="698202" y="45755"/>
                  </a:lnTo>
                  <a:lnTo>
                    <a:pt x="704088" y="74930"/>
                  </a:lnTo>
                  <a:lnTo>
                    <a:pt x="704088" y="374650"/>
                  </a:lnTo>
                  <a:lnTo>
                    <a:pt x="698202" y="403824"/>
                  </a:lnTo>
                  <a:lnTo>
                    <a:pt x="682148" y="427640"/>
                  </a:lnTo>
                  <a:lnTo>
                    <a:pt x="658332" y="443694"/>
                  </a:lnTo>
                  <a:lnTo>
                    <a:pt x="629158" y="449580"/>
                  </a:lnTo>
                  <a:lnTo>
                    <a:pt x="74930" y="449580"/>
                  </a:lnTo>
                  <a:lnTo>
                    <a:pt x="45755" y="443694"/>
                  </a:lnTo>
                  <a:lnTo>
                    <a:pt x="21939" y="427640"/>
                  </a:lnTo>
                  <a:lnTo>
                    <a:pt x="5885" y="403824"/>
                  </a:lnTo>
                  <a:lnTo>
                    <a:pt x="0" y="374650"/>
                  </a:lnTo>
                  <a:lnTo>
                    <a:pt x="0" y="74930"/>
                  </a:lnTo>
                  <a:close/>
                </a:path>
              </a:pathLst>
            </a:custGeom>
            <a:ln w="25908">
              <a:solidFill>
                <a:srgbClr val="464646"/>
              </a:solidFill>
            </a:ln>
          </p:spPr>
          <p:txBody>
            <a:bodyPr wrap="square" lIns="0" tIns="0" rIns="0" bIns="0" rtlCol="0"/>
            <a:lstStyle/>
            <a:p>
              <a:endParaRPr/>
            </a:p>
          </p:txBody>
        </p:sp>
      </p:grpSp>
      <p:sp>
        <p:nvSpPr>
          <p:cNvPr id="16" name="object 16"/>
          <p:cNvSpPr txBox="1"/>
          <p:nvPr/>
        </p:nvSpPr>
        <p:spPr>
          <a:xfrm>
            <a:off x="1828545" y="3470275"/>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grpSp>
        <p:nvGrpSpPr>
          <p:cNvPr id="17" name="object 17"/>
          <p:cNvGrpSpPr/>
          <p:nvPr/>
        </p:nvGrpSpPr>
        <p:grpSpPr>
          <a:xfrm>
            <a:off x="2380488" y="617219"/>
            <a:ext cx="247015" cy="1195070"/>
            <a:chOff x="2380488" y="617219"/>
            <a:chExt cx="247015" cy="1195070"/>
          </a:xfrm>
        </p:grpSpPr>
        <p:pic>
          <p:nvPicPr>
            <p:cNvPr id="18" name="object 18"/>
            <p:cNvPicPr/>
            <p:nvPr/>
          </p:nvPicPr>
          <p:blipFill>
            <a:blip r:embed="rId4" cstate="print"/>
            <a:stretch>
              <a:fillRect/>
            </a:stretch>
          </p:blipFill>
          <p:spPr>
            <a:xfrm>
              <a:off x="2380488" y="617219"/>
              <a:ext cx="246964" cy="1194815"/>
            </a:xfrm>
            <a:prstGeom prst="rect">
              <a:avLst/>
            </a:prstGeom>
          </p:spPr>
        </p:pic>
        <p:sp>
          <p:nvSpPr>
            <p:cNvPr id="19" name="object 19"/>
            <p:cNvSpPr/>
            <p:nvPr/>
          </p:nvSpPr>
          <p:spPr>
            <a:xfrm>
              <a:off x="2463546" y="718565"/>
              <a:ext cx="86360" cy="956944"/>
            </a:xfrm>
            <a:custGeom>
              <a:avLst/>
              <a:gdLst/>
              <a:ahLst/>
              <a:cxnLst/>
              <a:rect l="l" t="t" r="r" b="b"/>
              <a:pathLst>
                <a:path w="86360" h="956944">
                  <a:moveTo>
                    <a:pt x="0" y="878839"/>
                  </a:moveTo>
                  <a:lnTo>
                    <a:pt x="38100" y="956945"/>
                  </a:lnTo>
                  <a:lnTo>
                    <a:pt x="71217" y="892301"/>
                  </a:lnTo>
                  <a:lnTo>
                    <a:pt x="51689" y="892301"/>
                  </a:lnTo>
                  <a:lnTo>
                    <a:pt x="25781" y="892048"/>
                  </a:lnTo>
                  <a:lnTo>
                    <a:pt x="25914" y="879094"/>
                  </a:lnTo>
                  <a:lnTo>
                    <a:pt x="0" y="878839"/>
                  </a:lnTo>
                  <a:close/>
                </a:path>
                <a:path w="86360" h="956944">
                  <a:moveTo>
                    <a:pt x="25914" y="879094"/>
                  </a:moveTo>
                  <a:lnTo>
                    <a:pt x="25781" y="892048"/>
                  </a:lnTo>
                  <a:lnTo>
                    <a:pt x="51689" y="892301"/>
                  </a:lnTo>
                  <a:lnTo>
                    <a:pt x="51822" y="879348"/>
                  </a:lnTo>
                  <a:lnTo>
                    <a:pt x="25914" y="879094"/>
                  </a:lnTo>
                  <a:close/>
                </a:path>
                <a:path w="86360" h="956944">
                  <a:moveTo>
                    <a:pt x="51822" y="879348"/>
                  </a:moveTo>
                  <a:lnTo>
                    <a:pt x="51689" y="892301"/>
                  </a:lnTo>
                  <a:lnTo>
                    <a:pt x="71217" y="892301"/>
                  </a:lnTo>
                  <a:lnTo>
                    <a:pt x="77724" y="879601"/>
                  </a:lnTo>
                  <a:lnTo>
                    <a:pt x="51822" y="879348"/>
                  </a:lnTo>
                  <a:close/>
                </a:path>
                <a:path w="86360" h="956944">
                  <a:moveTo>
                    <a:pt x="34156" y="77597"/>
                  </a:moveTo>
                  <a:lnTo>
                    <a:pt x="25914" y="879094"/>
                  </a:lnTo>
                  <a:lnTo>
                    <a:pt x="51822" y="879348"/>
                  </a:lnTo>
                  <a:lnTo>
                    <a:pt x="60064" y="77851"/>
                  </a:lnTo>
                  <a:lnTo>
                    <a:pt x="34156" y="77597"/>
                  </a:lnTo>
                  <a:close/>
                </a:path>
                <a:path w="86360" h="956944">
                  <a:moveTo>
                    <a:pt x="79307" y="64643"/>
                  </a:moveTo>
                  <a:lnTo>
                    <a:pt x="34290" y="64643"/>
                  </a:lnTo>
                  <a:lnTo>
                    <a:pt x="60198" y="64897"/>
                  </a:lnTo>
                  <a:lnTo>
                    <a:pt x="60064" y="77851"/>
                  </a:lnTo>
                  <a:lnTo>
                    <a:pt x="85852" y="78105"/>
                  </a:lnTo>
                  <a:lnTo>
                    <a:pt x="79307" y="64643"/>
                  </a:lnTo>
                  <a:close/>
                </a:path>
                <a:path w="86360" h="956944">
                  <a:moveTo>
                    <a:pt x="34290" y="64643"/>
                  </a:moveTo>
                  <a:lnTo>
                    <a:pt x="34156" y="77597"/>
                  </a:lnTo>
                  <a:lnTo>
                    <a:pt x="60064" y="77851"/>
                  </a:lnTo>
                  <a:lnTo>
                    <a:pt x="60198" y="64897"/>
                  </a:lnTo>
                  <a:lnTo>
                    <a:pt x="34290" y="64643"/>
                  </a:lnTo>
                  <a:close/>
                </a:path>
                <a:path w="86360" h="956944">
                  <a:moveTo>
                    <a:pt x="47879" y="0"/>
                  </a:moveTo>
                  <a:lnTo>
                    <a:pt x="8255" y="77343"/>
                  </a:lnTo>
                  <a:lnTo>
                    <a:pt x="34156" y="77597"/>
                  </a:lnTo>
                  <a:lnTo>
                    <a:pt x="34290" y="64643"/>
                  </a:lnTo>
                  <a:lnTo>
                    <a:pt x="79307" y="64643"/>
                  </a:lnTo>
                  <a:lnTo>
                    <a:pt x="47879" y="0"/>
                  </a:lnTo>
                  <a:close/>
                </a:path>
              </a:pathLst>
            </a:custGeom>
            <a:solidFill>
              <a:srgbClr val="FBB64B"/>
            </a:solidFill>
          </p:spPr>
          <p:txBody>
            <a:bodyPr wrap="square" lIns="0" tIns="0" rIns="0" bIns="0" rtlCol="0"/>
            <a:lstStyle/>
            <a:p>
              <a:endParaRPr/>
            </a:p>
          </p:txBody>
        </p:sp>
      </p:grpSp>
      <p:sp>
        <p:nvSpPr>
          <p:cNvPr id="20" name="object 20"/>
          <p:cNvSpPr txBox="1"/>
          <p:nvPr/>
        </p:nvSpPr>
        <p:spPr>
          <a:xfrm>
            <a:off x="4835778" y="1075435"/>
            <a:ext cx="3244215" cy="574040"/>
          </a:xfrm>
          <a:prstGeom prst="rect">
            <a:avLst/>
          </a:prstGeom>
        </p:spPr>
        <p:txBody>
          <a:bodyPr vert="horz" wrap="square" lIns="0" tIns="12700" rIns="0" bIns="0" rtlCol="0">
            <a:spAutoFit/>
          </a:bodyPr>
          <a:lstStyle/>
          <a:p>
            <a:pPr marL="299085" marR="5080" indent="-287020">
              <a:lnSpc>
                <a:spcPct val="100000"/>
              </a:lnSpc>
              <a:spcBef>
                <a:spcPts val="100"/>
              </a:spcBef>
              <a:buChar char="•"/>
              <a:tabLst>
                <a:tab pos="299085" algn="l"/>
                <a:tab pos="299720" algn="l"/>
              </a:tabLst>
            </a:pPr>
            <a:r>
              <a:rPr sz="1800" spc="-5" dirty="0">
                <a:solidFill>
                  <a:srgbClr val="464646"/>
                </a:solidFill>
                <a:latin typeface="Arial MT"/>
                <a:cs typeface="Arial MT"/>
              </a:rPr>
              <a:t>Basic Load Balancing across </a:t>
            </a:r>
            <a:r>
              <a:rPr sz="1800" spc="-490" dirty="0">
                <a:solidFill>
                  <a:srgbClr val="464646"/>
                </a:solidFill>
                <a:latin typeface="Arial MT"/>
                <a:cs typeface="Arial MT"/>
              </a:rPr>
              <a:t> </a:t>
            </a:r>
            <a:r>
              <a:rPr sz="1800" spc="-5" dirty="0">
                <a:solidFill>
                  <a:srgbClr val="464646"/>
                </a:solidFill>
                <a:latin typeface="Arial MT"/>
                <a:cs typeface="Arial MT"/>
              </a:rPr>
              <a:t>multiple</a:t>
            </a:r>
            <a:r>
              <a:rPr sz="1800" dirty="0">
                <a:solidFill>
                  <a:srgbClr val="464646"/>
                </a:solidFill>
                <a:latin typeface="Arial MT"/>
                <a:cs typeface="Arial MT"/>
              </a:rPr>
              <a:t> </a:t>
            </a:r>
            <a:r>
              <a:rPr sz="1800" spc="-5" dirty="0">
                <a:solidFill>
                  <a:srgbClr val="464646"/>
                </a:solidFill>
                <a:latin typeface="Arial MT"/>
                <a:cs typeface="Arial MT"/>
              </a:rPr>
              <a:t>EC2</a:t>
            </a:r>
            <a:r>
              <a:rPr sz="1800" dirty="0">
                <a:solidFill>
                  <a:srgbClr val="464646"/>
                </a:solidFill>
                <a:latin typeface="Arial MT"/>
                <a:cs typeface="Arial MT"/>
              </a:rPr>
              <a:t> </a:t>
            </a:r>
            <a:r>
              <a:rPr sz="1800" spc="-5" dirty="0">
                <a:solidFill>
                  <a:srgbClr val="464646"/>
                </a:solidFill>
                <a:latin typeface="Arial MT"/>
                <a:cs typeface="Arial MT"/>
              </a:rPr>
              <a:t>instances</a:t>
            </a:r>
            <a:endParaRPr sz="1800">
              <a:latin typeface="Arial MT"/>
              <a:cs typeface="Arial MT"/>
            </a:endParaRPr>
          </a:p>
        </p:txBody>
      </p:sp>
      <p:sp>
        <p:nvSpPr>
          <p:cNvPr id="21" name="object 21"/>
          <p:cNvSpPr txBox="1"/>
          <p:nvPr/>
        </p:nvSpPr>
        <p:spPr>
          <a:xfrm>
            <a:off x="4835778" y="1898650"/>
            <a:ext cx="3613785" cy="574040"/>
          </a:xfrm>
          <a:prstGeom prst="rect">
            <a:avLst/>
          </a:prstGeom>
        </p:spPr>
        <p:txBody>
          <a:bodyPr vert="horz" wrap="square" lIns="0" tIns="12700" rIns="0" bIns="0" rtlCol="0">
            <a:spAutoFit/>
          </a:bodyPr>
          <a:lstStyle/>
          <a:p>
            <a:pPr marL="299085" marR="5080" indent="-287020">
              <a:lnSpc>
                <a:spcPct val="100000"/>
              </a:lnSpc>
              <a:spcBef>
                <a:spcPts val="100"/>
              </a:spcBef>
              <a:buChar char="•"/>
              <a:tabLst>
                <a:tab pos="299085" algn="l"/>
                <a:tab pos="299720" algn="l"/>
              </a:tabLst>
            </a:pPr>
            <a:r>
              <a:rPr sz="1800" spc="-5" dirty="0">
                <a:solidFill>
                  <a:srgbClr val="464646"/>
                </a:solidFill>
                <a:latin typeface="Arial MT"/>
                <a:cs typeface="Arial MT"/>
              </a:rPr>
              <a:t>Supports</a:t>
            </a:r>
            <a:r>
              <a:rPr sz="1800" dirty="0">
                <a:solidFill>
                  <a:srgbClr val="464646"/>
                </a:solidFill>
                <a:latin typeface="Arial MT"/>
                <a:cs typeface="Arial MT"/>
              </a:rPr>
              <a:t> HTTP(S)</a:t>
            </a:r>
            <a:r>
              <a:rPr sz="1800" spc="-40" dirty="0">
                <a:solidFill>
                  <a:srgbClr val="464646"/>
                </a:solidFill>
                <a:latin typeface="Arial MT"/>
                <a:cs typeface="Arial MT"/>
              </a:rPr>
              <a:t> </a:t>
            </a:r>
            <a:r>
              <a:rPr sz="1800" spc="-10" dirty="0">
                <a:solidFill>
                  <a:srgbClr val="464646"/>
                </a:solidFill>
                <a:latin typeface="Arial MT"/>
                <a:cs typeface="Arial MT"/>
              </a:rPr>
              <a:t>(Layer</a:t>
            </a:r>
            <a:r>
              <a:rPr sz="1800" spc="25" dirty="0">
                <a:solidFill>
                  <a:srgbClr val="464646"/>
                </a:solidFill>
                <a:latin typeface="Arial MT"/>
                <a:cs typeface="Arial MT"/>
              </a:rPr>
              <a:t> </a:t>
            </a:r>
            <a:r>
              <a:rPr sz="1800" spc="-5" dirty="0">
                <a:solidFill>
                  <a:srgbClr val="464646"/>
                </a:solidFill>
                <a:latin typeface="Arial MT"/>
                <a:cs typeface="Arial MT"/>
              </a:rPr>
              <a:t>7) and </a:t>
            </a:r>
            <a:r>
              <a:rPr sz="1800" spc="-484" dirty="0">
                <a:solidFill>
                  <a:srgbClr val="464646"/>
                </a:solidFill>
                <a:latin typeface="Arial MT"/>
                <a:cs typeface="Arial MT"/>
              </a:rPr>
              <a:t> </a:t>
            </a:r>
            <a:r>
              <a:rPr sz="1800" dirty="0">
                <a:solidFill>
                  <a:srgbClr val="464646"/>
                </a:solidFill>
                <a:latin typeface="Arial MT"/>
                <a:cs typeface="Arial MT"/>
              </a:rPr>
              <a:t>TCP</a:t>
            </a:r>
            <a:r>
              <a:rPr sz="1800" spc="-55" dirty="0">
                <a:solidFill>
                  <a:srgbClr val="464646"/>
                </a:solidFill>
                <a:latin typeface="Arial MT"/>
                <a:cs typeface="Arial MT"/>
              </a:rPr>
              <a:t> </a:t>
            </a:r>
            <a:r>
              <a:rPr sz="1800" spc="-10" dirty="0">
                <a:solidFill>
                  <a:srgbClr val="464646"/>
                </a:solidFill>
                <a:latin typeface="Arial MT"/>
                <a:cs typeface="Arial MT"/>
              </a:rPr>
              <a:t>(Layer</a:t>
            </a:r>
            <a:r>
              <a:rPr sz="1800" spc="30" dirty="0">
                <a:solidFill>
                  <a:srgbClr val="464646"/>
                </a:solidFill>
                <a:latin typeface="Arial MT"/>
                <a:cs typeface="Arial MT"/>
              </a:rPr>
              <a:t> </a:t>
            </a:r>
            <a:r>
              <a:rPr sz="1800" spc="-5" dirty="0">
                <a:solidFill>
                  <a:srgbClr val="464646"/>
                </a:solidFill>
                <a:latin typeface="Arial MT"/>
                <a:cs typeface="Arial MT"/>
              </a:rPr>
              <a:t>4) traffic</a:t>
            </a:r>
            <a:endParaRPr sz="1800">
              <a:latin typeface="Arial MT"/>
              <a:cs typeface="Arial MT"/>
            </a:endParaRPr>
          </a:p>
        </p:txBody>
      </p:sp>
      <p:sp>
        <p:nvSpPr>
          <p:cNvPr id="22" name="object 22"/>
          <p:cNvSpPr txBox="1"/>
          <p:nvPr/>
        </p:nvSpPr>
        <p:spPr>
          <a:xfrm>
            <a:off x="4835778" y="2721991"/>
            <a:ext cx="3545840" cy="574040"/>
          </a:xfrm>
          <a:prstGeom prst="rect">
            <a:avLst/>
          </a:prstGeom>
        </p:spPr>
        <p:txBody>
          <a:bodyPr vert="horz" wrap="square" lIns="0" tIns="12700" rIns="0" bIns="0" rtlCol="0">
            <a:spAutoFit/>
          </a:bodyPr>
          <a:lstStyle/>
          <a:p>
            <a:pPr marL="299085" marR="5080" indent="-287020">
              <a:lnSpc>
                <a:spcPct val="100000"/>
              </a:lnSpc>
              <a:spcBef>
                <a:spcPts val="100"/>
              </a:spcBef>
              <a:buChar char="•"/>
              <a:tabLst>
                <a:tab pos="299085" algn="l"/>
                <a:tab pos="299720" algn="l"/>
              </a:tabLst>
            </a:pPr>
            <a:r>
              <a:rPr sz="1800" spc="-10" dirty="0">
                <a:solidFill>
                  <a:srgbClr val="464646"/>
                </a:solidFill>
                <a:latin typeface="Arial MT"/>
                <a:cs typeface="Arial MT"/>
              </a:rPr>
              <a:t>Works </a:t>
            </a:r>
            <a:r>
              <a:rPr sz="1800" spc="-5" dirty="0">
                <a:solidFill>
                  <a:srgbClr val="464646"/>
                </a:solidFill>
                <a:latin typeface="Arial MT"/>
                <a:cs typeface="Arial MT"/>
              </a:rPr>
              <a:t>both</a:t>
            </a:r>
            <a:r>
              <a:rPr sz="1800" spc="-10" dirty="0">
                <a:solidFill>
                  <a:srgbClr val="464646"/>
                </a:solidFill>
                <a:latin typeface="Arial MT"/>
                <a:cs typeface="Arial MT"/>
              </a:rPr>
              <a:t> </a:t>
            </a:r>
            <a:r>
              <a:rPr sz="1800" spc="-5" dirty="0">
                <a:solidFill>
                  <a:srgbClr val="464646"/>
                </a:solidFill>
                <a:latin typeface="Arial MT"/>
                <a:cs typeface="Arial MT"/>
              </a:rPr>
              <a:t>on EC2-Classic</a:t>
            </a:r>
            <a:r>
              <a:rPr sz="1800" dirty="0">
                <a:solidFill>
                  <a:srgbClr val="464646"/>
                </a:solidFill>
                <a:latin typeface="Arial MT"/>
                <a:cs typeface="Arial MT"/>
              </a:rPr>
              <a:t> </a:t>
            </a:r>
            <a:r>
              <a:rPr sz="1800" spc="-5" dirty="0">
                <a:solidFill>
                  <a:srgbClr val="464646"/>
                </a:solidFill>
                <a:latin typeface="Arial MT"/>
                <a:cs typeface="Arial MT"/>
              </a:rPr>
              <a:t>and </a:t>
            </a:r>
            <a:r>
              <a:rPr sz="1800" spc="-484" dirty="0">
                <a:solidFill>
                  <a:srgbClr val="464646"/>
                </a:solidFill>
                <a:latin typeface="Arial MT"/>
                <a:cs typeface="Arial MT"/>
              </a:rPr>
              <a:t> </a:t>
            </a:r>
            <a:r>
              <a:rPr sz="1800" spc="-10" dirty="0">
                <a:solidFill>
                  <a:srgbClr val="464646"/>
                </a:solidFill>
                <a:latin typeface="Arial MT"/>
                <a:cs typeface="Arial MT"/>
              </a:rPr>
              <a:t>VPC</a:t>
            </a:r>
            <a:endParaRPr sz="1800">
              <a:latin typeface="Arial MT"/>
              <a:cs typeface="Arial MT"/>
            </a:endParaRPr>
          </a:p>
        </p:txBody>
      </p:sp>
      <p:sp>
        <p:nvSpPr>
          <p:cNvPr id="23" name="object 23"/>
          <p:cNvSpPr txBox="1"/>
          <p:nvPr/>
        </p:nvSpPr>
        <p:spPr>
          <a:xfrm>
            <a:off x="5029200" y="3400806"/>
            <a:ext cx="3903345" cy="574675"/>
          </a:xfrm>
          <a:prstGeom prst="rect">
            <a:avLst/>
          </a:prstGeom>
        </p:spPr>
        <p:txBody>
          <a:bodyPr vert="horz" wrap="square" lIns="0" tIns="12700" rIns="0" bIns="0" rtlCol="0">
            <a:spAutoFit/>
          </a:bodyPr>
          <a:lstStyle/>
          <a:p>
            <a:pPr marL="299085" indent="-287020">
              <a:lnSpc>
                <a:spcPct val="100000"/>
              </a:lnSpc>
              <a:spcBef>
                <a:spcPts val="100"/>
              </a:spcBef>
              <a:buChar char="•"/>
              <a:tabLst>
                <a:tab pos="299085" algn="l"/>
                <a:tab pos="299720" algn="l"/>
              </a:tabLst>
            </a:pPr>
            <a:r>
              <a:rPr sz="1800" spc="-5" dirty="0">
                <a:solidFill>
                  <a:srgbClr val="464646"/>
                </a:solidFill>
                <a:latin typeface="Arial MT"/>
                <a:cs typeface="Arial MT"/>
              </a:rPr>
              <a:t>Previous</a:t>
            </a:r>
            <a:r>
              <a:rPr sz="1800" dirty="0">
                <a:solidFill>
                  <a:srgbClr val="464646"/>
                </a:solidFill>
                <a:latin typeface="Arial MT"/>
                <a:cs typeface="Arial MT"/>
              </a:rPr>
              <a:t> </a:t>
            </a:r>
            <a:r>
              <a:rPr sz="1800" spc="-10" dirty="0">
                <a:solidFill>
                  <a:srgbClr val="464646"/>
                </a:solidFill>
                <a:latin typeface="Arial MT"/>
                <a:cs typeface="Arial MT"/>
              </a:rPr>
              <a:t>generation</a:t>
            </a:r>
            <a:r>
              <a:rPr sz="1800" spc="10" dirty="0">
                <a:solidFill>
                  <a:srgbClr val="464646"/>
                </a:solidFill>
                <a:latin typeface="Arial MT"/>
                <a:cs typeface="Arial MT"/>
              </a:rPr>
              <a:t> </a:t>
            </a:r>
            <a:r>
              <a:rPr sz="1800" spc="-5" dirty="0">
                <a:solidFill>
                  <a:srgbClr val="464646"/>
                </a:solidFill>
                <a:latin typeface="Arial MT"/>
                <a:cs typeface="Arial MT"/>
              </a:rPr>
              <a:t>product</a:t>
            </a:r>
            <a:r>
              <a:rPr sz="1800" spc="10" dirty="0">
                <a:solidFill>
                  <a:srgbClr val="464646"/>
                </a:solidFill>
                <a:latin typeface="Arial MT"/>
                <a:cs typeface="Arial MT"/>
              </a:rPr>
              <a:t> </a:t>
            </a:r>
            <a:r>
              <a:rPr sz="1800" dirty="0">
                <a:solidFill>
                  <a:srgbClr val="464646"/>
                </a:solidFill>
                <a:latin typeface="Arial MT"/>
                <a:cs typeface="Arial MT"/>
              </a:rPr>
              <a:t>–</a:t>
            </a:r>
            <a:endParaRPr sz="1800">
              <a:latin typeface="Arial MT"/>
              <a:cs typeface="Arial MT"/>
            </a:endParaRPr>
          </a:p>
          <a:p>
            <a:pPr marL="299085">
              <a:lnSpc>
                <a:spcPct val="100000"/>
              </a:lnSpc>
              <a:spcBef>
                <a:spcPts val="5"/>
              </a:spcBef>
            </a:pPr>
            <a:r>
              <a:rPr sz="1800" spc="-5" dirty="0">
                <a:solidFill>
                  <a:srgbClr val="464646"/>
                </a:solidFill>
                <a:latin typeface="Arial MT"/>
                <a:cs typeface="Arial MT"/>
              </a:rPr>
              <a:t>recommended</a:t>
            </a:r>
            <a:r>
              <a:rPr sz="1800" spc="5" dirty="0">
                <a:solidFill>
                  <a:srgbClr val="464646"/>
                </a:solidFill>
                <a:latin typeface="Arial MT"/>
                <a:cs typeface="Arial MT"/>
              </a:rPr>
              <a:t> </a:t>
            </a:r>
            <a:r>
              <a:rPr sz="1800" spc="-5" dirty="0">
                <a:solidFill>
                  <a:srgbClr val="464646"/>
                </a:solidFill>
                <a:latin typeface="Arial MT"/>
                <a:cs typeface="Arial MT"/>
              </a:rPr>
              <a:t>only</a:t>
            </a:r>
            <a:r>
              <a:rPr sz="1800" dirty="0">
                <a:solidFill>
                  <a:srgbClr val="464646"/>
                </a:solidFill>
                <a:latin typeface="Arial MT"/>
                <a:cs typeface="Arial MT"/>
              </a:rPr>
              <a:t> for</a:t>
            </a:r>
            <a:r>
              <a:rPr sz="1800" spc="-25" dirty="0">
                <a:solidFill>
                  <a:srgbClr val="464646"/>
                </a:solidFill>
                <a:latin typeface="Arial MT"/>
                <a:cs typeface="Arial MT"/>
              </a:rPr>
              <a:t> </a:t>
            </a:r>
            <a:r>
              <a:rPr sz="1800" spc="-5" dirty="0">
                <a:solidFill>
                  <a:srgbClr val="464646"/>
                </a:solidFill>
                <a:latin typeface="Arial MT"/>
                <a:cs typeface="Arial MT"/>
              </a:rPr>
              <a:t>EC2-Classic</a:t>
            </a:r>
            <a:endParaRPr sz="1800">
              <a:latin typeface="Arial MT"/>
              <a:cs typeface="Arial MT"/>
            </a:endParaRPr>
          </a:p>
        </p:txBody>
      </p:sp>
      <p:sp>
        <p:nvSpPr>
          <p:cNvPr id="24" name="object 24"/>
          <p:cNvSpPr txBox="1"/>
          <p:nvPr/>
        </p:nvSpPr>
        <p:spPr>
          <a:xfrm>
            <a:off x="2712211" y="1075182"/>
            <a:ext cx="150812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64646"/>
                </a:solidFill>
                <a:latin typeface="Arial MT"/>
                <a:cs typeface="Arial MT"/>
              </a:rPr>
              <a:t>HTTP(S),</a:t>
            </a:r>
            <a:r>
              <a:rPr sz="1800" spc="-125" dirty="0">
                <a:solidFill>
                  <a:srgbClr val="464646"/>
                </a:solidFill>
                <a:latin typeface="Arial MT"/>
                <a:cs typeface="Arial MT"/>
              </a:rPr>
              <a:t> </a:t>
            </a:r>
            <a:r>
              <a:rPr sz="1800" dirty="0">
                <a:solidFill>
                  <a:srgbClr val="464646"/>
                </a:solidFill>
                <a:latin typeface="Arial MT"/>
                <a:cs typeface="Arial MT"/>
              </a:rPr>
              <a:t>TCP</a:t>
            </a:r>
            <a:endParaRPr sz="1800">
              <a:latin typeface="Arial MT"/>
              <a:cs typeface="Arial M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29997"/>
            <a:ext cx="451167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Application Load</a:t>
            </a:r>
            <a:r>
              <a:rPr u="none" spc="5" dirty="0">
                <a:solidFill>
                  <a:srgbClr val="4D4D4B"/>
                </a:solidFill>
              </a:rPr>
              <a:t> </a:t>
            </a:r>
            <a:r>
              <a:rPr u="none" spc="-5" dirty="0">
                <a:solidFill>
                  <a:srgbClr val="4D4D4B"/>
                </a:solidFill>
              </a:rPr>
              <a:t>Balancer</a:t>
            </a:r>
          </a:p>
        </p:txBody>
      </p:sp>
      <p:grpSp>
        <p:nvGrpSpPr>
          <p:cNvPr id="3" name="object 3"/>
          <p:cNvGrpSpPr/>
          <p:nvPr/>
        </p:nvGrpSpPr>
        <p:grpSpPr>
          <a:xfrm>
            <a:off x="438848" y="1662620"/>
            <a:ext cx="7028815" cy="2621915"/>
            <a:chOff x="438848" y="1662620"/>
            <a:chExt cx="7028815" cy="2621915"/>
          </a:xfrm>
        </p:grpSpPr>
        <p:sp>
          <p:nvSpPr>
            <p:cNvPr id="4" name="object 4"/>
            <p:cNvSpPr/>
            <p:nvPr/>
          </p:nvSpPr>
          <p:spPr>
            <a:xfrm>
              <a:off x="2241041" y="1675637"/>
              <a:ext cx="3423285" cy="546100"/>
            </a:xfrm>
            <a:custGeom>
              <a:avLst/>
              <a:gdLst/>
              <a:ahLst/>
              <a:cxnLst/>
              <a:rect l="l" t="t" r="r" b="b"/>
              <a:pathLst>
                <a:path w="3423285" h="546100">
                  <a:moveTo>
                    <a:pt x="0" y="90932"/>
                  </a:moveTo>
                  <a:lnTo>
                    <a:pt x="7153" y="55560"/>
                  </a:lnTo>
                  <a:lnTo>
                    <a:pt x="26654" y="26654"/>
                  </a:lnTo>
                  <a:lnTo>
                    <a:pt x="55560" y="7153"/>
                  </a:lnTo>
                  <a:lnTo>
                    <a:pt x="90931" y="0"/>
                  </a:lnTo>
                  <a:lnTo>
                    <a:pt x="3331972" y="0"/>
                  </a:lnTo>
                  <a:lnTo>
                    <a:pt x="3367343" y="7153"/>
                  </a:lnTo>
                  <a:lnTo>
                    <a:pt x="3396249" y="26654"/>
                  </a:lnTo>
                  <a:lnTo>
                    <a:pt x="3415750" y="55560"/>
                  </a:lnTo>
                  <a:lnTo>
                    <a:pt x="3422904" y="90932"/>
                  </a:lnTo>
                  <a:lnTo>
                    <a:pt x="3422904" y="454660"/>
                  </a:lnTo>
                  <a:lnTo>
                    <a:pt x="3415750" y="490031"/>
                  </a:lnTo>
                  <a:lnTo>
                    <a:pt x="3396249" y="518937"/>
                  </a:lnTo>
                  <a:lnTo>
                    <a:pt x="3367343" y="538438"/>
                  </a:lnTo>
                  <a:lnTo>
                    <a:pt x="3331972" y="545592"/>
                  </a:lnTo>
                  <a:lnTo>
                    <a:pt x="90931" y="545592"/>
                  </a:lnTo>
                  <a:lnTo>
                    <a:pt x="55560" y="538438"/>
                  </a:lnTo>
                  <a:lnTo>
                    <a:pt x="26654" y="518937"/>
                  </a:lnTo>
                  <a:lnTo>
                    <a:pt x="7153" y="490031"/>
                  </a:lnTo>
                  <a:lnTo>
                    <a:pt x="0" y="454660"/>
                  </a:lnTo>
                  <a:lnTo>
                    <a:pt x="0" y="90932"/>
                  </a:lnTo>
                  <a:close/>
                </a:path>
              </a:pathLst>
            </a:custGeom>
            <a:ln w="25908">
              <a:solidFill>
                <a:srgbClr val="464646"/>
              </a:solidFill>
            </a:ln>
          </p:spPr>
          <p:txBody>
            <a:bodyPr wrap="square" lIns="0" tIns="0" rIns="0" bIns="0" rtlCol="0"/>
            <a:lstStyle/>
            <a:p>
              <a:endParaRPr/>
            </a:p>
          </p:txBody>
        </p:sp>
        <p:pic>
          <p:nvPicPr>
            <p:cNvPr id="5" name="object 5"/>
            <p:cNvPicPr/>
            <p:nvPr/>
          </p:nvPicPr>
          <p:blipFill>
            <a:blip r:embed="rId3" cstate="print"/>
            <a:stretch>
              <a:fillRect/>
            </a:stretch>
          </p:blipFill>
          <p:spPr>
            <a:xfrm>
              <a:off x="3831336" y="2119883"/>
              <a:ext cx="237832" cy="1092708"/>
            </a:xfrm>
            <a:prstGeom prst="rect">
              <a:avLst/>
            </a:prstGeom>
          </p:spPr>
        </p:pic>
        <p:sp>
          <p:nvSpPr>
            <p:cNvPr id="6" name="object 6"/>
            <p:cNvSpPr/>
            <p:nvPr/>
          </p:nvSpPr>
          <p:spPr>
            <a:xfrm>
              <a:off x="3913632" y="2221229"/>
              <a:ext cx="78105" cy="855980"/>
            </a:xfrm>
            <a:custGeom>
              <a:avLst/>
              <a:gdLst/>
              <a:ahLst/>
              <a:cxnLst/>
              <a:rect l="l" t="t" r="r" b="b"/>
              <a:pathLst>
                <a:path w="78104" h="855980">
                  <a:moveTo>
                    <a:pt x="25907" y="777747"/>
                  </a:moveTo>
                  <a:lnTo>
                    <a:pt x="0" y="777747"/>
                  </a:lnTo>
                  <a:lnTo>
                    <a:pt x="38862" y="855471"/>
                  </a:lnTo>
                  <a:lnTo>
                    <a:pt x="71246" y="790701"/>
                  </a:lnTo>
                  <a:lnTo>
                    <a:pt x="25907" y="790701"/>
                  </a:lnTo>
                  <a:lnTo>
                    <a:pt x="25907" y="777747"/>
                  </a:lnTo>
                  <a:close/>
                </a:path>
                <a:path w="78104" h="855980">
                  <a:moveTo>
                    <a:pt x="51815" y="64769"/>
                  </a:moveTo>
                  <a:lnTo>
                    <a:pt x="25907" y="64769"/>
                  </a:lnTo>
                  <a:lnTo>
                    <a:pt x="25907" y="790701"/>
                  </a:lnTo>
                  <a:lnTo>
                    <a:pt x="51815" y="790701"/>
                  </a:lnTo>
                  <a:lnTo>
                    <a:pt x="51815" y="64769"/>
                  </a:lnTo>
                  <a:close/>
                </a:path>
                <a:path w="78104" h="855980">
                  <a:moveTo>
                    <a:pt x="77723" y="777747"/>
                  </a:moveTo>
                  <a:lnTo>
                    <a:pt x="51815" y="777747"/>
                  </a:lnTo>
                  <a:lnTo>
                    <a:pt x="51815" y="790701"/>
                  </a:lnTo>
                  <a:lnTo>
                    <a:pt x="71246" y="790701"/>
                  </a:lnTo>
                  <a:lnTo>
                    <a:pt x="77723" y="777747"/>
                  </a:lnTo>
                  <a:close/>
                </a:path>
                <a:path w="78104" h="855980">
                  <a:moveTo>
                    <a:pt x="38862" y="0"/>
                  </a:moveTo>
                  <a:lnTo>
                    <a:pt x="0" y="77724"/>
                  </a:lnTo>
                  <a:lnTo>
                    <a:pt x="25907" y="77724"/>
                  </a:lnTo>
                  <a:lnTo>
                    <a:pt x="25907" y="64769"/>
                  </a:lnTo>
                  <a:lnTo>
                    <a:pt x="71246" y="64769"/>
                  </a:lnTo>
                  <a:lnTo>
                    <a:pt x="38862" y="0"/>
                  </a:lnTo>
                  <a:close/>
                </a:path>
                <a:path w="78104" h="855980">
                  <a:moveTo>
                    <a:pt x="71246" y="64769"/>
                  </a:moveTo>
                  <a:lnTo>
                    <a:pt x="51815" y="64769"/>
                  </a:lnTo>
                  <a:lnTo>
                    <a:pt x="51815" y="77724"/>
                  </a:lnTo>
                  <a:lnTo>
                    <a:pt x="77723" y="77724"/>
                  </a:lnTo>
                  <a:lnTo>
                    <a:pt x="71246" y="64769"/>
                  </a:lnTo>
                  <a:close/>
                </a:path>
              </a:pathLst>
            </a:custGeom>
            <a:solidFill>
              <a:srgbClr val="FBB64B"/>
            </a:solidFill>
          </p:spPr>
          <p:txBody>
            <a:bodyPr wrap="square" lIns="0" tIns="0" rIns="0" bIns="0" rtlCol="0"/>
            <a:lstStyle/>
            <a:p>
              <a:endParaRPr/>
            </a:p>
          </p:txBody>
        </p:sp>
        <p:sp>
          <p:nvSpPr>
            <p:cNvPr id="7" name="object 7"/>
            <p:cNvSpPr/>
            <p:nvPr/>
          </p:nvSpPr>
          <p:spPr>
            <a:xfrm>
              <a:off x="451866" y="3076193"/>
              <a:ext cx="7002780" cy="1195070"/>
            </a:xfrm>
            <a:custGeom>
              <a:avLst/>
              <a:gdLst/>
              <a:ahLst/>
              <a:cxnLst/>
              <a:rect l="l" t="t" r="r" b="b"/>
              <a:pathLst>
                <a:path w="7002780" h="1195070">
                  <a:moveTo>
                    <a:pt x="6803643" y="0"/>
                  </a:moveTo>
                  <a:lnTo>
                    <a:pt x="199136" y="0"/>
                  </a:lnTo>
                  <a:lnTo>
                    <a:pt x="153475" y="5259"/>
                  </a:lnTo>
                  <a:lnTo>
                    <a:pt x="111560" y="20240"/>
                  </a:lnTo>
                  <a:lnTo>
                    <a:pt x="74585" y="43747"/>
                  </a:lnTo>
                  <a:lnTo>
                    <a:pt x="43747" y="74585"/>
                  </a:lnTo>
                  <a:lnTo>
                    <a:pt x="20240" y="111560"/>
                  </a:lnTo>
                  <a:lnTo>
                    <a:pt x="5259" y="153475"/>
                  </a:lnTo>
                  <a:lnTo>
                    <a:pt x="0" y="199136"/>
                  </a:lnTo>
                  <a:lnTo>
                    <a:pt x="0" y="995680"/>
                  </a:lnTo>
                  <a:lnTo>
                    <a:pt x="5259" y="1041340"/>
                  </a:lnTo>
                  <a:lnTo>
                    <a:pt x="20240" y="1083255"/>
                  </a:lnTo>
                  <a:lnTo>
                    <a:pt x="43747" y="1120230"/>
                  </a:lnTo>
                  <a:lnTo>
                    <a:pt x="74585" y="1151068"/>
                  </a:lnTo>
                  <a:lnTo>
                    <a:pt x="111560" y="1174575"/>
                  </a:lnTo>
                  <a:lnTo>
                    <a:pt x="153475" y="1189556"/>
                  </a:lnTo>
                  <a:lnTo>
                    <a:pt x="199136" y="1194816"/>
                  </a:lnTo>
                  <a:lnTo>
                    <a:pt x="6803643" y="1194816"/>
                  </a:lnTo>
                  <a:lnTo>
                    <a:pt x="6849304" y="1189556"/>
                  </a:lnTo>
                  <a:lnTo>
                    <a:pt x="6891219" y="1174575"/>
                  </a:lnTo>
                  <a:lnTo>
                    <a:pt x="6928194" y="1151068"/>
                  </a:lnTo>
                  <a:lnTo>
                    <a:pt x="6959032" y="1120230"/>
                  </a:lnTo>
                  <a:lnTo>
                    <a:pt x="6982539" y="1083255"/>
                  </a:lnTo>
                  <a:lnTo>
                    <a:pt x="6997520" y="1041340"/>
                  </a:lnTo>
                  <a:lnTo>
                    <a:pt x="7002780" y="995680"/>
                  </a:lnTo>
                  <a:lnTo>
                    <a:pt x="7002780" y="199136"/>
                  </a:lnTo>
                  <a:lnTo>
                    <a:pt x="6997520" y="153475"/>
                  </a:lnTo>
                  <a:lnTo>
                    <a:pt x="6982539" y="111560"/>
                  </a:lnTo>
                  <a:lnTo>
                    <a:pt x="6959032" y="74585"/>
                  </a:lnTo>
                  <a:lnTo>
                    <a:pt x="6928194" y="43747"/>
                  </a:lnTo>
                  <a:lnTo>
                    <a:pt x="6891219" y="20240"/>
                  </a:lnTo>
                  <a:lnTo>
                    <a:pt x="6849304" y="5259"/>
                  </a:lnTo>
                  <a:lnTo>
                    <a:pt x="6803643" y="0"/>
                  </a:lnTo>
                  <a:close/>
                </a:path>
              </a:pathLst>
            </a:custGeom>
            <a:solidFill>
              <a:srgbClr val="FFFFFF"/>
            </a:solidFill>
          </p:spPr>
          <p:txBody>
            <a:bodyPr wrap="square" lIns="0" tIns="0" rIns="0" bIns="0" rtlCol="0"/>
            <a:lstStyle/>
            <a:p>
              <a:endParaRPr/>
            </a:p>
          </p:txBody>
        </p:sp>
        <p:sp>
          <p:nvSpPr>
            <p:cNvPr id="8" name="object 8"/>
            <p:cNvSpPr/>
            <p:nvPr/>
          </p:nvSpPr>
          <p:spPr>
            <a:xfrm>
              <a:off x="451866" y="3076193"/>
              <a:ext cx="7002780" cy="1195070"/>
            </a:xfrm>
            <a:custGeom>
              <a:avLst/>
              <a:gdLst/>
              <a:ahLst/>
              <a:cxnLst/>
              <a:rect l="l" t="t" r="r" b="b"/>
              <a:pathLst>
                <a:path w="7002780" h="1195070">
                  <a:moveTo>
                    <a:pt x="0" y="199136"/>
                  </a:moveTo>
                  <a:lnTo>
                    <a:pt x="5259" y="153475"/>
                  </a:lnTo>
                  <a:lnTo>
                    <a:pt x="20240" y="111560"/>
                  </a:lnTo>
                  <a:lnTo>
                    <a:pt x="43747" y="74585"/>
                  </a:lnTo>
                  <a:lnTo>
                    <a:pt x="74585" y="43747"/>
                  </a:lnTo>
                  <a:lnTo>
                    <a:pt x="111560" y="20240"/>
                  </a:lnTo>
                  <a:lnTo>
                    <a:pt x="153475" y="5259"/>
                  </a:lnTo>
                  <a:lnTo>
                    <a:pt x="199136" y="0"/>
                  </a:lnTo>
                  <a:lnTo>
                    <a:pt x="6803643" y="0"/>
                  </a:lnTo>
                  <a:lnTo>
                    <a:pt x="6849304" y="5259"/>
                  </a:lnTo>
                  <a:lnTo>
                    <a:pt x="6891219" y="20240"/>
                  </a:lnTo>
                  <a:lnTo>
                    <a:pt x="6928194" y="43747"/>
                  </a:lnTo>
                  <a:lnTo>
                    <a:pt x="6959032" y="74585"/>
                  </a:lnTo>
                  <a:lnTo>
                    <a:pt x="6982539" y="111560"/>
                  </a:lnTo>
                  <a:lnTo>
                    <a:pt x="6997520" y="153475"/>
                  </a:lnTo>
                  <a:lnTo>
                    <a:pt x="7002780" y="199136"/>
                  </a:lnTo>
                  <a:lnTo>
                    <a:pt x="7002780" y="995680"/>
                  </a:lnTo>
                  <a:lnTo>
                    <a:pt x="6997520" y="1041340"/>
                  </a:lnTo>
                  <a:lnTo>
                    <a:pt x="6982539" y="1083255"/>
                  </a:lnTo>
                  <a:lnTo>
                    <a:pt x="6959032" y="1120230"/>
                  </a:lnTo>
                  <a:lnTo>
                    <a:pt x="6928194" y="1151068"/>
                  </a:lnTo>
                  <a:lnTo>
                    <a:pt x="6891219" y="1174575"/>
                  </a:lnTo>
                  <a:lnTo>
                    <a:pt x="6849304" y="1189556"/>
                  </a:lnTo>
                  <a:lnTo>
                    <a:pt x="6803643" y="1194816"/>
                  </a:lnTo>
                  <a:lnTo>
                    <a:pt x="199136" y="1194816"/>
                  </a:lnTo>
                  <a:lnTo>
                    <a:pt x="153475" y="1189556"/>
                  </a:lnTo>
                  <a:lnTo>
                    <a:pt x="111560" y="1174575"/>
                  </a:lnTo>
                  <a:lnTo>
                    <a:pt x="74585" y="1151068"/>
                  </a:lnTo>
                  <a:lnTo>
                    <a:pt x="43747" y="1120230"/>
                  </a:lnTo>
                  <a:lnTo>
                    <a:pt x="20240" y="1083255"/>
                  </a:lnTo>
                  <a:lnTo>
                    <a:pt x="5259" y="1041340"/>
                  </a:lnTo>
                  <a:lnTo>
                    <a:pt x="0" y="995680"/>
                  </a:lnTo>
                  <a:lnTo>
                    <a:pt x="0" y="199136"/>
                  </a:lnTo>
                  <a:close/>
                </a:path>
              </a:pathLst>
            </a:custGeom>
            <a:ln w="25908">
              <a:solidFill>
                <a:srgbClr val="464646"/>
              </a:solidFill>
            </a:ln>
          </p:spPr>
          <p:txBody>
            <a:bodyPr wrap="square" lIns="0" tIns="0" rIns="0" bIns="0" rtlCol="0"/>
            <a:lstStyle/>
            <a:p>
              <a:endParaRPr/>
            </a:p>
          </p:txBody>
        </p:sp>
        <p:sp>
          <p:nvSpPr>
            <p:cNvPr id="9" name="object 9"/>
            <p:cNvSpPr/>
            <p:nvPr/>
          </p:nvSpPr>
          <p:spPr>
            <a:xfrm>
              <a:off x="2401062" y="3397757"/>
              <a:ext cx="1472565" cy="448309"/>
            </a:xfrm>
            <a:custGeom>
              <a:avLst/>
              <a:gdLst/>
              <a:ahLst/>
              <a:cxnLst/>
              <a:rect l="l" t="t" r="r" b="b"/>
              <a:pathLst>
                <a:path w="1472564" h="448310">
                  <a:moveTo>
                    <a:pt x="1397508" y="0"/>
                  </a:moveTo>
                  <a:lnTo>
                    <a:pt x="74675" y="0"/>
                  </a:lnTo>
                  <a:lnTo>
                    <a:pt x="45594" y="5863"/>
                  </a:lnTo>
                  <a:lnTo>
                    <a:pt x="21859" y="21859"/>
                  </a:lnTo>
                  <a:lnTo>
                    <a:pt x="5863" y="45594"/>
                  </a:lnTo>
                  <a:lnTo>
                    <a:pt x="0" y="74676"/>
                  </a:lnTo>
                  <a:lnTo>
                    <a:pt x="0" y="373380"/>
                  </a:lnTo>
                  <a:lnTo>
                    <a:pt x="5863" y="402461"/>
                  </a:lnTo>
                  <a:lnTo>
                    <a:pt x="21859" y="426196"/>
                  </a:lnTo>
                  <a:lnTo>
                    <a:pt x="45594" y="442192"/>
                  </a:lnTo>
                  <a:lnTo>
                    <a:pt x="74675" y="448056"/>
                  </a:lnTo>
                  <a:lnTo>
                    <a:pt x="1397508" y="448056"/>
                  </a:lnTo>
                  <a:lnTo>
                    <a:pt x="1426589" y="442192"/>
                  </a:lnTo>
                  <a:lnTo>
                    <a:pt x="1450324" y="426196"/>
                  </a:lnTo>
                  <a:lnTo>
                    <a:pt x="1466320" y="402461"/>
                  </a:lnTo>
                  <a:lnTo>
                    <a:pt x="1472184" y="373380"/>
                  </a:lnTo>
                  <a:lnTo>
                    <a:pt x="1472184" y="74676"/>
                  </a:lnTo>
                  <a:lnTo>
                    <a:pt x="1466320" y="45594"/>
                  </a:lnTo>
                  <a:lnTo>
                    <a:pt x="1450324" y="21859"/>
                  </a:lnTo>
                  <a:lnTo>
                    <a:pt x="1426589" y="5863"/>
                  </a:lnTo>
                  <a:lnTo>
                    <a:pt x="1397508" y="0"/>
                  </a:lnTo>
                  <a:close/>
                </a:path>
              </a:pathLst>
            </a:custGeom>
            <a:solidFill>
              <a:srgbClr val="FFFFFF"/>
            </a:solidFill>
          </p:spPr>
          <p:txBody>
            <a:bodyPr wrap="square" lIns="0" tIns="0" rIns="0" bIns="0" rtlCol="0"/>
            <a:lstStyle/>
            <a:p>
              <a:endParaRPr/>
            </a:p>
          </p:txBody>
        </p:sp>
        <p:sp>
          <p:nvSpPr>
            <p:cNvPr id="10" name="object 10"/>
            <p:cNvSpPr/>
            <p:nvPr/>
          </p:nvSpPr>
          <p:spPr>
            <a:xfrm>
              <a:off x="2401062" y="3397757"/>
              <a:ext cx="1472565" cy="448309"/>
            </a:xfrm>
            <a:custGeom>
              <a:avLst/>
              <a:gdLst/>
              <a:ahLst/>
              <a:cxnLst/>
              <a:rect l="l" t="t" r="r" b="b"/>
              <a:pathLst>
                <a:path w="1472564" h="448310">
                  <a:moveTo>
                    <a:pt x="0" y="74676"/>
                  </a:moveTo>
                  <a:lnTo>
                    <a:pt x="5863" y="45594"/>
                  </a:lnTo>
                  <a:lnTo>
                    <a:pt x="21859" y="21859"/>
                  </a:lnTo>
                  <a:lnTo>
                    <a:pt x="45594" y="5863"/>
                  </a:lnTo>
                  <a:lnTo>
                    <a:pt x="74675" y="0"/>
                  </a:lnTo>
                  <a:lnTo>
                    <a:pt x="1397508" y="0"/>
                  </a:lnTo>
                  <a:lnTo>
                    <a:pt x="1426589" y="5863"/>
                  </a:lnTo>
                  <a:lnTo>
                    <a:pt x="1450324" y="21859"/>
                  </a:lnTo>
                  <a:lnTo>
                    <a:pt x="1466320" y="45594"/>
                  </a:lnTo>
                  <a:lnTo>
                    <a:pt x="1472184" y="74676"/>
                  </a:lnTo>
                  <a:lnTo>
                    <a:pt x="1472184" y="373380"/>
                  </a:lnTo>
                  <a:lnTo>
                    <a:pt x="1466320" y="402461"/>
                  </a:lnTo>
                  <a:lnTo>
                    <a:pt x="1450324" y="426196"/>
                  </a:lnTo>
                  <a:lnTo>
                    <a:pt x="1426589" y="442192"/>
                  </a:lnTo>
                  <a:lnTo>
                    <a:pt x="1397508" y="448056"/>
                  </a:lnTo>
                  <a:lnTo>
                    <a:pt x="74675" y="448056"/>
                  </a:lnTo>
                  <a:lnTo>
                    <a:pt x="45594" y="442192"/>
                  </a:lnTo>
                  <a:lnTo>
                    <a:pt x="21859" y="426196"/>
                  </a:lnTo>
                  <a:lnTo>
                    <a:pt x="5863" y="402461"/>
                  </a:lnTo>
                  <a:lnTo>
                    <a:pt x="0" y="373380"/>
                  </a:lnTo>
                  <a:lnTo>
                    <a:pt x="0" y="74676"/>
                  </a:lnTo>
                  <a:close/>
                </a:path>
              </a:pathLst>
            </a:custGeom>
            <a:ln w="25908">
              <a:solidFill>
                <a:srgbClr val="464646"/>
              </a:solidFill>
            </a:ln>
          </p:spPr>
          <p:txBody>
            <a:bodyPr wrap="square" lIns="0" tIns="0" rIns="0" bIns="0" rtlCol="0"/>
            <a:lstStyle/>
            <a:p>
              <a:endParaRPr/>
            </a:p>
          </p:txBody>
        </p:sp>
      </p:grpSp>
      <p:sp>
        <p:nvSpPr>
          <p:cNvPr id="11" name="object 11"/>
          <p:cNvSpPr txBox="1"/>
          <p:nvPr/>
        </p:nvSpPr>
        <p:spPr>
          <a:xfrm>
            <a:off x="2573273" y="3466591"/>
            <a:ext cx="112776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o</a:t>
            </a:r>
            <a:r>
              <a:rPr sz="1800" spc="-5" dirty="0">
                <a:solidFill>
                  <a:srgbClr val="464646"/>
                </a:solidFill>
                <a:latin typeface="Arial MT"/>
                <a:cs typeface="Arial MT"/>
              </a:rPr>
              <a:t>nt</a:t>
            </a:r>
            <a:r>
              <a:rPr sz="1800" spc="-15" dirty="0">
                <a:solidFill>
                  <a:srgbClr val="464646"/>
                </a:solidFill>
                <a:latin typeface="Arial MT"/>
                <a:cs typeface="Arial MT"/>
              </a:rPr>
              <a:t>a</a:t>
            </a:r>
            <a:r>
              <a:rPr sz="1800" spc="-5" dirty="0">
                <a:solidFill>
                  <a:srgbClr val="464646"/>
                </a:solidFill>
                <a:latin typeface="Arial MT"/>
                <a:cs typeface="Arial MT"/>
              </a:rPr>
              <a:t>i</a:t>
            </a:r>
            <a:r>
              <a:rPr sz="1800" spc="-15" dirty="0">
                <a:solidFill>
                  <a:srgbClr val="464646"/>
                </a:solidFill>
                <a:latin typeface="Arial MT"/>
                <a:cs typeface="Arial MT"/>
              </a:rPr>
              <a:t>n</a:t>
            </a:r>
            <a:r>
              <a:rPr sz="1800" spc="-5" dirty="0">
                <a:solidFill>
                  <a:srgbClr val="464646"/>
                </a:solidFill>
                <a:latin typeface="Arial MT"/>
                <a:cs typeface="Arial MT"/>
              </a:rPr>
              <a:t>ers</a:t>
            </a:r>
            <a:endParaRPr sz="1800">
              <a:latin typeface="Arial MT"/>
              <a:cs typeface="Arial MT"/>
            </a:endParaRPr>
          </a:p>
        </p:txBody>
      </p:sp>
      <p:grpSp>
        <p:nvGrpSpPr>
          <p:cNvPr id="12" name="object 12"/>
          <p:cNvGrpSpPr/>
          <p:nvPr/>
        </p:nvGrpSpPr>
        <p:grpSpPr>
          <a:xfrm>
            <a:off x="716216" y="3392360"/>
            <a:ext cx="1498600" cy="474345"/>
            <a:chOff x="716216" y="3392360"/>
            <a:chExt cx="1498600" cy="474345"/>
          </a:xfrm>
        </p:grpSpPr>
        <p:sp>
          <p:nvSpPr>
            <p:cNvPr id="13" name="object 13"/>
            <p:cNvSpPr/>
            <p:nvPr/>
          </p:nvSpPr>
          <p:spPr>
            <a:xfrm>
              <a:off x="729234" y="3405377"/>
              <a:ext cx="1472565" cy="448309"/>
            </a:xfrm>
            <a:custGeom>
              <a:avLst/>
              <a:gdLst/>
              <a:ahLst/>
              <a:cxnLst/>
              <a:rect l="l" t="t" r="r" b="b"/>
              <a:pathLst>
                <a:path w="1472564" h="448310">
                  <a:moveTo>
                    <a:pt x="1397508" y="0"/>
                  </a:moveTo>
                  <a:lnTo>
                    <a:pt x="74675" y="0"/>
                  </a:lnTo>
                  <a:lnTo>
                    <a:pt x="45611" y="5863"/>
                  </a:lnTo>
                  <a:lnTo>
                    <a:pt x="21874" y="21859"/>
                  </a:lnTo>
                  <a:lnTo>
                    <a:pt x="5869" y="45594"/>
                  </a:lnTo>
                  <a:lnTo>
                    <a:pt x="0" y="74676"/>
                  </a:lnTo>
                  <a:lnTo>
                    <a:pt x="0" y="373380"/>
                  </a:lnTo>
                  <a:lnTo>
                    <a:pt x="5869" y="402461"/>
                  </a:lnTo>
                  <a:lnTo>
                    <a:pt x="21874" y="426196"/>
                  </a:lnTo>
                  <a:lnTo>
                    <a:pt x="45611" y="442192"/>
                  </a:lnTo>
                  <a:lnTo>
                    <a:pt x="74675" y="448056"/>
                  </a:lnTo>
                  <a:lnTo>
                    <a:pt x="1397508" y="448056"/>
                  </a:lnTo>
                  <a:lnTo>
                    <a:pt x="1426589" y="442192"/>
                  </a:lnTo>
                  <a:lnTo>
                    <a:pt x="1450324" y="426196"/>
                  </a:lnTo>
                  <a:lnTo>
                    <a:pt x="1466320" y="402461"/>
                  </a:lnTo>
                  <a:lnTo>
                    <a:pt x="1472184" y="373380"/>
                  </a:lnTo>
                  <a:lnTo>
                    <a:pt x="1472184" y="74676"/>
                  </a:lnTo>
                  <a:lnTo>
                    <a:pt x="1466320" y="45594"/>
                  </a:lnTo>
                  <a:lnTo>
                    <a:pt x="1450324" y="21859"/>
                  </a:lnTo>
                  <a:lnTo>
                    <a:pt x="1426589" y="5863"/>
                  </a:lnTo>
                  <a:lnTo>
                    <a:pt x="1397508" y="0"/>
                  </a:lnTo>
                  <a:close/>
                </a:path>
              </a:pathLst>
            </a:custGeom>
            <a:solidFill>
              <a:srgbClr val="FFFFFF"/>
            </a:solidFill>
          </p:spPr>
          <p:txBody>
            <a:bodyPr wrap="square" lIns="0" tIns="0" rIns="0" bIns="0" rtlCol="0"/>
            <a:lstStyle/>
            <a:p>
              <a:endParaRPr/>
            </a:p>
          </p:txBody>
        </p:sp>
        <p:sp>
          <p:nvSpPr>
            <p:cNvPr id="14" name="object 14"/>
            <p:cNvSpPr/>
            <p:nvPr/>
          </p:nvSpPr>
          <p:spPr>
            <a:xfrm>
              <a:off x="729234" y="3405377"/>
              <a:ext cx="1472565" cy="448309"/>
            </a:xfrm>
            <a:custGeom>
              <a:avLst/>
              <a:gdLst/>
              <a:ahLst/>
              <a:cxnLst/>
              <a:rect l="l" t="t" r="r" b="b"/>
              <a:pathLst>
                <a:path w="1472564" h="448310">
                  <a:moveTo>
                    <a:pt x="0" y="74676"/>
                  </a:moveTo>
                  <a:lnTo>
                    <a:pt x="5869" y="45594"/>
                  </a:lnTo>
                  <a:lnTo>
                    <a:pt x="21874" y="21859"/>
                  </a:lnTo>
                  <a:lnTo>
                    <a:pt x="45611" y="5863"/>
                  </a:lnTo>
                  <a:lnTo>
                    <a:pt x="74675" y="0"/>
                  </a:lnTo>
                  <a:lnTo>
                    <a:pt x="1397508" y="0"/>
                  </a:lnTo>
                  <a:lnTo>
                    <a:pt x="1426589" y="5863"/>
                  </a:lnTo>
                  <a:lnTo>
                    <a:pt x="1450324" y="21859"/>
                  </a:lnTo>
                  <a:lnTo>
                    <a:pt x="1466320" y="45594"/>
                  </a:lnTo>
                  <a:lnTo>
                    <a:pt x="1472184" y="74676"/>
                  </a:lnTo>
                  <a:lnTo>
                    <a:pt x="1472184" y="373380"/>
                  </a:lnTo>
                  <a:lnTo>
                    <a:pt x="1466320" y="402461"/>
                  </a:lnTo>
                  <a:lnTo>
                    <a:pt x="1450324" y="426196"/>
                  </a:lnTo>
                  <a:lnTo>
                    <a:pt x="1426589" y="442192"/>
                  </a:lnTo>
                  <a:lnTo>
                    <a:pt x="1397508" y="448056"/>
                  </a:lnTo>
                  <a:lnTo>
                    <a:pt x="74675" y="448056"/>
                  </a:lnTo>
                  <a:lnTo>
                    <a:pt x="45611" y="442192"/>
                  </a:lnTo>
                  <a:lnTo>
                    <a:pt x="21874" y="426196"/>
                  </a:lnTo>
                  <a:lnTo>
                    <a:pt x="5869" y="402461"/>
                  </a:lnTo>
                  <a:lnTo>
                    <a:pt x="0" y="373380"/>
                  </a:lnTo>
                  <a:lnTo>
                    <a:pt x="0" y="74676"/>
                  </a:lnTo>
                  <a:close/>
                </a:path>
              </a:pathLst>
            </a:custGeom>
            <a:ln w="25908">
              <a:solidFill>
                <a:srgbClr val="464646"/>
              </a:solidFill>
            </a:ln>
          </p:spPr>
          <p:txBody>
            <a:bodyPr wrap="square" lIns="0" tIns="0" rIns="0" bIns="0" rtlCol="0"/>
            <a:lstStyle/>
            <a:p>
              <a:endParaRPr/>
            </a:p>
          </p:txBody>
        </p:sp>
      </p:grpSp>
      <p:sp>
        <p:nvSpPr>
          <p:cNvPr id="15" name="object 15"/>
          <p:cNvSpPr txBox="1"/>
          <p:nvPr/>
        </p:nvSpPr>
        <p:spPr>
          <a:xfrm>
            <a:off x="1230883" y="3473322"/>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grpSp>
        <p:nvGrpSpPr>
          <p:cNvPr id="16" name="object 16"/>
          <p:cNvGrpSpPr/>
          <p:nvPr/>
        </p:nvGrpSpPr>
        <p:grpSpPr>
          <a:xfrm>
            <a:off x="3831335" y="626363"/>
            <a:ext cx="1725295" cy="3237230"/>
            <a:chOff x="3831335" y="626363"/>
            <a:chExt cx="1725295" cy="3237230"/>
          </a:xfrm>
        </p:grpSpPr>
        <p:pic>
          <p:nvPicPr>
            <p:cNvPr id="17" name="object 17"/>
            <p:cNvPicPr/>
            <p:nvPr/>
          </p:nvPicPr>
          <p:blipFill>
            <a:blip r:embed="rId4" cstate="print"/>
            <a:stretch>
              <a:fillRect/>
            </a:stretch>
          </p:blipFill>
          <p:spPr>
            <a:xfrm>
              <a:off x="3831335" y="626363"/>
              <a:ext cx="246964" cy="1194815"/>
            </a:xfrm>
            <a:prstGeom prst="rect">
              <a:avLst/>
            </a:prstGeom>
          </p:spPr>
        </p:pic>
        <p:sp>
          <p:nvSpPr>
            <p:cNvPr id="18" name="object 18"/>
            <p:cNvSpPr/>
            <p:nvPr/>
          </p:nvSpPr>
          <p:spPr>
            <a:xfrm>
              <a:off x="3914393" y="727709"/>
              <a:ext cx="86360" cy="956944"/>
            </a:xfrm>
            <a:custGeom>
              <a:avLst/>
              <a:gdLst/>
              <a:ahLst/>
              <a:cxnLst/>
              <a:rect l="l" t="t" r="r" b="b"/>
              <a:pathLst>
                <a:path w="86360" h="956944">
                  <a:moveTo>
                    <a:pt x="0" y="878839"/>
                  </a:moveTo>
                  <a:lnTo>
                    <a:pt x="38100" y="956944"/>
                  </a:lnTo>
                  <a:lnTo>
                    <a:pt x="71217" y="892301"/>
                  </a:lnTo>
                  <a:lnTo>
                    <a:pt x="51688" y="892301"/>
                  </a:lnTo>
                  <a:lnTo>
                    <a:pt x="25780" y="892048"/>
                  </a:lnTo>
                  <a:lnTo>
                    <a:pt x="25914" y="879094"/>
                  </a:lnTo>
                  <a:lnTo>
                    <a:pt x="0" y="878839"/>
                  </a:lnTo>
                  <a:close/>
                </a:path>
                <a:path w="86360" h="956944">
                  <a:moveTo>
                    <a:pt x="25914" y="879094"/>
                  </a:moveTo>
                  <a:lnTo>
                    <a:pt x="25780" y="892048"/>
                  </a:lnTo>
                  <a:lnTo>
                    <a:pt x="51688" y="892301"/>
                  </a:lnTo>
                  <a:lnTo>
                    <a:pt x="51822" y="879348"/>
                  </a:lnTo>
                  <a:lnTo>
                    <a:pt x="25914" y="879094"/>
                  </a:lnTo>
                  <a:close/>
                </a:path>
                <a:path w="86360" h="956944">
                  <a:moveTo>
                    <a:pt x="51822" y="879348"/>
                  </a:moveTo>
                  <a:lnTo>
                    <a:pt x="51688" y="892301"/>
                  </a:lnTo>
                  <a:lnTo>
                    <a:pt x="71217" y="892301"/>
                  </a:lnTo>
                  <a:lnTo>
                    <a:pt x="77723" y="879601"/>
                  </a:lnTo>
                  <a:lnTo>
                    <a:pt x="51822" y="879348"/>
                  </a:lnTo>
                  <a:close/>
                </a:path>
                <a:path w="86360" h="956944">
                  <a:moveTo>
                    <a:pt x="34156" y="77597"/>
                  </a:moveTo>
                  <a:lnTo>
                    <a:pt x="25914" y="879094"/>
                  </a:lnTo>
                  <a:lnTo>
                    <a:pt x="51822" y="879348"/>
                  </a:lnTo>
                  <a:lnTo>
                    <a:pt x="60064" y="77851"/>
                  </a:lnTo>
                  <a:lnTo>
                    <a:pt x="34156" y="77597"/>
                  </a:lnTo>
                  <a:close/>
                </a:path>
                <a:path w="86360" h="956944">
                  <a:moveTo>
                    <a:pt x="79307" y="64642"/>
                  </a:moveTo>
                  <a:lnTo>
                    <a:pt x="34289" y="64642"/>
                  </a:lnTo>
                  <a:lnTo>
                    <a:pt x="60197" y="64897"/>
                  </a:lnTo>
                  <a:lnTo>
                    <a:pt x="60064" y="77851"/>
                  </a:lnTo>
                  <a:lnTo>
                    <a:pt x="85851" y="78104"/>
                  </a:lnTo>
                  <a:lnTo>
                    <a:pt x="79307" y="64642"/>
                  </a:lnTo>
                  <a:close/>
                </a:path>
                <a:path w="86360" h="956944">
                  <a:moveTo>
                    <a:pt x="34289" y="64642"/>
                  </a:moveTo>
                  <a:lnTo>
                    <a:pt x="34156" y="77597"/>
                  </a:lnTo>
                  <a:lnTo>
                    <a:pt x="60064" y="77851"/>
                  </a:lnTo>
                  <a:lnTo>
                    <a:pt x="60197" y="64897"/>
                  </a:lnTo>
                  <a:lnTo>
                    <a:pt x="34289" y="64642"/>
                  </a:lnTo>
                  <a:close/>
                </a:path>
                <a:path w="86360" h="956944">
                  <a:moveTo>
                    <a:pt x="47878" y="0"/>
                  </a:moveTo>
                  <a:lnTo>
                    <a:pt x="8254" y="77342"/>
                  </a:lnTo>
                  <a:lnTo>
                    <a:pt x="34156" y="77597"/>
                  </a:lnTo>
                  <a:lnTo>
                    <a:pt x="34289" y="64642"/>
                  </a:lnTo>
                  <a:lnTo>
                    <a:pt x="79307" y="64642"/>
                  </a:lnTo>
                  <a:lnTo>
                    <a:pt x="47878" y="0"/>
                  </a:lnTo>
                  <a:close/>
                </a:path>
              </a:pathLst>
            </a:custGeom>
            <a:solidFill>
              <a:srgbClr val="FBB64B"/>
            </a:solidFill>
          </p:spPr>
          <p:txBody>
            <a:bodyPr wrap="square" lIns="0" tIns="0" rIns="0" bIns="0" rtlCol="0"/>
            <a:lstStyle/>
            <a:p>
              <a:endParaRPr/>
            </a:p>
          </p:txBody>
        </p:sp>
        <p:sp>
          <p:nvSpPr>
            <p:cNvPr id="19" name="object 19"/>
            <p:cNvSpPr/>
            <p:nvPr/>
          </p:nvSpPr>
          <p:spPr>
            <a:xfrm>
              <a:off x="4071365" y="3400806"/>
              <a:ext cx="1472565" cy="449580"/>
            </a:xfrm>
            <a:custGeom>
              <a:avLst/>
              <a:gdLst/>
              <a:ahLst/>
              <a:cxnLst/>
              <a:rect l="l" t="t" r="r" b="b"/>
              <a:pathLst>
                <a:path w="1472564" h="449579">
                  <a:moveTo>
                    <a:pt x="1397254" y="0"/>
                  </a:moveTo>
                  <a:lnTo>
                    <a:pt x="74930" y="0"/>
                  </a:lnTo>
                  <a:lnTo>
                    <a:pt x="45755" y="5885"/>
                  </a:lnTo>
                  <a:lnTo>
                    <a:pt x="21939" y="21939"/>
                  </a:lnTo>
                  <a:lnTo>
                    <a:pt x="5885" y="45755"/>
                  </a:lnTo>
                  <a:lnTo>
                    <a:pt x="0" y="74930"/>
                  </a:lnTo>
                  <a:lnTo>
                    <a:pt x="0" y="374650"/>
                  </a:lnTo>
                  <a:lnTo>
                    <a:pt x="5885" y="403824"/>
                  </a:lnTo>
                  <a:lnTo>
                    <a:pt x="21939" y="427640"/>
                  </a:lnTo>
                  <a:lnTo>
                    <a:pt x="45755" y="443694"/>
                  </a:lnTo>
                  <a:lnTo>
                    <a:pt x="74930" y="449580"/>
                  </a:lnTo>
                  <a:lnTo>
                    <a:pt x="1397254" y="449580"/>
                  </a:lnTo>
                  <a:lnTo>
                    <a:pt x="1426428" y="443694"/>
                  </a:lnTo>
                  <a:lnTo>
                    <a:pt x="1450244" y="427640"/>
                  </a:lnTo>
                  <a:lnTo>
                    <a:pt x="1466298" y="403824"/>
                  </a:lnTo>
                  <a:lnTo>
                    <a:pt x="1472184" y="374650"/>
                  </a:lnTo>
                  <a:lnTo>
                    <a:pt x="1472184" y="74930"/>
                  </a:lnTo>
                  <a:lnTo>
                    <a:pt x="1466298" y="45755"/>
                  </a:lnTo>
                  <a:lnTo>
                    <a:pt x="1450244" y="21939"/>
                  </a:lnTo>
                  <a:lnTo>
                    <a:pt x="1426428" y="5885"/>
                  </a:lnTo>
                  <a:lnTo>
                    <a:pt x="1397254" y="0"/>
                  </a:lnTo>
                  <a:close/>
                </a:path>
              </a:pathLst>
            </a:custGeom>
            <a:solidFill>
              <a:srgbClr val="FFFFFF"/>
            </a:solidFill>
          </p:spPr>
          <p:txBody>
            <a:bodyPr wrap="square" lIns="0" tIns="0" rIns="0" bIns="0" rtlCol="0"/>
            <a:lstStyle/>
            <a:p>
              <a:endParaRPr/>
            </a:p>
          </p:txBody>
        </p:sp>
        <p:sp>
          <p:nvSpPr>
            <p:cNvPr id="20" name="object 20"/>
            <p:cNvSpPr/>
            <p:nvPr/>
          </p:nvSpPr>
          <p:spPr>
            <a:xfrm>
              <a:off x="4071365" y="3400806"/>
              <a:ext cx="1472565" cy="449580"/>
            </a:xfrm>
            <a:custGeom>
              <a:avLst/>
              <a:gdLst/>
              <a:ahLst/>
              <a:cxnLst/>
              <a:rect l="l" t="t" r="r" b="b"/>
              <a:pathLst>
                <a:path w="1472564" h="449579">
                  <a:moveTo>
                    <a:pt x="0" y="74930"/>
                  </a:moveTo>
                  <a:lnTo>
                    <a:pt x="5885" y="45755"/>
                  </a:lnTo>
                  <a:lnTo>
                    <a:pt x="21939" y="21939"/>
                  </a:lnTo>
                  <a:lnTo>
                    <a:pt x="45755" y="5885"/>
                  </a:lnTo>
                  <a:lnTo>
                    <a:pt x="74930" y="0"/>
                  </a:lnTo>
                  <a:lnTo>
                    <a:pt x="1397254" y="0"/>
                  </a:lnTo>
                  <a:lnTo>
                    <a:pt x="1426428" y="5885"/>
                  </a:lnTo>
                  <a:lnTo>
                    <a:pt x="1450244" y="21939"/>
                  </a:lnTo>
                  <a:lnTo>
                    <a:pt x="1466298" y="45755"/>
                  </a:lnTo>
                  <a:lnTo>
                    <a:pt x="1472184" y="74930"/>
                  </a:lnTo>
                  <a:lnTo>
                    <a:pt x="1472184" y="374650"/>
                  </a:lnTo>
                  <a:lnTo>
                    <a:pt x="1466298" y="403824"/>
                  </a:lnTo>
                  <a:lnTo>
                    <a:pt x="1450244" y="427640"/>
                  </a:lnTo>
                  <a:lnTo>
                    <a:pt x="1426428" y="443694"/>
                  </a:lnTo>
                  <a:lnTo>
                    <a:pt x="1397254" y="449580"/>
                  </a:lnTo>
                  <a:lnTo>
                    <a:pt x="74930" y="449580"/>
                  </a:lnTo>
                  <a:lnTo>
                    <a:pt x="45755" y="443694"/>
                  </a:lnTo>
                  <a:lnTo>
                    <a:pt x="21939" y="427640"/>
                  </a:lnTo>
                  <a:lnTo>
                    <a:pt x="5885" y="403824"/>
                  </a:lnTo>
                  <a:lnTo>
                    <a:pt x="0" y="374650"/>
                  </a:lnTo>
                  <a:lnTo>
                    <a:pt x="0" y="74930"/>
                  </a:lnTo>
                  <a:close/>
                </a:path>
              </a:pathLst>
            </a:custGeom>
            <a:ln w="25908">
              <a:solidFill>
                <a:srgbClr val="464646"/>
              </a:solidFill>
            </a:ln>
          </p:spPr>
          <p:txBody>
            <a:bodyPr wrap="square" lIns="0" tIns="0" rIns="0" bIns="0" rtlCol="0"/>
            <a:lstStyle/>
            <a:p>
              <a:endParaRPr/>
            </a:p>
          </p:txBody>
        </p:sp>
      </p:grpSp>
      <p:sp>
        <p:nvSpPr>
          <p:cNvPr id="21" name="object 21"/>
          <p:cNvSpPr txBox="1"/>
          <p:nvPr/>
        </p:nvSpPr>
        <p:spPr>
          <a:xfrm>
            <a:off x="4383404" y="3470275"/>
            <a:ext cx="84963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L</a:t>
            </a:r>
            <a:r>
              <a:rPr sz="1800" spc="-15" dirty="0">
                <a:solidFill>
                  <a:srgbClr val="464646"/>
                </a:solidFill>
                <a:latin typeface="Arial MT"/>
                <a:cs typeface="Arial MT"/>
              </a:rPr>
              <a:t>a</a:t>
            </a:r>
            <a:r>
              <a:rPr sz="1800" spc="-5" dirty="0">
                <a:solidFill>
                  <a:srgbClr val="464646"/>
                </a:solidFill>
                <a:latin typeface="Arial MT"/>
                <a:cs typeface="Arial MT"/>
              </a:rPr>
              <a:t>mb</a:t>
            </a:r>
            <a:r>
              <a:rPr sz="1800" spc="-15" dirty="0">
                <a:solidFill>
                  <a:srgbClr val="464646"/>
                </a:solidFill>
                <a:latin typeface="Arial MT"/>
                <a:cs typeface="Arial MT"/>
              </a:rPr>
              <a:t>d</a:t>
            </a:r>
            <a:r>
              <a:rPr sz="1800" spc="-5" dirty="0">
                <a:solidFill>
                  <a:srgbClr val="464646"/>
                </a:solidFill>
                <a:latin typeface="Arial MT"/>
                <a:cs typeface="Arial MT"/>
              </a:rPr>
              <a:t>a</a:t>
            </a:r>
            <a:endParaRPr sz="1800">
              <a:latin typeface="Arial MT"/>
              <a:cs typeface="Arial MT"/>
            </a:endParaRPr>
          </a:p>
        </p:txBody>
      </p:sp>
      <p:grpSp>
        <p:nvGrpSpPr>
          <p:cNvPr id="22" name="object 22"/>
          <p:cNvGrpSpPr/>
          <p:nvPr/>
        </p:nvGrpSpPr>
        <p:grpSpPr>
          <a:xfrm>
            <a:off x="5730240" y="3389376"/>
            <a:ext cx="1498600" cy="475615"/>
            <a:chOff x="5730240" y="3389376"/>
            <a:chExt cx="1498600" cy="475615"/>
          </a:xfrm>
        </p:grpSpPr>
        <p:sp>
          <p:nvSpPr>
            <p:cNvPr id="23" name="object 23"/>
            <p:cNvSpPr/>
            <p:nvPr/>
          </p:nvSpPr>
          <p:spPr>
            <a:xfrm>
              <a:off x="5743194" y="3402330"/>
              <a:ext cx="1472565" cy="449580"/>
            </a:xfrm>
            <a:custGeom>
              <a:avLst/>
              <a:gdLst/>
              <a:ahLst/>
              <a:cxnLst/>
              <a:rect l="l" t="t" r="r" b="b"/>
              <a:pathLst>
                <a:path w="1472565" h="449579">
                  <a:moveTo>
                    <a:pt x="1397253" y="0"/>
                  </a:moveTo>
                  <a:lnTo>
                    <a:pt x="74929" y="0"/>
                  </a:lnTo>
                  <a:lnTo>
                    <a:pt x="45755" y="5885"/>
                  </a:lnTo>
                  <a:lnTo>
                    <a:pt x="21939" y="21939"/>
                  </a:lnTo>
                  <a:lnTo>
                    <a:pt x="5885" y="45755"/>
                  </a:lnTo>
                  <a:lnTo>
                    <a:pt x="0" y="74930"/>
                  </a:lnTo>
                  <a:lnTo>
                    <a:pt x="0" y="374650"/>
                  </a:lnTo>
                  <a:lnTo>
                    <a:pt x="5885" y="403824"/>
                  </a:lnTo>
                  <a:lnTo>
                    <a:pt x="21939" y="427640"/>
                  </a:lnTo>
                  <a:lnTo>
                    <a:pt x="45755" y="443694"/>
                  </a:lnTo>
                  <a:lnTo>
                    <a:pt x="74929" y="449580"/>
                  </a:lnTo>
                  <a:lnTo>
                    <a:pt x="1397253" y="449580"/>
                  </a:lnTo>
                  <a:lnTo>
                    <a:pt x="1426428" y="443694"/>
                  </a:lnTo>
                  <a:lnTo>
                    <a:pt x="1450244" y="427640"/>
                  </a:lnTo>
                  <a:lnTo>
                    <a:pt x="1466298" y="403824"/>
                  </a:lnTo>
                  <a:lnTo>
                    <a:pt x="1472183" y="374650"/>
                  </a:lnTo>
                  <a:lnTo>
                    <a:pt x="1472183" y="74930"/>
                  </a:lnTo>
                  <a:lnTo>
                    <a:pt x="1466298" y="45755"/>
                  </a:lnTo>
                  <a:lnTo>
                    <a:pt x="1450244" y="21939"/>
                  </a:lnTo>
                  <a:lnTo>
                    <a:pt x="1426428" y="5885"/>
                  </a:lnTo>
                  <a:lnTo>
                    <a:pt x="1397253" y="0"/>
                  </a:lnTo>
                  <a:close/>
                </a:path>
              </a:pathLst>
            </a:custGeom>
            <a:solidFill>
              <a:srgbClr val="FFFFFF"/>
            </a:solidFill>
          </p:spPr>
          <p:txBody>
            <a:bodyPr wrap="square" lIns="0" tIns="0" rIns="0" bIns="0" rtlCol="0"/>
            <a:lstStyle/>
            <a:p>
              <a:endParaRPr/>
            </a:p>
          </p:txBody>
        </p:sp>
        <p:sp>
          <p:nvSpPr>
            <p:cNvPr id="24" name="object 24"/>
            <p:cNvSpPr/>
            <p:nvPr/>
          </p:nvSpPr>
          <p:spPr>
            <a:xfrm>
              <a:off x="5743194" y="3402330"/>
              <a:ext cx="1472565" cy="449580"/>
            </a:xfrm>
            <a:custGeom>
              <a:avLst/>
              <a:gdLst/>
              <a:ahLst/>
              <a:cxnLst/>
              <a:rect l="l" t="t" r="r" b="b"/>
              <a:pathLst>
                <a:path w="1472565" h="449579">
                  <a:moveTo>
                    <a:pt x="0" y="74930"/>
                  </a:moveTo>
                  <a:lnTo>
                    <a:pt x="5885" y="45755"/>
                  </a:lnTo>
                  <a:lnTo>
                    <a:pt x="21939" y="21939"/>
                  </a:lnTo>
                  <a:lnTo>
                    <a:pt x="45755" y="5885"/>
                  </a:lnTo>
                  <a:lnTo>
                    <a:pt x="74929" y="0"/>
                  </a:lnTo>
                  <a:lnTo>
                    <a:pt x="1397253" y="0"/>
                  </a:lnTo>
                  <a:lnTo>
                    <a:pt x="1426428" y="5885"/>
                  </a:lnTo>
                  <a:lnTo>
                    <a:pt x="1450244" y="21939"/>
                  </a:lnTo>
                  <a:lnTo>
                    <a:pt x="1466298" y="45755"/>
                  </a:lnTo>
                  <a:lnTo>
                    <a:pt x="1472183" y="74930"/>
                  </a:lnTo>
                  <a:lnTo>
                    <a:pt x="1472183" y="374650"/>
                  </a:lnTo>
                  <a:lnTo>
                    <a:pt x="1466298" y="403824"/>
                  </a:lnTo>
                  <a:lnTo>
                    <a:pt x="1450244" y="427640"/>
                  </a:lnTo>
                  <a:lnTo>
                    <a:pt x="1426428" y="443694"/>
                  </a:lnTo>
                  <a:lnTo>
                    <a:pt x="1397253" y="449580"/>
                  </a:lnTo>
                  <a:lnTo>
                    <a:pt x="74929" y="449580"/>
                  </a:lnTo>
                  <a:lnTo>
                    <a:pt x="45755" y="443694"/>
                  </a:lnTo>
                  <a:lnTo>
                    <a:pt x="21939" y="427640"/>
                  </a:lnTo>
                  <a:lnTo>
                    <a:pt x="5885" y="403824"/>
                  </a:lnTo>
                  <a:lnTo>
                    <a:pt x="0" y="374650"/>
                  </a:lnTo>
                  <a:lnTo>
                    <a:pt x="0" y="74930"/>
                  </a:lnTo>
                  <a:close/>
                </a:path>
              </a:pathLst>
            </a:custGeom>
            <a:ln w="25907">
              <a:solidFill>
                <a:srgbClr val="464646"/>
              </a:solidFill>
            </a:ln>
          </p:spPr>
          <p:txBody>
            <a:bodyPr wrap="square" lIns="0" tIns="0" rIns="0" bIns="0" rtlCol="0"/>
            <a:lstStyle/>
            <a:p>
              <a:endParaRPr/>
            </a:p>
          </p:txBody>
        </p:sp>
      </p:grpSp>
      <p:sp>
        <p:nvSpPr>
          <p:cNvPr id="25" name="object 25"/>
          <p:cNvSpPr txBox="1"/>
          <p:nvPr/>
        </p:nvSpPr>
        <p:spPr>
          <a:xfrm>
            <a:off x="5885815" y="3488563"/>
            <a:ext cx="1185545" cy="269240"/>
          </a:xfrm>
          <a:prstGeom prst="rect">
            <a:avLst/>
          </a:prstGeom>
        </p:spPr>
        <p:txBody>
          <a:bodyPr vert="horz" wrap="square" lIns="0" tIns="12065" rIns="0" bIns="0" rtlCol="0">
            <a:spAutoFit/>
          </a:bodyPr>
          <a:lstStyle/>
          <a:p>
            <a:pPr marL="12700">
              <a:lnSpc>
                <a:spcPct val="100000"/>
              </a:lnSpc>
              <a:spcBef>
                <a:spcPts val="95"/>
              </a:spcBef>
            </a:pPr>
            <a:r>
              <a:rPr sz="1600" spc="-15" dirty="0">
                <a:solidFill>
                  <a:srgbClr val="464646"/>
                </a:solidFill>
                <a:latin typeface="Arial MT"/>
                <a:cs typeface="Arial MT"/>
              </a:rPr>
              <a:t>O</a:t>
            </a:r>
            <a:r>
              <a:rPr sz="1600" spc="-5" dirty="0">
                <a:solidFill>
                  <a:srgbClr val="464646"/>
                </a:solidFill>
                <a:latin typeface="Arial MT"/>
                <a:cs typeface="Arial MT"/>
              </a:rPr>
              <a:t>n</a:t>
            </a:r>
            <a:r>
              <a:rPr sz="1600" spc="-10" dirty="0">
                <a:solidFill>
                  <a:srgbClr val="464646"/>
                </a:solidFill>
                <a:latin typeface="Arial MT"/>
                <a:cs typeface="Arial MT"/>
              </a:rPr>
              <a:t>-</a:t>
            </a:r>
            <a:r>
              <a:rPr sz="1600" spc="-5" dirty="0">
                <a:solidFill>
                  <a:srgbClr val="464646"/>
                </a:solidFill>
                <a:latin typeface="Arial MT"/>
                <a:cs typeface="Arial MT"/>
              </a:rPr>
              <a:t>premises</a:t>
            </a:r>
            <a:endParaRPr sz="1600">
              <a:latin typeface="Arial MT"/>
              <a:cs typeface="Arial MT"/>
            </a:endParaRPr>
          </a:p>
        </p:txBody>
      </p:sp>
      <p:sp>
        <p:nvSpPr>
          <p:cNvPr id="26" name="object 26"/>
          <p:cNvSpPr txBox="1"/>
          <p:nvPr/>
        </p:nvSpPr>
        <p:spPr>
          <a:xfrm>
            <a:off x="2614041" y="1036701"/>
            <a:ext cx="2677160" cy="1055370"/>
          </a:xfrm>
          <a:prstGeom prst="rect">
            <a:avLst/>
          </a:prstGeom>
        </p:spPr>
        <p:txBody>
          <a:bodyPr vert="horz" wrap="square" lIns="0" tIns="12700" rIns="0" bIns="0" rtlCol="0">
            <a:spAutoFit/>
          </a:bodyPr>
          <a:lstStyle/>
          <a:p>
            <a:pPr marL="1592580">
              <a:lnSpc>
                <a:spcPct val="100000"/>
              </a:lnSpc>
              <a:spcBef>
                <a:spcPts val="100"/>
              </a:spcBef>
            </a:pPr>
            <a:r>
              <a:rPr sz="1800" dirty="0">
                <a:solidFill>
                  <a:srgbClr val="464646"/>
                </a:solidFill>
                <a:latin typeface="Arial MT"/>
                <a:cs typeface="Arial MT"/>
              </a:rPr>
              <a:t>HTTP(S)</a:t>
            </a:r>
            <a:endParaRPr sz="1800">
              <a:latin typeface="Arial MT"/>
              <a:cs typeface="Arial MT"/>
            </a:endParaRPr>
          </a:p>
          <a:p>
            <a:pPr>
              <a:lnSpc>
                <a:spcPct val="100000"/>
              </a:lnSpc>
            </a:pPr>
            <a:endParaRPr sz="2000">
              <a:latin typeface="Arial MT"/>
              <a:cs typeface="Arial MT"/>
            </a:endParaRPr>
          </a:p>
          <a:p>
            <a:pPr marL="12700">
              <a:lnSpc>
                <a:spcPct val="100000"/>
              </a:lnSpc>
              <a:spcBef>
                <a:spcPts val="1485"/>
              </a:spcBef>
            </a:pPr>
            <a:r>
              <a:rPr sz="1800" spc="-5" dirty="0">
                <a:solidFill>
                  <a:srgbClr val="464646"/>
                </a:solidFill>
                <a:latin typeface="Arial MT"/>
                <a:cs typeface="Arial MT"/>
              </a:rPr>
              <a:t>Application</a:t>
            </a:r>
            <a:r>
              <a:rPr sz="1800" spc="-15" dirty="0">
                <a:solidFill>
                  <a:srgbClr val="464646"/>
                </a:solidFill>
                <a:latin typeface="Arial MT"/>
                <a:cs typeface="Arial MT"/>
              </a:rPr>
              <a:t> </a:t>
            </a:r>
            <a:r>
              <a:rPr sz="1800" spc="-5" dirty="0">
                <a:solidFill>
                  <a:srgbClr val="464646"/>
                </a:solidFill>
                <a:latin typeface="Arial MT"/>
                <a:cs typeface="Arial MT"/>
              </a:rPr>
              <a:t>Load</a:t>
            </a:r>
            <a:r>
              <a:rPr sz="1800" spc="-20" dirty="0">
                <a:solidFill>
                  <a:srgbClr val="464646"/>
                </a:solidFill>
                <a:latin typeface="Arial MT"/>
                <a:cs typeface="Arial MT"/>
              </a:rPr>
              <a:t> </a:t>
            </a:r>
            <a:r>
              <a:rPr sz="1800" spc="-5" dirty="0">
                <a:solidFill>
                  <a:srgbClr val="464646"/>
                </a:solidFill>
                <a:latin typeface="Arial MT"/>
                <a:cs typeface="Arial MT"/>
              </a:rPr>
              <a:t>Balancer</a:t>
            </a:r>
            <a:endParaRPr sz="1800">
              <a:latin typeface="Arial MT"/>
              <a:cs typeface="Arial M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21666"/>
            <a:ext cx="617283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Application</a:t>
            </a:r>
            <a:r>
              <a:rPr u="none" spc="5" dirty="0">
                <a:solidFill>
                  <a:srgbClr val="4D4D4B"/>
                </a:solidFill>
              </a:rPr>
              <a:t> </a:t>
            </a:r>
            <a:r>
              <a:rPr u="none" spc="-5" dirty="0">
                <a:solidFill>
                  <a:srgbClr val="4D4D4B"/>
                </a:solidFill>
              </a:rPr>
              <a:t>Load</a:t>
            </a:r>
            <a:r>
              <a:rPr u="none" spc="10" dirty="0">
                <a:solidFill>
                  <a:srgbClr val="4D4D4B"/>
                </a:solidFill>
              </a:rPr>
              <a:t> </a:t>
            </a:r>
            <a:r>
              <a:rPr u="none" spc="-5" dirty="0">
                <a:solidFill>
                  <a:srgbClr val="4D4D4B"/>
                </a:solidFill>
              </a:rPr>
              <a:t>Balancer</a:t>
            </a:r>
            <a:r>
              <a:rPr u="none" spc="35" dirty="0">
                <a:solidFill>
                  <a:srgbClr val="4D4D4B"/>
                </a:solidFill>
              </a:rPr>
              <a:t> </a:t>
            </a:r>
            <a:r>
              <a:rPr u="none" spc="-5" dirty="0">
                <a:solidFill>
                  <a:srgbClr val="4D4D4B"/>
                </a:solidFill>
              </a:rPr>
              <a:t>- Routing</a:t>
            </a:r>
          </a:p>
        </p:txBody>
      </p:sp>
      <p:grpSp>
        <p:nvGrpSpPr>
          <p:cNvPr id="3" name="object 3"/>
          <p:cNvGrpSpPr/>
          <p:nvPr/>
        </p:nvGrpSpPr>
        <p:grpSpPr>
          <a:xfrm>
            <a:off x="412940" y="626363"/>
            <a:ext cx="5264150" cy="3658235"/>
            <a:chOff x="412940" y="626363"/>
            <a:chExt cx="5264150" cy="3658235"/>
          </a:xfrm>
        </p:grpSpPr>
        <p:sp>
          <p:nvSpPr>
            <p:cNvPr id="4" name="object 4"/>
            <p:cNvSpPr/>
            <p:nvPr/>
          </p:nvSpPr>
          <p:spPr>
            <a:xfrm>
              <a:off x="2241042" y="1675638"/>
              <a:ext cx="3423285" cy="546100"/>
            </a:xfrm>
            <a:custGeom>
              <a:avLst/>
              <a:gdLst/>
              <a:ahLst/>
              <a:cxnLst/>
              <a:rect l="l" t="t" r="r" b="b"/>
              <a:pathLst>
                <a:path w="3423285" h="546100">
                  <a:moveTo>
                    <a:pt x="0" y="90932"/>
                  </a:moveTo>
                  <a:lnTo>
                    <a:pt x="7153" y="55560"/>
                  </a:lnTo>
                  <a:lnTo>
                    <a:pt x="26654" y="26654"/>
                  </a:lnTo>
                  <a:lnTo>
                    <a:pt x="55560" y="7153"/>
                  </a:lnTo>
                  <a:lnTo>
                    <a:pt x="90931" y="0"/>
                  </a:lnTo>
                  <a:lnTo>
                    <a:pt x="3331972" y="0"/>
                  </a:lnTo>
                  <a:lnTo>
                    <a:pt x="3367343" y="7153"/>
                  </a:lnTo>
                  <a:lnTo>
                    <a:pt x="3396249" y="26654"/>
                  </a:lnTo>
                  <a:lnTo>
                    <a:pt x="3415750" y="55560"/>
                  </a:lnTo>
                  <a:lnTo>
                    <a:pt x="3422904" y="90932"/>
                  </a:lnTo>
                  <a:lnTo>
                    <a:pt x="3422904" y="454660"/>
                  </a:lnTo>
                  <a:lnTo>
                    <a:pt x="3415750" y="490031"/>
                  </a:lnTo>
                  <a:lnTo>
                    <a:pt x="3396249" y="518937"/>
                  </a:lnTo>
                  <a:lnTo>
                    <a:pt x="3367343" y="538438"/>
                  </a:lnTo>
                  <a:lnTo>
                    <a:pt x="3331972" y="545592"/>
                  </a:lnTo>
                  <a:lnTo>
                    <a:pt x="90931" y="545592"/>
                  </a:lnTo>
                  <a:lnTo>
                    <a:pt x="55560" y="538438"/>
                  </a:lnTo>
                  <a:lnTo>
                    <a:pt x="26654" y="518937"/>
                  </a:lnTo>
                  <a:lnTo>
                    <a:pt x="7153" y="490031"/>
                  </a:lnTo>
                  <a:lnTo>
                    <a:pt x="0" y="454660"/>
                  </a:lnTo>
                  <a:lnTo>
                    <a:pt x="0" y="90932"/>
                  </a:lnTo>
                  <a:close/>
                </a:path>
              </a:pathLst>
            </a:custGeom>
            <a:ln w="25908">
              <a:solidFill>
                <a:srgbClr val="464646"/>
              </a:solidFill>
            </a:ln>
          </p:spPr>
          <p:txBody>
            <a:bodyPr wrap="square" lIns="0" tIns="0" rIns="0" bIns="0" rtlCol="0"/>
            <a:lstStyle/>
            <a:p>
              <a:endParaRPr/>
            </a:p>
          </p:txBody>
        </p:sp>
        <p:pic>
          <p:nvPicPr>
            <p:cNvPr id="5" name="object 5"/>
            <p:cNvPicPr/>
            <p:nvPr/>
          </p:nvPicPr>
          <p:blipFill>
            <a:blip r:embed="rId2" cstate="print"/>
            <a:stretch>
              <a:fillRect/>
            </a:stretch>
          </p:blipFill>
          <p:spPr>
            <a:xfrm>
              <a:off x="3831336" y="626363"/>
              <a:ext cx="246964" cy="1194815"/>
            </a:xfrm>
            <a:prstGeom prst="rect">
              <a:avLst/>
            </a:prstGeom>
          </p:spPr>
        </p:pic>
        <p:sp>
          <p:nvSpPr>
            <p:cNvPr id="6" name="object 6"/>
            <p:cNvSpPr/>
            <p:nvPr/>
          </p:nvSpPr>
          <p:spPr>
            <a:xfrm>
              <a:off x="3914393" y="727709"/>
              <a:ext cx="86360" cy="956944"/>
            </a:xfrm>
            <a:custGeom>
              <a:avLst/>
              <a:gdLst/>
              <a:ahLst/>
              <a:cxnLst/>
              <a:rect l="l" t="t" r="r" b="b"/>
              <a:pathLst>
                <a:path w="86360" h="956944">
                  <a:moveTo>
                    <a:pt x="0" y="878839"/>
                  </a:moveTo>
                  <a:lnTo>
                    <a:pt x="38100" y="956944"/>
                  </a:lnTo>
                  <a:lnTo>
                    <a:pt x="71217" y="892301"/>
                  </a:lnTo>
                  <a:lnTo>
                    <a:pt x="51688" y="892301"/>
                  </a:lnTo>
                  <a:lnTo>
                    <a:pt x="25780" y="892048"/>
                  </a:lnTo>
                  <a:lnTo>
                    <a:pt x="25914" y="879094"/>
                  </a:lnTo>
                  <a:lnTo>
                    <a:pt x="0" y="878839"/>
                  </a:lnTo>
                  <a:close/>
                </a:path>
                <a:path w="86360" h="956944">
                  <a:moveTo>
                    <a:pt x="25914" y="879094"/>
                  </a:moveTo>
                  <a:lnTo>
                    <a:pt x="25780" y="892048"/>
                  </a:lnTo>
                  <a:lnTo>
                    <a:pt x="51688" y="892301"/>
                  </a:lnTo>
                  <a:lnTo>
                    <a:pt x="51822" y="879348"/>
                  </a:lnTo>
                  <a:lnTo>
                    <a:pt x="25914" y="879094"/>
                  </a:lnTo>
                  <a:close/>
                </a:path>
                <a:path w="86360" h="956944">
                  <a:moveTo>
                    <a:pt x="51822" y="879348"/>
                  </a:moveTo>
                  <a:lnTo>
                    <a:pt x="51688" y="892301"/>
                  </a:lnTo>
                  <a:lnTo>
                    <a:pt x="71217" y="892301"/>
                  </a:lnTo>
                  <a:lnTo>
                    <a:pt x="77723" y="879601"/>
                  </a:lnTo>
                  <a:lnTo>
                    <a:pt x="51822" y="879348"/>
                  </a:lnTo>
                  <a:close/>
                </a:path>
                <a:path w="86360" h="956944">
                  <a:moveTo>
                    <a:pt x="34156" y="77597"/>
                  </a:moveTo>
                  <a:lnTo>
                    <a:pt x="25914" y="879094"/>
                  </a:lnTo>
                  <a:lnTo>
                    <a:pt x="51822" y="879348"/>
                  </a:lnTo>
                  <a:lnTo>
                    <a:pt x="60064" y="77851"/>
                  </a:lnTo>
                  <a:lnTo>
                    <a:pt x="34156" y="77597"/>
                  </a:lnTo>
                  <a:close/>
                </a:path>
                <a:path w="86360" h="956944">
                  <a:moveTo>
                    <a:pt x="79307" y="64642"/>
                  </a:moveTo>
                  <a:lnTo>
                    <a:pt x="34289" y="64642"/>
                  </a:lnTo>
                  <a:lnTo>
                    <a:pt x="60197" y="64897"/>
                  </a:lnTo>
                  <a:lnTo>
                    <a:pt x="60064" y="77851"/>
                  </a:lnTo>
                  <a:lnTo>
                    <a:pt x="85851" y="78104"/>
                  </a:lnTo>
                  <a:lnTo>
                    <a:pt x="79307" y="64642"/>
                  </a:lnTo>
                  <a:close/>
                </a:path>
                <a:path w="86360" h="956944">
                  <a:moveTo>
                    <a:pt x="34289" y="64642"/>
                  </a:moveTo>
                  <a:lnTo>
                    <a:pt x="34156" y="77597"/>
                  </a:lnTo>
                  <a:lnTo>
                    <a:pt x="60064" y="77851"/>
                  </a:lnTo>
                  <a:lnTo>
                    <a:pt x="60197" y="64897"/>
                  </a:lnTo>
                  <a:lnTo>
                    <a:pt x="34289" y="64642"/>
                  </a:lnTo>
                  <a:close/>
                </a:path>
                <a:path w="86360" h="956944">
                  <a:moveTo>
                    <a:pt x="47878" y="0"/>
                  </a:moveTo>
                  <a:lnTo>
                    <a:pt x="8254" y="77342"/>
                  </a:lnTo>
                  <a:lnTo>
                    <a:pt x="34156" y="77597"/>
                  </a:lnTo>
                  <a:lnTo>
                    <a:pt x="34289" y="64642"/>
                  </a:lnTo>
                  <a:lnTo>
                    <a:pt x="79307" y="64642"/>
                  </a:lnTo>
                  <a:lnTo>
                    <a:pt x="47878" y="0"/>
                  </a:lnTo>
                  <a:close/>
                </a:path>
              </a:pathLst>
            </a:custGeom>
            <a:solidFill>
              <a:srgbClr val="FBB64B"/>
            </a:solidFill>
          </p:spPr>
          <p:txBody>
            <a:bodyPr wrap="square" lIns="0" tIns="0" rIns="0" bIns="0" rtlCol="0"/>
            <a:lstStyle/>
            <a:p>
              <a:endParaRPr/>
            </a:p>
          </p:txBody>
        </p:sp>
        <p:sp>
          <p:nvSpPr>
            <p:cNvPr id="7" name="object 7"/>
            <p:cNvSpPr/>
            <p:nvPr/>
          </p:nvSpPr>
          <p:spPr>
            <a:xfrm>
              <a:off x="425957" y="3076193"/>
              <a:ext cx="1789430" cy="1195070"/>
            </a:xfrm>
            <a:custGeom>
              <a:avLst/>
              <a:gdLst/>
              <a:ahLst/>
              <a:cxnLst/>
              <a:rect l="l" t="t" r="r" b="b"/>
              <a:pathLst>
                <a:path w="1789430" h="1195070">
                  <a:moveTo>
                    <a:pt x="0" y="199136"/>
                  </a:moveTo>
                  <a:lnTo>
                    <a:pt x="5259" y="153475"/>
                  </a:lnTo>
                  <a:lnTo>
                    <a:pt x="20240" y="111560"/>
                  </a:lnTo>
                  <a:lnTo>
                    <a:pt x="43747" y="74585"/>
                  </a:lnTo>
                  <a:lnTo>
                    <a:pt x="74585" y="43747"/>
                  </a:lnTo>
                  <a:lnTo>
                    <a:pt x="111560" y="20240"/>
                  </a:lnTo>
                  <a:lnTo>
                    <a:pt x="153475" y="5259"/>
                  </a:lnTo>
                  <a:lnTo>
                    <a:pt x="199136" y="0"/>
                  </a:lnTo>
                  <a:lnTo>
                    <a:pt x="1590040" y="0"/>
                  </a:lnTo>
                  <a:lnTo>
                    <a:pt x="1635700" y="5259"/>
                  </a:lnTo>
                  <a:lnTo>
                    <a:pt x="1677615" y="20240"/>
                  </a:lnTo>
                  <a:lnTo>
                    <a:pt x="1714590" y="43747"/>
                  </a:lnTo>
                  <a:lnTo>
                    <a:pt x="1745428" y="74585"/>
                  </a:lnTo>
                  <a:lnTo>
                    <a:pt x="1768935" y="111560"/>
                  </a:lnTo>
                  <a:lnTo>
                    <a:pt x="1783916" y="153475"/>
                  </a:lnTo>
                  <a:lnTo>
                    <a:pt x="1789176" y="199136"/>
                  </a:lnTo>
                  <a:lnTo>
                    <a:pt x="1789176" y="995680"/>
                  </a:lnTo>
                  <a:lnTo>
                    <a:pt x="1783916" y="1041340"/>
                  </a:lnTo>
                  <a:lnTo>
                    <a:pt x="1768935" y="1083255"/>
                  </a:lnTo>
                  <a:lnTo>
                    <a:pt x="1745428" y="1120230"/>
                  </a:lnTo>
                  <a:lnTo>
                    <a:pt x="1714590" y="1151068"/>
                  </a:lnTo>
                  <a:lnTo>
                    <a:pt x="1677615" y="1174575"/>
                  </a:lnTo>
                  <a:lnTo>
                    <a:pt x="1635700" y="1189556"/>
                  </a:lnTo>
                  <a:lnTo>
                    <a:pt x="1590040" y="1194816"/>
                  </a:lnTo>
                  <a:lnTo>
                    <a:pt x="199136" y="1194816"/>
                  </a:lnTo>
                  <a:lnTo>
                    <a:pt x="153475" y="1189556"/>
                  </a:lnTo>
                  <a:lnTo>
                    <a:pt x="111560" y="1174575"/>
                  </a:lnTo>
                  <a:lnTo>
                    <a:pt x="74585" y="1151068"/>
                  </a:lnTo>
                  <a:lnTo>
                    <a:pt x="43747" y="1120230"/>
                  </a:lnTo>
                  <a:lnTo>
                    <a:pt x="20240" y="1083255"/>
                  </a:lnTo>
                  <a:lnTo>
                    <a:pt x="5259" y="1041340"/>
                  </a:lnTo>
                  <a:lnTo>
                    <a:pt x="0" y="995680"/>
                  </a:lnTo>
                  <a:lnTo>
                    <a:pt x="0" y="199136"/>
                  </a:lnTo>
                  <a:close/>
                </a:path>
                <a:path w="1789430" h="1195070">
                  <a:moveTo>
                    <a:pt x="277368" y="403860"/>
                  </a:moveTo>
                  <a:lnTo>
                    <a:pt x="283237" y="374778"/>
                  </a:lnTo>
                  <a:lnTo>
                    <a:pt x="299242" y="351043"/>
                  </a:lnTo>
                  <a:lnTo>
                    <a:pt x="322979" y="335047"/>
                  </a:lnTo>
                  <a:lnTo>
                    <a:pt x="352044" y="329183"/>
                  </a:lnTo>
                  <a:lnTo>
                    <a:pt x="1328928" y="329183"/>
                  </a:lnTo>
                  <a:lnTo>
                    <a:pt x="1358009" y="335047"/>
                  </a:lnTo>
                  <a:lnTo>
                    <a:pt x="1381744" y="351043"/>
                  </a:lnTo>
                  <a:lnTo>
                    <a:pt x="1397740" y="374778"/>
                  </a:lnTo>
                  <a:lnTo>
                    <a:pt x="1403604" y="403860"/>
                  </a:lnTo>
                  <a:lnTo>
                    <a:pt x="1403604" y="702564"/>
                  </a:lnTo>
                  <a:lnTo>
                    <a:pt x="1397740" y="731645"/>
                  </a:lnTo>
                  <a:lnTo>
                    <a:pt x="1381744" y="755380"/>
                  </a:lnTo>
                  <a:lnTo>
                    <a:pt x="1358009" y="771376"/>
                  </a:lnTo>
                  <a:lnTo>
                    <a:pt x="1328928" y="777240"/>
                  </a:lnTo>
                  <a:lnTo>
                    <a:pt x="352044" y="777240"/>
                  </a:lnTo>
                  <a:lnTo>
                    <a:pt x="322979" y="771376"/>
                  </a:lnTo>
                  <a:lnTo>
                    <a:pt x="299242" y="755380"/>
                  </a:lnTo>
                  <a:lnTo>
                    <a:pt x="283237" y="731645"/>
                  </a:lnTo>
                  <a:lnTo>
                    <a:pt x="277368" y="702564"/>
                  </a:lnTo>
                  <a:lnTo>
                    <a:pt x="277368" y="403860"/>
                  </a:lnTo>
                  <a:close/>
                </a:path>
              </a:pathLst>
            </a:custGeom>
            <a:ln w="25908">
              <a:solidFill>
                <a:srgbClr val="464646"/>
              </a:solidFill>
            </a:ln>
          </p:spPr>
          <p:txBody>
            <a:bodyPr wrap="square" lIns="0" tIns="0" rIns="0" bIns="0" rtlCol="0"/>
            <a:lstStyle/>
            <a:p>
              <a:endParaRPr/>
            </a:p>
          </p:txBody>
        </p:sp>
        <p:sp>
          <p:nvSpPr>
            <p:cNvPr id="8" name="object 8"/>
            <p:cNvSpPr/>
            <p:nvPr/>
          </p:nvSpPr>
          <p:spPr>
            <a:xfrm>
              <a:off x="855726" y="3557778"/>
              <a:ext cx="1126490" cy="448309"/>
            </a:xfrm>
            <a:custGeom>
              <a:avLst/>
              <a:gdLst/>
              <a:ahLst/>
              <a:cxnLst/>
              <a:rect l="l" t="t" r="r" b="b"/>
              <a:pathLst>
                <a:path w="1126489" h="448310">
                  <a:moveTo>
                    <a:pt x="1051560" y="0"/>
                  </a:moveTo>
                  <a:lnTo>
                    <a:pt x="74676" y="0"/>
                  </a:lnTo>
                  <a:lnTo>
                    <a:pt x="45611" y="5863"/>
                  </a:lnTo>
                  <a:lnTo>
                    <a:pt x="21874" y="21859"/>
                  </a:lnTo>
                  <a:lnTo>
                    <a:pt x="5869" y="45594"/>
                  </a:lnTo>
                  <a:lnTo>
                    <a:pt x="0" y="74676"/>
                  </a:lnTo>
                  <a:lnTo>
                    <a:pt x="0" y="373380"/>
                  </a:lnTo>
                  <a:lnTo>
                    <a:pt x="5869" y="402444"/>
                  </a:lnTo>
                  <a:lnTo>
                    <a:pt x="21874" y="426181"/>
                  </a:lnTo>
                  <a:lnTo>
                    <a:pt x="45611" y="442186"/>
                  </a:lnTo>
                  <a:lnTo>
                    <a:pt x="74676" y="448056"/>
                  </a:lnTo>
                  <a:lnTo>
                    <a:pt x="1051560" y="448056"/>
                  </a:lnTo>
                  <a:lnTo>
                    <a:pt x="1080641" y="442186"/>
                  </a:lnTo>
                  <a:lnTo>
                    <a:pt x="1104376" y="426181"/>
                  </a:lnTo>
                  <a:lnTo>
                    <a:pt x="1120372" y="402444"/>
                  </a:lnTo>
                  <a:lnTo>
                    <a:pt x="1126236" y="373380"/>
                  </a:lnTo>
                  <a:lnTo>
                    <a:pt x="1126236" y="74676"/>
                  </a:lnTo>
                  <a:lnTo>
                    <a:pt x="1120372" y="45594"/>
                  </a:lnTo>
                  <a:lnTo>
                    <a:pt x="1104376" y="21859"/>
                  </a:lnTo>
                  <a:lnTo>
                    <a:pt x="1080641" y="5863"/>
                  </a:lnTo>
                  <a:lnTo>
                    <a:pt x="1051560" y="0"/>
                  </a:lnTo>
                  <a:close/>
                </a:path>
              </a:pathLst>
            </a:custGeom>
            <a:solidFill>
              <a:srgbClr val="FFFFFF"/>
            </a:solidFill>
          </p:spPr>
          <p:txBody>
            <a:bodyPr wrap="square" lIns="0" tIns="0" rIns="0" bIns="0" rtlCol="0"/>
            <a:lstStyle/>
            <a:p>
              <a:endParaRPr/>
            </a:p>
          </p:txBody>
        </p:sp>
        <p:sp>
          <p:nvSpPr>
            <p:cNvPr id="9" name="object 9"/>
            <p:cNvSpPr/>
            <p:nvPr/>
          </p:nvSpPr>
          <p:spPr>
            <a:xfrm>
              <a:off x="855726" y="3557778"/>
              <a:ext cx="1126490" cy="448309"/>
            </a:xfrm>
            <a:custGeom>
              <a:avLst/>
              <a:gdLst/>
              <a:ahLst/>
              <a:cxnLst/>
              <a:rect l="l" t="t" r="r" b="b"/>
              <a:pathLst>
                <a:path w="1126489" h="448310">
                  <a:moveTo>
                    <a:pt x="0" y="74676"/>
                  </a:moveTo>
                  <a:lnTo>
                    <a:pt x="5869" y="45594"/>
                  </a:lnTo>
                  <a:lnTo>
                    <a:pt x="21874" y="21859"/>
                  </a:lnTo>
                  <a:lnTo>
                    <a:pt x="45611" y="5863"/>
                  </a:lnTo>
                  <a:lnTo>
                    <a:pt x="74676" y="0"/>
                  </a:lnTo>
                  <a:lnTo>
                    <a:pt x="1051560" y="0"/>
                  </a:lnTo>
                  <a:lnTo>
                    <a:pt x="1080641" y="5863"/>
                  </a:lnTo>
                  <a:lnTo>
                    <a:pt x="1104376" y="21859"/>
                  </a:lnTo>
                  <a:lnTo>
                    <a:pt x="1120372" y="45594"/>
                  </a:lnTo>
                  <a:lnTo>
                    <a:pt x="1126236" y="74676"/>
                  </a:lnTo>
                  <a:lnTo>
                    <a:pt x="1126236" y="373380"/>
                  </a:lnTo>
                  <a:lnTo>
                    <a:pt x="1120372" y="402444"/>
                  </a:lnTo>
                  <a:lnTo>
                    <a:pt x="1104376" y="426181"/>
                  </a:lnTo>
                  <a:lnTo>
                    <a:pt x="1080641" y="442186"/>
                  </a:lnTo>
                  <a:lnTo>
                    <a:pt x="1051560" y="448056"/>
                  </a:lnTo>
                  <a:lnTo>
                    <a:pt x="74676" y="448056"/>
                  </a:lnTo>
                  <a:lnTo>
                    <a:pt x="45611" y="442186"/>
                  </a:lnTo>
                  <a:lnTo>
                    <a:pt x="21874" y="426181"/>
                  </a:lnTo>
                  <a:lnTo>
                    <a:pt x="5869" y="402444"/>
                  </a:lnTo>
                  <a:lnTo>
                    <a:pt x="0" y="373380"/>
                  </a:lnTo>
                  <a:lnTo>
                    <a:pt x="0" y="74676"/>
                  </a:lnTo>
                  <a:close/>
                </a:path>
              </a:pathLst>
            </a:custGeom>
            <a:ln w="25908">
              <a:solidFill>
                <a:srgbClr val="464646"/>
              </a:solidFill>
            </a:ln>
          </p:spPr>
          <p:txBody>
            <a:bodyPr wrap="square" lIns="0" tIns="0" rIns="0" bIns="0" rtlCol="0"/>
            <a:lstStyle/>
            <a:p>
              <a:endParaRPr/>
            </a:p>
          </p:txBody>
        </p:sp>
      </p:grpSp>
      <p:sp>
        <p:nvSpPr>
          <p:cNvPr id="10" name="object 10"/>
          <p:cNvSpPr txBox="1"/>
          <p:nvPr/>
        </p:nvSpPr>
        <p:spPr>
          <a:xfrm>
            <a:off x="1183639" y="3625722"/>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grpSp>
        <p:nvGrpSpPr>
          <p:cNvPr id="11" name="object 11"/>
          <p:cNvGrpSpPr/>
          <p:nvPr/>
        </p:nvGrpSpPr>
        <p:grpSpPr>
          <a:xfrm>
            <a:off x="2506916" y="3063176"/>
            <a:ext cx="1986280" cy="1221105"/>
            <a:chOff x="2506916" y="3063176"/>
            <a:chExt cx="1986280" cy="1221105"/>
          </a:xfrm>
        </p:grpSpPr>
        <p:sp>
          <p:nvSpPr>
            <p:cNvPr id="12" name="object 12"/>
            <p:cNvSpPr/>
            <p:nvPr/>
          </p:nvSpPr>
          <p:spPr>
            <a:xfrm>
              <a:off x="2519934" y="3076194"/>
              <a:ext cx="1960245" cy="1195070"/>
            </a:xfrm>
            <a:custGeom>
              <a:avLst/>
              <a:gdLst/>
              <a:ahLst/>
              <a:cxnLst/>
              <a:rect l="l" t="t" r="r" b="b"/>
              <a:pathLst>
                <a:path w="1960245" h="1195070">
                  <a:moveTo>
                    <a:pt x="0" y="199136"/>
                  </a:moveTo>
                  <a:lnTo>
                    <a:pt x="5259" y="153475"/>
                  </a:lnTo>
                  <a:lnTo>
                    <a:pt x="20240" y="111560"/>
                  </a:lnTo>
                  <a:lnTo>
                    <a:pt x="43747" y="74585"/>
                  </a:lnTo>
                  <a:lnTo>
                    <a:pt x="74585" y="43747"/>
                  </a:lnTo>
                  <a:lnTo>
                    <a:pt x="111560" y="20240"/>
                  </a:lnTo>
                  <a:lnTo>
                    <a:pt x="153475" y="5259"/>
                  </a:lnTo>
                  <a:lnTo>
                    <a:pt x="199136" y="0"/>
                  </a:lnTo>
                  <a:lnTo>
                    <a:pt x="1760728" y="0"/>
                  </a:lnTo>
                  <a:lnTo>
                    <a:pt x="1806388" y="5259"/>
                  </a:lnTo>
                  <a:lnTo>
                    <a:pt x="1848303" y="20240"/>
                  </a:lnTo>
                  <a:lnTo>
                    <a:pt x="1885278" y="43747"/>
                  </a:lnTo>
                  <a:lnTo>
                    <a:pt x="1916116" y="74585"/>
                  </a:lnTo>
                  <a:lnTo>
                    <a:pt x="1939623" y="111560"/>
                  </a:lnTo>
                  <a:lnTo>
                    <a:pt x="1954604" y="153475"/>
                  </a:lnTo>
                  <a:lnTo>
                    <a:pt x="1959864" y="199136"/>
                  </a:lnTo>
                  <a:lnTo>
                    <a:pt x="1959864" y="995680"/>
                  </a:lnTo>
                  <a:lnTo>
                    <a:pt x="1954604" y="1041340"/>
                  </a:lnTo>
                  <a:lnTo>
                    <a:pt x="1939623" y="1083255"/>
                  </a:lnTo>
                  <a:lnTo>
                    <a:pt x="1916116" y="1120230"/>
                  </a:lnTo>
                  <a:lnTo>
                    <a:pt x="1885278" y="1151068"/>
                  </a:lnTo>
                  <a:lnTo>
                    <a:pt x="1848303" y="1174575"/>
                  </a:lnTo>
                  <a:lnTo>
                    <a:pt x="1806388" y="1189556"/>
                  </a:lnTo>
                  <a:lnTo>
                    <a:pt x="1760728" y="1194816"/>
                  </a:lnTo>
                  <a:lnTo>
                    <a:pt x="199136" y="1194816"/>
                  </a:lnTo>
                  <a:lnTo>
                    <a:pt x="153475" y="1189556"/>
                  </a:lnTo>
                  <a:lnTo>
                    <a:pt x="111560" y="1174575"/>
                  </a:lnTo>
                  <a:lnTo>
                    <a:pt x="74585" y="1151068"/>
                  </a:lnTo>
                  <a:lnTo>
                    <a:pt x="43747" y="1120230"/>
                  </a:lnTo>
                  <a:lnTo>
                    <a:pt x="20240" y="1083255"/>
                  </a:lnTo>
                  <a:lnTo>
                    <a:pt x="5259" y="1041340"/>
                  </a:lnTo>
                  <a:lnTo>
                    <a:pt x="0" y="995680"/>
                  </a:lnTo>
                  <a:lnTo>
                    <a:pt x="0" y="199136"/>
                  </a:lnTo>
                  <a:close/>
                </a:path>
                <a:path w="1960245" h="1195070">
                  <a:moveTo>
                    <a:pt x="182880" y="403860"/>
                  </a:moveTo>
                  <a:lnTo>
                    <a:pt x="188743" y="374778"/>
                  </a:lnTo>
                  <a:lnTo>
                    <a:pt x="204739" y="351043"/>
                  </a:lnTo>
                  <a:lnTo>
                    <a:pt x="228474" y="335047"/>
                  </a:lnTo>
                  <a:lnTo>
                    <a:pt x="257556" y="329183"/>
                  </a:lnTo>
                  <a:lnTo>
                    <a:pt x="1580388" y="329183"/>
                  </a:lnTo>
                  <a:lnTo>
                    <a:pt x="1609469" y="335047"/>
                  </a:lnTo>
                  <a:lnTo>
                    <a:pt x="1633204" y="351043"/>
                  </a:lnTo>
                  <a:lnTo>
                    <a:pt x="1649200" y="374778"/>
                  </a:lnTo>
                  <a:lnTo>
                    <a:pt x="1655064" y="403860"/>
                  </a:lnTo>
                  <a:lnTo>
                    <a:pt x="1655064" y="702564"/>
                  </a:lnTo>
                  <a:lnTo>
                    <a:pt x="1649200" y="731645"/>
                  </a:lnTo>
                  <a:lnTo>
                    <a:pt x="1633204" y="755380"/>
                  </a:lnTo>
                  <a:lnTo>
                    <a:pt x="1609469" y="771376"/>
                  </a:lnTo>
                  <a:lnTo>
                    <a:pt x="1580388" y="777240"/>
                  </a:lnTo>
                  <a:lnTo>
                    <a:pt x="257556" y="777240"/>
                  </a:lnTo>
                  <a:lnTo>
                    <a:pt x="228474" y="771376"/>
                  </a:lnTo>
                  <a:lnTo>
                    <a:pt x="204739" y="755380"/>
                  </a:lnTo>
                  <a:lnTo>
                    <a:pt x="188743" y="731645"/>
                  </a:lnTo>
                  <a:lnTo>
                    <a:pt x="182880" y="702564"/>
                  </a:lnTo>
                  <a:lnTo>
                    <a:pt x="182880" y="403860"/>
                  </a:lnTo>
                  <a:close/>
                </a:path>
              </a:pathLst>
            </a:custGeom>
            <a:ln w="25908">
              <a:solidFill>
                <a:srgbClr val="464646"/>
              </a:solidFill>
            </a:ln>
          </p:spPr>
          <p:txBody>
            <a:bodyPr wrap="square" lIns="0" tIns="0" rIns="0" bIns="0" rtlCol="0"/>
            <a:lstStyle/>
            <a:p>
              <a:endParaRPr/>
            </a:p>
          </p:txBody>
        </p:sp>
        <p:sp>
          <p:nvSpPr>
            <p:cNvPr id="13" name="object 13"/>
            <p:cNvSpPr/>
            <p:nvPr/>
          </p:nvSpPr>
          <p:spPr>
            <a:xfrm>
              <a:off x="2855214" y="3559302"/>
              <a:ext cx="1472565" cy="448309"/>
            </a:xfrm>
            <a:custGeom>
              <a:avLst/>
              <a:gdLst/>
              <a:ahLst/>
              <a:cxnLst/>
              <a:rect l="l" t="t" r="r" b="b"/>
              <a:pathLst>
                <a:path w="1472564" h="448310">
                  <a:moveTo>
                    <a:pt x="1397508" y="0"/>
                  </a:moveTo>
                  <a:lnTo>
                    <a:pt x="74675" y="0"/>
                  </a:lnTo>
                  <a:lnTo>
                    <a:pt x="45594" y="5863"/>
                  </a:lnTo>
                  <a:lnTo>
                    <a:pt x="21859" y="21859"/>
                  </a:lnTo>
                  <a:lnTo>
                    <a:pt x="5863" y="45594"/>
                  </a:lnTo>
                  <a:lnTo>
                    <a:pt x="0" y="74676"/>
                  </a:lnTo>
                  <a:lnTo>
                    <a:pt x="0" y="373380"/>
                  </a:lnTo>
                  <a:lnTo>
                    <a:pt x="5863" y="402444"/>
                  </a:lnTo>
                  <a:lnTo>
                    <a:pt x="21859" y="426181"/>
                  </a:lnTo>
                  <a:lnTo>
                    <a:pt x="45594" y="442186"/>
                  </a:lnTo>
                  <a:lnTo>
                    <a:pt x="74675" y="448056"/>
                  </a:lnTo>
                  <a:lnTo>
                    <a:pt x="1397508" y="448056"/>
                  </a:lnTo>
                  <a:lnTo>
                    <a:pt x="1426589" y="442186"/>
                  </a:lnTo>
                  <a:lnTo>
                    <a:pt x="1450324" y="426181"/>
                  </a:lnTo>
                  <a:lnTo>
                    <a:pt x="1466320" y="402444"/>
                  </a:lnTo>
                  <a:lnTo>
                    <a:pt x="1472184" y="373380"/>
                  </a:lnTo>
                  <a:lnTo>
                    <a:pt x="1472184" y="74676"/>
                  </a:lnTo>
                  <a:lnTo>
                    <a:pt x="1466320" y="45594"/>
                  </a:lnTo>
                  <a:lnTo>
                    <a:pt x="1450324" y="21859"/>
                  </a:lnTo>
                  <a:lnTo>
                    <a:pt x="1426589" y="5863"/>
                  </a:lnTo>
                  <a:lnTo>
                    <a:pt x="1397508" y="0"/>
                  </a:lnTo>
                  <a:close/>
                </a:path>
              </a:pathLst>
            </a:custGeom>
            <a:solidFill>
              <a:srgbClr val="FFFFFF"/>
            </a:solidFill>
          </p:spPr>
          <p:txBody>
            <a:bodyPr wrap="square" lIns="0" tIns="0" rIns="0" bIns="0" rtlCol="0"/>
            <a:lstStyle/>
            <a:p>
              <a:endParaRPr/>
            </a:p>
          </p:txBody>
        </p:sp>
        <p:sp>
          <p:nvSpPr>
            <p:cNvPr id="14" name="object 14"/>
            <p:cNvSpPr/>
            <p:nvPr/>
          </p:nvSpPr>
          <p:spPr>
            <a:xfrm>
              <a:off x="2855214" y="3559302"/>
              <a:ext cx="1472565" cy="448309"/>
            </a:xfrm>
            <a:custGeom>
              <a:avLst/>
              <a:gdLst/>
              <a:ahLst/>
              <a:cxnLst/>
              <a:rect l="l" t="t" r="r" b="b"/>
              <a:pathLst>
                <a:path w="1472564" h="448310">
                  <a:moveTo>
                    <a:pt x="0" y="74676"/>
                  </a:moveTo>
                  <a:lnTo>
                    <a:pt x="5863" y="45594"/>
                  </a:lnTo>
                  <a:lnTo>
                    <a:pt x="21859" y="21859"/>
                  </a:lnTo>
                  <a:lnTo>
                    <a:pt x="45594" y="5863"/>
                  </a:lnTo>
                  <a:lnTo>
                    <a:pt x="74675" y="0"/>
                  </a:lnTo>
                  <a:lnTo>
                    <a:pt x="1397508" y="0"/>
                  </a:lnTo>
                  <a:lnTo>
                    <a:pt x="1426589" y="5863"/>
                  </a:lnTo>
                  <a:lnTo>
                    <a:pt x="1450324" y="21859"/>
                  </a:lnTo>
                  <a:lnTo>
                    <a:pt x="1466320" y="45594"/>
                  </a:lnTo>
                  <a:lnTo>
                    <a:pt x="1472184" y="74676"/>
                  </a:lnTo>
                  <a:lnTo>
                    <a:pt x="1472184" y="373380"/>
                  </a:lnTo>
                  <a:lnTo>
                    <a:pt x="1466320" y="402444"/>
                  </a:lnTo>
                  <a:lnTo>
                    <a:pt x="1450324" y="426181"/>
                  </a:lnTo>
                  <a:lnTo>
                    <a:pt x="1426589" y="442186"/>
                  </a:lnTo>
                  <a:lnTo>
                    <a:pt x="1397508" y="448056"/>
                  </a:lnTo>
                  <a:lnTo>
                    <a:pt x="74675" y="448056"/>
                  </a:lnTo>
                  <a:lnTo>
                    <a:pt x="45594" y="442186"/>
                  </a:lnTo>
                  <a:lnTo>
                    <a:pt x="21859" y="426181"/>
                  </a:lnTo>
                  <a:lnTo>
                    <a:pt x="5863" y="402444"/>
                  </a:lnTo>
                  <a:lnTo>
                    <a:pt x="0" y="373380"/>
                  </a:lnTo>
                  <a:lnTo>
                    <a:pt x="0" y="74676"/>
                  </a:lnTo>
                  <a:close/>
                </a:path>
              </a:pathLst>
            </a:custGeom>
            <a:ln w="25908">
              <a:solidFill>
                <a:srgbClr val="464646"/>
              </a:solidFill>
            </a:ln>
          </p:spPr>
          <p:txBody>
            <a:bodyPr wrap="square" lIns="0" tIns="0" rIns="0" bIns="0" rtlCol="0"/>
            <a:lstStyle/>
            <a:p>
              <a:endParaRPr/>
            </a:p>
          </p:txBody>
        </p:sp>
      </p:grpSp>
      <p:sp>
        <p:nvSpPr>
          <p:cNvPr id="15" name="object 15"/>
          <p:cNvSpPr txBox="1"/>
          <p:nvPr/>
        </p:nvSpPr>
        <p:spPr>
          <a:xfrm>
            <a:off x="3027679" y="3626942"/>
            <a:ext cx="112839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64646"/>
                </a:solidFill>
                <a:latin typeface="Arial MT"/>
                <a:cs typeface="Arial MT"/>
              </a:rPr>
              <a:t>C</a:t>
            </a:r>
            <a:r>
              <a:rPr sz="1800" spc="-15" dirty="0">
                <a:solidFill>
                  <a:srgbClr val="464646"/>
                </a:solidFill>
                <a:latin typeface="Arial MT"/>
                <a:cs typeface="Arial MT"/>
              </a:rPr>
              <a:t>o</a:t>
            </a:r>
            <a:r>
              <a:rPr sz="1800" spc="-10" dirty="0">
                <a:solidFill>
                  <a:srgbClr val="464646"/>
                </a:solidFill>
                <a:latin typeface="Arial MT"/>
                <a:cs typeface="Arial MT"/>
              </a:rPr>
              <a:t>n</a:t>
            </a:r>
            <a:r>
              <a:rPr sz="1800" dirty="0">
                <a:solidFill>
                  <a:srgbClr val="464646"/>
                </a:solidFill>
                <a:latin typeface="Arial MT"/>
                <a:cs typeface="Arial MT"/>
              </a:rPr>
              <a:t>ta</a:t>
            </a:r>
            <a:r>
              <a:rPr sz="1800" spc="-10" dirty="0">
                <a:solidFill>
                  <a:srgbClr val="464646"/>
                </a:solidFill>
                <a:latin typeface="Arial MT"/>
                <a:cs typeface="Arial MT"/>
              </a:rPr>
              <a:t>ine</a:t>
            </a:r>
            <a:r>
              <a:rPr sz="1800" dirty="0">
                <a:solidFill>
                  <a:srgbClr val="464646"/>
                </a:solidFill>
                <a:latin typeface="Arial MT"/>
                <a:cs typeface="Arial MT"/>
              </a:rPr>
              <a:t>rs</a:t>
            </a:r>
            <a:endParaRPr sz="1800">
              <a:latin typeface="Arial MT"/>
              <a:cs typeface="Arial MT"/>
            </a:endParaRPr>
          </a:p>
        </p:txBody>
      </p:sp>
      <p:grpSp>
        <p:nvGrpSpPr>
          <p:cNvPr id="16" name="object 16"/>
          <p:cNvGrpSpPr/>
          <p:nvPr/>
        </p:nvGrpSpPr>
        <p:grpSpPr>
          <a:xfrm>
            <a:off x="4745672" y="3063176"/>
            <a:ext cx="1986280" cy="1221105"/>
            <a:chOff x="4745672" y="3063176"/>
            <a:chExt cx="1986280" cy="1221105"/>
          </a:xfrm>
        </p:grpSpPr>
        <p:sp>
          <p:nvSpPr>
            <p:cNvPr id="17" name="object 17"/>
            <p:cNvSpPr/>
            <p:nvPr/>
          </p:nvSpPr>
          <p:spPr>
            <a:xfrm>
              <a:off x="4758689" y="3076194"/>
              <a:ext cx="1960245" cy="1195070"/>
            </a:xfrm>
            <a:custGeom>
              <a:avLst/>
              <a:gdLst/>
              <a:ahLst/>
              <a:cxnLst/>
              <a:rect l="l" t="t" r="r" b="b"/>
              <a:pathLst>
                <a:path w="1960245" h="1195070">
                  <a:moveTo>
                    <a:pt x="0" y="199136"/>
                  </a:moveTo>
                  <a:lnTo>
                    <a:pt x="5259" y="153475"/>
                  </a:lnTo>
                  <a:lnTo>
                    <a:pt x="20240" y="111560"/>
                  </a:lnTo>
                  <a:lnTo>
                    <a:pt x="43747" y="74585"/>
                  </a:lnTo>
                  <a:lnTo>
                    <a:pt x="74585" y="43747"/>
                  </a:lnTo>
                  <a:lnTo>
                    <a:pt x="111560" y="20240"/>
                  </a:lnTo>
                  <a:lnTo>
                    <a:pt x="153475" y="5259"/>
                  </a:lnTo>
                  <a:lnTo>
                    <a:pt x="199136" y="0"/>
                  </a:lnTo>
                  <a:lnTo>
                    <a:pt x="1760728" y="0"/>
                  </a:lnTo>
                  <a:lnTo>
                    <a:pt x="1806388" y="5259"/>
                  </a:lnTo>
                  <a:lnTo>
                    <a:pt x="1848303" y="20240"/>
                  </a:lnTo>
                  <a:lnTo>
                    <a:pt x="1885278" y="43747"/>
                  </a:lnTo>
                  <a:lnTo>
                    <a:pt x="1916116" y="74585"/>
                  </a:lnTo>
                  <a:lnTo>
                    <a:pt x="1939623" y="111560"/>
                  </a:lnTo>
                  <a:lnTo>
                    <a:pt x="1954604" y="153475"/>
                  </a:lnTo>
                  <a:lnTo>
                    <a:pt x="1959864" y="199136"/>
                  </a:lnTo>
                  <a:lnTo>
                    <a:pt x="1959864" y="995680"/>
                  </a:lnTo>
                  <a:lnTo>
                    <a:pt x="1954604" y="1041340"/>
                  </a:lnTo>
                  <a:lnTo>
                    <a:pt x="1939623" y="1083255"/>
                  </a:lnTo>
                  <a:lnTo>
                    <a:pt x="1916116" y="1120230"/>
                  </a:lnTo>
                  <a:lnTo>
                    <a:pt x="1885278" y="1151068"/>
                  </a:lnTo>
                  <a:lnTo>
                    <a:pt x="1848303" y="1174575"/>
                  </a:lnTo>
                  <a:lnTo>
                    <a:pt x="1806388" y="1189556"/>
                  </a:lnTo>
                  <a:lnTo>
                    <a:pt x="1760728" y="1194816"/>
                  </a:lnTo>
                  <a:lnTo>
                    <a:pt x="199136" y="1194816"/>
                  </a:lnTo>
                  <a:lnTo>
                    <a:pt x="153475" y="1189556"/>
                  </a:lnTo>
                  <a:lnTo>
                    <a:pt x="111560" y="1174575"/>
                  </a:lnTo>
                  <a:lnTo>
                    <a:pt x="74585" y="1151068"/>
                  </a:lnTo>
                  <a:lnTo>
                    <a:pt x="43747" y="1120230"/>
                  </a:lnTo>
                  <a:lnTo>
                    <a:pt x="20240" y="1083255"/>
                  </a:lnTo>
                  <a:lnTo>
                    <a:pt x="5259" y="1041340"/>
                  </a:lnTo>
                  <a:lnTo>
                    <a:pt x="0" y="995680"/>
                  </a:lnTo>
                  <a:lnTo>
                    <a:pt x="0" y="199136"/>
                  </a:lnTo>
                  <a:close/>
                </a:path>
                <a:path w="1960245" h="1195070">
                  <a:moveTo>
                    <a:pt x="182880" y="403860"/>
                  </a:moveTo>
                  <a:lnTo>
                    <a:pt x="188743" y="374778"/>
                  </a:lnTo>
                  <a:lnTo>
                    <a:pt x="204739" y="351043"/>
                  </a:lnTo>
                  <a:lnTo>
                    <a:pt x="228474" y="335047"/>
                  </a:lnTo>
                  <a:lnTo>
                    <a:pt x="257556" y="329183"/>
                  </a:lnTo>
                  <a:lnTo>
                    <a:pt x="1578864" y="329183"/>
                  </a:lnTo>
                  <a:lnTo>
                    <a:pt x="1607945" y="335047"/>
                  </a:lnTo>
                  <a:lnTo>
                    <a:pt x="1631680" y="351043"/>
                  </a:lnTo>
                  <a:lnTo>
                    <a:pt x="1647676" y="374778"/>
                  </a:lnTo>
                  <a:lnTo>
                    <a:pt x="1653539" y="403860"/>
                  </a:lnTo>
                  <a:lnTo>
                    <a:pt x="1653539" y="702564"/>
                  </a:lnTo>
                  <a:lnTo>
                    <a:pt x="1647676" y="731645"/>
                  </a:lnTo>
                  <a:lnTo>
                    <a:pt x="1631680" y="755380"/>
                  </a:lnTo>
                  <a:lnTo>
                    <a:pt x="1607945" y="771376"/>
                  </a:lnTo>
                  <a:lnTo>
                    <a:pt x="1578864" y="777240"/>
                  </a:lnTo>
                  <a:lnTo>
                    <a:pt x="257556" y="777240"/>
                  </a:lnTo>
                  <a:lnTo>
                    <a:pt x="228474" y="771376"/>
                  </a:lnTo>
                  <a:lnTo>
                    <a:pt x="204739" y="755380"/>
                  </a:lnTo>
                  <a:lnTo>
                    <a:pt x="188743" y="731645"/>
                  </a:lnTo>
                  <a:lnTo>
                    <a:pt x="182880" y="702564"/>
                  </a:lnTo>
                  <a:lnTo>
                    <a:pt x="182880" y="403860"/>
                  </a:lnTo>
                  <a:close/>
                </a:path>
              </a:pathLst>
            </a:custGeom>
            <a:ln w="25908">
              <a:solidFill>
                <a:srgbClr val="464646"/>
              </a:solidFill>
            </a:ln>
          </p:spPr>
          <p:txBody>
            <a:bodyPr wrap="square" lIns="0" tIns="0" rIns="0" bIns="0" rtlCol="0"/>
            <a:lstStyle/>
            <a:p>
              <a:endParaRPr/>
            </a:p>
          </p:txBody>
        </p:sp>
        <p:sp>
          <p:nvSpPr>
            <p:cNvPr id="18" name="object 18"/>
            <p:cNvSpPr/>
            <p:nvPr/>
          </p:nvSpPr>
          <p:spPr>
            <a:xfrm>
              <a:off x="5093969" y="3559302"/>
              <a:ext cx="1472565" cy="448309"/>
            </a:xfrm>
            <a:custGeom>
              <a:avLst/>
              <a:gdLst/>
              <a:ahLst/>
              <a:cxnLst/>
              <a:rect l="l" t="t" r="r" b="b"/>
              <a:pathLst>
                <a:path w="1472565" h="448310">
                  <a:moveTo>
                    <a:pt x="1397507" y="0"/>
                  </a:moveTo>
                  <a:lnTo>
                    <a:pt x="74675" y="0"/>
                  </a:lnTo>
                  <a:lnTo>
                    <a:pt x="45594" y="5863"/>
                  </a:lnTo>
                  <a:lnTo>
                    <a:pt x="21859" y="21859"/>
                  </a:lnTo>
                  <a:lnTo>
                    <a:pt x="5863" y="45594"/>
                  </a:lnTo>
                  <a:lnTo>
                    <a:pt x="0" y="74676"/>
                  </a:lnTo>
                  <a:lnTo>
                    <a:pt x="0" y="373380"/>
                  </a:lnTo>
                  <a:lnTo>
                    <a:pt x="5863" y="402444"/>
                  </a:lnTo>
                  <a:lnTo>
                    <a:pt x="21859" y="426181"/>
                  </a:lnTo>
                  <a:lnTo>
                    <a:pt x="45594" y="442186"/>
                  </a:lnTo>
                  <a:lnTo>
                    <a:pt x="74675" y="448056"/>
                  </a:lnTo>
                  <a:lnTo>
                    <a:pt x="1397507" y="448056"/>
                  </a:lnTo>
                  <a:lnTo>
                    <a:pt x="1426589" y="442186"/>
                  </a:lnTo>
                  <a:lnTo>
                    <a:pt x="1450324" y="426181"/>
                  </a:lnTo>
                  <a:lnTo>
                    <a:pt x="1466320" y="402444"/>
                  </a:lnTo>
                  <a:lnTo>
                    <a:pt x="1472183" y="373380"/>
                  </a:lnTo>
                  <a:lnTo>
                    <a:pt x="1472183" y="74676"/>
                  </a:lnTo>
                  <a:lnTo>
                    <a:pt x="1466320" y="45594"/>
                  </a:lnTo>
                  <a:lnTo>
                    <a:pt x="1450324" y="21859"/>
                  </a:lnTo>
                  <a:lnTo>
                    <a:pt x="1426589" y="5863"/>
                  </a:lnTo>
                  <a:lnTo>
                    <a:pt x="1397507" y="0"/>
                  </a:lnTo>
                  <a:close/>
                </a:path>
              </a:pathLst>
            </a:custGeom>
            <a:solidFill>
              <a:srgbClr val="FFFFFF"/>
            </a:solidFill>
          </p:spPr>
          <p:txBody>
            <a:bodyPr wrap="square" lIns="0" tIns="0" rIns="0" bIns="0" rtlCol="0"/>
            <a:lstStyle/>
            <a:p>
              <a:endParaRPr/>
            </a:p>
          </p:txBody>
        </p:sp>
        <p:sp>
          <p:nvSpPr>
            <p:cNvPr id="19" name="object 19"/>
            <p:cNvSpPr/>
            <p:nvPr/>
          </p:nvSpPr>
          <p:spPr>
            <a:xfrm>
              <a:off x="5093969" y="3559302"/>
              <a:ext cx="1472565" cy="448309"/>
            </a:xfrm>
            <a:custGeom>
              <a:avLst/>
              <a:gdLst/>
              <a:ahLst/>
              <a:cxnLst/>
              <a:rect l="l" t="t" r="r" b="b"/>
              <a:pathLst>
                <a:path w="1472565" h="448310">
                  <a:moveTo>
                    <a:pt x="0" y="74676"/>
                  </a:moveTo>
                  <a:lnTo>
                    <a:pt x="5863" y="45594"/>
                  </a:lnTo>
                  <a:lnTo>
                    <a:pt x="21859" y="21859"/>
                  </a:lnTo>
                  <a:lnTo>
                    <a:pt x="45594" y="5863"/>
                  </a:lnTo>
                  <a:lnTo>
                    <a:pt x="74675" y="0"/>
                  </a:lnTo>
                  <a:lnTo>
                    <a:pt x="1397507" y="0"/>
                  </a:lnTo>
                  <a:lnTo>
                    <a:pt x="1426589" y="5863"/>
                  </a:lnTo>
                  <a:lnTo>
                    <a:pt x="1450324" y="21859"/>
                  </a:lnTo>
                  <a:lnTo>
                    <a:pt x="1466320" y="45594"/>
                  </a:lnTo>
                  <a:lnTo>
                    <a:pt x="1472183" y="74676"/>
                  </a:lnTo>
                  <a:lnTo>
                    <a:pt x="1472183" y="373380"/>
                  </a:lnTo>
                  <a:lnTo>
                    <a:pt x="1466320" y="402444"/>
                  </a:lnTo>
                  <a:lnTo>
                    <a:pt x="1450324" y="426181"/>
                  </a:lnTo>
                  <a:lnTo>
                    <a:pt x="1426589" y="442186"/>
                  </a:lnTo>
                  <a:lnTo>
                    <a:pt x="1397507" y="448056"/>
                  </a:lnTo>
                  <a:lnTo>
                    <a:pt x="74675" y="448056"/>
                  </a:lnTo>
                  <a:lnTo>
                    <a:pt x="45594" y="442186"/>
                  </a:lnTo>
                  <a:lnTo>
                    <a:pt x="21859" y="426181"/>
                  </a:lnTo>
                  <a:lnTo>
                    <a:pt x="5863" y="402444"/>
                  </a:lnTo>
                  <a:lnTo>
                    <a:pt x="0" y="373380"/>
                  </a:lnTo>
                  <a:lnTo>
                    <a:pt x="0" y="74676"/>
                  </a:lnTo>
                  <a:close/>
                </a:path>
              </a:pathLst>
            </a:custGeom>
            <a:ln w="25908">
              <a:solidFill>
                <a:srgbClr val="464646"/>
              </a:solidFill>
            </a:ln>
          </p:spPr>
          <p:txBody>
            <a:bodyPr wrap="square" lIns="0" tIns="0" rIns="0" bIns="0" rtlCol="0"/>
            <a:lstStyle/>
            <a:p>
              <a:endParaRPr/>
            </a:p>
          </p:txBody>
        </p:sp>
      </p:grpSp>
      <p:sp>
        <p:nvSpPr>
          <p:cNvPr id="20" name="object 20"/>
          <p:cNvSpPr txBox="1"/>
          <p:nvPr/>
        </p:nvSpPr>
        <p:spPr>
          <a:xfrm>
            <a:off x="5405120" y="3626942"/>
            <a:ext cx="849630" cy="30035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464646"/>
                </a:solidFill>
                <a:latin typeface="Arial MT"/>
                <a:cs typeface="Arial MT"/>
              </a:rPr>
              <a:t>Lambda</a:t>
            </a:r>
            <a:endParaRPr sz="1800">
              <a:latin typeface="Arial MT"/>
              <a:cs typeface="Arial MT"/>
            </a:endParaRPr>
          </a:p>
        </p:txBody>
      </p:sp>
      <p:grpSp>
        <p:nvGrpSpPr>
          <p:cNvPr id="21" name="object 21"/>
          <p:cNvGrpSpPr/>
          <p:nvPr/>
        </p:nvGrpSpPr>
        <p:grpSpPr>
          <a:xfrm>
            <a:off x="6972236" y="3063176"/>
            <a:ext cx="1986280" cy="1221105"/>
            <a:chOff x="6972236" y="3063176"/>
            <a:chExt cx="1986280" cy="1221105"/>
          </a:xfrm>
        </p:grpSpPr>
        <p:sp>
          <p:nvSpPr>
            <p:cNvPr id="22" name="object 22"/>
            <p:cNvSpPr/>
            <p:nvPr/>
          </p:nvSpPr>
          <p:spPr>
            <a:xfrm>
              <a:off x="6985253" y="3076194"/>
              <a:ext cx="1960245" cy="1195070"/>
            </a:xfrm>
            <a:custGeom>
              <a:avLst/>
              <a:gdLst/>
              <a:ahLst/>
              <a:cxnLst/>
              <a:rect l="l" t="t" r="r" b="b"/>
              <a:pathLst>
                <a:path w="1960245" h="1195070">
                  <a:moveTo>
                    <a:pt x="0" y="199136"/>
                  </a:moveTo>
                  <a:lnTo>
                    <a:pt x="5259" y="153475"/>
                  </a:lnTo>
                  <a:lnTo>
                    <a:pt x="20240" y="111560"/>
                  </a:lnTo>
                  <a:lnTo>
                    <a:pt x="43747" y="74585"/>
                  </a:lnTo>
                  <a:lnTo>
                    <a:pt x="74585" y="43747"/>
                  </a:lnTo>
                  <a:lnTo>
                    <a:pt x="111560" y="20240"/>
                  </a:lnTo>
                  <a:lnTo>
                    <a:pt x="153475" y="5259"/>
                  </a:lnTo>
                  <a:lnTo>
                    <a:pt x="199136" y="0"/>
                  </a:lnTo>
                  <a:lnTo>
                    <a:pt x="1760727" y="0"/>
                  </a:lnTo>
                  <a:lnTo>
                    <a:pt x="1806388" y="5259"/>
                  </a:lnTo>
                  <a:lnTo>
                    <a:pt x="1848303" y="20240"/>
                  </a:lnTo>
                  <a:lnTo>
                    <a:pt x="1885278" y="43747"/>
                  </a:lnTo>
                  <a:lnTo>
                    <a:pt x="1916116" y="74585"/>
                  </a:lnTo>
                  <a:lnTo>
                    <a:pt x="1939623" y="111560"/>
                  </a:lnTo>
                  <a:lnTo>
                    <a:pt x="1954604" y="153475"/>
                  </a:lnTo>
                  <a:lnTo>
                    <a:pt x="1959864" y="199136"/>
                  </a:lnTo>
                  <a:lnTo>
                    <a:pt x="1959864" y="995680"/>
                  </a:lnTo>
                  <a:lnTo>
                    <a:pt x="1954604" y="1041340"/>
                  </a:lnTo>
                  <a:lnTo>
                    <a:pt x="1939623" y="1083255"/>
                  </a:lnTo>
                  <a:lnTo>
                    <a:pt x="1916116" y="1120230"/>
                  </a:lnTo>
                  <a:lnTo>
                    <a:pt x="1885278" y="1151068"/>
                  </a:lnTo>
                  <a:lnTo>
                    <a:pt x="1848303" y="1174575"/>
                  </a:lnTo>
                  <a:lnTo>
                    <a:pt x="1806388" y="1189556"/>
                  </a:lnTo>
                  <a:lnTo>
                    <a:pt x="1760727" y="1194816"/>
                  </a:lnTo>
                  <a:lnTo>
                    <a:pt x="199136" y="1194816"/>
                  </a:lnTo>
                  <a:lnTo>
                    <a:pt x="153475" y="1189556"/>
                  </a:lnTo>
                  <a:lnTo>
                    <a:pt x="111560" y="1174575"/>
                  </a:lnTo>
                  <a:lnTo>
                    <a:pt x="74585" y="1151068"/>
                  </a:lnTo>
                  <a:lnTo>
                    <a:pt x="43747" y="1120230"/>
                  </a:lnTo>
                  <a:lnTo>
                    <a:pt x="20240" y="1083255"/>
                  </a:lnTo>
                  <a:lnTo>
                    <a:pt x="5259" y="1041340"/>
                  </a:lnTo>
                  <a:lnTo>
                    <a:pt x="0" y="995680"/>
                  </a:lnTo>
                  <a:lnTo>
                    <a:pt x="0" y="199136"/>
                  </a:lnTo>
                  <a:close/>
                </a:path>
                <a:path w="1960245" h="1195070">
                  <a:moveTo>
                    <a:pt x="182879" y="403860"/>
                  </a:moveTo>
                  <a:lnTo>
                    <a:pt x="188743" y="374778"/>
                  </a:lnTo>
                  <a:lnTo>
                    <a:pt x="204739" y="351043"/>
                  </a:lnTo>
                  <a:lnTo>
                    <a:pt x="228474" y="335047"/>
                  </a:lnTo>
                  <a:lnTo>
                    <a:pt x="257555" y="329183"/>
                  </a:lnTo>
                  <a:lnTo>
                    <a:pt x="1580388" y="329183"/>
                  </a:lnTo>
                  <a:lnTo>
                    <a:pt x="1609469" y="335047"/>
                  </a:lnTo>
                  <a:lnTo>
                    <a:pt x="1633204" y="351043"/>
                  </a:lnTo>
                  <a:lnTo>
                    <a:pt x="1649200" y="374778"/>
                  </a:lnTo>
                  <a:lnTo>
                    <a:pt x="1655064" y="403860"/>
                  </a:lnTo>
                  <a:lnTo>
                    <a:pt x="1655064" y="702564"/>
                  </a:lnTo>
                  <a:lnTo>
                    <a:pt x="1649200" y="731645"/>
                  </a:lnTo>
                  <a:lnTo>
                    <a:pt x="1633204" y="755380"/>
                  </a:lnTo>
                  <a:lnTo>
                    <a:pt x="1609469" y="771376"/>
                  </a:lnTo>
                  <a:lnTo>
                    <a:pt x="1580388" y="777240"/>
                  </a:lnTo>
                  <a:lnTo>
                    <a:pt x="257555" y="777240"/>
                  </a:lnTo>
                  <a:lnTo>
                    <a:pt x="228474" y="771376"/>
                  </a:lnTo>
                  <a:lnTo>
                    <a:pt x="204739" y="755380"/>
                  </a:lnTo>
                  <a:lnTo>
                    <a:pt x="188743" y="731645"/>
                  </a:lnTo>
                  <a:lnTo>
                    <a:pt x="182879" y="702564"/>
                  </a:lnTo>
                  <a:lnTo>
                    <a:pt x="182879" y="403860"/>
                  </a:lnTo>
                  <a:close/>
                </a:path>
              </a:pathLst>
            </a:custGeom>
            <a:ln w="25908">
              <a:solidFill>
                <a:srgbClr val="464646"/>
              </a:solidFill>
            </a:ln>
          </p:spPr>
          <p:txBody>
            <a:bodyPr wrap="square" lIns="0" tIns="0" rIns="0" bIns="0" rtlCol="0"/>
            <a:lstStyle/>
            <a:p>
              <a:endParaRPr/>
            </a:p>
          </p:txBody>
        </p:sp>
        <p:sp>
          <p:nvSpPr>
            <p:cNvPr id="23" name="object 23"/>
            <p:cNvSpPr/>
            <p:nvPr/>
          </p:nvSpPr>
          <p:spPr>
            <a:xfrm>
              <a:off x="7320533" y="3559302"/>
              <a:ext cx="1472565" cy="556260"/>
            </a:xfrm>
            <a:custGeom>
              <a:avLst/>
              <a:gdLst/>
              <a:ahLst/>
              <a:cxnLst/>
              <a:rect l="l" t="t" r="r" b="b"/>
              <a:pathLst>
                <a:path w="1472565" h="556260">
                  <a:moveTo>
                    <a:pt x="1379474" y="0"/>
                  </a:moveTo>
                  <a:lnTo>
                    <a:pt x="92710" y="0"/>
                  </a:lnTo>
                  <a:lnTo>
                    <a:pt x="56632" y="7288"/>
                  </a:lnTo>
                  <a:lnTo>
                    <a:pt x="27162" y="27162"/>
                  </a:lnTo>
                  <a:lnTo>
                    <a:pt x="7288" y="56632"/>
                  </a:lnTo>
                  <a:lnTo>
                    <a:pt x="0" y="92710"/>
                  </a:lnTo>
                  <a:lnTo>
                    <a:pt x="0" y="463550"/>
                  </a:lnTo>
                  <a:lnTo>
                    <a:pt x="7288" y="499638"/>
                  </a:lnTo>
                  <a:lnTo>
                    <a:pt x="27162" y="529107"/>
                  </a:lnTo>
                  <a:lnTo>
                    <a:pt x="56632" y="548974"/>
                  </a:lnTo>
                  <a:lnTo>
                    <a:pt x="92710" y="556260"/>
                  </a:lnTo>
                  <a:lnTo>
                    <a:pt x="1379474" y="556260"/>
                  </a:lnTo>
                  <a:lnTo>
                    <a:pt x="1415551" y="548974"/>
                  </a:lnTo>
                  <a:lnTo>
                    <a:pt x="1445021" y="529107"/>
                  </a:lnTo>
                  <a:lnTo>
                    <a:pt x="1464895" y="499638"/>
                  </a:lnTo>
                  <a:lnTo>
                    <a:pt x="1472184" y="463550"/>
                  </a:lnTo>
                  <a:lnTo>
                    <a:pt x="1472184" y="92710"/>
                  </a:lnTo>
                  <a:lnTo>
                    <a:pt x="1464895" y="56632"/>
                  </a:lnTo>
                  <a:lnTo>
                    <a:pt x="1445021" y="27162"/>
                  </a:lnTo>
                  <a:lnTo>
                    <a:pt x="1415551" y="7288"/>
                  </a:lnTo>
                  <a:lnTo>
                    <a:pt x="1379474" y="0"/>
                  </a:lnTo>
                  <a:close/>
                </a:path>
              </a:pathLst>
            </a:custGeom>
            <a:solidFill>
              <a:srgbClr val="FFFFFF"/>
            </a:solidFill>
          </p:spPr>
          <p:txBody>
            <a:bodyPr wrap="square" lIns="0" tIns="0" rIns="0" bIns="0" rtlCol="0"/>
            <a:lstStyle/>
            <a:p>
              <a:endParaRPr/>
            </a:p>
          </p:txBody>
        </p:sp>
        <p:sp>
          <p:nvSpPr>
            <p:cNvPr id="24" name="object 24"/>
            <p:cNvSpPr/>
            <p:nvPr/>
          </p:nvSpPr>
          <p:spPr>
            <a:xfrm>
              <a:off x="7320533" y="3559302"/>
              <a:ext cx="1472565" cy="556260"/>
            </a:xfrm>
            <a:custGeom>
              <a:avLst/>
              <a:gdLst/>
              <a:ahLst/>
              <a:cxnLst/>
              <a:rect l="l" t="t" r="r" b="b"/>
              <a:pathLst>
                <a:path w="1472565" h="556260">
                  <a:moveTo>
                    <a:pt x="0" y="92710"/>
                  </a:moveTo>
                  <a:lnTo>
                    <a:pt x="7288" y="56632"/>
                  </a:lnTo>
                  <a:lnTo>
                    <a:pt x="27162" y="27162"/>
                  </a:lnTo>
                  <a:lnTo>
                    <a:pt x="56632" y="7288"/>
                  </a:lnTo>
                  <a:lnTo>
                    <a:pt x="92710" y="0"/>
                  </a:lnTo>
                  <a:lnTo>
                    <a:pt x="1379474" y="0"/>
                  </a:lnTo>
                  <a:lnTo>
                    <a:pt x="1415551" y="7288"/>
                  </a:lnTo>
                  <a:lnTo>
                    <a:pt x="1445021" y="27162"/>
                  </a:lnTo>
                  <a:lnTo>
                    <a:pt x="1464895" y="56632"/>
                  </a:lnTo>
                  <a:lnTo>
                    <a:pt x="1472184" y="92710"/>
                  </a:lnTo>
                  <a:lnTo>
                    <a:pt x="1472184" y="463550"/>
                  </a:lnTo>
                  <a:lnTo>
                    <a:pt x="1464895" y="499638"/>
                  </a:lnTo>
                  <a:lnTo>
                    <a:pt x="1445021" y="529107"/>
                  </a:lnTo>
                  <a:lnTo>
                    <a:pt x="1415551" y="548974"/>
                  </a:lnTo>
                  <a:lnTo>
                    <a:pt x="1379474" y="556260"/>
                  </a:lnTo>
                  <a:lnTo>
                    <a:pt x="92710" y="556260"/>
                  </a:lnTo>
                  <a:lnTo>
                    <a:pt x="56632" y="548974"/>
                  </a:lnTo>
                  <a:lnTo>
                    <a:pt x="27162" y="529107"/>
                  </a:lnTo>
                  <a:lnTo>
                    <a:pt x="7288" y="499638"/>
                  </a:lnTo>
                  <a:lnTo>
                    <a:pt x="0" y="463550"/>
                  </a:lnTo>
                  <a:lnTo>
                    <a:pt x="0" y="92710"/>
                  </a:lnTo>
                  <a:close/>
                </a:path>
              </a:pathLst>
            </a:custGeom>
            <a:ln w="25908">
              <a:solidFill>
                <a:srgbClr val="464646"/>
              </a:solidFill>
            </a:ln>
          </p:spPr>
          <p:txBody>
            <a:bodyPr wrap="square" lIns="0" tIns="0" rIns="0" bIns="0" rtlCol="0"/>
            <a:lstStyle/>
            <a:p>
              <a:endParaRPr/>
            </a:p>
          </p:txBody>
        </p:sp>
      </p:grpSp>
      <p:sp>
        <p:nvSpPr>
          <p:cNvPr id="25" name="object 25"/>
          <p:cNvSpPr txBox="1"/>
          <p:nvPr/>
        </p:nvSpPr>
        <p:spPr>
          <a:xfrm>
            <a:off x="7581392" y="3544316"/>
            <a:ext cx="951230" cy="574675"/>
          </a:xfrm>
          <a:prstGeom prst="rect">
            <a:avLst/>
          </a:prstGeom>
        </p:spPr>
        <p:txBody>
          <a:bodyPr vert="horz" wrap="square" lIns="0" tIns="12700" rIns="0" bIns="0" rtlCol="0">
            <a:spAutoFit/>
          </a:bodyPr>
          <a:lstStyle/>
          <a:p>
            <a:pPr algn="ctr">
              <a:lnSpc>
                <a:spcPct val="100000"/>
              </a:lnSpc>
              <a:spcBef>
                <a:spcPts val="100"/>
              </a:spcBef>
            </a:pPr>
            <a:r>
              <a:rPr sz="1800" dirty="0">
                <a:solidFill>
                  <a:srgbClr val="464646"/>
                </a:solidFill>
                <a:latin typeface="Arial MT"/>
                <a:cs typeface="Arial MT"/>
              </a:rPr>
              <a:t>On</a:t>
            </a:r>
            <a:endParaRPr sz="1800">
              <a:latin typeface="Arial MT"/>
              <a:cs typeface="Arial MT"/>
            </a:endParaRPr>
          </a:p>
          <a:p>
            <a:pPr algn="ctr">
              <a:lnSpc>
                <a:spcPct val="100000"/>
              </a:lnSpc>
            </a:pPr>
            <a:r>
              <a:rPr sz="1800" spc="-5" dirty="0">
                <a:solidFill>
                  <a:srgbClr val="464646"/>
                </a:solidFill>
                <a:latin typeface="Arial MT"/>
                <a:cs typeface="Arial MT"/>
              </a:rPr>
              <a:t>premises</a:t>
            </a:r>
            <a:endParaRPr sz="1800">
              <a:latin typeface="Arial MT"/>
              <a:cs typeface="Arial MT"/>
            </a:endParaRPr>
          </a:p>
        </p:txBody>
      </p:sp>
      <p:grpSp>
        <p:nvGrpSpPr>
          <p:cNvPr id="26" name="object 26"/>
          <p:cNvGrpSpPr/>
          <p:nvPr/>
        </p:nvGrpSpPr>
        <p:grpSpPr>
          <a:xfrm>
            <a:off x="1199388" y="2119883"/>
            <a:ext cx="6882765" cy="1092835"/>
            <a:chOff x="1199388" y="2119883"/>
            <a:chExt cx="6882765" cy="1092835"/>
          </a:xfrm>
        </p:grpSpPr>
        <p:pic>
          <p:nvPicPr>
            <p:cNvPr id="27" name="object 27"/>
            <p:cNvPicPr/>
            <p:nvPr/>
          </p:nvPicPr>
          <p:blipFill>
            <a:blip r:embed="rId3" cstate="print"/>
            <a:stretch>
              <a:fillRect/>
            </a:stretch>
          </p:blipFill>
          <p:spPr>
            <a:xfrm>
              <a:off x="1199388" y="2119883"/>
              <a:ext cx="2869691" cy="1092708"/>
            </a:xfrm>
            <a:prstGeom prst="rect">
              <a:avLst/>
            </a:prstGeom>
          </p:spPr>
        </p:pic>
        <p:sp>
          <p:nvSpPr>
            <p:cNvPr id="28" name="object 28"/>
            <p:cNvSpPr/>
            <p:nvPr/>
          </p:nvSpPr>
          <p:spPr>
            <a:xfrm>
              <a:off x="1281684" y="2221229"/>
              <a:ext cx="2710180" cy="855980"/>
            </a:xfrm>
            <a:custGeom>
              <a:avLst/>
              <a:gdLst/>
              <a:ahLst/>
              <a:cxnLst/>
              <a:rect l="l" t="t" r="r" b="b"/>
              <a:pathLst>
                <a:path w="2710179" h="855980">
                  <a:moveTo>
                    <a:pt x="25907" y="777747"/>
                  </a:moveTo>
                  <a:lnTo>
                    <a:pt x="0" y="777747"/>
                  </a:lnTo>
                  <a:lnTo>
                    <a:pt x="38862" y="855471"/>
                  </a:lnTo>
                  <a:lnTo>
                    <a:pt x="71247" y="790701"/>
                  </a:lnTo>
                  <a:lnTo>
                    <a:pt x="25907" y="790701"/>
                  </a:lnTo>
                  <a:lnTo>
                    <a:pt x="25907" y="777747"/>
                  </a:lnTo>
                  <a:close/>
                </a:path>
                <a:path w="2710179" h="855980">
                  <a:moveTo>
                    <a:pt x="2657982" y="414781"/>
                  </a:moveTo>
                  <a:lnTo>
                    <a:pt x="31750" y="414781"/>
                  </a:lnTo>
                  <a:lnTo>
                    <a:pt x="25907" y="420496"/>
                  </a:lnTo>
                  <a:lnTo>
                    <a:pt x="25907" y="790701"/>
                  </a:lnTo>
                  <a:lnTo>
                    <a:pt x="51815" y="790701"/>
                  </a:lnTo>
                  <a:lnTo>
                    <a:pt x="51815" y="440689"/>
                  </a:lnTo>
                  <a:lnTo>
                    <a:pt x="38862" y="440689"/>
                  </a:lnTo>
                  <a:lnTo>
                    <a:pt x="51815" y="427736"/>
                  </a:lnTo>
                  <a:lnTo>
                    <a:pt x="2657982" y="427736"/>
                  </a:lnTo>
                  <a:lnTo>
                    <a:pt x="2657982" y="414781"/>
                  </a:lnTo>
                  <a:close/>
                </a:path>
                <a:path w="2710179" h="855980">
                  <a:moveTo>
                    <a:pt x="77724" y="777747"/>
                  </a:moveTo>
                  <a:lnTo>
                    <a:pt x="51815" y="777747"/>
                  </a:lnTo>
                  <a:lnTo>
                    <a:pt x="51815" y="790701"/>
                  </a:lnTo>
                  <a:lnTo>
                    <a:pt x="71247" y="790701"/>
                  </a:lnTo>
                  <a:lnTo>
                    <a:pt x="77724" y="777747"/>
                  </a:lnTo>
                  <a:close/>
                </a:path>
                <a:path w="2710179" h="855980">
                  <a:moveTo>
                    <a:pt x="51815" y="427736"/>
                  </a:moveTo>
                  <a:lnTo>
                    <a:pt x="38862" y="440689"/>
                  </a:lnTo>
                  <a:lnTo>
                    <a:pt x="51815" y="440689"/>
                  </a:lnTo>
                  <a:lnTo>
                    <a:pt x="51815" y="427736"/>
                  </a:lnTo>
                  <a:close/>
                </a:path>
                <a:path w="2710179" h="855980">
                  <a:moveTo>
                    <a:pt x="2683891" y="414781"/>
                  </a:moveTo>
                  <a:lnTo>
                    <a:pt x="2670937" y="414781"/>
                  </a:lnTo>
                  <a:lnTo>
                    <a:pt x="2657982" y="427736"/>
                  </a:lnTo>
                  <a:lnTo>
                    <a:pt x="51815" y="427736"/>
                  </a:lnTo>
                  <a:lnTo>
                    <a:pt x="51815" y="440689"/>
                  </a:lnTo>
                  <a:lnTo>
                    <a:pt x="2678176" y="440689"/>
                  </a:lnTo>
                  <a:lnTo>
                    <a:pt x="2683891" y="434847"/>
                  </a:lnTo>
                  <a:lnTo>
                    <a:pt x="2683891" y="414781"/>
                  </a:lnTo>
                  <a:close/>
                </a:path>
                <a:path w="2710179" h="855980">
                  <a:moveTo>
                    <a:pt x="2683891" y="64769"/>
                  </a:moveTo>
                  <a:lnTo>
                    <a:pt x="2657982" y="64769"/>
                  </a:lnTo>
                  <a:lnTo>
                    <a:pt x="2657982" y="427736"/>
                  </a:lnTo>
                  <a:lnTo>
                    <a:pt x="2670937" y="414781"/>
                  </a:lnTo>
                  <a:lnTo>
                    <a:pt x="2683891" y="414781"/>
                  </a:lnTo>
                  <a:lnTo>
                    <a:pt x="2683891" y="64769"/>
                  </a:lnTo>
                  <a:close/>
                </a:path>
                <a:path w="2710179" h="855980">
                  <a:moveTo>
                    <a:pt x="2670937" y="0"/>
                  </a:moveTo>
                  <a:lnTo>
                    <a:pt x="2632075" y="77724"/>
                  </a:lnTo>
                  <a:lnTo>
                    <a:pt x="2657982" y="77724"/>
                  </a:lnTo>
                  <a:lnTo>
                    <a:pt x="2657982" y="64769"/>
                  </a:lnTo>
                  <a:lnTo>
                    <a:pt x="2703322" y="64769"/>
                  </a:lnTo>
                  <a:lnTo>
                    <a:pt x="2670937" y="0"/>
                  </a:lnTo>
                  <a:close/>
                </a:path>
                <a:path w="2710179" h="855980">
                  <a:moveTo>
                    <a:pt x="2703322" y="64769"/>
                  </a:moveTo>
                  <a:lnTo>
                    <a:pt x="2683891" y="64769"/>
                  </a:lnTo>
                  <a:lnTo>
                    <a:pt x="2683891" y="77724"/>
                  </a:lnTo>
                  <a:lnTo>
                    <a:pt x="2709799" y="77724"/>
                  </a:lnTo>
                  <a:lnTo>
                    <a:pt x="2703322" y="64769"/>
                  </a:lnTo>
                  <a:close/>
                </a:path>
              </a:pathLst>
            </a:custGeom>
            <a:solidFill>
              <a:srgbClr val="FBB64B"/>
            </a:solidFill>
          </p:spPr>
          <p:txBody>
            <a:bodyPr wrap="square" lIns="0" tIns="0" rIns="0" bIns="0" rtlCol="0"/>
            <a:lstStyle/>
            <a:p>
              <a:endParaRPr/>
            </a:p>
          </p:txBody>
        </p:sp>
        <p:pic>
          <p:nvPicPr>
            <p:cNvPr id="29" name="object 29"/>
            <p:cNvPicPr/>
            <p:nvPr/>
          </p:nvPicPr>
          <p:blipFill>
            <a:blip r:embed="rId4" cstate="print"/>
            <a:stretch>
              <a:fillRect/>
            </a:stretch>
          </p:blipFill>
          <p:spPr>
            <a:xfrm>
              <a:off x="3378708" y="2119883"/>
              <a:ext cx="690372" cy="1092708"/>
            </a:xfrm>
            <a:prstGeom prst="rect">
              <a:avLst/>
            </a:prstGeom>
          </p:spPr>
        </p:pic>
        <p:sp>
          <p:nvSpPr>
            <p:cNvPr id="30" name="object 30"/>
            <p:cNvSpPr/>
            <p:nvPr/>
          </p:nvSpPr>
          <p:spPr>
            <a:xfrm>
              <a:off x="3461004" y="2221229"/>
              <a:ext cx="530860" cy="855980"/>
            </a:xfrm>
            <a:custGeom>
              <a:avLst/>
              <a:gdLst/>
              <a:ahLst/>
              <a:cxnLst/>
              <a:rect l="l" t="t" r="r" b="b"/>
              <a:pathLst>
                <a:path w="530860" h="855980">
                  <a:moveTo>
                    <a:pt x="25908" y="777747"/>
                  </a:moveTo>
                  <a:lnTo>
                    <a:pt x="0" y="777747"/>
                  </a:lnTo>
                  <a:lnTo>
                    <a:pt x="38862" y="855471"/>
                  </a:lnTo>
                  <a:lnTo>
                    <a:pt x="71247" y="790701"/>
                  </a:lnTo>
                  <a:lnTo>
                    <a:pt x="25908" y="790701"/>
                  </a:lnTo>
                  <a:lnTo>
                    <a:pt x="25908" y="777747"/>
                  </a:lnTo>
                  <a:close/>
                </a:path>
                <a:path w="530860" h="855980">
                  <a:moveTo>
                    <a:pt x="478790" y="414781"/>
                  </a:moveTo>
                  <a:lnTo>
                    <a:pt x="31750" y="414781"/>
                  </a:lnTo>
                  <a:lnTo>
                    <a:pt x="25908" y="420496"/>
                  </a:lnTo>
                  <a:lnTo>
                    <a:pt x="25908" y="790701"/>
                  </a:lnTo>
                  <a:lnTo>
                    <a:pt x="51816" y="790701"/>
                  </a:lnTo>
                  <a:lnTo>
                    <a:pt x="51816" y="440689"/>
                  </a:lnTo>
                  <a:lnTo>
                    <a:pt x="38862" y="440689"/>
                  </a:lnTo>
                  <a:lnTo>
                    <a:pt x="51816" y="427736"/>
                  </a:lnTo>
                  <a:lnTo>
                    <a:pt x="478790" y="427736"/>
                  </a:lnTo>
                  <a:lnTo>
                    <a:pt x="478790" y="414781"/>
                  </a:lnTo>
                  <a:close/>
                </a:path>
                <a:path w="530860" h="855980">
                  <a:moveTo>
                    <a:pt x="77724" y="777747"/>
                  </a:moveTo>
                  <a:lnTo>
                    <a:pt x="51816" y="777747"/>
                  </a:lnTo>
                  <a:lnTo>
                    <a:pt x="51816" y="790701"/>
                  </a:lnTo>
                  <a:lnTo>
                    <a:pt x="71247" y="790701"/>
                  </a:lnTo>
                  <a:lnTo>
                    <a:pt x="77724" y="777747"/>
                  </a:lnTo>
                  <a:close/>
                </a:path>
                <a:path w="530860" h="855980">
                  <a:moveTo>
                    <a:pt x="51816" y="427736"/>
                  </a:moveTo>
                  <a:lnTo>
                    <a:pt x="38862" y="440689"/>
                  </a:lnTo>
                  <a:lnTo>
                    <a:pt x="51816" y="440689"/>
                  </a:lnTo>
                  <a:lnTo>
                    <a:pt x="51816" y="427736"/>
                  </a:lnTo>
                  <a:close/>
                </a:path>
                <a:path w="530860" h="855980">
                  <a:moveTo>
                    <a:pt x="504698" y="414781"/>
                  </a:moveTo>
                  <a:lnTo>
                    <a:pt x="491744" y="414781"/>
                  </a:lnTo>
                  <a:lnTo>
                    <a:pt x="478790" y="427736"/>
                  </a:lnTo>
                  <a:lnTo>
                    <a:pt x="51816" y="427736"/>
                  </a:lnTo>
                  <a:lnTo>
                    <a:pt x="51816" y="440689"/>
                  </a:lnTo>
                  <a:lnTo>
                    <a:pt x="498856" y="440689"/>
                  </a:lnTo>
                  <a:lnTo>
                    <a:pt x="504698" y="434847"/>
                  </a:lnTo>
                  <a:lnTo>
                    <a:pt x="504698" y="414781"/>
                  </a:lnTo>
                  <a:close/>
                </a:path>
                <a:path w="530860" h="855980">
                  <a:moveTo>
                    <a:pt x="504698" y="64769"/>
                  </a:moveTo>
                  <a:lnTo>
                    <a:pt x="478790" y="64769"/>
                  </a:lnTo>
                  <a:lnTo>
                    <a:pt x="478790" y="427736"/>
                  </a:lnTo>
                  <a:lnTo>
                    <a:pt x="491744" y="414781"/>
                  </a:lnTo>
                  <a:lnTo>
                    <a:pt x="504698" y="414781"/>
                  </a:lnTo>
                  <a:lnTo>
                    <a:pt x="504698" y="64769"/>
                  </a:lnTo>
                  <a:close/>
                </a:path>
                <a:path w="530860" h="855980">
                  <a:moveTo>
                    <a:pt x="491744" y="0"/>
                  </a:moveTo>
                  <a:lnTo>
                    <a:pt x="452882" y="77724"/>
                  </a:lnTo>
                  <a:lnTo>
                    <a:pt x="478790" y="77724"/>
                  </a:lnTo>
                  <a:lnTo>
                    <a:pt x="478790" y="64769"/>
                  </a:lnTo>
                  <a:lnTo>
                    <a:pt x="524129" y="64769"/>
                  </a:lnTo>
                  <a:lnTo>
                    <a:pt x="491744" y="0"/>
                  </a:lnTo>
                  <a:close/>
                </a:path>
                <a:path w="530860" h="855980">
                  <a:moveTo>
                    <a:pt x="524129" y="64769"/>
                  </a:moveTo>
                  <a:lnTo>
                    <a:pt x="504698" y="64769"/>
                  </a:lnTo>
                  <a:lnTo>
                    <a:pt x="504698" y="77724"/>
                  </a:lnTo>
                  <a:lnTo>
                    <a:pt x="530606" y="77724"/>
                  </a:lnTo>
                  <a:lnTo>
                    <a:pt x="524129" y="64769"/>
                  </a:lnTo>
                  <a:close/>
                </a:path>
              </a:pathLst>
            </a:custGeom>
            <a:solidFill>
              <a:srgbClr val="FBB64B"/>
            </a:solidFill>
          </p:spPr>
          <p:txBody>
            <a:bodyPr wrap="square" lIns="0" tIns="0" rIns="0" bIns="0" rtlCol="0"/>
            <a:lstStyle/>
            <a:p>
              <a:endParaRPr/>
            </a:p>
          </p:txBody>
        </p:sp>
        <p:pic>
          <p:nvPicPr>
            <p:cNvPr id="31" name="object 31"/>
            <p:cNvPicPr/>
            <p:nvPr/>
          </p:nvPicPr>
          <p:blipFill>
            <a:blip r:embed="rId5" cstate="print"/>
            <a:stretch>
              <a:fillRect/>
            </a:stretch>
          </p:blipFill>
          <p:spPr>
            <a:xfrm>
              <a:off x="3831336" y="2119883"/>
              <a:ext cx="2022348" cy="1092708"/>
            </a:xfrm>
            <a:prstGeom prst="rect">
              <a:avLst/>
            </a:prstGeom>
          </p:spPr>
        </p:pic>
        <p:sp>
          <p:nvSpPr>
            <p:cNvPr id="32" name="object 32"/>
            <p:cNvSpPr/>
            <p:nvPr/>
          </p:nvSpPr>
          <p:spPr>
            <a:xfrm>
              <a:off x="3913632" y="2221229"/>
              <a:ext cx="1863725" cy="855980"/>
            </a:xfrm>
            <a:custGeom>
              <a:avLst/>
              <a:gdLst/>
              <a:ahLst/>
              <a:cxnLst/>
              <a:rect l="l" t="t" r="r" b="b"/>
              <a:pathLst>
                <a:path w="1863725" h="855980">
                  <a:moveTo>
                    <a:pt x="1811527" y="777747"/>
                  </a:moveTo>
                  <a:lnTo>
                    <a:pt x="1785619" y="777747"/>
                  </a:lnTo>
                  <a:lnTo>
                    <a:pt x="1824481" y="855471"/>
                  </a:lnTo>
                  <a:lnTo>
                    <a:pt x="1856866" y="790701"/>
                  </a:lnTo>
                  <a:lnTo>
                    <a:pt x="1811527" y="790701"/>
                  </a:lnTo>
                  <a:lnTo>
                    <a:pt x="1811527" y="777747"/>
                  </a:lnTo>
                  <a:close/>
                </a:path>
                <a:path w="1863725" h="855980">
                  <a:moveTo>
                    <a:pt x="1811527" y="427736"/>
                  </a:moveTo>
                  <a:lnTo>
                    <a:pt x="1811527" y="790701"/>
                  </a:lnTo>
                  <a:lnTo>
                    <a:pt x="1837435" y="790701"/>
                  </a:lnTo>
                  <a:lnTo>
                    <a:pt x="1837435" y="440689"/>
                  </a:lnTo>
                  <a:lnTo>
                    <a:pt x="1824481" y="440689"/>
                  </a:lnTo>
                  <a:lnTo>
                    <a:pt x="1811527" y="427736"/>
                  </a:lnTo>
                  <a:close/>
                </a:path>
                <a:path w="1863725" h="855980">
                  <a:moveTo>
                    <a:pt x="1863343" y="777747"/>
                  </a:moveTo>
                  <a:lnTo>
                    <a:pt x="1837435" y="777747"/>
                  </a:lnTo>
                  <a:lnTo>
                    <a:pt x="1837435" y="790701"/>
                  </a:lnTo>
                  <a:lnTo>
                    <a:pt x="1856866" y="790701"/>
                  </a:lnTo>
                  <a:lnTo>
                    <a:pt x="1863343" y="777747"/>
                  </a:lnTo>
                  <a:close/>
                </a:path>
                <a:path w="1863725" h="855980">
                  <a:moveTo>
                    <a:pt x="51815" y="64769"/>
                  </a:moveTo>
                  <a:lnTo>
                    <a:pt x="25907" y="64769"/>
                  </a:lnTo>
                  <a:lnTo>
                    <a:pt x="25907" y="434847"/>
                  </a:lnTo>
                  <a:lnTo>
                    <a:pt x="31750" y="440689"/>
                  </a:lnTo>
                  <a:lnTo>
                    <a:pt x="1811527" y="440689"/>
                  </a:lnTo>
                  <a:lnTo>
                    <a:pt x="1811527" y="427736"/>
                  </a:lnTo>
                  <a:lnTo>
                    <a:pt x="51815" y="427736"/>
                  </a:lnTo>
                  <a:lnTo>
                    <a:pt x="38862" y="414781"/>
                  </a:lnTo>
                  <a:lnTo>
                    <a:pt x="51815" y="414781"/>
                  </a:lnTo>
                  <a:lnTo>
                    <a:pt x="51815" y="64769"/>
                  </a:lnTo>
                  <a:close/>
                </a:path>
                <a:path w="1863725" h="855980">
                  <a:moveTo>
                    <a:pt x="1831593" y="414781"/>
                  </a:moveTo>
                  <a:lnTo>
                    <a:pt x="51815" y="414781"/>
                  </a:lnTo>
                  <a:lnTo>
                    <a:pt x="51815" y="427736"/>
                  </a:lnTo>
                  <a:lnTo>
                    <a:pt x="1811527" y="427736"/>
                  </a:lnTo>
                  <a:lnTo>
                    <a:pt x="1824481" y="440689"/>
                  </a:lnTo>
                  <a:lnTo>
                    <a:pt x="1837435" y="440689"/>
                  </a:lnTo>
                  <a:lnTo>
                    <a:pt x="1837435" y="420496"/>
                  </a:lnTo>
                  <a:lnTo>
                    <a:pt x="1831593" y="414781"/>
                  </a:lnTo>
                  <a:close/>
                </a:path>
                <a:path w="1863725" h="855980">
                  <a:moveTo>
                    <a:pt x="51815" y="414781"/>
                  </a:moveTo>
                  <a:lnTo>
                    <a:pt x="38862" y="414781"/>
                  </a:lnTo>
                  <a:lnTo>
                    <a:pt x="51815" y="427736"/>
                  </a:lnTo>
                  <a:lnTo>
                    <a:pt x="51815" y="414781"/>
                  </a:lnTo>
                  <a:close/>
                </a:path>
                <a:path w="1863725" h="855980">
                  <a:moveTo>
                    <a:pt x="38862" y="0"/>
                  </a:moveTo>
                  <a:lnTo>
                    <a:pt x="0" y="77724"/>
                  </a:lnTo>
                  <a:lnTo>
                    <a:pt x="25907" y="77724"/>
                  </a:lnTo>
                  <a:lnTo>
                    <a:pt x="25907" y="64769"/>
                  </a:lnTo>
                  <a:lnTo>
                    <a:pt x="71246" y="64769"/>
                  </a:lnTo>
                  <a:lnTo>
                    <a:pt x="38862" y="0"/>
                  </a:lnTo>
                  <a:close/>
                </a:path>
                <a:path w="1863725" h="855980">
                  <a:moveTo>
                    <a:pt x="71246" y="64769"/>
                  </a:moveTo>
                  <a:lnTo>
                    <a:pt x="51815" y="64769"/>
                  </a:lnTo>
                  <a:lnTo>
                    <a:pt x="51815" y="77724"/>
                  </a:lnTo>
                  <a:lnTo>
                    <a:pt x="77723" y="77724"/>
                  </a:lnTo>
                  <a:lnTo>
                    <a:pt x="71246" y="64769"/>
                  </a:lnTo>
                  <a:close/>
                </a:path>
              </a:pathLst>
            </a:custGeom>
            <a:solidFill>
              <a:srgbClr val="FBB64B"/>
            </a:solidFill>
          </p:spPr>
          <p:txBody>
            <a:bodyPr wrap="square" lIns="0" tIns="0" rIns="0" bIns="0" rtlCol="0"/>
            <a:lstStyle/>
            <a:p>
              <a:endParaRPr/>
            </a:p>
          </p:txBody>
        </p:sp>
        <p:pic>
          <p:nvPicPr>
            <p:cNvPr id="33" name="object 33"/>
            <p:cNvPicPr/>
            <p:nvPr/>
          </p:nvPicPr>
          <p:blipFill>
            <a:blip r:embed="rId6" cstate="print"/>
            <a:stretch>
              <a:fillRect/>
            </a:stretch>
          </p:blipFill>
          <p:spPr>
            <a:xfrm>
              <a:off x="3831336" y="2119883"/>
              <a:ext cx="4250436" cy="1092708"/>
            </a:xfrm>
            <a:prstGeom prst="rect">
              <a:avLst/>
            </a:prstGeom>
          </p:spPr>
        </p:pic>
        <p:sp>
          <p:nvSpPr>
            <p:cNvPr id="34" name="object 34"/>
            <p:cNvSpPr/>
            <p:nvPr/>
          </p:nvSpPr>
          <p:spPr>
            <a:xfrm>
              <a:off x="3913632" y="2221229"/>
              <a:ext cx="4090035" cy="855980"/>
            </a:xfrm>
            <a:custGeom>
              <a:avLst/>
              <a:gdLst/>
              <a:ahLst/>
              <a:cxnLst/>
              <a:rect l="l" t="t" r="r" b="b"/>
              <a:pathLst>
                <a:path w="4090034" h="855980">
                  <a:moveTo>
                    <a:pt x="4038218" y="777747"/>
                  </a:moveTo>
                  <a:lnTo>
                    <a:pt x="4012311" y="777747"/>
                  </a:lnTo>
                  <a:lnTo>
                    <a:pt x="4051172" y="855471"/>
                  </a:lnTo>
                  <a:lnTo>
                    <a:pt x="4083558" y="790701"/>
                  </a:lnTo>
                  <a:lnTo>
                    <a:pt x="4038218" y="790701"/>
                  </a:lnTo>
                  <a:lnTo>
                    <a:pt x="4038218" y="777747"/>
                  </a:lnTo>
                  <a:close/>
                </a:path>
                <a:path w="4090034" h="855980">
                  <a:moveTo>
                    <a:pt x="4038218" y="427736"/>
                  </a:moveTo>
                  <a:lnTo>
                    <a:pt x="4038218" y="790701"/>
                  </a:lnTo>
                  <a:lnTo>
                    <a:pt x="4064126" y="790701"/>
                  </a:lnTo>
                  <a:lnTo>
                    <a:pt x="4064126" y="440689"/>
                  </a:lnTo>
                  <a:lnTo>
                    <a:pt x="4051172" y="440689"/>
                  </a:lnTo>
                  <a:lnTo>
                    <a:pt x="4038218" y="427736"/>
                  </a:lnTo>
                  <a:close/>
                </a:path>
                <a:path w="4090034" h="855980">
                  <a:moveTo>
                    <a:pt x="4090035" y="777747"/>
                  </a:moveTo>
                  <a:lnTo>
                    <a:pt x="4064126" y="777747"/>
                  </a:lnTo>
                  <a:lnTo>
                    <a:pt x="4064126" y="790701"/>
                  </a:lnTo>
                  <a:lnTo>
                    <a:pt x="4083558" y="790701"/>
                  </a:lnTo>
                  <a:lnTo>
                    <a:pt x="4090035" y="777747"/>
                  </a:lnTo>
                  <a:close/>
                </a:path>
                <a:path w="4090034" h="855980">
                  <a:moveTo>
                    <a:pt x="51815" y="64769"/>
                  </a:moveTo>
                  <a:lnTo>
                    <a:pt x="25907" y="64769"/>
                  </a:lnTo>
                  <a:lnTo>
                    <a:pt x="25907" y="434847"/>
                  </a:lnTo>
                  <a:lnTo>
                    <a:pt x="31750" y="440689"/>
                  </a:lnTo>
                  <a:lnTo>
                    <a:pt x="4038218" y="440689"/>
                  </a:lnTo>
                  <a:lnTo>
                    <a:pt x="4038218" y="427736"/>
                  </a:lnTo>
                  <a:lnTo>
                    <a:pt x="51815" y="427736"/>
                  </a:lnTo>
                  <a:lnTo>
                    <a:pt x="38862" y="414781"/>
                  </a:lnTo>
                  <a:lnTo>
                    <a:pt x="51815" y="414781"/>
                  </a:lnTo>
                  <a:lnTo>
                    <a:pt x="51815" y="64769"/>
                  </a:lnTo>
                  <a:close/>
                </a:path>
                <a:path w="4090034" h="855980">
                  <a:moveTo>
                    <a:pt x="4058285" y="414781"/>
                  </a:moveTo>
                  <a:lnTo>
                    <a:pt x="51815" y="414781"/>
                  </a:lnTo>
                  <a:lnTo>
                    <a:pt x="51815" y="427736"/>
                  </a:lnTo>
                  <a:lnTo>
                    <a:pt x="4038218" y="427736"/>
                  </a:lnTo>
                  <a:lnTo>
                    <a:pt x="4051172" y="440689"/>
                  </a:lnTo>
                  <a:lnTo>
                    <a:pt x="4064126" y="440689"/>
                  </a:lnTo>
                  <a:lnTo>
                    <a:pt x="4064126" y="420496"/>
                  </a:lnTo>
                  <a:lnTo>
                    <a:pt x="4058285" y="414781"/>
                  </a:lnTo>
                  <a:close/>
                </a:path>
                <a:path w="4090034" h="855980">
                  <a:moveTo>
                    <a:pt x="51815" y="414781"/>
                  </a:moveTo>
                  <a:lnTo>
                    <a:pt x="38862" y="414781"/>
                  </a:lnTo>
                  <a:lnTo>
                    <a:pt x="51815" y="427736"/>
                  </a:lnTo>
                  <a:lnTo>
                    <a:pt x="51815" y="414781"/>
                  </a:lnTo>
                  <a:close/>
                </a:path>
                <a:path w="4090034" h="855980">
                  <a:moveTo>
                    <a:pt x="38862" y="0"/>
                  </a:moveTo>
                  <a:lnTo>
                    <a:pt x="0" y="77724"/>
                  </a:lnTo>
                  <a:lnTo>
                    <a:pt x="25907" y="77724"/>
                  </a:lnTo>
                  <a:lnTo>
                    <a:pt x="25907" y="64769"/>
                  </a:lnTo>
                  <a:lnTo>
                    <a:pt x="71246" y="64769"/>
                  </a:lnTo>
                  <a:lnTo>
                    <a:pt x="38862" y="0"/>
                  </a:lnTo>
                  <a:close/>
                </a:path>
                <a:path w="4090034" h="855980">
                  <a:moveTo>
                    <a:pt x="71246" y="64769"/>
                  </a:moveTo>
                  <a:lnTo>
                    <a:pt x="51815" y="64769"/>
                  </a:lnTo>
                  <a:lnTo>
                    <a:pt x="51815" y="77724"/>
                  </a:lnTo>
                  <a:lnTo>
                    <a:pt x="77723" y="77724"/>
                  </a:lnTo>
                  <a:lnTo>
                    <a:pt x="71246" y="64769"/>
                  </a:lnTo>
                  <a:close/>
                </a:path>
              </a:pathLst>
            </a:custGeom>
            <a:solidFill>
              <a:srgbClr val="FBB64B"/>
            </a:solidFill>
          </p:spPr>
          <p:txBody>
            <a:bodyPr wrap="square" lIns="0" tIns="0" rIns="0" bIns="0" rtlCol="0"/>
            <a:lstStyle/>
            <a:p>
              <a:endParaRPr/>
            </a:p>
          </p:txBody>
        </p:sp>
      </p:grpSp>
      <p:sp>
        <p:nvSpPr>
          <p:cNvPr id="35" name="object 35"/>
          <p:cNvSpPr txBox="1"/>
          <p:nvPr/>
        </p:nvSpPr>
        <p:spPr>
          <a:xfrm>
            <a:off x="2614041" y="1036701"/>
            <a:ext cx="2677160" cy="1055370"/>
          </a:xfrm>
          <a:prstGeom prst="rect">
            <a:avLst/>
          </a:prstGeom>
        </p:spPr>
        <p:txBody>
          <a:bodyPr vert="horz" wrap="square" lIns="0" tIns="12700" rIns="0" bIns="0" rtlCol="0">
            <a:spAutoFit/>
          </a:bodyPr>
          <a:lstStyle/>
          <a:p>
            <a:pPr marL="1592580">
              <a:lnSpc>
                <a:spcPct val="100000"/>
              </a:lnSpc>
              <a:spcBef>
                <a:spcPts val="100"/>
              </a:spcBef>
            </a:pPr>
            <a:r>
              <a:rPr sz="1800" dirty="0">
                <a:solidFill>
                  <a:srgbClr val="464646"/>
                </a:solidFill>
                <a:latin typeface="Arial MT"/>
                <a:cs typeface="Arial MT"/>
              </a:rPr>
              <a:t>HTTP(S)</a:t>
            </a:r>
            <a:endParaRPr sz="1800">
              <a:latin typeface="Arial MT"/>
              <a:cs typeface="Arial MT"/>
            </a:endParaRPr>
          </a:p>
          <a:p>
            <a:pPr>
              <a:lnSpc>
                <a:spcPct val="100000"/>
              </a:lnSpc>
            </a:pPr>
            <a:endParaRPr sz="2000">
              <a:latin typeface="Arial MT"/>
              <a:cs typeface="Arial MT"/>
            </a:endParaRPr>
          </a:p>
          <a:p>
            <a:pPr marL="12700">
              <a:lnSpc>
                <a:spcPct val="100000"/>
              </a:lnSpc>
              <a:spcBef>
                <a:spcPts val="1485"/>
              </a:spcBef>
            </a:pPr>
            <a:r>
              <a:rPr sz="1800" spc="-5" dirty="0">
                <a:solidFill>
                  <a:srgbClr val="464646"/>
                </a:solidFill>
                <a:latin typeface="Arial MT"/>
                <a:cs typeface="Arial MT"/>
              </a:rPr>
              <a:t>Application</a:t>
            </a:r>
            <a:r>
              <a:rPr sz="1800" spc="-15" dirty="0">
                <a:solidFill>
                  <a:srgbClr val="464646"/>
                </a:solidFill>
                <a:latin typeface="Arial MT"/>
                <a:cs typeface="Arial MT"/>
              </a:rPr>
              <a:t> </a:t>
            </a:r>
            <a:r>
              <a:rPr sz="1800" spc="-5" dirty="0">
                <a:solidFill>
                  <a:srgbClr val="464646"/>
                </a:solidFill>
                <a:latin typeface="Arial MT"/>
                <a:cs typeface="Arial MT"/>
              </a:rPr>
              <a:t>Load</a:t>
            </a:r>
            <a:r>
              <a:rPr sz="1800" spc="-20" dirty="0">
                <a:solidFill>
                  <a:srgbClr val="464646"/>
                </a:solidFill>
                <a:latin typeface="Arial MT"/>
                <a:cs typeface="Arial MT"/>
              </a:rPr>
              <a:t> </a:t>
            </a:r>
            <a:r>
              <a:rPr sz="1800" spc="-5" dirty="0">
                <a:solidFill>
                  <a:srgbClr val="464646"/>
                </a:solidFill>
                <a:latin typeface="Arial MT"/>
                <a:cs typeface="Arial MT"/>
              </a:rPr>
              <a:t>Balancer</a:t>
            </a:r>
            <a:endParaRPr sz="1800">
              <a:latin typeface="Arial MT"/>
              <a:cs typeface="Arial MT"/>
            </a:endParaRPr>
          </a:p>
        </p:txBody>
      </p:sp>
      <p:sp>
        <p:nvSpPr>
          <p:cNvPr id="36" name="object 36"/>
          <p:cNvSpPr txBox="1"/>
          <p:nvPr/>
        </p:nvSpPr>
        <p:spPr>
          <a:xfrm>
            <a:off x="977595" y="4405985"/>
            <a:ext cx="70993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d</a:t>
            </a:r>
            <a:r>
              <a:rPr sz="1800" spc="-15" dirty="0">
                <a:solidFill>
                  <a:srgbClr val="464646"/>
                </a:solidFill>
                <a:latin typeface="Arial MT"/>
                <a:cs typeface="Arial MT"/>
              </a:rPr>
              <a:t>e</a:t>
            </a:r>
            <a:r>
              <a:rPr sz="1800" spc="-5" dirty="0">
                <a:solidFill>
                  <a:srgbClr val="464646"/>
                </a:solidFill>
                <a:latin typeface="Arial MT"/>
                <a:cs typeface="Arial MT"/>
              </a:rPr>
              <a:t>fa</a:t>
            </a:r>
            <a:r>
              <a:rPr sz="1800" spc="-15" dirty="0">
                <a:solidFill>
                  <a:srgbClr val="464646"/>
                </a:solidFill>
                <a:latin typeface="Arial MT"/>
                <a:cs typeface="Arial MT"/>
              </a:rPr>
              <a:t>u</a:t>
            </a:r>
            <a:r>
              <a:rPr sz="1800" dirty="0">
                <a:solidFill>
                  <a:srgbClr val="464646"/>
                </a:solidFill>
                <a:latin typeface="Arial MT"/>
                <a:cs typeface="Arial MT"/>
              </a:rPr>
              <a:t>lt</a:t>
            </a:r>
            <a:endParaRPr sz="1800">
              <a:latin typeface="Arial MT"/>
              <a:cs typeface="Arial MT"/>
            </a:endParaRPr>
          </a:p>
        </p:txBody>
      </p:sp>
      <p:sp>
        <p:nvSpPr>
          <p:cNvPr id="37" name="object 37"/>
          <p:cNvSpPr txBox="1"/>
          <p:nvPr/>
        </p:nvSpPr>
        <p:spPr>
          <a:xfrm>
            <a:off x="3187954" y="4405985"/>
            <a:ext cx="6223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/or</a:t>
            </a:r>
            <a:r>
              <a:rPr sz="1800" spc="-15" dirty="0">
                <a:solidFill>
                  <a:srgbClr val="464646"/>
                </a:solidFill>
                <a:latin typeface="Arial MT"/>
                <a:cs typeface="Arial MT"/>
              </a:rPr>
              <a:t>d</a:t>
            </a:r>
            <a:r>
              <a:rPr sz="1800" spc="-5" dirty="0">
                <a:solidFill>
                  <a:srgbClr val="464646"/>
                </a:solidFill>
                <a:latin typeface="Arial MT"/>
                <a:cs typeface="Arial MT"/>
              </a:rPr>
              <a:t>er</a:t>
            </a:r>
            <a:endParaRPr sz="1800">
              <a:latin typeface="Arial MT"/>
              <a:cs typeface="Arial MT"/>
            </a:endParaRPr>
          </a:p>
        </p:txBody>
      </p:sp>
      <p:sp>
        <p:nvSpPr>
          <p:cNvPr id="38" name="object 38"/>
          <p:cNvSpPr txBox="1"/>
          <p:nvPr/>
        </p:nvSpPr>
        <p:spPr>
          <a:xfrm>
            <a:off x="5351145" y="4405985"/>
            <a:ext cx="7747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/se</a:t>
            </a:r>
            <a:r>
              <a:rPr sz="1800" spc="-15" dirty="0">
                <a:solidFill>
                  <a:srgbClr val="464646"/>
                </a:solidFill>
                <a:latin typeface="Arial MT"/>
                <a:cs typeface="Arial MT"/>
              </a:rPr>
              <a:t>a</a:t>
            </a:r>
            <a:r>
              <a:rPr sz="1800" spc="-5" dirty="0">
                <a:solidFill>
                  <a:srgbClr val="464646"/>
                </a:solidFill>
                <a:latin typeface="Arial MT"/>
                <a:cs typeface="Arial MT"/>
              </a:rPr>
              <a:t>rch</a:t>
            </a:r>
            <a:endParaRPr sz="1800">
              <a:latin typeface="Arial MT"/>
              <a:cs typeface="Arial MT"/>
            </a:endParaRPr>
          </a:p>
        </p:txBody>
      </p:sp>
      <p:sp>
        <p:nvSpPr>
          <p:cNvPr id="39" name="object 39"/>
          <p:cNvSpPr txBox="1"/>
          <p:nvPr/>
        </p:nvSpPr>
        <p:spPr>
          <a:xfrm>
            <a:off x="7444867" y="4405985"/>
            <a:ext cx="96139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464646"/>
                </a:solidFill>
                <a:latin typeface="Arial MT"/>
                <a:cs typeface="Arial MT"/>
              </a:rPr>
              <a:t>/payment</a:t>
            </a:r>
            <a:endParaRPr sz="1800">
              <a:latin typeface="Arial MT"/>
              <a:cs typeface="Arial M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4511040"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Application Load</a:t>
            </a:r>
            <a:r>
              <a:rPr u="none" dirty="0">
                <a:solidFill>
                  <a:srgbClr val="4D4D4B"/>
                </a:solidFill>
              </a:rPr>
              <a:t> </a:t>
            </a:r>
            <a:r>
              <a:rPr u="none" spc="-5" dirty="0">
                <a:solidFill>
                  <a:srgbClr val="4D4D4B"/>
                </a:solidFill>
              </a:rPr>
              <a:t>Balancer</a:t>
            </a:r>
          </a:p>
        </p:txBody>
      </p:sp>
      <p:sp>
        <p:nvSpPr>
          <p:cNvPr id="3" name="object 3"/>
          <p:cNvSpPr txBox="1"/>
          <p:nvPr/>
        </p:nvSpPr>
        <p:spPr>
          <a:xfrm>
            <a:off x="419506" y="798445"/>
            <a:ext cx="7846059" cy="3757295"/>
          </a:xfrm>
          <a:prstGeom prst="rect">
            <a:avLst/>
          </a:prstGeom>
        </p:spPr>
        <p:txBody>
          <a:bodyPr vert="horz" wrap="square" lIns="0" tIns="85090" rIns="0" bIns="0" rtlCol="0">
            <a:spAutoFit/>
          </a:bodyPr>
          <a:lstStyle/>
          <a:p>
            <a:pPr marL="355600" indent="-342900">
              <a:lnSpc>
                <a:spcPct val="100000"/>
              </a:lnSpc>
              <a:spcBef>
                <a:spcPts val="670"/>
              </a:spcBef>
              <a:buChar char="•"/>
              <a:tabLst>
                <a:tab pos="354965" algn="l"/>
                <a:tab pos="355600" algn="l"/>
              </a:tabLst>
            </a:pPr>
            <a:r>
              <a:rPr sz="2400" spc="-5" dirty="0">
                <a:solidFill>
                  <a:srgbClr val="4D4D4B"/>
                </a:solidFill>
                <a:latin typeface="Arial MT"/>
                <a:cs typeface="Arial MT"/>
              </a:rPr>
              <a:t>Ideal</a:t>
            </a:r>
            <a:r>
              <a:rPr sz="2400" spc="5" dirty="0">
                <a:solidFill>
                  <a:srgbClr val="4D4D4B"/>
                </a:solidFill>
                <a:latin typeface="Arial MT"/>
                <a:cs typeface="Arial MT"/>
              </a:rPr>
              <a:t> </a:t>
            </a:r>
            <a:r>
              <a:rPr sz="2400" dirty="0">
                <a:solidFill>
                  <a:srgbClr val="4D4D4B"/>
                </a:solidFill>
                <a:latin typeface="Arial MT"/>
                <a:cs typeface="Arial MT"/>
              </a:rPr>
              <a:t>for</a:t>
            </a:r>
            <a:r>
              <a:rPr sz="2400" spc="-10" dirty="0">
                <a:solidFill>
                  <a:srgbClr val="4D4D4B"/>
                </a:solidFill>
                <a:latin typeface="Arial MT"/>
                <a:cs typeface="Arial MT"/>
              </a:rPr>
              <a:t> </a:t>
            </a:r>
            <a:r>
              <a:rPr sz="2400" spc="-5" dirty="0">
                <a:solidFill>
                  <a:srgbClr val="4D4D4B"/>
                </a:solidFill>
                <a:latin typeface="Arial MT"/>
                <a:cs typeface="Arial MT"/>
              </a:rPr>
              <a:t>load</a:t>
            </a:r>
            <a:r>
              <a:rPr sz="2400" spc="25" dirty="0">
                <a:solidFill>
                  <a:srgbClr val="4D4D4B"/>
                </a:solidFill>
                <a:latin typeface="Arial MT"/>
                <a:cs typeface="Arial MT"/>
              </a:rPr>
              <a:t> </a:t>
            </a:r>
            <a:r>
              <a:rPr sz="2400" spc="-5" dirty="0">
                <a:solidFill>
                  <a:srgbClr val="4D4D4B"/>
                </a:solidFill>
                <a:latin typeface="Arial MT"/>
                <a:cs typeface="Arial MT"/>
              </a:rPr>
              <a:t>balancing</a:t>
            </a:r>
            <a:r>
              <a:rPr sz="2400" spc="35" dirty="0">
                <a:solidFill>
                  <a:srgbClr val="4D4D4B"/>
                </a:solidFill>
                <a:latin typeface="Arial MT"/>
                <a:cs typeface="Arial MT"/>
              </a:rPr>
              <a:t> </a:t>
            </a:r>
            <a:r>
              <a:rPr sz="2400" spc="-5" dirty="0">
                <a:solidFill>
                  <a:srgbClr val="4D4D4B"/>
                </a:solidFill>
                <a:latin typeface="Arial MT"/>
                <a:cs typeface="Arial MT"/>
              </a:rPr>
              <a:t>HTTP(S)</a:t>
            </a:r>
            <a:r>
              <a:rPr sz="2400" spc="10" dirty="0">
                <a:solidFill>
                  <a:srgbClr val="4D4D4B"/>
                </a:solidFill>
                <a:latin typeface="Arial MT"/>
                <a:cs typeface="Arial MT"/>
              </a:rPr>
              <a:t> </a:t>
            </a:r>
            <a:r>
              <a:rPr sz="2400" spc="-10" dirty="0">
                <a:solidFill>
                  <a:srgbClr val="4D4D4B"/>
                </a:solidFill>
                <a:latin typeface="Arial MT"/>
                <a:cs typeface="Arial MT"/>
              </a:rPr>
              <a:t>traffic</a:t>
            </a:r>
            <a:r>
              <a:rPr sz="2400" spc="-20" dirty="0">
                <a:solidFill>
                  <a:srgbClr val="4D4D4B"/>
                </a:solidFill>
                <a:latin typeface="Arial MT"/>
                <a:cs typeface="Arial MT"/>
              </a:rPr>
              <a:t> </a:t>
            </a:r>
            <a:r>
              <a:rPr sz="2400" spc="-5" dirty="0">
                <a:solidFill>
                  <a:srgbClr val="4D4D4B"/>
                </a:solidFill>
                <a:latin typeface="Arial MT"/>
                <a:cs typeface="Arial MT"/>
              </a:rPr>
              <a:t>(Layer</a:t>
            </a:r>
            <a:r>
              <a:rPr sz="2400" spc="10" dirty="0">
                <a:solidFill>
                  <a:srgbClr val="4D4D4B"/>
                </a:solidFill>
                <a:latin typeface="Arial MT"/>
                <a:cs typeface="Arial MT"/>
              </a:rPr>
              <a:t> </a:t>
            </a:r>
            <a:r>
              <a:rPr sz="2400" spc="-5" dirty="0">
                <a:solidFill>
                  <a:srgbClr val="4D4D4B"/>
                </a:solidFill>
                <a:latin typeface="Arial MT"/>
                <a:cs typeface="Arial MT"/>
              </a:rPr>
              <a:t>7)</a:t>
            </a:r>
            <a:endParaRPr sz="2400" dirty="0">
              <a:latin typeface="Arial MT"/>
              <a:cs typeface="Arial MT"/>
            </a:endParaRPr>
          </a:p>
          <a:p>
            <a:pPr marL="355600" indent="-342900">
              <a:lnSpc>
                <a:spcPct val="100000"/>
              </a:lnSpc>
              <a:spcBef>
                <a:spcPts val="580"/>
              </a:spcBef>
              <a:buChar char="•"/>
              <a:tabLst>
                <a:tab pos="354965" algn="l"/>
                <a:tab pos="355600" algn="l"/>
              </a:tabLst>
            </a:pPr>
            <a:r>
              <a:rPr sz="2400" spc="-5" dirty="0">
                <a:solidFill>
                  <a:srgbClr val="4D4D4B"/>
                </a:solidFill>
                <a:latin typeface="Arial MT"/>
                <a:cs typeface="Arial MT"/>
              </a:rPr>
              <a:t>Advanced</a:t>
            </a:r>
            <a:r>
              <a:rPr sz="2400" spc="25" dirty="0">
                <a:solidFill>
                  <a:srgbClr val="4D4D4B"/>
                </a:solidFill>
                <a:latin typeface="Arial MT"/>
                <a:cs typeface="Arial MT"/>
              </a:rPr>
              <a:t> </a:t>
            </a:r>
            <a:r>
              <a:rPr sz="2400" spc="-5" dirty="0">
                <a:solidFill>
                  <a:srgbClr val="4D4D4B"/>
                </a:solidFill>
                <a:latin typeface="Arial MT"/>
                <a:cs typeface="Arial MT"/>
              </a:rPr>
              <a:t>routing</a:t>
            </a:r>
            <a:r>
              <a:rPr sz="2400" spc="30" dirty="0">
                <a:solidFill>
                  <a:srgbClr val="4D4D4B"/>
                </a:solidFill>
                <a:latin typeface="Arial MT"/>
                <a:cs typeface="Arial MT"/>
              </a:rPr>
              <a:t> </a:t>
            </a:r>
            <a:r>
              <a:rPr sz="2400" dirty="0">
                <a:solidFill>
                  <a:srgbClr val="4D4D4B"/>
                </a:solidFill>
                <a:latin typeface="Arial MT"/>
                <a:cs typeface="Arial MT"/>
              </a:rPr>
              <a:t>– for</a:t>
            </a:r>
            <a:r>
              <a:rPr sz="2400" spc="10" dirty="0">
                <a:solidFill>
                  <a:srgbClr val="4D4D4B"/>
                </a:solidFill>
                <a:latin typeface="Arial MT"/>
                <a:cs typeface="Arial MT"/>
              </a:rPr>
              <a:t> </a:t>
            </a:r>
            <a:r>
              <a:rPr sz="2400" spc="-5" dirty="0">
                <a:solidFill>
                  <a:srgbClr val="4D4D4B"/>
                </a:solidFill>
                <a:latin typeface="Arial MT"/>
                <a:cs typeface="Arial MT"/>
              </a:rPr>
              <a:t>microservices,</a:t>
            </a:r>
            <a:r>
              <a:rPr sz="2400" spc="15" dirty="0">
                <a:solidFill>
                  <a:srgbClr val="4D4D4B"/>
                </a:solidFill>
                <a:latin typeface="Arial MT"/>
                <a:cs typeface="Arial MT"/>
              </a:rPr>
              <a:t> </a:t>
            </a:r>
            <a:r>
              <a:rPr sz="2400" spc="-5" dirty="0">
                <a:solidFill>
                  <a:srgbClr val="4D4D4B"/>
                </a:solidFill>
                <a:latin typeface="Arial MT"/>
                <a:cs typeface="Arial MT"/>
              </a:rPr>
              <a:t>containerized</a:t>
            </a:r>
            <a:endParaRPr sz="2400" dirty="0">
              <a:latin typeface="Arial MT"/>
              <a:cs typeface="Arial MT"/>
            </a:endParaRPr>
          </a:p>
          <a:p>
            <a:pPr marL="355600">
              <a:lnSpc>
                <a:spcPct val="100000"/>
              </a:lnSpc>
            </a:pPr>
            <a:r>
              <a:rPr sz="2400" spc="-5" dirty="0">
                <a:solidFill>
                  <a:srgbClr val="4D4D4B"/>
                </a:solidFill>
                <a:latin typeface="Arial MT"/>
                <a:cs typeface="Arial MT"/>
              </a:rPr>
              <a:t>applications,</a:t>
            </a:r>
            <a:r>
              <a:rPr sz="2400" spc="45" dirty="0">
                <a:solidFill>
                  <a:srgbClr val="4D4D4B"/>
                </a:solidFill>
                <a:latin typeface="Arial MT"/>
                <a:cs typeface="Arial MT"/>
              </a:rPr>
              <a:t> </a:t>
            </a:r>
            <a:r>
              <a:rPr sz="2400" spc="-5" dirty="0">
                <a:solidFill>
                  <a:srgbClr val="4D4D4B"/>
                </a:solidFill>
                <a:latin typeface="Arial MT"/>
                <a:cs typeface="Arial MT"/>
              </a:rPr>
              <a:t>hybrid</a:t>
            </a:r>
            <a:r>
              <a:rPr sz="2400" spc="15" dirty="0">
                <a:solidFill>
                  <a:srgbClr val="4D4D4B"/>
                </a:solidFill>
                <a:latin typeface="Arial MT"/>
                <a:cs typeface="Arial MT"/>
              </a:rPr>
              <a:t> </a:t>
            </a:r>
            <a:r>
              <a:rPr sz="2400" spc="-5" dirty="0">
                <a:solidFill>
                  <a:srgbClr val="4D4D4B"/>
                </a:solidFill>
                <a:latin typeface="Arial MT"/>
                <a:cs typeface="Arial MT"/>
              </a:rPr>
              <a:t>infrastructure</a:t>
            </a:r>
            <a:endParaRPr sz="2400" dirty="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HTTP/2</a:t>
            </a:r>
            <a:r>
              <a:rPr sz="2400" spc="-10" dirty="0">
                <a:solidFill>
                  <a:srgbClr val="4D4D4B"/>
                </a:solidFill>
                <a:latin typeface="Arial MT"/>
                <a:cs typeface="Arial MT"/>
              </a:rPr>
              <a:t> </a:t>
            </a:r>
            <a:r>
              <a:rPr sz="2400" spc="-5" dirty="0">
                <a:solidFill>
                  <a:srgbClr val="4D4D4B"/>
                </a:solidFill>
                <a:latin typeface="Arial MT"/>
                <a:cs typeface="Arial MT"/>
              </a:rPr>
              <a:t>and </a:t>
            </a:r>
            <a:r>
              <a:rPr sz="2400" spc="-10" dirty="0">
                <a:solidFill>
                  <a:srgbClr val="4D4D4B"/>
                </a:solidFill>
                <a:latin typeface="Arial MT"/>
                <a:cs typeface="Arial MT"/>
              </a:rPr>
              <a:t>WebSocket</a:t>
            </a:r>
            <a:r>
              <a:rPr sz="2400" spc="5" dirty="0">
                <a:solidFill>
                  <a:srgbClr val="4D4D4B"/>
                </a:solidFill>
                <a:latin typeface="Arial MT"/>
                <a:cs typeface="Arial MT"/>
              </a:rPr>
              <a:t> </a:t>
            </a:r>
            <a:r>
              <a:rPr sz="2400" spc="-5" dirty="0">
                <a:solidFill>
                  <a:srgbClr val="4D4D4B"/>
                </a:solidFill>
                <a:latin typeface="Arial MT"/>
                <a:cs typeface="Arial MT"/>
              </a:rPr>
              <a:t>Support</a:t>
            </a:r>
            <a:endParaRPr sz="2400" dirty="0">
              <a:latin typeface="Arial MT"/>
              <a:cs typeface="Arial MT"/>
            </a:endParaRPr>
          </a:p>
          <a:p>
            <a:pPr marL="355600" marR="5080" indent="-342900">
              <a:lnSpc>
                <a:spcPct val="100000"/>
              </a:lnSpc>
              <a:spcBef>
                <a:spcPts val="580"/>
              </a:spcBef>
              <a:buChar char="•"/>
              <a:tabLst>
                <a:tab pos="354965" algn="l"/>
                <a:tab pos="355600" algn="l"/>
              </a:tabLst>
            </a:pPr>
            <a:r>
              <a:rPr sz="2400" spc="-5" dirty="0">
                <a:solidFill>
                  <a:srgbClr val="4D4D4B"/>
                </a:solidFill>
                <a:latin typeface="Arial MT"/>
                <a:cs typeface="Arial MT"/>
              </a:rPr>
              <a:t>Request</a:t>
            </a:r>
            <a:r>
              <a:rPr sz="2400" spc="-30" dirty="0">
                <a:solidFill>
                  <a:srgbClr val="4D4D4B"/>
                </a:solidFill>
                <a:latin typeface="Arial MT"/>
                <a:cs typeface="Arial MT"/>
              </a:rPr>
              <a:t> </a:t>
            </a:r>
            <a:r>
              <a:rPr sz="2400" spc="-15" dirty="0">
                <a:solidFill>
                  <a:srgbClr val="4D4D4B"/>
                </a:solidFill>
                <a:latin typeface="Arial MT"/>
                <a:cs typeface="Arial MT"/>
              </a:rPr>
              <a:t>Tracing</a:t>
            </a:r>
            <a:r>
              <a:rPr sz="2400" spc="10" dirty="0">
                <a:solidFill>
                  <a:srgbClr val="4D4D4B"/>
                </a:solidFill>
                <a:latin typeface="Arial MT"/>
                <a:cs typeface="Arial MT"/>
              </a:rPr>
              <a:t> </a:t>
            </a:r>
            <a:r>
              <a:rPr sz="2400" dirty="0">
                <a:solidFill>
                  <a:srgbClr val="4D4D4B"/>
                </a:solidFill>
                <a:latin typeface="Arial MT"/>
                <a:cs typeface="Arial MT"/>
              </a:rPr>
              <a:t>– track</a:t>
            </a:r>
            <a:r>
              <a:rPr sz="2400" spc="-25" dirty="0">
                <a:solidFill>
                  <a:srgbClr val="4D4D4B"/>
                </a:solidFill>
                <a:latin typeface="Arial MT"/>
                <a:cs typeface="Arial MT"/>
              </a:rPr>
              <a:t> </a:t>
            </a:r>
            <a:r>
              <a:rPr sz="2400" spc="-5" dirty="0">
                <a:solidFill>
                  <a:srgbClr val="4D4D4B"/>
                </a:solidFill>
                <a:latin typeface="Arial MT"/>
                <a:cs typeface="Arial MT"/>
              </a:rPr>
              <a:t>individual</a:t>
            </a:r>
            <a:r>
              <a:rPr sz="2400" spc="45" dirty="0">
                <a:solidFill>
                  <a:srgbClr val="4D4D4B"/>
                </a:solidFill>
                <a:latin typeface="Arial MT"/>
                <a:cs typeface="Arial MT"/>
              </a:rPr>
              <a:t> </a:t>
            </a:r>
            <a:r>
              <a:rPr sz="2400" spc="-5" dirty="0">
                <a:solidFill>
                  <a:srgbClr val="4D4D4B"/>
                </a:solidFill>
                <a:latin typeface="Arial MT"/>
                <a:cs typeface="Arial MT"/>
              </a:rPr>
              <a:t>request</a:t>
            </a:r>
            <a:r>
              <a:rPr sz="2400" dirty="0">
                <a:solidFill>
                  <a:srgbClr val="4D4D4B"/>
                </a:solidFill>
                <a:latin typeface="Arial MT"/>
                <a:cs typeface="Arial MT"/>
              </a:rPr>
              <a:t> </a:t>
            </a:r>
            <a:r>
              <a:rPr sz="2400" spc="-5" dirty="0">
                <a:solidFill>
                  <a:srgbClr val="4D4D4B"/>
                </a:solidFill>
                <a:latin typeface="Arial MT"/>
                <a:cs typeface="Arial MT"/>
              </a:rPr>
              <a:t>by</a:t>
            </a:r>
            <a:r>
              <a:rPr sz="2400" dirty="0">
                <a:solidFill>
                  <a:srgbClr val="4D4D4B"/>
                </a:solidFill>
                <a:latin typeface="Arial MT"/>
                <a:cs typeface="Arial MT"/>
              </a:rPr>
              <a:t> </a:t>
            </a:r>
            <a:r>
              <a:rPr sz="2400" spc="-5" dirty="0">
                <a:solidFill>
                  <a:srgbClr val="4D4D4B"/>
                </a:solidFill>
                <a:latin typeface="Arial MT"/>
                <a:cs typeface="Arial MT"/>
              </a:rPr>
              <a:t>unique</a:t>
            </a:r>
            <a:r>
              <a:rPr sz="2400" spc="30" dirty="0">
                <a:solidFill>
                  <a:srgbClr val="4D4D4B"/>
                </a:solidFill>
                <a:latin typeface="Arial MT"/>
                <a:cs typeface="Arial MT"/>
              </a:rPr>
              <a:t> </a:t>
            </a:r>
            <a:r>
              <a:rPr sz="2400" dirty="0">
                <a:solidFill>
                  <a:srgbClr val="4D4D4B"/>
                </a:solidFill>
                <a:latin typeface="Arial MT"/>
                <a:cs typeface="Arial MT"/>
              </a:rPr>
              <a:t>ID </a:t>
            </a:r>
            <a:r>
              <a:rPr sz="2400" spc="-655" dirty="0">
                <a:solidFill>
                  <a:srgbClr val="4D4D4B"/>
                </a:solidFill>
                <a:latin typeface="Arial MT"/>
                <a:cs typeface="Arial MT"/>
              </a:rPr>
              <a:t> </a:t>
            </a:r>
            <a:r>
              <a:rPr sz="2400" spc="-5" dirty="0">
                <a:solidFill>
                  <a:srgbClr val="4D4D4B"/>
                </a:solidFill>
                <a:latin typeface="Arial MT"/>
                <a:cs typeface="Arial MT"/>
              </a:rPr>
              <a:t>across</a:t>
            </a:r>
            <a:r>
              <a:rPr sz="2400" dirty="0">
                <a:solidFill>
                  <a:srgbClr val="4D4D4B"/>
                </a:solidFill>
                <a:latin typeface="Arial MT"/>
                <a:cs typeface="Arial MT"/>
              </a:rPr>
              <a:t> </a:t>
            </a:r>
            <a:r>
              <a:rPr sz="2400" spc="-5" dirty="0">
                <a:solidFill>
                  <a:srgbClr val="4D4D4B"/>
                </a:solidFill>
                <a:latin typeface="Arial MT"/>
                <a:cs typeface="Arial MT"/>
              </a:rPr>
              <a:t>various</a:t>
            </a:r>
            <a:r>
              <a:rPr sz="2400" spc="10" dirty="0">
                <a:solidFill>
                  <a:srgbClr val="4D4D4B"/>
                </a:solidFill>
                <a:latin typeface="Arial MT"/>
                <a:cs typeface="Arial MT"/>
              </a:rPr>
              <a:t> </a:t>
            </a:r>
            <a:r>
              <a:rPr sz="2400" spc="-5" dirty="0">
                <a:solidFill>
                  <a:srgbClr val="4D4D4B"/>
                </a:solidFill>
                <a:latin typeface="Arial MT"/>
                <a:cs typeface="Arial MT"/>
              </a:rPr>
              <a:t>services</a:t>
            </a:r>
            <a:endParaRPr sz="2400" dirty="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Support</a:t>
            </a:r>
            <a:r>
              <a:rPr sz="2400" spc="5" dirty="0">
                <a:solidFill>
                  <a:srgbClr val="4D4D4B"/>
                </a:solidFill>
                <a:latin typeface="Arial MT"/>
                <a:cs typeface="Arial MT"/>
              </a:rPr>
              <a:t> </a:t>
            </a:r>
            <a:r>
              <a:rPr sz="2400" dirty="0">
                <a:solidFill>
                  <a:srgbClr val="4D4D4B"/>
                </a:solidFill>
                <a:latin typeface="Arial MT"/>
                <a:cs typeface="Arial MT"/>
              </a:rPr>
              <a:t>for</a:t>
            </a:r>
            <a:r>
              <a:rPr sz="2400" spc="5" dirty="0">
                <a:solidFill>
                  <a:srgbClr val="4D4D4B"/>
                </a:solidFill>
                <a:latin typeface="Arial MT"/>
                <a:cs typeface="Arial MT"/>
              </a:rPr>
              <a:t> </a:t>
            </a:r>
            <a:r>
              <a:rPr sz="2400" spc="-5" dirty="0">
                <a:solidFill>
                  <a:srgbClr val="4D4D4B"/>
                </a:solidFill>
                <a:latin typeface="Arial MT"/>
                <a:cs typeface="Arial MT"/>
              </a:rPr>
              <a:t>hosting</a:t>
            </a:r>
            <a:r>
              <a:rPr sz="2400" spc="10" dirty="0">
                <a:solidFill>
                  <a:srgbClr val="4D4D4B"/>
                </a:solidFill>
                <a:latin typeface="Arial MT"/>
                <a:cs typeface="Arial MT"/>
              </a:rPr>
              <a:t> </a:t>
            </a:r>
            <a:r>
              <a:rPr sz="2400" spc="-5" dirty="0">
                <a:solidFill>
                  <a:srgbClr val="4D4D4B"/>
                </a:solidFill>
                <a:latin typeface="Arial MT"/>
                <a:cs typeface="Arial MT"/>
              </a:rPr>
              <a:t>multiple</a:t>
            </a:r>
            <a:r>
              <a:rPr sz="2400" spc="25" dirty="0">
                <a:solidFill>
                  <a:srgbClr val="4D4D4B"/>
                </a:solidFill>
                <a:latin typeface="Arial MT"/>
                <a:cs typeface="Arial MT"/>
              </a:rPr>
              <a:t> </a:t>
            </a:r>
            <a:r>
              <a:rPr sz="2400" spc="-5" dirty="0">
                <a:solidFill>
                  <a:srgbClr val="4D4D4B"/>
                </a:solidFill>
                <a:latin typeface="Arial MT"/>
                <a:cs typeface="Arial MT"/>
              </a:rPr>
              <a:t>websites</a:t>
            </a:r>
            <a:r>
              <a:rPr sz="2400" spc="10" dirty="0">
                <a:solidFill>
                  <a:srgbClr val="4D4D4B"/>
                </a:solidFill>
                <a:latin typeface="Arial MT"/>
                <a:cs typeface="Arial MT"/>
              </a:rPr>
              <a:t> </a:t>
            </a:r>
            <a:r>
              <a:rPr sz="2400" dirty="0">
                <a:solidFill>
                  <a:srgbClr val="4D4D4B"/>
                </a:solidFill>
                <a:latin typeface="Arial MT"/>
                <a:cs typeface="Arial MT"/>
              </a:rPr>
              <a:t>(Server</a:t>
            </a:r>
            <a:r>
              <a:rPr sz="2400" spc="5" dirty="0">
                <a:solidFill>
                  <a:srgbClr val="4D4D4B"/>
                </a:solidFill>
                <a:latin typeface="Arial MT"/>
                <a:cs typeface="Arial MT"/>
              </a:rPr>
              <a:t> </a:t>
            </a:r>
            <a:r>
              <a:rPr sz="2400" spc="-5" dirty="0">
                <a:solidFill>
                  <a:srgbClr val="4D4D4B"/>
                </a:solidFill>
                <a:latin typeface="Arial MT"/>
                <a:cs typeface="Arial MT"/>
              </a:rPr>
              <a:t>Name</a:t>
            </a:r>
            <a:endParaRPr sz="2400" dirty="0">
              <a:latin typeface="Arial MT"/>
              <a:cs typeface="Arial MT"/>
            </a:endParaRPr>
          </a:p>
          <a:p>
            <a:pPr marL="355600">
              <a:lnSpc>
                <a:spcPct val="100000"/>
              </a:lnSpc>
              <a:spcBef>
                <a:spcPts val="5"/>
              </a:spcBef>
            </a:pPr>
            <a:r>
              <a:rPr sz="2400" spc="-5" dirty="0">
                <a:solidFill>
                  <a:srgbClr val="4D4D4B"/>
                </a:solidFill>
                <a:latin typeface="Arial MT"/>
                <a:cs typeface="Arial MT"/>
              </a:rPr>
              <a:t>Indication)</a:t>
            </a:r>
            <a:endParaRPr sz="2400" dirty="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User</a:t>
            </a:r>
            <a:r>
              <a:rPr sz="2400" spc="-135" dirty="0">
                <a:solidFill>
                  <a:srgbClr val="4D4D4B"/>
                </a:solidFill>
                <a:latin typeface="Arial MT"/>
                <a:cs typeface="Arial MT"/>
              </a:rPr>
              <a:t> </a:t>
            </a:r>
            <a:r>
              <a:rPr sz="2400" spc="-5" dirty="0">
                <a:solidFill>
                  <a:srgbClr val="4D4D4B"/>
                </a:solidFill>
                <a:latin typeface="Arial MT"/>
                <a:cs typeface="Arial MT"/>
              </a:rPr>
              <a:t>Authentication</a:t>
            </a:r>
            <a:r>
              <a:rPr sz="2400" spc="20" dirty="0">
                <a:solidFill>
                  <a:srgbClr val="4D4D4B"/>
                </a:solidFill>
                <a:latin typeface="Arial MT"/>
                <a:cs typeface="Arial MT"/>
              </a:rPr>
              <a:t> </a:t>
            </a:r>
            <a:r>
              <a:rPr sz="2400" dirty="0">
                <a:solidFill>
                  <a:srgbClr val="4D4D4B"/>
                </a:solidFill>
                <a:latin typeface="Arial MT"/>
                <a:cs typeface="Arial MT"/>
              </a:rPr>
              <a:t>-</a:t>
            </a:r>
            <a:r>
              <a:rPr sz="2400" spc="-10" dirty="0">
                <a:solidFill>
                  <a:srgbClr val="4D4D4B"/>
                </a:solidFill>
                <a:latin typeface="Arial MT"/>
                <a:cs typeface="Arial MT"/>
              </a:rPr>
              <a:t> </a:t>
            </a:r>
            <a:r>
              <a:rPr sz="2400" spc="-5" dirty="0">
                <a:solidFill>
                  <a:srgbClr val="4D4D4B"/>
                </a:solidFill>
                <a:latin typeface="Arial MT"/>
                <a:cs typeface="Arial MT"/>
              </a:rPr>
              <a:t>Cognito</a:t>
            </a:r>
            <a:endParaRPr sz="2400" dirty="0">
              <a:latin typeface="Arial MT"/>
              <a:cs typeface="Arial M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617283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Application</a:t>
            </a:r>
            <a:r>
              <a:rPr u="none" spc="5" dirty="0">
                <a:solidFill>
                  <a:srgbClr val="4D4D4B"/>
                </a:solidFill>
              </a:rPr>
              <a:t> </a:t>
            </a:r>
            <a:r>
              <a:rPr u="none" spc="-5" dirty="0">
                <a:solidFill>
                  <a:srgbClr val="4D4D4B"/>
                </a:solidFill>
              </a:rPr>
              <a:t>Load</a:t>
            </a:r>
            <a:r>
              <a:rPr u="none" spc="10" dirty="0">
                <a:solidFill>
                  <a:srgbClr val="4D4D4B"/>
                </a:solidFill>
              </a:rPr>
              <a:t> </a:t>
            </a:r>
            <a:r>
              <a:rPr u="none" spc="-5" dirty="0">
                <a:solidFill>
                  <a:srgbClr val="4D4D4B"/>
                </a:solidFill>
              </a:rPr>
              <a:t>Balancer</a:t>
            </a:r>
            <a:r>
              <a:rPr u="none" spc="35" dirty="0">
                <a:solidFill>
                  <a:srgbClr val="4D4D4B"/>
                </a:solidFill>
              </a:rPr>
              <a:t> </a:t>
            </a:r>
            <a:r>
              <a:rPr u="none" spc="-5" dirty="0">
                <a:solidFill>
                  <a:srgbClr val="4D4D4B"/>
                </a:solidFill>
              </a:rPr>
              <a:t>- Routing</a:t>
            </a:r>
          </a:p>
        </p:txBody>
      </p:sp>
      <p:sp>
        <p:nvSpPr>
          <p:cNvPr id="3" name="object 3"/>
          <p:cNvSpPr txBox="1"/>
          <p:nvPr/>
        </p:nvSpPr>
        <p:spPr>
          <a:xfrm>
            <a:off x="419506" y="962025"/>
            <a:ext cx="7324090" cy="2700098"/>
          </a:xfrm>
          <a:prstGeom prst="rect">
            <a:avLst/>
          </a:prstGeom>
        </p:spPr>
        <p:txBody>
          <a:bodyPr vert="horz" wrap="square" lIns="0" tIns="85725" rIns="0" bIns="0" rtlCol="0">
            <a:spAutoFit/>
          </a:bodyPr>
          <a:lstStyle/>
          <a:p>
            <a:pPr marL="12700">
              <a:lnSpc>
                <a:spcPct val="100000"/>
              </a:lnSpc>
              <a:spcBef>
                <a:spcPts val="675"/>
              </a:spcBef>
              <a:tabLst>
                <a:tab pos="354965" algn="l"/>
                <a:tab pos="355600" algn="l"/>
              </a:tabLst>
            </a:pPr>
            <a:r>
              <a:rPr lang="en-US" sz="2400" spc="-5" dirty="0">
                <a:solidFill>
                  <a:srgbClr val="4D4D4B"/>
                </a:solidFill>
                <a:latin typeface="Arial MT"/>
                <a:cs typeface="Arial MT"/>
              </a:rPr>
              <a:t>Traffic is routed through </a:t>
            </a:r>
          </a:p>
          <a:p>
            <a:pPr marL="355600" indent="-342900">
              <a:lnSpc>
                <a:spcPct val="100000"/>
              </a:lnSpc>
              <a:spcBef>
                <a:spcPts val="675"/>
              </a:spcBef>
              <a:buChar char="•"/>
              <a:tabLst>
                <a:tab pos="354965" algn="l"/>
                <a:tab pos="355600" algn="l"/>
              </a:tabLst>
            </a:pPr>
            <a:r>
              <a:rPr sz="2400" spc="-5" dirty="0">
                <a:solidFill>
                  <a:srgbClr val="4D4D4B"/>
                </a:solidFill>
                <a:latin typeface="Arial MT"/>
                <a:cs typeface="Arial MT"/>
              </a:rPr>
              <a:t>Path</a:t>
            </a:r>
            <a:r>
              <a:rPr sz="2400" spc="-30" dirty="0">
                <a:solidFill>
                  <a:srgbClr val="4D4D4B"/>
                </a:solidFill>
                <a:latin typeface="Arial MT"/>
                <a:cs typeface="Arial MT"/>
              </a:rPr>
              <a:t> </a:t>
            </a:r>
            <a:r>
              <a:rPr sz="2400" spc="-5" dirty="0">
                <a:solidFill>
                  <a:srgbClr val="4D4D4B"/>
                </a:solidFill>
                <a:latin typeface="Arial MT"/>
                <a:cs typeface="Arial MT"/>
              </a:rPr>
              <a:t>based</a:t>
            </a:r>
            <a:endParaRPr sz="2400" dirty="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Host</a:t>
            </a:r>
            <a:r>
              <a:rPr sz="2400" spc="10" dirty="0">
                <a:solidFill>
                  <a:srgbClr val="4D4D4B"/>
                </a:solidFill>
                <a:latin typeface="Arial MT"/>
                <a:cs typeface="Arial MT"/>
              </a:rPr>
              <a:t> </a:t>
            </a:r>
            <a:r>
              <a:rPr sz="2400" spc="-5" dirty="0">
                <a:solidFill>
                  <a:srgbClr val="4D4D4B"/>
                </a:solidFill>
                <a:latin typeface="Arial MT"/>
                <a:cs typeface="Arial MT"/>
              </a:rPr>
              <a:t>HTTP</a:t>
            </a:r>
            <a:r>
              <a:rPr sz="2400" spc="-50" dirty="0">
                <a:solidFill>
                  <a:srgbClr val="4D4D4B"/>
                </a:solidFill>
                <a:latin typeface="Arial MT"/>
                <a:cs typeface="Arial MT"/>
              </a:rPr>
              <a:t> </a:t>
            </a:r>
            <a:r>
              <a:rPr sz="2400" spc="-5" dirty="0">
                <a:solidFill>
                  <a:srgbClr val="4D4D4B"/>
                </a:solidFill>
                <a:latin typeface="Arial MT"/>
                <a:cs typeface="Arial MT"/>
              </a:rPr>
              <a:t>header</a:t>
            </a:r>
            <a:r>
              <a:rPr sz="2400" spc="15" dirty="0">
                <a:solidFill>
                  <a:srgbClr val="4D4D4B"/>
                </a:solidFill>
                <a:latin typeface="Arial MT"/>
                <a:cs typeface="Arial MT"/>
              </a:rPr>
              <a:t> </a:t>
            </a:r>
            <a:r>
              <a:rPr sz="2400" spc="-5" dirty="0">
                <a:solidFill>
                  <a:srgbClr val="4D4D4B"/>
                </a:solidFill>
                <a:latin typeface="Arial MT"/>
                <a:cs typeface="Arial MT"/>
              </a:rPr>
              <a:t>(support</a:t>
            </a:r>
            <a:r>
              <a:rPr sz="2400" spc="10" dirty="0">
                <a:solidFill>
                  <a:srgbClr val="4D4D4B"/>
                </a:solidFill>
                <a:latin typeface="Arial MT"/>
                <a:cs typeface="Arial MT"/>
              </a:rPr>
              <a:t> </a:t>
            </a:r>
            <a:r>
              <a:rPr sz="2400" dirty="0">
                <a:solidFill>
                  <a:srgbClr val="4D4D4B"/>
                </a:solidFill>
                <a:latin typeface="Arial MT"/>
                <a:cs typeface="Arial MT"/>
              </a:rPr>
              <a:t>for</a:t>
            </a:r>
            <a:r>
              <a:rPr sz="2400" spc="-10" dirty="0">
                <a:solidFill>
                  <a:srgbClr val="4D4D4B"/>
                </a:solidFill>
                <a:latin typeface="Arial MT"/>
                <a:cs typeface="Arial MT"/>
              </a:rPr>
              <a:t> </a:t>
            </a:r>
            <a:r>
              <a:rPr sz="2400" spc="-5" dirty="0">
                <a:solidFill>
                  <a:srgbClr val="4D4D4B"/>
                </a:solidFill>
                <a:latin typeface="Arial MT"/>
                <a:cs typeface="Arial MT"/>
              </a:rPr>
              <a:t>multiple</a:t>
            </a:r>
            <a:r>
              <a:rPr sz="2400" spc="30" dirty="0">
                <a:solidFill>
                  <a:srgbClr val="4D4D4B"/>
                </a:solidFill>
                <a:latin typeface="Arial MT"/>
                <a:cs typeface="Arial MT"/>
              </a:rPr>
              <a:t> </a:t>
            </a:r>
            <a:r>
              <a:rPr sz="2400" spc="-5" dirty="0">
                <a:solidFill>
                  <a:srgbClr val="4D4D4B"/>
                </a:solidFill>
                <a:latin typeface="Arial MT"/>
                <a:cs typeface="Arial MT"/>
              </a:rPr>
              <a:t>domains)</a:t>
            </a:r>
            <a:endParaRPr sz="2400" dirty="0">
              <a:latin typeface="Arial MT"/>
              <a:cs typeface="Arial MT"/>
            </a:endParaRPr>
          </a:p>
          <a:p>
            <a:pPr marL="355600" indent="-342900">
              <a:lnSpc>
                <a:spcPct val="100000"/>
              </a:lnSpc>
              <a:spcBef>
                <a:spcPts val="580"/>
              </a:spcBef>
              <a:buChar char="•"/>
              <a:tabLst>
                <a:tab pos="354965" algn="l"/>
                <a:tab pos="355600" algn="l"/>
              </a:tabLst>
            </a:pPr>
            <a:r>
              <a:rPr sz="2400" spc="-5" dirty="0">
                <a:solidFill>
                  <a:srgbClr val="4D4D4B"/>
                </a:solidFill>
                <a:latin typeface="Arial MT"/>
                <a:cs typeface="Arial MT"/>
              </a:rPr>
              <a:t>Any</a:t>
            </a:r>
            <a:r>
              <a:rPr sz="2400" dirty="0">
                <a:solidFill>
                  <a:srgbClr val="4D4D4B"/>
                </a:solidFill>
                <a:latin typeface="Arial MT"/>
                <a:cs typeface="Arial MT"/>
              </a:rPr>
              <a:t> </a:t>
            </a:r>
            <a:r>
              <a:rPr sz="2400" spc="-5" dirty="0">
                <a:solidFill>
                  <a:srgbClr val="4D4D4B"/>
                </a:solidFill>
                <a:latin typeface="Arial MT"/>
                <a:cs typeface="Arial MT"/>
              </a:rPr>
              <a:t>standard</a:t>
            </a:r>
            <a:r>
              <a:rPr sz="2400" spc="5" dirty="0">
                <a:solidFill>
                  <a:srgbClr val="4D4D4B"/>
                </a:solidFill>
                <a:latin typeface="Arial MT"/>
                <a:cs typeface="Arial MT"/>
              </a:rPr>
              <a:t> </a:t>
            </a:r>
            <a:r>
              <a:rPr sz="2400" spc="-5" dirty="0">
                <a:solidFill>
                  <a:srgbClr val="4D4D4B"/>
                </a:solidFill>
                <a:latin typeface="Arial MT"/>
                <a:cs typeface="Arial MT"/>
              </a:rPr>
              <a:t>or</a:t>
            </a:r>
            <a:r>
              <a:rPr sz="2400" spc="5" dirty="0">
                <a:solidFill>
                  <a:srgbClr val="4D4D4B"/>
                </a:solidFill>
                <a:latin typeface="Arial MT"/>
                <a:cs typeface="Arial MT"/>
              </a:rPr>
              <a:t> </a:t>
            </a:r>
            <a:r>
              <a:rPr sz="2400" spc="-5" dirty="0">
                <a:solidFill>
                  <a:srgbClr val="4D4D4B"/>
                </a:solidFill>
                <a:latin typeface="Arial MT"/>
                <a:cs typeface="Arial MT"/>
              </a:rPr>
              <a:t>custom</a:t>
            </a:r>
            <a:r>
              <a:rPr sz="2400" spc="5" dirty="0">
                <a:solidFill>
                  <a:srgbClr val="4D4D4B"/>
                </a:solidFill>
                <a:latin typeface="Arial MT"/>
                <a:cs typeface="Arial MT"/>
              </a:rPr>
              <a:t> </a:t>
            </a:r>
            <a:r>
              <a:rPr sz="2400" spc="-5" dirty="0">
                <a:solidFill>
                  <a:srgbClr val="4D4D4B"/>
                </a:solidFill>
                <a:latin typeface="Arial MT"/>
                <a:cs typeface="Arial MT"/>
              </a:rPr>
              <a:t>HTTP</a:t>
            </a:r>
            <a:r>
              <a:rPr sz="2400" spc="-60" dirty="0">
                <a:solidFill>
                  <a:srgbClr val="4D4D4B"/>
                </a:solidFill>
                <a:latin typeface="Arial MT"/>
                <a:cs typeface="Arial MT"/>
              </a:rPr>
              <a:t> </a:t>
            </a:r>
            <a:r>
              <a:rPr sz="2400" spc="-5" dirty="0">
                <a:solidFill>
                  <a:srgbClr val="4D4D4B"/>
                </a:solidFill>
                <a:latin typeface="Arial MT"/>
                <a:cs typeface="Arial MT"/>
              </a:rPr>
              <a:t>header</a:t>
            </a:r>
            <a:endParaRPr sz="2400" dirty="0">
              <a:latin typeface="Arial MT"/>
              <a:cs typeface="Arial MT"/>
            </a:endParaRPr>
          </a:p>
          <a:p>
            <a:pPr marL="355600" indent="-342900">
              <a:lnSpc>
                <a:spcPct val="100000"/>
              </a:lnSpc>
              <a:spcBef>
                <a:spcPts val="575"/>
              </a:spcBef>
              <a:buChar char="•"/>
              <a:tabLst>
                <a:tab pos="354965" algn="l"/>
                <a:tab pos="355600" algn="l"/>
              </a:tabLst>
            </a:pPr>
            <a:r>
              <a:rPr sz="2400" dirty="0">
                <a:solidFill>
                  <a:srgbClr val="4D4D4B"/>
                </a:solidFill>
                <a:latin typeface="Arial MT"/>
                <a:cs typeface="Arial MT"/>
              </a:rPr>
              <a:t>Query</a:t>
            </a:r>
            <a:r>
              <a:rPr sz="2400" spc="-5" dirty="0">
                <a:solidFill>
                  <a:srgbClr val="4D4D4B"/>
                </a:solidFill>
                <a:latin typeface="Arial MT"/>
                <a:cs typeface="Arial MT"/>
              </a:rPr>
              <a:t> string parameter</a:t>
            </a:r>
            <a:r>
              <a:rPr sz="2400" dirty="0">
                <a:solidFill>
                  <a:srgbClr val="4D4D4B"/>
                </a:solidFill>
                <a:latin typeface="Arial MT"/>
                <a:cs typeface="Arial MT"/>
              </a:rPr>
              <a:t> </a:t>
            </a:r>
            <a:r>
              <a:rPr sz="2400" spc="-5" dirty="0">
                <a:solidFill>
                  <a:srgbClr val="4D4D4B"/>
                </a:solidFill>
                <a:latin typeface="Arial MT"/>
                <a:cs typeface="Arial MT"/>
              </a:rPr>
              <a:t>based</a:t>
            </a:r>
            <a:endParaRPr sz="2400" dirty="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Source</a:t>
            </a:r>
            <a:r>
              <a:rPr sz="2400" spc="15" dirty="0">
                <a:solidFill>
                  <a:srgbClr val="4D4D4B"/>
                </a:solidFill>
                <a:latin typeface="Arial MT"/>
                <a:cs typeface="Arial MT"/>
              </a:rPr>
              <a:t> </a:t>
            </a:r>
            <a:r>
              <a:rPr sz="2400" dirty="0">
                <a:solidFill>
                  <a:srgbClr val="4D4D4B"/>
                </a:solidFill>
                <a:latin typeface="Arial MT"/>
                <a:cs typeface="Arial MT"/>
              </a:rPr>
              <a:t>IP</a:t>
            </a:r>
            <a:r>
              <a:rPr sz="2400" spc="-55" dirty="0">
                <a:solidFill>
                  <a:srgbClr val="4D4D4B"/>
                </a:solidFill>
                <a:latin typeface="Arial MT"/>
                <a:cs typeface="Arial MT"/>
              </a:rPr>
              <a:t> </a:t>
            </a:r>
            <a:r>
              <a:rPr sz="2400" spc="-5" dirty="0">
                <a:solidFill>
                  <a:srgbClr val="4D4D4B"/>
                </a:solidFill>
                <a:latin typeface="Arial MT"/>
                <a:cs typeface="Arial MT"/>
              </a:rPr>
              <a:t>based</a:t>
            </a:r>
            <a:r>
              <a:rPr sz="2400" spc="10" dirty="0">
                <a:solidFill>
                  <a:srgbClr val="4D4D4B"/>
                </a:solidFill>
                <a:latin typeface="Arial MT"/>
                <a:cs typeface="Arial MT"/>
              </a:rPr>
              <a:t> </a:t>
            </a:r>
            <a:r>
              <a:rPr sz="2400" dirty="0">
                <a:solidFill>
                  <a:srgbClr val="4D4D4B"/>
                </a:solidFill>
                <a:latin typeface="Arial MT"/>
                <a:cs typeface="Arial MT"/>
              </a:rPr>
              <a:t>(from</a:t>
            </a:r>
            <a:r>
              <a:rPr sz="2400" spc="-15" dirty="0">
                <a:solidFill>
                  <a:srgbClr val="4D4D4B"/>
                </a:solidFill>
                <a:latin typeface="Arial MT"/>
                <a:cs typeface="Arial MT"/>
              </a:rPr>
              <a:t> </a:t>
            </a:r>
            <a:r>
              <a:rPr sz="2400" spc="-5" dirty="0">
                <a:solidFill>
                  <a:srgbClr val="4D4D4B"/>
                </a:solidFill>
                <a:latin typeface="Arial MT"/>
                <a:cs typeface="Arial MT"/>
              </a:rPr>
              <a:t>where</a:t>
            </a:r>
            <a:r>
              <a:rPr sz="2400" spc="15" dirty="0">
                <a:solidFill>
                  <a:srgbClr val="4D4D4B"/>
                </a:solidFill>
                <a:latin typeface="Arial MT"/>
                <a:cs typeface="Arial MT"/>
              </a:rPr>
              <a:t> </a:t>
            </a:r>
            <a:r>
              <a:rPr sz="2400" spc="-5" dirty="0">
                <a:solidFill>
                  <a:srgbClr val="4D4D4B"/>
                </a:solidFill>
                <a:latin typeface="Arial MT"/>
                <a:cs typeface="Arial MT"/>
              </a:rPr>
              <a:t>request</a:t>
            </a:r>
            <a:r>
              <a:rPr sz="2400" spc="5" dirty="0">
                <a:solidFill>
                  <a:srgbClr val="4D4D4B"/>
                </a:solidFill>
                <a:latin typeface="Arial MT"/>
                <a:cs typeface="Arial MT"/>
              </a:rPr>
              <a:t> </a:t>
            </a:r>
            <a:r>
              <a:rPr sz="2400" dirty="0">
                <a:solidFill>
                  <a:srgbClr val="4D4D4B"/>
                </a:solidFill>
                <a:latin typeface="Arial MT"/>
                <a:cs typeface="Arial MT"/>
              </a:rPr>
              <a:t>is</a:t>
            </a:r>
            <a:r>
              <a:rPr sz="2400" spc="10" dirty="0">
                <a:solidFill>
                  <a:srgbClr val="4D4D4B"/>
                </a:solidFill>
                <a:latin typeface="Arial MT"/>
                <a:cs typeface="Arial MT"/>
              </a:rPr>
              <a:t> </a:t>
            </a:r>
            <a:r>
              <a:rPr sz="2400" spc="-5" dirty="0">
                <a:solidFill>
                  <a:srgbClr val="4D4D4B"/>
                </a:solidFill>
                <a:latin typeface="Arial MT"/>
                <a:cs typeface="Arial MT"/>
              </a:rPr>
              <a:t>originating)</a:t>
            </a:r>
            <a:endParaRPr sz="2400" dirty="0">
              <a:latin typeface="Arial MT"/>
              <a:cs typeface="Arial M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29997"/>
            <a:ext cx="397827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Network</a:t>
            </a:r>
            <a:r>
              <a:rPr u="none" spc="-10" dirty="0">
                <a:solidFill>
                  <a:srgbClr val="4D4D4B"/>
                </a:solidFill>
              </a:rPr>
              <a:t> </a:t>
            </a:r>
            <a:r>
              <a:rPr u="none" spc="-5" dirty="0">
                <a:solidFill>
                  <a:srgbClr val="4D4D4B"/>
                </a:solidFill>
              </a:rPr>
              <a:t>Load</a:t>
            </a:r>
            <a:r>
              <a:rPr u="none" dirty="0">
                <a:solidFill>
                  <a:srgbClr val="4D4D4B"/>
                </a:solidFill>
              </a:rPr>
              <a:t> </a:t>
            </a:r>
            <a:r>
              <a:rPr u="none" spc="-5" dirty="0">
                <a:solidFill>
                  <a:srgbClr val="4D4D4B"/>
                </a:solidFill>
              </a:rPr>
              <a:t>Balancer</a:t>
            </a:r>
          </a:p>
        </p:txBody>
      </p:sp>
      <p:grpSp>
        <p:nvGrpSpPr>
          <p:cNvPr id="3" name="object 3"/>
          <p:cNvGrpSpPr/>
          <p:nvPr/>
        </p:nvGrpSpPr>
        <p:grpSpPr>
          <a:xfrm>
            <a:off x="438848" y="1662620"/>
            <a:ext cx="7028815" cy="2621915"/>
            <a:chOff x="438848" y="1662620"/>
            <a:chExt cx="7028815" cy="2621915"/>
          </a:xfrm>
        </p:grpSpPr>
        <p:sp>
          <p:nvSpPr>
            <p:cNvPr id="4" name="object 4"/>
            <p:cNvSpPr/>
            <p:nvPr/>
          </p:nvSpPr>
          <p:spPr>
            <a:xfrm>
              <a:off x="2241041" y="1675637"/>
              <a:ext cx="3423285" cy="546100"/>
            </a:xfrm>
            <a:custGeom>
              <a:avLst/>
              <a:gdLst/>
              <a:ahLst/>
              <a:cxnLst/>
              <a:rect l="l" t="t" r="r" b="b"/>
              <a:pathLst>
                <a:path w="3423285" h="546100">
                  <a:moveTo>
                    <a:pt x="0" y="90932"/>
                  </a:moveTo>
                  <a:lnTo>
                    <a:pt x="7153" y="55560"/>
                  </a:lnTo>
                  <a:lnTo>
                    <a:pt x="26654" y="26654"/>
                  </a:lnTo>
                  <a:lnTo>
                    <a:pt x="55560" y="7153"/>
                  </a:lnTo>
                  <a:lnTo>
                    <a:pt x="90931" y="0"/>
                  </a:lnTo>
                  <a:lnTo>
                    <a:pt x="3331972" y="0"/>
                  </a:lnTo>
                  <a:lnTo>
                    <a:pt x="3367343" y="7153"/>
                  </a:lnTo>
                  <a:lnTo>
                    <a:pt x="3396249" y="26654"/>
                  </a:lnTo>
                  <a:lnTo>
                    <a:pt x="3415750" y="55560"/>
                  </a:lnTo>
                  <a:lnTo>
                    <a:pt x="3422904" y="90932"/>
                  </a:lnTo>
                  <a:lnTo>
                    <a:pt x="3422904" y="454660"/>
                  </a:lnTo>
                  <a:lnTo>
                    <a:pt x="3415750" y="490031"/>
                  </a:lnTo>
                  <a:lnTo>
                    <a:pt x="3396249" y="518937"/>
                  </a:lnTo>
                  <a:lnTo>
                    <a:pt x="3367343" y="538438"/>
                  </a:lnTo>
                  <a:lnTo>
                    <a:pt x="3331972" y="545592"/>
                  </a:lnTo>
                  <a:lnTo>
                    <a:pt x="90931" y="545592"/>
                  </a:lnTo>
                  <a:lnTo>
                    <a:pt x="55560" y="538438"/>
                  </a:lnTo>
                  <a:lnTo>
                    <a:pt x="26654" y="518937"/>
                  </a:lnTo>
                  <a:lnTo>
                    <a:pt x="7153" y="490031"/>
                  </a:lnTo>
                  <a:lnTo>
                    <a:pt x="0" y="454660"/>
                  </a:lnTo>
                  <a:lnTo>
                    <a:pt x="0" y="90932"/>
                  </a:lnTo>
                  <a:close/>
                </a:path>
              </a:pathLst>
            </a:custGeom>
            <a:ln w="25908">
              <a:solidFill>
                <a:srgbClr val="464646"/>
              </a:solidFill>
            </a:ln>
          </p:spPr>
          <p:txBody>
            <a:bodyPr wrap="square" lIns="0" tIns="0" rIns="0" bIns="0" rtlCol="0"/>
            <a:lstStyle/>
            <a:p>
              <a:endParaRPr/>
            </a:p>
          </p:txBody>
        </p:sp>
        <p:pic>
          <p:nvPicPr>
            <p:cNvPr id="5" name="object 5"/>
            <p:cNvPicPr/>
            <p:nvPr/>
          </p:nvPicPr>
          <p:blipFill>
            <a:blip r:embed="rId3" cstate="print"/>
            <a:stretch>
              <a:fillRect/>
            </a:stretch>
          </p:blipFill>
          <p:spPr>
            <a:xfrm>
              <a:off x="3831336" y="2119883"/>
              <a:ext cx="237832" cy="1092708"/>
            </a:xfrm>
            <a:prstGeom prst="rect">
              <a:avLst/>
            </a:prstGeom>
          </p:spPr>
        </p:pic>
        <p:sp>
          <p:nvSpPr>
            <p:cNvPr id="6" name="object 6"/>
            <p:cNvSpPr/>
            <p:nvPr/>
          </p:nvSpPr>
          <p:spPr>
            <a:xfrm>
              <a:off x="3913632" y="2221229"/>
              <a:ext cx="78105" cy="855980"/>
            </a:xfrm>
            <a:custGeom>
              <a:avLst/>
              <a:gdLst/>
              <a:ahLst/>
              <a:cxnLst/>
              <a:rect l="l" t="t" r="r" b="b"/>
              <a:pathLst>
                <a:path w="78104" h="855980">
                  <a:moveTo>
                    <a:pt x="25907" y="777747"/>
                  </a:moveTo>
                  <a:lnTo>
                    <a:pt x="0" y="777747"/>
                  </a:lnTo>
                  <a:lnTo>
                    <a:pt x="38862" y="855471"/>
                  </a:lnTo>
                  <a:lnTo>
                    <a:pt x="71246" y="790701"/>
                  </a:lnTo>
                  <a:lnTo>
                    <a:pt x="25907" y="790701"/>
                  </a:lnTo>
                  <a:lnTo>
                    <a:pt x="25907" y="777747"/>
                  </a:lnTo>
                  <a:close/>
                </a:path>
                <a:path w="78104" h="855980">
                  <a:moveTo>
                    <a:pt x="51815" y="64769"/>
                  </a:moveTo>
                  <a:lnTo>
                    <a:pt x="25907" y="64769"/>
                  </a:lnTo>
                  <a:lnTo>
                    <a:pt x="25907" y="790701"/>
                  </a:lnTo>
                  <a:lnTo>
                    <a:pt x="51815" y="790701"/>
                  </a:lnTo>
                  <a:lnTo>
                    <a:pt x="51815" y="64769"/>
                  </a:lnTo>
                  <a:close/>
                </a:path>
                <a:path w="78104" h="855980">
                  <a:moveTo>
                    <a:pt x="77723" y="777747"/>
                  </a:moveTo>
                  <a:lnTo>
                    <a:pt x="51815" y="777747"/>
                  </a:lnTo>
                  <a:lnTo>
                    <a:pt x="51815" y="790701"/>
                  </a:lnTo>
                  <a:lnTo>
                    <a:pt x="71246" y="790701"/>
                  </a:lnTo>
                  <a:lnTo>
                    <a:pt x="77723" y="777747"/>
                  </a:lnTo>
                  <a:close/>
                </a:path>
                <a:path w="78104" h="855980">
                  <a:moveTo>
                    <a:pt x="38862" y="0"/>
                  </a:moveTo>
                  <a:lnTo>
                    <a:pt x="0" y="77724"/>
                  </a:lnTo>
                  <a:lnTo>
                    <a:pt x="25907" y="77724"/>
                  </a:lnTo>
                  <a:lnTo>
                    <a:pt x="25907" y="64769"/>
                  </a:lnTo>
                  <a:lnTo>
                    <a:pt x="71246" y="64769"/>
                  </a:lnTo>
                  <a:lnTo>
                    <a:pt x="38862" y="0"/>
                  </a:lnTo>
                  <a:close/>
                </a:path>
                <a:path w="78104" h="855980">
                  <a:moveTo>
                    <a:pt x="71246" y="64769"/>
                  </a:moveTo>
                  <a:lnTo>
                    <a:pt x="51815" y="64769"/>
                  </a:lnTo>
                  <a:lnTo>
                    <a:pt x="51815" y="77724"/>
                  </a:lnTo>
                  <a:lnTo>
                    <a:pt x="77723" y="77724"/>
                  </a:lnTo>
                  <a:lnTo>
                    <a:pt x="71246" y="64769"/>
                  </a:lnTo>
                  <a:close/>
                </a:path>
              </a:pathLst>
            </a:custGeom>
            <a:solidFill>
              <a:srgbClr val="FBB64B"/>
            </a:solidFill>
          </p:spPr>
          <p:txBody>
            <a:bodyPr wrap="square" lIns="0" tIns="0" rIns="0" bIns="0" rtlCol="0"/>
            <a:lstStyle/>
            <a:p>
              <a:endParaRPr/>
            </a:p>
          </p:txBody>
        </p:sp>
        <p:sp>
          <p:nvSpPr>
            <p:cNvPr id="7" name="object 7"/>
            <p:cNvSpPr/>
            <p:nvPr/>
          </p:nvSpPr>
          <p:spPr>
            <a:xfrm>
              <a:off x="451866" y="3076193"/>
              <a:ext cx="7002780" cy="1195070"/>
            </a:xfrm>
            <a:custGeom>
              <a:avLst/>
              <a:gdLst/>
              <a:ahLst/>
              <a:cxnLst/>
              <a:rect l="l" t="t" r="r" b="b"/>
              <a:pathLst>
                <a:path w="7002780" h="1195070">
                  <a:moveTo>
                    <a:pt x="6803643" y="0"/>
                  </a:moveTo>
                  <a:lnTo>
                    <a:pt x="199136" y="0"/>
                  </a:lnTo>
                  <a:lnTo>
                    <a:pt x="153475" y="5259"/>
                  </a:lnTo>
                  <a:lnTo>
                    <a:pt x="111560" y="20240"/>
                  </a:lnTo>
                  <a:lnTo>
                    <a:pt x="74585" y="43747"/>
                  </a:lnTo>
                  <a:lnTo>
                    <a:pt x="43747" y="74585"/>
                  </a:lnTo>
                  <a:lnTo>
                    <a:pt x="20240" y="111560"/>
                  </a:lnTo>
                  <a:lnTo>
                    <a:pt x="5259" y="153475"/>
                  </a:lnTo>
                  <a:lnTo>
                    <a:pt x="0" y="199136"/>
                  </a:lnTo>
                  <a:lnTo>
                    <a:pt x="0" y="995680"/>
                  </a:lnTo>
                  <a:lnTo>
                    <a:pt x="5259" y="1041340"/>
                  </a:lnTo>
                  <a:lnTo>
                    <a:pt x="20240" y="1083255"/>
                  </a:lnTo>
                  <a:lnTo>
                    <a:pt x="43747" y="1120230"/>
                  </a:lnTo>
                  <a:lnTo>
                    <a:pt x="74585" y="1151068"/>
                  </a:lnTo>
                  <a:lnTo>
                    <a:pt x="111560" y="1174575"/>
                  </a:lnTo>
                  <a:lnTo>
                    <a:pt x="153475" y="1189556"/>
                  </a:lnTo>
                  <a:lnTo>
                    <a:pt x="199136" y="1194816"/>
                  </a:lnTo>
                  <a:lnTo>
                    <a:pt x="6803643" y="1194816"/>
                  </a:lnTo>
                  <a:lnTo>
                    <a:pt x="6849304" y="1189556"/>
                  </a:lnTo>
                  <a:lnTo>
                    <a:pt x="6891219" y="1174575"/>
                  </a:lnTo>
                  <a:lnTo>
                    <a:pt x="6928194" y="1151068"/>
                  </a:lnTo>
                  <a:lnTo>
                    <a:pt x="6959032" y="1120230"/>
                  </a:lnTo>
                  <a:lnTo>
                    <a:pt x="6982539" y="1083255"/>
                  </a:lnTo>
                  <a:lnTo>
                    <a:pt x="6997520" y="1041340"/>
                  </a:lnTo>
                  <a:lnTo>
                    <a:pt x="7002780" y="995680"/>
                  </a:lnTo>
                  <a:lnTo>
                    <a:pt x="7002780" y="199136"/>
                  </a:lnTo>
                  <a:lnTo>
                    <a:pt x="6997520" y="153475"/>
                  </a:lnTo>
                  <a:lnTo>
                    <a:pt x="6982539" y="111560"/>
                  </a:lnTo>
                  <a:lnTo>
                    <a:pt x="6959032" y="74585"/>
                  </a:lnTo>
                  <a:lnTo>
                    <a:pt x="6928194" y="43747"/>
                  </a:lnTo>
                  <a:lnTo>
                    <a:pt x="6891219" y="20240"/>
                  </a:lnTo>
                  <a:lnTo>
                    <a:pt x="6849304" y="5259"/>
                  </a:lnTo>
                  <a:lnTo>
                    <a:pt x="6803643" y="0"/>
                  </a:lnTo>
                  <a:close/>
                </a:path>
              </a:pathLst>
            </a:custGeom>
            <a:solidFill>
              <a:srgbClr val="FFFFFF"/>
            </a:solidFill>
          </p:spPr>
          <p:txBody>
            <a:bodyPr wrap="square" lIns="0" tIns="0" rIns="0" bIns="0" rtlCol="0"/>
            <a:lstStyle/>
            <a:p>
              <a:endParaRPr/>
            </a:p>
          </p:txBody>
        </p:sp>
        <p:sp>
          <p:nvSpPr>
            <p:cNvPr id="8" name="object 8"/>
            <p:cNvSpPr/>
            <p:nvPr/>
          </p:nvSpPr>
          <p:spPr>
            <a:xfrm>
              <a:off x="451866" y="3076193"/>
              <a:ext cx="7002780" cy="1195070"/>
            </a:xfrm>
            <a:custGeom>
              <a:avLst/>
              <a:gdLst/>
              <a:ahLst/>
              <a:cxnLst/>
              <a:rect l="l" t="t" r="r" b="b"/>
              <a:pathLst>
                <a:path w="7002780" h="1195070">
                  <a:moveTo>
                    <a:pt x="0" y="199136"/>
                  </a:moveTo>
                  <a:lnTo>
                    <a:pt x="5259" y="153475"/>
                  </a:lnTo>
                  <a:lnTo>
                    <a:pt x="20240" y="111560"/>
                  </a:lnTo>
                  <a:lnTo>
                    <a:pt x="43747" y="74585"/>
                  </a:lnTo>
                  <a:lnTo>
                    <a:pt x="74585" y="43747"/>
                  </a:lnTo>
                  <a:lnTo>
                    <a:pt x="111560" y="20240"/>
                  </a:lnTo>
                  <a:lnTo>
                    <a:pt x="153475" y="5259"/>
                  </a:lnTo>
                  <a:lnTo>
                    <a:pt x="199136" y="0"/>
                  </a:lnTo>
                  <a:lnTo>
                    <a:pt x="6803643" y="0"/>
                  </a:lnTo>
                  <a:lnTo>
                    <a:pt x="6849304" y="5259"/>
                  </a:lnTo>
                  <a:lnTo>
                    <a:pt x="6891219" y="20240"/>
                  </a:lnTo>
                  <a:lnTo>
                    <a:pt x="6928194" y="43747"/>
                  </a:lnTo>
                  <a:lnTo>
                    <a:pt x="6959032" y="74585"/>
                  </a:lnTo>
                  <a:lnTo>
                    <a:pt x="6982539" y="111560"/>
                  </a:lnTo>
                  <a:lnTo>
                    <a:pt x="6997520" y="153475"/>
                  </a:lnTo>
                  <a:lnTo>
                    <a:pt x="7002780" y="199136"/>
                  </a:lnTo>
                  <a:lnTo>
                    <a:pt x="7002780" y="995680"/>
                  </a:lnTo>
                  <a:lnTo>
                    <a:pt x="6997520" y="1041340"/>
                  </a:lnTo>
                  <a:lnTo>
                    <a:pt x="6982539" y="1083255"/>
                  </a:lnTo>
                  <a:lnTo>
                    <a:pt x="6959032" y="1120230"/>
                  </a:lnTo>
                  <a:lnTo>
                    <a:pt x="6928194" y="1151068"/>
                  </a:lnTo>
                  <a:lnTo>
                    <a:pt x="6891219" y="1174575"/>
                  </a:lnTo>
                  <a:lnTo>
                    <a:pt x="6849304" y="1189556"/>
                  </a:lnTo>
                  <a:lnTo>
                    <a:pt x="6803643" y="1194816"/>
                  </a:lnTo>
                  <a:lnTo>
                    <a:pt x="199136" y="1194816"/>
                  </a:lnTo>
                  <a:lnTo>
                    <a:pt x="153475" y="1189556"/>
                  </a:lnTo>
                  <a:lnTo>
                    <a:pt x="111560" y="1174575"/>
                  </a:lnTo>
                  <a:lnTo>
                    <a:pt x="74585" y="1151068"/>
                  </a:lnTo>
                  <a:lnTo>
                    <a:pt x="43747" y="1120230"/>
                  </a:lnTo>
                  <a:lnTo>
                    <a:pt x="20240" y="1083255"/>
                  </a:lnTo>
                  <a:lnTo>
                    <a:pt x="5259" y="1041340"/>
                  </a:lnTo>
                  <a:lnTo>
                    <a:pt x="0" y="995680"/>
                  </a:lnTo>
                  <a:lnTo>
                    <a:pt x="0" y="199136"/>
                  </a:lnTo>
                  <a:close/>
                </a:path>
              </a:pathLst>
            </a:custGeom>
            <a:ln w="25908">
              <a:solidFill>
                <a:srgbClr val="464646"/>
              </a:solidFill>
            </a:ln>
          </p:spPr>
          <p:txBody>
            <a:bodyPr wrap="square" lIns="0" tIns="0" rIns="0" bIns="0" rtlCol="0"/>
            <a:lstStyle/>
            <a:p>
              <a:endParaRPr/>
            </a:p>
          </p:txBody>
        </p:sp>
        <p:sp>
          <p:nvSpPr>
            <p:cNvPr id="9" name="object 9"/>
            <p:cNvSpPr/>
            <p:nvPr/>
          </p:nvSpPr>
          <p:spPr>
            <a:xfrm>
              <a:off x="2401062" y="3397757"/>
              <a:ext cx="1472565" cy="448309"/>
            </a:xfrm>
            <a:custGeom>
              <a:avLst/>
              <a:gdLst/>
              <a:ahLst/>
              <a:cxnLst/>
              <a:rect l="l" t="t" r="r" b="b"/>
              <a:pathLst>
                <a:path w="1472564" h="448310">
                  <a:moveTo>
                    <a:pt x="1397508" y="0"/>
                  </a:moveTo>
                  <a:lnTo>
                    <a:pt x="74675" y="0"/>
                  </a:lnTo>
                  <a:lnTo>
                    <a:pt x="45594" y="5863"/>
                  </a:lnTo>
                  <a:lnTo>
                    <a:pt x="21859" y="21859"/>
                  </a:lnTo>
                  <a:lnTo>
                    <a:pt x="5863" y="45594"/>
                  </a:lnTo>
                  <a:lnTo>
                    <a:pt x="0" y="74676"/>
                  </a:lnTo>
                  <a:lnTo>
                    <a:pt x="0" y="373380"/>
                  </a:lnTo>
                  <a:lnTo>
                    <a:pt x="5863" y="402461"/>
                  </a:lnTo>
                  <a:lnTo>
                    <a:pt x="21859" y="426196"/>
                  </a:lnTo>
                  <a:lnTo>
                    <a:pt x="45594" y="442192"/>
                  </a:lnTo>
                  <a:lnTo>
                    <a:pt x="74675" y="448056"/>
                  </a:lnTo>
                  <a:lnTo>
                    <a:pt x="1397508" y="448056"/>
                  </a:lnTo>
                  <a:lnTo>
                    <a:pt x="1426589" y="442192"/>
                  </a:lnTo>
                  <a:lnTo>
                    <a:pt x="1450324" y="426196"/>
                  </a:lnTo>
                  <a:lnTo>
                    <a:pt x="1466320" y="402461"/>
                  </a:lnTo>
                  <a:lnTo>
                    <a:pt x="1472184" y="373380"/>
                  </a:lnTo>
                  <a:lnTo>
                    <a:pt x="1472184" y="74676"/>
                  </a:lnTo>
                  <a:lnTo>
                    <a:pt x="1466320" y="45594"/>
                  </a:lnTo>
                  <a:lnTo>
                    <a:pt x="1450324" y="21859"/>
                  </a:lnTo>
                  <a:lnTo>
                    <a:pt x="1426589" y="5863"/>
                  </a:lnTo>
                  <a:lnTo>
                    <a:pt x="1397508" y="0"/>
                  </a:lnTo>
                  <a:close/>
                </a:path>
              </a:pathLst>
            </a:custGeom>
            <a:solidFill>
              <a:srgbClr val="FFFFFF"/>
            </a:solidFill>
          </p:spPr>
          <p:txBody>
            <a:bodyPr wrap="square" lIns="0" tIns="0" rIns="0" bIns="0" rtlCol="0"/>
            <a:lstStyle/>
            <a:p>
              <a:endParaRPr/>
            </a:p>
          </p:txBody>
        </p:sp>
        <p:sp>
          <p:nvSpPr>
            <p:cNvPr id="10" name="object 10"/>
            <p:cNvSpPr/>
            <p:nvPr/>
          </p:nvSpPr>
          <p:spPr>
            <a:xfrm>
              <a:off x="2401062" y="3397757"/>
              <a:ext cx="1472565" cy="448309"/>
            </a:xfrm>
            <a:custGeom>
              <a:avLst/>
              <a:gdLst/>
              <a:ahLst/>
              <a:cxnLst/>
              <a:rect l="l" t="t" r="r" b="b"/>
              <a:pathLst>
                <a:path w="1472564" h="448310">
                  <a:moveTo>
                    <a:pt x="0" y="74676"/>
                  </a:moveTo>
                  <a:lnTo>
                    <a:pt x="5863" y="45594"/>
                  </a:lnTo>
                  <a:lnTo>
                    <a:pt x="21859" y="21859"/>
                  </a:lnTo>
                  <a:lnTo>
                    <a:pt x="45594" y="5863"/>
                  </a:lnTo>
                  <a:lnTo>
                    <a:pt x="74675" y="0"/>
                  </a:lnTo>
                  <a:lnTo>
                    <a:pt x="1397508" y="0"/>
                  </a:lnTo>
                  <a:lnTo>
                    <a:pt x="1426589" y="5863"/>
                  </a:lnTo>
                  <a:lnTo>
                    <a:pt x="1450324" y="21859"/>
                  </a:lnTo>
                  <a:lnTo>
                    <a:pt x="1466320" y="45594"/>
                  </a:lnTo>
                  <a:lnTo>
                    <a:pt x="1472184" y="74676"/>
                  </a:lnTo>
                  <a:lnTo>
                    <a:pt x="1472184" y="373380"/>
                  </a:lnTo>
                  <a:lnTo>
                    <a:pt x="1466320" y="402461"/>
                  </a:lnTo>
                  <a:lnTo>
                    <a:pt x="1450324" y="426196"/>
                  </a:lnTo>
                  <a:lnTo>
                    <a:pt x="1426589" y="442192"/>
                  </a:lnTo>
                  <a:lnTo>
                    <a:pt x="1397508" y="448056"/>
                  </a:lnTo>
                  <a:lnTo>
                    <a:pt x="74675" y="448056"/>
                  </a:lnTo>
                  <a:lnTo>
                    <a:pt x="45594" y="442192"/>
                  </a:lnTo>
                  <a:lnTo>
                    <a:pt x="21859" y="426196"/>
                  </a:lnTo>
                  <a:lnTo>
                    <a:pt x="5863" y="402461"/>
                  </a:lnTo>
                  <a:lnTo>
                    <a:pt x="0" y="373380"/>
                  </a:lnTo>
                  <a:lnTo>
                    <a:pt x="0" y="74676"/>
                  </a:lnTo>
                  <a:close/>
                </a:path>
              </a:pathLst>
            </a:custGeom>
            <a:ln w="25908">
              <a:solidFill>
                <a:srgbClr val="464646"/>
              </a:solidFill>
            </a:ln>
          </p:spPr>
          <p:txBody>
            <a:bodyPr wrap="square" lIns="0" tIns="0" rIns="0" bIns="0" rtlCol="0"/>
            <a:lstStyle/>
            <a:p>
              <a:endParaRPr/>
            </a:p>
          </p:txBody>
        </p:sp>
      </p:grpSp>
      <p:sp>
        <p:nvSpPr>
          <p:cNvPr id="11" name="object 11"/>
          <p:cNvSpPr txBox="1"/>
          <p:nvPr/>
        </p:nvSpPr>
        <p:spPr>
          <a:xfrm>
            <a:off x="2573273" y="3466591"/>
            <a:ext cx="112776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o</a:t>
            </a:r>
            <a:r>
              <a:rPr sz="1800" spc="-5" dirty="0">
                <a:solidFill>
                  <a:srgbClr val="464646"/>
                </a:solidFill>
                <a:latin typeface="Arial MT"/>
                <a:cs typeface="Arial MT"/>
              </a:rPr>
              <a:t>nt</a:t>
            </a:r>
            <a:r>
              <a:rPr sz="1800" spc="-15" dirty="0">
                <a:solidFill>
                  <a:srgbClr val="464646"/>
                </a:solidFill>
                <a:latin typeface="Arial MT"/>
                <a:cs typeface="Arial MT"/>
              </a:rPr>
              <a:t>a</a:t>
            </a:r>
            <a:r>
              <a:rPr sz="1800" spc="-5" dirty="0">
                <a:solidFill>
                  <a:srgbClr val="464646"/>
                </a:solidFill>
                <a:latin typeface="Arial MT"/>
                <a:cs typeface="Arial MT"/>
              </a:rPr>
              <a:t>i</a:t>
            </a:r>
            <a:r>
              <a:rPr sz="1800" spc="-15" dirty="0">
                <a:solidFill>
                  <a:srgbClr val="464646"/>
                </a:solidFill>
                <a:latin typeface="Arial MT"/>
                <a:cs typeface="Arial MT"/>
              </a:rPr>
              <a:t>n</a:t>
            </a:r>
            <a:r>
              <a:rPr sz="1800" spc="-5" dirty="0">
                <a:solidFill>
                  <a:srgbClr val="464646"/>
                </a:solidFill>
                <a:latin typeface="Arial MT"/>
                <a:cs typeface="Arial MT"/>
              </a:rPr>
              <a:t>ers</a:t>
            </a:r>
            <a:endParaRPr sz="1800">
              <a:latin typeface="Arial MT"/>
              <a:cs typeface="Arial MT"/>
            </a:endParaRPr>
          </a:p>
        </p:txBody>
      </p:sp>
      <p:grpSp>
        <p:nvGrpSpPr>
          <p:cNvPr id="12" name="object 12"/>
          <p:cNvGrpSpPr/>
          <p:nvPr/>
        </p:nvGrpSpPr>
        <p:grpSpPr>
          <a:xfrm>
            <a:off x="716216" y="3392360"/>
            <a:ext cx="1498600" cy="474345"/>
            <a:chOff x="716216" y="3392360"/>
            <a:chExt cx="1498600" cy="474345"/>
          </a:xfrm>
        </p:grpSpPr>
        <p:sp>
          <p:nvSpPr>
            <p:cNvPr id="13" name="object 13"/>
            <p:cNvSpPr/>
            <p:nvPr/>
          </p:nvSpPr>
          <p:spPr>
            <a:xfrm>
              <a:off x="729234" y="3405377"/>
              <a:ext cx="1472565" cy="448309"/>
            </a:xfrm>
            <a:custGeom>
              <a:avLst/>
              <a:gdLst/>
              <a:ahLst/>
              <a:cxnLst/>
              <a:rect l="l" t="t" r="r" b="b"/>
              <a:pathLst>
                <a:path w="1472564" h="448310">
                  <a:moveTo>
                    <a:pt x="1397508" y="0"/>
                  </a:moveTo>
                  <a:lnTo>
                    <a:pt x="74675" y="0"/>
                  </a:lnTo>
                  <a:lnTo>
                    <a:pt x="45611" y="5863"/>
                  </a:lnTo>
                  <a:lnTo>
                    <a:pt x="21874" y="21859"/>
                  </a:lnTo>
                  <a:lnTo>
                    <a:pt x="5869" y="45594"/>
                  </a:lnTo>
                  <a:lnTo>
                    <a:pt x="0" y="74676"/>
                  </a:lnTo>
                  <a:lnTo>
                    <a:pt x="0" y="373380"/>
                  </a:lnTo>
                  <a:lnTo>
                    <a:pt x="5869" y="402461"/>
                  </a:lnTo>
                  <a:lnTo>
                    <a:pt x="21874" y="426196"/>
                  </a:lnTo>
                  <a:lnTo>
                    <a:pt x="45611" y="442192"/>
                  </a:lnTo>
                  <a:lnTo>
                    <a:pt x="74675" y="448056"/>
                  </a:lnTo>
                  <a:lnTo>
                    <a:pt x="1397508" y="448056"/>
                  </a:lnTo>
                  <a:lnTo>
                    <a:pt x="1426589" y="442192"/>
                  </a:lnTo>
                  <a:lnTo>
                    <a:pt x="1450324" y="426196"/>
                  </a:lnTo>
                  <a:lnTo>
                    <a:pt x="1466320" y="402461"/>
                  </a:lnTo>
                  <a:lnTo>
                    <a:pt x="1472184" y="373380"/>
                  </a:lnTo>
                  <a:lnTo>
                    <a:pt x="1472184" y="74676"/>
                  </a:lnTo>
                  <a:lnTo>
                    <a:pt x="1466320" y="45594"/>
                  </a:lnTo>
                  <a:lnTo>
                    <a:pt x="1450324" y="21859"/>
                  </a:lnTo>
                  <a:lnTo>
                    <a:pt x="1426589" y="5863"/>
                  </a:lnTo>
                  <a:lnTo>
                    <a:pt x="1397508" y="0"/>
                  </a:lnTo>
                  <a:close/>
                </a:path>
              </a:pathLst>
            </a:custGeom>
            <a:solidFill>
              <a:srgbClr val="FFFFFF"/>
            </a:solidFill>
          </p:spPr>
          <p:txBody>
            <a:bodyPr wrap="square" lIns="0" tIns="0" rIns="0" bIns="0" rtlCol="0"/>
            <a:lstStyle/>
            <a:p>
              <a:endParaRPr/>
            </a:p>
          </p:txBody>
        </p:sp>
        <p:sp>
          <p:nvSpPr>
            <p:cNvPr id="14" name="object 14"/>
            <p:cNvSpPr/>
            <p:nvPr/>
          </p:nvSpPr>
          <p:spPr>
            <a:xfrm>
              <a:off x="729234" y="3405377"/>
              <a:ext cx="1472565" cy="448309"/>
            </a:xfrm>
            <a:custGeom>
              <a:avLst/>
              <a:gdLst/>
              <a:ahLst/>
              <a:cxnLst/>
              <a:rect l="l" t="t" r="r" b="b"/>
              <a:pathLst>
                <a:path w="1472564" h="448310">
                  <a:moveTo>
                    <a:pt x="0" y="74676"/>
                  </a:moveTo>
                  <a:lnTo>
                    <a:pt x="5869" y="45594"/>
                  </a:lnTo>
                  <a:lnTo>
                    <a:pt x="21874" y="21859"/>
                  </a:lnTo>
                  <a:lnTo>
                    <a:pt x="45611" y="5863"/>
                  </a:lnTo>
                  <a:lnTo>
                    <a:pt x="74675" y="0"/>
                  </a:lnTo>
                  <a:lnTo>
                    <a:pt x="1397508" y="0"/>
                  </a:lnTo>
                  <a:lnTo>
                    <a:pt x="1426589" y="5863"/>
                  </a:lnTo>
                  <a:lnTo>
                    <a:pt x="1450324" y="21859"/>
                  </a:lnTo>
                  <a:lnTo>
                    <a:pt x="1466320" y="45594"/>
                  </a:lnTo>
                  <a:lnTo>
                    <a:pt x="1472184" y="74676"/>
                  </a:lnTo>
                  <a:lnTo>
                    <a:pt x="1472184" y="373380"/>
                  </a:lnTo>
                  <a:lnTo>
                    <a:pt x="1466320" y="402461"/>
                  </a:lnTo>
                  <a:lnTo>
                    <a:pt x="1450324" y="426196"/>
                  </a:lnTo>
                  <a:lnTo>
                    <a:pt x="1426589" y="442192"/>
                  </a:lnTo>
                  <a:lnTo>
                    <a:pt x="1397508" y="448056"/>
                  </a:lnTo>
                  <a:lnTo>
                    <a:pt x="74675" y="448056"/>
                  </a:lnTo>
                  <a:lnTo>
                    <a:pt x="45611" y="442192"/>
                  </a:lnTo>
                  <a:lnTo>
                    <a:pt x="21874" y="426196"/>
                  </a:lnTo>
                  <a:lnTo>
                    <a:pt x="5869" y="402461"/>
                  </a:lnTo>
                  <a:lnTo>
                    <a:pt x="0" y="373380"/>
                  </a:lnTo>
                  <a:lnTo>
                    <a:pt x="0" y="74676"/>
                  </a:lnTo>
                  <a:close/>
                </a:path>
              </a:pathLst>
            </a:custGeom>
            <a:ln w="25908">
              <a:solidFill>
                <a:srgbClr val="464646"/>
              </a:solidFill>
            </a:ln>
          </p:spPr>
          <p:txBody>
            <a:bodyPr wrap="square" lIns="0" tIns="0" rIns="0" bIns="0" rtlCol="0"/>
            <a:lstStyle/>
            <a:p>
              <a:endParaRPr/>
            </a:p>
          </p:txBody>
        </p:sp>
      </p:grpSp>
      <p:sp>
        <p:nvSpPr>
          <p:cNvPr id="15" name="object 15"/>
          <p:cNvSpPr txBox="1"/>
          <p:nvPr/>
        </p:nvSpPr>
        <p:spPr>
          <a:xfrm>
            <a:off x="1230883" y="3473322"/>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grpSp>
        <p:nvGrpSpPr>
          <p:cNvPr id="16" name="object 16"/>
          <p:cNvGrpSpPr/>
          <p:nvPr/>
        </p:nvGrpSpPr>
        <p:grpSpPr>
          <a:xfrm>
            <a:off x="3831335" y="626363"/>
            <a:ext cx="1725295" cy="3237230"/>
            <a:chOff x="3831335" y="626363"/>
            <a:chExt cx="1725295" cy="3237230"/>
          </a:xfrm>
        </p:grpSpPr>
        <p:pic>
          <p:nvPicPr>
            <p:cNvPr id="17" name="object 17"/>
            <p:cNvPicPr/>
            <p:nvPr/>
          </p:nvPicPr>
          <p:blipFill>
            <a:blip r:embed="rId4" cstate="print"/>
            <a:stretch>
              <a:fillRect/>
            </a:stretch>
          </p:blipFill>
          <p:spPr>
            <a:xfrm>
              <a:off x="3831335" y="626363"/>
              <a:ext cx="246964" cy="1194815"/>
            </a:xfrm>
            <a:prstGeom prst="rect">
              <a:avLst/>
            </a:prstGeom>
          </p:spPr>
        </p:pic>
        <p:sp>
          <p:nvSpPr>
            <p:cNvPr id="18" name="object 18"/>
            <p:cNvSpPr/>
            <p:nvPr/>
          </p:nvSpPr>
          <p:spPr>
            <a:xfrm>
              <a:off x="3914393" y="727709"/>
              <a:ext cx="86360" cy="956944"/>
            </a:xfrm>
            <a:custGeom>
              <a:avLst/>
              <a:gdLst/>
              <a:ahLst/>
              <a:cxnLst/>
              <a:rect l="l" t="t" r="r" b="b"/>
              <a:pathLst>
                <a:path w="86360" h="956944">
                  <a:moveTo>
                    <a:pt x="0" y="878839"/>
                  </a:moveTo>
                  <a:lnTo>
                    <a:pt x="38100" y="956944"/>
                  </a:lnTo>
                  <a:lnTo>
                    <a:pt x="71217" y="892301"/>
                  </a:lnTo>
                  <a:lnTo>
                    <a:pt x="51688" y="892301"/>
                  </a:lnTo>
                  <a:lnTo>
                    <a:pt x="25780" y="892048"/>
                  </a:lnTo>
                  <a:lnTo>
                    <a:pt x="25914" y="879094"/>
                  </a:lnTo>
                  <a:lnTo>
                    <a:pt x="0" y="878839"/>
                  </a:lnTo>
                  <a:close/>
                </a:path>
                <a:path w="86360" h="956944">
                  <a:moveTo>
                    <a:pt x="25914" y="879094"/>
                  </a:moveTo>
                  <a:lnTo>
                    <a:pt x="25780" y="892048"/>
                  </a:lnTo>
                  <a:lnTo>
                    <a:pt x="51688" y="892301"/>
                  </a:lnTo>
                  <a:lnTo>
                    <a:pt x="51822" y="879348"/>
                  </a:lnTo>
                  <a:lnTo>
                    <a:pt x="25914" y="879094"/>
                  </a:lnTo>
                  <a:close/>
                </a:path>
                <a:path w="86360" h="956944">
                  <a:moveTo>
                    <a:pt x="51822" y="879348"/>
                  </a:moveTo>
                  <a:lnTo>
                    <a:pt x="51688" y="892301"/>
                  </a:lnTo>
                  <a:lnTo>
                    <a:pt x="71217" y="892301"/>
                  </a:lnTo>
                  <a:lnTo>
                    <a:pt x="77723" y="879601"/>
                  </a:lnTo>
                  <a:lnTo>
                    <a:pt x="51822" y="879348"/>
                  </a:lnTo>
                  <a:close/>
                </a:path>
                <a:path w="86360" h="956944">
                  <a:moveTo>
                    <a:pt x="34156" y="77597"/>
                  </a:moveTo>
                  <a:lnTo>
                    <a:pt x="25914" y="879094"/>
                  </a:lnTo>
                  <a:lnTo>
                    <a:pt x="51822" y="879348"/>
                  </a:lnTo>
                  <a:lnTo>
                    <a:pt x="60064" y="77851"/>
                  </a:lnTo>
                  <a:lnTo>
                    <a:pt x="34156" y="77597"/>
                  </a:lnTo>
                  <a:close/>
                </a:path>
                <a:path w="86360" h="956944">
                  <a:moveTo>
                    <a:pt x="79307" y="64642"/>
                  </a:moveTo>
                  <a:lnTo>
                    <a:pt x="34289" y="64642"/>
                  </a:lnTo>
                  <a:lnTo>
                    <a:pt x="60197" y="64897"/>
                  </a:lnTo>
                  <a:lnTo>
                    <a:pt x="60064" y="77851"/>
                  </a:lnTo>
                  <a:lnTo>
                    <a:pt x="85851" y="78104"/>
                  </a:lnTo>
                  <a:lnTo>
                    <a:pt x="79307" y="64642"/>
                  </a:lnTo>
                  <a:close/>
                </a:path>
                <a:path w="86360" h="956944">
                  <a:moveTo>
                    <a:pt x="34289" y="64642"/>
                  </a:moveTo>
                  <a:lnTo>
                    <a:pt x="34156" y="77597"/>
                  </a:lnTo>
                  <a:lnTo>
                    <a:pt x="60064" y="77851"/>
                  </a:lnTo>
                  <a:lnTo>
                    <a:pt x="60197" y="64897"/>
                  </a:lnTo>
                  <a:lnTo>
                    <a:pt x="34289" y="64642"/>
                  </a:lnTo>
                  <a:close/>
                </a:path>
                <a:path w="86360" h="956944">
                  <a:moveTo>
                    <a:pt x="47878" y="0"/>
                  </a:moveTo>
                  <a:lnTo>
                    <a:pt x="8254" y="77342"/>
                  </a:lnTo>
                  <a:lnTo>
                    <a:pt x="34156" y="77597"/>
                  </a:lnTo>
                  <a:lnTo>
                    <a:pt x="34289" y="64642"/>
                  </a:lnTo>
                  <a:lnTo>
                    <a:pt x="79307" y="64642"/>
                  </a:lnTo>
                  <a:lnTo>
                    <a:pt x="47878" y="0"/>
                  </a:lnTo>
                  <a:close/>
                </a:path>
              </a:pathLst>
            </a:custGeom>
            <a:solidFill>
              <a:srgbClr val="FBB64B"/>
            </a:solidFill>
          </p:spPr>
          <p:txBody>
            <a:bodyPr wrap="square" lIns="0" tIns="0" rIns="0" bIns="0" rtlCol="0"/>
            <a:lstStyle/>
            <a:p>
              <a:endParaRPr/>
            </a:p>
          </p:txBody>
        </p:sp>
        <p:sp>
          <p:nvSpPr>
            <p:cNvPr id="19" name="object 19"/>
            <p:cNvSpPr/>
            <p:nvPr/>
          </p:nvSpPr>
          <p:spPr>
            <a:xfrm>
              <a:off x="4071365" y="3400806"/>
              <a:ext cx="1472565" cy="449580"/>
            </a:xfrm>
            <a:custGeom>
              <a:avLst/>
              <a:gdLst/>
              <a:ahLst/>
              <a:cxnLst/>
              <a:rect l="l" t="t" r="r" b="b"/>
              <a:pathLst>
                <a:path w="1472564" h="449579">
                  <a:moveTo>
                    <a:pt x="1397254" y="0"/>
                  </a:moveTo>
                  <a:lnTo>
                    <a:pt x="74930" y="0"/>
                  </a:lnTo>
                  <a:lnTo>
                    <a:pt x="45755" y="5885"/>
                  </a:lnTo>
                  <a:lnTo>
                    <a:pt x="21939" y="21939"/>
                  </a:lnTo>
                  <a:lnTo>
                    <a:pt x="5885" y="45755"/>
                  </a:lnTo>
                  <a:lnTo>
                    <a:pt x="0" y="74930"/>
                  </a:lnTo>
                  <a:lnTo>
                    <a:pt x="0" y="374650"/>
                  </a:lnTo>
                  <a:lnTo>
                    <a:pt x="5885" y="403824"/>
                  </a:lnTo>
                  <a:lnTo>
                    <a:pt x="21939" y="427640"/>
                  </a:lnTo>
                  <a:lnTo>
                    <a:pt x="45755" y="443694"/>
                  </a:lnTo>
                  <a:lnTo>
                    <a:pt x="74930" y="449580"/>
                  </a:lnTo>
                  <a:lnTo>
                    <a:pt x="1397254" y="449580"/>
                  </a:lnTo>
                  <a:lnTo>
                    <a:pt x="1426428" y="443694"/>
                  </a:lnTo>
                  <a:lnTo>
                    <a:pt x="1450244" y="427640"/>
                  </a:lnTo>
                  <a:lnTo>
                    <a:pt x="1466298" y="403824"/>
                  </a:lnTo>
                  <a:lnTo>
                    <a:pt x="1472184" y="374650"/>
                  </a:lnTo>
                  <a:lnTo>
                    <a:pt x="1472184" y="74930"/>
                  </a:lnTo>
                  <a:lnTo>
                    <a:pt x="1466298" y="45755"/>
                  </a:lnTo>
                  <a:lnTo>
                    <a:pt x="1450244" y="21939"/>
                  </a:lnTo>
                  <a:lnTo>
                    <a:pt x="1426428" y="5885"/>
                  </a:lnTo>
                  <a:lnTo>
                    <a:pt x="1397254" y="0"/>
                  </a:lnTo>
                  <a:close/>
                </a:path>
              </a:pathLst>
            </a:custGeom>
            <a:solidFill>
              <a:srgbClr val="FFFFFF"/>
            </a:solidFill>
          </p:spPr>
          <p:txBody>
            <a:bodyPr wrap="square" lIns="0" tIns="0" rIns="0" bIns="0" rtlCol="0"/>
            <a:lstStyle/>
            <a:p>
              <a:endParaRPr/>
            </a:p>
          </p:txBody>
        </p:sp>
        <p:sp>
          <p:nvSpPr>
            <p:cNvPr id="20" name="object 20"/>
            <p:cNvSpPr/>
            <p:nvPr/>
          </p:nvSpPr>
          <p:spPr>
            <a:xfrm>
              <a:off x="4071365" y="3400806"/>
              <a:ext cx="1472565" cy="449580"/>
            </a:xfrm>
            <a:custGeom>
              <a:avLst/>
              <a:gdLst/>
              <a:ahLst/>
              <a:cxnLst/>
              <a:rect l="l" t="t" r="r" b="b"/>
              <a:pathLst>
                <a:path w="1472564" h="449579">
                  <a:moveTo>
                    <a:pt x="0" y="74930"/>
                  </a:moveTo>
                  <a:lnTo>
                    <a:pt x="5885" y="45755"/>
                  </a:lnTo>
                  <a:lnTo>
                    <a:pt x="21939" y="21939"/>
                  </a:lnTo>
                  <a:lnTo>
                    <a:pt x="45755" y="5885"/>
                  </a:lnTo>
                  <a:lnTo>
                    <a:pt x="74930" y="0"/>
                  </a:lnTo>
                  <a:lnTo>
                    <a:pt x="1397254" y="0"/>
                  </a:lnTo>
                  <a:lnTo>
                    <a:pt x="1426428" y="5885"/>
                  </a:lnTo>
                  <a:lnTo>
                    <a:pt x="1450244" y="21939"/>
                  </a:lnTo>
                  <a:lnTo>
                    <a:pt x="1466298" y="45755"/>
                  </a:lnTo>
                  <a:lnTo>
                    <a:pt x="1472184" y="74930"/>
                  </a:lnTo>
                  <a:lnTo>
                    <a:pt x="1472184" y="374650"/>
                  </a:lnTo>
                  <a:lnTo>
                    <a:pt x="1466298" y="403824"/>
                  </a:lnTo>
                  <a:lnTo>
                    <a:pt x="1450244" y="427640"/>
                  </a:lnTo>
                  <a:lnTo>
                    <a:pt x="1426428" y="443694"/>
                  </a:lnTo>
                  <a:lnTo>
                    <a:pt x="1397254" y="449580"/>
                  </a:lnTo>
                  <a:lnTo>
                    <a:pt x="74930" y="449580"/>
                  </a:lnTo>
                  <a:lnTo>
                    <a:pt x="45755" y="443694"/>
                  </a:lnTo>
                  <a:lnTo>
                    <a:pt x="21939" y="427640"/>
                  </a:lnTo>
                  <a:lnTo>
                    <a:pt x="5885" y="403824"/>
                  </a:lnTo>
                  <a:lnTo>
                    <a:pt x="0" y="374650"/>
                  </a:lnTo>
                  <a:lnTo>
                    <a:pt x="0" y="74930"/>
                  </a:lnTo>
                  <a:close/>
                </a:path>
              </a:pathLst>
            </a:custGeom>
            <a:ln w="25908">
              <a:solidFill>
                <a:srgbClr val="464646"/>
              </a:solidFill>
            </a:ln>
          </p:spPr>
          <p:txBody>
            <a:bodyPr wrap="square" lIns="0" tIns="0" rIns="0" bIns="0" rtlCol="0"/>
            <a:lstStyle/>
            <a:p>
              <a:endParaRPr/>
            </a:p>
          </p:txBody>
        </p:sp>
      </p:grpSp>
      <p:sp>
        <p:nvSpPr>
          <p:cNvPr id="21" name="object 21"/>
          <p:cNvSpPr txBox="1"/>
          <p:nvPr/>
        </p:nvSpPr>
        <p:spPr>
          <a:xfrm>
            <a:off x="4383404" y="3470275"/>
            <a:ext cx="84963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L</a:t>
            </a:r>
            <a:r>
              <a:rPr sz="1800" spc="-15" dirty="0">
                <a:solidFill>
                  <a:srgbClr val="464646"/>
                </a:solidFill>
                <a:latin typeface="Arial MT"/>
                <a:cs typeface="Arial MT"/>
              </a:rPr>
              <a:t>a</a:t>
            </a:r>
            <a:r>
              <a:rPr sz="1800" spc="-5" dirty="0">
                <a:solidFill>
                  <a:srgbClr val="464646"/>
                </a:solidFill>
                <a:latin typeface="Arial MT"/>
                <a:cs typeface="Arial MT"/>
              </a:rPr>
              <a:t>mb</a:t>
            </a:r>
            <a:r>
              <a:rPr sz="1800" spc="-15" dirty="0">
                <a:solidFill>
                  <a:srgbClr val="464646"/>
                </a:solidFill>
                <a:latin typeface="Arial MT"/>
                <a:cs typeface="Arial MT"/>
              </a:rPr>
              <a:t>d</a:t>
            </a:r>
            <a:r>
              <a:rPr sz="1800" spc="-5" dirty="0">
                <a:solidFill>
                  <a:srgbClr val="464646"/>
                </a:solidFill>
                <a:latin typeface="Arial MT"/>
                <a:cs typeface="Arial MT"/>
              </a:rPr>
              <a:t>a</a:t>
            </a:r>
            <a:endParaRPr sz="1800">
              <a:latin typeface="Arial MT"/>
              <a:cs typeface="Arial MT"/>
            </a:endParaRPr>
          </a:p>
        </p:txBody>
      </p:sp>
      <p:grpSp>
        <p:nvGrpSpPr>
          <p:cNvPr id="22" name="object 22"/>
          <p:cNvGrpSpPr/>
          <p:nvPr/>
        </p:nvGrpSpPr>
        <p:grpSpPr>
          <a:xfrm>
            <a:off x="5730240" y="3389376"/>
            <a:ext cx="1498600" cy="475615"/>
            <a:chOff x="5730240" y="3389376"/>
            <a:chExt cx="1498600" cy="475615"/>
          </a:xfrm>
        </p:grpSpPr>
        <p:sp>
          <p:nvSpPr>
            <p:cNvPr id="23" name="object 23"/>
            <p:cNvSpPr/>
            <p:nvPr/>
          </p:nvSpPr>
          <p:spPr>
            <a:xfrm>
              <a:off x="5743194" y="3402330"/>
              <a:ext cx="1472565" cy="449580"/>
            </a:xfrm>
            <a:custGeom>
              <a:avLst/>
              <a:gdLst/>
              <a:ahLst/>
              <a:cxnLst/>
              <a:rect l="l" t="t" r="r" b="b"/>
              <a:pathLst>
                <a:path w="1472565" h="449579">
                  <a:moveTo>
                    <a:pt x="1397253" y="0"/>
                  </a:moveTo>
                  <a:lnTo>
                    <a:pt x="74929" y="0"/>
                  </a:lnTo>
                  <a:lnTo>
                    <a:pt x="45755" y="5885"/>
                  </a:lnTo>
                  <a:lnTo>
                    <a:pt x="21939" y="21939"/>
                  </a:lnTo>
                  <a:lnTo>
                    <a:pt x="5885" y="45755"/>
                  </a:lnTo>
                  <a:lnTo>
                    <a:pt x="0" y="74930"/>
                  </a:lnTo>
                  <a:lnTo>
                    <a:pt x="0" y="374650"/>
                  </a:lnTo>
                  <a:lnTo>
                    <a:pt x="5885" y="403824"/>
                  </a:lnTo>
                  <a:lnTo>
                    <a:pt x="21939" y="427640"/>
                  </a:lnTo>
                  <a:lnTo>
                    <a:pt x="45755" y="443694"/>
                  </a:lnTo>
                  <a:lnTo>
                    <a:pt x="74929" y="449580"/>
                  </a:lnTo>
                  <a:lnTo>
                    <a:pt x="1397253" y="449580"/>
                  </a:lnTo>
                  <a:lnTo>
                    <a:pt x="1426428" y="443694"/>
                  </a:lnTo>
                  <a:lnTo>
                    <a:pt x="1450244" y="427640"/>
                  </a:lnTo>
                  <a:lnTo>
                    <a:pt x="1466298" y="403824"/>
                  </a:lnTo>
                  <a:lnTo>
                    <a:pt x="1472183" y="374650"/>
                  </a:lnTo>
                  <a:lnTo>
                    <a:pt x="1472183" y="74930"/>
                  </a:lnTo>
                  <a:lnTo>
                    <a:pt x="1466298" y="45755"/>
                  </a:lnTo>
                  <a:lnTo>
                    <a:pt x="1450244" y="21939"/>
                  </a:lnTo>
                  <a:lnTo>
                    <a:pt x="1426428" y="5885"/>
                  </a:lnTo>
                  <a:lnTo>
                    <a:pt x="1397253" y="0"/>
                  </a:lnTo>
                  <a:close/>
                </a:path>
              </a:pathLst>
            </a:custGeom>
            <a:solidFill>
              <a:srgbClr val="FFFFFF"/>
            </a:solidFill>
          </p:spPr>
          <p:txBody>
            <a:bodyPr wrap="square" lIns="0" tIns="0" rIns="0" bIns="0" rtlCol="0"/>
            <a:lstStyle/>
            <a:p>
              <a:endParaRPr/>
            </a:p>
          </p:txBody>
        </p:sp>
        <p:sp>
          <p:nvSpPr>
            <p:cNvPr id="24" name="object 24"/>
            <p:cNvSpPr/>
            <p:nvPr/>
          </p:nvSpPr>
          <p:spPr>
            <a:xfrm>
              <a:off x="5743194" y="3402330"/>
              <a:ext cx="1472565" cy="449580"/>
            </a:xfrm>
            <a:custGeom>
              <a:avLst/>
              <a:gdLst/>
              <a:ahLst/>
              <a:cxnLst/>
              <a:rect l="l" t="t" r="r" b="b"/>
              <a:pathLst>
                <a:path w="1472565" h="449579">
                  <a:moveTo>
                    <a:pt x="0" y="74930"/>
                  </a:moveTo>
                  <a:lnTo>
                    <a:pt x="5885" y="45755"/>
                  </a:lnTo>
                  <a:lnTo>
                    <a:pt x="21939" y="21939"/>
                  </a:lnTo>
                  <a:lnTo>
                    <a:pt x="45755" y="5885"/>
                  </a:lnTo>
                  <a:lnTo>
                    <a:pt x="74929" y="0"/>
                  </a:lnTo>
                  <a:lnTo>
                    <a:pt x="1397253" y="0"/>
                  </a:lnTo>
                  <a:lnTo>
                    <a:pt x="1426428" y="5885"/>
                  </a:lnTo>
                  <a:lnTo>
                    <a:pt x="1450244" y="21939"/>
                  </a:lnTo>
                  <a:lnTo>
                    <a:pt x="1466298" y="45755"/>
                  </a:lnTo>
                  <a:lnTo>
                    <a:pt x="1472183" y="74930"/>
                  </a:lnTo>
                  <a:lnTo>
                    <a:pt x="1472183" y="374650"/>
                  </a:lnTo>
                  <a:lnTo>
                    <a:pt x="1466298" y="403824"/>
                  </a:lnTo>
                  <a:lnTo>
                    <a:pt x="1450244" y="427640"/>
                  </a:lnTo>
                  <a:lnTo>
                    <a:pt x="1426428" y="443694"/>
                  </a:lnTo>
                  <a:lnTo>
                    <a:pt x="1397253" y="449580"/>
                  </a:lnTo>
                  <a:lnTo>
                    <a:pt x="74929" y="449580"/>
                  </a:lnTo>
                  <a:lnTo>
                    <a:pt x="45755" y="443694"/>
                  </a:lnTo>
                  <a:lnTo>
                    <a:pt x="21939" y="427640"/>
                  </a:lnTo>
                  <a:lnTo>
                    <a:pt x="5885" y="403824"/>
                  </a:lnTo>
                  <a:lnTo>
                    <a:pt x="0" y="374650"/>
                  </a:lnTo>
                  <a:lnTo>
                    <a:pt x="0" y="74930"/>
                  </a:lnTo>
                  <a:close/>
                </a:path>
              </a:pathLst>
            </a:custGeom>
            <a:ln w="25907">
              <a:solidFill>
                <a:srgbClr val="464646"/>
              </a:solidFill>
            </a:ln>
          </p:spPr>
          <p:txBody>
            <a:bodyPr wrap="square" lIns="0" tIns="0" rIns="0" bIns="0" rtlCol="0"/>
            <a:lstStyle/>
            <a:p>
              <a:endParaRPr/>
            </a:p>
          </p:txBody>
        </p:sp>
      </p:grpSp>
      <p:sp>
        <p:nvSpPr>
          <p:cNvPr id="25" name="object 25"/>
          <p:cNvSpPr txBox="1"/>
          <p:nvPr/>
        </p:nvSpPr>
        <p:spPr>
          <a:xfrm>
            <a:off x="5885815" y="3488563"/>
            <a:ext cx="1185545" cy="269240"/>
          </a:xfrm>
          <a:prstGeom prst="rect">
            <a:avLst/>
          </a:prstGeom>
        </p:spPr>
        <p:txBody>
          <a:bodyPr vert="horz" wrap="square" lIns="0" tIns="12065" rIns="0" bIns="0" rtlCol="0">
            <a:spAutoFit/>
          </a:bodyPr>
          <a:lstStyle/>
          <a:p>
            <a:pPr marL="12700">
              <a:lnSpc>
                <a:spcPct val="100000"/>
              </a:lnSpc>
              <a:spcBef>
                <a:spcPts val="95"/>
              </a:spcBef>
            </a:pPr>
            <a:r>
              <a:rPr sz="1600" spc="-15" dirty="0">
                <a:solidFill>
                  <a:srgbClr val="464646"/>
                </a:solidFill>
                <a:latin typeface="Arial MT"/>
                <a:cs typeface="Arial MT"/>
              </a:rPr>
              <a:t>O</a:t>
            </a:r>
            <a:r>
              <a:rPr sz="1600" spc="-5" dirty="0">
                <a:solidFill>
                  <a:srgbClr val="464646"/>
                </a:solidFill>
                <a:latin typeface="Arial MT"/>
                <a:cs typeface="Arial MT"/>
              </a:rPr>
              <a:t>n</a:t>
            </a:r>
            <a:r>
              <a:rPr sz="1600" spc="-10" dirty="0">
                <a:solidFill>
                  <a:srgbClr val="464646"/>
                </a:solidFill>
                <a:latin typeface="Arial MT"/>
                <a:cs typeface="Arial MT"/>
              </a:rPr>
              <a:t>-</a:t>
            </a:r>
            <a:r>
              <a:rPr sz="1600" spc="-5" dirty="0">
                <a:solidFill>
                  <a:srgbClr val="464646"/>
                </a:solidFill>
                <a:latin typeface="Arial MT"/>
                <a:cs typeface="Arial MT"/>
              </a:rPr>
              <a:t>premises</a:t>
            </a:r>
            <a:endParaRPr sz="1600">
              <a:latin typeface="Arial MT"/>
              <a:cs typeface="Arial MT"/>
            </a:endParaRPr>
          </a:p>
        </p:txBody>
      </p:sp>
      <p:sp>
        <p:nvSpPr>
          <p:cNvPr id="26" name="object 26"/>
          <p:cNvSpPr txBox="1"/>
          <p:nvPr/>
        </p:nvSpPr>
        <p:spPr>
          <a:xfrm>
            <a:off x="2752725" y="1036701"/>
            <a:ext cx="2503170" cy="1055370"/>
          </a:xfrm>
          <a:prstGeom prst="rect">
            <a:avLst/>
          </a:prstGeom>
        </p:spPr>
        <p:txBody>
          <a:bodyPr vert="horz" wrap="square" lIns="0" tIns="12700" rIns="0" bIns="0" rtlCol="0">
            <a:spAutoFit/>
          </a:bodyPr>
          <a:lstStyle/>
          <a:p>
            <a:pPr marL="1454150">
              <a:lnSpc>
                <a:spcPct val="100000"/>
              </a:lnSpc>
              <a:spcBef>
                <a:spcPts val="100"/>
              </a:spcBef>
            </a:pPr>
            <a:r>
              <a:rPr sz="1800" spc="10" dirty="0">
                <a:solidFill>
                  <a:srgbClr val="464646"/>
                </a:solidFill>
                <a:latin typeface="Arial MT"/>
                <a:cs typeface="Arial MT"/>
              </a:rPr>
              <a:t>T</a:t>
            </a:r>
            <a:r>
              <a:rPr sz="1800" spc="-5" dirty="0">
                <a:solidFill>
                  <a:srgbClr val="464646"/>
                </a:solidFill>
                <a:latin typeface="Arial MT"/>
                <a:cs typeface="Arial MT"/>
              </a:rPr>
              <a:t>C</a:t>
            </a:r>
            <a:r>
              <a:rPr sz="1800" spc="-235" dirty="0">
                <a:solidFill>
                  <a:srgbClr val="464646"/>
                </a:solidFill>
                <a:latin typeface="Arial MT"/>
                <a:cs typeface="Arial MT"/>
              </a:rPr>
              <a:t>P</a:t>
            </a:r>
            <a:r>
              <a:rPr sz="1800" dirty="0">
                <a:solidFill>
                  <a:srgbClr val="464646"/>
                </a:solidFill>
                <a:latin typeface="Arial MT"/>
                <a:cs typeface="Arial MT"/>
              </a:rPr>
              <a:t>,</a:t>
            </a:r>
            <a:r>
              <a:rPr sz="1800" spc="-20" dirty="0">
                <a:solidFill>
                  <a:srgbClr val="464646"/>
                </a:solidFill>
                <a:latin typeface="Arial MT"/>
                <a:cs typeface="Arial MT"/>
              </a:rPr>
              <a:t> </a:t>
            </a:r>
            <a:r>
              <a:rPr sz="1800" spc="-5" dirty="0">
                <a:solidFill>
                  <a:srgbClr val="464646"/>
                </a:solidFill>
                <a:latin typeface="Arial MT"/>
                <a:cs typeface="Arial MT"/>
              </a:rPr>
              <a:t>U</a:t>
            </a:r>
            <a:r>
              <a:rPr sz="1800" spc="-15" dirty="0">
                <a:solidFill>
                  <a:srgbClr val="464646"/>
                </a:solidFill>
                <a:latin typeface="Arial MT"/>
                <a:cs typeface="Arial MT"/>
              </a:rPr>
              <a:t>D</a:t>
            </a:r>
            <a:r>
              <a:rPr sz="1800" dirty="0">
                <a:solidFill>
                  <a:srgbClr val="464646"/>
                </a:solidFill>
                <a:latin typeface="Arial MT"/>
                <a:cs typeface="Arial MT"/>
              </a:rPr>
              <a:t>P</a:t>
            </a:r>
            <a:endParaRPr sz="1800">
              <a:latin typeface="Arial MT"/>
              <a:cs typeface="Arial MT"/>
            </a:endParaRPr>
          </a:p>
          <a:p>
            <a:pPr>
              <a:lnSpc>
                <a:spcPct val="100000"/>
              </a:lnSpc>
            </a:pPr>
            <a:endParaRPr sz="2000">
              <a:latin typeface="Arial MT"/>
              <a:cs typeface="Arial MT"/>
            </a:endParaRPr>
          </a:p>
          <a:p>
            <a:pPr marL="12700">
              <a:lnSpc>
                <a:spcPct val="100000"/>
              </a:lnSpc>
              <a:spcBef>
                <a:spcPts val="1485"/>
              </a:spcBef>
            </a:pPr>
            <a:r>
              <a:rPr sz="1800" spc="-10" dirty="0">
                <a:solidFill>
                  <a:srgbClr val="464646"/>
                </a:solidFill>
                <a:latin typeface="Arial MT"/>
                <a:cs typeface="Arial MT"/>
              </a:rPr>
              <a:t>Network</a:t>
            </a:r>
            <a:r>
              <a:rPr sz="1800" spc="20" dirty="0">
                <a:solidFill>
                  <a:srgbClr val="464646"/>
                </a:solidFill>
                <a:latin typeface="Arial MT"/>
                <a:cs typeface="Arial MT"/>
              </a:rPr>
              <a:t> </a:t>
            </a:r>
            <a:r>
              <a:rPr sz="1800" spc="-5" dirty="0">
                <a:solidFill>
                  <a:srgbClr val="464646"/>
                </a:solidFill>
                <a:latin typeface="Arial MT"/>
                <a:cs typeface="Arial MT"/>
              </a:rPr>
              <a:t>Load</a:t>
            </a:r>
            <a:r>
              <a:rPr sz="1800" spc="-15" dirty="0">
                <a:solidFill>
                  <a:srgbClr val="464646"/>
                </a:solidFill>
                <a:latin typeface="Arial MT"/>
                <a:cs typeface="Arial MT"/>
              </a:rPr>
              <a:t> </a:t>
            </a:r>
            <a:r>
              <a:rPr sz="1800" spc="-5" dirty="0">
                <a:solidFill>
                  <a:srgbClr val="464646"/>
                </a:solidFill>
                <a:latin typeface="Arial MT"/>
                <a:cs typeface="Arial MT"/>
              </a:rPr>
              <a:t>Balancer</a:t>
            </a:r>
            <a:endParaRPr sz="1800">
              <a:latin typeface="Arial MT"/>
              <a:cs typeface="Arial M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38848" y="1152080"/>
            <a:ext cx="7028815" cy="3132455"/>
            <a:chOff x="438848" y="1152080"/>
            <a:chExt cx="7028815" cy="3132455"/>
          </a:xfrm>
        </p:grpSpPr>
        <p:sp>
          <p:nvSpPr>
            <p:cNvPr id="3" name="object 3"/>
            <p:cNvSpPr/>
            <p:nvPr/>
          </p:nvSpPr>
          <p:spPr>
            <a:xfrm>
              <a:off x="451866" y="1165097"/>
              <a:ext cx="7002780" cy="1065530"/>
            </a:xfrm>
            <a:custGeom>
              <a:avLst/>
              <a:gdLst/>
              <a:ahLst/>
              <a:cxnLst/>
              <a:rect l="l" t="t" r="r" b="b"/>
              <a:pathLst>
                <a:path w="7002780" h="1065530">
                  <a:moveTo>
                    <a:pt x="0" y="177546"/>
                  </a:moveTo>
                  <a:lnTo>
                    <a:pt x="6342" y="130351"/>
                  </a:lnTo>
                  <a:lnTo>
                    <a:pt x="24240" y="87940"/>
                  </a:lnTo>
                  <a:lnTo>
                    <a:pt x="52001" y="52006"/>
                  </a:lnTo>
                  <a:lnTo>
                    <a:pt x="87934" y="24242"/>
                  </a:lnTo>
                  <a:lnTo>
                    <a:pt x="130346" y="6342"/>
                  </a:lnTo>
                  <a:lnTo>
                    <a:pt x="177546" y="0"/>
                  </a:lnTo>
                  <a:lnTo>
                    <a:pt x="6825233" y="0"/>
                  </a:lnTo>
                  <a:lnTo>
                    <a:pt x="6872428" y="6342"/>
                  </a:lnTo>
                  <a:lnTo>
                    <a:pt x="6914839" y="24242"/>
                  </a:lnTo>
                  <a:lnTo>
                    <a:pt x="6950773" y="52006"/>
                  </a:lnTo>
                  <a:lnTo>
                    <a:pt x="6978537" y="87940"/>
                  </a:lnTo>
                  <a:lnTo>
                    <a:pt x="6996437" y="130351"/>
                  </a:lnTo>
                  <a:lnTo>
                    <a:pt x="7002780" y="177546"/>
                  </a:lnTo>
                  <a:lnTo>
                    <a:pt x="7002780" y="887729"/>
                  </a:lnTo>
                  <a:lnTo>
                    <a:pt x="6996437" y="934924"/>
                  </a:lnTo>
                  <a:lnTo>
                    <a:pt x="6978537" y="977335"/>
                  </a:lnTo>
                  <a:lnTo>
                    <a:pt x="6950773" y="1013269"/>
                  </a:lnTo>
                  <a:lnTo>
                    <a:pt x="6914839" y="1041033"/>
                  </a:lnTo>
                  <a:lnTo>
                    <a:pt x="6872428" y="1058933"/>
                  </a:lnTo>
                  <a:lnTo>
                    <a:pt x="6825233" y="1065276"/>
                  </a:lnTo>
                  <a:lnTo>
                    <a:pt x="177546" y="1065276"/>
                  </a:lnTo>
                  <a:lnTo>
                    <a:pt x="130346" y="1058933"/>
                  </a:lnTo>
                  <a:lnTo>
                    <a:pt x="87934" y="1041033"/>
                  </a:lnTo>
                  <a:lnTo>
                    <a:pt x="52001" y="1013269"/>
                  </a:lnTo>
                  <a:lnTo>
                    <a:pt x="24240" y="977335"/>
                  </a:lnTo>
                  <a:lnTo>
                    <a:pt x="6342" y="934924"/>
                  </a:lnTo>
                  <a:lnTo>
                    <a:pt x="0" y="887729"/>
                  </a:lnTo>
                  <a:lnTo>
                    <a:pt x="0" y="177546"/>
                  </a:lnTo>
                  <a:close/>
                </a:path>
              </a:pathLst>
            </a:custGeom>
            <a:ln w="25907">
              <a:solidFill>
                <a:srgbClr val="464646"/>
              </a:solidFill>
            </a:ln>
          </p:spPr>
          <p:txBody>
            <a:bodyPr wrap="square" lIns="0" tIns="0" rIns="0" bIns="0" rtlCol="0"/>
            <a:lstStyle/>
            <a:p>
              <a:endParaRPr/>
            </a:p>
          </p:txBody>
        </p:sp>
        <p:pic>
          <p:nvPicPr>
            <p:cNvPr id="4" name="object 4"/>
            <p:cNvPicPr/>
            <p:nvPr/>
          </p:nvPicPr>
          <p:blipFill>
            <a:blip r:embed="rId2" cstate="print"/>
            <a:stretch>
              <a:fillRect/>
            </a:stretch>
          </p:blipFill>
          <p:spPr>
            <a:xfrm>
              <a:off x="3831336" y="2129040"/>
              <a:ext cx="237832" cy="1085075"/>
            </a:xfrm>
            <a:prstGeom prst="rect">
              <a:avLst/>
            </a:prstGeom>
          </p:spPr>
        </p:pic>
        <p:sp>
          <p:nvSpPr>
            <p:cNvPr id="5" name="object 5"/>
            <p:cNvSpPr/>
            <p:nvPr/>
          </p:nvSpPr>
          <p:spPr>
            <a:xfrm>
              <a:off x="3913632" y="2230373"/>
              <a:ext cx="78105" cy="847090"/>
            </a:xfrm>
            <a:custGeom>
              <a:avLst/>
              <a:gdLst/>
              <a:ahLst/>
              <a:cxnLst/>
              <a:rect l="l" t="t" r="r" b="b"/>
              <a:pathLst>
                <a:path w="78104" h="847089">
                  <a:moveTo>
                    <a:pt x="25907" y="768984"/>
                  </a:moveTo>
                  <a:lnTo>
                    <a:pt x="0" y="768984"/>
                  </a:lnTo>
                  <a:lnTo>
                    <a:pt x="38862" y="846708"/>
                  </a:lnTo>
                  <a:lnTo>
                    <a:pt x="71246" y="781938"/>
                  </a:lnTo>
                  <a:lnTo>
                    <a:pt x="25907" y="781938"/>
                  </a:lnTo>
                  <a:lnTo>
                    <a:pt x="25907" y="768984"/>
                  </a:lnTo>
                  <a:close/>
                </a:path>
                <a:path w="78104" h="847089">
                  <a:moveTo>
                    <a:pt x="51815" y="64769"/>
                  </a:moveTo>
                  <a:lnTo>
                    <a:pt x="25907" y="64769"/>
                  </a:lnTo>
                  <a:lnTo>
                    <a:pt x="25907" y="781938"/>
                  </a:lnTo>
                  <a:lnTo>
                    <a:pt x="51815" y="781938"/>
                  </a:lnTo>
                  <a:lnTo>
                    <a:pt x="51815" y="64769"/>
                  </a:lnTo>
                  <a:close/>
                </a:path>
                <a:path w="78104" h="847089">
                  <a:moveTo>
                    <a:pt x="77723" y="768984"/>
                  </a:moveTo>
                  <a:lnTo>
                    <a:pt x="51815" y="768984"/>
                  </a:lnTo>
                  <a:lnTo>
                    <a:pt x="51815" y="781938"/>
                  </a:lnTo>
                  <a:lnTo>
                    <a:pt x="71246" y="781938"/>
                  </a:lnTo>
                  <a:lnTo>
                    <a:pt x="77723" y="768984"/>
                  </a:lnTo>
                  <a:close/>
                </a:path>
                <a:path w="78104" h="847089">
                  <a:moveTo>
                    <a:pt x="38862" y="0"/>
                  </a:moveTo>
                  <a:lnTo>
                    <a:pt x="0" y="77724"/>
                  </a:lnTo>
                  <a:lnTo>
                    <a:pt x="25907" y="77724"/>
                  </a:lnTo>
                  <a:lnTo>
                    <a:pt x="25907" y="64769"/>
                  </a:lnTo>
                  <a:lnTo>
                    <a:pt x="71246" y="64769"/>
                  </a:lnTo>
                  <a:lnTo>
                    <a:pt x="38862" y="0"/>
                  </a:lnTo>
                  <a:close/>
                </a:path>
                <a:path w="78104" h="847089">
                  <a:moveTo>
                    <a:pt x="71246" y="64769"/>
                  </a:moveTo>
                  <a:lnTo>
                    <a:pt x="51815" y="64769"/>
                  </a:lnTo>
                  <a:lnTo>
                    <a:pt x="51815" y="77724"/>
                  </a:lnTo>
                  <a:lnTo>
                    <a:pt x="77723" y="77724"/>
                  </a:lnTo>
                  <a:lnTo>
                    <a:pt x="71246" y="64769"/>
                  </a:lnTo>
                  <a:close/>
                </a:path>
              </a:pathLst>
            </a:custGeom>
            <a:solidFill>
              <a:srgbClr val="FBB64B"/>
            </a:solidFill>
          </p:spPr>
          <p:txBody>
            <a:bodyPr wrap="square" lIns="0" tIns="0" rIns="0" bIns="0" rtlCol="0"/>
            <a:lstStyle/>
            <a:p>
              <a:endParaRPr/>
            </a:p>
          </p:txBody>
        </p:sp>
        <p:sp>
          <p:nvSpPr>
            <p:cNvPr id="6" name="object 6"/>
            <p:cNvSpPr/>
            <p:nvPr/>
          </p:nvSpPr>
          <p:spPr>
            <a:xfrm>
              <a:off x="451866" y="3076194"/>
              <a:ext cx="7002780" cy="1195070"/>
            </a:xfrm>
            <a:custGeom>
              <a:avLst/>
              <a:gdLst/>
              <a:ahLst/>
              <a:cxnLst/>
              <a:rect l="l" t="t" r="r" b="b"/>
              <a:pathLst>
                <a:path w="7002780" h="1195070">
                  <a:moveTo>
                    <a:pt x="6803643" y="0"/>
                  </a:moveTo>
                  <a:lnTo>
                    <a:pt x="199136" y="0"/>
                  </a:lnTo>
                  <a:lnTo>
                    <a:pt x="153475" y="5259"/>
                  </a:lnTo>
                  <a:lnTo>
                    <a:pt x="111560" y="20240"/>
                  </a:lnTo>
                  <a:lnTo>
                    <a:pt x="74585" y="43747"/>
                  </a:lnTo>
                  <a:lnTo>
                    <a:pt x="43747" y="74585"/>
                  </a:lnTo>
                  <a:lnTo>
                    <a:pt x="20240" y="111560"/>
                  </a:lnTo>
                  <a:lnTo>
                    <a:pt x="5259" y="153475"/>
                  </a:lnTo>
                  <a:lnTo>
                    <a:pt x="0" y="199136"/>
                  </a:lnTo>
                  <a:lnTo>
                    <a:pt x="0" y="995680"/>
                  </a:lnTo>
                  <a:lnTo>
                    <a:pt x="5259" y="1041340"/>
                  </a:lnTo>
                  <a:lnTo>
                    <a:pt x="20240" y="1083255"/>
                  </a:lnTo>
                  <a:lnTo>
                    <a:pt x="43747" y="1120230"/>
                  </a:lnTo>
                  <a:lnTo>
                    <a:pt x="74585" y="1151068"/>
                  </a:lnTo>
                  <a:lnTo>
                    <a:pt x="111560" y="1174575"/>
                  </a:lnTo>
                  <a:lnTo>
                    <a:pt x="153475" y="1189556"/>
                  </a:lnTo>
                  <a:lnTo>
                    <a:pt x="199136" y="1194816"/>
                  </a:lnTo>
                  <a:lnTo>
                    <a:pt x="6803643" y="1194816"/>
                  </a:lnTo>
                  <a:lnTo>
                    <a:pt x="6849304" y="1189556"/>
                  </a:lnTo>
                  <a:lnTo>
                    <a:pt x="6891219" y="1174575"/>
                  </a:lnTo>
                  <a:lnTo>
                    <a:pt x="6928194" y="1151068"/>
                  </a:lnTo>
                  <a:lnTo>
                    <a:pt x="6959032" y="1120230"/>
                  </a:lnTo>
                  <a:lnTo>
                    <a:pt x="6982539" y="1083255"/>
                  </a:lnTo>
                  <a:lnTo>
                    <a:pt x="6997520" y="1041340"/>
                  </a:lnTo>
                  <a:lnTo>
                    <a:pt x="7002780" y="995680"/>
                  </a:lnTo>
                  <a:lnTo>
                    <a:pt x="7002780" y="199136"/>
                  </a:lnTo>
                  <a:lnTo>
                    <a:pt x="6997520" y="153475"/>
                  </a:lnTo>
                  <a:lnTo>
                    <a:pt x="6982539" y="111560"/>
                  </a:lnTo>
                  <a:lnTo>
                    <a:pt x="6959032" y="74585"/>
                  </a:lnTo>
                  <a:lnTo>
                    <a:pt x="6928194" y="43747"/>
                  </a:lnTo>
                  <a:lnTo>
                    <a:pt x="6891219" y="20240"/>
                  </a:lnTo>
                  <a:lnTo>
                    <a:pt x="6849304" y="5259"/>
                  </a:lnTo>
                  <a:lnTo>
                    <a:pt x="6803643" y="0"/>
                  </a:lnTo>
                  <a:close/>
                </a:path>
              </a:pathLst>
            </a:custGeom>
            <a:solidFill>
              <a:srgbClr val="FFFFFF"/>
            </a:solidFill>
          </p:spPr>
          <p:txBody>
            <a:bodyPr wrap="square" lIns="0" tIns="0" rIns="0" bIns="0" rtlCol="0"/>
            <a:lstStyle/>
            <a:p>
              <a:endParaRPr/>
            </a:p>
          </p:txBody>
        </p:sp>
        <p:sp>
          <p:nvSpPr>
            <p:cNvPr id="7" name="object 7"/>
            <p:cNvSpPr/>
            <p:nvPr/>
          </p:nvSpPr>
          <p:spPr>
            <a:xfrm>
              <a:off x="451866" y="3076194"/>
              <a:ext cx="7002780" cy="1195070"/>
            </a:xfrm>
            <a:custGeom>
              <a:avLst/>
              <a:gdLst/>
              <a:ahLst/>
              <a:cxnLst/>
              <a:rect l="l" t="t" r="r" b="b"/>
              <a:pathLst>
                <a:path w="7002780" h="1195070">
                  <a:moveTo>
                    <a:pt x="0" y="199136"/>
                  </a:moveTo>
                  <a:lnTo>
                    <a:pt x="5259" y="153475"/>
                  </a:lnTo>
                  <a:lnTo>
                    <a:pt x="20240" y="111560"/>
                  </a:lnTo>
                  <a:lnTo>
                    <a:pt x="43747" y="74585"/>
                  </a:lnTo>
                  <a:lnTo>
                    <a:pt x="74585" y="43747"/>
                  </a:lnTo>
                  <a:lnTo>
                    <a:pt x="111560" y="20240"/>
                  </a:lnTo>
                  <a:lnTo>
                    <a:pt x="153475" y="5259"/>
                  </a:lnTo>
                  <a:lnTo>
                    <a:pt x="199136" y="0"/>
                  </a:lnTo>
                  <a:lnTo>
                    <a:pt x="6803643" y="0"/>
                  </a:lnTo>
                  <a:lnTo>
                    <a:pt x="6849304" y="5259"/>
                  </a:lnTo>
                  <a:lnTo>
                    <a:pt x="6891219" y="20240"/>
                  </a:lnTo>
                  <a:lnTo>
                    <a:pt x="6928194" y="43747"/>
                  </a:lnTo>
                  <a:lnTo>
                    <a:pt x="6959032" y="74585"/>
                  </a:lnTo>
                  <a:lnTo>
                    <a:pt x="6982539" y="111560"/>
                  </a:lnTo>
                  <a:lnTo>
                    <a:pt x="6997520" y="153475"/>
                  </a:lnTo>
                  <a:lnTo>
                    <a:pt x="7002780" y="199136"/>
                  </a:lnTo>
                  <a:lnTo>
                    <a:pt x="7002780" y="995680"/>
                  </a:lnTo>
                  <a:lnTo>
                    <a:pt x="6997520" y="1041340"/>
                  </a:lnTo>
                  <a:lnTo>
                    <a:pt x="6982539" y="1083255"/>
                  </a:lnTo>
                  <a:lnTo>
                    <a:pt x="6959032" y="1120230"/>
                  </a:lnTo>
                  <a:lnTo>
                    <a:pt x="6928194" y="1151068"/>
                  </a:lnTo>
                  <a:lnTo>
                    <a:pt x="6891219" y="1174575"/>
                  </a:lnTo>
                  <a:lnTo>
                    <a:pt x="6849304" y="1189556"/>
                  </a:lnTo>
                  <a:lnTo>
                    <a:pt x="6803643" y="1194816"/>
                  </a:lnTo>
                  <a:lnTo>
                    <a:pt x="199136" y="1194816"/>
                  </a:lnTo>
                  <a:lnTo>
                    <a:pt x="153475" y="1189556"/>
                  </a:lnTo>
                  <a:lnTo>
                    <a:pt x="111560" y="1174575"/>
                  </a:lnTo>
                  <a:lnTo>
                    <a:pt x="74585" y="1151068"/>
                  </a:lnTo>
                  <a:lnTo>
                    <a:pt x="43747" y="1120230"/>
                  </a:lnTo>
                  <a:lnTo>
                    <a:pt x="20240" y="1083255"/>
                  </a:lnTo>
                  <a:lnTo>
                    <a:pt x="5259" y="1041340"/>
                  </a:lnTo>
                  <a:lnTo>
                    <a:pt x="0" y="995680"/>
                  </a:lnTo>
                  <a:lnTo>
                    <a:pt x="0" y="199136"/>
                  </a:lnTo>
                  <a:close/>
                </a:path>
              </a:pathLst>
            </a:custGeom>
            <a:ln w="25908">
              <a:solidFill>
                <a:srgbClr val="464646"/>
              </a:solidFill>
            </a:ln>
          </p:spPr>
          <p:txBody>
            <a:bodyPr wrap="square" lIns="0" tIns="0" rIns="0" bIns="0" rtlCol="0"/>
            <a:lstStyle/>
            <a:p>
              <a:endParaRPr/>
            </a:p>
          </p:txBody>
        </p:sp>
        <p:sp>
          <p:nvSpPr>
            <p:cNvPr id="8" name="object 8"/>
            <p:cNvSpPr/>
            <p:nvPr/>
          </p:nvSpPr>
          <p:spPr>
            <a:xfrm>
              <a:off x="2401062" y="3397757"/>
              <a:ext cx="1472565" cy="448309"/>
            </a:xfrm>
            <a:custGeom>
              <a:avLst/>
              <a:gdLst/>
              <a:ahLst/>
              <a:cxnLst/>
              <a:rect l="l" t="t" r="r" b="b"/>
              <a:pathLst>
                <a:path w="1472564" h="448310">
                  <a:moveTo>
                    <a:pt x="1397508" y="0"/>
                  </a:moveTo>
                  <a:lnTo>
                    <a:pt x="74675" y="0"/>
                  </a:lnTo>
                  <a:lnTo>
                    <a:pt x="45594" y="5863"/>
                  </a:lnTo>
                  <a:lnTo>
                    <a:pt x="21859" y="21859"/>
                  </a:lnTo>
                  <a:lnTo>
                    <a:pt x="5863" y="45594"/>
                  </a:lnTo>
                  <a:lnTo>
                    <a:pt x="0" y="74676"/>
                  </a:lnTo>
                  <a:lnTo>
                    <a:pt x="0" y="373380"/>
                  </a:lnTo>
                  <a:lnTo>
                    <a:pt x="5863" y="402461"/>
                  </a:lnTo>
                  <a:lnTo>
                    <a:pt x="21859" y="426196"/>
                  </a:lnTo>
                  <a:lnTo>
                    <a:pt x="45594" y="442192"/>
                  </a:lnTo>
                  <a:lnTo>
                    <a:pt x="74675" y="448056"/>
                  </a:lnTo>
                  <a:lnTo>
                    <a:pt x="1397508" y="448056"/>
                  </a:lnTo>
                  <a:lnTo>
                    <a:pt x="1426589" y="442192"/>
                  </a:lnTo>
                  <a:lnTo>
                    <a:pt x="1450324" y="426196"/>
                  </a:lnTo>
                  <a:lnTo>
                    <a:pt x="1466320" y="402461"/>
                  </a:lnTo>
                  <a:lnTo>
                    <a:pt x="1472184" y="373380"/>
                  </a:lnTo>
                  <a:lnTo>
                    <a:pt x="1472184" y="74676"/>
                  </a:lnTo>
                  <a:lnTo>
                    <a:pt x="1466320" y="45594"/>
                  </a:lnTo>
                  <a:lnTo>
                    <a:pt x="1450324" y="21859"/>
                  </a:lnTo>
                  <a:lnTo>
                    <a:pt x="1426589" y="5863"/>
                  </a:lnTo>
                  <a:lnTo>
                    <a:pt x="1397508" y="0"/>
                  </a:lnTo>
                  <a:close/>
                </a:path>
              </a:pathLst>
            </a:custGeom>
            <a:solidFill>
              <a:srgbClr val="FFFFFF"/>
            </a:solidFill>
          </p:spPr>
          <p:txBody>
            <a:bodyPr wrap="square" lIns="0" tIns="0" rIns="0" bIns="0" rtlCol="0"/>
            <a:lstStyle/>
            <a:p>
              <a:endParaRPr/>
            </a:p>
          </p:txBody>
        </p:sp>
        <p:sp>
          <p:nvSpPr>
            <p:cNvPr id="9" name="object 9"/>
            <p:cNvSpPr/>
            <p:nvPr/>
          </p:nvSpPr>
          <p:spPr>
            <a:xfrm>
              <a:off x="2401062" y="3397757"/>
              <a:ext cx="1472565" cy="448309"/>
            </a:xfrm>
            <a:custGeom>
              <a:avLst/>
              <a:gdLst/>
              <a:ahLst/>
              <a:cxnLst/>
              <a:rect l="l" t="t" r="r" b="b"/>
              <a:pathLst>
                <a:path w="1472564" h="448310">
                  <a:moveTo>
                    <a:pt x="0" y="74676"/>
                  </a:moveTo>
                  <a:lnTo>
                    <a:pt x="5863" y="45594"/>
                  </a:lnTo>
                  <a:lnTo>
                    <a:pt x="21859" y="21859"/>
                  </a:lnTo>
                  <a:lnTo>
                    <a:pt x="45594" y="5863"/>
                  </a:lnTo>
                  <a:lnTo>
                    <a:pt x="74675" y="0"/>
                  </a:lnTo>
                  <a:lnTo>
                    <a:pt x="1397508" y="0"/>
                  </a:lnTo>
                  <a:lnTo>
                    <a:pt x="1426589" y="5863"/>
                  </a:lnTo>
                  <a:lnTo>
                    <a:pt x="1450324" y="21859"/>
                  </a:lnTo>
                  <a:lnTo>
                    <a:pt x="1466320" y="45594"/>
                  </a:lnTo>
                  <a:lnTo>
                    <a:pt x="1472184" y="74676"/>
                  </a:lnTo>
                  <a:lnTo>
                    <a:pt x="1472184" y="373380"/>
                  </a:lnTo>
                  <a:lnTo>
                    <a:pt x="1466320" y="402461"/>
                  </a:lnTo>
                  <a:lnTo>
                    <a:pt x="1450324" y="426196"/>
                  </a:lnTo>
                  <a:lnTo>
                    <a:pt x="1426589" y="442192"/>
                  </a:lnTo>
                  <a:lnTo>
                    <a:pt x="1397508" y="448056"/>
                  </a:lnTo>
                  <a:lnTo>
                    <a:pt x="74675" y="448056"/>
                  </a:lnTo>
                  <a:lnTo>
                    <a:pt x="45594" y="442192"/>
                  </a:lnTo>
                  <a:lnTo>
                    <a:pt x="21859" y="426196"/>
                  </a:lnTo>
                  <a:lnTo>
                    <a:pt x="5863" y="402461"/>
                  </a:lnTo>
                  <a:lnTo>
                    <a:pt x="0" y="373380"/>
                  </a:lnTo>
                  <a:lnTo>
                    <a:pt x="0" y="74676"/>
                  </a:lnTo>
                  <a:close/>
                </a:path>
              </a:pathLst>
            </a:custGeom>
            <a:ln w="25908">
              <a:solidFill>
                <a:srgbClr val="464646"/>
              </a:solidFill>
            </a:ln>
          </p:spPr>
          <p:txBody>
            <a:bodyPr wrap="square" lIns="0" tIns="0" rIns="0" bIns="0" rtlCol="0"/>
            <a:lstStyle/>
            <a:p>
              <a:endParaRPr/>
            </a:p>
          </p:txBody>
        </p:sp>
      </p:grpSp>
      <p:sp>
        <p:nvSpPr>
          <p:cNvPr id="10" name="object 10"/>
          <p:cNvSpPr txBox="1"/>
          <p:nvPr/>
        </p:nvSpPr>
        <p:spPr>
          <a:xfrm>
            <a:off x="2573273" y="3466591"/>
            <a:ext cx="112776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o</a:t>
            </a:r>
            <a:r>
              <a:rPr sz="1800" spc="-5" dirty="0">
                <a:solidFill>
                  <a:srgbClr val="464646"/>
                </a:solidFill>
                <a:latin typeface="Arial MT"/>
                <a:cs typeface="Arial MT"/>
              </a:rPr>
              <a:t>nt</a:t>
            </a:r>
            <a:r>
              <a:rPr sz="1800" spc="-15" dirty="0">
                <a:solidFill>
                  <a:srgbClr val="464646"/>
                </a:solidFill>
                <a:latin typeface="Arial MT"/>
                <a:cs typeface="Arial MT"/>
              </a:rPr>
              <a:t>a</a:t>
            </a:r>
            <a:r>
              <a:rPr sz="1800" spc="-5" dirty="0">
                <a:solidFill>
                  <a:srgbClr val="464646"/>
                </a:solidFill>
                <a:latin typeface="Arial MT"/>
                <a:cs typeface="Arial MT"/>
              </a:rPr>
              <a:t>i</a:t>
            </a:r>
            <a:r>
              <a:rPr sz="1800" spc="-15" dirty="0">
                <a:solidFill>
                  <a:srgbClr val="464646"/>
                </a:solidFill>
                <a:latin typeface="Arial MT"/>
                <a:cs typeface="Arial MT"/>
              </a:rPr>
              <a:t>n</a:t>
            </a:r>
            <a:r>
              <a:rPr sz="1800" spc="-5" dirty="0">
                <a:solidFill>
                  <a:srgbClr val="464646"/>
                </a:solidFill>
                <a:latin typeface="Arial MT"/>
                <a:cs typeface="Arial MT"/>
              </a:rPr>
              <a:t>ers</a:t>
            </a:r>
            <a:endParaRPr sz="1800">
              <a:latin typeface="Arial MT"/>
              <a:cs typeface="Arial MT"/>
            </a:endParaRPr>
          </a:p>
        </p:txBody>
      </p:sp>
      <p:grpSp>
        <p:nvGrpSpPr>
          <p:cNvPr id="11" name="object 11"/>
          <p:cNvGrpSpPr/>
          <p:nvPr/>
        </p:nvGrpSpPr>
        <p:grpSpPr>
          <a:xfrm>
            <a:off x="716216" y="3392360"/>
            <a:ext cx="1498600" cy="474345"/>
            <a:chOff x="716216" y="3392360"/>
            <a:chExt cx="1498600" cy="474345"/>
          </a:xfrm>
        </p:grpSpPr>
        <p:sp>
          <p:nvSpPr>
            <p:cNvPr id="12" name="object 12"/>
            <p:cNvSpPr/>
            <p:nvPr/>
          </p:nvSpPr>
          <p:spPr>
            <a:xfrm>
              <a:off x="729234" y="3405377"/>
              <a:ext cx="1472565" cy="448309"/>
            </a:xfrm>
            <a:custGeom>
              <a:avLst/>
              <a:gdLst/>
              <a:ahLst/>
              <a:cxnLst/>
              <a:rect l="l" t="t" r="r" b="b"/>
              <a:pathLst>
                <a:path w="1472564" h="448310">
                  <a:moveTo>
                    <a:pt x="1397508" y="0"/>
                  </a:moveTo>
                  <a:lnTo>
                    <a:pt x="74675" y="0"/>
                  </a:lnTo>
                  <a:lnTo>
                    <a:pt x="45611" y="5863"/>
                  </a:lnTo>
                  <a:lnTo>
                    <a:pt x="21874" y="21859"/>
                  </a:lnTo>
                  <a:lnTo>
                    <a:pt x="5869" y="45594"/>
                  </a:lnTo>
                  <a:lnTo>
                    <a:pt x="0" y="74676"/>
                  </a:lnTo>
                  <a:lnTo>
                    <a:pt x="0" y="373380"/>
                  </a:lnTo>
                  <a:lnTo>
                    <a:pt x="5869" y="402461"/>
                  </a:lnTo>
                  <a:lnTo>
                    <a:pt x="21874" y="426196"/>
                  </a:lnTo>
                  <a:lnTo>
                    <a:pt x="45611" y="442192"/>
                  </a:lnTo>
                  <a:lnTo>
                    <a:pt x="74675" y="448056"/>
                  </a:lnTo>
                  <a:lnTo>
                    <a:pt x="1397508" y="448056"/>
                  </a:lnTo>
                  <a:lnTo>
                    <a:pt x="1426589" y="442192"/>
                  </a:lnTo>
                  <a:lnTo>
                    <a:pt x="1450324" y="426196"/>
                  </a:lnTo>
                  <a:lnTo>
                    <a:pt x="1466320" y="402461"/>
                  </a:lnTo>
                  <a:lnTo>
                    <a:pt x="1472184" y="373380"/>
                  </a:lnTo>
                  <a:lnTo>
                    <a:pt x="1472184" y="74676"/>
                  </a:lnTo>
                  <a:lnTo>
                    <a:pt x="1466320" y="45594"/>
                  </a:lnTo>
                  <a:lnTo>
                    <a:pt x="1450324" y="21859"/>
                  </a:lnTo>
                  <a:lnTo>
                    <a:pt x="1426589" y="5863"/>
                  </a:lnTo>
                  <a:lnTo>
                    <a:pt x="1397508" y="0"/>
                  </a:lnTo>
                  <a:close/>
                </a:path>
              </a:pathLst>
            </a:custGeom>
            <a:solidFill>
              <a:srgbClr val="FFFFFF"/>
            </a:solidFill>
          </p:spPr>
          <p:txBody>
            <a:bodyPr wrap="square" lIns="0" tIns="0" rIns="0" bIns="0" rtlCol="0"/>
            <a:lstStyle/>
            <a:p>
              <a:endParaRPr/>
            </a:p>
          </p:txBody>
        </p:sp>
        <p:sp>
          <p:nvSpPr>
            <p:cNvPr id="13" name="object 13"/>
            <p:cNvSpPr/>
            <p:nvPr/>
          </p:nvSpPr>
          <p:spPr>
            <a:xfrm>
              <a:off x="729234" y="3405377"/>
              <a:ext cx="1472565" cy="448309"/>
            </a:xfrm>
            <a:custGeom>
              <a:avLst/>
              <a:gdLst/>
              <a:ahLst/>
              <a:cxnLst/>
              <a:rect l="l" t="t" r="r" b="b"/>
              <a:pathLst>
                <a:path w="1472564" h="448310">
                  <a:moveTo>
                    <a:pt x="0" y="74676"/>
                  </a:moveTo>
                  <a:lnTo>
                    <a:pt x="5869" y="45594"/>
                  </a:lnTo>
                  <a:lnTo>
                    <a:pt x="21874" y="21859"/>
                  </a:lnTo>
                  <a:lnTo>
                    <a:pt x="45611" y="5863"/>
                  </a:lnTo>
                  <a:lnTo>
                    <a:pt x="74675" y="0"/>
                  </a:lnTo>
                  <a:lnTo>
                    <a:pt x="1397508" y="0"/>
                  </a:lnTo>
                  <a:lnTo>
                    <a:pt x="1426589" y="5863"/>
                  </a:lnTo>
                  <a:lnTo>
                    <a:pt x="1450324" y="21859"/>
                  </a:lnTo>
                  <a:lnTo>
                    <a:pt x="1466320" y="45594"/>
                  </a:lnTo>
                  <a:lnTo>
                    <a:pt x="1472184" y="74676"/>
                  </a:lnTo>
                  <a:lnTo>
                    <a:pt x="1472184" y="373380"/>
                  </a:lnTo>
                  <a:lnTo>
                    <a:pt x="1466320" y="402461"/>
                  </a:lnTo>
                  <a:lnTo>
                    <a:pt x="1450324" y="426196"/>
                  </a:lnTo>
                  <a:lnTo>
                    <a:pt x="1426589" y="442192"/>
                  </a:lnTo>
                  <a:lnTo>
                    <a:pt x="1397508" y="448056"/>
                  </a:lnTo>
                  <a:lnTo>
                    <a:pt x="74675" y="448056"/>
                  </a:lnTo>
                  <a:lnTo>
                    <a:pt x="45611" y="442192"/>
                  </a:lnTo>
                  <a:lnTo>
                    <a:pt x="21874" y="426196"/>
                  </a:lnTo>
                  <a:lnTo>
                    <a:pt x="5869" y="402461"/>
                  </a:lnTo>
                  <a:lnTo>
                    <a:pt x="0" y="373380"/>
                  </a:lnTo>
                  <a:lnTo>
                    <a:pt x="0" y="74676"/>
                  </a:lnTo>
                  <a:close/>
                </a:path>
              </a:pathLst>
            </a:custGeom>
            <a:ln w="25908">
              <a:solidFill>
                <a:srgbClr val="464646"/>
              </a:solidFill>
            </a:ln>
          </p:spPr>
          <p:txBody>
            <a:bodyPr wrap="square" lIns="0" tIns="0" rIns="0" bIns="0" rtlCol="0"/>
            <a:lstStyle/>
            <a:p>
              <a:endParaRPr/>
            </a:p>
          </p:txBody>
        </p:sp>
      </p:grpSp>
      <p:sp>
        <p:nvSpPr>
          <p:cNvPr id="14" name="object 14"/>
          <p:cNvSpPr txBox="1"/>
          <p:nvPr/>
        </p:nvSpPr>
        <p:spPr>
          <a:xfrm>
            <a:off x="1230883" y="3473322"/>
            <a:ext cx="47053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EC2</a:t>
            </a:r>
            <a:endParaRPr sz="1800">
              <a:latin typeface="Arial MT"/>
              <a:cs typeface="Arial MT"/>
            </a:endParaRPr>
          </a:p>
        </p:txBody>
      </p:sp>
      <p:grpSp>
        <p:nvGrpSpPr>
          <p:cNvPr id="15" name="object 15"/>
          <p:cNvGrpSpPr/>
          <p:nvPr/>
        </p:nvGrpSpPr>
        <p:grpSpPr>
          <a:xfrm>
            <a:off x="3831335" y="626389"/>
            <a:ext cx="1725295" cy="3237230"/>
            <a:chOff x="3831335" y="626389"/>
            <a:chExt cx="1725295" cy="3237230"/>
          </a:xfrm>
        </p:grpSpPr>
        <p:pic>
          <p:nvPicPr>
            <p:cNvPr id="16" name="object 16"/>
            <p:cNvPicPr/>
            <p:nvPr/>
          </p:nvPicPr>
          <p:blipFill>
            <a:blip r:embed="rId3" cstate="print"/>
            <a:stretch>
              <a:fillRect/>
            </a:stretch>
          </p:blipFill>
          <p:spPr>
            <a:xfrm>
              <a:off x="3831335" y="626389"/>
              <a:ext cx="246964" cy="675106"/>
            </a:xfrm>
            <a:prstGeom prst="rect">
              <a:avLst/>
            </a:prstGeom>
          </p:spPr>
        </p:pic>
        <p:sp>
          <p:nvSpPr>
            <p:cNvPr id="17" name="object 17"/>
            <p:cNvSpPr/>
            <p:nvPr/>
          </p:nvSpPr>
          <p:spPr>
            <a:xfrm>
              <a:off x="3915409" y="727709"/>
              <a:ext cx="84455" cy="438150"/>
            </a:xfrm>
            <a:custGeom>
              <a:avLst/>
              <a:gdLst/>
              <a:ahLst/>
              <a:cxnLst/>
              <a:rect l="l" t="t" r="r" b="b"/>
              <a:pathLst>
                <a:path w="84454" h="438150">
                  <a:moveTo>
                    <a:pt x="0" y="359663"/>
                  </a:moveTo>
                  <a:lnTo>
                    <a:pt x="37084" y="438150"/>
                  </a:lnTo>
                  <a:lnTo>
                    <a:pt x="71140" y="373761"/>
                  </a:lnTo>
                  <a:lnTo>
                    <a:pt x="51435" y="373761"/>
                  </a:lnTo>
                  <a:lnTo>
                    <a:pt x="25526" y="373125"/>
                  </a:lnTo>
                  <a:lnTo>
                    <a:pt x="25813" y="360212"/>
                  </a:lnTo>
                  <a:lnTo>
                    <a:pt x="0" y="359663"/>
                  </a:lnTo>
                  <a:close/>
                </a:path>
                <a:path w="84454" h="438150">
                  <a:moveTo>
                    <a:pt x="25813" y="360212"/>
                  </a:moveTo>
                  <a:lnTo>
                    <a:pt x="25526" y="373125"/>
                  </a:lnTo>
                  <a:lnTo>
                    <a:pt x="51435" y="373761"/>
                  </a:lnTo>
                  <a:lnTo>
                    <a:pt x="51723" y="360762"/>
                  </a:lnTo>
                  <a:lnTo>
                    <a:pt x="25813" y="360212"/>
                  </a:lnTo>
                  <a:close/>
                </a:path>
                <a:path w="84454" h="438150">
                  <a:moveTo>
                    <a:pt x="51723" y="360762"/>
                  </a:moveTo>
                  <a:lnTo>
                    <a:pt x="51435" y="373761"/>
                  </a:lnTo>
                  <a:lnTo>
                    <a:pt x="71140" y="373761"/>
                  </a:lnTo>
                  <a:lnTo>
                    <a:pt x="77724" y="361314"/>
                  </a:lnTo>
                  <a:lnTo>
                    <a:pt x="51723" y="360762"/>
                  </a:lnTo>
                  <a:close/>
                </a:path>
                <a:path w="84454" h="438150">
                  <a:moveTo>
                    <a:pt x="32098" y="77426"/>
                  </a:moveTo>
                  <a:lnTo>
                    <a:pt x="25813" y="360212"/>
                  </a:lnTo>
                  <a:lnTo>
                    <a:pt x="51723" y="360762"/>
                  </a:lnTo>
                  <a:lnTo>
                    <a:pt x="58004" y="78019"/>
                  </a:lnTo>
                  <a:lnTo>
                    <a:pt x="32098" y="77426"/>
                  </a:lnTo>
                  <a:close/>
                </a:path>
                <a:path w="84454" h="438150">
                  <a:moveTo>
                    <a:pt x="77297" y="64515"/>
                  </a:moveTo>
                  <a:lnTo>
                    <a:pt x="32385" y="64515"/>
                  </a:lnTo>
                  <a:lnTo>
                    <a:pt x="58292" y="65024"/>
                  </a:lnTo>
                  <a:lnTo>
                    <a:pt x="58004" y="78019"/>
                  </a:lnTo>
                  <a:lnTo>
                    <a:pt x="83947" y="78612"/>
                  </a:lnTo>
                  <a:lnTo>
                    <a:pt x="77297" y="64515"/>
                  </a:lnTo>
                  <a:close/>
                </a:path>
                <a:path w="84454" h="438150">
                  <a:moveTo>
                    <a:pt x="32385" y="64515"/>
                  </a:moveTo>
                  <a:lnTo>
                    <a:pt x="32098" y="77426"/>
                  </a:lnTo>
                  <a:lnTo>
                    <a:pt x="58004" y="78019"/>
                  </a:lnTo>
                  <a:lnTo>
                    <a:pt x="58292" y="65024"/>
                  </a:lnTo>
                  <a:lnTo>
                    <a:pt x="32385" y="64515"/>
                  </a:lnTo>
                  <a:close/>
                </a:path>
                <a:path w="84454" h="438150">
                  <a:moveTo>
                    <a:pt x="46862" y="0"/>
                  </a:moveTo>
                  <a:lnTo>
                    <a:pt x="6223" y="76835"/>
                  </a:lnTo>
                  <a:lnTo>
                    <a:pt x="32098" y="77426"/>
                  </a:lnTo>
                  <a:lnTo>
                    <a:pt x="32385" y="64515"/>
                  </a:lnTo>
                  <a:lnTo>
                    <a:pt x="77297" y="64515"/>
                  </a:lnTo>
                  <a:lnTo>
                    <a:pt x="46862" y="0"/>
                  </a:lnTo>
                  <a:close/>
                </a:path>
              </a:pathLst>
            </a:custGeom>
            <a:solidFill>
              <a:srgbClr val="FBB64B"/>
            </a:solidFill>
          </p:spPr>
          <p:txBody>
            <a:bodyPr wrap="square" lIns="0" tIns="0" rIns="0" bIns="0" rtlCol="0"/>
            <a:lstStyle/>
            <a:p>
              <a:endParaRPr/>
            </a:p>
          </p:txBody>
        </p:sp>
        <p:sp>
          <p:nvSpPr>
            <p:cNvPr id="18" name="object 18"/>
            <p:cNvSpPr/>
            <p:nvPr/>
          </p:nvSpPr>
          <p:spPr>
            <a:xfrm>
              <a:off x="4071365" y="3400805"/>
              <a:ext cx="1472565" cy="449580"/>
            </a:xfrm>
            <a:custGeom>
              <a:avLst/>
              <a:gdLst/>
              <a:ahLst/>
              <a:cxnLst/>
              <a:rect l="l" t="t" r="r" b="b"/>
              <a:pathLst>
                <a:path w="1472564" h="449579">
                  <a:moveTo>
                    <a:pt x="1397254" y="0"/>
                  </a:moveTo>
                  <a:lnTo>
                    <a:pt x="74930" y="0"/>
                  </a:lnTo>
                  <a:lnTo>
                    <a:pt x="45755" y="5885"/>
                  </a:lnTo>
                  <a:lnTo>
                    <a:pt x="21939" y="21939"/>
                  </a:lnTo>
                  <a:lnTo>
                    <a:pt x="5885" y="45755"/>
                  </a:lnTo>
                  <a:lnTo>
                    <a:pt x="0" y="74930"/>
                  </a:lnTo>
                  <a:lnTo>
                    <a:pt x="0" y="374650"/>
                  </a:lnTo>
                  <a:lnTo>
                    <a:pt x="5885" y="403824"/>
                  </a:lnTo>
                  <a:lnTo>
                    <a:pt x="21939" y="427640"/>
                  </a:lnTo>
                  <a:lnTo>
                    <a:pt x="45755" y="443694"/>
                  </a:lnTo>
                  <a:lnTo>
                    <a:pt x="74930" y="449580"/>
                  </a:lnTo>
                  <a:lnTo>
                    <a:pt x="1397254" y="449580"/>
                  </a:lnTo>
                  <a:lnTo>
                    <a:pt x="1426428" y="443694"/>
                  </a:lnTo>
                  <a:lnTo>
                    <a:pt x="1450244" y="427640"/>
                  </a:lnTo>
                  <a:lnTo>
                    <a:pt x="1466298" y="403824"/>
                  </a:lnTo>
                  <a:lnTo>
                    <a:pt x="1472184" y="374650"/>
                  </a:lnTo>
                  <a:lnTo>
                    <a:pt x="1472184" y="74930"/>
                  </a:lnTo>
                  <a:lnTo>
                    <a:pt x="1466298" y="45755"/>
                  </a:lnTo>
                  <a:lnTo>
                    <a:pt x="1450244" y="21939"/>
                  </a:lnTo>
                  <a:lnTo>
                    <a:pt x="1426428" y="5885"/>
                  </a:lnTo>
                  <a:lnTo>
                    <a:pt x="1397254" y="0"/>
                  </a:lnTo>
                  <a:close/>
                </a:path>
              </a:pathLst>
            </a:custGeom>
            <a:solidFill>
              <a:srgbClr val="FFFFFF"/>
            </a:solidFill>
          </p:spPr>
          <p:txBody>
            <a:bodyPr wrap="square" lIns="0" tIns="0" rIns="0" bIns="0" rtlCol="0"/>
            <a:lstStyle/>
            <a:p>
              <a:endParaRPr/>
            </a:p>
          </p:txBody>
        </p:sp>
        <p:sp>
          <p:nvSpPr>
            <p:cNvPr id="19" name="object 19"/>
            <p:cNvSpPr/>
            <p:nvPr/>
          </p:nvSpPr>
          <p:spPr>
            <a:xfrm>
              <a:off x="4071365" y="3400805"/>
              <a:ext cx="1472565" cy="449580"/>
            </a:xfrm>
            <a:custGeom>
              <a:avLst/>
              <a:gdLst/>
              <a:ahLst/>
              <a:cxnLst/>
              <a:rect l="l" t="t" r="r" b="b"/>
              <a:pathLst>
                <a:path w="1472564" h="449579">
                  <a:moveTo>
                    <a:pt x="0" y="74930"/>
                  </a:moveTo>
                  <a:lnTo>
                    <a:pt x="5885" y="45755"/>
                  </a:lnTo>
                  <a:lnTo>
                    <a:pt x="21939" y="21939"/>
                  </a:lnTo>
                  <a:lnTo>
                    <a:pt x="45755" y="5885"/>
                  </a:lnTo>
                  <a:lnTo>
                    <a:pt x="74930" y="0"/>
                  </a:lnTo>
                  <a:lnTo>
                    <a:pt x="1397254" y="0"/>
                  </a:lnTo>
                  <a:lnTo>
                    <a:pt x="1426428" y="5885"/>
                  </a:lnTo>
                  <a:lnTo>
                    <a:pt x="1450244" y="21939"/>
                  </a:lnTo>
                  <a:lnTo>
                    <a:pt x="1466298" y="45755"/>
                  </a:lnTo>
                  <a:lnTo>
                    <a:pt x="1472184" y="74930"/>
                  </a:lnTo>
                  <a:lnTo>
                    <a:pt x="1472184" y="374650"/>
                  </a:lnTo>
                  <a:lnTo>
                    <a:pt x="1466298" y="403824"/>
                  </a:lnTo>
                  <a:lnTo>
                    <a:pt x="1450244" y="427640"/>
                  </a:lnTo>
                  <a:lnTo>
                    <a:pt x="1426428" y="443694"/>
                  </a:lnTo>
                  <a:lnTo>
                    <a:pt x="1397254" y="449580"/>
                  </a:lnTo>
                  <a:lnTo>
                    <a:pt x="74930" y="449580"/>
                  </a:lnTo>
                  <a:lnTo>
                    <a:pt x="45755" y="443694"/>
                  </a:lnTo>
                  <a:lnTo>
                    <a:pt x="21939" y="427640"/>
                  </a:lnTo>
                  <a:lnTo>
                    <a:pt x="5885" y="403824"/>
                  </a:lnTo>
                  <a:lnTo>
                    <a:pt x="0" y="374650"/>
                  </a:lnTo>
                  <a:lnTo>
                    <a:pt x="0" y="74930"/>
                  </a:lnTo>
                  <a:close/>
                </a:path>
              </a:pathLst>
            </a:custGeom>
            <a:ln w="25908">
              <a:solidFill>
                <a:srgbClr val="464646"/>
              </a:solidFill>
            </a:ln>
          </p:spPr>
          <p:txBody>
            <a:bodyPr wrap="square" lIns="0" tIns="0" rIns="0" bIns="0" rtlCol="0"/>
            <a:lstStyle/>
            <a:p>
              <a:endParaRPr/>
            </a:p>
          </p:txBody>
        </p:sp>
      </p:grpSp>
      <p:sp>
        <p:nvSpPr>
          <p:cNvPr id="20" name="object 20"/>
          <p:cNvSpPr txBox="1"/>
          <p:nvPr/>
        </p:nvSpPr>
        <p:spPr>
          <a:xfrm>
            <a:off x="4383404" y="3470275"/>
            <a:ext cx="84963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L</a:t>
            </a:r>
            <a:r>
              <a:rPr sz="1800" spc="-15" dirty="0">
                <a:solidFill>
                  <a:srgbClr val="464646"/>
                </a:solidFill>
                <a:latin typeface="Arial MT"/>
                <a:cs typeface="Arial MT"/>
              </a:rPr>
              <a:t>a</a:t>
            </a:r>
            <a:r>
              <a:rPr sz="1800" spc="-5" dirty="0">
                <a:solidFill>
                  <a:srgbClr val="464646"/>
                </a:solidFill>
                <a:latin typeface="Arial MT"/>
                <a:cs typeface="Arial MT"/>
              </a:rPr>
              <a:t>mb</a:t>
            </a:r>
            <a:r>
              <a:rPr sz="1800" spc="-15" dirty="0">
                <a:solidFill>
                  <a:srgbClr val="464646"/>
                </a:solidFill>
                <a:latin typeface="Arial MT"/>
                <a:cs typeface="Arial MT"/>
              </a:rPr>
              <a:t>d</a:t>
            </a:r>
            <a:r>
              <a:rPr sz="1800" spc="-5" dirty="0">
                <a:solidFill>
                  <a:srgbClr val="464646"/>
                </a:solidFill>
                <a:latin typeface="Arial MT"/>
                <a:cs typeface="Arial MT"/>
              </a:rPr>
              <a:t>a</a:t>
            </a:r>
            <a:endParaRPr sz="1800">
              <a:latin typeface="Arial MT"/>
              <a:cs typeface="Arial MT"/>
            </a:endParaRPr>
          </a:p>
        </p:txBody>
      </p:sp>
      <p:grpSp>
        <p:nvGrpSpPr>
          <p:cNvPr id="21" name="object 21"/>
          <p:cNvGrpSpPr/>
          <p:nvPr/>
        </p:nvGrpSpPr>
        <p:grpSpPr>
          <a:xfrm>
            <a:off x="5730176" y="3389312"/>
            <a:ext cx="1498600" cy="475615"/>
            <a:chOff x="5730176" y="3389312"/>
            <a:chExt cx="1498600" cy="475615"/>
          </a:xfrm>
        </p:grpSpPr>
        <p:sp>
          <p:nvSpPr>
            <p:cNvPr id="22" name="object 22"/>
            <p:cNvSpPr/>
            <p:nvPr/>
          </p:nvSpPr>
          <p:spPr>
            <a:xfrm>
              <a:off x="5743194" y="3402329"/>
              <a:ext cx="1472565" cy="449580"/>
            </a:xfrm>
            <a:custGeom>
              <a:avLst/>
              <a:gdLst/>
              <a:ahLst/>
              <a:cxnLst/>
              <a:rect l="l" t="t" r="r" b="b"/>
              <a:pathLst>
                <a:path w="1472565" h="449579">
                  <a:moveTo>
                    <a:pt x="1397253" y="0"/>
                  </a:moveTo>
                  <a:lnTo>
                    <a:pt x="74929" y="0"/>
                  </a:lnTo>
                  <a:lnTo>
                    <a:pt x="45755" y="5885"/>
                  </a:lnTo>
                  <a:lnTo>
                    <a:pt x="21939" y="21939"/>
                  </a:lnTo>
                  <a:lnTo>
                    <a:pt x="5885" y="45755"/>
                  </a:lnTo>
                  <a:lnTo>
                    <a:pt x="0" y="74930"/>
                  </a:lnTo>
                  <a:lnTo>
                    <a:pt x="0" y="374650"/>
                  </a:lnTo>
                  <a:lnTo>
                    <a:pt x="5885" y="403824"/>
                  </a:lnTo>
                  <a:lnTo>
                    <a:pt x="21939" y="427640"/>
                  </a:lnTo>
                  <a:lnTo>
                    <a:pt x="45755" y="443694"/>
                  </a:lnTo>
                  <a:lnTo>
                    <a:pt x="74929" y="449580"/>
                  </a:lnTo>
                  <a:lnTo>
                    <a:pt x="1397253" y="449580"/>
                  </a:lnTo>
                  <a:lnTo>
                    <a:pt x="1426428" y="443694"/>
                  </a:lnTo>
                  <a:lnTo>
                    <a:pt x="1450244" y="427640"/>
                  </a:lnTo>
                  <a:lnTo>
                    <a:pt x="1466298" y="403824"/>
                  </a:lnTo>
                  <a:lnTo>
                    <a:pt x="1472183" y="374650"/>
                  </a:lnTo>
                  <a:lnTo>
                    <a:pt x="1472183" y="74930"/>
                  </a:lnTo>
                  <a:lnTo>
                    <a:pt x="1466298" y="45755"/>
                  </a:lnTo>
                  <a:lnTo>
                    <a:pt x="1450244" y="21939"/>
                  </a:lnTo>
                  <a:lnTo>
                    <a:pt x="1426428" y="5885"/>
                  </a:lnTo>
                  <a:lnTo>
                    <a:pt x="1397253" y="0"/>
                  </a:lnTo>
                  <a:close/>
                </a:path>
              </a:pathLst>
            </a:custGeom>
            <a:solidFill>
              <a:srgbClr val="FFFFFF"/>
            </a:solidFill>
          </p:spPr>
          <p:txBody>
            <a:bodyPr wrap="square" lIns="0" tIns="0" rIns="0" bIns="0" rtlCol="0"/>
            <a:lstStyle/>
            <a:p>
              <a:endParaRPr/>
            </a:p>
          </p:txBody>
        </p:sp>
        <p:sp>
          <p:nvSpPr>
            <p:cNvPr id="23" name="object 23"/>
            <p:cNvSpPr/>
            <p:nvPr/>
          </p:nvSpPr>
          <p:spPr>
            <a:xfrm>
              <a:off x="5743194" y="3402329"/>
              <a:ext cx="1472565" cy="449580"/>
            </a:xfrm>
            <a:custGeom>
              <a:avLst/>
              <a:gdLst/>
              <a:ahLst/>
              <a:cxnLst/>
              <a:rect l="l" t="t" r="r" b="b"/>
              <a:pathLst>
                <a:path w="1472565" h="449579">
                  <a:moveTo>
                    <a:pt x="0" y="74930"/>
                  </a:moveTo>
                  <a:lnTo>
                    <a:pt x="5885" y="45755"/>
                  </a:lnTo>
                  <a:lnTo>
                    <a:pt x="21939" y="21939"/>
                  </a:lnTo>
                  <a:lnTo>
                    <a:pt x="45755" y="5885"/>
                  </a:lnTo>
                  <a:lnTo>
                    <a:pt x="74929" y="0"/>
                  </a:lnTo>
                  <a:lnTo>
                    <a:pt x="1397253" y="0"/>
                  </a:lnTo>
                  <a:lnTo>
                    <a:pt x="1426428" y="5885"/>
                  </a:lnTo>
                  <a:lnTo>
                    <a:pt x="1450244" y="21939"/>
                  </a:lnTo>
                  <a:lnTo>
                    <a:pt x="1466298" y="45755"/>
                  </a:lnTo>
                  <a:lnTo>
                    <a:pt x="1472183" y="74930"/>
                  </a:lnTo>
                  <a:lnTo>
                    <a:pt x="1472183" y="374650"/>
                  </a:lnTo>
                  <a:lnTo>
                    <a:pt x="1466298" y="403824"/>
                  </a:lnTo>
                  <a:lnTo>
                    <a:pt x="1450244" y="427640"/>
                  </a:lnTo>
                  <a:lnTo>
                    <a:pt x="1426428" y="443694"/>
                  </a:lnTo>
                  <a:lnTo>
                    <a:pt x="1397253" y="449580"/>
                  </a:lnTo>
                  <a:lnTo>
                    <a:pt x="74929" y="449580"/>
                  </a:lnTo>
                  <a:lnTo>
                    <a:pt x="45755" y="443694"/>
                  </a:lnTo>
                  <a:lnTo>
                    <a:pt x="21939" y="427640"/>
                  </a:lnTo>
                  <a:lnTo>
                    <a:pt x="5885" y="403824"/>
                  </a:lnTo>
                  <a:lnTo>
                    <a:pt x="0" y="374650"/>
                  </a:lnTo>
                  <a:lnTo>
                    <a:pt x="0" y="74930"/>
                  </a:lnTo>
                  <a:close/>
                </a:path>
              </a:pathLst>
            </a:custGeom>
            <a:ln w="25907">
              <a:solidFill>
                <a:srgbClr val="464646"/>
              </a:solidFill>
            </a:ln>
          </p:spPr>
          <p:txBody>
            <a:bodyPr wrap="square" lIns="0" tIns="0" rIns="0" bIns="0" rtlCol="0"/>
            <a:lstStyle/>
            <a:p>
              <a:endParaRPr/>
            </a:p>
          </p:txBody>
        </p:sp>
      </p:grpSp>
      <p:sp>
        <p:nvSpPr>
          <p:cNvPr id="24" name="object 24"/>
          <p:cNvSpPr txBox="1"/>
          <p:nvPr/>
        </p:nvSpPr>
        <p:spPr>
          <a:xfrm>
            <a:off x="5885815" y="3488563"/>
            <a:ext cx="1185545" cy="269240"/>
          </a:xfrm>
          <a:prstGeom prst="rect">
            <a:avLst/>
          </a:prstGeom>
        </p:spPr>
        <p:txBody>
          <a:bodyPr vert="horz" wrap="square" lIns="0" tIns="12065" rIns="0" bIns="0" rtlCol="0">
            <a:spAutoFit/>
          </a:bodyPr>
          <a:lstStyle/>
          <a:p>
            <a:pPr marL="12700">
              <a:lnSpc>
                <a:spcPct val="100000"/>
              </a:lnSpc>
              <a:spcBef>
                <a:spcPts val="95"/>
              </a:spcBef>
            </a:pPr>
            <a:r>
              <a:rPr sz="1600" spc="-15" dirty="0">
                <a:solidFill>
                  <a:srgbClr val="464646"/>
                </a:solidFill>
                <a:latin typeface="Arial MT"/>
                <a:cs typeface="Arial MT"/>
              </a:rPr>
              <a:t>O</a:t>
            </a:r>
            <a:r>
              <a:rPr sz="1600" spc="-5" dirty="0">
                <a:solidFill>
                  <a:srgbClr val="464646"/>
                </a:solidFill>
                <a:latin typeface="Arial MT"/>
                <a:cs typeface="Arial MT"/>
              </a:rPr>
              <a:t>n</a:t>
            </a:r>
            <a:r>
              <a:rPr sz="1600" spc="-10" dirty="0">
                <a:solidFill>
                  <a:srgbClr val="464646"/>
                </a:solidFill>
                <a:latin typeface="Arial MT"/>
                <a:cs typeface="Arial MT"/>
              </a:rPr>
              <a:t>-</a:t>
            </a:r>
            <a:r>
              <a:rPr sz="1600" spc="-5" dirty="0">
                <a:solidFill>
                  <a:srgbClr val="464646"/>
                </a:solidFill>
                <a:latin typeface="Arial MT"/>
                <a:cs typeface="Arial MT"/>
              </a:rPr>
              <a:t>premises</a:t>
            </a:r>
            <a:endParaRPr sz="1600">
              <a:latin typeface="Arial MT"/>
              <a:cs typeface="Arial MT"/>
            </a:endParaRPr>
          </a:p>
        </p:txBody>
      </p:sp>
      <p:sp>
        <p:nvSpPr>
          <p:cNvPr id="25" name="object 25"/>
          <p:cNvSpPr txBox="1">
            <a:spLocks noGrp="1"/>
          </p:cNvSpPr>
          <p:nvPr>
            <p:ph type="title"/>
          </p:nvPr>
        </p:nvSpPr>
        <p:spPr>
          <a:xfrm>
            <a:off x="415544" y="121666"/>
            <a:ext cx="5782310"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Network</a:t>
            </a:r>
            <a:r>
              <a:rPr u="none" spc="10" dirty="0">
                <a:solidFill>
                  <a:srgbClr val="4D4D4B"/>
                </a:solidFill>
              </a:rPr>
              <a:t> </a:t>
            </a:r>
            <a:r>
              <a:rPr u="none" spc="-5" dirty="0">
                <a:solidFill>
                  <a:srgbClr val="4D4D4B"/>
                </a:solidFill>
              </a:rPr>
              <a:t>Load</a:t>
            </a:r>
            <a:r>
              <a:rPr u="none" spc="15" dirty="0">
                <a:solidFill>
                  <a:srgbClr val="4D4D4B"/>
                </a:solidFill>
              </a:rPr>
              <a:t> </a:t>
            </a:r>
            <a:r>
              <a:rPr u="none" spc="-5" dirty="0">
                <a:solidFill>
                  <a:srgbClr val="4D4D4B"/>
                </a:solidFill>
              </a:rPr>
              <a:t>Balancer</a:t>
            </a:r>
            <a:r>
              <a:rPr u="none" spc="35" dirty="0">
                <a:solidFill>
                  <a:srgbClr val="4D4D4B"/>
                </a:solidFill>
              </a:rPr>
              <a:t> </a:t>
            </a:r>
            <a:r>
              <a:rPr u="none" spc="-5" dirty="0">
                <a:solidFill>
                  <a:srgbClr val="4D4D4B"/>
                </a:solidFill>
              </a:rPr>
              <a:t>–</a:t>
            </a:r>
            <a:r>
              <a:rPr u="none" dirty="0">
                <a:solidFill>
                  <a:srgbClr val="4D4D4B"/>
                </a:solidFill>
              </a:rPr>
              <a:t> </a:t>
            </a:r>
            <a:r>
              <a:rPr u="none" spc="-5" dirty="0">
                <a:solidFill>
                  <a:srgbClr val="4D4D4B"/>
                </a:solidFill>
              </a:rPr>
              <a:t>Static</a:t>
            </a:r>
            <a:r>
              <a:rPr u="none" dirty="0">
                <a:solidFill>
                  <a:srgbClr val="4D4D4B"/>
                </a:solidFill>
              </a:rPr>
              <a:t> </a:t>
            </a:r>
            <a:r>
              <a:rPr u="none" spc="-5" dirty="0">
                <a:solidFill>
                  <a:srgbClr val="4D4D4B"/>
                </a:solidFill>
              </a:rPr>
              <a:t>IP</a:t>
            </a:r>
          </a:p>
        </p:txBody>
      </p:sp>
      <p:sp>
        <p:nvSpPr>
          <p:cNvPr id="26" name="object 26"/>
          <p:cNvSpPr/>
          <p:nvPr/>
        </p:nvSpPr>
        <p:spPr>
          <a:xfrm>
            <a:off x="872489" y="1338833"/>
            <a:ext cx="1529080" cy="509270"/>
          </a:xfrm>
          <a:custGeom>
            <a:avLst/>
            <a:gdLst/>
            <a:ahLst/>
            <a:cxnLst/>
            <a:rect l="l" t="t" r="r" b="b"/>
            <a:pathLst>
              <a:path w="1529080" h="509269">
                <a:moveTo>
                  <a:pt x="0" y="84836"/>
                </a:moveTo>
                <a:lnTo>
                  <a:pt x="6667" y="51810"/>
                </a:lnTo>
                <a:lnTo>
                  <a:pt x="24849" y="24844"/>
                </a:lnTo>
                <a:lnTo>
                  <a:pt x="51815" y="6665"/>
                </a:lnTo>
                <a:lnTo>
                  <a:pt x="84835" y="0"/>
                </a:lnTo>
                <a:lnTo>
                  <a:pt x="1443736" y="0"/>
                </a:lnTo>
                <a:lnTo>
                  <a:pt x="1476761" y="6665"/>
                </a:lnTo>
                <a:lnTo>
                  <a:pt x="1503727" y="24844"/>
                </a:lnTo>
                <a:lnTo>
                  <a:pt x="1521906" y="51810"/>
                </a:lnTo>
                <a:lnTo>
                  <a:pt x="1528572" y="84836"/>
                </a:lnTo>
                <a:lnTo>
                  <a:pt x="1528572" y="424179"/>
                </a:lnTo>
                <a:lnTo>
                  <a:pt x="1521906" y="457205"/>
                </a:lnTo>
                <a:lnTo>
                  <a:pt x="1503727" y="484171"/>
                </a:lnTo>
                <a:lnTo>
                  <a:pt x="1476761" y="502350"/>
                </a:lnTo>
                <a:lnTo>
                  <a:pt x="1443736" y="509015"/>
                </a:lnTo>
                <a:lnTo>
                  <a:pt x="84835" y="509015"/>
                </a:lnTo>
                <a:lnTo>
                  <a:pt x="51815" y="502350"/>
                </a:lnTo>
                <a:lnTo>
                  <a:pt x="24849" y="484171"/>
                </a:lnTo>
                <a:lnTo>
                  <a:pt x="6667" y="457205"/>
                </a:lnTo>
                <a:lnTo>
                  <a:pt x="0" y="424179"/>
                </a:lnTo>
                <a:lnTo>
                  <a:pt x="0" y="84836"/>
                </a:lnTo>
                <a:close/>
              </a:path>
            </a:pathLst>
          </a:custGeom>
          <a:ln w="25908">
            <a:solidFill>
              <a:srgbClr val="464646"/>
            </a:solidFill>
          </a:ln>
        </p:spPr>
        <p:txBody>
          <a:bodyPr wrap="square" lIns="0" tIns="0" rIns="0" bIns="0" rtlCol="0"/>
          <a:lstStyle/>
          <a:p>
            <a:endParaRPr/>
          </a:p>
        </p:txBody>
      </p:sp>
      <p:sp>
        <p:nvSpPr>
          <p:cNvPr id="27" name="object 27"/>
          <p:cNvSpPr txBox="1"/>
          <p:nvPr/>
        </p:nvSpPr>
        <p:spPr>
          <a:xfrm>
            <a:off x="1243685" y="1332103"/>
            <a:ext cx="782320" cy="513080"/>
          </a:xfrm>
          <a:prstGeom prst="rect">
            <a:avLst/>
          </a:prstGeom>
        </p:spPr>
        <p:txBody>
          <a:bodyPr vert="horz" wrap="square" lIns="0" tIns="12065" rIns="0" bIns="0" rtlCol="0">
            <a:spAutoFit/>
          </a:bodyPr>
          <a:lstStyle/>
          <a:p>
            <a:pPr marL="177165" marR="5080" indent="-165100">
              <a:lnSpc>
                <a:spcPct val="100000"/>
              </a:lnSpc>
              <a:spcBef>
                <a:spcPts val="95"/>
              </a:spcBef>
            </a:pPr>
            <a:r>
              <a:rPr sz="1600" spc="-5" dirty="0">
                <a:solidFill>
                  <a:srgbClr val="464646"/>
                </a:solidFill>
                <a:latin typeface="Arial MT"/>
                <a:cs typeface="Arial MT"/>
              </a:rPr>
              <a:t>Static</a:t>
            </a:r>
            <a:r>
              <a:rPr sz="1600" spc="-65" dirty="0">
                <a:solidFill>
                  <a:srgbClr val="464646"/>
                </a:solidFill>
                <a:latin typeface="Arial MT"/>
                <a:cs typeface="Arial MT"/>
              </a:rPr>
              <a:t> </a:t>
            </a:r>
            <a:r>
              <a:rPr sz="1600" spc="-5" dirty="0">
                <a:solidFill>
                  <a:srgbClr val="464646"/>
                </a:solidFill>
                <a:latin typeface="Arial MT"/>
                <a:cs typeface="Arial MT"/>
              </a:rPr>
              <a:t>IP </a:t>
            </a:r>
            <a:r>
              <a:rPr sz="1600" spc="-430" dirty="0">
                <a:solidFill>
                  <a:srgbClr val="464646"/>
                </a:solidFill>
                <a:latin typeface="Arial MT"/>
                <a:cs typeface="Arial MT"/>
              </a:rPr>
              <a:t> </a:t>
            </a:r>
            <a:r>
              <a:rPr sz="1600" spc="-5" dirty="0">
                <a:solidFill>
                  <a:srgbClr val="464646"/>
                </a:solidFill>
                <a:latin typeface="Arial MT"/>
                <a:cs typeface="Arial MT"/>
              </a:rPr>
              <a:t>AZ</a:t>
            </a:r>
            <a:r>
              <a:rPr sz="1600" spc="-30" dirty="0">
                <a:solidFill>
                  <a:srgbClr val="464646"/>
                </a:solidFill>
                <a:latin typeface="Arial MT"/>
                <a:cs typeface="Arial MT"/>
              </a:rPr>
              <a:t> </a:t>
            </a:r>
            <a:r>
              <a:rPr sz="1600" spc="-5" dirty="0">
                <a:solidFill>
                  <a:srgbClr val="464646"/>
                </a:solidFill>
                <a:latin typeface="Arial MT"/>
                <a:cs typeface="Arial MT"/>
              </a:rPr>
              <a:t>1</a:t>
            </a:r>
            <a:endParaRPr sz="1600">
              <a:latin typeface="Arial MT"/>
              <a:cs typeface="Arial MT"/>
            </a:endParaRPr>
          </a:p>
        </p:txBody>
      </p:sp>
      <p:sp>
        <p:nvSpPr>
          <p:cNvPr id="28" name="object 28"/>
          <p:cNvSpPr/>
          <p:nvPr/>
        </p:nvSpPr>
        <p:spPr>
          <a:xfrm>
            <a:off x="3214877" y="1338833"/>
            <a:ext cx="1529080" cy="509270"/>
          </a:xfrm>
          <a:custGeom>
            <a:avLst/>
            <a:gdLst/>
            <a:ahLst/>
            <a:cxnLst/>
            <a:rect l="l" t="t" r="r" b="b"/>
            <a:pathLst>
              <a:path w="1529079" h="509269">
                <a:moveTo>
                  <a:pt x="0" y="84836"/>
                </a:moveTo>
                <a:lnTo>
                  <a:pt x="6665" y="51810"/>
                </a:lnTo>
                <a:lnTo>
                  <a:pt x="24844" y="24844"/>
                </a:lnTo>
                <a:lnTo>
                  <a:pt x="51810" y="6665"/>
                </a:lnTo>
                <a:lnTo>
                  <a:pt x="84836" y="0"/>
                </a:lnTo>
                <a:lnTo>
                  <a:pt x="1443736" y="0"/>
                </a:lnTo>
                <a:lnTo>
                  <a:pt x="1476761" y="6665"/>
                </a:lnTo>
                <a:lnTo>
                  <a:pt x="1503727" y="24844"/>
                </a:lnTo>
                <a:lnTo>
                  <a:pt x="1521906" y="51810"/>
                </a:lnTo>
                <a:lnTo>
                  <a:pt x="1528572" y="84836"/>
                </a:lnTo>
                <a:lnTo>
                  <a:pt x="1528572" y="424179"/>
                </a:lnTo>
                <a:lnTo>
                  <a:pt x="1521906" y="457205"/>
                </a:lnTo>
                <a:lnTo>
                  <a:pt x="1503727" y="484171"/>
                </a:lnTo>
                <a:lnTo>
                  <a:pt x="1476761" y="502350"/>
                </a:lnTo>
                <a:lnTo>
                  <a:pt x="1443736" y="509015"/>
                </a:lnTo>
                <a:lnTo>
                  <a:pt x="84836" y="509015"/>
                </a:lnTo>
                <a:lnTo>
                  <a:pt x="51810" y="502350"/>
                </a:lnTo>
                <a:lnTo>
                  <a:pt x="24844" y="484171"/>
                </a:lnTo>
                <a:lnTo>
                  <a:pt x="6665" y="457205"/>
                </a:lnTo>
                <a:lnTo>
                  <a:pt x="0" y="424179"/>
                </a:lnTo>
                <a:lnTo>
                  <a:pt x="0" y="84836"/>
                </a:lnTo>
                <a:close/>
              </a:path>
            </a:pathLst>
          </a:custGeom>
          <a:ln w="25908">
            <a:solidFill>
              <a:srgbClr val="464646"/>
            </a:solidFill>
          </a:ln>
        </p:spPr>
        <p:txBody>
          <a:bodyPr wrap="square" lIns="0" tIns="0" rIns="0" bIns="0" rtlCol="0"/>
          <a:lstStyle/>
          <a:p>
            <a:endParaRPr/>
          </a:p>
        </p:txBody>
      </p:sp>
      <p:sp>
        <p:nvSpPr>
          <p:cNvPr id="29" name="object 29"/>
          <p:cNvSpPr txBox="1"/>
          <p:nvPr/>
        </p:nvSpPr>
        <p:spPr>
          <a:xfrm>
            <a:off x="2883535" y="1332103"/>
            <a:ext cx="2136140" cy="807720"/>
          </a:xfrm>
          <a:prstGeom prst="rect">
            <a:avLst/>
          </a:prstGeom>
        </p:spPr>
        <p:txBody>
          <a:bodyPr vert="horz" wrap="square" lIns="0" tIns="12065" rIns="0" bIns="0" rtlCol="0">
            <a:spAutoFit/>
          </a:bodyPr>
          <a:lstStyle/>
          <a:p>
            <a:pPr marL="715010" marR="655955" algn="ctr">
              <a:lnSpc>
                <a:spcPct val="100000"/>
              </a:lnSpc>
              <a:spcBef>
                <a:spcPts val="95"/>
              </a:spcBef>
            </a:pPr>
            <a:r>
              <a:rPr sz="1600" spc="-5" dirty="0">
                <a:solidFill>
                  <a:srgbClr val="464646"/>
                </a:solidFill>
                <a:latin typeface="Arial MT"/>
                <a:cs typeface="Arial MT"/>
              </a:rPr>
              <a:t>Static</a:t>
            </a:r>
            <a:r>
              <a:rPr sz="1600" spc="-65" dirty="0">
                <a:solidFill>
                  <a:srgbClr val="464646"/>
                </a:solidFill>
                <a:latin typeface="Arial MT"/>
                <a:cs typeface="Arial MT"/>
              </a:rPr>
              <a:t> </a:t>
            </a:r>
            <a:r>
              <a:rPr sz="1600" spc="-5" dirty="0">
                <a:solidFill>
                  <a:srgbClr val="464646"/>
                </a:solidFill>
                <a:latin typeface="Arial MT"/>
                <a:cs typeface="Arial MT"/>
              </a:rPr>
              <a:t>IP </a:t>
            </a:r>
            <a:r>
              <a:rPr sz="1600" spc="-430" dirty="0">
                <a:solidFill>
                  <a:srgbClr val="464646"/>
                </a:solidFill>
                <a:latin typeface="Arial MT"/>
                <a:cs typeface="Arial MT"/>
              </a:rPr>
              <a:t> </a:t>
            </a:r>
            <a:r>
              <a:rPr sz="1600" spc="-5" dirty="0">
                <a:solidFill>
                  <a:srgbClr val="464646"/>
                </a:solidFill>
                <a:latin typeface="Arial MT"/>
                <a:cs typeface="Arial MT"/>
              </a:rPr>
              <a:t>AZ</a:t>
            </a:r>
            <a:r>
              <a:rPr sz="1600" spc="-20" dirty="0">
                <a:solidFill>
                  <a:srgbClr val="464646"/>
                </a:solidFill>
                <a:latin typeface="Arial MT"/>
                <a:cs typeface="Arial MT"/>
              </a:rPr>
              <a:t> </a:t>
            </a:r>
            <a:r>
              <a:rPr sz="1600" spc="-5" dirty="0">
                <a:solidFill>
                  <a:srgbClr val="464646"/>
                </a:solidFill>
                <a:latin typeface="Arial MT"/>
                <a:cs typeface="Arial MT"/>
              </a:rPr>
              <a:t>2</a:t>
            </a:r>
            <a:endParaRPr sz="1600">
              <a:latin typeface="Arial MT"/>
              <a:cs typeface="Arial MT"/>
            </a:endParaRPr>
          </a:p>
          <a:p>
            <a:pPr algn="ctr">
              <a:lnSpc>
                <a:spcPct val="100000"/>
              </a:lnSpc>
              <a:spcBef>
                <a:spcPts val="400"/>
              </a:spcBef>
            </a:pPr>
            <a:r>
              <a:rPr sz="1600" spc="-5" dirty="0">
                <a:solidFill>
                  <a:srgbClr val="464646"/>
                </a:solidFill>
                <a:latin typeface="Arial MT"/>
                <a:cs typeface="Arial MT"/>
              </a:rPr>
              <a:t>Network Load</a:t>
            </a:r>
            <a:r>
              <a:rPr sz="1600" spc="-30" dirty="0">
                <a:solidFill>
                  <a:srgbClr val="464646"/>
                </a:solidFill>
                <a:latin typeface="Arial MT"/>
                <a:cs typeface="Arial MT"/>
              </a:rPr>
              <a:t> </a:t>
            </a:r>
            <a:r>
              <a:rPr sz="1600" spc="-5" dirty="0">
                <a:solidFill>
                  <a:srgbClr val="464646"/>
                </a:solidFill>
                <a:latin typeface="Arial MT"/>
                <a:cs typeface="Arial MT"/>
              </a:rPr>
              <a:t>Balancer</a:t>
            </a:r>
            <a:endParaRPr sz="1600">
              <a:latin typeface="Arial MT"/>
              <a:cs typeface="Arial MT"/>
            </a:endParaRPr>
          </a:p>
        </p:txBody>
      </p:sp>
      <p:sp>
        <p:nvSpPr>
          <p:cNvPr id="30" name="object 30"/>
          <p:cNvSpPr/>
          <p:nvPr/>
        </p:nvSpPr>
        <p:spPr>
          <a:xfrm>
            <a:off x="5555741" y="1338833"/>
            <a:ext cx="1530350" cy="509270"/>
          </a:xfrm>
          <a:custGeom>
            <a:avLst/>
            <a:gdLst/>
            <a:ahLst/>
            <a:cxnLst/>
            <a:rect l="l" t="t" r="r" b="b"/>
            <a:pathLst>
              <a:path w="1530350" h="509269">
                <a:moveTo>
                  <a:pt x="0" y="84836"/>
                </a:moveTo>
                <a:lnTo>
                  <a:pt x="6665" y="51810"/>
                </a:lnTo>
                <a:lnTo>
                  <a:pt x="24844" y="24844"/>
                </a:lnTo>
                <a:lnTo>
                  <a:pt x="51810" y="6665"/>
                </a:lnTo>
                <a:lnTo>
                  <a:pt x="84836" y="0"/>
                </a:lnTo>
                <a:lnTo>
                  <a:pt x="1445260" y="0"/>
                </a:lnTo>
                <a:lnTo>
                  <a:pt x="1478285" y="6665"/>
                </a:lnTo>
                <a:lnTo>
                  <a:pt x="1505251" y="24844"/>
                </a:lnTo>
                <a:lnTo>
                  <a:pt x="1523430" y="51810"/>
                </a:lnTo>
                <a:lnTo>
                  <a:pt x="1530096" y="84836"/>
                </a:lnTo>
                <a:lnTo>
                  <a:pt x="1530096" y="424179"/>
                </a:lnTo>
                <a:lnTo>
                  <a:pt x="1523430" y="457205"/>
                </a:lnTo>
                <a:lnTo>
                  <a:pt x="1505251" y="484171"/>
                </a:lnTo>
                <a:lnTo>
                  <a:pt x="1478285" y="502350"/>
                </a:lnTo>
                <a:lnTo>
                  <a:pt x="1445260" y="509015"/>
                </a:lnTo>
                <a:lnTo>
                  <a:pt x="84836" y="509015"/>
                </a:lnTo>
                <a:lnTo>
                  <a:pt x="51810" y="502350"/>
                </a:lnTo>
                <a:lnTo>
                  <a:pt x="24844" y="484171"/>
                </a:lnTo>
                <a:lnTo>
                  <a:pt x="6665" y="457205"/>
                </a:lnTo>
                <a:lnTo>
                  <a:pt x="0" y="424179"/>
                </a:lnTo>
                <a:lnTo>
                  <a:pt x="0" y="84836"/>
                </a:lnTo>
                <a:close/>
              </a:path>
            </a:pathLst>
          </a:custGeom>
          <a:ln w="25908">
            <a:solidFill>
              <a:srgbClr val="464646"/>
            </a:solidFill>
          </a:ln>
        </p:spPr>
        <p:txBody>
          <a:bodyPr wrap="square" lIns="0" tIns="0" rIns="0" bIns="0" rtlCol="0"/>
          <a:lstStyle/>
          <a:p>
            <a:endParaRPr/>
          </a:p>
        </p:txBody>
      </p:sp>
      <p:sp>
        <p:nvSpPr>
          <p:cNvPr id="31" name="object 31"/>
          <p:cNvSpPr txBox="1"/>
          <p:nvPr/>
        </p:nvSpPr>
        <p:spPr>
          <a:xfrm>
            <a:off x="5928740" y="1332103"/>
            <a:ext cx="782320" cy="513080"/>
          </a:xfrm>
          <a:prstGeom prst="rect">
            <a:avLst/>
          </a:prstGeom>
        </p:spPr>
        <p:txBody>
          <a:bodyPr vert="horz" wrap="square" lIns="0" tIns="12065" rIns="0" bIns="0" rtlCol="0">
            <a:spAutoFit/>
          </a:bodyPr>
          <a:lstStyle/>
          <a:p>
            <a:pPr marL="177165" marR="5080" indent="-165100">
              <a:lnSpc>
                <a:spcPct val="100000"/>
              </a:lnSpc>
              <a:spcBef>
                <a:spcPts val="95"/>
              </a:spcBef>
            </a:pPr>
            <a:r>
              <a:rPr sz="1600" spc="-5" dirty="0">
                <a:solidFill>
                  <a:srgbClr val="464646"/>
                </a:solidFill>
                <a:latin typeface="Arial MT"/>
                <a:cs typeface="Arial MT"/>
              </a:rPr>
              <a:t>Static</a:t>
            </a:r>
            <a:r>
              <a:rPr sz="1600" spc="-65" dirty="0">
                <a:solidFill>
                  <a:srgbClr val="464646"/>
                </a:solidFill>
                <a:latin typeface="Arial MT"/>
                <a:cs typeface="Arial MT"/>
              </a:rPr>
              <a:t> </a:t>
            </a:r>
            <a:r>
              <a:rPr sz="1600" spc="-5" dirty="0">
                <a:solidFill>
                  <a:srgbClr val="464646"/>
                </a:solidFill>
                <a:latin typeface="Arial MT"/>
                <a:cs typeface="Arial MT"/>
              </a:rPr>
              <a:t>IP </a:t>
            </a:r>
            <a:r>
              <a:rPr sz="1600" spc="-430" dirty="0">
                <a:solidFill>
                  <a:srgbClr val="464646"/>
                </a:solidFill>
                <a:latin typeface="Arial MT"/>
                <a:cs typeface="Arial MT"/>
              </a:rPr>
              <a:t> </a:t>
            </a:r>
            <a:r>
              <a:rPr sz="1600" spc="-5" dirty="0">
                <a:solidFill>
                  <a:srgbClr val="464646"/>
                </a:solidFill>
                <a:latin typeface="Arial MT"/>
                <a:cs typeface="Arial MT"/>
              </a:rPr>
              <a:t>AZ</a:t>
            </a:r>
            <a:r>
              <a:rPr sz="1600" spc="-30" dirty="0">
                <a:solidFill>
                  <a:srgbClr val="464646"/>
                </a:solidFill>
                <a:latin typeface="Arial MT"/>
                <a:cs typeface="Arial MT"/>
              </a:rPr>
              <a:t> </a:t>
            </a:r>
            <a:r>
              <a:rPr sz="1600" spc="-5" dirty="0">
                <a:solidFill>
                  <a:srgbClr val="464646"/>
                </a:solidFill>
                <a:latin typeface="Arial MT"/>
                <a:cs typeface="Arial MT"/>
              </a:rPr>
              <a:t>3</a:t>
            </a:r>
            <a:endParaRPr sz="1600">
              <a:latin typeface="Arial MT"/>
              <a:cs typeface="Arial M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3977640"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Network</a:t>
            </a:r>
            <a:r>
              <a:rPr u="none" spc="-15" dirty="0">
                <a:solidFill>
                  <a:srgbClr val="4D4D4B"/>
                </a:solidFill>
              </a:rPr>
              <a:t> </a:t>
            </a:r>
            <a:r>
              <a:rPr u="none" spc="-5" dirty="0">
                <a:solidFill>
                  <a:srgbClr val="4D4D4B"/>
                </a:solidFill>
              </a:rPr>
              <a:t>Load Balancer</a:t>
            </a:r>
          </a:p>
        </p:txBody>
      </p:sp>
      <p:sp>
        <p:nvSpPr>
          <p:cNvPr id="3" name="object 3"/>
          <p:cNvSpPr txBox="1"/>
          <p:nvPr/>
        </p:nvSpPr>
        <p:spPr>
          <a:xfrm>
            <a:off x="415544" y="747521"/>
            <a:ext cx="7774940" cy="4196080"/>
          </a:xfrm>
          <a:prstGeom prst="rect">
            <a:avLst/>
          </a:prstGeom>
        </p:spPr>
        <p:txBody>
          <a:bodyPr vert="horz" wrap="square" lIns="0" tIns="85725" rIns="0" bIns="0" rtlCol="0">
            <a:spAutoFit/>
          </a:bodyPr>
          <a:lstStyle/>
          <a:p>
            <a:pPr marL="355600" indent="-342900">
              <a:lnSpc>
                <a:spcPct val="100000"/>
              </a:lnSpc>
              <a:spcBef>
                <a:spcPts val="675"/>
              </a:spcBef>
              <a:buChar char="•"/>
              <a:tabLst>
                <a:tab pos="354965" algn="l"/>
                <a:tab pos="355600" algn="l"/>
              </a:tabLst>
            </a:pPr>
            <a:r>
              <a:rPr sz="2400" spc="-5" dirty="0">
                <a:solidFill>
                  <a:srgbClr val="4D4D4B"/>
                </a:solidFill>
                <a:latin typeface="Arial MT"/>
                <a:cs typeface="Arial MT"/>
              </a:rPr>
              <a:t>Ideal</a:t>
            </a:r>
            <a:r>
              <a:rPr sz="2400" spc="5" dirty="0">
                <a:solidFill>
                  <a:srgbClr val="4D4D4B"/>
                </a:solidFill>
                <a:latin typeface="Arial MT"/>
                <a:cs typeface="Arial MT"/>
              </a:rPr>
              <a:t> </a:t>
            </a:r>
            <a:r>
              <a:rPr sz="2400" dirty="0">
                <a:solidFill>
                  <a:srgbClr val="4D4D4B"/>
                </a:solidFill>
                <a:latin typeface="Arial MT"/>
                <a:cs typeface="Arial MT"/>
              </a:rPr>
              <a:t>for</a:t>
            </a:r>
            <a:r>
              <a:rPr sz="2400" spc="-15" dirty="0">
                <a:solidFill>
                  <a:srgbClr val="4D4D4B"/>
                </a:solidFill>
                <a:latin typeface="Arial MT"/>
                <a:cs typeface="Arial MT"/>
              </a:rPr>
              <a:t> </a:t>
            </a:r>
            <a:r>
              <a:rPr sz="2400" spc="-5" dirty="0">
                <a:solidFill>
                  <a:srgbClr val="4D4D4B"/>
                </a:solidFill>
                <a:latin typeface="Arial MT"/>
                <a:cs typeface="Arial MT"/>
              </a:rPr>
              <a:t>load</a:t>
            </a:r>
            <a:r>
              <a:rPr sz="2400" spc="20" dirty="0">
                <a:solidFill>
                  <a:srgbClr val="4D4D4B"/>
                </a:solidFill>
                <a:latin typeface="Arial MT"/>
                <a:cs typeface="Arial MT"/>
              </a:rPr>
              <a:t> </a:t>
            </a:r>
            <a:r>
              <a:rPr sz="2400" spc="-5" dirty="0">
                <a:solidFill>
                  <a:srgbClr val="4D4D4B"/>
                </a:solidFill>
                <a:latin typeface="Arial MT"/>
                <a:cs typeface="Arial MT"/>
              </a:rPr>
              <a:t>balancing</a:t>
            </a:r>
            <a:r>
              <a:rPr sz="2400" spc="-15" dirty="0">
                <a:solidFill>
                  <a:srgbClr val="4D4D4B"/>
                </a:solidFill>
                <a:latin typeface="Arial MT"/>
                <a:cs typeface="Arial MT"/>
              </a:rPr>
              <a:t> </a:t>
            </a:r>
            <a:r>
              <a:rPr sz="2400" spc="-5" dirty="0">
                <a:solidFill>
                  <a:srgbClr val="4D4D4B"/>
                </a:solidFill>
                <a:latin typeface="Arial MT"/>
                <a:cs typeface="Arial MT"/>
              </a:rPr>
              <a:t>TCP</a:t>
            </a:r>
            <a:r>
              <a:rPr sz="2400" spc="-40" dirty="0">
                <a:solidFill>
                  <a:srgbClr val="4D4D4B"/>
                </a:solidFill>
                <a:latin typeface="Arial MT"/>
                <a:cs typeface="Arial MT"/>
              </a:rPr>
              <a:t> </a:t>
            </a:r>
            <a:r>
              <a:rPr sz="2400" spc="-5" dirty="0">
                <a:solidFill>
                  <a:srgbClr val="4D4D4B"/>
                </a:solidFill>
                <a:latin typeface="Arial MT"/>
                <a:cs typeface="Arial MT"/>
              </a:rPr>
              <a:t>and</a:t>
            </a:r>
            <a:r>
              <a:rPr sz="2400" spc="5" dirty="0">
                <a:solidFill>
                  <a:srgbClr val="4D4D4B"/>
                </a:solidFill>
                <a:latin typeface="Arial MT"/>
                <a:cs typeface="Arial MT"/>
              </a:rPr>
              <a:t> </a:t>
            </a:r>
            <a:r>
              <a:rPr sz="2400" spc="-5" dirty="0">
                <a:solidFill>
                  <a:srgbClr val="4D4D4B"/>
                </a:solidFill>
                <a:latin typeface="Arial MT"/>
                <a:cs typeface="Arial MT"/>
              </a:rPr>
              <a:t>UDP</a:t>
            </a:r>
            <a:r>
              <a:rPr sz="2400" spc="-40" dirty="0">
                <a:solidFill>
                  <a:srgbClr val="4D4D4B"/>
                </a:solidFill>
                <a:latin typeface="Arial MT"/>
                <a:cs typeface="Arial MT"/>
              </a:rPr>
              <a:t> </a:t>
            </a:r>
            <a:r>
              <a:rPr sz="2400" spc="-10" dirty="0">
                <a:solidFill>
                  <a:srgbClr val="4D4D4B"/>
                </a:solidFill>
                <a:latin typeface="Arial MT"/>
                <a:cs typeface="Arial MT"/>
              </a:rPr>
              <a:t>traffic</a:t>
            </a:r>
            <a:endParaRPr sz="2400">
              <a:latin typeface="Arial MT"/>
              <a:cs typeface="Arial MT"/>
            </a:endParaRPr>
          </a:p>
          <a:p>
            <a:pPr marL="355600" indent="-342900">
              <a:lnSpc>
                <a:spcPct val="100000"/>
              </a:lnSpc>
              <a:spcBef>
                <a:spcPts val="575"/>
              </a:spcBef>
              <a:buChar char="•"/>
              <a:tabLst>
                <a:tab pos="354965" algn="l"/>
                <a:tab pos="355600" algn="l"/>
              </a:tabLst>
            </a:pPr>
            <a:r>
              <a:rPr sz="2400" spc="-5" dirty="0">
                <a:solidFill>
                  <a:srgbClr val="4D4D4B"/>
                </a:solidFill>
                <a:latin typeface="Arial MT"/>
                <a:cs typeface="Arial MT"/>
              </a:rPr>
              <a:t>Scales</a:t>
            </a:r>
            <a:r>
              <a:rPr sz="2400" spc="5" dirty="0">
                <a:solidFill>
                  <a:srgbClr val="4D4D4B"/>
                </a:solidFill>
                <a:latin typeface="Arial MT"/>
                <a:cs typeface="Arial MT"/>
              </a:rPr>
              <a:t> </a:t>
            </a:r>
            <a:r>
              <a:rPr sz="2400" dirty="0">
                <a:solidFill>
                  <a:srgbClr val="4D4D4B"/>
                </a:solidFill>
                <a:latin typeface="Arial MT"/>
                <a:cs typeface="Arial MT"/>
              </a:rPr>
              <a:t>to</a:t>
            </a:r>
            <a:r>
              <a:rPr sz="2400" spc="-5" dirty="0">
                <a:solidFill>
                  <a:srgbClr val="4D4D4B"/>
                </a:solidFill>
                <a:latin typeface="Arial MT"/>
                <a:cs typeface="Arial MT"/>
              </a:rPr>
              <a:t> millions</a:t>
            </a:r>
            <a:r>
              <a:rPr sz="2400" spc="30" dirty="0">
                <a:solidFill>
                  <a:srgbClr val="4D4D4B"/>
                </a:solidFill>
                <a:latin typeface="Arial MT"/>
                <a:cs typeface="Arial MT"/>
              </a:rPr>
              <a:t> </a:t>
            </a:r>
            <a:r>
              <a:rPr sz="2400" dirty="0">
                <a:solidFill>
                  <a:srgbClr val="4D4D4B"/>
                </a:solidFill>
                <a:latin typeface="Arial MT"/>
                <a:cs typeface="Arial MT"/>
              </a:rPr>
              <a:t>of</a:t>
            </a:r>
            <a:r>
              <a:rPr sz="2400" spc="-5" dirty="0">
                <a:solidFill>
                  <a:srgbClr val="4D4D4B"/>
                </a:solidFill>
                <a:latin typeface="Arial MT"/>
                <a:cs typeface="Arial MT"/>
              </a:rPr>
              <a:t> requests/sec</a:t>
            </a:r>
            <a:endParaRPr sz="2400">
              <a:latin typeface="Arial MT"/>
              <a:cs typeface="Arial MT"/>
            </a:endParaRPr>
          </a:p>
          <a:p>
            <a:pPr marL="355600" indent="-342900">
              <a:lnSpc>
                <a:spcPct val="100000"/>
              </a:lnSpc>
              <a:spcBef>
                <a:spcPts val="580"/>
              </a:spcBef>
              <a:buChar char="•"/>
              <a:tabLst>
                <a:tab pos="354965" algn="l"/>
                <a:tab pos="355600" algn="l"/>
              </a:tabLst>
            </a:pPr>
            <a:r>
              <a:rPr sz="2400" spc="-5" dirty="0">
                <a:solidFill>
                  <a:srgbClr val="4D4D4B"/>
                </a:solidFill>
                <a:latin typeface="Arial MT"/>
                <a:cs typeface="Arial MT"/>
              </a:rPr>
              <a:t>Handles</a:t>
            </a:r>
            <a:r>
              <a:rPr sz="2400" spc="20" dirty="0">
                <a:solidFill>
                  <a:srgbClr val="4D4D4B"/>
                </a:solidFill>
                <a:latin typeface="Arial MT"/>
                <a:cs typeface="Arial MT"/>
              </a:rPr>
              <a:t> </a:t>
            </a:r>
            <a:r>
              <a:rPr sz="2400" spc="-20" dirty="0">
                <a:solidFill>
                  <a:srgbClr val="4D4D4B"/>
                </a:solidFill>
                <a:latin typeface="Arial MT"/>
                <a:cs typeface="Arial MT"/>
              </a:rPr>
              <a:t>Volatile</a:t>
            </a:r>
            <a:r>
              <a:rPr sz="2400" dirty="0">
                <a:solidFill>
                  <a:srgbClr val="4D4D4B"/>
                </a:solidFill>
                <a:latin typeface="Arial MT"/>
                <a:cs typeface="Arial MT"/>
              </a:rPr>
              <a:t> </a:t>
            </a:r>
            <a:r>
              <a:rPr sz="2400" spc="-10" dirty="0">
                <a:solidFill>
                  <a:srgbClr val="4D4D4B"/>
                </a:solidFill>
                <a:latin typeface="Arial MT"/>
                <a:cs typeface="Arial MT"/>
              </a:rPr>
              <a:t>traffic</a:t>
            </a:r>
            <a:r>
              <a:rPr sz="2400" spc="-30" dirty="0">
                <a:solidFill>
                  <a:srgbClr val="4D4D4B"/>
                </a:solidFill>
                <a:latin typeface="Arial MT"/>
                <a:cs typeface="Arial MT"/>
              </a:rPr>
              <a:t> </a:t>
            </a:r>
            <a:r>
              <a:rPr sz="2400" dirty="0">
                <a:solidFill>
                  <a:srgbClr val="4D4D4B"/>
                </a:solidFill>
                <a:latin typeface="Arial MT"/>
                <a:cs typeface="Arial MT"/>
              </a:rPr>
              <a:t>patterns</a:t>
            </a:r>
            <a:endParaRPr sz="2400">
              <a:latin typeface="Arial MT"/>
              <a:cs typeface="Arial MT"/>
            </a:endParaRPr>
          </a:p>
          <a:p>
            <a:pPr marL="355600" indent="-342900">
              <a:lnSpc>
                <a:spcPct val="100000"/>
              </a:lnSpc>
              <a:spcBef>
                <a:spcPts val="575"/>
              </a:spcBef>
              <a:buChar char="•"/>
              <a:tabLst>
                <a:tab pos="354965" algn="l"/>
                <a:tab pos="355600" algn="l"/>
              </a:tabLst>
            </a:pPr>
            <a:r>
              <a:rPr sz="2400" dirty="0">
                <a:solidFill>
                  <a:srgbClr val="4D4D4B"/>
                </a:solidFill>
                <a:latin typeface="Arial MT"/>
                <a:cs typeface="Arial MT"/>
              </a:rPr>
              <a:t>One </a:t>
            </a:r>
            <a:r>
              <a:rPr sz="2400" spc="-5" dirty="0">
                <a:solidFill>
                  <a:srgbClr val="4D4D4B"/>
                </a:solidFill>
                <a:latin typeface="Arial MT"/>
                <a:cs typeface="Arial MT"/>
              </a:rPr>
              <a:t>Static</a:t>
            </a:r>
            <a:r>
              <a:rPr sz="2400" dirty="0">
                <a:solidFill>
                  <a:srgbClr val="4D4D4B"/>
                </a:solidFill>
                <a:latin typeface="Arial MT"/>
                <a:cs typeface="Arial MT"/>
              </a:rPr>
              <a:t> IP</a:t>
            </a:r>
            <a:r>
              <a:rPr sz="2400" spc="-45" dirty="0">
                <a:solidFill>
                  <a:srgbClr val="4D4D4B"/>
                </a:solidFill>
                <a:latin typeface="Arial MT"/>
                <a:cs typeface="Arial MT"/>
              </a:rPr>
              <a:t> </a:t>
            </a:r>
            <a:r>
              <a:rPr sz="2400" spc="-5" dirty="0">
                <a:solidFill>
                  <a:srgbClr val="4D4D4B"/>
                </a:solidFill>
                <a:latin typeface="Arial MT"/>
                <a:cs typeface="Arial MT"/>
              </a:rPr>
              <a:t>(or</a:t>
            </a:r>
            <a:r>
              <a:rPr sz="2400" spc="-10" dirty="0">
                <a:solidFill>
                  <a:srgbClr val="4D4D4B"/>
                </a:solidFill>
                <a:latin typeface="Arial MT"/>
                <a:cs typeface="Arial MT"/>
              </a:rPr>
              <a:t> </a:t>
            </a:r>
            <a:r>
              <a:rPr sz="2400" spc="-5" dirty="0">
                <a:solidFill>
                  <a:srgbClr val="4D4D4B"/>
                </a:solidFill>
                <a:latin typeface="Arial MT"/>
                <a:cs typeface="Arial MT"/>
              </a:rPr>
              <a:t>Elastic</a:t>
            </a:r>
            <a:r>
              <a:rPr sz="2400" spc="5" dirty="0">
                <a:solidFill>
                  <a:srgbClr val="4D4D4B"/>
                </a:solidFill>
                <a:latin typeface="Arial MT"/>
                <a:cs typeface="Arial MT"/>
              </a:rPr>
              <a:t> </a:t>
            </a:r>
            <a:r>
              <a:rPr sz="2400" dirty="0">
                <a:solidFill>
                  <a:srgbClr val="4D4D4B"/>
                </a:solidFill>
                <a:latin typeface="Arial MT"/>
                <a:cs typeface="Arial MT"/>
              </a:rPr>
              <a:t>IP)</a:t>
            </a:r>
            <a:r>
              <a:rPr sz="2400" spc="-10" dirty="0">
                <a:solidFill>
                  <a:srgbClr val="4D4D4B"/>
                </a:solidFill>
                <a:latin typeface="Arial MT"/>
                <a:cs typeface="Arial MT"/>
              </a:rPr>
              <a:t> </a:t>
            </a:r>
            <a:r>
              <a:rPr sz="2400" spc="-5" dirty="0">
                <a:solidFill>
                  <a:srgbClr val="4D4D4B"/>
                </a:solidFill>
                <a:latin typeface="Arial MT"/>
                <a:cs typeface="Arial MT"/>
              </a:rPr>
              <a:t>per</a:t>
            </a:r>
            <a:r>
              <a:rPr sz="2400" spc="-125" dirty="0">
                <a:solidFill>
                  <a:srgbClr val="4D4D4B"/>
                </a:solidFill>
                <a:latin typeface="Arial MT"/>
                <a:cs typeface="Arial MT"/>
              </a:rPr>
              <a:t> </a:t>
            </a:r>
            <a:r>
              <a:rPr sz="2400" spc="-10" dirty="0">
                <a:solidFill>
                  <a:srgbClr val="4D4D4B"/>
                </a:solidFill>
                <a:latin typeface="Arial MT"/>
                <a:cs typeface="Arial MT"/>
              </a:rPr>
              <a:t>Availability</a:t>
            </a:r>
            <a:r>
              <a:rPr sz="2400" spc="35" dirty="0">
                <a:solidFill>
                  <a:srgbClr val="4D4D4B"/>
                </a:solidFill>
                <a:latin typeface="Arial MT"/>
                <a:cs typeface="Arial MT"/>
              </a:rPr>
              <a:t> </a:t>
            </a:r>
            <a:r>
              <a:rPr sz="2400" spc="-5" dirty="0">
                <a:solidFill>
                  <a:srgbClr val="4D4D4B"/>
                </a:solidFill>
                <a:latin typeface="Arial MT"/>
                <a:cs typeface="Arial MT"/>
              </a:rPr>
              <a:t>Zone</a:t>
            </a:r>
            <a:endParaRPr sz="2400">
              <a:latin typeface="Arial MT"/>
              <a:cs typeface="Arial MT"/>
            </a:endParaRPr>
          </a:p>
          <a:p>
            <a:pPr marL="1099185" lvl="1" indent="-343535">
              <a:lnSpc>
                <a:spcPct val="100000"/>
              </a:lnSpc>
              <a:spcBef>
                <a:spcPts val="484"/>
              </a:spcBef>
              <a:buChar char="•"/>
              <a:tabLst>
                <a:tab pos="1099185" algn="l"/>
                <a:tab pos="1099820" algn="l"/>
              </a:tabLst>
            </a:pPr>
            <a:r>
              <a:rPr sz="2000" dirty="0">
                <a:solidFill>
                  <a:srgbClr val="4D4D4B"/>
                </a:solidFill>
                <a:latin typeface="Arial MT"/>
                <a:cs typeface="Arial MT"/>
              </a:rPr>
              <a:t>Easy</a:t>
            </a:r>
            <a:r>
              <a:rPr sz="2000" spc="-15" dirty="0">
                <a:solidFill>
                  <a:srgbClr val="4D4D4B"/>
                </a:solidFill>
                <a:latin typeface="Arial MT"/>
                <a:cs typeface="Arial MT"/>
              </a:rPr>
              <a:t> </a:t>
            </a:r>
            <a:r>
              <a:rPr sz="2000" dirty="0">
                <a:solidFill>
                  <a:srgbClr val="4D4D4B"/>
                </a:solidFill>
                <a:latin typeface="Arial MT"/>
                <a:cs typeface="Arial MT"/>
              </a:rPr>
              <a:t>to</a:t>
            </a:r>
            <a:r>
              <a:rPr sz="2000" spc="-25" dirty="0">
                <a:solidFill>
                  <a:srgbClr val="4D4D4B"/>
                </a:solidFill>
                <a:latin typeface="Arial MT"/>
                <a:cs typeface="Arial MT"/>
              </a:rPr>
              <a:t> </a:t>
            </a:r>
            <a:r>
              <a:rPr sz="2000" dirty="0">
                <a:solidFill>
                  <a:srgbClr val="4D4D4B"/>
                </a:solidFill>
                <a:latin typeface="Arial MT"/>
                <a:cs typeface="Arial MT"/>
              </a:rPr>
              <a:t>whitelist</a:t>
            </a:r>
            <a:r>
              <a:rPr sz="2000" spc="-5" dirty="0">
                <a:solidFill>
                  <a:srgbClr val="4D4D4B"/>
                </a:solidFill>
                <a:latin typeface="Arial MT"/>
                <a:cs typeface="Arial MT"/>
              </a:rPr>
              <a:t> </a:t>
            </a:r>
            <a:r>
              <a:rPr sz="2000" dirty="0">
                <a:solidFill>
                  <a:srgbClr val="4D4D4B"/>
                </a:solidFill>
                <a:latin typeface="Arial MT"/>
                <a:cs typeface="Arial MT"/>
              </a:rPr>
              <a:t>Load</a:t>
            </a:r>
            <a:r>
              <a:rPr sz="2000" spc="-40" dirty="0">
                <a:solidFill>
                  <a:srgbClr val="4D4D4B"/>
                </a:solidFill>
                <a:latin typeface="Arial MT"/>
                <a:cs typeface="Arial MT"/>
              </a:rPr>
              <a:t> </a:t>
            </a:r>
            <a:r>
              <a:rPr sz="2000" dirty="0">
                <a:solidFill>
                  <a:srgbClr val="4D4D4B"/>
                </a:solidFill>
                <a:latin typeface="Arial MT"/>
                <a:cs typeface="Arial MT"/>
              </a:rPr>
              <a:t>Balancer</a:t>
            </a:r>
            <a:r>
              <a:rPr sz="2000" spc="-25" dirty="0">
                <a:solidFill>
                  <a:srgbClr val="4D4D4B"/>
                </a:solidFill>
                <a:latin typeface="Arial MT"/>
                <a:cs typeface="Arial MT"/>
              </a:rPr>
              <a:t> </a:t>
            </a:r>
            <a:r>
              <a:rPr sz="2000" dirty="0">
                <a:solidFill>
                  <a:srgbClr val="4D4D4B"/>
                </a:solidFill>
                <a:latin typeface="Arial MT"/>
                <a:cs typeface="Arial MT"/>
              </a:rPr>
              <a:t>IP</a:t>
            </a:r>
            <a:r>
              <a:rPr sz="2000" spc="-45" dirty="0">
                <a:solidFill>
                  <a:srgbClr val="4D4D4B"/>
                </a:solidFill>
                <a:latin typeface="Arial MT"/>
                <a:cs typeface="Arial MT"/>
              </a:rPr>
              <a:t> </a:t>
            </a:r>
            <a:r>
              <a:rPr sz="2000" dirty="0">
                <a:solidFill>
                  <a:srgbClr val="4D4D4B"/>
                </a:solidFill>
                <a:latin typeface="Arial MT"/>
                <a:cs typeface="Arial MT"/>
              </a:rPr>
              <a:t>in</a:t>
            </a:r>
            <a:r>
              <a:rPr sz="2000" spc="-10" dirty="0">
                <a:solidFill>
                  <a:srgbClr val="4D4D4B"/>
                </a:solidFill>
                <a:latin typeface="Arial MT"/>
                <a:cs typeface="Arial MT"/>
              </a:rPr>
              <a:t> </a:t>
            </a:r>
            <a:r>
              <a:rPr sz="2000" dirty="0">
                <a:solidFill>
                  <a:srgbClr val="4D4D4B"/>
                </a:solidFill>
                <a:latin typeface="Arial MT"/>
                <a:cs typeface="Arial MT"/>
              </a:rPr>
              <a:t>your</a:t>
            </a:r>
            <a:r>
              <a:rPr sz="2000" spc="-25" dirty="0">
                <a:solidFill>
                  <a:srgbClr val="4D4D4B"/>
                </a:solidFill>
                <a:latin typeface="Arial MT"/>
                <a:cs typeface="Arial MT"/>
              </a:rPr>
              <a:t> </a:t>
            </a:r>
            <a:r>
              <a:rPr sz="2000" dirty="0">
                <a:solidFill>
                  <a:srgbClr val="4D4D4B"/>
                </a:solidFill>
                <a:latin typeface="Arial MT"/>
                <a:cs typeface="Arial MT"/>
              </a:rPr>
              <a:t>Client</a:t>
            </a:r>
            <a:endParaRPr sz="2000">
              <a:latin typeface="Arial MT"/>
              <a:cs typeface="Arial MT"/>
            </a:endParaRPr>
          </a:p>
          <a:p>
            <a:pPr marL="355600" marR="128270" indent="-342900">
              <a:lnSpc>
                <a:spcPct val="100000"/>
              </a:lnSpc>
              <a:spcBef>
                <a:spcPts val="570"/>
              </a:spcBef>
              <a:buChar char="•"/>
              <a:tabLst>
                <a:tab pos="354965" algn="l"/>
                <a:tab pos="355600" algn="l"/>
              </a:tabLst>
            </a:pPr>
            <a:r>
              <a:rPr sz="2400" spc="-5" dirty="0">
                <a:solidFill>
                  <a:srgbClr val="4D4D4B"/>
                </a:solidFill>
                <a:latin typeface="Arial MT"/>
                <a:cs typeface="Arial MT"/>
              </a:rPr>
              <a:t>Preserves</a:t>
            </a:r>
            <a:r>
              <a:rPr sz="2400" spc="5" dirty="0">
                <a:solidFill>
                  <a:srgbClr val="4D4D4B"/>
                </a:solidFill>
                <a:latin typeface="Arial MT"/>
                <a:cs typeface="Arial MT"/>
              </a:rPr>
              <a:t> </a:t>
            </a:r>
            <a:r>
              <a:rPr sz="2400" spc="-5" dirty="0">
                <a:solidFill>
                  <a:srgbClr val="4D4D4B"/>
                </a:solidFill>
                <a:latin typeface="Arial MT"/>
                <a:cs typeface="Arial MT"/>
              </a:rPr>
              <a:t>Client</a:t>
            </a:r>
            <a:r>
              <a:rPr sz="2400" spc="30" dirty="0">
                <a:solidFill>
                  <a:srgbClr val="4D4D4B"/>
                </a:solidFill>
                <a:latin typeface="Arial MT"/>
                <a:cs typeface="Arial MT"/>
              </a:rPr>
              <a:t> </a:t>
            </a:r>
            <a:r>
              <a:rPr sz="2400" dirty="0">
                <a:solidFill>
                  <a:srgbClr val="4D4D4B"/>
                </a:solidFill>
                <a:latin typeface="Arial MT"/>
                <a:cs typeface="Arial MT"/>
              </a:rPr>
              <a:t>IP</a:t>
            </a:r>
            <a:r>
              <a:rPr sz="2400" spc="-45" dirty="0">
                <a:solidFill>
                  <a:srgbClr val="4D4D4B"/>
                </a:solidFill>
                <a:latin typeface="Arial MT"/>
                <a:cs typeface="Arial MT"/>
              </a:rPr>
              <a:t> </a:t>
            </a:r>
            <a:r>
              <a:rPr sz="2400" spc="-5" dirty="0">
                <a:solidFill>
                  <a:srgbClr val="4D4D4B"/>
                </a:solidFill>
                <a:latin typeface="Arial MT"/>
                <a:cs typeface="Arial MT"/>
              </a:rPr>
              <a:t>(Source</a:t>
            </a:r>
            <a:r>
              <a:rPr sz="2400" spc="10" dirty="0">
                <a:solidFill>
                  <a:srgbClr val="4D4D4B"/>
                </a:solidFill>
                <a:latin typeface="Arial MT"/>
                <a:cs typeface="Arial MT"/>
              </a:rPr>
              <a:t> </a:t>
            </a:r>
            <a:r>
              <a:rPr sz="2400" dirty="0">
                <a:solidFill>
                  <a:srgbClr val="4D4D4B"/>
                </a:solidFill>
                <a:latin typeface="Arial MT"/>
                <a:cs typeface="Arial MT"/>
              </a:rPr>
              <a:t>IP)</a:t>
            </a:r>
            <a:r>
              <a:rPr sz="2400" spc="10" dirty="0">
                <a:solidFill>
                  <a:srgbClr val="4D4D4B"/>
                </a:solidFill>
                <a:latin typeface="Arial MT"/>
                <a:cs typeface="Arial MT"/>
              </a:rPr>
              <a:t> </a:t>
            </a:r>
            <a:r>
              <a:rPr sz="2400" dirty="0">
                <a:solidFill>
                  <a:srgbClr val="4D4D4B"/>
                </a:solidFill>
                <a:latin typeface="Arial MT"/>
                <a:cs typeface="Arial MT"/>
              </a:rPr>
              <a:t>–</a:t>
            </a:r>
            <a:r>
              <a:rPr sz="2400" spc="-5" dirty="0">
                <a:solidFill>
                  <a:srgbClr val="4D4D4B"/>
                </a:solidFill>
                <a:latin typeface="Arial MT"/>
                <a:cs typeface="Arial MT"/>
              </a:rPr>
              <a:t> your</a:t>
            </a:r>
            <a:r>
              <a:rPr sz="2400" spc="10" dirty="0">
                <a:solidFill>
                  <a:srgbClr val="4D4D4B"/>
                </a:solidFill>
                <a:latin typeface="Arial MT"/>
                <a:cs typeface="Arial MT"/>
              </a:rPr>
              <a:t> </a:t>
            </a:r>
            <a:r>
              <a:rPr sz="2400" spc="-5" dirty="0">
                <a:solidFill>
                  <a:srgbClr val="4D4D4B"/>
                </a:solidFill>
                <a:latin typeface="Arial MT"/>
                <a:cs typeface="Arial MT"/>
              </a:rPr>
              <a:t>application</a:t>
            </a:r>
            <a:r>
              <a:rPr sz="2400" spc="45" dirty="0">
                <a:solidFill>
                  <a:srgbClr val="4D4D4B"/>
                </a:solidFill>
                <a:latin typeface="Arial MT"/>
                <a:cs typeface="Arial MT"/>
              </a:rPr>
              <a:t> </a:t>
            </a:r>
            <a:r>
              <a:rPr sz="2400" spc="-5" dirty="0">
                <a:solidFill>
                  <a:srgbClr val="4D4D4B"/>
                </a:solidFill>
                <a:latin typeface="Arial MT"/>
                <a:cs typeface="Arial MT"/>
              </a:rPr>
              <a:t>can </a:t>
            </a:r>
            <a:r>
              <a:rPr sz="2400" spc="-650" dirty="0">
                <a:solidFill>
                  <a:srgbClr val="4D4D4B"/>
                </a:solidFill>
                <a:latin typeface="Arial MT"/>
                <a:cs typeface="Arial MT"/>
              </a:rPr>
              <a:t> </a:t>
            </a:r>
            <a:r>
              <a:rPr sz="2400" spc="-5" dirty="0">
                <a:solidFill>
                  <a:srgbClr val="4D4D4B"/>
                </a:solidFill>
                <a:latin typeface="Arial MT"/>
                <a:cs typeface="Arial MT"/>
              </a:rPr>
              <a:t>use </a:t>
            </a:r>
            <a:r>
              <a:rPr sz="2400" dirty="0">
                <a:solidFill>
                  <a:srgbClr val="4D4D4B"/>
                </a:solidFill>
                <a:latin typeface="Arial MT"/>
                <a:cs typeface="Arial MT"/>
              </a:rPr>
              <a:t>this for</a:t>
            </a:r>
            <a:r>
              <a:rPr sz="2400" spc="-20" dirty="0">
                <a:solidFill>
                  <a:srgbClr val="4D4D4B"/>
                </a:solidFill>
                <a:latin typeface="Arial MT"/>
                <a:cs typeface="Arial MT"/>
              </a:rPr>
              <a:t> </a:t>
            </a:r>
            <a:r>
              <a:rPr sz="2400" dirty="0">
                <a:solidFill>
                  <a:srgbClr val="4D4D4B"/>
                </a:solidFill>
                <a:latin typeface="Arial MT"/>
                <a:cs typeface="Arial MT"/>
              </a:rPr>
              <a:t>further </a:t>
            </a:r>
            <a:r>
              <a:rPr sz="2400" spc="-5" dirty="0">
                <a:solidFill>
                  <a:srgbClr val="4D4D4B"/>
                </a:solidFill>
                <a:latin typeface="Arial MT"/>
                <a:cs typeface="Arial MT"/>
              </a:rPr>
              <a:t>processing</a:t>
            </a:r>
            <a:endParaRPr sz="2400">
              <a:latin typeface="Arial MT"/>
              <a:cs typeface="Arial MT"/>
            </a:endParaRPr>
          </a:p>
          <a:p>
            <a:pPr marL="355600" indent="-342900">
              <a:lnSpc>
                <a:spcPct val="100000"/>
              </a:lnSpc>
              <a:spcBef>
                <a:spcPts val="580"/>
              </a:spcBef>
              <a:buChar char="•"/>
              <a:tabLst>
                <a:tab pos="354965" algn="l"/>
                <a:tab pos="355600" algn="l"/>
              </a:tabLst>
            </a:pPr>
            <a:r>
              <a:rPr sz="2400" spc="-10" dirty="0">
                <a:solidFill>
                  <a:srgbClr val="4D4D4B"/>
                </a:solidFill>
                <a:latin typeface="Arial MT"/>
                <a:cs typeface="Arial MT"/>
              </a:rPr>
              <a:t>WebSocket</a:t>
            </a:r>
            <a:r>
              <a:rPr sz="2400" spc="-15" dirty="0">
                <a:solidFill>
                  <a:srgbClr val="4D4D4B"/>
                </a:solidFill>
                <a:latin typeface="Arial MT"/>
                <a:cs typeface="Arial MT"/>
              </a:rPr>
              <a:t> </a:t>
            </a:r>
            <a:r>
              <a:rPr sz="2400" spc="-5" dirty="0">
                <a:solidFill>
                  <a:srgbClr val="4D4D4B"/>
                </a:solidFill>
                <a:latin typeface="Arial MT"/>
                <a:cs typeface="Arial MT"/>
              </a:rPr>
              <a:t>Support</a:t>
            </a:r>
            <a:endParaRPr sz="2400">
              <a:latin typeface="Arial MT"/>
              <a:cs typeface="Arial MT"/>
            </a:endParaRPr>
          </a:p>
          <a:p>
            <a:pPr marL="355600" marR="5080" indent="-342900">
              <a:lnSpc>
                <a:spcPct val="100000"/>
              </a:lnSpc>
              <a:spcBef>
                <a:spcPts val="575"/>
              </a:spcBef>
              <a:buChar char="•"/>
              <a:tabLst>
                <a:tab pos="354965" algn="l"/>
                <a:tab pos="355600" algn="l"/>
              </a:tabLst>
            </a:pPr>
            <a:r>
              <a:rPr sz="2400" dirty="0">
                <a:solidFill>
                  <a:srgbClr val="4D4D4B"/>
                </a:solidFill>
                <a:latin typeface="Arial MT"/>
                <a:cs typeface="Arial MT"/>
              </a:rPr>
              <a:t>Private </a:t>
            </a:r>
            <a:r>
              <a:rPr sz="2400" spc="-5" dirty="0">
                <a:solidFill>
                  <a:srgbClr val="4D4D4B"/>
                </a:solidFill>
                <a:latin typeface="Arial MT"/>
                <a:cs typeface="Arial MT"/>
              </a:rPr>
              <a:t>Link</a:t>
            </a:r>
            <a:r>
              <a:rPr sz="2400" spc="10" dirty="0">
                <a:solidFill>
                  <a:srgbClr val="4D4D4B"/>
                </a:solidFill>
                <a:latin typeface="Arial MT"/>
                <a:cs typeface="Arial MT"/>
              </a:rPr>
              <a:t> </a:t>
            </a:r>
            <a:r>
              <a:rPr sz="2400" spc="-5" dirty="0">
                <a:solidFill>
                  <a:srgbClr val="4D4D4B"/>
                </a:solidFill>
                <a:latin typeface="Arial MT"/>
                <a:cs typeface="Arial MT"/>
              </a:rPr>
              <a:t>Support</a:t>
            </a:r>
            <a:r>
              <a:rPr sz="2400" spc="20" dirty="0">
                <a:solidFill>
                  <a:srgbClr val="4D4D4B"/>
                </a:solidFill>
                <a:latin typeface="Arial MT"/>
                <a:cs typeface="Arial MT"/>
              </a:rPr>
              <a:t> </a:t>
            </a:r>
            <a:r>
              <a:rPr sz="2400" dirty="0">
                <a:solidFill>
                  <a:srgbClr val="4D4D4B"/>
                </a:solidFill>
                <a:latin typeface="Arial MT"/>
                <a:cs typeface="Arial MT"/>
              </a:rPr>
              <a:t>–</a:t>
            </a:r>
            <a:r>
              <a:rPr sz="2400" spc="5" dirty="0">
                <a:solidFill>
                  <a:srgbClr val="4D4D4B"/>
                </a:solidFill>
                <a:latin typeface="Arial MT"/>
                <a:cs typeface="Arial MT"/>
              </a:rPr>
              <a:t> </a:t>
            </a:r>
            <a:r>
              <a:rPr sz="2400" dirty="0">
                <a:solidFill>
                  <a:srgbClr val="4D4D4B"/>
                </a:solidFill>
                <a:latin typeface="Arial MT"/>
                <a:cs typeface="Arial MT"/>
              </a:rPr>
              <a:t>Private </a:t>
            </a:r>
            <a:r>
              <a:rPr sz="2400" spc="-5" dirty="0">
                <a:solidFill>
                  <a:srgbClr val="4D4D4B"/>
                </a:solidFill>
                <a:latin typeface="Arial MT"/>
                <a:cs typeface="Arial MT"/>
              </a:rPr>
              <a:t>communication</a:t>
            </a:r>
            <a:r>
              <a:rPr sz="2400" spc="15" dirty="0">
                <a:solidFill>
                  <a:srgbClr val="4D4D4B"/>
                </a:solidFill>
                <a:latin typeface="Arial MT"/>
                <a:cs typeface="Arial MT"/>
              </a:rPr>
              <a:t> </a:t>
            </a:r>
            <a:r>
              <a:rPr sz="2400" spc="-5" dirty="0">
                <a:solidFill>
                  <a:srgbClr val="4D4D4B"/>
                </a:solidFill>
                <a:latin typeface="Arial MT"/>
                <a:cs typeface="Arial MT"/>
              </a:rPr>
              <a:t>between </a:t>
            </a:r>
            <a:r>
              <a:rPr sz="2400" spc="-650" dirty="0">
                <a:solidFill>
                  <a:srgbClr val="4D4D4B"/>
                </a:solidFill>
                <a:latin typeface="Arial MT"/>
                <a:cs typeface="Arial MT"/>
              </a:rPr>
              <a:t> </a:t>
            </a:r>
            <a:r>
              <a:rPr sz="2400" spc="-10" dirty="0">
                <a:solidFill>
                  <a:srgbClr val="4D4D4B"/>
                </a:solidFill>
                <a:latin typeface="Arial MT"/>
                <a:cs typeface="Arial MT"/>
              </a:rPr>
              <a:t>VPCs</a:t>
            </a:r>
            <a:endParaRPr sz="2400">
              <a:latin typeface="Arial MT"/>
              <a:cs typeface="Arial M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413829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Private</a:t>
            </a:r>
            <a:r>
              <a:rPr u="none" spc="-15" dirty="0">
                <a:solidFill>
                  <a:srgbClr val="4D4D4B"/>
                </a:solidFill>
              </a:rPr>
              <a:t> </a:t>
            </a:r>
            <a:r>
              <a:rPr u="none" spc="-5" dirty="0">
                <a:solidFill>
                  <a:srgbClr val="4D4D4B"/>
                </a:solidFill>
              </a:rPr>
              <a:t>Link</a:t>
            </a:r>
            <a:r>
              <a:rPr u="none" spc="5" dirty="0">
                <a:solidFill>
                  <a:srgbClr val="4D4D4B"/>
                </a:solidFill>
              </a:rPr>
              <a:t> </a:t>
            </a:r>
            <a:r>
              <a:rPr u="none" spc="-5" dirty="0">
                <a:solidFill>
                  <a:srgbClr val="4D4D4B"/>
                </a:solidFill>
              </a:rPr>
              <a:t>-</a:t>
            </a:r>
            <a:r>
              <a:rPr u="none" spc="-20" dirty="0">
                <a:solidFill>
                  <a:srgbClr val="4D4D4B"/>
                </a:solidFill>
              </a:rPr>
              <a:t> </a:t>
            </a:r>
            <a:r>
              <a:rPr u="none" dirty="0">
                <a:solidFill>
                  <a:srgbClr val="4D4D4B"/>
                </a:solidFill>
              </a:rPr>
              <a:t>Motivation</a:t>
            </a:r>
          </a:p>
        </p:txBody>
      </p:sp>
      <p:sp>
        <p:nvSpPr>
          <p:cNvPr id="3" name="object 3"/>
          <p:cNvSpPr/>
          <p:nvPr/>
        </p:nvSpPr>
        <p:spPr>
          <a:xfrm>
            <a:off x="608837" y="1053846"/>
            <a:ext cx="2738755" cy="1732914"/>
          </a:xfrm>
          <a:custGeom>
            <a:avLst/>
            <a:gdLst/>
            <a:ahLst/>
            <a:cxnLst/>
            <a:rect l="l" t="t" r="r" b="b"/>
            <a:pathLst>
              <a:path w="2738754" h="1732914">
                <a:moveTo>
                  <a:pt x="0" y="288798"/>
                </a:moveTo>
                <a:lnTo>
                  <a:pt x="3779" y="241950"/>
                </a:lnTo>
                <a:lnTo>
                  <a:pt x="14723" y="197510"/>
                </a:lnTo>
                <a:lnTo>
                  <a:pt x="32235" y="156072"/>
                </a:lnTo>
                <a:lnTo>
                  <a:pt x="55721" y="118231"/>
                </a:lnTo>
                <a:lnTo>
                  <a:pt x="84588" y="84581"/>
                </a:lnTo>
                <a:lnTo>
                  <a:pt x="118240" y="55717"/>
                </a:lnTo>
                <a:lnTo>
                  <a:pt x="156082" y="32232"/>
                </a:lnTo>
                <a:lnTo>
                  <a:pt x="197521" y="14721"/>
                </a:lnTo>
                <a:lnTo>
                  <a:pt x="241962" y="3779"/>
                </a:lnTo>
                <a:lnTo>
                  <a:pt x="288810" y="0"/>
                </a:lnTo>
                <a:lnTo>
                  <a:pt x="2449830" y="0"/>
                </a:lnTo>
                <a:lnTo>
                  <a:pt x="2496677" y="3779"/>
                </a:lnTo>
                <a:lnTo>
                  <a:pt x="2541117" y="14721"/>
                </a:lnTo>
                <a:lnTo>
                  <a:pt x="2582555" y="32232"/>
                </a:lnTo>
                <a:lnTo>
                  <a:pt x="2620396" y="55717"/>
                </a:lnTo>
                <a:lnTo>
                  <a:pt x="2654045" y="84582"/>
                </a:lnTo>
                <a:lnTo>
                  <a:pt x="2682910" y="118231"/>
                </a:lnTo>
                <a:lnTo>
                  <a:pt x="2706395" y="156072"/>
                </a:lnTo>
                <a:lnTo>
                  <a:pt x="2723906" y="197510"/>
                </a:lnTo>
                <a:lnTo>
                  <a:pt x="2734848" y="241950"/>
                </a:lnTo>
                <a:lnTo>
                  <a:pt x="2738628" y="288798"/>
                </a:lnTo>
                <a:lnTo>
                  <a:pt x="2738628" y="1443989"/>
                </a:lnTo>
                <a:lnTo>
                  <a:pt x="2734848" y="1490837"/>
                </a:lnTo>
                <a:lnTo>
                  <a:pt x="2723906" y="1535277"/>
                </a:lnTo>
                <a:lnTo>
                  <a:pt x="2706395" y="1576715"/>
                </a:lnTo>
                <a:lnTo>
                  <a:pt x="2682910" y="1614556"/>
                </a:lnTo>
                <a:lnTo>
                  <a:pt x="2654045" y="1648206"/>
                </a:lnTo>
                <a:lnTo>
                  <a:pt x="2620396" y="1677070"/>
                </a:lnTo>
                <a:lnTo>
                  <a:pt x="2582555" y="1700555"/>
                </a:lnTo>
                <a:lnTo>
                  <a:pt x="2541117" y="1718066"/>
                </a:lnTo>
                <a:lnTo>
                  <a:pt x="2496677" y="1729008"/>
                </a:lnTo>
                <a:lnTo>
                  <a:pt x="2449830" y="1732787"/>
                </a:lnTo>
                <a:lnTo>
                  <a:pt x="288810" y="1732787"/>
                </a:lnTo>
                <a:lnTo>
                  <a:pt x="241962" y="1729008"/>
                </a:lnTo>
                <a:lnTo>
                  <a:pt x="197521" y="1718066"/>
                </a:lnTo>
                <a:lnTo>
                  <a:pt x="156082" y="1700555"/>
                </a:lnTo>
                <a:lnTo>
                  <a:pt x="118240" y="1677070"/>
                </a:lnTo>
                <a:lnTo>
                  <a:pt x="84588" y="1648206"/>
                </a:lnTo>
                <a:lnTo>
                  <a:pt x="55721" y="1614556"/>
                </a:lnTo>
                <a:lnTo>
                  <a:pt x="32235" y="1576715"/>
                </a:lnTo>
                <a:lnTo>
                  <a:pt x="14723" y="1535277"/>
                </a:lnTo>
                <a:lnTo>
                  <a:pt x="3779" y="1490837"/>
                </a:lnTo>
                <a:lnTo>
                  <a:pt x="0" y="1443989"/>
                </a:lnTo>
                <a:lnTo>
                  <a:pt x="0" y="288798"/>
                </a:lnTo>
                <a:close/>
              </a:path>
            </a:pathLst>
          </a:custGeom>
          <a:ln w="25908">
            <a:solidFill>
              <a:srgbClr val="464646"/>
            </a:solidFill>
          </a:ln>
        </p:spPr>
        <p:txBody>
          <a:bodyPr wrap="square" lIns="0" tIns="0" rIns="0" bIns="0" rtlCol="0"/>
          <a:lstStyle/>
          <a:p>
            <a:endParaRPr/>
          </a:p>
        </p:txBody>
      </p:sp>
      <p:sp>
        <p:nvSpPr>
          <p:cNvPr id="4" name="object 4"/>
          <p:cNvSpPr txBox="1"/>
          <p:nvPr/>
        </p:nvSpPr>
        <p:spPr>
          <a:xfrm>
            <a:off x="1628648" y="2363165"/>
            <a:ext cx="69977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64646"/>
                </a:solidFill>
                <a:latin typeface="Arial MT"/>
                <a:cs typeface="Arial MT"/>
              </a:rPr>
              <a:t>VPC</a:t>
            </a:r>
            <a:r>
              <a:rPr sz="1800" spc="-105" dirty="0">
                <a:solidFill>
                  <a:srgbClr val="464646"/>
                </a:solidFill>
                <a:latin typeface="Arial MT"/>
                <a:cs typeface="Arial MT"/>
              </a:rPr>
              <a:t> </a:t>
            </a:r>
            <a:r>
              <a:rPr sz="1800" dirty="0">
                <a:solidFill>
                  <a:srgbClr val="464646"/>
                </a:solidFill>
                <a:latin typeface="Arial MT"/>
                <a:cs typeface="Arial MT"/>
              </a:rPr>
              <a:t>A</a:t>
            </a:r>
            <a:endParaRPr sz="1800">
              <a:latin typeface="Arial MT"/>
              <a:cs typeface="Arial MT"/>
            </a:endParaRPr>
          </a:p>
        </p:txBody>
      </p:sp>
      <p:sp>
        <p:nvSpPr>
          <p:cNvPr id="5" name="object 5"/>
          <p:cNvSpPr/>
          <p:nvPr/>
        </p:nvSpPr>
        <p:spPr>
          <a:xfrm>
            <a:off x="1035558" y="1346453"/>
            <a:ext cx="1148080" cy="535305"/>
          </a:xfrm>
          <a:custGeom>
            <a:avLst/>
            <a:gdLst/>
            <a:ahLst/>
            <a:cxnLst/>
            <a:rect l="l" t="t" r="r" b="b"/>
            <a:pathLst>
              <a:path w="1148080" h="535305">
                <a:moveTo>
                  <a:pt x="0" y="89154"/>
                </a:moveTo>
                <a:lnTo>
                  <a:pt x="7006" y="54435"/>
                </a:lnTo>
                <a:lnTo>
                  <a:pt x="26112" y="26098"/>
                </a:lnTo>
                <a:lnTo>
                  <a:pt x="54451" y="7000"/>
                </a:lnTo>
                <a:lnTo>
                  <a:pt x="89153" y="0"/>
                </a:lnTo>
                <a:lnTo>
                  <a:pt x="1058417" y="0"/>
                </a:lnTo>
                <a:lnTo>
                  <a:pt x="1093136" y="7000"/>
                </a:lnTo>
                <a:lnTo>
                  <a:pt x="1121473" y="26098"/>
                </a:lnTo>
                <a:lnTo>
                  <a:pt x="1140571" y="54435"/>
                </a:lnTo>
                <a:lnTo>
                  <a:pt x="1147572" y="89154"/>
                </a:lnTo>
                <a:lnTo>
                  <a:pt x="1147572" y="445770"/>
                </a:lnTo>
                <a:lnTo>
                  <a:pt x="1140571" y="480488"/>
                </a:lnTo>
                <a:lnTo>
                  <a:pt x="1121473" y="508825"/>
                </a:lnTo>
                <a:lnTo>
                  <a:pt x="1093136" y="527923"/>
                </a:lnTo>
                <a:lnTo>
                  <a:pt x="1058417" y="534924"/>
                </a:lnTo>
                <a:lnTo>
                  <a:pt x="89153" y="534924"/>
                </a:lnTo>
                <a:lnTo>
                  <a:pt x="54451" y="527923"/>
                </a:lnTo>
                <a:lnTo>
                  <a:pt x="26112" y="508825"/>
                </a:lnTo>
                <a:lnTo>
                  <a:pt x="7006" y="480488"/>
                </a:lnTo>
                <a:lnTo>
                  <a:pt x="0" y="445770"/>
                </a:lnTo>
                <a:lnTo>
                  <a:pt x="0" y="89154"/>
                </a:lnTo>
                <a:close/>
              </a:path>
            </a:pathLst>
          </a:custGeom>
          <a:ln w="25908">
            <a:solidFill>
              <a:srgbClr val="464646"/>
            </a:solidFill>
          </a:ln>
        </p:spPr>
        <p:txBody>
          <a:bodyPr wrap="square" lIns="0" tIns="0" rIns="0" bIns="0" rtlCol="0"/>
          <a:lstStyle/>
          <a:p>
            <a:endParaRPr/>
          </a:p>
        </p:txBody>
      </p:sp>
      <p:sp>
        <p:nvSpPr>
          <p:cNvPr id="6" name="object 6"/>
          <p:cNvSpPr txBox="1"/>
          <p:nvPr/>
        </p:nvSpPr>
        <p:spPr>
          <a:xfrm>
            <a:off x="1305305" y="1457705"/>
            <a:ext cx="60769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l</a:t>
            </a:r>
            <a:r>
              <a:rPr sz="1800" spc="-5" dirty="0">
                <a:solidFill>
                  <a:srgbClr val="464646"/>
                </a:solidFill>
                <a:latin typeface="Arial MT"/>
                <a:cs typeface="Arial MT"/>
              </a:rPr>
              <a:t>i</a:t>
            </a:r>
            <a:r>
              <a:rPr sz="1800" spc="-15" dirty="0">
                <a:solidFill>
                  <a:srgbClr val="464646"/>
                </a:solidFill>
                <a:latin typeface="Arial MT"/>
                <a:cs typeface="Arial MT"/>
              </a:rPr>
              <a:t>e</a:t>
            </a:r>
            <a:r>
              <a:rPr sz="1800" dirty="0">
                <a:solidFill>
                  <a:srgbClr val="464646"/>
                </a:solidFill>
                <a:latin typeface="Arial MT"/>
                <a:cs typeface="Arial MT"/>
              </a:rPr>
              <a:t>nt</a:t>
            </a:r>
            <a:endParaRPr sz="1800">
              <a:latin typeface="Arial MT"/>
              <a:cs typeface="Arial MT"/>
            </a:endParaRPr>
          </a:p>
        </p:txBody>
      </p:sp>
      <p:grpSp>
        <p:nvGrpSpPr>
          <p:cNvPr id="7" name="object 7"/>
          <p:cNvGrpSpPr/>
          <p:nvPr/>
        </p:nvGrpSpPr>
        <p:grpSpPr>
          <a:xfrm>
            <a:off x="2135123" y="1395996"/>
            <a:ext cx="1039494" cy="454659"/>
            <a:chOff x="2135123" y="1395996"/>
            <a:chExt cx="1039494" cy="454659"/>
          </a:xfrm>
        </p:grpSpPr>
        <p:pic>
          <p:nvPicPr>
            <p:cNvPr id="8" name="object 8"/>
            <p:cNvPicPr/>
            <p:nvPr/>
          </p:nvPicPr>
          <p:blipFill>
            <a:blip r:embed="rId2" cstate="print"/>
            <a:stretch>
              <a:fillRect/>
            </a:stretch>
          </p:blipFill>
          <p:spPr>
            <a:xfrm>
              <a:off x="2135123" y="1430997"/>
              <a:ext cx="1039355" cy="330746"/>
            </a:xfrm>
            <a:prstGeom prst="rect">
              <a:avLst/>
            </a:prstGeom>
          </p:spPr>
        </p:pic>
        <p:pic>
          <p:nvPicPr>
            <p:cNvPr id="9" name="object 9"/>
            <p:cNvPicPr/>
            <p:nvPr/>
          </p:nvPicPr>
          <p:blipFill>
            <a:blip r:embed="rId3" cstate="print"/>
            <a:stretch>
              <a:fillRect/>
            </a:stretch>
          </p:blipFill>
          <p:spPr>
            <a:xfrm>
              <a:off x="2154935" y="1395996"/>
              <a:ext cx="996721" cy="454139"/>
            </a:xfrm>
            <a:prstGeom prst="rect">
              <a:avLst/>
            </a:prstGeom>
          </p:spPr>
        </p:pic>
        <p:pic>
          <p:nvPicPr>
            <p:cNvPr id="10" name="object 10"/>
            <p:cNvPicPr/>
            <p:nvPr/>
          </p:nvPicPr>
          <p:blipFill>
            <a:blip r:embed="rId4" cstate="print"/>
            <a:stretch>
              <a:fillRect/>
            </a:stretch>
          </p:blipFill>
          <p:spPr>
            <a:xfrm>
              <a:off x="2182367" y="1458467"/>
              <a:ext cx="949452" cy="240791"/>
            </a:xfrm>
            <a:prstGeom prst="rect">
              <a:avLst/>
            </a:prstGeom>
          </p:spPr>
        </p:pic>
      </p:grpSp>
      <p:sp>
        <p:nvSpPr>
          <p:cNvPr id="11" name="object 11"/>
          <p:cNvSpPr txBox="1"/>
          <p:nvPr/>
        </p:nvSpPr>
        <p:spPr>
          <a:xfrm>
            <a:off x="2182367" y="1458467"/>
            <a:ext cx="949960" cy="241300"/>
          </a:xfrm>
          <a:prstGeom prst="rect">
            <a:avLst/>
          </a:prstGeom>
          <a:ln w="9144">
            <a:solidFill>
              <a:srgbClr val="454544"/>
            </a:solidFill>
          </a:ln>
        </p:spPr>
        <p:txBody>
          <a:bodyPr vert="horz" wrap="square" lIns="0" tIns="8255" rIns="0" bIns="0" rtlCol="0">
            <a:spAutoFit/>
          </a:bodyPr>
          <a:lstStyle/>
          <a:p>
            <a:pPr marL="122555">
              <a:lnSpc>
                <a:spcPct val="100000"/>
              </a:lnSpc>
              <a:spcBef>
                <a:spcPts val="65"/>
              </a:spcBef>
            </a:pPr>
            <a:r>
              <a:rPr sz="1400" dirty="0">
                <a:solidFill>
                  <a:srgbClr val="464646"/>
                </a:solidFill>
                <a:latin typeface="Arial MT"/>
                <a:cs typeface="Arial MT"/>
              </a:rPr>
              <a:t>Public</a:t>
            </a:r>
            <a:r>
              <a:rPr sz="1400" spc="-55" dirty="0">
                <a:solidFill>
                  <a:srgbClr val="464646"/>
                </a:solidFill>
                <a:latin typeface="Arial MT"/>
                <a:cs typeface="Arial MT"/>
              </a:rPr>
              <a:t> </a:t>
            </a:r>
            <a:r>
              <a:rPr sz="1400" dirty="0">
                <a:solidFill>
                  <a:srgbClr val="464646"/>
                </a:solidFill>
                <a:latin typeface="Arial MT"/>
                <a:cs typeface="Arial MT"/>
              </a:rPr>
              <a:t>IP</a:t>
            </a:r>
            <a:endParaRPr sz="1400">
              <a:latin typeface="Arial MT"/>
              <a:cs typeface="Arial MT"/>
            </a:endParaRPr>
          </a:p>
        </p:txBody>
      </p:sp>
      <p:sp>
        <p:nvSpPr>
          <p:cNvPr id="12" name="object 12"/>
          <p:cNvSpPr/>
          <p:nvPr/>
        </p:nvSpPr>
        <p:spPr>
          <a:xfrm>
            <a:off x="5529834" y="1489710"/>
            <a:ext cx="2738755" cy="1734820"/>
          </a:xfrm>
          <a:custGeom>
            <a:avLst/>
            <a:gdLst/>
            <a:ahLst/>
            <a:cxnLst/>
            <a:rect l="l" t="t" r="r" b="b"/>
            <a:pathLst>
              <a:path w="2738754" h="1734820">
                <a:moveTo>
                  <a:pt x="0" y="289051"/>
                </a:moveTo>
                <a:lnTo>
                  <a:pt x="3783" y="242166"/>
                </a:lnTo>
                <a:lnTo>
                  <a:pt x="14736" y="197689"/>
                </a:lnTo>
                <a:lnTo>
                  <a:pt x="32263" y="156215"/>
                </a:lnTo>
                <a:lnTo>
                  <a:pt x="55770" y="118341"/>
                </a:lnTo>
                <a:lnTo>
                  <a:pt x="84661" y="84661"/>
                </a:lnTo>
                <a:lnTo>
                  <a:pt x="118341" y="55770"/>
                </a:lnTo>
                <a:lnTo>
                  <a:pt x="156215" y="32263"/>
                </a:lnTo>
                <a:lnTo>
                  <a:pt x="197689" y="14736"/>
                </a:lnTo>
                <a:lnTo>
                  <a:pt x="242166" y="3783"/>
                </a:lnTo>
                <a:lnTo>
                  <a:pt x="289051" y="0"/>
                </a:lnTo>
                <a:lnTo>
                  <a:pt x="2449575" y="0"/>
                </a:lnTo>
                <a:lnTo>
                  <a:pt x="2496461" y="3783"/>
                </a:lnTo>
                <a:lnTo>
                  <a:pt x="2540938" y="14736"/>
                </a:lnTo>
                <a:lnTo>
                  <a:pt x="2582412" y="32263"/>
                </a:lnTo>
                <a:lnTo>
                  <a:pt x="2620286" y="55770"/>
                </a:lnTo>
                <a:lnTo>
                  <a:pt x="2653966" y="84661"/>
                </a:lnTo>
                <a:lnTo>
                  <a:pt x="2682857" y="118341"/>
                </a:lnTo>
                <a:lnTo>
                  <a:pt x="2706364" y="156215"/>
                </a:lnTo>
                <a:lnTo>
                  <a:pt x="2723891" y="197689"/>
                </a:lnTo>
                <a:lnTo>
                  <a:pt x="2734844" y="242166"/>
                </a:lnTo>
                <a:lnTo>
                  <a:pt x="2738627" y="289051"/>
                </a:lnTo>
                <a:lnTo>
                  <a:pt x="2738627" y="1445259"/>
                </a:lnTo>
                <a:lnTo>
                  <a:pt x="2734844" y="1492145"/>
                </a:lnTo>
                <a:lnTo>
                  <a:pt x="2723891" y="1536622"/>
                </a:lnTo>
                <a:lnTo>
                  <a:pt x="2706364" y="1578096"/>
                </a:lnTo>
                <a:lnTo>
                  <a:pt x="2682857" y="1615970"/>
                </a:lnTo>
                <a:lnTo>
                  <a:pt x="2653966" y="1649650"/>
                </a:lnTo>
                <a:lnTo>
                  <a:pt x="2620286" y="1678541"/>
                </a:lnTo>
                <a:lnTo>
                  <a:pt x="2582412" y="1702048"/>
                </a:lnTo>
                <a:lnTo>
                  <a:pt x="2540938" y="1719575"/>
                </a:lnTo>
                <a:lnTo>
                  <a:pt x="2496461" y="1730528"/>
                </a:lnTo>
                <a:lnTo>
                  <a:pt x="2449575" y="1734312"/>
                </a:lnTo>
                <a:lnTo>
                  <a:pt x="289051" y="1734312"/>
                </a:lnTo>
                <a:lnTo>
                  <a:pt x="242166" y="1730528"/>
                </a:lnTo>
                <a:lnTo>
                  <a:pt x="197689" y="1719575"/>
                </a:lnTo>
                <a:lnTo>
                  <a:pt x="156215" y="1702048"/>
                </a:lnTo>
                <a:lnTo>
                  <a:pt x="118341" y="1678541"/>
                </a:lnTo>
                <a:lnTo>
                  <a:pt x="84661" y="1649650"/>
                </a:lnTo>
                <a:lnTo>
                  <a:pt x="55770" y="1615970"/>
                </a:lnTo>
                <a:lnTo>
                  <a:pt x="32263" y="1578096"/>
                </a:lnTo>
                <a:lnTo>
                  <a:pt x="14736" y="1536622"/>
                </a:lnTo>
                <a:lnTo>
                  <a:pt x="3783" y="1492145"/>
                </a:lnTo>
                <a:lnTo>
                  <a:pt x="0" y="1445259"/>
                </a:lnTo>
                <a:lnTo>
                  <a:pt x="0" y="289051"/>
                </a:lnTo>
                <a:close/>
              </a:path>
              <a:path w="2738754" h="1734820">
                <a:moveTo>
                  <a:pt x="426719" y="416813"/>
                </a:moveTo>
                <a:lnTo>
                  <a:pt x="436352" y="369034"/>
                </a:lnTo>
                <a:lnTo>
                  <a:pt x="462629" y="330041"/>
                </a:lnTo>
                <a:lnTo>
                  <a:pt x="501622" y="303764"/>
                </a:lnTo>
                <a:lnTo>
                  <a:pt x="549401" y="294131"/>
                </a:lnTo>
                <a:lnTo>
                  <a:pt x="1451610" y="294131"/>
                </a:lnTo>
                <a:lnTo>
                  <a:pt x="1499336" y="303764"/>
                </a:lnTo>
                <a:lnTo>
                  <a:pt x="1538335" y="330041"/>
                </a:lnTo>
                <a:lnTo>
                  <a:pt x="1564641" y="369034"/>
                </a:lnTo>
                <a:lnTo>
                  <a:pt x="1574291" y="416813"/>
                </a:lnTo>
                <a:lnTo>
                  <a:pt x="1574291" y="907541"/>
                </a:lnTo>
                <a:lnTo>
                  <a:pt x="1564641" y="955268"/>
                </a:lnTo>
                <a:lnTo>
                  <a:pt x="1538335" y="994267"/>
                </a:lnTo>
                <a:lnTo>
                  <a:pt x="1499336" y="1020573"/>
                </a:lnTo>
                <a:lnTo>
                  <a:pt x="1451610" y="1030223"/>
                </a:lnTo>
                <a:lnTo>
                  <a:pt x="549401" y="1030223"/>
                </a:lnTo>
                <a:lnTo>
                  <a:pt x="501622" y="1020573"/>
                </a:lnTo>
                <a:lnTo>
                  <a:pt x="462629" y="994267"/>
                </a:lnTo>
                <a:lnTo>
                  <a:pt x="436352" y="955268"/>
                </a:lnTo>
                <a:lnTo>
                  <a:pt x="426719" y="907541"/>
                </a:lnTo>
                <a:lnTo>
                  <a:pt x="426719" y="416813"/>
                </a:lnTo>
                <a:close/>
              </a:path>
            </a:pathLst>
          </a:custGeom>
          <a:ln w="25908">
            <a:solidFill>
              <a:srgbClr val="464646"/>
            </a:solidFill>
          </a:ln>
        </p:spPr>
        <p:txBody>
          <a:bodyPr wrap="square" lIns="0" tIns="0" rIns="0" bIns="0" rtlCol="0"/>
          <a:lstStyle/>
          <a:p>
            <a:endParaRPr/>
          </a:p>
        </p:txBody>
      </p:sp>
      <p:sp>
        <p:nvSpPr>
          <p:cNvPr id="13" name="object 13"/>
          <p:cNvSpPr txBox="1"/>
          <p:nvPr/>
        </p:nvSpPr>
        <p:spPr>
          <a:xfrm>
            <a:off x="6137909" y="1858517"/>
            <a:ext cx="787400" cy="574040"/>
          </a:xfrm>
          <a:prstGeom prst="rect">
            <a:avLst/>
          </a:prstGeom>
        </p:spPr>
        <p:txBody>
          <a:bodyPr vert="horz" wrap="square" lIns="0" tIns="12700" rIns="0" bIns="0" rtlCol="0">
            <a:spAutoFit/>
          </a:bodyPr>
          <a:lstStyle/>
          <a:p>
            <a:pPr marL="12700" marR="5080" indent="12065">
              <a:lnSpc>
                <a:spcPct val="100000"/>
              </a:lnSpc>
              <a:spcBef>
                <a:spcPts val="100"/>
              </a:spcBef>
            </a:pPr>
            <a:r>
              <a:rPr sz="1800" spc="-5" dirty="0">
                <a:solidFill>
                  <a:srgbClr val="464646"/>
                </a:solidFill>
                <a:latin typeface="Arial MT"/>
                <a:cs typeface="Arial MT"/>
              </a:rPr>
              <a:t>S</a:t>
            </a:r>
            <a:r>
              <a:rPr sz="1800" spc="-15" dirty="0">
                <a:solidFill>
                  <a:srgbClr val="464646"/>
                </a:solidFill>
                <a:latin typeface="Arial MT"/>
                <a:cs typeface="Arial MT"/>
              </a:rPr>
              <a:t>h</a:t>
            </a:r>
            <a:r>
              <a:rPr sz="1800" spc="-5" dirty="0">
                <a:solidFill>
                  <a:srgbClr val="464646"/>
                </a:solidFill>
                <a:latin typeface="Arial MT"/>
                <a:cs typeface="Arial MT"/>
              </a:rPr>
              <a:t>ar</a:t>
            </a:r>
            <a:r>
              <a:rPr sz="1800" spc="-15" dirty="0">
                <a:solidFill>
                  <a:srgbClr val="464646"/>
                </a:solidFill>
                <a:latin typeface="Arial MT"/>
                <a:cs typeface="Arial MT"/>
              </a:rPr>
              <a:t>e</a:t>
            </a:r>
            <a:r>
              <a:rPr sz="1800" spc="-5" dirty="0">
                <a:solidFill>
                  <a:srgbClr val="464646"/>
                </a:solidFill>
                <a:latin typeface="Arial MT"/>
                <a:cs typeface="Arial MT"/>
              </a:rPr>
              <a:t>d  S</a:t>
            </a:r>
            <a:r>
              <a:rPr sz="1800" spc="-15" dirty="0">
                <a:solidFill>
                  <a:srgbClr val="464646"/>
                </a:solidFill>
                <a:latin typeface="Arial MT"/>
                <a:cs typeface="Arial MT"/>
              </a:rPr>
              <a:t>e</a:t>
            </a:r>
            <a:r>
              <a:rPr sz="1800" spc="-5" dirty="0">
                <a:solidFill>
                  <a:srgbClr val="464646"/>
                </a:solidFill>
                <a:latin typeface="Arial MT"/>
                <a:cs typeface="Arial MT"/>
              </a:rPr>
              <a:t>rvice</a:t>
            </a:r>
            <a:endParaRPr sz="1800">
              <a:latin typeface="Arial MT"/>
              <a:cs typeface="Arial MT"/>
            </a:endParaRPr>
          </a:p>
        </p:txBody>
      </p:sp>
      <p:grpSp>
        <p:nvGrpSpPr>
          <p:cNvPr id="14" name="object 14"/>
          <p:cNvGrpSpPr/>
          <p:nvPr/>
        </p:nvGrpSpPr>
        <p:grpSpPr>
          <a:xfrm>
            <a:off x="1554480" y="1847100"/>
            <a:ext cx="6541134" cy="454659"/>
            <a:chOff x="1554480" y="1847100"/>
            <a:chExt cx="6541134" cy="454659"/>
          </a:xfrm>
        </p:grpSpPr>
        <p:pic>
          <p:nvPicPr>
            <p:cNvPr id="15" name="object 15"/>
            <p:cNvPicPr/>
            <p:nvPr/>
          </p:nvPicPr>
          <p:blipFill>
            <a:blip r:embed="rId5" cstate="print"/>
            <a:stretch>
              <a:fillRect/>
            </a:stretch>
          </p:blipFill>
          <p:spPr>
            <a:xfrm>
              <a:off x="1554480" y="1859318"/>
              <a:ext cx="4520184" cy="428205"/>
            </a:xfrm>
            <a:prstGeom prst="rect">
              <a:avLst/>
            </a:prstGeom>
          </p:spPr>
        </p:pic>
        <p:sp>
          <p:nvSpPr>
            <p:cNvPr id="16" name="object 16"/>
            <p:cNvSpPr/>
            <p:nvPr/>
          </p:nvSpPr>
          <p:spPr>
            <a:xfrm>
              <a:off x="1597152" y="1881377"/>
              <a:ext cx="4361180" cy="309245"/>
            </a:xfrm>
            <a:custGeom>
              <a:avLst/>
              <a:gdLst/>
              <a:ahLst/>
              <a:cxnLst/>
              <a:rect l="l" t="t" r="r" b="b"/>
              <a:pathLst>
                <a:path w="4361180" h="309244">
                  <a:moveTo>
                    <a:pt x="4282948" y="231394"/>
                  </a:moveTo>
                  <a:lnTo>
                    <a:pt x="4282948" y="309118"/>
                  </a:lnTo>
                  <a:lnTo>
                    <a:pt x="4334764" y="283210"/>
                  </a:lnTo>
                  <a:lnTo>
                    <a:pt x="4295902" y="283210"/>
                  </a:lnTo>
                  <a:lnTo>
                    <a:pt x="4295902" y="257302"/>
                  </a:lnTo>
                  <a:lnTo>
                    <a:pt x="4334764" y="257302"/>
                  </a:lnTo>
                  <a:lnTo>
                    <a:pt x="4282948" y="231394"/>
                  </a:lnTo>
                  <a:close/>
                </a:path>
                <a:path w="4361180" h="309244">
                  <a:moveTo>
                    <a:pt x="25907" y="0"/>
                  </a:moveTo>
                  <a:lnTo>
                    <a:pt x="0" y="0"/>
                  </a:lnTo>
                  <a:lnTo>
                    <a:pt x="0" y="277495"/>
                  </a:lnTo>
                  <a:lnTo>
                    <a:pt x="5841" y="283210"/>
                  </a:lnTo>
                  <a:lnTo>
                    <a:pt x="4282948" y="283210"/>
                  </a:lnTo>
                  <a:lnTo>
                    <a:pt x="4282948" y="270256"/>
                  </a:lnTo>
                  <a:lnTo>
                    <a:pt x="25907" y="270256"/>
                  </a:lnTo>
                  <a:lnTo>
                    <a:pt x="12953" y="257302"/>
                  </a:lnTo>
                  <a:lnTo>
                    <a:pt x="25907" y="257302"/>
                  </a:lnTo>
                  <a:lnTo>
                    <a:pt x="25907" y="0"/>
                  </a:lnTo>
                  <a:close/>
                </a:path>
                <a:path w="4361180" h="309244">
                  <a:moveTo>
                    <a:pt x="4334764" y="257302"/>
                  </a:moveTo>
                  <a:lnTo>
                    <a:pt x="4295902" y="257302"/>
                  </a:lnTo>
                  <a:lnTo>
                    <a:pt x="4295902" y="283210"/>
                  </a:lnTo>
                  <a:lnTo>
                    <a:pt x="4334764" y="283210"/>
                  </a:lnTo>
                  <a:lnTo>
                    <a:pt x="4360672" y="270256"/>
                  </a:lnTo>
                  <a:lnTo>
                    <a:pt x="4334764" y="257302"/>
                  </a:lnTo>
                  <a:close/>
                </a:path>
                <a:path w="4361180" h="309244">
                  <a:moveTo>
                    <a:pt x="25907" y="257302"/>
                  </a:moveTo>
                  <a:lnTo>
                    <a:pt x="12953" y="257302"/>
                  </a:lnTo>
                  <a:lnTo>
                    <a:pt x="25907" y="270256"/>
                  </a:lnTo>
                  <a:lnTo>
                    <a:pt x="25907" y="257302"/>
                  </a:lnTo>
                  <a:close/>
                </a:path>
                <a:path w="4361180" h="309244">
                  <a:moveTo>
                    <a:pt x="4282948" y="257302"/>
                  </a:moveTo>
                  <a:lnTo>
                    <a:pt x="25907" y="257302"/>
                  </a:lnTo>
                  <a:lnTo>
                    <a:pt x="25907" y="270256"/>
                  </a:lnTo>
                  <a:lnTo>
                    <a:pt x="4282948" y="270256"/>
                  </a:lnTo>
                  <a:lnTo>
                    <a:pt x="4282948" y="257302"/>
                  </a:lnTo>
                  <a:close/>
                </a:path>
              </a:pathLst>
            </a:custGeom>
            <a:solidFill>
              <a:srgbClr val="FBB64B"/>
            </a:solidFill>
          </p:spPr>
          <p:txBody>
            <a:bodyPr wrap="square" lIns="0" tIns="0" rIns="0" bIns="0" rtlCol="0"/>
            <a:lstStyle/>
            <a:p>
              <a:endParaRPr/>
            </a:p>
          </p:txBody>
        </p:sp>
        <p:pic>
          <p:nvPicPr>
            <p:cNvPr id="17" name="object 17"/>
            <p:cNvPicPr/>
            <p:nvPr/>
          </p:nvPicPr>
          <p:blipFill>
            <a:blip r:embed="rId2" cstate="print"/>
            <a:stretch>
              <a:fillRect/>
            </a:stretch>
          </p:blipFill>
          <p:spPr>
            <a:xfrm>
              <a:off x="7056120" y="1882101"/>
              <a:ext cx="1039355" cy="330746"/>
            </a:xfrm>
            <a:prstGeom prst="rect">
              <a:avLst/>
            </a:prstGeom>
          </p:spPr>
        </p:pic>
        <p:pic>
          <p:nvPicPr>
            <p:cNvPr id="18" name="object 18"/>
            <p:cNvPicPr/>
            <p:nvPr/>
          </p:nvPicPr>
          <p:blipFill>
            <a:blip r:embed="rId6" cstate="print"/>
            <a:stretch>
              <a:fillRect/>
            </a:stretch>
          </p:blipFill>
          <p:spPr>
            <a:xfrm>
              <a:off x="7077456" y="1847100"/>
              <a:ext cx="996721" cy="454139"/>
            </a:xfrm>
            <a:prstGeom prst="rect">
              <a:avLst/>
            </a:prstGeom>
          </p:spPr>
        </p:pic>
        <p:pic>
          <p:nvPicPr>
            <p:cNvPr id="19" name="object 19"/>
            <p:cNvPicPr/>
            <p:nvPr/>
          </p:nvPicPr>
          <p:blipFill>
            <a:blip r:embed="rId7" cstate="print"/>
            <a:stretch>
              <a:fillRect/>
            </a:stretch>
          </p:blipFill>
          <p:spPr>
            <a:xfrm>
              <a:off x="7103364" y="1909571"/>
              <a:ext cx="949451" cy="240792"/>
            </a:xfrm>
            <a:prstGeom prst="rect">
              <a:avLst/>
            </a:prstGeom>
          </p:spPr>
        </p:pic>
      </p:grpSp>
      <p:sp>
        <p:nvSpPr>
          <p:cNvPr id="20" name="object 20"/>
          <p:cNvSpPr txBox="1"/>
          <p:nvPr/>
        </p:nvSpPr>
        <p:spPr>
          <a:xfrm>
            <a:off x="7103364" y="1909572"/>
            <a:ext cx="949960" cy="241300"/>
          </a:xfrm>
          <a:prstGeom prst="rect">
            <a:avLst/>
          </a:prstGeom>
          <a:ln w="9144">
            <a:solidFill>
              <a:srgbClr val="454544"/>
            </a:solidFill>
          </a:ln>
        </p:spPr>
        <p:txBody>
          <a:bodyPr vert="horz" wrap="square" lIns="0" tIns="8890" rIns="0" bIns="0" rtlCol="0">
            <a:spAutoFit/>
          </a:bodyPr>
          <a:lstStyle/>
          <a:p>
            <a:pPr marL="123825">
              <a:lnSpc>
                <a:spcPct val="100000"/>
              </a:lnSpc>
              <a:spcBef>
                <a:spcPts val="70"/>
              </a:spcBef>
            </a:pPr>
            <a:r>
              <a:rPr sz="1400" dirty="0">
                <a:solidFill>
                  <a:srgbClr val="464646"/>
                </a:solidFill>
                <a:latin typeface="Arial MT"/>
                <a:cs typeface="Arial MT"/>
              </a:rPr>
              <a:t>Public</a:t>
            </a:r>
            <a:r>
              <a:rPr sz="1400" spc="-55" dirty="0">
                <a:solidFill>
                  <a:srgbClr val="464646"/>
                </a:solidFill>
                <a:latin typeface="Arial MT"/>
                <a:cs typeface="Arial MT"/>
              </a:rPr>
              <a:t> </a:t>
            </a:r>
            <a:r>
              <a:rPr sz="1400" dirty="0">
                <a:solidFill>
                  <a:srgbClr val="464646"/>
                </a:solidFill>
                <a:latin typeface="Arial MT"/>
                <a:cs typeface="Arial MT"/>
              </a:rPr>
              <a:t>IP</a:t>
            </a:r>
            <a:endParaRPr sz="1400">
              <a:latin typeface="Arial MT"/>
              <a:cs typeface="Arial MT"/>
            </a:endParaRPr>
          </a:p>
        </p:txBody>
      </p:sp>
      <p:sp>
        <p:nvSpPr>
          <p:cNvPr id="21" name="object 21"/>
          <p:cNvSpPr txBox="1"/>
          <p:nvPr/>
        </p:nvSpPr>
        <p:spPr>
          <a:xfrm>
            <a:off x="4141978" y="1537842"/>
            <a:ext cx="800100" cy="574040"/>
          </a:xfrm>
          <a:prstGeom prst="rect">
            <a:avLst/>
          </a:prstGeom>
        </p:spPr>
        <p:txBody>
          <a:bodyPr vert="horz" wrap="square" lIns="0" tIns="12700" rIns="0" bIns="0" rtlCol="0">
            <a:spAutoFit/>
          </a:bodyPr>
          <a:lstStyle/>
          <a:p>
            <a:pPr marL="88900" marR="5080" indent="-76200">
              <a:lnSpc>
                <a:spcPct val="100000"/>
              </a:lnSpc>
              <a:spcBef>
                <a:spcPts val="100"/>
              </a:spcBef>
            </a:pPr>
            <a:r>
              <a:rPr sz="1800" dirty="0">
                <a:solidFill>
                  <a:srgbClr val="464646"/>
                </a:solidFill>
                <a:latin typeface="Arial MT"/>
                <a:cs typeface="Arial MT"/>
              </a:rPr>
              <a:t>Inter</a:t>
            </a:r>
            <a:r>
              <a:rPr sz="1800" spc="-15" dirty="0">
                <a:solidFill>
                  <a:srgbClr val="464646"/>
                </a:solidFill>
                <a:latin typeface="Arial MT"/>
                <a:cs typeface="Arial MT"/>
              </a:rPr>
              <a:t>n</a:t>
            </a:r>
            <a:r>
              <a:rPr sz="1800" dirty="0">
                <a:solidFill>
                  <a:srgbClr val="464646"/>
                </a:solidFill>
                <a:latin typeface="Arial MT"/>
                <a:cs typeface="Arial MT"/>
              </a:rPr>
              <a:t>et  </a:t>
            </a:r>
            <a:r>
              <a:rPr sz="1800" spc="-15" dirty="0">
                <a:solidFill>
                  <a:srgbClr val="464646"/>
                </a:solidFill>
                <a:latin typeface="Arial MT"/>
                <a:cs typeface="Arial MT"/>
              </a:rPr>
              <a:t>Traffic</a:t>
            </a:r>
            <a:endParaRPr sz="1800">
              <a:latin typeface="Arial MT"/>
              <a:cs typeface="Arial MT"/>
            </a:endParaRPr>
          </a:p>
        </p:txBody>
      </p:sp>
      <p:sp>
        <p:nvSpPr>
          <p:cNvPr id="22" name="object 22"/>
          <p:cNvSpPr txBox="1"/>
          <p:nvPr/>
        </p:nvSpPr>
        <p:spPr>
          <a:xfrm>
            <a:off x="1044955" y="2800857"/>
            <a:ext cx="6598284" cy="2032000"/>
          </a:xfrm>
          <a:prstGeom prst="rect">
            <a:avLst/>
          </a:prstGeom>
        </p:spPr>
        <p:txBody>
          <a:bodyPr vert="horz" wrap="square" lIns="0" tIns="12700" rIns="0" bIns="0" rtlCol="0">
            <a:spAutoFit/>
          </a:bodyPr>
          <a:lstStyle/>
          <a:p>
            <a:pPr marR="5080" algn="r">
              <a:lnSpc>
                <a:spcPct val="100000"/>
              </a:lnSpc>
              <a:spcBef>
                <a:spcPts val="100"/>
              </a:spcBef>
            </a:pPr>
            <a:r>
              <a:rPr sz="1800" spc="-5" dirty="0">
                <a:solidFill>
                  <a:srgbClr val="464646"/>
                </a:solidFill>
                <a:latin typeface="Arial MT"/>
                <a:cs typeface="Arial MT"/>
              </a:rPr>
              <a:t>VPC</a:t>
            </a:r>
            <a:r>
              <a:rPr sz="1800" spc="-35" dirty="0">
                <a:solidFill>
                  <a:srgbClr val="464646"/>
                </a:solidFill>
                <a:latin typeface="Arial MT"/>
                <a:cs typeface="Arial MT"/>
              </a:rPr>
              <a:t> </a:t>
            </a:r>
            <a:r>
              <a:rPr sz="1800" spc="-5" dirty="0">
                <a:solidFill>
                  <a:srgbClr val="464646"/>
                </a:solidFill>
                <a:latin typeface="Arial MT"/>
                <a:cs typeface="Arial MT"/>
              </a:rPr>
              <a:t>Common</a:t>
            </a:r>
            <a:endParaRPr sz="1800">
              <a:latin typeface="Arial MT"/>
              <a:cs typeface="Arial MT"/>
            </a:endParaRPr>
          </a:p>
          <a:p>
            <a:pPr>
              <a:lnSpc>
                <a:spcPct val="100000"/>
              </a:lnSpc>
              <a:spcBef>
                <a:spcPts val="15"/>
              </a:spcBef>
            </a:pPr>
            <a:endParaRPr sz="2450">
              <a:latin typeface="Arial MT"/>
              <a:cs typeface="Arial MT"/>
            </a:endParaRPr>
          </a:p>
          <a:p>
            <a:pPr marL="299085" indent="-287020">
              <a:lnSpc>
                <a:spcPct val="100000"/>
              </a:lnSpc>
              <a:spcBef>
                <a:spcPts val="5"/>
              </a:spcBef>
              <a:buChar char="•"/>
              <a:tabLst>
                <a:tab pos="299085" algn="l"/>
                <a:tab pos="299720" algn="l"/>
              </a:tabLst>
            </a:pPr>
            <a:r>
              <a:rPr sz="1800" spc="-5" dirty="0">
                <a:solidFill>
                  <a:srgbClr val="464646"/>
                </a:solidFill>
                <a:latin typeface="Arial MT"/>
                <a:cs typeface="Arial MT"/>
              </a:rPr>
              <a:t>Shared</a:t>
            </a:r>
            <a:r>
              <a:rPr sz="1800" dirty="0">
                <a:solidFill>
                  <a:srgbClr val="464646"/>
                </a:solidFill>
                <a:latin typeface="Arial MT"/>
                <a:cs typeface="Arial MT"/>
              </a:rPr>
              <a:t> </a:t>
            </a:r>
            <a:r>
              <a:rPr sz="1800" spc="-5" dirty="0">
                <a:solidFill>
                  <a:srgbClr val="464646"/>
                </a:solidFill>
                <a:latin typeface="Arial MT"/>
                <a:cs typeface="Arial MT"/>
              </a:rPr>
              <a:t>Service</a:t>
            </a:r>
            <a:r>
              <a:rPr sz="1800" spc="5" dirty="0">
                <a:solidFill>
                  <a:srgbClr val="464646"/>
                </a:solidFill>
                <a:latin typeface="Arial MT"/>
                <a:cs typeface="Arial MT"/>
              </a:rPr>
              <a:t> </a:t>
            </a:r>
            <a:r>
              <a:rPr sz="1800" spc="-5" dirty="0">
                <a:solidFill>
                  <a:srgbClr val="464646"/>
                </a:solidFill>
                <a:latin typeface="Arial MT"/>
                <a:cs typeface="Arial MT"/>
              </a:rPr>
              <a:t>accessed</a:t>
            </a:r>
            <a:r>
              <a:rPr sz="1800" spc="5" dirty="0">
                <a:solidFill>
                  <a:srgbClr val="464646"/>
                </a:solidFill>
                <a:latin typeface="Arial MT"/>
                <a:cs typeface="Arial MT"/>
              </a:rPr>
              <a:t> </a:t>
            </a:r>
            <a:r>
              <a:rPr sz="1800" spc="-5" dirty="0">
                <a:solidFill>
                  <a:srgbClr val="464646"/>
                </a:solidFill>
                <a:latin typeface="Arial MT"/>
                <a:cs typeface="Arial MT"/>
              </a:rPr>
              <a:t>over</a:t>
            </a:r>
            <a:r>
              <a:rPr sz="1800" dirty="0">
                <a:solidFill>
                  <a:srgbClr val="464646"/>
                </a:solidFill>
                <a:latin typeface="Arial MT"/>
                <a:cs typeface="Arial MT"/>
              </a:rPr>
              <a:t> the</a:t>
            </a:r>
            <a:r>
              <a:rPr sz="1800" spc="-10" dirty="0">
                <a:solidFill>
                  <a:srgbClr val="464646"/>
                </a:solidFill>
                <a:latin typeface="Arial MT"/>
                <a:cs typeface="Arial MT"/>
              </a:rPr>
              <a:t> </a:t>
            </a:r>
            <a:r>
              <a:rPr sz="1800" spc="-5" dirty="0">
                <a:solidFill>
                  <a:srgbClr val="464646"/>
                </a:solidFill>
                <a:latin typeface="Arial MT"/>
                <a:cs typeface="Arial MT"/>
              </a:rPr>
              <a:t>internet</a:t>
            </a:r>
            <a:endParaRPr sz="1800">
              <a:latin typeface="Arial MT"/>
              <a:cs typeface="Arial MT"/>
            </a:endParaRPr>
          </a:p>
          <a:p>
            <a:pPr>
              <a:lnSpc>
                <a:spcPct val="100000"/>
              </a:lnSpc>
              <a:spcBef>
                <a:spcPts val="30"/>
              </a:spcBef>
              <a:buClr>
                <a:srgbClr val="464646"/>
              </a:buClr>
              <a:buFont typeface="Arial MT"/>
              <a:buChar char="•"/>
            </a:pPr>
            <a:endParaRPr sz="1850">
              <a:latin typeface="Arial MT"/>
              <a:cs typeface="Arial MT"/>
            </a:endParaRPr>
          </a:p>
          <a:p>
            <a:pPr marL="299085" indent="-287020">
              <a:lnSpc>
                <a:spcPct val="100000"/>
              </a:lnSpc>
              <a:buChar char="•"/>
              <a:tabLst>
                <a:tab pos="299085" algn="l"/>
                <a:tab pos="299720" algn="l"/>
              </a:tabLst>
            </a:pPr>
            <a:r>
              <a:rPr sz="1800" spc="-50" dirty="0">
                <a:solidFill>
                  <a:srgbClr val="464646"/>
                </a:solidFill>
                <a:latin typeface="Arial MT"/>
                <a:cs typeface="Arial MT"/>
              </a:rPr>
              <a:t>Your</a:t>
            </a:r>
            <a:r>
              <a:rPr sz="1800" spc="5" dirty="0">
                <a:solidFill>
                  <a:srgbClr val="464646"/>
                </a:solidFill>
                <a:latin typeface="Arial MT"/>
                <a:cs typeface="Arial MT"/>
              </a:rPr>
              <a:t> </a:t>
            </a:r>
            <a:r>
              <a:rPr sz="1800" spc="-5" dirty="0">
                <a:solidFill>
                  <a:srgbClr val="464646"/>
                </a:solidFill>
                <a:latin typeface="Arial MT"/>
                <a:cs typeface="Arial MT"/>
              </a:rPr>
              <a:t>applications</a:t>
            </a:r>
            <a:r>
              <a:rPr sz="1800" spc="15" dirty="0">
                <a:solidFill>
                  <a:srgbClr val="464646"/>
                </a:solidFill>
                <a:latin typeface="Arial MT"/>
                <a:cs typeface="Arial MT"/>
              </a:rPr>
              <a:t> </a:t>
            </a:r>
            <a:r>
              <a:rPr sz="1800" dirty="0">
                <a:solidFill>
                  <a:srgbClr val="464646"/>
                </a:solidFill>
                <a:latin typeface="Arial MT"/>
                <a:cs typeface="Arial MT"/>
              </a:rPr>
              <a:t>in</a:t>
            </a:r>
            <a:r>
              <a:rPr sz="1800" spc="-110" dirty="0">
                <a:solidFill>
                  <a:srgbClr val="464646"/>
                </a:solidFill>
                <a:latin typeface="Arial MT"/>
                <a:cs typeface="Arial MT"/>
              </a:rPr>
              <a:t> </a:t>
            </a:r>
            <a:r>
              <a:rPr sz="1800" spc="-25" dirty="0">
                <a:solidFill>
                  <a:srgbClr val="464646"/>
                </a:solidFill>
                <a:latin typeface="Arial MT"/>
                <a:cs typeface="Arial MT"/>
              </a:rPr>
              <a:t>AWS</a:t>
            </a:r>
            <a:r>
              <a:rPr sz="1800" dirty="0">
                <a:solidFill>
                  <a:srgbClr val="464646"/>
                </a:solidFill>
                <a:latin typeface="Arial MT"/>
                <a:cs typeface="Arial MT"/>
              </a:rPr>
              <a:t> are</a:t>
            </a:r>
            <a:r>
              <a:rPr sz="1800" spc="-15" dirty="0">
                <a:solidFill>
                  <a:srgbClr val="464646"/>
                </a:solidFill>
                <a:latin typeface="Arial MT"/>
                <a:cs typeface="Arial MT"/>
              </a:rPr>
              <a:t> </a:t>
            </a:r>
            <a:r>
              <a:rPr sz="1800" spc="-5" dirty="0">
                <a:solidFill>
                  <a:srgbClr val="464646"/>
                </a:solidFill>
                <a:latin typeface="Arial MT"/>
                <a:cs typeface="Arial MT"/>
              </a:rPr>
              <a:t>communicating</a:t>
            </a:r>
            <a:r>
              <a:rPr sz="1800" spc="15" dirty="0">
                <a:solidFill>
                  <a:srgbClr val="464646"/>
                </a:solidFill>
                <a:latin typeface="Arial MT"/>
                <a:cs typeface="Arial MT"/>
              </a:rPr>
              <a:t> </a:t>
            </a:r>
            <a:r>
              <a:rPr sz="1800" spc="-5" dirty="0">
                <a:solidFill>
                  <a:srgbClr val="464646"/>
                </a:solidFill>
                <a:latin typeface="Arial MT"/>
                <a:cs typeface="Arial MT"/>
              </a:rPr>
              <a:t>over internet</a:t>
            </a:r>
            <a:endParaRPr sz="1800">
              <a:latin typeface="Arial MT"/>
              <a:cs typeface="Arial MT"/>
            </a:endParaRPr>
          </a:p>
          <a:p>
            <a:pPr>
              <a:lnSpc>
                <a:spcPct val="100000"/>
              </a:lnSpc>
              <a:spcBef>
                <a:spcPts val="35"/>
              </a:spcBef>
              <a:buClr>
                <a:srgbClr val="464646"/>
              </a:buClr>
              <a:buFont typeface="Arial MT"/>
              <a:buChar char="•"/>
            </a:pPr>
            <a:endParaRPr sz="185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Potential</a:t>
            </a:r>
            <a:r>
              <a:rPr sz="1800" spc="5" dirty="0">
                <a:solidFill>
                  <a:srgbClr val="464646"/>
                </a:solidFill>
                <a:latin typeface="Arial MT"/>
                <a:cs typeface="Arial MT"/>
              </a:rPr>
              <a:t> </a:t>
            </a:r>
            <a:r>
              <a:rPr sz="1800" spc="-5" dirty="0">
                <a:solidFill>
                  <a:srgbClr val="464646"/>
                </a:solidFill>
                <a:latin typeface="Arial MT"/>
                <a:cs typeface="Arial MT"/>
              </a:rPr>
              <a:t>threat</a:t>
            </a:r>
            <a:r>
              <a:rPr sz="1800" dirty="0">
                <a:solidFill>
                  <a:srgbClr val="464646"/>
                </a:solidFill>
                <a:latin typeface="Arial MT"/>
                <a:cs typeface="Arial MT"/>
              </a:rPr>
              <a:t> vectors</a:t>
            </a:r>
            <a:r>
              <a:rPr sz="1800" spc="5" dirty="0">
                <a:solidFill>
                  <a:srgbClr val="464646"/>
                </a:solidFill>
                <a:latin typeface="Arial MT"/>
                <a:cs typeface="Arial MT"/>
              </a:rPr>
              <a:t> </a:t>
            </a:r>
            <a:r>
              <a:rPr sz="1800" spc="-5" dirty="0">
                <a:solidFill>
                  <a:srgbClr val="464646"/>
                </a:solidFill>
                <a:latin typeface="Arial MT"/>
                <a:cs typeface="Arial MT"/>
              </a:rPr>
              <a:t>(Denial</a:t>
            </a:r>
            <a:r>
              <a:rPr sz="1800" spc="15" dirty="0">
                <a:solidFill>
                  <a:srgbClr val="464646"/>
                </a:solidFill>
                <a:latin typeface="Arial MT"/>
                <a:cs typeface="Arial MT"/>
              </a:rPr>
              <a:t> </a:t>
            </a:r>
            <a:r>
              <a:rPr sz="1800" dirty="0">
                <a:solidFill>
                  <a:srgbClr val="464646"/>
                </a:solidFill>
                <a:latin typeface="Arial MT"/>
                <a:cs typeface="Arial MT"/>
              </a:rPr>
              <a:t>of</a:t>
            </a:r>
            <a:r>
              <a:rPr sz="1800" spc="-5" dirty="0">
                <a:solidFill>
                  <a:srgbClr val="464646"/>
                </a:solidFill>
                <a:latin typeface="Arial MT"/>
                <a:cs typeface="Arial MT"/>
              </a:rPr>
              <a:t> Service</a:t>
            </a:r>
            <a:r>
              <a:rPr sz="1800" spc="5" dirty="0">
                <a:solidFill>
                  <a:srgbClr val="464646"/>
                </a:solidFill>
                <a:latin typeface="Arial MT"/>
                <a:cs typeface="Arial MT"/>
              </a:rPr>
              <a:t> </a:t>
            </a:r>
            <a:r>
              <a:rPr sz="1800" dirty="0">
                <a:solidFill>
                  <a:srgbClr val="464646"/>
                </a:solidFill>
                <a:latin typeface="Arial MT"/>
                <a:cs typeface="Arial MT"/>
              </a:rPr>
              <a:t>attacks</a:t>
            </a:r>
            <a:r>
              <a:rPr sz="1800" spc="5" dirty="0">
                <a:solidFill>
                  <a:srgbClr val="464646"/>
                </a:solidFill>
                <a:latin typeface="Arial MT"/>
                <a:cs typeface="Arial MT"/>
              </a:rPr>
              <a:t> </a:t>
            </a:r>
            <a:r>
              <a:rPr sz="1800" spc="-5" dirty="0">
                <a:solidFill>
                  <a:srgbClr val="464646"/>
                </a:solidFill>
                <a:latin typeface="Arial MT"/>
                <a:cs typeface="Arial MT"/>
              </a:rPr>
              <a:t>on</a:t>
            </a:r>
            <a:r>
              <a:rPr sz="1800" spc="-10" dirty="0">
                <a:solidFill>
                  <a:srgbClr val="464646"/>
                </a:solidFill>
                <a:latin typeface="Arial MT"/>
                <a:cs typeface="Arial MT"/>
              </a:rPr>
              <a:t> </a:t>
            </a:r>
            <a:r>
              <a:rPr sz="1800" spc="-5" dirty="0">
                <a:solidFill>
                  <a:srgbClr val="464646"/>
                </a:solidFill>
                <a:latin typeface="Arial MT"/>
                <a:cs typeface="Arial MT"/>
              </a:rPr>
              <a:t>service)</a:t>
            </a:r>
            <a:endParaRPr sz="1800">
              <a:latin typeface="Arial MT"/>
              <a:cs typeface="Arial M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308585" y="1784591"/>
            <a:ext cx="2254250" cy="835660"/>
            <a:chOff x="3308585" y="1784591"/>
            <a:chExt cx="2254250" cy="835660"/>
          </a:xfrm>
        </p:grpSpPr>
        <p:pic>
          <p:nvPicPr>
            <p:cNvPr id="3" name="object 3"/>
            <p:cNvPicPr/>
            <p:nvPr/>
          </p:nvPicPr>
          <p:blipFill>
            <a:blip r:embed="rId2" cstate="print"/>
            <a:stretch>
              <a:fillRect/>
            </a:stretch>
          </p:blipFill>
          <p:spPr>
            <a:xfrm>
              <a:off x="3308585" y="1859214"/>
              <a:ext cx="2254032" cy="617350"/>
            </a:xfrm>
            <a:prstGeom prst="rect">
              <a:avLst/>
            </a:prstGeom>
          </p:spPr>
        </p:pic>
        <p:pic>
          <p:nvPicPr>
            <p:cNvPr id="4" name="object 4"/>
            <p:cNvPicPr/>
            <p:nvPr/>
          </p:nvPicPr>
          <p:blipFill>
            <a:blip r:embed="rId3" cstate="print"/>
            <a:stretch>
              <a:fillRect/>
            </a:stretch>
          </p:blipFill>
          <p:spPr>
            <a:xfrm>
              <a:off x="3681984" y="1784591"/>
              <a:ext cx="1507236" cy="835164"/>
            </a:xfrm>
            <a:prstGeom prst="rect">
              <a:avLst/>
            </a:prstGeom>
          </p:spPr>
        </p:pic>
        <p:pic>
          <p:nvPicPr>
            <p:cNvPr id="5" name="object 5"/>
            <p:cNvPicPr/>
            <p:nvPr/>
          </p:nvPicPr>
          <p:blipFill>
            <a:blip r:embed="rId4" cstate="print"/>
            <a:stretch>
              <a:fillRect/>
            </a:stretch>
          </p:blipFill>
          <p:spPr>
            <a:xfrm>
              <a:off x="3346704" y="1877567"/>
              <a:ext cx="2182368" cy="545591"/>
            </a:xfrm>
            <a:prstGeom prst="rect">
              <a:avLst/>
            </a:prstGeom>
          </p:spPr>
        </p:pic>
        <p:sp>
          <p:nvSpPr>
            <p:cNvPr id="6" name="object 6"/>
            <p:cNvSpPr/>
            <p:nvPr/>
          </p:nvSpPr>
          <p:spPr>
            <a:xfrm>
              <a:off x="3346704" y="1877567"/>
              <a:ext cx="2182495" cy="546100"/>
            </a:xfrm>
            <a:custGeom>
              <a:avLst/>
              <a:gdLst/>
              <a:ahLst/>
              <a:cxnLst/>
              <a:rect l="l" t="t" r="r" b="b"/>
              <a:pathLst>
                <a:path w="2182495" h="546100">
                  <a:moveTo>
                    <a:pt x="0" y="545591"/>
                  </a:moveTo>
                  <a:lnTo>
                    <a:pt x="2182368" y="545591"/>
                  </a:lnTo>
                  <a:lnTo>
                    <a:pt x="2182368" y="0"/>
                  </a:lnTo>
                  <a:lnTo>
                    <a:pt x="0" y="0"/>
                  </a:lnTo>
                  <a:lnTo>
                    <a:pt x="0" y="545591"/>
                  </a:lnTo>
                  <a:close/>
                </a:path>
              </a:pathLst>
            </a:custGeom>
            <a:ln w="9144">
              <a:solidFill>
                <a:srgbClr val="FAB346"/>
              </a:solidFill>
            </a:ln>
          </p:spPr>
          <p:txBody>
            <a:bodyPr wrap="square" lIns="0" tIns="0" rIns="0" bIns="0" rtlCol="0"/>
            <a:lstStyle/>
            <a:p>
              <a:endParaRPr/>
            </a:p>
          </p:txBody>
        </p:sp>
      </p:grpSp>
      <p:sp>
        <p:nvSpPr>
          <p:cNvPr id="7" name="object 7"/>
          <p:cNvSpPr txBox="1"/>
          <p:nvPr/>
        </p:nvSpPr>
        <p:spPr>
          <a:xfrm>
            <a:off x="3849115" y="1858517"/>
            <a:ext cx="1178560" cy="574040"/>
          </a:xfrm>
          <a:prstGeom prst="rect">
            <a:avLst/>
          </a:prstGeom>
        </p:spPr>
        <p:txBody>
          <a:bodyPr vert="horz" wrap="square" lIns="0" tIns="12700" rIns="0" bIns="0" rtlCol="0">
            <a:spAutoFit/>
          </a:bodyPr>
          <a:lstStyle/>
          <a:p>
            <a:pPr marL="12700" marR="5080" indent="184150">
              <a:lnSpc>
                <a:spcPct val="100000"/>
              </a:lnSpc>
              <a:spcBef>
                <a:spcPts val="100"/>
              </a:spcBef>
            </a:pPr>
            <a:r>
              <a:rPr sz="1800" spc="-5" dirty="0">
                <a:solidFill>
                  <a:srgbClr val="464646"/>
                </a:solidFill>
                <a:latin typeface="Arial MT"/>
                <a:cs typeface="Arial MT"/>
              </a:rPr>
              <a:t>Peering </a:t>
            </a:r>
            <a:r>
              <a:rPr sz="1800" dirty="0">
                <a:solidFill>
                  <a:srgbClr val="464646"/>
                </a:solidFill>
                <a:latin typeface="Arial MT"/>
                <a:cs typeface="Arial MT"/>
              </a:rPr>
              <a:t> </a:t>
            </a:r>
            <a:r>
              <a:rPr sz="1800" spc="-5" dirty="0">
                <a:solidFill>
                  <a:srgbClr val="464646"/>
                </a:solidFill>
                <a:latin typeface="Arial MT"/>
                <a:cs typeface="Arial MT"/>
              </a:rPr>
              <a:t>C</a:t>
            </a:r>
            <a:r>
              <a:rPr sz="1800" spc="-15" dirty="0">
                <a:solidFill>
                  <a:srgbClr val="464646"/>
                </a:solidFill>
                <a:latin typeface="Arial MT"/>
                <a:cs typeface="Arial MT"/>
              </a:rPr>
              <a:t>o</a:t>
            </a:r>
            <a:r>
              <a:rPr sz="1800" spc="-5" dirty="0">
                <a:solidFill>
                  <a:srgbClr val="464646"/>
                </a:solidFill>
                <a:latin typeface="Arial MT"/>
                <a:cs typeface="Arial MT"/>
              </a:rPr>
              <a:t>n</a:t>
            </a:r>
            <a:r>
              <a:rPr sz="1800" spc="-15" dirty="0">
                <a:solidFill>
                  <a:srgbClr val="464646"/>
                </a:solidFill>
                <a:latin typeface="Arial MT"/>
                <a:cs typeface="Arial MT"/>
              </a:rPr>
              <a:t>n</a:t>
            </a:r>
            <a:r>
              <a:rPr sz="1800" spc="-5" dirty="0">
                <a:solidFill>
                  <a:srgbClr val="464646"/>
                </a:solidFill>
                <a:latin typeface="Arial MT"/>
                <a:cs typeface="Arial MT"/>
              </a:rPr>
              <a:t>ecti</a:t>
            </a:r>
            <a:r>
              <a:rPr sz="1800" spc="-15" dirty="0">
                <a:solidFill>
                  <a:srgbClr val="464646"/>
                </a:solidFill>
                <a:latin typeface="Arial MT"/>
                <a:cs typeface="Arial MT"/>
              </a:rPr>
              <a:t>o</a:t>
            </a:r>
            <a:r>
              <a:rPr sz="1800" spc="-5" dirty="0">
                <a:solidFill>
                  <a:srgbClr val="464646"/>
                </a:solidFill>
                <a:latin typeface="Arial MT"/>
                <a:cs typeface="Arial MT"/>
              </a:rPr>
              <a:t>n</a:t>
            </a:r>
            <a:endParaRPr sz="1800">
              <a:latin typeface="Arial MT"/>
              <a:cs typeface="Arial MT"/>
            </a:endParaRPr>
          </a:p>
        </p:txBody>
      </p:sp>
      <p:sp>
        <p:nvSpPr>
          <p:cNvPr id="8" name="object 8"/>
          <p:cNvSpPr txBox="1">
            <a:spLocks noGrp="1"/>
          </p:cNvSpPr>
          <p:nvPr>
            <p:ph type="title"/>
          </p:nvPr>
        </p:nvSpPr>
        <p:spPr>
          <a:xfrm>
            <a:off x="415544" y="129997"/>
            <a:ext cx="4138929"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Private</a:t>
            </a:r>
            <a:r>
              <a:rPr u="none" spc="-15" dirty="0">
                <a:solidFill>
                  <a:srgbClr val="4D4D4B"/>
                </a:solidFill>
              </a:rPr>
              <a:t> </a:t>
            </a:r>
            <a:r>
              <a:rPr u="none" spc="-5" dirty="0">
                <a:solidFill>
                  <a:srgbClr val="4D4D4B"/>
                </a:solidFill>
              </a:rPr>
              <a:t>Link</a:t>
            </a:r>
            <a:r>
              <a:rPr u="none" spc="5" dirty="0">
                <a:solidFill>
                  <a:srgbClr val="4D4D4B"/>
                </a:solidFill>
              </a:rPr>
              <a:t> </a:t>
            </a:r>
            <a:r>
              <a:rPr u="none" spc="-5" dirty="0">
                <a:solidFill>
                  <a:srgbClr val="4D4D4B"/>
                </a:solidFill>
              </a:rPr>
              <a:t>-</a:t>
            </a:r>
            <a:r>
              <a:rPr u="none" spc="-20" dirty="0">
                <a:solidFill>
                  <a:srgbClr val="4D4D4B"/>
                </a:solidFill>
              </a:rPr>
              <a:t> </a:t>
            </a:r>
            <a:r>
              <a:rPr u="none" dirty="0">
                <a:solidFill>
                  <a:srgbClr val="4D4D4B"/>
                </a:solidFill>
              </a:rPr>
              <a:t>Motivation</a:t>
            </a:r>
          </a:p>
        </p:txBody>
      </p:sp>
      <p:grpSp>
        <p:nvGrpSpPr>
          <p:cNvPr id="9" name="object 9"/>
          <p:cNvGrpSpPr/>
          <p:nvPr/>
        </p:nvGrpSpPr>
        <p:grpSpPr>
          <a:xfrm>
            <a:off x="595820" y="1040828"/>
            <a:ext cx="2764790" cy="1758950"/>
            <a:chOff x="595820" y="1040828"/>
            <a:chExt cx="2764790" cy="1758950"/>
          </a:xfrm>
        </p:grpSpPr>
        <p:sp>
          <p:nvSpPr>
            <p:cNvPr id="10" name="object 10"/>
            <p:cNvSpPr/>
            <p:nvPr/>
          </p:nvSpPr>
          <p:spPr>
            <a:xfrm>
              <a:off x="608838" y="1053846"/>
              <a:ext cx="2738755" cy="1732914"/>
            </a:xfrm>
            <a:custGeom>
              <a:avLst/>
              <a:gdLst/>
              <a:ahLst/>
              <a:cxnLst/>
              <a:rect l="l" t="t" r="r" b="b"/>
              <a:pathLst>
                <a:path w="2738754" h="1732914">
                  <a:moveTo>
                    <a:pt x="2449830" y="0"/>
                  </a:moveTo>
                  <a:lnTo>
                    <a:pt x="288810" y="0"/>
                  </a:lnTo>
                  <a:lnTo>
                    <a:pt x="241962" y="3779"/>
                  </a:lnTo>
                  <a:lnTo>
                    <a:pt x="197521" y="14721"/>
                  </a:lnTo>
                  <a:lnTo>
                    <a:pt x="156082" y="32232"/>
                  </a:lnTo>
                  <a:lnTo>
                    <a:pt x="118240" y="55717"/>
                  </a:lnTo>
                  <a:lnTo>
                    <a:pt x="84588" y="84581"/>
                  </a:lnTo>
                  <a:lnTo>
                    <a:pt x="55721" y="118231"/>
                  </a:lnTo>
                  <a:lnTo>
                    <a:pt x="32235" y="156072"/>
                  </a:lnTo>
                  <a:lnTo>
                    <a:pt x="14723" y="197510"/>
                  </a:lnTo>
                  <a:lnTo>
                    <a:pt x="3779" y="241950"/>
                  </a:lnTo>
                  <a:lnTo>
                    <a:pt x="0" y="288798"/>
                  </a:lnTo>
                  <a:lnTo>
                    <a:pt x="0" y="1443989"/>
                  </a:lnTo>
                  <a:lnTo>
                    <a:pt x="3779" y="1490837"/>
                  </a:lnTo>
                  <a:lnTo>
                    <a:pt x="14723" y="1535277"/>
                  </a:lnTo>
                  <a:lnTo>
                    <a:pt x="32235" y="1576715"/>
                  </a:lnTo>
                  <a:lnTo>
                    <a:pt x="55721" y="1614556"/>
                  </a:lnTo>
                  <a:lnTo>
                    <a:pt x="84588" y="1648206"/>
                  </a:lnTo>
                  <a:lnTo>
                    <a:pt x="118240" y="1677070"/>
                  </a:lnTo>
                  <a:lnTo>
                    <a:pt x="156082" y="1700555"/>
                  </a:lnTo>
                  <a:lnTo>
                    <a:pt x="197521" y="1718066"/>
                  </a:lnTo>
                  <a:lnTo>
                    <a:pt x="241962" y="1729008"/>
                  </a:lnTo>
                  <a:lnTo>
                    <a:pt x="288810" y="1732787"/>
                  </a:lnTo>
                  <a:lnTo>
                    <a:pt x="2449830" y="1732787"/>
                  </a:lnTo>
                  <a:lnTo>
                    <a:pt x="2496677" y="1729008"/>
                  </a:lnTo>
                  <a:lnTo>
                    <a:pt x="2541117" y="1718066"/>
                  </a:lnTo>
                  <a:lnTo>
                    <a:pt x="2582555" y="1700555"/>
                  </a:lnTo>
                  <a:lnTo>
                    <a:pt x="2620396" y="1677070"/>
                  </a:lnTo>
                  <a:lnTo>
                    <a:pt x="2654045" y="1648206"/>
                  </a:lnTo>
                  <a:lnTo>
                    <a:pt x="2682910" y="1614556"/>
                  </a:lnTo>
                  <a:lnTo>
                    <a:pt x="2706395" y="1576715"/>
                  </a:lnTo>
                  <a:lnTo>
                    <a:pt x="2723906" y="1535277"/>
                  </a:lnTo>
                  <a:lnTo>
                    <a:pt x="2734848" y="1490837"/>
                  </a:lnTo>
                  <a:lnTo>
                    <a:pt x="2738628" y="1443989"/>
                  </a:lnTo>
                  <a:lnTo>
                    <a:pt x="2738628" y="288798"/>
                  </a:lnTo>
                  <a:lnTo>
                    <a:pt x="2734848" y="241950"/>
                  </a:lnTo>
                  <a:lnTo>
                    <a:pt x="2723906" y="197510"/>
                  </a:lnTo>
                  <a:lnTo>
                    <a:pt x="2706395" y="156072"/>
                  </a:lnTo>
                  <a:lnTo>
                    <a:pt x="2682910" y="118231"/>
                  </a:lnTo>
                  <a:lnTo>
                    <a:pt x="2654045" y="84582"/>
                  </a:lnTo>
                  <a:lnTo>
                    <a:pt x="2620396" y="55717"/>
                  </a:lnTo>
                  <a:lnTo>
                    <a:pt x="2582555" y="32232"/>
                  </a:lnTo>
                  <a:lnTo>
                    <a:pt x="2541117" y="14721"/>
                  </a:lnTo>
                  <a:lnTo>
                    <a:pt x="2496677" y="3779"/>
                  </a:lnTo>
                  <a:lnTo>
                    <a:pt x="2449830" y="0"/>
                  </a:lnTo>
                  <a:close/>
                </a:path>
              </a:pathLst>
            </a:custGeom>
            <a:solidFill>
              <a:srgbClr val="FFFFFF"/>
            </a:solidFill>
          </p:spPr>
          <p:txBody>
            <a:bodyPr wrap="square" lIns="0" tIns="0" rIns="0" bIns="0" rtlCol="0"/>
            <a:lstStyle/>
            <a:p>
              <a:endParaRPr/>
            </a:p>
          </p:txBody>
        </p:sp>
        <p:sp>
          <p:nvSpPr>
            <p:cNvPr id="11" name="object 11"/>
            <p:cNvSpPr/>
            <p:nvPr/>
          </p:nvSpPr>
          <p:spPr>
            <a:xfrm>
              <a:off x="608838" y="1053846"/>
              <a:ext cx="2738755" cy="1732914"/>
            </a:xfrm>
            <a:custGeom>
              <a:avLst/>
              <a:gdLst/>
              <a:ahLst/>
              <a:cxnLst/>
              <a:rect l="l" t="t" r="r" b="b"/>
              <a:pathLst>
                <a:path w="2738754" h="1732914">
                  <a:moveTo>
                    <a:pt x="0" y="288798"/>
                  </a:moveTo>
                  <a:lnTo>
                    <a:pt x="3779" y="241950"/>
                  </a:lnTo>
                  <a:lnTo>
                    <a:pt x="14723" y="197510"/>
                  </a:lnTo>
                  <a:lnTo>
                    <a:pt x="32235" y="156072"/>
                  </a:lnTo>
                  <a:lnTo>
                    <a:pt x="55721" y="118231"/>
                  </a:lnTo>
                  <a:lnTo>
                    <a:pt x="84588" y="84581"/>
                  </a:lnTo>
                  <a:lnTo>
                    <a:pt x="118240" y="55717"/>
                  </a:lnTo>
                  <a:lnTo>
                    <a:pt x="156082" y="32232"/>
                  </a:lnTo>
                  <a:lnTo>
                    <a:pt x="197521" y="14721"/>
                  </a:lnTo>
                  <a:lnTo>
                    <a:pt x="241962" y="3779"/>
                  </a:lnTo>
                  <a:lnTo>
                    <a:pt x="288810" y="0"/>
                  </a:lnTo>
                  <a:lnTo>
                    <a:pt x="2449830" y="0"/>
                  </a:lnTo>
                  <a:lnTo>
                    <a:pt x="2496677" y="3779"/>
                  </a:lnTo>
                  <a:lnTo>
                    <a:pt x="2541117" y="14721"/>
                  </a:lnTo>
                  <a:lnTo>
                    <a:pt x="2582555" y="32232"/>
                  </a:lnTo>
                  <a:lnTo>
                    <a:pt x="2620396" y="55717"/>
                  </a:lnTo>
                  <a:lnTo>
                    <a:pt x="2654045" y="84582"/>
                  </a:lnTo>
                  <a:lnTo>
                    <a:pt x="2682910" y="118231"/>
                  </a:lnTo>
                  <a:lnTo>
                    <a:pt x="2706395" y="156072"/>
                  </a:lnTo>
                  <a:lnTo>
                    <a:pt x="2723906" y="197510"/>
                  </a:lnTo>
                  <a:lnTo>
                    <a:pt x="2734848" y="241950"/>
                  </a:lnTo>
                  <a:lnTo>
                    <a:pt x="2738628" y="288798"/>
                  </a:lnTo>
                  <a:lnTo>
                    <a:pt x="2738628" y="1443989"/>
                  </a:lnTo>
                  <a:lnTo>
                    <a:pt x="2734848" y="1490837"/>
                  </a:lnTo>
                  <a:lnTo>
                    <a:pt x="2723906" y="1535277"/>
                  </a:lnTo>
                  <a:lnTo>
                    <a:pt x="2706395" y="1576715"/>
                  </a:lnTo>
                  <a:lnTo>
                    <a:pt x="2682910" y="1614556"/>
                  </a:lnTo>
                  <a:lnTo>
                    <a:pt x="2654045" y="1648206"/>
                  </a:lnTo>
                  <a:lnTo>
                    <a:pt x="2620396" y="1677070"/>
                  </a:lnTo>
                  <a:lnTo>
                    <a:pt x="2582555" y="1700555"/>
                  </a:lnTo>
                  <a:lnTo>
                    <a:pt x="2541117" y="1718066"/>
                  </a:lnTo>
                  <a:lnTo>
                    <a:pt x="2496677" y="1729008"/>
                  </a:lnTo>
                  <a:lnTo>
                    <a:pt x="2449830" y="1732787"/>
                  </a:lnTo>
                  <a:lnTo>
                    <a:pt x="288810" y="1732787"/>
                  </a:lnTo>
                  <a:lnTo>
                    <a:pt x="241962" y="1729008"/>
                  </a:lnTo>
                  <a:lnTo>
                    <a:pt x="197521" y="1718066"/>
                  </a:lnTo>
                  <a:lnTo>
                    <a:pt x="156082" y="1700555"/>
                  </a:lnTo>
                  <a:lnTo>
                    <a:pt x="118240" y="1677070"/>
                  </a:lnTo>
                  <a:lnTo>
                    <a:pt x="84588" y="1648206"/>
                  </a:lnTo>
                  <a:lnTo>
                    <a:pt x="55721" y="1614556"/>
                  </a:lnTo>
                  <a:lnTo>
                    <a:pt x="32235" y="1576715"/>
                  </a:lnTo>
                  <a:lnTo>
                    <a:pt x="14723" y="1535277"/>
                  </a:lnTo>
                  <a:lnTo>
                    <a:pt x="3779" y="1490837"/>
                  </a:lnTo>
                  <a:lnTo>
                    <a:pt x="0" y="1443989"/>
                  </a:lnTo>
                  <a:lnTo>
                    <a:pt x="0" y="288798"/>
                  </a:lnTo>
                  <a:close/>
                </a:path>
              </a:pathLst>
            </a:custGeom>
            <a:ln w="25908">
              <a:solidFill>
                <a:srgbClr val="464646"/>
              </a:solidFill>
            </a:ln>
          </p:spPr>
          <p:txBody>
            <a:bodyPr wrap="square" lIns="0" tIns="0" rIns="0" bIns="0" rtlCol="0"/>
            <a:lstStyle/>
            <a:p>
              <a:endParaRPr/>
            </a:p>
          </p:txBody>
        </p:sp>
      </p:grpSp>
      <p:sp>
        <p:nvSpPr>
          <p:cNvPr id="12" name="object 12"/>
          <p:cNvSpPr txBox="1"/>
          <p:nvPr/>
        </p:nvSpPr>
        <p:spPr>
          <a:xfrm>
            <a:off x="1628648" y="2363165"/>
            <a:ext cx="69977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64646"/>
                </a:solidFill>
                <a:latin typeface="Arial MT"/>
                <a:cs typeface="Arial MT"/>
              </a:rPr>
              <a:t>VPC</a:t>
            </a:r>
            <a:r>
              <a:rPr sz="1800" spc="-105" dirty="0">
                <a:solidFill>
                  <a:srgbClr val="464646"/>
                </a:solidFill>
                <a:latin typeface="Arial MT"/>
                <a:cs typeface="Arial MT"/>
              </a:rPr>
              <a:t> </a:t>
            </a:r>
            <a:r>
              <a:rPr sz="1800" dirty="0">
                <a:solidFill>
                  <a:srgbClr val="464646"/>
                </a:solidFill>
                <a:latin typeface="Arial MT"/>
                <a:cs typeface="Arial MT"/>
              </a:rPr>
              <a:t>A</a:t>
            </a:r>
            <a:endParaRPr sz="1800">
              <a:latin typeface="Arial MT"/>
              <a:cs typeface="Arial MT"/>
            </a:endParaRPr>
          </a:p>
        </p:txBody>
      </p:sp>
      <p:grpSp>
        <p:nvGrpSpPr>
          <p:cNvPr id="13" name="object 13"/>
          <p:cNvGrpSpPr/>
          <p:nvPr/>
        </p:nvGrpSpPr>
        <p:grpSpPr>
          <a:xfrm>
            <a:off x="1022540" y="1333436"/>
            <a:ext cx="1174115" cy="561340"/>
            <a:chOff x="1022540" y="1333436"/>
            <a:chExt cx="1174115" cy="561340"/>
          </a:xfrm>
        </p:grpSpPr>
        <p:sp>
          <p:nvSpPr>
            <p:cNvPr id="14" name="object 14"/>
            <p:cNvSpPr/>
            <p:nvPr/>
          </p:nvSpPr>
          <p:spPr>
            <a:xfrm>
              <a:off x="1035557" y="1346454"/>
              <a:ext cx="1148080" cy="535305"/>
            </a:xfrm>
            <a:custGeom>
              <a:avLst/>
              <a:gdLst/>
              <a:ahLst/>
              <a:cxnLst/>
              <a:rect l="l" t="t" r="r" b="b"/>
              <a:pathLst>
                <a:path w="1148080" h="535305">
                  <a:moveTo>
                    <a:pt x="1058417" y="0"/>
                  </a:moveTo>
                  <a:lnTo>
                    <a:pt x="89153" y="0"/>
                  </a:lnTo>
                  <a:lnTo>
                    <a:pt x="54451" y="7000"/>
                  </a:lnTo>
                  <a:lnTo>
                    <a:pt x="26112" y="26098"/>
                  </a:lnTo>
                  <a:lnTo>
                    <a:pt x="7006" y="54435"/>
                  </a:lnTo>
                  <a:lnTo>
                    <a:pt x="0" y="89154"/>
                  </a:lnTo>
                  <a:lnTo>
                    <a:pt x="0" y="445770"/>
                  </a:lnTo>
                  <a:lnTo>
                    <a:pt x="7006" y="480488"/>
                  </a:lnTo>
                  <a:lnTo>
                    <a:pt x="26112" y="508825"/>
                  </a:lnTo>
                  <a:lnTo>
                    <a:pt x="54451" y="527923"/>
                  </a:lnTo>
                  <a:lnTo>
                    <a:pt x="89153" y="534924"/>
                  </a:lnTo>
                  <a:lnTo>
                    <a:pt x="1058417" y="534924"/>
                  </a:lnTo>
                  <a:lnTo>
                    <a:pt x="1093136" y="527923"/>
                  </a:lnTo>
                  <a:lnTo>
                    <a:pt x="1121473" y="508825"/>
                  </a:lnTo>
                  <a:lnTo>
                    <a:pt x="1140571" y="480488"/>
                  </a:lnTo>
                  <a:lnTo>
                    <a:pt x="1147572" y="445770"/>
                  </a:lnTo>
                  <a:lnTo>
                    <a:pt x="1147572" y="89154"/>
                  </a:lnTo>
                  <a:lnTo>
                    <a:pt x="1140571" y="54435"/>
                  </a:lnTo>
                  <a:lnTo>
                    <a:pt x="1121473" y="26098"/>
                  </a:lnTo>
                  <a:lnTo>
                    <a:pt x="1093136" y="7000"/>
                  </a:lnTo>
                  <a:lnTo>
                    <a:pt x="1058417" y="0"/>
                  </a:lnTo>
                  <a:close/>
                </a:path>
              </a:pathLst>
            </a:custGeom>
            <a:solidFill>
              <a:srgbClr val="FFFFFF"/>
            </a:solidFill>
          </p:spPr>
          <p:txBody>
            <a:bodyPr wrap="square" lIns="0" tIns="0" rIns="0" bIns="0" rtlCol="0"/>
            <a:lstStyle/>
            <a:p>
              <a:endParaRPr/>
            </a:p>
          </p:txBody>
        </p:sp>
        <p:sp>
          <p:nvSpPr>
            <p:cNvPr id="15" name="object 15"/>
            <p:cNvSpPr/>
            <p:nvPr/>
          </p:nvSpPr>
          <p:spPr>
            <a:xfrm>
              <a:off x="1035557" y="1346454"/>
              <a:ext cx="1148080" cy="535305"/>
            </a:xfrm>
            <a:custGeom>
              <a:avLst/>
              <a:gdLst/>
              <a:ahLst/>
              <a:cxnLst/>
              <a:rect l="l" t="t" r="r" b="b"/>
              <a:pathLst>
                <a:path w="1148080" h="535305">
                  <a:moveTo>
                    <a:pt x="0" y="89154"/>
                  </a:moveTo>
                  <a:lnTo>
                    <a:pt x="7006" y="54435"/>
                  </a:lnTo>
                  <a:lnTo>
                    <a:pt x="26112" y="26098"/>
                  </a:lnTo>
                  <a:lnTo>
                    <a:pt x="54451" y="7000"/>
                  </a:lnTo>
                  <a:lnTo>
                    <a:pt x="89153" y="0"/>
                  </a:lnTo>
                  <a:lnTo>
                    <a:pt x="1058417" y="0"/>
                  </a:lnTo>
                  <a:lnTo>
                    <a:pt x="1093136" y="7000"/>
                  </a:lnTo>
                  <a:lnTo>
                    <a:pt x="1121473" y="26098"/>
                  </a:lnTo>
                  <a:lnTo>
                    <a:pt x="1140571" y="54435"/>
                  </a:lnTo>
                  <a:lnTo>
                    <a:pt x="1147572" y="89154"/>
                  </a:lnTo>
                  <a:lnTo>
                    <a:pt x="1147572" y="445770"/>
                  </a:lnTo>
                  <a:lnTo>
                    <a:pt x="1140571" y="480488"/>
                  </a:lnTo>
                  <a:lnTo>
                    <a:pt x="1121473" y="508825"/>
                  </a:lnTo>
                  <a:lnTo>
                    <a:pt x="1093136" y="527923"/>
                  </a:lnTo>
                  <a:lnTo>
                    <a:pt x="1058417" y="534924"/>
                  </a:lnTo>
                  <a:lnTo>
                    <a:pt x="89153" y="534924"/>
                  </a:lnTo>
                  <a:lnTo>
                    <a:pt x="54451" y="527923"/>
                  </a:lnTo>
                  <a:lnTo>
                    <a:pt x="26112" y="508825"/>
                  </a:lnTo>
                  <a:lnTo>
                    <a:pt x="7006" y="480488"/>
                  </a:lnTo>
                  <a:lnTo>
                    <a:pt x="0" y="445770"/>
                  </a:lnTo>
                  <a:lnTo>
                    <a:pt x="0" y="89154"/>
                  </a:lnTo>
                  <a:close/>
                </a:path>
              </a:pathLst>
            </a:custGeom>
            <a:ln w="25908">
              <a:solidFill>
                <a:srgbClr val="464646"/>
              </a:solidFill>
            </a:ln>
          </p:spPr>
          <p:txBody>
            <a:bodyPr wrap="square" lIns="0" tIns="0" rIns="0" bIns="0" rtlCol="0"/>
            <a:lstStyle/>
            <a:p>
              <a:endParaRPr/>
            </a:p>
          </p:txBody>
        </p:sp>
      </p:grpSp>
      <p:sp>
        <p:nvSpPr>
          <p:cNvPr id="16" name="object 16"/>
          <p:cNvSpPr txBox="1"/>
          <p:nvPr/>
        </p:nvSpPr>
        <p:spPr>
          <a:xfrm>
            <a:off x="1305305" y="1457705"/>
            <a:ext cx="60769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l</a:t>
            </a:r>
            <a:r>
              <a:rPr sz="1800" spc="-5" dirty="0">
                <a:solidFill>
                  <a:srgbClr val="464646"/>
                </a:solidFill>
                <a:latin typeface="Arial MT"/>
                <a:cs typeface="Arial MT"/>
              </a:rPr>
              <a:t>i</a:t>
            </a:r>
            <a:r>
              <a:rPr sz="1800" spc="-15" dirty="0">
                <a:solidFill>
                  <a:srgbClr val="464646"/>
                </a:solidFill>
                <a:latin typeface="Arial MT"/>
                <a:cs typeface="Arial MT"/>
              </a:rPr>
              <a:t>e</a:t>
            </a:r>
            <a:r>
              <a:rPr sz="1800" dirty="0">
                <a:solidFill>
                  <a:srgbClr val="464646"/>
                </a:solidFill>
                <a:latin typeface="Arial MT"/>
                <a:cs typeface="Arial MT"/>
              </a:rPr>
              <a:t>nt</a:t>
            </a:r>
            <a:endParaRPr sz="1800">
              <a:latin typeface="Arial MT"/>
              <a:cs typeface="Arial MT"/>
            </a:endParaRPr>
          </a:p>
        </p:txBody>
      </p:sp>
      <p:grpSp>
        <p:nvGrpSpPr>
          <p:cNvPr id="17" name="object 17"/>
          <p:cNvGrpSpPr/>
          <p:nvPr/>
        </p:nvGrpSpPr>
        <p:grpSpPr>
          <a:xfrm>
            <a:off x="2135123" y="1409712"/>
            <a:ext cx="1065530" cy="454659"/>
            <a:chOff x="2135123" y="1409712"/>
            <a:chExt cx="1065530" cy="454659"/>
          </a:xfrm>
        </p:grpSpPr>
        <p:pic>
          <p:nvPicPr>
            <p:cNvPr id="18" name="object 18"/>
            <p:cNvPicPr/>
            <p:nvPr/>
          </p:nvPicPr>
          <p:blipFill>
            <a:blip r:embed="rId5" cstate="print"/>
            <a:stretch>
              <a:fillRect/>
            </a:stretch>
          </p:blipFill>
          <p:spPr>
            <a:xfrm>
              <a:off x="2135123" y="1431023"/>
              <a:ext cx="1065276" cy="359676"/>
            </a:xfrm>
            <a:prstGeom prst="rect">
              <a:avLst/>
            </a:prstGeom>
          </p:spPr>
        </p:pic>
        <p:pic>
          <p:nvPicPr>
            <p:cNvPr id="19" name="object 19"/>
            <p:cNvPicPr/>
            <p:nvPr/>
          </p:nvPicPr>
          <p:blipFill>
            <a:blip r:embed="rId6" cstate="print"/>
            <a:stretch>
              <a:fillRect/>
            </a:stretch>
          </p:blipFill>
          <p:spPr>
            <a:xfrm>
              <a:off x="2135123" y="1409712"/>
              <a:ext cx="1065276" cy="454139"/>
            </a:xfrm>
            <a:prstGeom prst="rect">
              <a:avLst/>
            </a:prstGeom>
          </p:spPr>
        </p:pic>
        <p:pic>
          <p:nvPicPr>
            <p:cNvPr id="20" name="object 20"/>
            <p:cNvPicPr/>
            <p:nvPr/>
          </p:nvPicPr>
          <p:blipFill>
            <a:blip r:embed="rId7" cstate="print"/>
            <a:stretch>
              <a:fillRect/>
            </a:stretch>
          </p:blipFill>
          <p:spPr>
            <a:xfrm>
              <a:off x="2182367" y="1458467"/>
              <a:ext cx="975359" cy="269748"/>
            </a:xfrm>
            <a:prstGeom prst="rect">
              <a:avLst/>
            </a:prstGeom>
          </p:spPr>
        </p:pic>
      </p:grpSp>
      <p:sp>
        <p:nvSpPr>
          <p:cNvPr id="21" name="object 21"/>
          <p:cNvSpPr txBox="1"/>
          <p:nvPr/>
        </p:nvSpPr>
        <p:spPr>
          <a:xfrm>
            <a:off x="2182367" y="1458467"/>
            <a:ext cx="975360" cy="269875"/>
          </a:xfrm>
          <a:prstGeom prst="rect">
            <a:avLst/>
          </a:prstGeom>
          <a:ln w="9144">
            <a:solidFill>
              <a:srgbClr val="454544"/>
            </a:solidFill>
          </a:ln>
        </p:spPr>
        <p:txBody>
          <a:bodyPr vert="horz" wrap="square" lIns="0" tIns="22860" rIns="0" bIns="0" rtlCol="0">
            <a:spAutoFit/>
          </a:bodyPr>
          <a:lstStyle/>
          <a:p>
            <a:pPr marL="101600">
              <a:lnSpc>
                <a:spcPct val="100000"/>
              </a:lnSpc>
              <a:spcBef>
                <a:spcPts val="180"/>
              </a:spcBef>
            </a:pPr>
            <a:r>
              <a:rPr sz="1400" spc="-5" dirty="0">
                <a:solidFill>
                  <a:srgbClr val="464646"/>
                </a:solidFill>
                <a:latin typeface="Arial MT"/>
                <a:cs typeface="Arial MT"/>
              </a:rPr>
              <a:t>Private</a:t>
            </a:r>
            <a:r>
              <a:rPr sz="1400" spc="-45" dirty="0">
                <a:solidFill>
                  <a:srgbClr val="464646"/>
                </a:solidFill>
                <a:latin typeface="Arial MT"/>
                <a:cs typeface="Arial MT"/>
              </a:rPr>
              <a:t> </a:t>
            </a:r>
            <a:r>
              <a:rPr sz="1400" dirty="0">
                <a:solidFill>
                  <a:srgbClr val="464646"/>
                </a:solidFill>
                <a:latin typeface="Arial MT"/>
                <a:cs typeface="Arial MT"/>
              </a:rPr>
              <a:t>IP</a:t>
            </a:r>
            <a:endParaRPr sz="1400">
              <a:latin typeface="Arial MT"/>
              <a:cs typeface="Arial MT"/>
            </a:endParaRPr>
          </a:p>
        </p:txBody>
      </p:sp>
      <p:grpSp>
        <p:nvGrpSpPr>
          <p:cNvPr id="22" name="object 22"/>
          <p:cNvGrpSpPr/>
          <p:nvPr/>
        </p:nvGrpSpPr>
        <p:grpSpPr>
          <a:xfrm>
            <a:off x="5516816" y="1476692"/>
            <a:ext cx="2764790" cy="1760855"/>
            <a:chOff x="5516816" y="1476692"/>
            <a:chExt cx="2764790" cy="1760855"/>
          </a:xfrm>
        </p:grpSpPr>
        <p:sp>
          <p:nvSpPr>
            <p:cNvPr id="23" name="object 23"/>
            <p:cNvSpPr/>
            <p:nvPr/>
          </p:nvSpPr>
          <p:spPr>
            <a:xfrm>
              <a:off x="5529833" y="1489710"/>
              <a:ext cx="2738755" cy="1734820"/>
            </a:xfrm>
            <a:custGeom>
              <a:avLst/>
              <a:gdLst/>
              <a:ahLst/>
              <a:cxnLst/>
              <a:rect l="l" t="t" r="r" b="b"/>
              <a:pathLst>
                <a:path w="2738754" h="1734820">
                  <a:moveTo>
                    <a:pt x="2449575" y="0"/>
                  </a:moveTo>
                  <a:lnTo>
                    <a:pt x="289051" y="0"/>
                  </a:lnTo>
                  <a:lnTo>
                    <a:pt x="242166" y="3783"/>
                  </a:lnTo>
                  <a:lnTo>
                    <a:pt x="197689" y="14736"/>
                  </a:lnTo>
                  <a:lnTo>
                    <a:pt x="156215" y="32263"/>
                  </a:lnTo>
                  <a:lnTo>
                    <a:pt x="118341" y="55770"/>
                  </a:lnTo>
                  <a:lnTo>
                    <a:pt x="84661" y="84661"/>
                  </a:lnTo>
                  <a:lnTo>
                    <a:pt x="55770" y="118341"/>
                  </a:lnTo>
                  <a:lnTo>
                    <a:pt x="32263" y="156215"/>
                  </a:lnTo>
                  <a:lnTo>
                    <a:pt x="14736" y="197689"/>
                  </a:lnTo>
                  <a:lnTo>
                    <a:pt x="3783" y="242166"/>
                  </a:lnTo>
                  <a:lnTo>
                    <a:pt x="0" y="289051"/>
                  </a:lnTo>
                  <a:lnTo>
                    <a:pt x="0" y="1445259"/>
                  </a:lnTo>
                  <a:lnTo>
                    <a:pt x="3783" y="1492145"/>
                  </a:lnTo>
                  <a:lnTo>
                    <a:pt x="14736" y="1536622"/>
                  </a:lnTo>
                  <a:lnTo>
                    <a:pt x="32263" y="1578096"/>
                  </a:lnTo>
                  <a:lnTo>
                    <a:pt x="55770" y="1615970"/>
                  </a:lnTo>
                  <a:lnTo>
                    <a:pt x="84661" y="1649650"/>
                  </a:lnTo>
                  <a:lnTo>
                    <a:pt x="118341" y="1678541"/>
                  </a:lnTo>
                  <a:lnTo>
                    <a:pt x="156215" y="1702048"/>
                  </a:lnTo>
                  <a:lnTo>
                    <a:pt x="197689" y="1719575"/>
                  </a:lnTo>
                  <a:lnTo>
                    <a:pt x="242166" y="1730528"/>
                  </a:lnTo>
                  <a:lnTo>
                    <a:pt x="289051" y="1734312"/>
                  </a:lnTo>
                  <a:lnTo>
                    <a:pt x="2449575" y="1734312"/>
                  </a:lnTo>
                  <a:lnTo>
                    <a:pt x="2496461" y="1730528"/>
                  </a:lnTo>
                  <a:lnTo>
                    <a:pt x="2540938" y="1719575"/>
                  </a:lnTo>
                  <a:lnTo>
                    <a:pt x="2582412" y="1702048"/>
                  </a:lnTo>
                  <a:lnTo>
                    <a:pt x="2620286" y="1678541"/>
                  </a:lnTo>
                  <a:lnTo>
                    <a:pt x="2653966" y="1649650"/>
                  </a:lnTo>
                  <a:lnTo>
                    <a:pt x="2682857" y="1615970"/>
                  </a:lnTo>
                  <a:lnTo>
                    <a:pt x="2706364" y="1578096"/>
                  </a:lnTo>
                  <a:lnTo>
                    <a:pt x="2723891" y="1536622"/>
                  </a:lnTo>
                  <a:lnTo>
                    <a:pt x="2734844" y="1492145"/>
                  </a:lnTo>
                  <a:lnTo>
                    <a:pt x="2738627" y="1445259"/>
                  </a:lnTo>
                  <a:lnTo>
                    <a:pt x="2738627" y="289051"/>
                  </a:lnTo>
                  <a:lnTo>
                    <a:pt x="2734844" y="242166"/>
                  </a:lnTo>
                  <a:lnTo>
                    <a:pt x="2723891" y="197689"/>
                  </a:lnTo>
                  <a:lnTo>
                    <a:pt x="2706364" y="156215"/>
                  </a:lnTo>
                  <a:lnTo>
                    <a:pt x="2682857" y="118341"/>
                  </a:lnTo>
                  <a:lnTo>
                    <a:pt x="2653966" y="84661"/>
                  </a:lnTo>
                  <a:lnTo>
                    <a:pt x="2620286" y="55770"/>
                  </a:lnTo>
                  <a:lnTo>
                    <a:pt x="2582412" y="32263"/>
                  </a:lnTo>
                  <a:lnTo>
                    <a:pt x="2540938" y="14736"/>
                  </a:lnTo>
                  <a:lnTo>
                    <a:pt x="2496461" y="3783"/>
                  </a:lnTo>
                  <a:lnTo>
                    <a:pt x="2449575" y="0"/>
                  </a:lnTo>
                  <a:close/>
                </a:path>
              </a:pathLst>
            </a:custGeom>
            <a:solidFill>
              <a:srgbClr val="FFFFFF"/>
            </a:solidFill>
          </p:spPr>
          <p:txBody>
            <a:bodyPr wrap="square" lIns="0" tIns="0" rIns="0" bIns="0" rtlCol="0"/>
            <a:lstStyle/>
            <a:p>
              <a:endParaRPr/>
            </a:p>
          </p:txBody>
        </p:sp>
        <p:sp>
          <p:nvSpPr>
            <p:cNvPr id="24" name="object 24"/>
            <p:cNvSpPr/>
            <p:nvPr/>
          </p:nvSpPr>
          <p:spPr>
            <a:xfrm>
              <a:off x="5529833" y="1489710"/>
              <a:ext cx="2738755" cy="1734820"/>
            </a:xfrm>
            <a:custGeom>
              <a:avLst/>
              <a:gdLst/>
              <a:ahLst/>
              <a:cxnLst/>
              <a:rect l="l" t="t" r="r" b="b"/>
              <a:pathLst>
                <a:path w="2738754" h="1734820">
                  <a:moveTo>
                    <a:pt x="0" y="289051"/>
                  </a:moveTo>
                  <a:lnTo>
                    <a:pt x="3783" y="242166"/>
                  </a:lnTo>
                  <a:lnTo>
                    <a:pt x="14736" y="197689"/>
                  </a:lnTo>
                  <a:lnTo>
                    <a:pt x="32263" y="156215"/>
                  </a:lnTo>
                  <a:lnTo>
                    <a:pt x="55770" y="118341"/>
                  </a:lnTo>
                  <a:lnTo>
                    <a:pt x="84661" y="84661"/>
                  </a:lnTo>
                  <a:lnTo>
                    <a:pt x="118341" y="55770"/>
                  </a:lnTo>
                  <a:lnTo>
                    <a:pt x="156215" y="32263"/>
                  </a:lnTo>
                  <a:lnTo>
                    <a:pt x="197689" y="14736"/>
                  </a:lnTo>
                  <a:lnTo>
                    <a:pt x="242166" y="3783"/>
                  </a:lnTo>
                  <a:lnTo>
                    <a:pt x="289051" y="0"/>
                  </a:lnTo>
                  <a:lnTo>
                    <a:pt x="2449575" y="0"/>
                  </a:lnTo>
                  <a:lnTo>
                    <a:pt x="2496461" y="3783"/>
                  </a:lnTo>
                  <a:lnTo>
                    <a:pt x="2540938" y="14736"/>
                  </a:lnTo>
                  <a:lnTo>
                    <a:pt x="2582412" y="32263"/>
                  </a:lnTo>
                  <a:lnTo>
                    <a:pt x="2620286" y="55770"/>
                  </a:lnTo>
                  <a:lnTo>
                    <a:pt x="2653966" y="84661"/>
                  </a:lnTo>
                  <a:lnTo>
                    <a:pt x="2682857" y="118341"/>
                  </a:lnTo>
                  <a:lnTo>
                    <a:pt x="2706364" y="156215"/>
                  </a:lnTo>
                  <a:lnTo>
                    <a:pt x="2723891" y="197689"/>
                  </a:lnTo>
                  <a:lnTo>
                    <a:pt x="2734844" y="242166"/>
                  </a:lnTo>
                  <a:lnTo>
                    <a:pt x="2738627" y="289051"/>
                  </a:lnTo>
                  <a:lnTo>
                    <a:pt x="2738627" y="1445259"/>
                  </a:lnTo>
                  <a:lnTo>
                    <a:pt x="2734844" y="1492145"/>
                  </a:lnTo>
                  <a:lnTo>
                    <a:pt x="2723891" y="1536622"/>
                  </a:lnTo>
                  <a:lnTo>
                    <a:pt x="2706364" y="1578096"/>
                  </a:lnTo>
                  <a:lnTo>
                    <a:pt x="2682857" y="1615970"/>
                  </a:lnTo>
                  <a:lnTo>
                    <a:pt x="2653966" y="1649650"/>
                  </a:lnTo>
                  <a:lnTo>
                    <a:pt x="2620286" y="1678541"/>
                  </a:lnTo>
                  <a:lnTo>
                    <a:pt x="2582412" y="1702048"/>
                  </a:lnTo>
                  <a:lnTo>
                    <a:pt x="2540938" y="1719575"/>
                  </a:lnTo>
                  <a:lnTo>
                    <a:pt x="2496461" y="1730528"/>
                  </a:lnTo>
                  <a:lnTo>
                    <a:pt x="2449575" y="1734312"/>
                  </a:lnTo>
                  <a:lnTo>
                    <a:pt x="289051" y="1734312"/>
                  </a:lnTo>
                  <a:lnTo>
                    <a:pt x="242166" y="1730528"/>
                  </a:lnTo>
                  <a:lnTo>
                    <a:pt x="197689" y="1719575"/>
                  </a:lnTo>
                  <a:lnTo>
                    <a:pt x="156215" y="1702048"/>
                  </a:lnTo>
                  <a:lnTo>
                    <a:pt x="118341" y="1678541"/>
                  </a:lnTo>
                  <a:lnTo>
                    <a:pt x="84661" y="1649650"/>
                  </a:lnTo>
                  <a:lnTo>
                    <a:pt x="55770" y="1615970"/>
                  </a:lnTo>
                  <a:lnTo>
                    <a:pt x="32263" y="1578096"/>
                  </a:lnTo>
                  <a:lnTo>
                    <a:pt x="14736" y="1536622"/>
                  </a:lnTo>
                  <a:lnTo>
                    <a:pt x="3783" y="1492145"/>
                  </a:lnTo>
                  <a:lnTo>
                    <a:pt x="0" y="1445259"/>
                  </a:lnTo>
                  <a:lnTo>
                    <a:pt x="0" y="289051"/>
                  </a:lnTo>
                  <a:close/>
                </a:path>
              </a:pathLst>
            </a:custGeom>
            <a:ln w="25908">
              <a:solidFill>
                <a:srgbClr val="464646"/>
              </a:solidFill>
            </a:ln>
          </p:spPr>
          <p:txBody>
            <a:bodyPr wrap="square" lIns="0" tIns="0" rIns="0" bIns="0" rtlCol="0"/>
            <a:lstStyle/>
            <a:p>
              <a:endParaRPr/>
            </a:p>
          </p:txBody>
        </p:sp>
      </p:grpSp>
      <p:sp>
        <p:nvSpPr>
          <p:cNvPr id="25" name="object 25"/>
          <p:cNvSpPr txBox="1"/>
          <p:nvPr/>
        </p:nvSpPr>
        <p:spPr>
          <a:xfrm>
            <a:off x="6550914" y="2800857"/>
            <a:ext cx="6991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VPC</a:t>
            </a:r>
            <a:r>
              <a:rPr sz="1800" spc="-75" dirty="0">
                <a:solidFill>
                  <a:srgbClr val="464646"/>
                </a:solidFill>
                <a:latin typeface="Arial MT"/>
                <a:cs typeface="Arial MT"/>
              </a:rPr>
              <a:t> </a:t>
            </a:r>
            <a:r>
              <a:rPr sz="1800" dirty="0">
                <a:solidFill>
                  <a:srgbClr val="464646"/>
                </a:solidFill>
                <a:latin typeface="Arial MT"/>
                <a:cs typeface="Arial MT"/>
              </a:rPr>
              <a:t>Z</a:t>
            </a:r>
            <a:endParaRPr sz="1800">
              <a:latin typeface="Arial MT"/>
              <a:cs typeface="Arial MT"/>
            </a:endParaRPr>
          </a:p>
        </p:txBody>
      </p:sp>
      <p:grpSp>
        <p:nvGrpSpPr>
          <p:cNvPr id="26" name="object 26"/>
          <p:cNvGrpSpPr/>
          <p:nvPr/>
        </p:nvGrpSpPr>
        <p:grpSpPr>
          <a:xfrm>
            <a:off x="5943536" y="1770824"/>
            <a:ext cx="1174115" cy="762635"/>
            <a:chOff x="5943536" y="1770824"/>
            <a:chExt cx="1174115" cy="762635"/>
          </a:xfrm>
        </p:grpSpPr>
        <p:sp>
          <p:nvSpPr>
            <p:cNvPr id="27" name="object 27"/>
            <p:cNvSpPr/>
            <p:nvPr/>
          </p:nvSpPr>
          <p:spPr>
            <a:xfrm>
              <a:off x="5956553" y="1783841"/>
              <a:ext cx="1148080" cy="736600"/>
            </a:xfrm>
            <a:custGeom>
              <a:avLst/>
              <a:gdLst/>
              <a:ahLst/>
              <a:cxnLst/>
              <a:rect l="l" t="t" r="r" b="b"/>
              <a:pathLst>
                <a:path w="1148079" h="736600">
                  <a:moveTo>
                    <a:pt x="1024890" y="0"/>
                  </a:moveTo>
                  <a:lnTo>
                    <a:pt x="122682" y="0"/>
                  </a:lnTo>
                  <a:lnTo>
                    <a:pt x="74902" y="9632"/>
                  </a:lnTo>
                  <a:lnTo>
                    <a:pt x="35909" y="35909"/>
                  </a:lnTo>
                  <a:lnTo>
                    <a:pt x="9632" y="74902"/>
                  </a:lnTo>
                  <a:lnTo>
                    <a:pt x="0" y="122682"/>
                  </a:lnTo>
                  <a:lnTo>
                    <a:pt x="0" y="613410"/>
                  </a:lnTo>
                  <a:lnTo>
                    <a:pt x="9632" y="661136"/>
                  </a:lnTo>
                  <a:lnTo>
                    <a:pt x="35909" y="700135"/>
                  </a:lnTo>
                  <a:lnTo>
                    <a:pt x="74902" y="726441"/>
                  </a:lnTo>
                  <a:lnTo>
                    <a:pt x="122682" y="736092"/>
                  </a:lnTo>
                  <a:lnTo>
                    <a:pt x="1024890" y="736092"/>
                  </a:lnTo>
                  <a:lnTo>
                    <a:pt x="1072616" y="726441"/>
                  </a:lnTo>
                  <a:lnTo>
                    <a:pt x="1111615" y="700135"/>
                  </a:lnTo>
                  <a:lnTo>
                    <a:pt x="1137921" y="661136"/>
                  </a:lnTo>
                  <a:lnTo>
                    <a:pt x="1147572" y="613410"/>
                  </a:lnTo>
                  <a:lnTo>
                    <a:pt x="1147572" y="122682"/>
                  </a:lnTo>
                  <a:lnTo>
                    <a:pt x="1137921" y="74902"/>
                  </a:lnTo>
                  <a:lnTo>
                    <a:pt x="1111615" y="35909"/>
                  </a:lnTo>
                  <a:lnTo>
                    <a:pt x="1072616" y="9632"/>
                  </a:lnTo>
                  <a:lnTo>
                    <a:pt x="1024890" y="0"/>
                  </a:lnTo>
                  <a:close/>
                </a:path>
              </a:pathLst>
            </a:custGeom>
            <a:solidFill>
              <a:srgbClr val="FFFFFF"/>
            </a:solidFill>
          </p:spPr>
          <p:txBody>
            <a:bodyPr wrap="square" lIns="0" tIns="0" rIns="0" bIns="0" rtlCol="0"/>
            <a:lstStyle/>
            <a:p>
              <a:endParaRPr/>
            </a:p>
          </p:txBody>
        </p:sp>
        <p:sp>
          <p:nvSpPr>
            <p:cNvPr id="28" name="object 28"/>
            <p:cNvSpPr/>
            <p:nvPr/>
          </p:nvSpPr>
          <p:spPr>
            <a:xfrm>
              <a:off x="5956553" y="1783841"/>
              <a:ext cx="1148080" cy="736600"/>
            </a:xfrm>
            <a:custGeom>
              <a:avLst/>
              <a:gdLst/>
              <a:ahLst/>
              <a:cxnLst/>
              <a:rect l="l" t="t" r="r" b="b"/>
              <a:pathLst>
                <a:path w="1148079" h="736600">
                  <a:moveTo>
                    <a:pt x="0" y="122682"/>
                  </a:moveTo>
                  <a:lnTo>
                    <a:pt x="9632" y="74902"/>
                  </a:lnTo>
                  <a:lnTo>
                    <a:pt x="35909" y="35909"/>
                  </a:lnTo>
                  <a:lnTo>
                    <a:pt x="74902" y="9632"/>
                  </a:lnTo>
                  <a:lnTo>
                    <a:pt x="122682" y="0"/>
                  </a:lnTo>
                  <a:lnTo>
                    <a:pt x="1024890" y="0"/>
                  </a:lnTo>
                  <a:lnTo>
                    <a:pt x="1072616" y="9632"/>
                  </a:lnTo>
                  <a:lnTo>
                    <a:pt x="1111615" y="35909"/>
                  </a:lnTo>
                  <a:lnTo>
                    <a:pt x="1137921" y="74902"/>
                  </a:lnTo>
                  <a:lnTo>
                    <a:pt x="1147572" y="122682"/>
                  </a:lnTo>
                  <a:lnTo>
                    <a:pt x="1147572" y="613410"/>
                  </a:lnTo>
                  <a:lnTo>
                    <a:pt x="1137921" y="661136"/>
                  </a:lnTo>
                  <a:lnTo>
                    <a:pt x="1111615" y="700135"/>
                  </a:lnTo>
                  <a:lnTo>
                    <a:pt x="1072616" y="726441"/>
                  </a:lnTo>
                  <a:lnTo>
                    <a:pt x="1024890" y="736092"/>
                  </a:lnTo>
                  <a:lnTo>
                    <a:pt x="122682" y="736092"/>
                  </a:lnTo>
                  <a:lnTo>
                    <a:pt x="74902" y="726441"/>
                  </a:lnTo>
                  <a:lnTo>
                    <a:pt x="35909" y="700135"/>
                  </a:lnTo>
                  <a:lnTo>
                    <a:pt x="9632" y="661136"/>
                  </a:lnTo>
                  <a:lnTo>
                    <a:pt x="0" y="613410"/>
                  </a:lnTo>
                  <a:lnTo>
                    <a:pt x="0" y="122682"/>
                  </a:lnTo>
                  <a:close/>
                </a:path>
              </a:pathLst>
            </a:custGeom>
            <a:ln w="25908">
              <a:solidFill>
                <a:srgbClr val="464646"/>
              </a:solidFill>
            </a:ln>
          </p:spPr>
          <p:txBody>
            <a:bodyPr wrap="square" lIns="0" tIns="0" rIns="0" bIns="0" rtlCol="0"/>
            <a:lstStyle/>
            <a:p>
              <a:endParaRPr/>
            </a:p>
          </p:txBody>
        </p:sp>
      </p:grpSp>
      <p:sp>
        <p:nvSpPr>
          <p:cNvPr id="29" name="object 29"/>
          <p:cNvSpPr txBox="1"/>
          <p:nvPr/>
        </p:nvSpPr>
        <p:spPr>
          <a:xfrm>
            <a:off x="6137909" y="1858517"/>
            <a:ext cx="787400" cy="574040"/>
          </a:xfrm>
          <a:prstGeom prst="rect">
            <a:avLst/>
          </a:prstGeom>
        </p:spPr>
        <p:txBody>
          <a:bodyPr vert="horz" wrap="square" lIns="0" tIns="12700" rIns="0" bIns="0" rtlCol="0">
            <a:spAutoFit/>
          </a:bodyPr>
          <a:lstStyle/>
          <a:p>
            <a:pPr marL="12700" marR="5080" indent="12065">
              <a:lnSpc>
                <a:spcPct val="100000"/>
              </a:lnSpc>
              <a:spcBef>
                <a:spcPts val="100"/>
              </a:spcBef>
            </a:pPr>
            <a:r>
              <a:rPr sz="1800" spc="-5" dirty="0">
                <a:solidFill>
                  <a:srgbClr val="464646"/>
                </a:solidFill>
                <a:latin typeface="Arial MT"/>
                <a:cs typeface="Arial MT"/>
              </a:rPr>
              <a:t>S</a:t>
            </a:r>
            <a:r>
              <a:rPr sz="1800" spc="-15" dirty="0">
                <a:solidFill>
                  <a:srgbClr val="464646"/>
                </a:solidFill>
                <a:latin typeface="Arial MT"/>
                <a:cs typeface="Arial MT"/>
              </a:rPr>
              <a:t>h</a:t>
            </a:r>
            <a:r>
              <a:rPr sz="1800" spc="-5" dirty="0">
                <a:solidFill>
                  <a:srgbClr val="464646"/>
                </a:solidFill>
                <a:latin typeface="Arial MT"/>
                <a:cs typeface="Arial MT"/>
              </a:rPr>
              <a:t>ar</a:t>
            </a:r>
            <a:r>
              <a:rPr sz="1800" spc="-15" dirty="0">
                <a:solidFill>
                  <a:srgbClr val="464646"/>
                </a:solidFill>
                <a:latin typeface="Arial MT"/>
                <a:cs typeface="Arial MT"/>
              </a:rPr>
              <a:t>e</a:t>
            </a:r>
            <a:r>
              <a:rPr sz="1800" spc="-5" dirty="0">
                <a:solidFill>
                  <a:srgbClr val="464646"/>
                </a:solidFill>
                <a:latin typeface="Arial MT"/>
                <a:cs typeface="Arial MT"/>
              </a:rPr>
              <a:t>d  S</a:t>
            </a:r>
            <a:r>
              <a:rPr sz="1800" spc="-15" dirty="0">
                <a:solidFill>
                  <a:srgbClr val="464646"/>
                </a:solidFill>
                <a:latin typeface="Arial MT"/>
                <a:cs typeface="Arial MT"/>
              </a:rPr>
              <a:t>e</a:t>
            </a:r>
            <a:r>
              <a:rPr sz="1800" spc="-5" dirty="0">
                <a:solidFill>
                  <a:srgbClr val="464646"/>
                </a:solidFill>
                <a:latin typeface="Arial MT"/>
                <a:cs typeface="Arial MT"/>
              </a:rPr>
              <a:t>rvice</a:t>
            </a:r>
            <a:endParaRPr sz="1800">
              <a:latin typeface="Arial MT"/>
              <a:cs typeface="Arial MT"/>
            </a:endParaRPr>
          </a:p>
        </p:txBody>
      </p:sp>
      <p:grpSp>
        <p:nvGrpSpPr>
          <p:cNvPr id="30" name="object 30"/>
          <p:cNvGrpSpPr/>
          <p:nvPr/>
        </p:nvGrpSpPr>
        <p:grpSpPr>
          <a:xfrm>
            <a:off x="1554480" y="1847100"/>
            <a:ext cx="6628130" cy="454659"/>
            <a:chOff x="1554480" y="1847100"/>
            <a:chExt cx="6628130" cy="454659"/>
          </a:xfrm>
        </p:grpSpPr>
        <p:pic>
          <p:nvPicPr>
            <p:cNvPr id="31" name="object 31"/>
            <p:cNvPicPr/>
            <p:nvPr/>
          </p:nvPicPr>
          <p:blipFill>
            <a:blip r:embed="rId8" cstate="print"/>
            <a:stretch>
              <a:fillRect/>
            </a:stretch>
          </p:blipFill>
          <p:spPr>
            <a:xfrm>
              <a:off x="1554480" y="1859318"/>
              <a:ext cx="4520184" cy="428205"/>
            </a:xfrm>
            <a:prstGeom prst="rect">
              <a:avLst/>
            </a:prstGeom>
          </p:spPr>
        </p:pic>
        <p:sp>
          <p:nvSpPr>
            <p:cNvPr id="32" name="object 32"/>
            <p:cNvSpPr/>
            <p:nvPr/>
          </p:nvSpPr>
          <p:spPr>
            <a:xfrm>
              <a:off x="1597152" y="1881377"/>
              <a:ext cx="4361180" cy="309245"/>
            </a:xfrm>
            <a:custGeom>
              <a:avLst/>
              <a:gdLst/>
              <a:ahLst/>
              <a:cxnLst/>
              <a:rect l="l" t="t" r="r" b="b"/>
              <a:pathLst>
                <a:path w="4361180" h="309244">
                  <a:moveTo>
                    <a:pt x="4282948" y="231394"/>
                  </a:moveTo>
                  <a:lnTo>
                    <a:pt x="4282948" y="309118"/>
                  </a:lnTo>
                  <a:lnTo>
                    <a:pt x="4334764" y="283210"/>
                  </a:lnTo>
                  <a:lnTo>
                    <a:pt x="4295902" y="283210"/>
                  </a:lnTo>
                  <a:lnTo>
                    <a:pt x="4295902" y="257302"/>
                  </a:lnTo>
                  <a:lnTo>
                    <a:pt x="4334764" y="257302"/>
                  </a:lnTo>
                  <a:lnTo>
                    <a:pt x="4282948" y="231394"/>
                  </a:lnTo>
                  <a:close/>
                </a:path>
                <a:path w="4361180" h="309244">
                  <a:moveTo>
                    <a:pt x="25907" y="0"/>
                  </a:moveTo>
                  <a:lnTo>
                    <a:pt x="0" y="0"/>
                  </a:lnTo>
                  <a:lnTo>
                    <a:pt x="0" y="277495"/>
                  </a:lnTo>
                  <a:lnTo>
                    <a:pt x="5841" y="283210"/>
                  </a:lnTo>
                  <a:lnTo>
                    <a:pt x="4282948" y="283210"/>
                  </a:lnTo>
                  <a:lnTo>
                    <a:pt x="4282948" y="270256"/>
                  </a:lnTo>
                  <a:lnTo>
                    <a:pt x="25907" y="270256"/>
                  </a:lnTo>
                  <a:lnTo>
                    <a:pt x="12953" y="257302"/>
                  </a:lnTo>
                  <a:lnTo>
                    <a:pt x="25907" y="257302"/>
                  </a:lnTo>
                  <a:lnTo>
                    <a:pt x="25907" y="0"/>
                  </a:lnTo>
                  <a:close/>
                </a:path>
                <a:path w="4361180" h="309244">
                  <a:moveTo>
                    <a:pt x="4334764" y="257302"/>
                  </a:moveTo>
                  <a:lnTo>
                    <a:pt x="4295902" y="257302"/>
                  </a:lnTo>
                  <a:lnTo>
                    <a:pt x="4295902" y="283210"/>
                  </a:lnTo>
                  <a:lnTo>
                    <a:pt x="4334764" y="283210"/>
                  </a:lnTo>
                  <a:lnTo>
                    <a:pt x="4360672" y="270256"/>
                  </a:lnTo>
                  <a:lnTo>
                    <a:pt x="4334764" y="257302"/>
                  </a:lnTo>
                  <a:close/>
                </a:path>
                <a:path w="4361180" h="309244">
                  <a:moveTo>
                    <a:pt x="25907" y="257302"/>
                  </a:moveTo>
                  <a:lnTo>
                    <a:pt x="12953" y="257302"/>
                  </a:lnTo>
                  <a:lnTo>
                    <a:pt x="25907" y="270256"/>
                  </a:lnTo>
                  <a:lnTo>
                    <a:pt x="25907" y="257302"/>
                  </a:lnTo>
                  <a:close/>
                </a:path>
                <a:path w="4361180" h="309244">
                  <a:moveTo>
                    <a:pt x="4282948" y="257302"/>
                  </a:moveTo>
                  <a:lnTo>
                    <a:pt x="25907" y="257302"/>
                  </a:lnTo>
                  <a:lnTo>
                    <a:pt x="25907" y="270256"/>
                  </a:lnTo>
                  <a:lnTo>
                    <a:pt x="4282948" y="270256"/>
                  </a:lnTo>
                  <a:lnTo>
                    <a:pt x="4282948" y="257302"/>
                  </a:lnTo>
                  <a:close/>
                </a:path>
              </a:pathLst>
            </a:custGeom>
            <a:solidFill>
              <a:srgbClr val="FBB64B"/>
            </a:solidFill>
          </p:spPr>
          <p:txBody>
            <a:bodyPr wrap="square" lIns="0" tIns="0" rIns="0" bIns="0" rtlCol="0"/>
            <a:lstStyle/>
            <a:p>
              <a:endParaRPr/>
            </a:p>
          </p:txBody>
        </p:sp>
        <p:pic>
          <p:nvPicPr>
            <p:cNvPr id="33" name="object 33"/>
            <p:cNvPicPr/>
            <p:nvPr/>
          </p:nvPicPr>
          <p:blipFill>
            <a:blip r:embed="rId9" cstate="print"/>
            <a:stretch>
              <a:fillRect/>
            </a:stretch>
          </p:blipFill>
          <p:spPr>
            <a:xfrm>
              <a:off x="7056120" y="1882101"/>
              <a:ext cx="1126248" cy="330746"/>
            </a:xfrm>
            <a:prstGeom prst="rect">
              <a:avLst/>
            </a:prstGeom>
          </p:spPr>
        </p:pic>
        <p:pic>
          <p:nvPicPr>
            <p:cNvPr id="34" name="object 34"/>
            <p:cNvPicPr/>
            <p:nvPr/>
          </p:nvPicPr>
          <p:blipFill>
            <a:blip r:embed="rId10" cstate="print"/>
            <a:stretch>
              <a:fillRect/>
            </a:stretch>
          </p:blipFill>
          <p:spPr>
            <a:xfrm>
              <a:off x="7086600" y="1847100"/>
              <a:ext cx="1065276" cy="454139"/>
            </a:xfrm>
            <a:prstGeom prst="rect">
              <a:avLst/>
            </a:prstGeom>
          </p:spPr>
        </p:pic>
        <p:pic>
          <p:nvPicPr>
            <p:cNvPr id="35" name="object 35"/>
            <p:cNvPicPr/>
            <p:nvPr/>
          </p:nvPicPr>
          <p:blipFill>
            <a:blip r:embed="rId11" cstate="print"/>
            <a:stretch>
              <a:fillRect/>
            </a:stretch>
          </p:blipFill>
          <p:spPr>
            <a:xfrm>
              <a:off x="7103364" y="1909571"/>
              <a:ext cx="1036320" cy="240792"/>
            </a:xfrm>
            <a:prstGeom prst="rect">
              <a:avLst/>
            </a:prstGeom>
          </p:spPr>
        </p:pic>
      </p:grpSp>
      <p:sp>
        <p:nvSpPr>
          <p:cNvPr id="36" name="object 36"/>
          <p:cNvSpPr txBox="1"/>
          <p:nvPr/>
        </p:nvSpPr>
        <p:spPr>
          <a:xfrm>
            <a:off x="7103364" y="1909572"/>
            <a:ext cx="1036319" cy="241300"/>
          </a:xfrm>
          <a:prstGeom prst="rect">
            <a:avLst/>
          </a:prstGeom>
          <a:ln w="9144">
            <a:solidFill>
              <a:srgbClr val="454544"/>
            </a:solidFill>
          </a:ln>
        </p:spPr>
        <p:txBody>
          <a:bodyPr vert="horz" wrap="square" lIns="0" tIns="8890" rIns="0" bIns="0" rtlCol="0">
            <a:spAutoFit/>
          </a:bodyPr>
          <a:lstStyle/>
          <a:p>
            <a:pPr marL="133350">
              <a:lnSpc>
                <a:spcPct val="100000"/>
              </a:lnSpc>
              <a:spcBef>
                <a:spcPts val="70"/>
              </a:spcBef>
            </a:pPr>
            <a:r>
              <a:rPr sz="1400" spc="-5" dirty="0">
                <a:solidFill>
                  <a:srgbClr val="464646"/>
                </a:solidFill>
                <a:latin typeface="Arial MT"/>
                <a:cs typeface="Arial MT"/>
              </a:rPr>
              <a:t>Private</a:t>
            </a:r>
            <a:r>
              <a:rPr sz="1400" spc="-35" dirty="0">
                <a:solidFill>
                  <a:srgbClr val="464646"/>
                </a:solidFill>
                <a:latin typeface="Arial MT"/>
                <a:cs typeface="Arial MT"/>
              </a:rPr>
              <a:t> </a:t>
            </a:r>
            <a:r>
              <a:rPr sz="1400" dirty="0">
                <a:solidFill>
                  <a:srgbClr val="464646"/>
                </a:solidFill>
                <a:latin typeface="Arial MT"/>
                <a:cs typeface="Arial MT"/>
              </a:rPr>
              <a:t>IP</a:t>
            </a:r>
            <a:endParaRPr sz="1400">
              <a:latin typeface="Arial MT"/>
              <a:cs typeface="Arial MT"/>
            </a:endParaRPr>
          </a:p>
        </p:txBody>
      </p:sp>
      <p:sp>
        <p:nvSpPr>
          <p:cNvPr id="39" name="object 39"/>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37" name="object 37"/>
          <p:cNvSpPr txBox="1"/>
          <p:nvPr/>
        </p:nvSpPr>
        <p:spPr>
          <a:xfrm>
            <a:off x="3974084" y="2569286"/>
            <a:ext cx="1196975" cy="848994"/>
          </a:xfrm>
          <a:prstGeom prst="rect">
            <a:avLst/>
          </a:prstGeom>
        </p:spPr>
        <p:txBody>
          <a:bodyPr vert="horz" wrap="square" lIns="0" tIns="12700" rIns="0" bIns="0" rtlCol="0">
            <a:spAutoFit/>
          </a:bodyPr>
          <a:lstStyle/>
          <a:p>
            <a:pPr marL="12700" marR="5080" algn="ctr">
              <a:lnSpc>
                <a:spcPct val="100000"/>
              </a:lnSpc>
              <a:spcBef>
                <a:spcPts val="100"/>
              </a:spcBef>
            </a:pPr>
            <a:r>
              <a:rPr sz="1800" spc="-15" dirty="0">
                <a:solidFill>
                  <a:srgbClr val="464646"/>
                </a:solidFill>
                <a:latin typeface="Arial MT"/>
                <a:cs typeface="Arial MT"/>
              </a:rPr>
              <a:t>Traffic </a:t>
            </a:r>
            <a:r>
              <a:rPr sz="1800" spc="-10" dirty="0">
                <a:solidFill>
                  <a:srgbClr val="464646"/>
                </a:solidFill>
                <a:latin typeface="Arial MT"/>
                <a:cs typeface="Arial MT"/>
              </a:rPr>
              <a:t> </a:t>
            </a:r>
            <a:r>
              <a:rPr sz="1800" spc="-5" dirty="0">
                <a:solidFill>
                  <a:srgbClr val="464646"/>
                </a:solidFill>
                <a:latin typeface="Arial MT"/>
                <a:cs typeface="Arial MT"/>
              </a:rPr>
              <a:t>Insi</a:t>
            </a:r>
            <a:r>
              <a:rPr sz="1800" spc="-15" dirty="0">
                <a:solidFill>
                  <a:srgbClr val="464646"/>
                </a:solidFill>
                <a:latin typeface="Arial MT"/>
                <a:cs typeface="Arial MT"/>
              </a:rPr>
              <a:t>d</a:t>
            </a:r>
            <a:r>
              <a:rPr sz="1800" spc="-5" dirty="0">
                <a:solidFill>
                  <a:srgbClr val="464646"/>
                </a:solidFill>
                <a:latin typeface="Arial MT"/>
                <a:cs typeface="Arial MT"/>
              </a:rPr>
              <a:t>e</a:t>
            </a:r>
            <a:r>
              <a:rPr sz="1800" spc="-100" dirty="0">
                <a:solidFill>
                  <a:srgbClr val="464646"/>
                </a:solidFill>
                <a:latin typeface="Arial MT"/>
                <a:cs typeface="Arial MT"/>
              </a:rPr>
              <a:t> </a:t>
            </a:r>
            <a:r>
              <a:rPr sz="1800" spc="-75" dirty="0">
                <a:solidFill>
                  <a:srgbClr val="464646"/>
                </a:solidFill>
                <a:latin typeface="Arial MT"/>
                <a:cs typeface="Arial MT"/>
              </a:rPr>
              <a:t>A</a:t>
            </a:r>
            <a:r>
              <a:rPr sz="1800" dirty="0">
                <a:solidFill>
                  <a:srgbClr val="464646"/>
                </a:solidFill>
                <a:latin typeface="Arial MT"/>
                <a:cs typeface="Arial MT"/>
              </a:rPr>
              <a:t>WS  </a:t>
            </a:r>
            <a:r>
              <a:rPr sz="1800" spc="-10" dirty="0">
                <a:solidFill>
                  <a:srgbClr val="464646"/>
                </a:solidFill>
                <a:latin typeface="Arial MT"/>
                <a:cs typeface="Arial MT"/>
              </a:rPr>
              <a:t>Network</a:t>
            </a:r>
            <a:endParaRPr sz="1800">
              <a:latin typeface="Arial MT"/>
              <a:cs typeface="Arial MT"/>
            </a:endParaRPr>
          </a:p>
        </p:txBody>
      </p:sp>
      <p:sp>
        <p:nvSpPr>
          <p:cNvPr id="38" name="object 38"/>
          <p:cNvSpPr txBox="1"/>
          <p:nvPr/>
        </p:nvSpPr>
        <p:spPr>
          <a:xfrm>
            <a:off x="613663" y="3435477"/>
            <a:ext cx="7907020" cy="1397635"/>
          </a:xfrm>
          <a:prstGeom prst="rect">
            <a:avLst/>
          </a:prstGeom>
        </p:spPr>
        <p:txBody>
          <a:bodyPr vert="horz" wrap="square" lIns="0" tIns="12700" rIns="0" bIns="0" rtlCol="0">
            <a:spAutoFit/>
          </a:bodyPr>
          <a:lstStyle/>
          <a:p>
            <a:pPr marL="299085" indent="-287020">
              <a:lnSpc>
                <a:spcPct val="100000"/>
              </a:lnSpc>
              <a:spcBef>
                <a:spcPts val="100"/>
              </a:spcBef>
              <a:buChar char="•"/>
              <a:tabLst>
                <a:tab pos="299085" algn="l"/>
                <a:tab pos="299720" algn="l"/>
              </a:tabLst>
            </a:pPr>
            <a:r>
              <a:rPr sz="1800" spc="-5" dirty="0">
                <a:solidFill>
                  <a:srgbClr val="464646"/>
                </a:solidFill>
                <a:latin typeface="Arial MT"/>
                <a:cs typeface="Arial MT"/>
              </a:rPr>
              <a:t>Shared</a:t>
            </a:r>
            <a:r>
              <a:rPr sz="1800" spc="10" dirty="0">
                <a:solidFill>
                  <a:srgbClr val="464646"/>
                </a:solidFill>
                <a:latin typeface="Arial MT"/>
                <a:cs typeface="Arial MT"/>
              </a:rPr>
              <a:t> </a:t>
            </a:r>
            <a:r>
              <a:rPr sz="1800" spc="-5" dirty="0">
                <a:solidFill>
                  <a:srgbClr val="464646"/>
                </a:solidFill>
                <a:latin typeface="Arial MT"/>
                <a:cs typeface="Arial MT"/>
              </a:rPr>
              <a:t>Service</a:t>
            </a:r>
            <a:r>
              <a:rPr sz="1800" spc="10" dirty="0">
                <a:solidFill>
                  <a:srgbClr val="464646"/>
                </a:solidFill>
                <a:latin typeface="Arial MT"/>
                <a:cs typeface="Arial MT"/>
              </a:rPr>
              <a:t> </a:t>
            </a:r>
            <a:r>
              <a:rPr sz="1800" spc="-5" dirty="0">
                <a:solidFill>
                  <a:srgbClr val="464646"/>
                </a:solidFill>
                <a:latin typeface="Arial MT"/>
                <a:cs typeface="Arial MT"/>
              </a:rPr>
              <a:t>accessed</a:t>
            </a:r>
            <a:r>
              <a:rPr sz="1800" spc="10" dirty="0">
                <a:solidFill>
                  <a:srgbClr val="464646"/>
                </a:solidFill>
                <a:latin typeface="Arial MT"/>
                <a:cs typeface="Arial MT"/>
              </a:rPr>
              <a:t> </a:t>
            </a:r>
            <a:r>
              <a:rPr sz="1800" spc="-5" dirty="0">
                <a:solidFill>
                  <a:srgbClr val="464646"/>
                </a:solidFill>
                <a:latin typeface="Arial MT"/>
                <a:cs typeface="Arial MT"/>
              </a:rPr>
              <a:t>over</a:t>
            </a:r>
            <a:r>
              <a:rPr sz="1800" spc="5" dirty="0">
                <a:solidFill>
                  <a:srgbClr val="464646"/>
                </a:solidFill>
                <a:latin typeface="Arial MT"/>
                <a:cs typeface="Arial MT"/>
              </a:rPr>
              <a:t> </a:t>
            </a:r>
            <a:r>
              <a:rPr sz="1800" spc="-5" dirty="0">
                <a:solidFill>
                  <a:srgbClr val="464646"/>
                </a:solidFill>
                <a:latin typeface="Arial MT"/>
                <a:cs typeface="Arial MT"/>
              </a:rPr>
              <a:t>a</a:t>
            </a:r>
            <a:r>
              <a:rPr sz="1800" spc="10" dirty="0">
                <a:solidFill>
                  <a:srgbClr val="464646"/>
                </a:solidFill>
                <a:latin typeface="Arial MT"/>
                <a:cs typeface="Arial MT"/>
              </a:rPr>
              <a:t> </a:t>
            </a:r>
            <a:r>
              <a:rPr sz="1800" spc="-5" dirty="0">
                <a:solidFill>
                  <a:srgbClr val="464646"/>
                </a:solidFill>
                <a:latin typeface="Arial MT"/>
                <a:cs typeface="Arial MT"/>
              </a:rPr>
              <a:t>peering</a:t>
            </a:r>
            <a:r>
              <a:rPr sz="1800" spc="20" dirty="0">
                <a:solidFill>
                  <a:srgbClr val="464646"/>
                </a:solidFill>
                <a:latin typeface="Arial MT"/>
                <a:cs typeface="Arial MT"/>
              </a:rPr>
              <a:t> </a:t>
            </a:r>
            <a:r>
              <a:rPr sz="1800" spc="-5" dirty="0">
                <a:solidFill>
                  <a:srgbClr val="464646"/>
                </a:solidFill>
                <a:latin typeface="Arial MT"/>
                <a:cs typeface="Arial MT"/>
              </a:rPr>
              <a:t>connection</a:t>
            </a:r>
            <a:r>
              <a:rPr sz="1800" spc="10" dirty="0">
                <a:solidFill>
                  <a:srgbClr val="464646"/>
                </a:solidFill>
                <a:latin typeface="Arial MT"/>
                <a:cs typeface="Arial MT"/>
              </a:rPr>
              <a:t> </a:t>
            </a:r>
            <a:r>
              <a:rPr sz="1800" spc="-15" dirty="0">
                <a:solidFill>
                  <a:srgbClr val="464646"/>
                </a:solidFill>
                <a:latin typeface="Arial MT"/>
                <a:cs typeface="Arial MT"/>
              </a:rPr>
              <a:t>with</a:t>
            </a:r>
            <a:r>
              <a:rPr sz="1800" spc="50" dirty="0">
                <a:solidFill>
                  <a:srgbClr val="464646"/>
                </a:solidFill>
                <a:latin typeface="Arial MT"/>
                <a:cs typeface="Arial MT"/>
              </a:rPr>
              <a:t> </a:t>
            </a:r>
            <a:r>
              <a:rPr sz="1800" spc="-5" dirty="0">
                <a:solidFill>
                  <a:srgbClr val="464646"/>
                </a:solidFill>
                <a:latin typeface="Arial MT"/>
                <a:cs typeface="Arial MT"/>
              </a:rPr>
              <a:t>Private</a:t>
            </a:r>
            <a:r>
              <a:rPr sz="1800" spc="10" dirty="0">
                <a:solidFill>
                  <a:srgbClr val="464646"/>
                </a:solidFill>
                <a:latin typeface="Arial MT"/>
                <a:cs typeface="Arial MT"/>
              </a:rPr>
              <a:t> </a:t>
            </a:r>
            <a:r>
              <a:rPr sz="1800" dirty="0">
                <a:solidFill>
                  <a:srgbClr val="464646"/>
                </a:solidFill>
                <a:latin typeface="Arial MT"/>
                <a:cs typeface="Arial MT"/>
              </a:rPr>
              <a:t>IP</a:t>
            </a:r>
            <a:endParaRPr sz="1800">
              <a:latin typeface="Arial MT"/>
              <a:cs typeface="Arial MT"/>
            </a:endParaRPr>
          </a:p>
          <a:p>
            <a:pPr marL="299085" indent="-287020">
              <a:lnSpc>
                <a:spcPct val="100000"/>
              </a:lnSpc>
              <a:buChar char="•"/>
              <a:tabLst>
                <a:tab pos="299085" algn="l"/>
                <a:tab pos="299720" algn="l"/>
              </a:tabLst>
            </a:pPr>
            <a:r>
              <a:rPr sz="1800" spc="-15" dirty="0">
                <a:solidFill>
                  <a:srgbClr val="464646"/>
                </a:solidFill>
                <a:latin typeface="Arial MT"/>
                <a:cs typeface="Arial MT"/>
              </a:rPr>
              <a:t>Traffic</a:t>
            </a:r>
            <a:r>
              <a:rPr sz="1800" spc="-20" dirty="0">
                <a:solidFill>
                  <a:srgbClr val="464646"/>
                </a:solidFill>
                <a:latin typeface="Arial MT"/>
                <a:cs typeface="Arial MT"/>
              </a:rPr>
              <a:t> </a:t>
            </a:r>
            <a:r>
              <a:rPr sz="1800" spc="-10" dirty="0">
                <a:solidFill>
                  <a:srgbClr val="464646"/>
                </a:solidFill>
                <a:latin typeface="Arial MT"/>
                <a:cs typeface="Arial MT"/>
              </a:rPr>
              <a:t>stays</a:t>
            </a:r>
            <a:r>
              <a:rPr sz="1800" spc="15" dirty="0">
                <a:solidFill>
                  <a:srgbClr val="464646"/>
                </a:solidFill>
                <a:latin typeface="Arial MT"/>
                <a:cs typeface="Arial MT"/>
              </a:rPr>
              <a:t> </a:t>
            </a:r>
            <a:r>
              <a:rPr sz="1800" spc="-5" dirty="0">
                <a:solidFill>
                  <a:srgbClr val="464646"/>
                </a:solidFill>
                <a:latin typeface="Arial MT"/>
                <a:cs typeface="Arial MT"/>
              </a:rPr>
              <a:t>inside</a:t>
            </a:r>
            <a:r>
              <a:rPr sz="1800" spc="-95" dirty="0">
                <a:solidFill>
                  <a:srgbClr val="464646"/>
                </a:solidFill>
                <a:latin typeface="Arial MT"/>
                <a:cs typeface="Arial MT"/>
              </a:rPr>
              <a:t> </a:t>
            </a:r>
            <a:r>
              <a:rPr sz="1800" spc="-25" dirty="0">
                <a:solidFill>
                  <a:srgbClr val="464646"/>
                </a:solidFill>
                <a:latin typeface="Arial MT"/>
                <a:cs typeface="Arial MT"/>
              </a:rPr>
              <a:t>AWS</a:t>
            </a:r>
            <a:r>
              <a:rPr sz="1800" spc="-5" dirty="0">
                <a:solidFill>
                  <a:srgbClr val="464646"/>
                </a:solidFill>
                <a:latin typeface="Arial MT"/>
                <a:cs typeface="Arial MT"/>
              </a:rPr>
              <a:t> </a:t>
            </a:r>
            <a:r>
              <a:rPr sz="1800" spc="-10" dirty="0">
                <a:solidFill>
                  <a:srgbClr val="464646"/>
                </a:solidFill>
                <a:latin typeface="Arial MT"/>
                <a:cs typeface="Arial MT"/>
              </a:rPr>
              <a:t>network</a:t>
            </a:r>
            <a:endParaRPr sz="1800">
              <a:latin typeface="Arial MT"/>
              <a:cs typeface="Arial MT"/>
            </a:endParaRPr>
          </a:p>
          <a:p>
            <a:pPr marL="299085" indent="-287020">
              <a:lnSpc>
                <a:spcPct val="100000"/>
              </a:lnSpc>
              <a:buChar char="•"/>
              <a:tabLst>
                <a:tab pos="299085" algn="l"/>
                <a:tab pos="299720" algn="l"/>
              </a:tabLst>
            </a:pPr>
            <a:r>
              <a:rPr sz="1800" spc="-10" dirty="0">
                <a:solidFill>
                  <a:srgbClr val="464646"/>
                </a:solidFill>
                <a:latin typeface="Arial MT"/>
                <a:cs typeface="Arial MT"/>
              </a:rPr>
              <a:t>Network</a:t>
            </a:r>
            <a:r>
              <a:rPr sz="1800" spc="45" dirty="0">
                <a:solidFill>
                  <a:srgbClr val="464646"/>
                </a:solidFill>
                <a:latin typeface="Arial MT"/>
                <a:cs typeface="Arial MT"/>
              </a:rPr>
              <a:t> </a:t>
            </a:r>
            <a:r>
              <a:rPr sz="1800" spc="-10" dirty="0">
                <a:solidFill>
                  <a:srgbClr val="464646"/>
                </a:solidFill>
                <a:latin typeface="Arial MT"/>
                <a:cs typeface="Arial MT"/>
              </a:rPr>
              <a:t>peering</a:t>
            </a:r>
            <a:r>
              <a:rPr sz="1800" spc="10" dirty="0">
                <a:solidFill>
                  <a:srgbClr val="464646"/>
                </a:solidFill>
                <a:latin typeface="Arial MT"/>
                <a:cs typeface="Arial MT"/>
              </a:rPr>
              <a:t> </a:t>
            </a:r>
            <a:r>
              <a:rPr sz="1800" spc="-10" dirty="0">
                <a:solidFill>
                  <a:srgbClr val="464646"/>
                </a:solidFill>
                <a:latin typeface="Arial MT"/>
                <a:cs typeface="Arial MT"/>
              </a:rPr>
              <a:t>exposes</a:t>
            </a:r>
            <a:r>
              <a:rPr sz="1800" spc="20" dirty="0">
                <a:solidFill>
                  <a:srgbClr val="464646"/>
                </a:solidFill>
                <a:latin typeface="Arial MT"/>
                <a:cs typeface="Arial MT"/>
              </a:rPr>
              <a:t> </a:t>
            </a:r>
            <a:r>
              <a:rPr sz="1800" spc="-5" dirty="0">
                <a:solidFill>
                  <a:srgbClr val="464646"/>
                </a:solidFill>
                <a:latin typeface="Arial MT"/>
                <a:cs typeface="Arial MT"/>
              </a:rPr>
              <a:t>resources</a:t>
            </a:r>
            <a:r>
              <a:rPr sz="1800" spc="15" dirty="0">
                <a:solidFill>
                  <a:srgbClr val="464646"/>
                </a:solidFill>
                <a:latin typeface="Arial MT"/>
                <a:cs typeface="Arial MT"/>
              </a:rPr>
              <a:t> </a:t>
            </a:r>
            <a:r>
              <a:rPr sz="1800" spc="-5" dirty="0">
                <a:solidFill>
                  <a:srgbClr val="464646"/>
                </a:solidFill>
                <a:latin typeface="Arial MT"/>
                <a:cs typeface="Arial MT"/>
              </a:rPr>
              <a:t>on</a:t>
            </a:r>
            <a:r>
              <a:rPr sz="1800" spc="5" dirty="0">
                <a:solidFill>
                  <a:srgbClr val="464646"/>
                </a:solidFill>
                <a:latin typeface="Arial MT"/>
                <a:cs typeface="Arial MT"/>
              </a:rPr>
              <a:t> </a:t>
            </a:r>
            <a:r>
              <a:rPr sz="1800" spc="-5" dirty="0">
                <a:solidFill>
                  <a:srgbClr val="464646"/>
                </a:solidFill>
                <a:latin typeface="Arial MT"/>
                <a:cs typeface="Arial MT"/>
              </a:rPr>
              <a:t>both</a:t>
            </a:r>
            <a:r>
              <a:rPr sz="1800" spc="5" dirty="0">
                <a:solidFill>
                  <a:srgbClr val="464646"/>
                </a:solidFill>
                <a:latin typeface="Arial MT"/>
                <a:cs typeface="Arial MT"/>
              </a:rPr>
              <a:t> </a:t>
            </a:r>
            <a:r>
              <a:rPr sz="1800" spc="-5" dirty="0">
                <a:solidFill>
                  <a:srgbClr val="464646"/>
                </a:solidFill>
                <a:latin typeface="Arial MT"/>
                <a:cs typeface="Arial MT"/>
              </a:rPr>
              <a:t>sides</a:t>
            </a:r>
            <a:r>
              <a:rPr sz="1800" spc="20" dirty="0">
                <a:solidFill>
                  <a:srgbClr val="464646"/>
                </a:solidFill>
                <a:latin typeface="Arial MT"/>
                <a:cs typeface="Arial MT"/>
              </a:rPr>
              <a:t> </a:t>
            </a:r>
            <a:r>
              <a:rPr sz="1800" dirty="0">
                <a:solidFill>
                  <a:srgbClr val="464646"/>
                </a:solidFill>
                <a:latin typeface="Arial MT"/>
                <a:cs typeface="Arial MT"/>
              </a:rPr>
              <a:t>–</a:t>
            </a:r>
            <a:r>
              <a:rPr sz="1800" spc="-5" dirty="0">
                <a:solidFill>
                  <a:srgbClr val="464646"/>
                </a:solidFill>
                <a:latin typeface="Arial MT"/>
                <a:cs typeface="Arial MT"/>
              </a:rPr>
              <a:t> defeats</a:t>
            </a:r>
            <a:r>
              <a:rPr sz="1800" spc="5" dirty="0">
                <a:solidFill>
                  <a:srgbClr val="464646"/>
                </a:solidFill>
                <a:latin typeface="Arial MT"/>
                <a:cs typeface="Arial MT"/>
              </a:rPr>
              <a:t> </a:t>
            </a:r>
            <a:r>
              <a:rPr sz="1800" spc="-5" dirty="0">
                <a:solidFill>
                  <a:srgbClr val="464646"/>
                </a:solidFill>
                <a:latin typeface="Arial MT"/>
                <a:cs typeface="Arial MT"/>
              </a:rPr>
              <a:t>the purpose</a:t>
            </a:r>
            <a:r>
              <a:rPr sz="1800" spc="10" dirty="0">
                <a:solidFill>
                  <a:srgbClr val="464646"/>
                </a:solidFill>
                <a:latin typeface="Arial MT"/>
                <a:cs typeface="Arial MT"/>
              </a:rPr>
              <a:t> </a:t>
            </a:r>
            <a:r>
              <a:rPr sz="1800" spc="-5" dirty="0">
                <a:solidFill>
                  <a:srgbClr val="464646"/>
                </a:solidFill>
                <a:latin typeface="Arial MT"/>
                <a:cs typeface="Arial MT"/>
              </a:rPr>
              <a:t>of</a:t>
            </a:r>
            <a:endParaRPr sz="1800">
              <a:latin typeface="Arial MT"/>
              <a:cs typeface="Arial MT"/>
            </a:endParaRPr>
          </a:p>
          <a:p>
            <a:pPr marL="299085">
              <a:lnSpc>
                <a:spcPct val="100000"/>
              </a:lnSpc>
            </a:pPr>
            <a:r>
              <a:rPr sz="1800" spc="-5" dirty="0">
                <a:solidFill>
                  <a:srgbClr val="464646"/>
                </a:solidFill>
                <a:latin typeface="Arial MT"/>
                <a:cs typeface="Arial MT"/>
              </a:rPr>
              <a:t>creating</a:t>
            </a:r>
            <a:r>
              <a:rPr sz="1800" spc="-15" dirty="0">
                <a:solidFill>
                  <a:srgbClr val="464646"/>
                </a:solidFill>
                <a:latin typeface="Arial MT"/>
                <a:cs typeface="Arial MT"/>
              </a:rPr>
              <a:t> </a:t>
            </a:r>
            <a:r>
              <a:rPr sz="1800" spc="-5" dirty="0">
                <a:solidFill>
                  <a:srgbClr val="464646"/>
                </a:solidFill>
                <a:latin typeface="Arial MT"/>
                <a:cs typeface="Arial MT"/>
              </a:rPr>
              <a:t>separate </a:t>
            </a:r>
            <a:r>
              <a:rPr sz="1800" dirty="0">
                <a:solidFill>
                  <a:srgbClr val="464646"/>
                </a:solidFill>
                <a:latin typeface="Arial MT"/>
                <a:cs typeface="Arial MT"/>
              </a:rPr>
              <a:t>VPCs</a:t>
            </a:r>
            <a:endParaRPr sz="180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Not</a:t>
            </a:r>
            <a:r>
              <a:rPr sz="1800" spc="10" dirty="0">
                <a:solidFill>
                  <a:srgbClr val="464646"/>
                </a:solidFill>
                <a:latin typeface="Arial MT"/>
                <a:cs typeface="Arial MT"/>
              </a:rPr>
              <a:t> </a:t>
            </a:r>
            <a:r>
              <a:rPr sz="1800" spc="-5" dirty="0">
                <a:solidFill>
                  <a:srgbClr val="464646"/>
                </a:solidFill>
                <a:latin typeface="Arial MT"/>
                <a:cs typeface="Arial MT"/>
              </a:rPr>
              <a:t>an option</a:t>
            </a:r>
            <a:r>
              <a:rPr sz="1800" spc="15" dirty="0">
                <a:solidFill>
                  <a:srgbClr val="464646"/>
                </a:solidFill>
                <a:latin typeface="Arial MT"/>
                <a:cs typeface="Arial MT"/>
              </a:rPr>
              <a:t> </a:t>
            </a:r>
            <a:r>
              <a:rPr sz="1800" dirty="0">
                <a:solidFill>
                  <a:srgbClr val="464646"/>
                </a:solidFill>
                <a:latin typeface="Arial MT"/>
                <a:cs typeface="Arial MT"/>
              </a:rPr>
              <a:t>if</a:t>
            </a:r>
            <a:r>
              <a:rPr sz="1800" spc="5" dirty="0">
                <a:solidFill>
                  <a:srgbClr val="464646"/>
                </a:solidFill>
                <a:latin typeface="Arial MT"/>
                <a:cs typeface="Arial MT"/>
              </a:rPr>
              <a:t> </a:t>
            </a:r>
            <a:r>
              <a:rPr sz="1800" spc="-5" dirty="0">
                <a:solidFill>
                  <a:srgbClr val="464646"/>
                </a:solidFill>
                <a:latin typeface="Arial MT"/>
                <a:cs typeface="Arial MT"/>
              </a:rPr>
              <a:t>shared</a:t>
            </a:r>
            <a:r>
              <a:rPr sz="1800" spc="15" dirty="0">
                <a:solidFill>
                  <a:srgbClr val="464646"/>
                </a:solidFill>
                <a:latin typeface="Arial MT"/>
                <a:cs typeface="Arial MT"/>
              </a:rPr>
              <a:t> </a:t>
            </a:r>
            <a:r>
              <a:rPr sz="1800" spc="-5" dirty="0">
                <a:solidFill>
                  <a:srgbClr val="464646"/>
                </a:solidFill>
                <a:latin typeface="Arial MT"/>
                <a:cs typeface="Arial MT"/>
              </a:rPr>
              <a:t>services</a:t>
            </a:r>
            <a:r>
              <a:rPr sz="1800" spc="10" dirty="0">
                <a:solidFill>
                  <a:srgbClr val="464646"/>
                </a:solidFill>
                <a:latin typeface="Arial MT"/>
                <a:cs typeface="Arial MT"/>
              </a:rPr>
              <a:t> </a:t>
            </a:r>
            <a:r>
              <a:rPr sz="1800" spc="-5" dirty="0">
                <a:solidFill>
                  <a:srgbClr val="464646"/>
                </a:solidFill>
                <a:latin typeface="Arial MT"/>
                <a:cs typeface="Arial MT"/>
              </a:rPr>
              <a:t>are used</a:t>
            </a:r>
            <a:r>
              <a:rPr sz="1800" spc="15" dirty="0">
                <a:solidFill>
                  <a:srgbClr val="464646"/>
                </a:solidFill>
                <a:latin typeface="Arial MT"/>
                <a:cs typeface="Arial MT"/>
              </a:rPr>
              <a:t> </a:t>
            </a:r>
            <a:r>
              <a:rPr sz="1800" spc="-5" dirty="0">
                <a:solidFill>
                  <a:srgbClr val="464646"/>
                </a:solidFill>
                <a:latin typeface="Arial MT"/>
                <a:cs typeface="Arial MT"/>
              </a:rPr>
              <a:t>by</a:t>
            </a:r>
            <a:r>
              <a:rPr sz="1800" dirty="0">
                <a:solidFill>
                  <a:srgbClr val="464646"/>
                </a:solidFill>
                <a:latin typeface="Arial MT"/>
                <a:cs typeface="Arial MT"/>
              </a:rPr>
              <a:t> </a:t>
            </a:r>
            <a:r>
              <a:rPr sz="1800" spc="-5" dirty="0">
                <a:solidFill>
                  <a:srgbClr val="464646"/>
                </a:solidFill>
                <a:latin typeface="Arial MT"/>
                <a:cs typeface="Arial MT"/>
              </a:rPr>
              <a:t>third party</a:t>
            </a:r>
            <a:r>
              <a:rPr sz="1800" spc="15" dirty="0">
                <a:solidFill>
                  <a:srgbClr val="464646"/>
                </a:solidFill>
                <a:latin typeface="Arial MT"/>
                <a:cs typeface="Arial MT"/>
              </a:rPr>
              <a:t> </a:t>
            </a:r>
            <a:r>
              <a:rPr sz="1800" spc="-5" dirty="0">
                <a:solidFill>
                  <a:srgbClr val="464646"/>
                </a:solidFill>
                <a:latin typeface="Arial MT"/>
                <a:cs typeface="Arial MT"/>
              </a:rPr>
              <a:t>customers</a:t>
            </a:r>
            <a:r>
              <a:rPr sz="1800" spc="5" dirty="0">
                <a:solidFill>
                  <a:srgbClr val="464646"/>
                </a:solidFill>
                <a:latin typeface="Arial MT"/>
                <a:cs typeface="Arial MT"/>
              </a:rPr>
              <a:t> </a:t>
            </a:r>
            <a:r>
              <a:rPr sz="1800" spc="-5" dirty="0">
                <a:solidFill>
                  <a:srgbClr val="464646"/>
                </a:solidFill>
                <a:latin typeface="Arial MT"/>
                <a:cs typeface="Arial MT"/>
              </a:rPr>
              <a:t>in</a:t>
            </a:r>
            <a:r>
              <a:rPr sz="1800" spc="-100" dirty="0">
                <a:solidFill>
                  <a:srgbClr val="464646"/>
                </a:solidFill>
                <a:latin typeface="Arial MT"/>
                <a:cs typeface="Arial MT"/>
              </a:rPr>
              <a:t> </a:t>
            </a:r>
            <a:r>
              <a:rPr sz="1800" spc="-25" dirty="0">
                <a:solidFill>
                  <a:srgbClr val="464646"/>
                </a:solidFill>
                <a:latin typeface="Arial MT"/>
                <a:cs typeface="Arial MT"/>
              </a:rPr>
              <a:t>AWS</a:t>
            </a:r>
            <a:endParaRPr sz="1800">
              <a:latin typeface="Arial MT"/>
              <a:cs typeface="Arial M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2041525"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Private</a:t>
            </a:r>
            <a:r>
              <a:rPr u="none" spc="-45" dirty="0">
                <a:solidFill>
                  <a:srgbClr val="4D4D4B"/>
                </a:solidFill>
              </a:rPr>
              <a:t> </a:t>
            </a:r>
            <a:r>
              <a:rPr u="none" spc="-5" dirty="0">
                <a:solidFill>
                  <a:srgbClr val="4D4D4B"/>
                </a:solidFill>
              </a:rPr>
              <a:t>Link</a:t>
            </a:r>
          </a:p>
        </p:txBody>
      </p:sp>
      <p:sp>
        <p:nvSpPr>
          <p:cNvPr id="3" name="object 3"/>
          <p:cNvSpPr/>
          <p:nvPr/>
        </p:nvSpPr>
        <p:spPr>
          <a:xfrm>
            <a:off x="592073" y="1030986"/>
            <a:ext cx="2738755" cy="2112645"/>
          </a:xfrm>
          <a:custGeom>
            <a:avLst/>
            <a:gdLst/>
            <a:ahLst/>
            <a:cxnLst/>
            <a:rect l="l" t="t" r="r" b="b"/>
            <a:pathLst>
              <a:path w="2738754" h="2112645">
                <a:moveTo>
                  <a:pt x="0" y="352043"/>
                </a:moveTo>
                <a:lnTo>
                  <a:pt x="3213" y="304271"/>
                </a:lnTo>
                <a:lnTo>
                  <a:pt x="12575" y="258453"/>
                </a:lnTo>
                <a:lnTo>
                  <a:pt x="27665" y="215009"/>
                </a:lnTo>
                <a:lnTo>
                  <a:pt x="48065" y="174356"/>
                </a:lnTo>
                <a:lnTo>
                  <a:pt x="73354" y="136916"/>
                </a:lnTo>
                <a:lnTo>
                  <a:pt x="103112" y="103108"/>
                </a:lnTo>
                <a:lnTo>
                  <a:pt x="136922" y="73350"/>
                </a:lnTo>
                <a:lnTo>
                  <a:pt x="174362" y="48062"/>
                </a:lnTo>
                <a:lnTo>
                  <a:pt x="215014" y="27664"/>
                </a:lnTo>
                <a:lnTo>
                  <a:pt x="258458" y="12574"/>
                </a:lnTo>
                <a:lnTo>
                  <a:pt x="304274" y="3213"/>
                </a:lnTo>
                <a:lnTo>
                  <a:pt x="352044" y="0"/>
                </a:lnTo>
                <a:lnTo>
                  <a:pt x="2386584" y="0"/>
                </a:lnTo>
                <a:lnTo>
                  <a:pt x="2434356" y="3213"/>
                </a:lnTo>
                <a:lnTo>
                  <a:pt x="2480174" y="12574"/>
                </a:lnTo>
                <a:lnTo>
                  <a:pt x="2523618" y="27664"/>
                </a:lnTo>
                <a:lnTo>
                  <a:pt x="2564271" y="48062"/>
                </a:lnTo>
                <a:lnTo>
                  <a:pt x="2601711" y="73350"/>
                </a:lnTo>
                <a:lnTo>
                  <a:pt x="2635519" y="103108"/>
                </a:lnTo>
                <a:lnTo>
                  <a:pt x="2665277" y="136916"/>
                </a:lnTo>
                <a:lnTo>
                  <a:pt x="2690565" y="174356"/>
                </a:lnTo>
                <a:lnTo>
                  <a:pt x="2710963" y="215009"/>
                </a:lnTo>
                <a:lnTo>
                  <a:pt x="2726053" y="258453"/>
                </a:lnTo>
                <a:lnTo>
                  <a:pt x="2735414" y="304271"/>
                </a:lnTo>
                <a:lnTo>
                  <a:pt x="2738628" y="352043"/>
                </a:lnTo>
                <a:lnTo>
                  <a:pt x="2738628" y="1760220"/>
                </a:lnTo>
                <a:lnTo>
                  <a:pt x="2735414" y="1807992"/>
                </a:lnTo>
                <a:lnTo>
                  <a:pt x="2726053" y="1853810"/>
                </a:lnTo>
                <a:lnTo>
                  <a:pt x="2710963" y="1897254"/>
                </a:lnTo>
                <a:lnTo>
                  <a:pt x="2690565" y="1937907"/>
                </a:lnTo>
                <a:lnTo>
                  <a:pt x="2665277" y="1975347"/>
                </a:lnTo>
                <a:lnTo>
                  <a:pt x="2635519" y="2009155"/>
                </a:lnTo>
                <a:lnTo>
                  <a:pt x="2601711" y="2038913"/>
                </a:lnTo>
                <a:lnTo>
                  <a:pt x="2564271" y="2064201"/>
                </a:lnTo>
                <a:lnTo>
                  <a:pt x="2523618" y="2084599"/>
                </a:lnTo>
                <a:lnTo>
                  <a:pt x="2480174" y="2099689"/>
                </a:lnTo>
                <a:lnTo>
                  <a:pt x="2434356" y="2109050"/>
                </a:lnTo>
                <a:lnTo>
                  <a:pt x="2386584" y="2112264"/>
                </a:lnTo>
                <a:lnTo>
                  <a:pt x="352044" y="2112264"/>
                </a:lnTo>
                <a:lnTo>
                  <a:pt x="304274" y="2109050"/>
                </a:lnTo>
                <a:lnTo>
                  <a:pt x="258458" y="2099689"/>
                </a:lnTo>
                <a:lnTo>
                  <a:pt x="215014" y="2084599"/>
                </a:lnTo>
                <a:lnTo>
                  <a:pt x="174362" y="2064201"/>
                </a:lnTo>
                <a:lnTo>
                  <a:pt x="136922" y="2038913"/>
                </a:lnTo>
                <a:lnTo>
                  <a:pt x="103112" y="2009155"/>
                </a:lnTo>
                <a:lnTo>
                  <a:pt x="73354" y="1975347"/>
                </a:lnTo>
                <a:lnTo>
                  <a:pt x="48065" y="1937907"/>
                </a:lnTo>
                <a:lnTo>
                  <a:pt x="27665" y="1897254"/>
                </a:lnTo>
                <a:lnTo>
                  <a:pt x="12575" y="1853810"/>
                </a:lnTo>
                <a:lnTo>
                  <a:pt x="3213" y="1807992"/>
                </a:lnTo>
                <a:lnTo>
                  <a:pt x="0" y="1760220"/>
                </a:lnTo>
                <a:lnTo>
                  <a:pt x="0" y="352043"/>
                </a:lnTo>
                <a:close/>
              </a:path>
              <a:path w="2738754" h="2112645">
                <a:moveTo>
                  <a:pt x="443484" y="404622"/>
                </a:moveTo>
                <a:lnTo>
                  <a:pt x="450490" y="369903"/>
                </a:lnTo>
                <a:lnTo>
                  <a:pt x="469596" y="341566"/>
                </a:lnTo>
                <a:lnTo>
                  <a:pt x="497935" y="322468"/>
                </a:lnTo>
                <a:lnTo>
                  <a:pt x="532638" y="315467"/>
                </a:lnTo>
                <a:lnTo>
                  <a:pt x="1501902" y="315467"/>
                </a:lnTo>
                <a:lnTo>
                  <a:pt x="1536620" y="322468"/>
                </a:lnTo>
                <a:lnTo>
                  <a:pt x="1564957" y="341566"/>
                </a:lnTo>
                <a:lnTo>
                  <a:pt x="1584055" y="369903"/>
                </a:lnTo>
                <a:lnTo>
                  <a:pt x="1591056" y="404622"/>
                </a:lnTo>
                <a:lnTo>
                  <a:pt x="1591056" y="761238"/>
                </a:lnTo>
                <a:lnTo>
                  <a:pt x="1584055" y="795956"/>
                </a:lnTo>
                <a:lnTo>
                  <a:pt x="1564957" y="824293"/>
                </a:lnTo>
                <a:lnTo>
                  <a:pt x="1536620" y="843391"/>
                </a:lnTo>
                <a:lnTo>
                  <a:pt x="1501902" y="850391"/>
                </a:lnTo>
                <a:lnTo>
                  <a:pt x="532638" y="850391"/>
                </a:lnTo>
                <a:lnTo>
                  <a:pt x="497935" y="843391"/>
                </a:lnTo>
                <a:lnTo>
                  <a:pt x="469596" y="824293"/>
                </a:lnTo>
                <a:lnTo>
                  <a:pt x="450490" y="795956"/>
                </a:lnTo>
                <a:lnTo>
                  <a:pt x="443484" y="761238"/>
                </a:lnTo>
                <a:lnTo>
                  <a:pt x="443484" y="404622"/>
                </a:lnTo>
                <a:close/>
              </a:path>
            </a:pathLst>
          </a:custGeom>
          <a:ln w="25908">
            <a:solidFill>
              <a:srgbClr val="464646"/>
            </a:solidFill>
          </a:ln>
        </p:spPr>
        <p:txBody>
          <a:bodyPr wrap="square" lIns="0" tIns="0" rIns="0" bIns="0" rtlCol="0"/>
          <a:lstStyle/>
          <a:p>
            <a:endParaRPr/>
          </a:p>
        </p:txBody>
      </p:sp>
      <p:sp>
        <p:nvSpPr>
          <p:cNvPr id="4" name="object 4"/>
          <p:cNvSpPr txBox="1"/>
          <p:nvPr/>
        </p:nvSpPr>
        <p:spPr>
          <a:xfrm>
            <a:off x="1305305" y="1457705"/>
            <a:ext cx="60769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C</a:t>
            </a:r>
            <a:r>
              <a:rPr sz="1800" spc="-15" dirty="0">
                <a:solidFill>
                  <a:srgbClr val="464646"/>
                </a:solidFill>
                <a:latin typeface="Arial MT"/>
                <a:cs typeface="Arial MT"/>
              </a:rPr>
              <a:t>l</a:t>
            </a:r>
            <a:r>
              <a:rPr sz="1800" spc="-5" dirty="0">
                <a:solidFill>
                  <a:srgbClr val="464646"/>
                </a:solidFill>
                <a:latin typeface="Arial MT"/>
                <a:cs typeface="Arial MT"/>
              </a:rPr>
              <a:t>i</a:t>
            </a:r>
            <a:r>
              <a:rPr sz="1800" spc="-15" dirty="0">
                <a:solidFill>
                  <a:srgbClr val="464646"/>
                </a:solidFill>
                <a:latin typeface="Arial MT"/>
                <a:cs typeface="Arial MT"/>
              </a:rPr>
              <a:t>e</a:t>
            </a:r>
            <a:r>
              <a:rPr sz="1800" dirty="0">
                <a:solidFill>
                  <a:srgbClr val="464646"/>
                </a:solidFill>
                <a:latin typeface="Arial MT"/>
                <a:cs typeface="Arial MT"/>
              </a:rPr>
              <a:t>nt</a:t>
            </a:r>
            <a:endParaRPr sz="1800">
              <a:latin typeface="Arial MT"/>
              <a:cs typeface="Arial MT"/>
            </a:endParaRPr>
          </a:p>
        </p:txBody>
      </p:sp>
      <p:grpSp>
        <p:nvGrpSpPr>
          <p:cNvPr id="5" name="object 5"/>
          <p:cNvGrpSpPr/>
          <p:nvPr/>
        </p:nvGrpSpPr>
        <p:grpSpPr>
          <a:xfrm>
            <a:off x="2135123" y="1409712"/>
            <a:ext cx="1065530" cy="454659"/>
            <a:chOff x="2135123" y="1409712"/>
            <a:chExt cx="1065530" cy="454659"/>
          </a:xfrm>
        </p:grpSpPr>
        <p:pic>
          <p:nvPicPr>
            <p:cNvPr id="6" name="object 6"/>
            <p:cNvPicPr/>
            <p:nvPr/>
          </p:nvPicPr>
          <p:blipFill>
            <a:blip r:embed="rId2" cstate="print"/>
            <a:stretch>
              <a:fillRect/>
            </a:stretch>
          </p:blipFill>
          <p:spPr>
            <a:xfrm>
              <a:off x="2135123" y="1431023"/>
              <a:ext cx="1065276" cy="359676"/>
            </a:xfrm>
            <a:prstGeom prst="rect">
              <a:avLst/>
            </a:prstGeom>
          </p:spPr>
        </p:pic>
        <p:pic>
          <p:nvPicPr>
            <p:cNvPr id="7" name="object 7"/>
            <p:cNvPicPr/>
            <p:nvPr/>
          </p:nvPicPr>
          <p:blipFill>
            <a:blip r:embed="rId3" cstate="print"/>
            <a:stretch>
              <a:fillRect/>
            </a:stretch>
          </p:blipFill>
          <p:spPr>
            <a:xfrm>
              <a:off x="2135123" y="1409712"/>
              <a:ext cx="1065276" cy="454139"/>
            </a:xfrm>
            <a:prstGeom prst="rect">
              <a:avLst/>
            </a:prstGeom>
          </p:spPr>
        </p:pic>
        <p:pic>
          <p:nvPicPr>
            <p:cNvPr id="8" name="object 8"/>
            <p:cNvPicPr/>
            <p:nvPr/>
          </p:nvPicPr>
          <p:blipFill>
            <a:blip r:embed="rId4" cstate="print"/>
            <a:stretch>
              <a:fillRect/>
            </a:stretch>
          </p:blipFill>
          <p:spPr>
            <a:xfrm>
              <a:off x="2182367" y="1458467"/>
              <a:ext cx="975359" cy="269748"/>
            </a:xfrm>
            <a:prstGeom prst="rect">
              <a:avLst/>
            </a:prstGeom>
          </p:spPr>
        </p:pic>
      </p:grpSp>
      <p:sp>
        <p:nvSpPr>
          <p:cNvPr id="9" name="object 9"/>
          <p:cNvSpPr txBox="1"/>
          <p:nvPr/>
        </p:nvSpPr>
        <p:spPr>
          <a:xfrm>
            <a:off x="2182367" y="1458467"/>
            <a:ext cx="975360" cy="269875"/>
          </a:xfrm>
          <a:prstGeom prst="rect">
            <a:avLst/>
          </a:prstGeom>
          <a:ln w="9144">
            <a:solidFill>
              <a:srgbClr val="454544"/>
            </a:solidFill>
          </a:ln>
        </p:spPr>
        <p:txBody>
          <a:bodyPr vert="horz" wrap="square" lIns="0" tIns="22860" rIns="0" bIns="0" rtlCol="0">
            <a:spAutoFit/>
          </a:bodyPr>
          <a:lstStyle/>
          <a:p>
            <a:pPr marL="101600">
              <a:lnSpc>
                <a:spcPct val="100000"/>
              </a:lnSpc>
              <a:spcBef>
                <a:spcPts val="180"/>
              </a:spcBef>
            </a:pPr>
            <a:r>
              <a:rPr sz="1400" spc="-5" dirty="0">
                <a:solidFill>
                  <a:srgbClr val="464646"/>
                </a:solidFill>
                <a:latin typeface="Arial MT"/>
                <a:cs typeface="Arial MT"/>
              </a:rPr>
              <a:t>Private</a:t>
            </a:r>
            <a:r>
              <a:rPr sz="1400" spc="-45" dirty="0">
                <a:solidFill>
                  <a:srgbClr val="464646"/>
                </a:solidFill>
                <a:latin typeface="Arial MT"/>
                <a:cs typeface="Arial MT"/>
              </a:rPr>
              <a:t> </a:t>
            </a:r>
            <a:r>
              <a:rPr sz="1400" dirty="0">
                <a:solidFill>
                  <a:srgbClr val="464646"/>
                </a:solidFill>
                <a:latin typeface="Arial MT"/>
                <a:cs typeface="Arial MT"/>
              </a:rPr>
              <a:t>IP</a:t>
            </a:r>
            <a:endParaRPr sz="1400">
              <a:latin typeface="Arial MT"/>
              <a:cs typeface="Arial MT"/>
            </a:endParaRPr>
          </a:p>
        </p:txBody>
      </p:sp>
      <p:sp>
        <p:nvSpPr>
          <p:cNvPr id="10" name="object 10"/>
          <p:cNvSpPr/>
          <p:nvPr/>
        </p:nvSpPr>
        <p:spPr>
          <a:xfrm>
            <a:off x="4331970" y="2724150"/>
            <a:ext cx="4014470" cy="1734820"/>
          </a:xfrm>
          <a:custGeom>
            <a:avLst/>
            <a:gdLst/>
            <a:ahLst/>
            <a:cxnLst/>
            <a:rect l="l" t="t" r="r" b="b"/>
            <a:pathLst>
              <a:path w="4014470" h="1734820">
                <a:moveTo>
                  <a:pt x="0" y="289051"/>
                </a:moveTo>
                <a:lnTo>
                  <a:pt x="3783" y="242166"/>
                </a:lnTo>
                <a:lnTo>
                  <a:pt x="14736" y="197689"/>
                </a:lnTo>
                <a:lnTo>
                  <a:pt x="32263" y="156215"/>
                </a:lnTo>
                <a:lnTo>
                  <a:pt x="55770" y="118341"/>
                </a:lnTo>
                <a:lnTo>
                  <a:pt x="84661" y="84661"/>
                </a:lnTo>
                <a:lnTo>
                  <a:pt x="118341" y="55770"/>
                </a:lnTo>
                <a:lnTo>
                  <a:pt x="156215" y="32263"/>
                </a:lnTo>
                <a:lnTo>
                  <a:pt x="197689" y="14736"/>
                </a:lnTo>
                <a:lnTo>
                  <a:pt x="242166" y="3783"/>
                </a:lnTo>
                <a:lnTo>
                  <a:pt x="289051" y="0"/>
                </a:lnTo>
                <a:lnTo>
                  <a:pt x="3725163" y="0"/>
                </a:lnTo>
                <a:lnTo>
                  <a:pt x="3772049" y="3783"/>
                </a:lnTo>
                <a:lnTo>
                  <a:pt x="3816526" y="14736"/>
                </a:lnTo>
                <a:lnTo>
                  <a:pt x="3858000" y="32263"/>
                </a:lnTo>
                <a:lnTo>
                  <a:pt x="3895874" y="55770"/>
                </a:lnTo>
                <a:lnTo>
                  <a:pt x="3929554" y="84661"/>
                </a:lnTo>
                <a:lnTo>
                  <a:pt x="3958445" y="118341"/>
                </a:lnTo>
                <a:lnTo>
                  <a:pt x="3981952" y="156215"/>
                </a:lnTo>
                <a:lnTo>
                  <a:pt x="3999479" y="197689"/>
                </a:lnTo>
                <a:lnTo>
                  <a:pt x="4010432" y="242166"/>
                </a:lnTo>
                <a:lnTo>
                  <a:pt x="4014215" y="289051"/>
                </a:lnTo>
                <a:lnTo>
                  <a:pt x="4014215" y="1445260"/>
                </a:lnTo>
                <a:lnTo>
                  <a:pt x="4010432" y="1492145"/>
                </a:lnTo>
                <a:lnTo>
                  <a:pt x="3999479" y="1536622"/>
                </a:lnTo>
                <a:lnTo>
                  <a:pt x="3981952" y="1578096"/>
                </a:lnTo>
                <a:lnTo>
                  <a:pt x="3958445" y="1615970"/>
                </a:lnTo>
                <a:lnTo>
                  <a:pt x="3929554" y="1649650"/>
                </a:lnTo>
                <a:lnTo>
                  <a:pt x="3895874" y="1678541"/>
                </a:lnTo>
                <a:lnTo>
                  <a:pt x="3858000" y="1702048"/>
                </a:lnTo>
                <a:lnTo>
                  <a:pt x="3816526" y="1719575"/>
                </a:lnTo>
                <a:lnTo>
                  <a:pt x="3772049" y="1730528"/>
                </a:lnTo>
                <a:lnTo>
                  <a:pt x="3725163" y="1734312"/>
                </a:lnTo>
                <a:lnTo>
                  <a:pt x="289051" y="1734312"/>
                </a:lnTo>
                <a:lnTo>
                  <a:pt x="242166" y="1730528"/>
                </a:lnTo>
                <a:lnTo>
                  <a:pt x="197689" y="1719575"/>
                </a:lnTo>
                <a:lnTo>
                  <a:pt x="156215" y="1702048"/>
                </a:lnTo>
                <a:lnTo>
                  <a:pt x="118341" y="1678541"/>
                </a:lnTo>
                <a:lnTo>
                  <a:pt x="84661" y="1649650"/>
                </a:lnTo>
                <a:lnTo>
                  <a:pt x="55770" y="1615970"/>
                </a:lnTo>
                <a:lnTo>
                  <a:pt x="32263" y="1578096"/>
                </a:lnTo>
                <a:lnTo>
                  <a:pt x="14736" y="1536622"/>
                </a:lnTo>
                <a:lnTo>
                  <a:pt x="3783" y="1492145"/>
                </a:lnTo>
                <a:lnTo>
                  <a:pt x="0" y="1445260"/>
                </a:lnTo>
                <a:lnTo>
                  <a:pt x="0" y="289051"/>
                </a:lnTo>
                <a:close/>
              </a:path>
            </a:pathLst>
          </a:custGeom>
          <a:ln w="25908">
            <a:solidFill>
              <a:srgbClr val="464646"/>
            </a:solidFill>
          </a:ln>
        </p:spPr>
        <p:txBody>
          <a:bodyPr wrap="square" lIns="0" tIns="0" rIns="0" bIns="0" rtlCol="0"/>
          <a:lstStyle/>
          <a:p>
            <a:endParaRPr/>
          </a:p>
        </p:txBody>
      </p:sp>
      <p:sp>
        <p:nvSpPr>
          <p:cNvPr id="11" name="object 11"/>
          <p:cNvSpPr txBox="1"/>
          <p:nvPr/>
        </p:nvSpPr>
        <p:spPr>
          <a:xfrm>
            <a:off x="5988811" y="4034738"/>
            <a:ext cx="69913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64646"/>
                </a:solidFill>
                <a:latin typeface="Arial MT"/>
                <a:cs typeface="Arial MT"/>
              </a:rPr>
              <a:t>VPC</a:t>
            </a:r>
            <a:r>
              <a:rPr sz="1800" spc="-75" dirty="0">
                <a:solidFill>
                  <a:srgbClr val="464646"/>
                </a:solidFill>
                <a:latin typeface="Arial MT"/>
                <a:cs typeface="Arial MT"/>
              </a:rPr>
              <a:t> </a:t>
            </a:r>
            <a:r>
              <a:rPr sz="1800" dirty="0">
                <a:solidFill>
                  <a:srgbClr val="464646"/>
                </a:solidFill>
                <a:latin typeface="Arial MT"/>
                <a:cs typeface="Arial MT"/>
              </a:rPr>
              <a:t>Z</a:t>
            </a:r>
            <a:endParaRPr sz="1800">
              <a:latin typeface="Arial MT"/>
              <a:cs typeface="Arial MT"/>
            </a:endParaRPr>
          </a:p>
        </p:txBody>
      </p:sp>
      <p:sp>
        <p:nvSpPr>
          <p:cNvPr id="12" name="object 12"/>
          <p:cNvSpPr/>
          <p:nvPr/>
        </p:nvSpPr>
        <p:spPr>
          <a:xfrm>
            <a:off x="6034278" y="3016757"/>
            <a:ext cx="1148080" cy="978535"/>
          </a:xfrm>
          <a:custGeom>
            <a:avLst/>
            <a:gdLst/>
            <a:ahLst/>
            <a:cxnLst/>
            <a:rect l="l" t="t" r="r" b="b"/>
            <a:pathLst>
              <a:path w="1148079" h="978535">
                <a:moveTo>
                  <a:pt x="0" y="163068"/>
                </a:moveTo>
                <a:lnTo>
                  <a:pt x="5826" y="119723"/>
                </a:lnTo>
                <a:lnTo>
                  <a:pt x="22267" y="80772"/>
                </a:lnTo>
                <a:lnTo>
                  <a:pt x="47767" y="47767"/>
                </a:lnTo>
                <a:lnTo>
                  <a:pt x="80772" y="22267"/>
                </a:lnTo>
                <a:lnTo>
                  <a:pt x="119723" y="5826"/>
                </a:lnTo>
                <a:lnTo>
                  <a:pt x="163068" y="0"/>
                </a:lnTo>
                <a:lnTo>
                  <a:pt x="984503" y="0"/>
                </a:lnTo>
                <a:lnTo>
                  <a:pt x="1027848" y="5826"/>
                </a:lnTo>
                <a:lnTo>
                  <a:pt x="1066800" y="22267"/>
                </a:lnTo>
                <a:lnTo>
                  <a:pt x="1099804" y="47767"/>
                </a:lnTo>
                <a:lnTo>
                  <a:pt x="1125304" y="80771"/>
                </a:lnTo>
                <a:lnTo>
                  <a:pt x="1141745" y="119723"/>
                </a:lnTo>
                <a:lnTo>
                  <a:pt x="1147572" y="163068"/>
                </a:lnTo>
                <a:lnTo>
                  <a:pt x="1147572" y="815340"/>
                </a:lnTo>
                <a:lnTo>
                  <a:pt x="1141745" y="858688"/>
                </a:lnTo>
                <a:lnTo>
                  <a:pt x="1125304" y="897641"/>
                </a:lnTo>
                <a:lnTo>
                  <a:pt x="1099804" y="930644"/>
                </a:lnTo>
                <a:lnTo>
                  <a:pt x="1066800" y="956143"/>
                </a:lnTo>
                <a:lnTo>
                  <a:pt x="1027848" y="972582"/>
                </a:lnTo>
                <a:lnTo>
                  <a:pt x="984503" y="978408"/>
                </a:lnTo>
                <a:lnTo>
                  <a:pt x="163068" y="978408"/>
                </a:lnTo>
                <a:lnTo>
                  <a:pt x="119723" y="972582"/>
                </a:lnTo>
                <a:lnTo>
                  <a:pt x="80772" y="956143"/>
                </a:lnTo>
                <a:lnTo>
                  <a:pt x="47767" y="930644"/>
                </a:lnTo>
                <a:lnTo>
                  <a:pt x="22267" y="897641"/>
                </a:lnTo>
                <a:lnTo>
                  <a:pt x="5826" y="858688"/>
                </a:lnTo>
                <a:lnTo>
                  <a:pt x="0" y="815340"/>
                </a:lnTo>
                <a:lnTo>
                  <a:pt x="0" y="163068"/>
                </a:lnTo>
                <a:close/>
              </a:path>
            </a:pathLst>
          </a:custGeom>
          <a:ln w="25908">
            <a:solidFill>
              <a:srgbClr val="464646"/>
            </a:solidFill>
          </a:ln>
        </p:spPr>
        <p:txBody>
          <a:bodyPr wrap="square" lIns="0" tIns="0" rIns="0" bIns="0" rtlCol="0"/>
          <a:lstStyle/>
          <a:p>
            <a:endParaRPr/>
          </a:p>
        </p:txBody>
      </p:sp>
      <p:sp>
        <p:nvSpPr>
          <p:cNvPr id="13" name="object 13"/>
          <p:cNvSpPr txBox="1"/>
          <p:nvPr/>
        </p:nvSpPr>
        <p:spPr>
          <a:xfrm>
            <a:off x="6215253" y="3075813"/>
            <a:ext cx="787400" cy="848994"/>
          </a:xfrm>
          <a:prstGeom prst="rect">
            <a:avLst/>
          </a:prstGeom>
        </p:spPr>
        <p:txBody>
          <a:bodyPr vert="horz" wrap="square" lIns="0" tIns="12700" rIns="0" bIns="0" rtlCol="0">
            <a:spAutoFit/>
          </a:bodyPr>
          <a:lstStyle/>
          <a:p>
            <a:pPr algn="ctr">
              <a:lnSpc>
                <a:spcPct val="100000"/>
              </a:lnSpc>
              <a:spcBef>
                <a:spcPts val="100"/>
              </a:spcBef>
            </a:pPr>
            <a:r>
              <a:rPr sz="1800" spc="-5" dirty="0">
                <a:solidFill>
                  <a:srgbClr val="464646"/>
                </a:solidFill>
                <a:latin typeface="Arial MT"/>
                <a:cs typeface="Arial MT"/>
              </a:rPr>
              <a:t>NLB</a:t>
            </a:r>
            <a:endParaRPr sz="1800">
              <a:latin typeface="Arial MT"/>
              <a:cs typeface="Arial MT"/>
            </a:endParaRPr>
          </a:p>
          <a:p>
            <a:pPr marL="635" algn="ctr">
              <a:lnSpc>
                <a:spcPct val="100000"/>
              </a:lnSpc>
            </a:pPr>
            <a:r>
              <a:rPr sz="1800" spc="-5" dirty="0">
                <a:solidFill>
                  <a:srgbClr val="464646"/>
                </a:solidFill>
                <a:latin typeface="Arial MT"/>
                <a:cs typeface="Arial MT"/>
              </a:rPr>
              <a:t>Shared</a:t>
            </a:r>
            <a:endParaRPr sz="1800">
              <a:latin typeface="Arial MT"/>
              <a:cs typeface="Arial MT"/>
            </a:endParaRPr>
          </a:p>
          <a:p>
            <a:pPr algn="ctr">
              <a:lnSpc>
                <a:spcPct val="100000"/>
              </a:lnSpc>
            </a:pPr>
            <a:r>
              <a:rPr sz="1800" spc="-5" dirty="0">
                <a:solidFill>
                  <a:srgbClr val="464646"/>
                </a:solidFill>
                <a:latin typeface="Arial MT"/>
                <a:cs typeface="Arial MT"/>
              </a:rPr>
              <a:t>Service</a:t>
            </a:r>
            <a:endParaRPr sz="1800">
              <a:latin typeface="Arial MT"/>
              <a:cs typeface="Arial MT"/>
            </a:endParaRPr>
          </a:p>
        </p:txBody>
      </p:sp>
      <p:grpSp>
        <p:nvGrpSpPr>
          <p:cNvPr id="14" name="object 14"/>
          <p:cNvGrpSpPr/>
          <p:nvPr/>
        </p:nvGrpSpPr>
        <p:grpSpPr>
          <a:xfrm>
            <a:off x="1557527" y="2606039"/>
            <a:ext cx="6703059" cy="943610"/>
            <a:chOff x="1557527" y="2606039"/>
            <a:chExt cx="6703059" cy="943610"/>
          </a:xfrm>
        </p:grpSpPr>
        <p:pic>
          <p:nvPicPr>
            <p:cNvPr id="15" name="object 15"/>
            <p:cNvPicPr/>
            <p:nvPr/>
          </p:nvPicPr>
          <p:blipFill>
            <a:blip r:embed="rId5" cstate="print"/>
            <a:stretch>
              <a:fillRect/>
            </a:stretch>
          </p:blipFill>
          <p:spPr>
            <a:xfrm>
              <a:off x="1557527" y="2606039"/>
              <a:ext cx="3392424" cy="864108"/>
            </a:xfrm>
            <a:prstGeom prst="rect">
              <a:avLst/>
            </a:prstGeom>
          </p:spPr>
        </p:pic>
        <p:sp>
          <p:nvSpPr>
            <p:cNvPr id="16" name="object 16"/>
            <p:cNvSpPr/>
            <p:nvPr/>
          </p:nvSpPr>
          <p:spPr>
            <a:xfrm>
              <a:off x="1600199" y="2628137"/>
              <a:ext cx="3232785" cy="744855"/>
            </a:xfrm>
            <a:custGeom>
              <a:avLst/>
              <a:gdLst/>
              <a:ahLst/>
              <a:cxnLst/>
              <a:rect l="l" t="t" r="r" b="b"/>
              <a:pathLst>
                <a:path w="3232785" h="744854">
                  <a:moveTo>
                    <a:pt x="3155061" y="667131"/>
                  </a:moveTo>
                  <a:lnTo>
                    <a:pt x="3155061" y="744855"/>
                  </a:lnTo>
                  <a:lnTo>
                    <a:pt x="3206877" y="718947"/>
                  </a:lnTo>
                  <a:lnTo>
                    <a:pt x="3168015" y="718947"/>
                  </a:lnTo>
                  <a:lnTo>
                    <a:pt x="3168015" y="693038"/>
                  </a:lnTo>
                  <a:lnTo>
                    <a:pt x="3206877" y="693038"/>
                  </a:lnTo>
                  <a:lnTo>
                    <a:pt x="3155061" y="667131"/>
                  </a:lnTo>
                  <a:close/>
                </a:path>
                <a:path w="3232785" h="744854">
                  <a:moveTo>
                    <a:pt x="25907" y="0"/>
                  </a:moveTo>
                  <a:lnTo>
                    <a:pt x="0" y="0"/>
                  </a:lnTo>
                  <a:lnTo>
                    <a:pt x="0" y="713105"/>
                  </a:lnTo>
                  <a:lnTo>
                    <a:pt x="5841" y="718947"/>
                  </a:lnTo>
                  <a:lnTo>
                    <a:pt x="3155061" y="718947"/>
                  </a:lnTo>
                  <a:lnTo>
                    <a:pt x="3155061" y="705993"/>
                  </a:lnTo>
                  <a:lnTo>
                    <a:pt x="25907" y="705993"/>
                  </a:lnTo>
                  <a:lnTo>
                    <a:pt x="12953" y="693038"/>
                  </a:lnTo>
                  <a:lnTo>
                    <a:pt x="25907" y="693038"/>
                  </a:lnTo>
                  <a:lnTo>
                    <a:pt x="25907" y="0"/>
                  </a:lnTo>
                  <a:close/>
                </a:path>
                <a:path w="3232785" h="744854">
                  <a:moveTo>
                    <a:pt x="3206877" y="693038"/>
                  </a:moveTo>
                  <a:lnTo>
                    <a:pt x="3168015" y="693038"/>
                  </a:lnTo>
                  <a:lnTo>
                    <a:pt x="3168015" y="718947"/>
                  </a:lnTo>
                  <a:lnTo>
                    <a:pt x="3206877" y="718947"/>
                  </a:lnTo>
                  <a:lnTo>
                    <a:pt x="3232785" y="705993"/>
                  </a:lnTo>
                  <a:lnTo>
                    <a:pt x="3206877" y="693038"/>
                  </a:lnTo>
                  <a:close/>
                </a:path>
                <a:path w="3232785" h="744854">
                  <a:moveTo>
                    <a:pt x="25907" y="693038"/>
                  </a:moveTo>
                  <a:lnTo>
                    <a:pt x="12953" y="693038"/>
                  </a:lnTo>
                  <a:lnTo>
                    <a:pt x="25907" y="705993"/>
                  </a:lnTo>
                  <a:lnTo>
                    <a:pt x="25907" y="693038"/>
                  </a:lnTo>
                  <a:close/>
                </a:path>
                <a:path w="3232785" h="744854">
                  <a:moveTo>
                    <a:pt x="3155061" y="693038"/>
                  </a:moveTo>
                  <a:lnTo>
                    <a:pt x="25907" y="693038"/>
                  </a:lnTo>
                  <a:lnTo>
                    <a:pt x="25907" y="705993"/>
                  </a:lnTo>
                  <a:lnTo>
                    <a:pt x="3155061" y="705993"/>
                  </a:lnTo>
                  <a:lnTo>
                    <a:pt x="3155061" y="693038"/>
                  </a:lnTo>
                  <a:close/>
                </a:path>
              </a:pathLst>
            </a:custGeom>
            <a:solidFill>
              <a:srgbClr val="FBB64B"/>
            </a:solidFill>
          </p:spPr>
          <p:txBody>
            <a:bodyPr wrap="square" lIns="0" tIns="0" rIns="0" bIns="0" rtlCol="0"/>
            <a:lstStyle/>
            <a:p>
              <a:endParaRPr/>
            </a:p>
          </p:txBody>
        </p:sp>
        <p:pic>
          <p:nvPicPr>
            <p:cNvPr id="17" name="object 17"/>
            <p:cNvPicPr/>
            <p:nvPr/>
          </p:nvPicPr>
          <p:blipFill>
            <a:blip r:embed="rId6" cstate="print"/>
            <a:stretch>
              <a:fillRect/>
            </a:stretch>
          </p:blipFill>
          <p:spPr>
            <a:xfrm>
              <a:off x="7133843" y="3115055"/>
              <a:ext cx="1126248" cy="361188"/>
            </a:xfrm>
            <a:prstGeom prst="rect">
              <a:avLst/>
            </a:prstGeom>
          </p:spPr>
        </p:pic>
        <p:pic>
          <p:nvPicPr>
            <p:cNvPr id="18" name="object 18"/>
            <p:cNvPicPr/>
            <p:nvPr/>
          </p:nvPicPr>
          <p:blipFill>
            <a:blip r:embed="rId7" cstate="print"/>
            <a:stretch>
              <a:fillRect/>
            </a:stretch>
          </p:blipFill>
          <p:spPr>
            <a:xfrm>
              <a:off x="7164324" y="3095256"/>
              <a:ext cx="1065276" cy="454139"/>
            </a:xfrm>
            <a:prstGeom prst="rect">
              <a:avLst/>
            </a:prstGeom>
          </p:spPr>
        </p:pic>
        <p:pic>
          <p:nvPicPr>
            <p:cNvPr id="19" name="object 19"/>
            <p:cNvPicPr/>
            <p:nvPr/>
          </p:nvPicPr>
          <p:blipFill>
            <a:blip r:embed="rId8" cstate="print"/>
            <a:stretch>
              <a:fillRect/>
            </a:stretch>
          </p:blipFill>
          <p:spPr>
            <a:xfrm>
              <a:off x="7181087" y="3142487"/>
              <a:ext cx="1036320" cy="271272"/>
            </a:xfrm>
            <a:prstGeom prst="rect">
              <a:avLst/>
            </a:prstGeom>
          </p:spPr>
        </p:pic>
      </p:grpSp>
      <p:sp>
        <p:nvSpPr>
          <p:cNvPr id="20" name="object 20"/>
          <p:cNvSpPr txBox="1"/>
          <p:nvPr/>
        </p:nvSpPr>
        <p:spPr>
          <a:xfrm>
            <a:off x="7181088" y="3142488"/>
            <a:ext cx="1036319" cy="271780"/>
          </a:xfrm>
          <a:prstGeom prst="rect">
            <a:avLst/>
          </a:prstGeom>
          <a:ln w="9144">
            <a:solidFill>
              <a:srgbClr val="454544"/>
            </a:solidFill>
          </a:ln>
        </p:spPr>
        <p:txBody>
          <a:bodyPr vert="horz" wrap="square" lIns="0" tIns="24130" rIns="0" bIns="0" rtlCol="0">
            <a:spAutoFit/>
          </a:bodyPr>
          <a:lstStyle/>
          <a:p>
            <a:pPr marL="133350">
              <a:lnSpc>
                <a:spcPct val="100000"/>
              </a:lnSpc>
              <a:spcBef>
                <a:spcPts val="190"/>
              </a:spcBef>
            </a:pPr>
            <a:r>
              <a:rPr sz="1400" spc="-5" dirty="0">
                <a:solidFill>
                  <a:srgbClr val="464646"/>
                </a:solidFill>
                <a:latin typeface="Arial MT"/>
                <a:cs typeface="Arial MT"/>
              </a:rPr>
              <a:t>Private</a:t>
            </a:r>
            <a:r>
              <a:rPr sz="1400" spc="-45" dirty="0">
                <a:solidFill>
                  <a:srgbClr val="464646"/>
                </a:solidFill>
                <a:latin typeface="Arial MT"/>
                <a:cs typeface="Arial MT"/>
              </a:rPr>
              <a:t> </a:t>
            </a:r>
            <a:r>
              <a:rPr sz="1400" dirty="0">
                <a:solidFill>
                  <a:srgbClr val="464646"/>
                </a:solidFill>
                <a:latin typeface="Arial MT"/>
                <a:cs typeface="Arial MT"/>
              </a:rPr>
              <a:t>IP</a:t>
            </a:r>
            <a:endParaRPr sz="1400">
              <a:latin typeface="Arial MT"/>
              <a:cs typeface="Arial MT"/>
            </a:endParaRPr>
          </a:p>
        </p:txBody>
      </p:sp>
      <p:grpSp>
        <p:nvGrpSpPr>
          <p:cNvPr id="21" name="object 21"/>
          <p:cNvGrpSpPr/>
          <p:nvPr/>
        </p:nvGrpSpPr>
        <p:grpSpPr>
          <a:xfrm>
            <a:off x="4785359" y="3115055"/>
            <a:ext cx="1290955" cy="489584"/>
            <a:chOff x="4785359" y="3115055"/>
            <a:chExt cx="1290955" cy="489584"/>
          </a:xfrm>
        </p:grpSpPr>
        <p:pic>
          <p:nvPicPr>
            <p:cNvPr id="22" name="object 22"/>
            <p:cNvPicPr/>
            <p:nvPr/>
          </p:nvPicPr>
          <p:blipFill>
            <a:blip r:embed="rId9" cstate="print"/>
            <a:stretch>
              <a:fillRect/>
            </a:stretch>
          </p:blipFill>
          <p:spPr>
            <a:xfrm>
              <a:off x="4785359" y="3115055"/>
              <a:ext cx="1290827" cy="470916"/>
            </a:xfrm>
            <a:prstGeom prst="rect">
              <a:avLst/>
            </a:prstGeom>
          </p:spPr>
        </p:pic>
        <p:pic>
          <p:nvPicPr>
            <p:cNvPr id="23" name="object 23"/>
            <p:cNvPicPr/>
            <p:nvPr/>
          </p:nvPicPr>
          <p:blipFill>
            <a:blip r:embed="rId10" cstate="print"/>
            <a:stretch>
              <a:fillRect/>
            </a:stretch>
          </p:blipFill>
          <p:spPr>
            <a:xfrm>
              <a:off x="4818887" y="3150120"/>
              <a:ext cx="1223759" cy="454139"/>
            </a:xfrm>
            <a:prstGeom prst="rect">
              <a:avLst/>
            </a:prstGeom>
          </p:spPr>
        </p:pic>
        <p:pic>
          <p:nvPicPr>
            <p:cNvPr id="24" name="object 24"/>
            <p:cNvPicPr/>
            <p:nvPr/>
          </p:nvPicPr>
          <p:blipFill>
            <a:blip r:embed="rId11" cstate="print"/>
            <a:stretch>
              <a:fillRect/>
            </a:stretch>
          </p:blipFill>
          <p:spPr>
            <a:xfrm>
              <a:off x="4832603" y="3142487"/>
              <a:ext cx="1200912" cy="381000"/>
            </a:xfrm>
            <a:prstGeom prst="rect">
              <a:avLst/>
            </a:prstGeom>
          </p:spPr>
        </p:pic>
      </p:grpSp>
      <p:sp>
        <p:nvSpPr>
          <p:cNvPr id="25" name="object 25"/>
          <p:cNvSpPr txBox="1"/>
          <p:nvPr/>
        </p:nvSpPr>
        <p:spPr>
          <a:xfrm>
            <a:off x="4832603" y="3142488"/>
            <a:ext cx="1201420" cy="381000"/>
          </a:xfrm>
          <a:prstGeom prst="rect">
            <a:avLst/>
          </a:prstGeom>
          <a:ln w="9144">
            <a:solidFill>
              <a:srgbClr val="454544"/>
            </a:solidFill>
          </a:ln>
        </p:spPr>
        <p:txBody>
          <a:bodyPr vert="horz" wrap="square" lIns="0" tIns="79375" rIns="0" bIns="0" rtlCol="0">
            <a:spAutoFit/>
          </a:bodyPr>
          <a:lstStyle/>
          <a:p>
            <a:pPr marL="137160">
              <a:lnSpc>
                <a:spcPct val="100000"/>
              </a:lnSpc>
              <a:spcBef>
                <a:spcPts val="625"/>
              </a:spcBef>
            </a:pPr>
            <a:r>
              <a:rPr sz="1400" spc="-5" dirty="0">
                <a:solidFill>
                  <a:srgbClr val="464646"/>
                </a:solidFill>
                <a:latin typeface="Arial MT"/>
                <a:cs typeface="Arial MT"/>
              </a:rPr>
              <a:t>Private</a:t>
            </a:r>
            <a:r>
              <a:rPr sz="1400" spc="-40" dirty="0">
                <a:solidFill>
                  <a:srgbClr val="464646"/>
                </a:solidFill>
                <a:latin typeface="Arial MT"/>
                <a:cs typeface="Arial MT"/>
              </a:rPr>
              <a:t> </a:t>
            </a:r>
            <a:r>
              <a:rPr sz="1400" dirty="0">
                <a:solidFill>
                  <a:srgbClr val="464646"/>
                </a:solidFill>
                <a:latin typeface="Arial MT"/>
                <a:cs typeface="Arial MT"/>
              </a:rPr>
              <a:t>Link</a:t>
            </a:r>
            <a:endParaRPr sz="1400">
              <a:latin typeface="Arial MT"/>
              <a:cs typeface="Arial MT"/>
            </a:endParaRPr>
          </a:p>
        </p:txBody>
      </p:sp>
      <p:grpSp>
        <p:nvGrpSpPr>
          <p:cNvPr id="26" name="object 26"/>
          <p:cNvGrpSpPr/>
          <p:nvPr/>
        </p:nvGrpSpPr>
        <p:grpSpPr>
          <a:xfrm>
            <a:off x="867155" y="2167102"/>
            <a:ext cx="1487805" cy="523240"/>
            <a:chOff x="867155" y="2167102"/>
            <a:chExt cx="1487805" cy="523240"/>
          </a:xfrm>
        </p:grpSpPr>
        <p:pic>
          <p:nvPicPr>
            <p:cNvPr id="27" name="object 27"/>
            <p:cNvPicPr/>
            <p:nvPr/>
          </p:nvPicPr>
          <p:blipFill>
            <a:blip r:embed="rId12" cstate="print"/>
            <a:stretch>
              <a:fillRect/>
            </a:stretch>
          </p:blipFill>
          <p:spPr>
            <a:xfrm>
              <a:off x="867155" y="2167102"/>
              <a:ext cx="1487424" cy="522757"/>
            </a:xfrm>
            <a:prstGeom prst="rect">
              <a:avLst/>
            </a:prstGeom>
          </p:spPr>
        </p:pic>
        <p:pic>
          <p:nvPicPr>
            <p:cNvPr id="28" name="object 28"/>
            <p:cNvPicPr/>
            <p:nvPr/>
          </p:nvPicPr>
          <p:blipFill>
            <a:blip r:embed="rId13" cstate="print"/>
            <a:stretch>
              <a:fillRect/>
            </a:stretch>
          </p:blipFill>
          <p:spPr>
            <a:xfrm>
              <a:off x="903731" y="2228100"/>
              <a:ext cx="1414271" cy="454139"/>
            </a:xfrm>
            <a:prstGeom prst="rect">
              <a:avLst/>
            </a:prstGeom>
          </p:spPr>
        </p:pic>
        <p:pic>
          <p:nvPicPr>
            <p:cNvPr id="29" name="object 29"/>
            <p:cNvPicPr/>
            <p:nvPr/>
          </p:nvPicPr>
          <p:blipFill>
            <a:blip r:embed="rId14" cstate="print"/>
            <a:stretch>
              <a:fillRect/>
            </a:stretch>
          </p:blipFill>
          <p:spPr>
            <a:xfrm>
              <a:off x="914399" y="2194560"/>
              <a:ext cx="1397508" cy="432815"/>
            </a:xfrm>
            <a:prstGeom prst="rect">
              <a:avLst/>
            </a:prstGeom>
          </p:spPr>
        </p:pic>
        <p:sp>
          <p:nvSpPr>
            <p:cNvPr id="30" name="object 30"/>
            <p:cNvSpPr/>
            <p:nvPr/>
          </p:nvSpPr>
          <p:spPr>
            <a:xfrm>
              <a:off x="914399" y="2194560"/>
              <a:ext cx="1397635" cy="433070"/>
            </a:xfrm>
            <a:custGeom>
              <a:avLst/>
              <a:gdLst/>
              <a:ahLst/>
              <a:cxnLst/>
              <a:rect l="l" t="t" r="r" b="b"/>
              <a:pathLst>
                <a:path w="1397635" h="433069">
                  <a:moveTo>
                    <a:pt x="0" y="432815"/>
                  </a:moveTo>
                  <a:lnTo>
                    <a:pt x="1397508" y="432815"/>
                  </a:lnTo>
                  <a:lnTo>
                    <a:pt x="1397508" y="0"/>
                  </a:lnTo>
                  <a:lnTo>
                    <a:pt x="0" y="0"/>
                  </a:lnTo>
                  <a:lnTo>
                    <a:pt x="0" y="432815"/>
                  </a:lnTo>
                  <a:close/>
                </a:path>
              </a:pathLst>
            </a:custGeom>
            <a:ln w="9144">
              <a:solidFill>
                <a:srgbClr val="454544"/>
              </a:solidFill>
            </a:ln>
          </p:spPr>
          <p:txBody>
            <a:bodyPr wrap="square" lIns="0" tIns="0" rIns="0" bIns="0" rtlCol="0"/>
            <a:lstStyle/>
            <a:p>
              <a:endParaRPr/>
            </a:p>
          </p:txBody>
        </p:sp>
      </p:grpSp>
      <p:sp>
        <p:nvSpPr>
          <p:cNvPr id="31" name="object 31"/>
          <p:cNvSpPr txBox="1"/>
          <p:nvPr/>
        </p:nvSpPr>
        <p:spPr>
          <a:xfrm>
            <a:off x="1040688" y="2286762"/>
            <a:ext cx="1270000" cy="715010"/>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464646"/>
                </a:solidFill>
                <a:latin typeface="Arial MT"/>
                <a:cs typeface="Arial MT"/>
              </a:rPr>
              <a:t>VPC</a:t>
            </a:r>
            <a:r>
              <a:rPr sz="1400" spc="-40" dirty="0">
                <a:solidFill>
                  <a:srgbClr val="464646"/>
                </a:solidFill>
                <a:latin typeface="Arial MT"/>
                <a:cs typeface="Arial MT"/>
              </a:rPr>
              <a:t> </a:t>
            </a:r>
            <a:r>
              <a:rPr sz="1400" dirty="0">
                <a:solidFill>
                  <a:srgbClr val="464646"/>
                </a:solidFill>
                <a:latin typeface="Arial MT"/>
                <a:cs typeface="Arial MT"/>
              </a:rPr>
              <a:t>Endpoint</a:t>
            </a:r>
            <a:endParaRPr sz="1400">
              <a:latin typeface="Arial MT"/>
              <a:cs typeface="Arial MT"/>
            </a:endParaRPr>
          </a:p>
          <a:p>
            <a:pPr>
              <a:lnSpc>
                <a:spcPct val="100000"/>
              </a:lnSpc>
              <a:spcBef>
                <a:spcPts val="35"/>
              </a:spcBef>
            </a:pPr>
            <a:endParaRPr sz="1350">
              <a:latin typeface="Arial MT"/>
              <a:cs typeface="Arial MT"/>
            </a:endParaRPr>
          </a:p>
          <a:p>
            <a:pPr marL="582930">
              <a:lnSpc>
                <a:spcPct val="100000"/>
              </a:lnSpc>
            </a:pPr>
            <a:r>
              <a:rPr sz="1800" spc="-5" dirty="0">
                <a:solidFill>
                  <a:srgbClr val="464646"/>
                </a:solidFill>
                <a:latin typeface="Arial MT"/>
                <a:cs typeface="Arial MT"/>
              </a:rPr>
              <a:t>VPC</a:t>
            </a:r>
            <a:r>
              <a:rPr sz="1800" spc="-100" dirty="0">
                <a:solidFill>
                  <a:srgbClr val="464646"/>
                </a:solidFill>
                <a:latin typeface="Arial MT"/>
                <a:cs typeface="Arial MT"/>
              </a:rPr>
              <a:t> </a:t>
            </a:r>
            <a:r>
              <a:rPr sz="1800" spc="-5" dirty="0">
                <a:solidFill>
                  <a:srgbClr val="464646"/>
                </a:solidFill>
                <a:latin typeface="Arial MT"/>
                <a:cs typeface="Arial MT"/>
              </a:rPr>
              <a:t>A</a:t>
            </a:r>
            <a:endParaRPr sz="1800">
              <a:latin typeface="Arial MT"/>
              <a:cs typeface="Arial MT"/>
            </a:endParaRPr>
          </a:p>
        </p:txBody>
      </p:sp>
      <p:grpSp>
        <p:nvGrpSpPr>
          <p:cNvPr id="32" name="object 32"/>
          <p:cNvGrpSpPr/>
          <p:nvPr/>
        </p:nvGrpSpPr>
        <p:grpSpPr>
          <a:xfrm>
            <a:off x="1493519" y="1859292"/>
            <a:ext cx="238125" cy="472440"/>
            <a:chOff x="1493519" y="1859292"/>
            <a:chExt cx="238125" cy="472440"/>
          </a:xfrm>
        </p:grpSpPr>
        <p:pic>
          <p:nvPicPr>
            <p:cNvPr id="33" name="object 33"/>
            <p:cNvPicPr/>
            <p:nvPr/>
          </p:nvPicPr>
          <p:blipFill>
            <a:blip r:embed="rId15" cstate="print"/>
            <a:stretch>
              <a:fillRect/>
            </a:stretch>
          </p:blipFill>
          <p:spPr>
            <a:xfrm>
              <a:off x="1493519" y="1859292"/>
              <a:ext cx="237832" cy="472427"/>
            </a:xfrm>
            <a:prstGeom prst="rect">
              <a:avLst/>
            </a:prstGeom>
          </p:spPr>
        </p:pic>
        <p:sp>
          <p:nvSpPr>
            <p:cNvPr id="34" name="object 34"/>
            <p:cNvSpPr/>
            <p:nvPr/>
          </p:nvSpPr>
          <p:spPr>
            <a:xfrm>
              <a:off x="1575561" y="1881378"/>
              <a:ext cx="78105" cy="314960"/>
            </a:xfrm>
            <a:custGeom>
              <a:avLst/>
              <a:gdLst/>
              <a:ahLst/>
              <a:cxnLst/>
              <a:rect l="l" t="t" r="r" b="b"/>
              <a:pathLst>
                <a:path w="78105" h="314960">
                  <a:moveTo>
                    <a:pt x="25907" y="236982"/>
                  </a:moveTo>
                  <a:lnTo>
                    <a:pt x="0" y="236982"/>
                  </a:lnTo>
                  <a:lnTo>
                    <a:pt x="38862" y="314706"/>
                  </a:lnTo>
                  <a:lnTo>
                    <a:pt x="71247" y="249936"/>
                  </a:lnTo>
                  <a:lnTo>
                    <a:pt x="25907" y="249936"/>
                  </a:lnTo>
                  <a:lnTo>
                    <a:pt x="25907" y="236982"/>
                  </a:lnTo>
                  <a:close/>
                </a:path>
                <a:path w="78105" h="314960">
                  <a:moveTo>
                    <a:pt x="25907" y="168816"/>
                  </a:moveTo>
                  <a:lnTo>
                    <a:pt x="25907" y="249936"/>
                  </a:lnTo>
                  <a:lnTo>
                    <a:pt x="51815" y="249936"/>
                  </a:lnTo>
                  <a:lnTo>
                    <a:pt x="51815" y="170307"/>
                  </a:lnTo>
                  <a:lnTo>
                    <a:pt x="27431" y="170307"/>
                  </a:lnTo>
                  <a:lnTo>
                    <a:pt x="25907" y="168816"/>
                  </a:lnTo>
                  <a:close/>
                </a:path>
                <a:path w="78105" h="314960">
                  <a:moveTo>
                    <a:pt x="77724" y="236982"/>
                  </a:moveTo>
                  <a:lnTo>
                    <a:pt x="51815" y="236982"/>
                  </a:lnTo>
                  <a:lnTo>
                    <a:pt x="51815" y="249936"/>
                  </a:lnTo>
                  <a:lnTo>
                    <a:pt x="71247" y="249936"/>
                  </a:lnTo>
                  <a:lnTo>
                    <a:pt x="77724" y="236982"/>
                  </a:lnTo>
                  <a:close/>
                </a:path>
                <a:path w="78105" h="314960">
                  <a:moveTo>
                    <a:pt x="25907" y="157353"/>
                  </a:moveTo>
                  <a:lnTo>
                    <a:pt x="25907" y="168816"/>
                  </a:lnTo>
                  <a:lnTo>
                    <a:pt x="27431" y="170307"/>
                  </a:lnTo>
                  <a:lnTo>
                    <a:pt x="38862" y="170307"/>
                  </a:lnTo>
                  <a:lnTo>
                    <a:pt x="25907" y="157353"/>
                  </a:lnTo>
                  <a:close/>
                </a:path>
                <a:path w="78105" h="314960">
                  <a:moveTo>
                    <a:pt x="47497" y="145923"/>
                  </a:moveTo>
                  <a:lnTo>
                    <a:pt x="47497" y="157353"/>
                  </a:lnTo>
                  <a:lnTo>
                    <a:pt x="25907" y="157353"/>
                  </a:lnTo>
                  <a:lnTo>
                    <a:pt x="38862" y="170307"/>
                  </a:lnTo>
                  <a:lnTo>
                    <a:pt x="51815" y="170307"/>
                  </a:lnTo>
                  <a:lnTo>
                    <a:pt x="51815" y="150241"/>
                  </a:lnTo>
                  <a:lnTo>
                    <a:pt x="47497" y="145923"/>
                  </a:lnTo>
                  <a:close/>
                </a:path>
                <a:path w="78105" h="314960">
                  <a:moveTo>
                    <a:pt x="47497" y="0"/>
                  </a:moveTo>
                  <a:lnTo>
                    <a:pt x="21590" y="0"/>
                  </a:lnTo>
                  <a:lnTo>
                    <a:pt x="21590" y="164592"/>
                  </a:lnTo>
                  <a:lnTo>
                    <a:pt x="25907" y="168816"/>
                  </a:lnTo>
                  <a:lnTo>
                    <a:pt x="25907" y="157353"/>
                  </a:lnTo>
                  <a:lnTo>
                    <a:pt x="47497" y="157353"/>
                  </a:lnTo>
                  <a:lnTo>
                    <a:pt x="34543" y="144399"/>
                  </a:lnTo>
                  <a:lnTo>
                    <a:pt x="47497" y="144399"/>
                  </a:lnTo>
                  <a:lnTo>
                    <a:pt x="47497" y="0"/>
                  </a:lnTo>
                  <a:close/>
                </a:path>
                <a:path w="78105" h="314960">
                  <a:moveTo>
                    <a:pt x="45974" y="144399"/>
                  </a:moveTo>
                  <a:lnTo>
                    <a:pt x="34543" y="144399"/>
                  </a:lnTo>
                  <a:lnTo>
                    <a:pt x="47497" y="157353"/>
                  </a:lnTo>
                  <a:lnTo>
                    <a:pt x="47497" y="145923"/>
                  </a:lnTo>
                  <a:lnTo>
                    <a:pt x="45974" y="144399"/>
                  </a:lnTo>
                  <a:close/>
                </a:path>
                <a:path w="78105" h="314960">
                  <a:moveTo>
                    <a:pt x="47497" y="144399"/>
                  </a:moveTo>
                  <a:lnTo>
                    <a:pt x="45974" y="144399"/>
                  </a:lnTo>
                  <a:lnTo>
                    <a:pt x="47497" y="145923"/>
                  </a:lnTo>
                  <a:lnTo>
                    <a:pt x="47497" y="144399"/>
                  </a:lnTo>
                  <a:close/>
                </a:path>
              </a:pathLst>
            </a:custGeom>
            <a:solidFill>
              <a:srgbClr val="FBB64B"/>
            </a:solidFill>
          </p:spPr>
          <p:txBody>
            <a:bodyPr wrap="square" lIns="0" tIns="0" rIns="0" bIns="0" rtlCol="0"/>
            <a:lstStyle/>
            <a:p>
              <a:endParaRPr/>
            </a:p>
          </p:txBody>
        </p:sp>
      </p:grpSp>
      <p:sp>
        <p:nvSpPr>
          <p:cNvPr id="35" name="object 35"/>
          <p:cNvSpPr txBox="1"/>
          <p:nvPr/>
        </p:nvSpPr>
        <p:spPr>
          <a:xfrm>
            <a:off x="2386329" y="3552190"/>
            <a:ext cx="1196975" cy="848994"/>
          </a:xfrm>
          <a:prstGeom prst="rect">
            <a:avLst/>
          </a:prstGeom>
        </p:spPr>
        <p:txBody>
          <a:bodyPr vert="horz" wrap="square" lIns="0" tIns="12700" rIns="0" bIns="0" rtlCol="0">
            <a:spAutoFit/>
          </a:bodyPr>
          <a:lstStyle/>
          <a:p>
            <a:pPr marL="12065" marR="5080" indent="635" algn="ctr">
              <a:lnSpc>
                <a:spcPct val="100000"/>
              </a:lnSpc>
              <a:spcBef>
                <a:spcPts val="100"/>
              </a:spcBef>
            </a:pPr>
            <a:r>
              <a:rPr sz="1800" spc="-15" dirty="0">
                <a:solidFill>
                  <a:srgbClr val="464646"/>
                </a:solidFill>
                <a:latin typeface="Arial MT"/>
                <a:cs typeface="Arial MT"/>
              </a:rPr>
              <a:t>Traffic </a:t>
            </a:r>
            <a:r>
              <a:rPr sz="1800" spc="-10" dirty="0">
                <a:solidFill>
                  <a:srgbClr val="464646"/>
                </a:solidFill>
                <a:latin typeface="Arial MT"/>
                <a:cs typeface="Arial MT"/>
              </a:rPr>
              <a:t> </a:t>
            </a:r>
            <a:r>
              <a:rPr sz="1800" spc="-5" dirty="0">
                <a:solidFill>
                  <a:srgbClr val="464646"/>
                </a:solidFill>
                <a:latin typeface="Arial MT"/>
                <a:cs typeface="Arial MT"/>
              </a:rPr>
              <a:t>Insi</a:t>
            </a:r>
            <a:r>
              <a:rPr sz="1800" spc="-15" dirty="0">
                <a:solidFill>
                  <a:srgbClr val="464646"/>
                </a:solidFill>
                <a:latin typeface="Arial MT"/>
                <a:cs typeface="Arial MT"/>
              </a:rPr>
              <a:t>d</a:t>
            </a:r>
            <a:r>
              <a:rPr sz="1800" spc="-5" dirty="0">
                <a:solidFill>
                  <a:srgbClr val="464646"/>
                </a:solidFill>
                <a:latin typeface="Arial MT"/>
                <a:cs typeface="Arial MT"/>
              </a:rPr>
              <a:t>e</a:t>
            </a:r>
            <a:r>
              <a:rPr sz="1800" spc="-100" dirty="0">
                <a:solidFill>
                  <a:srgbClr val="464646"/>
                </a:solidFill>
                <a:latin typeface="Arial MT"/>
                <a:cs typeface="Arial MT"/>
              </a:rPr>
              <a:t> </a:t>
            </a:r>
            <a:r>
              <a:rPr sz="1800" spc="-75" dirty="0">
                <a:solidFill>
                  <a:srgbClr val="464646"/>
                </a:solidFill>
                <a:latin typeface="Arial MT"/>
                <a:cs typeface="Arial MT"/>
              </a:rPr>
              <a:t>A</a:t>
            </a:r>
            <a:r>
              <a:rPr sz="1800" dirty="0">
                <a:solidFill>
                  <a:srgbClr val="464646"/>
                </a:solidFill>
                <a:latin typeface="Arial MT"/>
                <a:cs typeface="Arial MT"/>
              </a:rPr>
              <a:t>WS  </a:t>
            </a:r>
            <a:r>
              <a:rPr sz="1800" spc="-10" dirty="0">
                <a:solidFill>
                  <a:srgbClr val="464646"/>
                </a:solidFill>
                <a:latin typeface="Arial MT"/>
                <a:cs typeface="Arial MT"/>
              </a:rPr>
              <a:t>Network</a:t>
            </a:r>
            <a:endParaRPr sz="1800">
              <a:latin typeface="Arial MT"/>
              <a:cs typeface="Arial MT"/>
            </a:endParaRPr>
          </a:p>
        </p:txBody>
      </p:sp>
      <p:sp>
        <p:nvSpPr>
          <p:cNvPr id="36" name="object 36"/>
          <p:cNvSpPr txBox="1"/>
          <p:nvPr/>
        </p:nvSpPr>
        <p:spPr>
          <a:xfrm>
            <a:off x="3765041" y="430529"/>
            <a:ext cx="4591050" cy="1671955"/>
          </a:xfrm>
          <a:prstGeom prst="rect">
            <a:avLst/>
          </a:prstGeom>
        </p:spPr>
        <p:txBody>
          <a:bodyPr vert="horz" wrap="square" lIns="0" tIns="12700" rIns="0" bIns="0" rtlCol="0">
            <a:spAutoFit/>
          </a:bodyPr>
          <a:lstStyle/>
          <a:p>
            <a:pPr marL="299085" indent="-287020">
              <a:lnSpc>
                <a:spcPct val="100000"/>
              </a:lnSpc>
              <a:spcBef>
                <a:spcPts val="100"/>
              </a:spcBef>
              <a:buChar char="•"/>
              <a:tabLst>
                <a:tab pos="299085" algn="l"/>
                <a:tab pos="299720" algn="l"/>
              </a:tabLst>
            </a:pPr>
            <a:r>
              <a:rPr sz="1800" spc="-10" dirty="0">
                <a:solidFill>
                  <a:srgbClr val="464646"/>
                </a:solidFill>
                <a:latin typeface="Arial MT"/>
                <a:cs typeface="Arial MT"/>
              </a:rPr>
              <a:t>Network</a:t>
            </a:r>
            <a:r>
              <a:rPr sz="1800" spc="40" dirty="0">
                <a:solidFill>
                  <a:srgbClr val="464646"/>
                </a:solidFill>
                <a:latin typeface="Arial MT"/>
                <a:cs typeface="Arial MT"/>
              </a:rPr>
              <a:t> </a:t>
            </a:r>
            <a:r>
              <a:rPr sz="1800" spc="-5" dirty="0">
                <a:solidFill>
                  <a:srgbClr val="464646"/>
                </a:solidFill>
                <a:latin typeface="Arial MT"/>
                <a:cs typeface="Arial MT"/>
              </a:rPr>
              <a:t>LB</a:t>
            </a:r>
            <a:r>
              <a:rPr sz="1800" spc="-15" dirty="0">
                <a:solidFill>
                  <a:srgbClr val="464646"/>
                </a:solidFill>
                <a:latin typeface="Arial MT"/>
                <a:cs typeface="Arial MT"/>
              </a:rPr>
              <a:t> </a:t>
            </a:r>
            <a:r>
              <a:rPr sz="1800" spc="-5" dirty="0">
                <a:solidFill>
                  <a:srgbClr val="464646"/>
                </a:solidFill>
                <a:latin typeface="Arial MT"/>
                <a:cs typeface="Arial MT"/>
              </a:rPr>
              <a:t>based</a:t>
            </a:r>
            <a:r>
              <a:rPr sz="1800" dirty="0">
                <a:solidFill>
                  <a:srgbClr val="464646"/>
                </a:solidFill>
                <a:latin typeface="Arial MT"/>
                <a:cs typeface="Arial MT"/>
              </a:rPr>
              <a:t> </a:t>
            </a:r>
            <a:r>
              <a:rPr sz="1800" spc="-5" dirty="0">
                <a:solidFill>
                  <a:srgbClr val="464646"/>
                </a:solidFill>
                <a:latin typeface="Arial MT"/>
                <a:cs typeface="Arial MT"/>
              </a:rPr>
              <a:t>Shared</a:t>
            </a:r>
            <a:r>
              <a:rPr sz="1800" dirty="0">
                <a:solidFill>
                  <a:srgbClr val="464646"/>
                </a:solidFill>
                <a:latin typeface="Arial MT"/>
                <a:cs typeface="Arial MT"/>
              </a:rPr>
              <a:t> </a:t>
            </a:r>
            <a:r>
              <a:rPr sz="1800" spc="-5" dirty="0">
                <a:solidFill>
                  <a:srgbClr val="464646"/>
                </a:solidFill>
                <a:latin typeface="Arial MT"/>
                <a:cs typeface="Arial MT"/>
              </a:rPr>
              <a:t>Service</a:t>
            </a:r>
            <a:endParaRPr sz="180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Configure</a:t>
            </a:r>
            <a:r>
              <a:rPr sz="1800" spc="10" dirty="0">
                <a:solidFill>
                  <a:srgbClr val="464646"/>
                </a:solidFill>
                <a:latin typeface="Arial MT"/>
                <a:cs typeface="Arial MT"/>
              </a:rPr>
              <a:t> </a:t>
            </a:r>
            <a:r>
              <a:rPr sz="1800" spc="-5" dirty="0">
                <a:solidFill>
                  <a:srgbClr val="464646"/>
                </a:solidFill>
                <a:latin typeface="Arial MT"/>
                <a:cs typeface="Arial MT"/>
              </a:rPr>
              <a:t>as</a:t>
            </a:r>
            <a:r>
              <a:rPr sz="1800" dirty="0">
                <a:solidFill>
                  <a:srgbClr val="464646"/>
                </a:solidFill>
                <a:latin typeface="Arial MT"/>
                <a:cs typeface="Arial MT"/>
              </a:rPr>
              <a:t> </a:t>
            </a:r>
            <a:r>
              <a:rPr sz="1800" spc="-5" dirty="0">
                <a:solidFill>
                  <a:srgbClr val="464646"/>
                </a:solidFill>
                <a:latin typeface="Arial MT"/>
                <a:cs typeface="Arial MT"/>
              </a:rPr>
              <a:t>PrivateLink</a:t>
            </a:r>
            <a:r>
              <a:rPr sz="1800" spc="10" dirty="0">
                <a:solidFill>
                  <a:srgbClr val="464646"/>
                </a:solidFill>
                <a:latin typeface="Arial MT"/>
                <a:cs typeface="Arial MT"/>
              </a:rPr>
              <a:t> </a:t>
            </a:r>
            <a:r>
              <a:rPr sz="1800" spc="-10" dirty="0">
                <a:solidFill>
                  <a:srgbClr val="464646"/>
                </a:solidFill>
                <a:latin typeface="Arial MT"/>
                <a:cs typeface="Arial MT"/>
              </a:rPr>
              <a:t>Powered</a:t>
            </a:r>
            <a:r>
              <a:rPr sz="1800" spc="40" dirty="0">
                <a:solidFill>
                  <a:srgbClr val="464646"/>
                </a:solidFill>
                <a:latin typeface="Arial MT"/>
                <a:cs typeface="Arial MT"/>
              </a:rPr>
              <a:t> </a:t>
            </a:r>
            <a:r>
              <a:rPr sz="1800" spc="-5" dirty="0">
                <a:solidFill>
                  <a:srgbClr val="464646"/>
                </a:solidFill>
                <a:latin typeface="Arial MT"/>
                <a:cs typeface="Arial MT"/>
              </a:rPr>
              <a:t>Service</a:t>
            </a:r>
            <a:endParaRPr sz="180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Create</a:t>
            </a:r>
            <a:r>
              <a:rPr sz="1800" dirty="0">
                <a:solidFill>
                  <a:srgbClr val="464646"/>
                </a:solidFill>
                <a:latin typeface="Arial MT"/>
                <a:cs typeface="Arial MT"/>
              </a:rPr>
              <a:t> VPC </a:t>
            </a:r>
            <a:r>
              <a:rPr sz="1800" spc="-10" dirty="0">
                <a:solidFill>
                  <a:srgbClr val="464646"/>
                </a:solidFill>
                <a:latin typeface="Arial MT"/>
                <a:cs typeface="Arial MT"/>
              </a:rPr>
              <a:t>endpoint</a:t>
            </a:r>
            <a:r>
              <a:rPr sz="1800" spc="15" dirty="0">
                <a:solidFill>
                  <a:srgbClr val="464646"/>
                </a:solidFill>
                <a:latin typeface="Arial MT"/>
                <a:cs typeface="Arial MT"/>
              </a:rPr>
              <a:t> </a:t>
            </a:r>
            <a:r>
              <a:rPr sz="1800" dirty="0">
                <a:solidFill>
                  <a:srgbClr val="464646"/>
                </a:solidFill>
                <a:latin typeface="Arial MT"/>
                <a:cs typeface="Arial MT"/>
              </a:rPr>
              <a:t>for </a:t>
            </a:r>
            <a:r>
              <a:rPr sz="1800" spc="-10" dirty="0">
                <a:solidFill>
                  <a:srgbClr val="464646"/>
                </a:solidFill>
                <a:latin typeface="Arial MT"/>
                <a:cs typeface="Arial MT"/>
              </a:rPr>
              <a:t>your</a:t>
            </a:r>
            <a:r>
              <a:rPr sz="1800" spc="25" dirty="0">
                <a:solidFill>
                  <a:srgbClr val="464646"/>
                </a:solidFill>
                <a:latin typeface="Arial MT"/>
                <a:cs typeface="Arial MT"/>
              </a:rPr>
              <a:t> </a:t>
            </a:r>
            <a:r>
              <a:rPr sz="1800" spc="-5" dirty="0">
                <a:solidFill>
                  <a:srgbClr val="464646"/>
                </a:solidFill>
                <a:latin typeface="Arial MT"/>
                <a:cs typeface="Arial MT"/>
              </a:rPr>
              <a:t>service</a:t>
            </a:r>
            <a:r>
              <a:rPr sz="1800" spc="5" dirty="0">
                <a:solidFill>
                  <a:srgbClr val="464646"/>
                </a:solidFill>
                <a:latin typeface="Arial MT"/>
                <a:cs typeface="Arial MT"/>
              </a:rPr>
              <a:t> </a:t>
            </a:r>
            <a:r>
              <a:rPr sz="1800" spc="-5" dirty="0">
                <a:solidFill>
                  <a:srgbClr val="464646"/>
                </a:solidFill>
                <a:latin typeface="Arial MT"/>
                <a:cs typeface="Arial MT"/>
              </a:rPr>
              <a:t>in</a:t>
            </a:r>
            <a:endParaRPr sz="1800">
              <a:latin typeface="Arial MT"/>
              <a:cs typeface="Arial MT"/>
            </a:endParaRPr>
          </a:p>
          <a:p>
            <a:pPr marL="299085">
              <a:lnSpc>
                <a:spcPct val="100000"/>
              </a:lnSpc>
            </a:pPr>
            <a:r>
              <a:rPr sz="1800" spc="-5" dirty="0">
                <a:solidFill>
                  <a:srgbClr val="464646"/>
                </a:solidFill>
                <a:latin typeface="Arial MT"/>
                <a:cs typeface="Arial MT"/>
              </a:rPr>
              <a:t>client</a:t>
            </a:r>
            <a:r>
              <a:rPr sz="1800" spc="-30" dirty="0">
                <a:solidFill>
                  <a:srgbClr val="464646"/>
                </a:solidFill>
                <a:latin typeface="Arial MT"/>
                <a:cs typeface="Arial MT"/>
              </a:rPr>
              <a:t> </a:t>
            </a:r>
            <a:r>
              <a:rPr sz="1800" dirty="0">
                <a:solidFill>
                  <a:srgbClr val="464646"/>
                </a:solidFill>
                <a:latin typeface="Arial MT"/>
                <a:cs typeface="Arial MT"/>
              </a:rPr>
              <a:t>VPC</a:t>
            </a:r>
            <a:endParaRPr sz="180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All</a:t>
            </a:r>
            <a:r>
              <a:rPr sz="1800" spc="-15" dirty="0">
                <a:solidFill>
                  <a:srgbClr val="464646"/>
                </a:solidFill>
                <a:latin typeface="Arial MT"/>
                <a:cs typeface="Arial MT"/>
              </a:rPr>
              <a:t> </a:t>
            </a:r>
            <a:r>
              <a:rPr sz="1800" spc="-5" dirty="0">
                <a:solidFill>
                  <a:srgbClr val="464646"/>
                </a:solidFill>
                <a:latin typeface="Arial MT"/>
                <a:cs typeface="Arial MT"/>
              </a:rPr>
              <a:t>communication</a:t>
            </a:r>
            <a:r>
              <a:rPr sz="1800" spc="10" dirty="0">
                <a:solidFill>
                  <a:srgbClr val="464646"/>
                </a:solidFill>
                <a:latin typeface="Arial MT"/>
                <a:cs typeface="Arial MT"/>
              </a:rPr>
              <a:t> </a:t>
            </a:r>
            <a:r>
              <a:rPr sz="1800" spc="-5" dirty="0">
                <a:solidFill>
                  <a:srgbClr val="464646"/>
                </a:solidFill>
                <a:latin typeface="Arial MT"/>
                <a:cs typeface="Arial MT"/>
              </a:rPr>
              <a:t>over</a:t>
            </a:r>
            <a:r>
              <a:rPr sz="1800" spc="-95" dirty="0">
                <a:solidFill>
                  <a:srgbClr val="464646"/>
                </a:solidFill>
                <a:latin typeface="Arial MT"/>
                <a:cs typeface="Arial MT"/>
              </a:rPr>
              <a:t> </a:t>
            </a:r>
            <a:r>
              <a:rPr sz="1800" spc="-25" dirty="0">
                <a:solidFill>
                  <a:srgbClr val="464646"/>
                </a:solidFill>
                <a:latin typeface="Arial MT"/>
                <a:cs typeface="Arial MT"/>
              </a:rPr>
              <a:t>AWS</a:t>
            </a:r>
            <a:r>
              <a:rPr sz="1800" dirty="0">
                <a:solidFill>
                  <a:srgbClr val="464646"/>
                </a:solidFill>
                <a:latin typeface="Arial MT"/>
                <a:cs typeface="Arial MT"/>
              </a:rPr>
              <a:t> </a:t>
            </a:r>
            <a:r>
              <a:rPr sz="1800" spc="-10" dirty="0">
                <a:solidFill>
                  <a:srgbClr val="464646"/>
                </a:solidFill>
                <a:latin typeface="Arial MT"/>
                <a:cs typeface="Arial MT"/>
              </a:rPr>
              <a:t>network</a:t>
            </a:r>
            <a:endParaRPr sz="1800">
              <a:latin typeface="Arial MT"/>
              <a:cs typeface="Arial MT"/>
            </a:endParaRPr>
          </a:p>
          <a:p>
            <a:pPr marL="299085" indent="-287020">
              <a:lnSpc>
                <a:spcPct val="100000"/>
              </a:lnSpc>
              <a:buChar char="•"/>
              <a:tabLst>
                <a:tab pos="299085" algn="l"/>
                <a:tab pos="299720" algn="l"/>
              </a:tabLst>
            </a:pPr>
            <a:r>
              <a:rPr sz="1800" spc="-5" dirty="0">
                <a:solidFill>
                  <a:srgbClr val="464646"/>
                </a:solidFill>
                <a:latin typeface="Arial MT"/>
                <a:cs typeface="Arial MT"/>
              </a:rPr>
              <a:t>Scales</a:t>
            </a:r>
            <a:r>
              <a:rPr sz="1800" spc="5" dirty="0">
                <a:solidFill>
                  <a:srgbClr val="464646"/>
                </a:solidFill>
                <a:latin typeface="Arial MT"/>
                <a:cs typeface="Arial MT"/>
              </a:rPr>
              <a:t> </a:t>
            </a:r>
            <a:r>
              <a:rPr sz="1800" dirty="0">
                <a:solidFill>
                  <a:srgbClr val="464646"/>
                </a:solidFill>
                <a:latin typeface="Arial MT"/>
                <a:cs typeface="Arial MT"/>
              </a:rPr>
              <a:t>to</a:t>
            </a:r>
            <a:r>
              <a:rPr sz="1800" spc="-10" dirty="0">
                <a:solidFill>
                  <a:srgbClr val="464646"/>
                </a:solidFill>
                <a:latin typeface="Arial MT"/>
                <a:cs typeface="Arial MT"/>
              </a:rPr>
              <a:t> </a:t>
            </a:r>
            <a:r>
              <a:rPr sz="1800" spc="-5" dirty="0">
                <a:solidFill>
                  <a:srgbClr val="464646"/>
                </a:solidFill>
                <a:latin typeface="Arial MT"/>
                <a:cs typeface="Arial MT"/>
              </a:rPr>
              <a:t>support</a:t>
            </a:r>
            <a:r>
              <a:rPr sz="1800" spc="15" dirty="0">
                <a:solidFill>
                  <a:srgbClr val="464646"/>
                </a:solidFill>
                <a:latin typeface="Arial MT"/>
                <a:cs typeface="Arial MT"/>
              </a:rPr>
              <a:t> </a:t>
            </a:r>
            <a:r>
              <a:rPr sz="1800" spc="-5" dirty="0">
                <a:solidFill>
                  <a:srgbClr val="464646"/>
                </a:solidFill>
                <a:latin typeface="Arial MT"/>
                <a:cs typeface="Arial MT"/>
              </a:rPr>
              <a:t>third</a:t>
            </a:r>
            <a:r>
              <a:rPr sz="1800" spc="-10" dirty="0">
                <a:solidFill>
                  <a:srgbClr val="464646"/>
                </a:solidFill>
                <a:latin typeface="Arial MT"/>
                <a:cs typeface="Arial MT"/>
              </a:rPr>
              <a:t> </a:t>
            </a:r>
            <a:r>
              <a:rPr sz="1800" spc="-5" dirty="0">
                <a:solidFill>
                  <a:srgbClr val="464646"/>
                </a:solidFill>
                <a:latin typeface="Arial MT"/>
                <a:cs typeface="Arial MT"/>
              </a:rPr>
              <a:t>party</a:t>
            </a:r>
            <a:r>
              <a:rPr sz="1800" spc="5" dirty="0">
                <a:solidFill>
                  <a:srgbClr val="464646"/>
                </a:solidFill>
                <a:latin typeface="Arial MT"/>
                <a:cs typeface="Arial MT"/>
              </a:rPr>
              <a:t> </a:t>
            </a:r>
            <a:r>
              <a:rPr sz="1800" spc="-5" dirty="0">
                <a:solidFill>
                  <a:srgbClr val="464646"/>
                </a:solidFill>
                <a:latin typeface="Arial MT"/>
                <a:cs typeface="Arial MT"/>
              </a:rPr>
              <a:t>customers</a:t>
            </a:r>
            <a:endParaRPr sz="1800">
              <a:latin typeface="Arial MT"/>
              <a:cs typeface="Arial M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3175" rIns="0" bIns="0" rtlCol="0">
            <a:spAutoFit/>
          </a:bodyPr>
          <a:lstStyle/>
          <a:p>
            <a:pPr marL="12700">
              <a:lnSpc>
                <a:spcPct val="100000"/>
              </a:lnSpc>
              <a:spcBef>
                <a:spcPts val="25"/>
              </a:spcBef>
            </a:pPr>
            <a:r>
              <a:rPr spc="-5" dirty="0"/>
              <a:t>Copyright</a:t>
            </a:r>
            <a:r>
              <a:rPr spc="20" dirty="0"/>
              <a:t> </a:t>
            </a:r>
            <a:r>
              <a:rPr dirty="0"/>
              <a:t>© </a:t>
            </a:r>
            <a:r>
              <a:rPr spc="-5" dirty="0"/>
              <a:t>2019</a:t>
            </a:r>
            <a:r>
              <a:rPr spc="25" dirty="0"/>
              <a:t> </a:t>
            </a:r>
            <a:r>
              <a:rPr spc="-5" dirty="0"/>
              <a:t>ChandraMohan</a:t>
            </a:r>
            <a:r>
              <a:rPr spc="45" dirty="0"/>
              <a:t> </a:t>
            </a:r>
            <a:r>
              <a:rPr dirty="0"/>
              <a:t>Lingam.</a:t>
            </a:r>
            <a:r>
              <a:rPr spc="-5" dirty="0"/>
              <a:t> </a:t>
            </a:r>
            <a:r>
              <a:rPr dirty="0"/>
              <a:t>All</a:t>
            </a:r>
            <a:r>
              <a:rPr spc="-5" dirty="0"/>
              <a:t> </a:t>
            </a:r>
            <a:r>
              <a:rPr dirty="0"/>
              <a:t>Rights </a:t>
            </a:r>
            <a:r>
              <a:rPr spc="-5" dirty="0"/>
              <a:t>Reserved.</a:t>
            </a:r>
          </a:p>
        </p:txBody>
      </p:sp>
      <p:sp>
        <p:nvSpPr>
          <p:cNvPr id="2" name="object 2"/>
          <p:cNvSpPr txBox="1">
            <a:spLocks noGrp="1"/>
          </p:cNvSpPr>
          <p:nvPr>
            <p:ph type="title"/>
          </p:nvPr>
        </p:nvSpPr>
        <p:spPr>
          <a:xfrm>
            <a:off x="415544" y="139065"/>
            <a:ext cx="2219325" cy="452120"/>
          </a:xfrm>
          <a:prstGeom prst="rect">
            <a:avLst/>
          </a:prstGeom>
        </p:spPr>
        <p:txBody>
          <a:bodyPr vert="horz" wrap="square" lIns="0" tIns="12065" rIns="0" bIns="0" rtlCol="0">
            <a:spAutoFit/>
          </a:bodyPr>
          <a:lstStyle/>
          <a:p>
            <a:pPr marL="12700">
              <a:lnSpc>
                <a:spcPct val="100000"/>
              </a:lnSpc>
              <a:spcBef>
                <a:spcPts val="95"/>
              </a:spcBef>
            </a:pPr>
            <a:r>
              <a:rPr spc="-5" dirty="0">
                <a:hlinkClick r:id="rId2"/>
              </a:rPr>
              <a:t>Access</a:t>
            </a:r>
            <a:r>
              <a:rPr spc="-55" dirty="0">
                <a:hlinkClick r:id="rId2"/>
              </a:rPr>
              <a:t> </a:t>
            </a:r>
            <a:r>
              <a:rPr spc="-5" dirty="0">
                <a:hlinkClick r:id="rId2"/>
              </a:rPr>
              <a:t>Logs</a:t>
            </a:r>
          </a:p>
        </p:txBody>
      </p:sp>
      <p:sp>
        <p:nvSpPr>
          <p:cNvPr id="3" name="object 3"/>
          <p:cNvSpPr txBox="1"/>
          <p:nvPr/>
        </p:nvSpPr>
        <p:spPr>
          <a:xfrm>
            <a:off x="449986" y="820673"/>
            <a:ext cx="8034020" cy="3903345"/>
          </a:xfrm>
          <a:prstGeom prst="rect">
            <a:avLst/>
          </a:prstGeom>
        </p:spPr>
        <p:txBody>
          <a:bodyPr vert="horz" wrap="square" lIns="0" tIns="12700" rIns="0" bIns="0" rtlCol="0">
            <a:spAutoFit/>
          </a:bodyPr>
          <a:lstStyle/>
          <a:p>
            <a:pPr marL="12700" marR="217170">
              <a:lnSpc>
                <a:spcPct val="100000"/>
              </a:lnSpc>
              <a:spcBef>
                <a:spcPts val="100"/>
              </a:spcBef>
            </a:pPr>
            <a:r>
              <a:rPr sz="2400" dirty="0">
                <a:solidFill>
                  <a:srgbClr val="4D4D4B"/>
                </a:solidFill>
                <a:latin typeface="Arial MT"/>
                <a:cs typeface="Arial MT"/>
              </a:rPr>
              <a:t>“Elastic</a:t>
            </a:r>
            <a:r>
              <a:rPr sz="2400" spc="-10" dirty="0">
                <a:solidFill>
                  <a:srgbClr val="4D4D4B"/>
                </a:solidFill>
                <a:latin typeface="Arial MT"/>
                <a:cs typeface="Arial MT"/>
              </a:rPr>
              <a:t> </a:t>
            </a:r>
            <a:r>
              <a:rPr sz="2400" spc="-5" dirty="0">
                <a:solidFill>
                  <a:srgbClr val="4D4D4B"/>
                </a:solidFill>
                <a:latin typeface="Arial MT"/>
                <a:cs typeface="Arial MT"/>
              </a:rPr>
              <a:t>Load</a:t>
            </a:r>
            <a:r>
              <a:rPr sz="2400" spc="15" dirty="0">
                <a:solidFill>
                  <a:srgbClr val="4D4D4B"/>
                </a:solidFill>
                <a:latin typeface="Arial MT"/>
                <a:cs typeface="Arial MT"/>
              </a:rPr>
              <a:t> </a:t>
            </a:r>
            <a:r>
              <a:rPr sz="2400" spc="-10" dirty="0">
                <a:solidFill>
                  <a:srgbClr val="4D4D4B"/>
                </a:solidFill>
                <a:latin typeface="Arial MT"/>
                <a:cs typeface="Arial MT"/>
              </a:rPr>
              <a:t>Balancing</a:t>
            </a:r>
            <a:r>
              <a:rPr sz="2400" spc="30" dirty="0">
                <a:solidFill>
                  <a:srgbClr val="4D4D4B"/>
                </a:solidFill>
                <a:latin typeface="Arial MT"/>
                <a:cs typeface="Arial MT"/>
              </a:rPr>
              <a:t> </a:t>
            </a:r>
            <a:r>
              <a:rPr sz="2400" spc="-5" dirty="0">
                <a:solidFill>
                  <a:srgbClr val="4D4D4B"/>
                </a:solidFill>
                <a:latin typeface="Arial MT"/>
                <a:cs typeface="Arial MT"/>
              </a:rPr>
              <a:t>provides</a:t>
            </a:r>
            <a:r>
              <a:rPr sz="2400" spc="5" dirty="0">
                <a:solidFill>
                  <a:srgbClr val="4D4D4B"/>
                </a:solidFill>
                <a:latin typeface="Arial MT"/>
                <a:cs typeface="Arial MT"/>
              </a:rPr>
              <a:t> </a:t>
            </a:r>
            <a:r>
              <a:rPr sz="2400" spc="-5" dirty="0">
                <a:solidFill>
                  <a:srgbClr val="4D4D4B"/>
                </a:solidFill>
                <a:latin typeface="Arial MT"/>
                <a:cs typeface="Arial MT"/>
              </a:rPr>
              <a:t>access</a:t>
            </a:r>
            <a:r>
              <a:rPr sz="2400" dirty="0">
                <a:solidFill>
                  <a:srgbClr val="4D4D4B"/>
                </a:solidFill>
                <a:latin typeface="Arial MT"/>
                <a:cs typeface="Arial MT"/>
              </a:rPr>
              <a:t> </a:t>
            </a:r>
            <a:r>
              <a:rPr sz="2400" spc="-5" dirty="0">
                <a:solidFill>
                  <a:srgbClr val="4D4D4B"/>
                </a:solidFill>
                <a:latin typeface="Arial MT"/>
                <a:cs typeface="Arial MT"/>
              </a:rPr>
              <a:t>logs</a:t>
            </a:r>
            <a:r>
              <a:rPr sz="2400" spc="-10" dirty="0">
                <a:solidFill>
                  <a:srgbClr val="4D4D4B"/>
                </a:solidFill>
                <a:latin typeface="Arial MT"/>
                <a:cs typeface="Arial MT"/>
              </a:rPr>
              <a:t> </a:t>
            </a:r>
            <a:r>
              <a:rPr sz="2400" spc="-5" dirty="0">
                <a:solidFill>
                  <a:srgbClr val="4D4D4B"/>
                </a:solidFill>
                <a:latin typeface="Arial MT"/>
                <a:cs typeface="Arial MT"/>
              </a:rPr>
              <a:t>that</a:t>
            </a:r>
            <a:r>
              <a:rPr sz="2400" spc="-15" dirty="0">
                <a:solidFill>
                  <a:srgbClr val="4D4D4B"/>
                </a:solidFill>
                <a:latin typeface="Arial MT"/>
                <a:cs typeface="Arial MT"/>
              </a:rPr>
              <a:t> </a:t>
            </a:r>
            <a:r>
              <a:rPr sz="2400" dirty="0">
                <a:solidFill>
                  <a:srgbClr val="4D4D4B"/>
                </a:solidFill>
                <a:latin typeface="Arial MT"/>
                <a:cs typeface="Arial MT"/>
              </a:rPr>
              <a:t>capture </a:t>
            </a:r>
            <a:r>
              <a:rPr sz="2400" spc="-655" dirty="0">
                <a:solidFill>
                  <a:srgbClr val="4D4D4B"/>
                </a:solidFill>
                <a:latin typeface="Arial MT"/>
                <a:cs typeface="Arial MT"/>
              </a:rPr>
              <a:t> </a:t>
            </a:r>
            <a:r>
              <a:rPr sz="2400" spc="-5" dirty="0">
                <a:solidFill>
                  <a:srgbClr val="4D4D4B"/>
                </a:solidFill>
                <a:latin typeface="Arial MT"/>
                <a:cs typeface="Arial MT"/>
              </a:rPr>
              <a:t>detailed</a:t>
            </a:r>
            <a:r>
              <a:rPr sz="2400" spc="20" dirty="0">
                <a:solidFill>
                  <a:srgbClr val="4D4D4B"/>
                </a:solidFill>
                <a:latin typeface="Arial MT"/>
                <a:cs typeface="Arial MT"/>
              </a:rPr>
              <a:t> </a:t>
            </a:r>
            <a:r>
              <a:rPr sz="2400" spc="-5" dirty="0">
                <a:solidFill>
                  <a:srgbClr val="4D4D4B"/>
                </a:solidFill>
                <a:latin typeface="Arial MT"/>
                <a:cs typeface="Arial MT"/>
              </a:rPr>
              <a:t>information</a:t>
            </a:r>
            <a:r>
              <a:rPr sz="2400" spc="5" dirty="0">
                <a:solidFill>
                  <a:srgbClr val="4D4D4B"/>
                </a:solidFill>
                <a:latin typeface="Arial MT"/>
                <a:cs typeface="Arial MT"/>
              </a:rPr>
              <a:t> </a:t>
            </a:r>
            <a:r>
              <a:rPr sz="2400" spc="-5" dirty="0">
                <a:solidFill>
                  <a:srgbClr val="4D4D4B"/>
                </a:solidFill>
                <a:latin typeface="Arial MT"/>
                <a:cs typeface="Arial MT"/>
              </a:rPr>
              <a:t>about</a:t>
            </a:r>
            <a:r>
              <a:rPr sz="2400" spc="10" dirty="0">
                <a:solidFill>
                  <a:srgbClr val="4D4D4B"/>
                </a:solidFill>
                <a:latin typeface="Arial MT"/>
                <a:cs typeface="Arial MT"/>
              </a:rPr>
              <a:t> </a:t>
            </a:r>
            <a:r>
              <a:rPr sz="2400" spc="-5" dirty="0">
                <a:solidFill>
                  <a:srgbClr val="4D4D4B"/>
                </a:solidFill>
                <a:latin typeface="Arial MT"/>
                <a:cs typeface="Arial MT"/>
              </a:rPr>
              <a:t>requests</a:t>
            </a:r>
            <a:r>
              <a:rPr sz="2400" dirty="0">
                <a:solidFill>
                  <a:srgbClr val="4D4D4B"/>
                </a:solidFill>
                <a:latin typeface="Arial MT"/>
                <a:cs typeface="Arial MT"/>
              </a:rPr>
              <a:t> sent</a:t>
            </a:r>
            <a:r>
              <a:rPr sz="2400" spc="10" dirty="0">
                <a:solidFill>
                  <a:srgbClr val="4D4D4B"/>
                </a:solidFill>
                <a:latin typeface="Arial MT"/>
                <a:cs typeface="Arial MT"/>
              </a:rPr>
              <a:t> </a:t>
            </a:r>
            <a:r>
              <a:rPr sz="2400" dirty="0">
                <a:solidFill>
                  <a:srgbClr val="4D4D4B"/>
                </a:solidFill>
                <a:latin typeface="Arial MT"/>
                <a:cs typeface="Arial MT"/>
              </a:rPr>
              <a:t>to </a:t>
            </a:r>
            <a:r>
              <a:rPr sz="2400" spc="-5" dirty="0">
                <a:solidFill>
                  <a:srgbClr val="4D4D4B"/>
                </a:solidFill>
                <a:latin typeface="Arial MT"/>
                <a:cs typeface="Arial MT"/>
              </a:rPr>
              <a:t>your</a:t>
            </a:r>
            <a:r>
              <a:rPr sz="2400" dirty="0">
                <a:solidFill>
                  <a:srgbClr val="4D4D4B"/>
                </a:solidFill>
                <a:latin typeface="Arial MT"/>
                <a:cs typeface="Arial MT"/>
              </a:rPr>
              <a:t> </a:t>
            </a:r>
            <a:r>
              <a:rPr sz="2400" spc="-5" dirty="0">
                <a:solidFill>
                  <a:srgbClr val="4D4D4B"/>
                </a:solidFill>
                <a:latin typeface="Arial MT"/>
                <a:cs typeface="Arial MT"/>
              </a:rPr>
              <a:t>load </a:t>
            </a:r>
            <a:r>
              <a:rPr sz="2400" dirty="0">
                <a:solidFill>
                  <a:srgbClr val="4D4D4B"/>
                </a:solidFill>
                <a:latin typeface="Arial MT"/>
                <a:cs typeface="Arial MT"/>
              </a:rPr>
              <a:t> </a:t>
            </a:r>
            <a:r>
              <a:rPr sz="2400" spc="-20" dirty="0">
                <a:solidFill>
                  <a:srgbClr val="4D4D4B"/>
                </a:solidFill>
                <a:latin typeface="Arial MT"/>
                <a:cs typeface="Arial MT"/>
              </a:rPr>
              <a:t>balancer.</a:t>
            </a:r>
            <a:endParaRPr sz="2400">
              <a:latin typeface="Arial MT"/>
              <a:cs typeface="Arial MT"/>
            </a:endParaRPr>
          </a:p>
          <a:p>
            <a:pPr marL="12700" marR="5080">
              <a:lnSpc>
                <a:spcPct val="100000"/>
              </a:lnSpc>
              <a:spcBef>
                <a:spcPts val="575"/>
              </a:spcBef>
            </a:pPr>
            <a:r>
              <a:rPr sz="2400" spc="-5" dirty="0">
                <a:solidFill>
                  <a:srgbClr val="4D4D4B"/>
                </a:solidFill>
                <a:latin typeface="Arial MT"/>
                <a:cs typeface="Arial MT"/>
              </a:rPr>
              <a:t>Each</a:t>
            </a:r>
            <a:r>
              <a:rPr sz="2400" spc="35" dirty="0">
                <a:solidFill>
                  <a:srgbClr val="4D4D4B"/>
                </a:solidFill>
                <a:latin typeface="Arial MT"/>
                <a:cs typeface="Arial MT"/>
              </a:rPr>
              <a:t> </a:t>
            </a:r>
            <a:r>
              <a:rPr sz="2400" spc="-5" dirty="0">
                <a:solidFill>
                  <a:srgbClr val="4D4D4B"/>
                </a:solidFill>
                <a:latin typeface="Arial MT"/>
                <a:cs typeface="Arial MT"/>
              </a:rPr>
              <a:t>log</a:t>
            </a:r>
            <a:r>
              <a:rPr sz="2400" spc="40" dirty="0">
                <a:solidFill>
                  <a:srgbClr val="4D4D4B"/>
                </a:solidFill>
                <a:latin typeface="Arial MT"/>
                <a:cs typeface="Arial MT"/>
              </a:rPr>
              <a:t> </a:t>
            </a:r>
            <a:r>
              <a:rPr sz="2400" spc="-5" dirty="0">
                <a:solidFill>
                  <a:srgbClr val="4D4D4B"/>
                </a:solidFill>
                <a:latin typeface="Arial MT"/>
                <a:cs typeface="Arial MT"/>
              </a:rPr>
              <a:t>contains</a:t>
            </a:r>
            <a:r>
              <a:rPr sz="2400" spc="45" dirty="0">
                <a:solidFill>
                  <a:srgbClr val="4D4D4B"/>
                </a:solidFill>
                <a:latin typeface="Arial MT"/>
                <a:cs typeface="Arial MT"/>
              </a:rPr>
              <a:t> </a:t>
            </a:r>
            <a:r>
              <a:rPr sz="2400" spc="-5" dirty="0">
                <a:solidFill>
                  <a:srgbClr val="4D4D4B"/>
                </a:solidFill>
                <a:latin typeface="Arial MT"/>
                <a:cs typeface="Arial MT"/>
              </a:rPr>
              <a:t>information</a:t>
            </a:r>
            <a:r>
              <a:rPr sz="2400" spc="45" dirty="0">
                <a:solidFill>
                  <a:srgbClr val="4D4D4B"/>
                </a:solidFill>
                <a:latin typeface="Arial MT"/>
                <a:cs typeface="Arial MT"/>
              </a:rPr>
              <a:t> </a:t>
            </a:r>
            <a:r>
              <a:rPr sz="2400" spc="-5" dirty="0">
                <a:solidFill>
                  <a:srgbClr val="4D4D4B"/>
                </a:solidFill>
                <a:latin typeface="Arial MT"/>
                <a:cs typeface="Arial MT"/>
              </a:rPr>
              <a:t>such</a:t>
            </a:r>
            <a:r>
              <a:rPr sz="2400" spc="35" dirty="0">
                <a:solidFill>
                  <a:srgbClr val="4D4D4B"/>
                </a:solidFill>
                <a:latin typeface="Arial MT"/>
                <a:cs typeface="Arial MT"/>
              </a:rPr>
              <a:t> </a:t>
            </a:r>
            <a:r>
              <a:rPr sz="2400" spc="-5" dirty="0">
                <a:solidFill>
                  <a:srgbClr val="4D4D4B"/>
                </a:solidFill>
                <a:latin typeface="Arial MT"/>
                <a:cs typeface="Arial MT"/>
              </a:rPr>
              <a:t>as</a:t>
            </a:r>
            <a:r>
              <a:rPr sz="2400" spc="35" dirty="0">
                <a:solidFill>
                  <a:srgbClr val="4D4D4B"/>
                </a:solidFill>
                <a:latin typeface="Arial MT"/>
                <a:cs typeface="Arial MT"/>
              </a:rPr>
              <a:t> </a:t>
            </a:r>
            <a:r>
              <a:rPr sz="2400" spc="-5" dirty="0">
                <a:solidFill>
                  <a:srgbClr val="4D4D4B"/>
                </a:solidFill>
                <a:latin typeface="Arial MT"/>
                <a:cs typeface="Arial MT"/>
              </a:rPr>
              <a:t>the</a:t>
            </a:r>
            <a:r>
              <a:rPr sz="2400" spc="45" dirty="0">
                <a:solidFill>
                  <a:srgbClr val="4D4D4B"/>
                </a:solidFill>
                <a:latin typeface="Arial MT"/>
                <a:cs typeface="Arial MT"/>
              </a:rPr>
              <a:t> </a:t>
            </a:r>
            <a:r>
              <a:rPr sz="2400" b="1" dirty="0">
                <a:solidFill>
                  <a:srgbClr val="4D4D4B"/>
                </a:solidFill>
                <a:latin typeface="Arial"/>
                <a:cs typeface="Arial"/>
              </a:rPr>
              <a:t>time</a:t>
            </a:r>
            <a:r>
              <a:rPr sz="2400" b="1" spc="35" dirty="0">
                <a:solidFill>
                  <a:srgbClr val="4D4D4B"/>
                </a:solidFill>
                <a:latin typeface="Arial"/>
                <a:cs typeface="Arial"/>
              </a:rPr>
              <a:t> </a:t>
            </a:r>
            <a:r>
              <a:rPr sz="2400" b="1" dirty="0">
                <a:solidFill>
                  <a:srgbClr val="4D4D4B"/>
                </a:solidFill>
                <a:latin typeface="Arial"/>
                <a:cs typeface="Arial"/>
              </a:rPr>
              <a:t>the </a:t>
            </a:r>
            <a:r>
              <a:rPr sz="2400" b="1" spc="5" dirty="0">
                <a:solidFill>
                  <a:srgbClr val="4D4D4B"/>
                </a:solidFill>
                <a:latin typeface="Arial"/>
                <a:cs typeface="Arial"/>
              </a:rPr>
              <a:t> </a:t>
            </a:r>
            <a:r>
              <a:rPr sz="2400" b="1" spc="-5" dirty="0">
                <a:solidFill>
                  <a:srgbClr val="4D4D4B"/>
                </a:solidFill>
                <a:latin typeface="Arial"/>
                <a:cs typeface="Arial"/>
              </a:rPr>
              <a:t>request </a:t>
            </a:r>
            <a:r>
              <a:rPr sz="2400" b="1" spc="10" dirty="0">
                <a:solidFill>
                  <a:srgbClr val="4D4D4B"/>
                </a:solidFill>
                <a:latin typeface="Arial"/>
                <a:cs typeface="Arial"/>
              </a:rPr>
              <a:t>was</a:t>
            </a:r>
            <a:r>
              <a:rPr sz="2400" b="1" spc="-40" dirty="0">
                <a:solidFill>
                  <a:srgbClr val="4D4D4B"/>
                </a:solidFill>
                <a:latin typeface="Arial"/>
                <a:cs typeface="Arial"/>
              </a:rPr>
              <a:t> </a:t>
            </a:r>
            <a:r>
              <a:rPr sz="2400" b="1" dirty="0">
                <a:solidFill>
                  <a:srgbClr val="4D4D4B"/>
                </a:solidFill>
                <a:latin typeface="Arial"/>
                <a:cs typeface="Arial"/>
              </a:rPr>
              <a:t>received, the</a:t>
            </a:r>
            <a:r>
              <a:rPr sz="2400" b="1" spc="-5" dirty="0">
                <a:solidFill>
                  <a:srgbClr val="4D4D4B"/>
                </a:solidFill>
                <a:latin typeface="Arial"/>
                <a:cs typeface="Arial"/>
              </a:rPr>
              <a:t> </a:t>
            </a:r>
            <a:r>
              <a:rPr sz="2400" b="1" dirty="0">
                <a:solidFill>
                  <a:srgbClr val="4D4D4B"/>
                </a:solidFill>
                <a:latin typeface="Arial"/>
                <a:cs typeface="Arial"/>
              </a:rPr>
              <a:t>client's</a:t>
            </a:r>
            <a:r>
              <a:rPr sz="2400" b="1" spc="-20" dirty="0">
                <a:solidFill>
                  <a:srgbClr val="4D4D4B"/>
                </a:solidFill>
                <a:latin typeface="Arial"/>
                <a:cs typeface="Arial"/>
              </a:rPr>
              <a:t> </a:t>
            </a:r>
            <a:r>
              <a:rPr sz="2400" b="1" dirty="0">
                <a:solidFill>
                  <a:srgbClr val="4D4D4B"/>
                </a:solidFill>
                <a:latin typeface="Arial"/>
                <a:cs typeface="Arial"/>
              </a:rPr>
              <a:t>IP</a:t>
            </a:r>
            <a:r>
              <a:rPr sz="2400" b="1" spc="-50" dirty="0">
                <a:solidFill>
                  <a:srgbClr val="4D4D4B"/>
                </a:solidFill>
                <a:latin typeface="Arial"/>
                <a:cs typeface="Arial"/>
              </a:rPr>
              <a:t> </a:t>
            </a:r>
            <a:r>
              <a:rPr sz="2400" b="1" spc="-5" dirty="0">
                <a:solidFill>
                  <a:srgbClr val="4D4D4B"/>
                </a:solidFill>
                <a:latin typeface="Arial"/>
                <a:cs typeface="Arial"/>
              </a:rPr>
              <a:t>address,</a:t>
            </a:r>
            <a:r>
              <a:rPr sz="2400" b="1" dirty="0">
                <a:solidFill>
                  <a:srgbClr val="4D4D4B"/>
                </a:solidFill>
                <a:latin typeface="Arial"/>
                <a:cs typeface="Arial"/>
              </a:rPr>
              <a:t> </a:t>
            </a:r>
            <a:r>
              <a:rPr sz="2400" b="1" spc="-5" dirty="0">
                <a:solidFill>
                  <a:srgbClr val="4D4D4B"/>
                </a:solidFill>
                <a:latin typeface="Arial"/>
                <a:cs typeface="Arial"/>
              </a:rPr>
              <a:t>latencies, </a:t>
            </a:r>
            <a:r>
              <a:rPr sz="2400" b="1" spc="-650" dirty="0">
                <a:solidFill>
                  <a:srgbClr val="4D4D4B"/>
                </a:solidFill>
                <a:latin typeface="Arial"/>
                <a:cs typeface="Arial"/>
              </a:rPr>
              <a:t> </a:t>
            </a:r>
            <a:r>
              <a:rPr sz="2400" b="1" spc="-5" dirty="0">
                <a:solidFill>
                  <a:srgbClr val="4D4D4B"/>
                </a:solidFill>
                <a:latin typeface="Arial"/>
                <a:cs typeface="Arial"/>
              </a:rPr>
              <a:t>request </a:t>
            </a:r>
            <a:r>
              <a:rPr sz="2400" b="1" dirty="0">
                <a:solidFill>
                  <a:srgbClr val="4D4D4B"/>
                </a:solidFill>
                <a:latin typeface="Arial"/>
                <a:cs typeface="Arial"/>
              </a:rPr>
              <a:t>paths,</a:t>
            </a:r>
            <a:r>
              <a:rPr sz="2400" b="1" spc="-10" dirty="0">
                <a:solidFill>
                  <a:srgbClr val="4D4D4B"/>
                </a:solidFill>
                <a:latin typeface="Arial"/>
                <a:cs typeface="Arial"/>
              </a:rPr>
              <a:t> </a:t>
            </a:r>
            <a:r>
              <a:rPr sz="2400" b="1" dirty="0">
                <a:solidFill>
                  <a:srgbClr val="4D4D4B"/>
                </a:solidFill>
                <a:latin typeface="Arial"/>
                <a:cs typeface="Arial"/>
              </a:rPr>
              <a:t>and</a:t>
            </a:r>
            <a:r>
              <a:rPr sz="2400" b="1" spc="-10" dirty="0">
                <a:solidFill>
                  <a:srgbClr val="4D4D4B"/>
                </a:solidFill>
                <a:latin typeface="Arial"/>
                <a:cs typeface="Arial"/>
              </a:rPr>
              <a:t> </a:t>
            </a:r>
            <a:r>
              <a:rPr sz="2400" b="1" spc="-5" dirty="0">
                <a:solidFill>
                  <a:srgbClr val="4D4D4B"/>
                </a:solidFill>
                <a:latin typeface="Arial"/>
                <a:cs typeface="Arial"/>
              </a:rPr>
              <a:t>server</a:t>
            </a:r>
            <a:r>
              <a:rPr sz="2400" b="1" spc="20" dirty="0">
                <a:solidFill>
                  <a:srgbClr val="4D4D4B"/>
                </a:solidFill>
                <a:latin typeface="Arial"/>
                <a:cs typeface="Arial"/>
              </a:rPr>
              <a:t> </a:t>
            </a:r>
            <a:r>
              <a:rPr sz="2400" b="1" spc="-5" dirty="0">
                <a:solidFill>
                  <a:srgbClr val="4D4D4B"/>
                </a:solidFill>
                <a:latin typeface="Arial"/>
                <a:cs typeface="Arial"/>
              </a:rPr>
              <a:t>responses</a:t>
            </a:r>
            <a:r>
              <a:rPr sz="2400" spc="-5" dirty="0">
                <a:solidFill>
                  <a:srgbClr val="4D4D4B"/>
                </a:solidFill>
                <a:latin typeface="Arial MT"/>
                <a:cs typeface="Arial MT"/>
              </a:rPr>
              <a:t>.</a:t>
            </a:r>
            <a:endParaRPr sz="2400">
              <a:latin typeface="Arial MT"/>
              <a:cs typeface="Arial MT"/>
            </a:endParaRPr>
          </a:p>
          <a:p>
            <a:pPr marL="12700" marR="354330">
              <a:lnSpc>
                <a:spcPct val="100000"/>
              </a:lnSpc>
              <a:spcBef>
                <a:spcPts val="580"/>
              </a:spcBef>
            </a:pPr>
            <a:r>
              <a:rPr sz="2400" spc="-80" dirty="0">
                <a:solidFill>
                  <a:srgbClr val="4D4D4B"/>
                </a:solidFill>
                <a:latin typeface="Arial MT"/>
                <a:cs typeface="Arial MT"/>
              </a:rPr>
              <a:t>You</a:t>
            </a:r>
            <a:r>
              <a:rPr sz="2400" dirty="0">
                <a:solidFill>
                  <a:srgbClr val="4D4D4B"/>
                </a:solidFill>
                <a:latin typeface="Arial MT"/>
                <a:cs typeface="Arial MT"/>
              </a:rPr>
              <a:t> </a:t>
            </a:r>
            <a:r>
              <a:rPr sz="2400" spc="-5" dirty="0">
                <a:solidFill>
                  <a:srgbClr val="4D4D4B"/>
                </a:solidFill>
                <a:latin typeface="Arial MT"/>
                <a:cs typeface="Arial MT"/>
              </a:rPr>
              <a:t>can</a:t>
            </a:r>
            <a:r>
              <a:rPr sz="2400" spc="5" dirty="0">
                <a:solidFill>
                  <a:srgbClr val="4D4D4B"/>
                </a:solidFill>
                <a:latin typeface="Arial MT"/>
                <a:cs typeface="Arial MT"/>
              </a:rPr>
              <a:t> </a:t>
            </a:r>
            <a:r>
              <a:rPr sz="2400" spc="-5" dirty="0">
                <a:solidFill>
                  <a:srgbClr val="4D4D4B"/>
                </a:solidFill>
                <a:latin typeface="Arial MT"/>
                <a:cs typeface="Arial MT"/>
              </a:rPr>
              <a:t>use</a:t>
            </a:r>
            <a:r>
              <a:rPr sz="2400" dirty="0">
                <a:solidFill>
                  <a:srgbClr val="4D4D4B"/>
                </a:solidFill>
                <a:latin typeface="Arial MT"/>
                <a:cs typeface="Arial MT"/>
              </a:rPr>
              <a:t> </a:t>
            </a:r>
            <a:r>
              <a:rPr sz="2400" spc="-5" dirty="0">
                <a:solidFill>
                  <a:srgbClr val="4D4D4B"/>
                </a:solidFill>
                <a:latin typeface="Arial MT"/>
                <a:cs typeface="Arial MT"/>
              </a:rPr>
              <a:t>these</a:t>
            </a:r>
            <a:r>
              <a:rPr sz="2400" spc="5" dirty="0">
                <a:solidFill>
                  <a:srgbClr val="4D4D4B"/>
                </a:solidFill>
                <a:latin typeface="Arial MT"/>
                <a:cs typeface="Arial MT"/>
              </a:rPr>
              <a:t> </a:t>
            </a:r>
            <a:r>
              <a:rPr sz="2400" dirty="0">
                <a:solidFill>
                  <a:srgbClr val="4D4D4B"/>
                </a:solidFill>
                <a:latin typeface="Arial MT"/>
                <a:cs typeface="Arial MT"/>
              </a:rPr>
              <a:t>access </a:t>
            </a:r>
            <a:r>
              <a:rPr sz="2400" spc="-5" dirty="0">
                <a:solidFill>
                  <a:srgbClr val="4D4D4B"/>
                </a:solidFill>
                <a:latin typeface="Arial MT"/>
                <a:cs typeface="Arial MT"/>
              </a:rPr>
              <a:t>logs</a:t>
            </a:r>
            <a:r>
              <a:rPr sz="2400" spc="10" dirty="0">
                <a:solidFill>
                  <a:srgbClr val="4D4D4B"/>
                </a:solidFill>
                <a:latin typeface="Arial MT"/>
                <a:cs typeface="Arial MT"/>
              </a:rPr>
              <a:t> </a:t>
            </a:r>
            <a:r>
              <a:rPr sz="2400" dirty="0">
                <a:solidFill>
                  <a:srgbClr val="4D4D4B"/>
                </a:solidFill>
                <a:latin typeface="Arial MT"/>
                <a:cs typeface="Arial MT"/>
              </a:rPr>
              <a:t>to </a:t>
            </a:r>
            <a:r>
              <a:rPr sz="2400" spc="-5" dirty="0">
                <a:solidFill>
                  <a:srgbClr val="4D4D4B"/>
                </a:solidFill>
                <a:latin typeface="Arial MT"/>
                <a:cs typeface="Arial MT"/>
              </a:rPr>
              <a:t>analyze</a:t>
            </a:r>
            <a:r>
              <a:rPr sz="2400" spc="25" dirty="0">
                <a:solidFill>
                  <a:srgbClr val="4D4D4B"/>
                </a:solidFill>
                <a:latin typeface="Arial MT"/>
                <a:cs typeface="Arial MT"/>
              </a:rPr>
              <a:t> </a:t>
            </a:r>
            <a:r>
              <a:rPr sz="2400" spc="-10" dirty="0">
                <a:solidFill>
                  <a:srgbClr val="4D4D4B"/>
                </a:solidFill>
                <a:latin typeface="Arial MT"/>
                <a:cs typeface="Arial MT"/>
              </a:rPr>
              <a:t>traffic</a:t>
            </a:r>
            <a:r>
              <a:rPr sz="2400" spc="-20" dirty="0">
                <a:solidFill>
                  <a:srgbClr val="4D4D4B"/>
                </a:solidFill>
                <a:latin typeface="Arial MT"/>
                <a:cs typeface="Arial MT"/>
              </a:rPr>
              <a:t> </a:t>
            </a:r>
            <a:r>
              <a:rPr sz="2400" dirty="0">
                <a:solidFill>
                  <a:srgbClr val="4D4D4B"/>
                </a:solidFill>
                <a:latin typeface="Arial MT"/>
                <a:cs typeface="Arial MT"/>
              </a:rPr>
              <a:t>patterns </a:t>
            </a:r>
            <a:r>
              <a:rPr sz="2400" spc="-650" dirty="0">
                <a:solidFill>
                  <a:srgbClr val="4D4D4B"/>
                </a:solidFill>
                <a:latin typeface="Arial MT"/>
                <a:cs typeface="Arial MT"/>
              </a:rPr>
              <a:t> </a:t>
            </a:r>
            <a:r>
              <a:rPr sz="2400" spc="-5" dirty="0">
                <a:solidFill>
                  <a:srgbClr val="4D4D4B"/>
                </a:solidFill>
                <a:latin typeface="Arial MT"/>
                <a:cs typeface="Arial MT"/>
              </a:rPr>
              <a:t>and</a:t>
            </a:r>
            <a:r>
              <a:rPr sz="2400" dirty="0">
                <a:solidFill>
                  <a:srgbClr val="4D4D4B"/>
                </a:solidFill>
                <a:latin typeface="Arial MT"/>
                <a:cs typeface="Arial MT"/>
              </a:rPr>
              <a:t> </a:t>
            </a:r>
            <a:r>
              <a:rPr sz="2400" spc="-5" dirty="0">
                <a:solidFill>
                  <a:srgbClr val="4D4D4B"/>
                </a:solidFill>
                <a:latin typeface="Arial MT"/>
                <a:cs typeface="Arial MT"/>
              </a:rPr>
              <a:t>troubleshoot</a:t>
            </a:r>
            <a:r>
              <a:rPr sz="2400" spc="15" dirty="0">
                <a:solidFill>
                  <a:srgbClr val="4D4D4B"/>
                </a:solidFill>
                <a:latin typeface="Arial MT"/>
                <a:cs typeface="Arial MT"/>
              </a:rPr>
              <a:t> </a:t>
            </a:r>
            <a:r>
              <a:rPr sz="2400" spc="-5" dirty="0">
                <a:solidFill>
                  <a:srgbClr val="4D4D4B"/>
                </a:solidFill>
                <a:latin typeface="Arial MT"/>
                <a:cs typeface="Arial MT"/>
              </a:rPr>
              <a:t>issues.”</a:t>
            </a:r>
            <a:endParaRPr sz="2400">
              <a:latin typeface="Arial MT"/>
              <a:cs typeface="Arial MT"/>
            </a:endParaRPr>
          </a:p>
          <a:p>
            <a:pPr marL="12700" marR="256540">
              <a:lnSpc>
                <a:spcPct val="100000"/>
              </a:lnSpc>
              <a:spcBef>
                <a:spcPts val="580"/>
              </a:spcBef>
            </a:pPr>
            <a:r>
              <a:rPr sz="2400" spc="-5" dirty="0">
                <a:solidFill>
                  <a:srgbClr val="4D4D4B"/>
                </a:solidFill>
                <a:latin typeface="Arial MT"/>
                <a:cs typeface="Arial MT"/>
              </a:rPr>
              <a:t>“</a:t>
            </a:r>
            <a:r>
              <a:rPr sz="2400" b="1" spc="-5" dirty="0">
                <a:solidFill>
                  <a:srgbClr val="4D4D4B"/>
                </a:solidFill>
                <a:latin typeface="Arial"/>
                <a:cs typeface="Arial"/>
              </a:rPr>
              <a:t>Access</a:t>
            </a:r>
            <a:r>
              <a:rPr sz="2400" b="1" spc="10" dirty="0">
                <a:solidFill>
                  <a:srgbClr val="4D4D4B"/>
                </a:solidFill>
                <a:latin typeface="Arial"/>
                <a:cs typeface="Arial"/>
              </a:rPr>
              <a:t> </a:t>
            </a:r>
            <a:r>
              <a:rPr sz="2400" b="1" dirty="0">
                <a:solidFill>
                  <a:srgbClr val="4D4D4B"/>
                </a:solidFill>
                <a:latin typeface="Arial"/>
                <a:cs typeface="Arial"/>
              </a:rPr>
              <a:t>logging</a:t>
            </a:r>
            <a:r>
              <a:rPr sz="2400" b="1" spc="-40" dirty="0">
                <a:solidFill>
                  <a:srgbClr val="4D4D4B"/>
                </a:solidFill>
                <a:latin typeface="Arial"/>
                <a:cs typeface="Arial"/>
              </a:rPr>
              <a:t> </a:t>
            </a:r>
            <a:r>
              <a:rPr sz="2400" b="1" dirty="0">
                <a:solidFill>
                  <a:srgbClr val="4D4D4B"/>
                </a:solidFill>
                <a:latin typeface="Arial"/>
                <a:cs typeface="Arial"/>
              </a:rPr>
              <a:t>is</a:t>
            </a:r>
            <a:r>
              <a:rPr sz="2400" b="1" spc="-5" dirty="0">
                <a:solidFill>
                  <a:srgbClr val="4D4D4B"/>
                </a:solidFill>
                <a:latin typeface="Arial"/>
                <a:cs typeface="Arial"/>
              </a:rPr>
              <a:t> </a:t>
            </a:r>
            <a:r>
              <a:rPr sz="2400" b="1" dirty="0">
                <a:solidFill>
                  <a:srgbClr val="4D4D4B"/>
                </a:solidFill>
                <a:latin typeface="Arial"/>
                <a:cs typeface="Arial"/>
              </a:rPr>
              <a:t>an</a:t>
            </a:r>
            <a:r>
              <a:rPr sz="2400" b="1" spc="-15" dirty="0">
                <a:solidFill>
                  <a:srgbClr val="4D4D4B"/>
                </a:solidFill>
                <a:latin typeface="Arial"/>
                <a:cs typeface="Arial"/>
              </a:rPr>
              <a:t> </a:t>
            </a:r>
            <a:r>
              <a:rPr sz="2400" b="1" dirty="0">
                <a:solidFill>
                  <a:srgbClr val="4D4D4B"/>
                </a:solidFill>
                <a:latin typeface="Arial"/>
                <a:cs typeface="Arial"/>
              </a:rPr>
              <a:t>optional</a:t>
            </a:r>
            <a:r>
              <a:rPr sz="2400" b="1" spc="-20" dirty="0">
                <a:solidFill>
                  <a:srgbClr val="4D4D4B"/>
                </a:solidFill>
                <a:latin typeface="Arial"/>
                <a:cs typeface="Arial"/>
              </a:rPr>
              <a:t> </a:t>
            </a:r>
            <a:r>
              <a:rPr sz="2400" b="1" dirty="0">
                <a:solidFill>
                  <a:srgbClr val="4D4D4B"/>
                </a:solidFill>
                <a:latin typeface="Arial"/>
                <a:cs typeface="Arial"/>
              </a:rPr>
              <a:t>feature</a:t>
            </a:r>
            <a:r>
              <a:rPr sz="2400" b="1" spc="-5" dirty="0">
                <a:solidFill>
                  <a:srgbClr val="4D4D4B"/>
                </a:solidFill>
                <a:latin typeface="Arial"/>
                <a:cs typeface="Arial"/>
              </a:rPr>
              <a:t> </a:t>
            </a:r>
            <a:r>
              <a:rPr sz="2400" b="1" dirty="0">
                <a:solidFill>
                  <a:srgbClr val="4D4D4B"/>
                </a:solidFill>
                <a:latin typeface="Arial"/>
                <a:cs typeface="Arial"/>
              </a:rPr>
              <a:t>of</a:t>
            </a:r>
            <a:r>
              <a:rPr sz="2400" b="1" spc="-20" dirty="0">
                <a:solidFill>
                  <a:srgbClr val="4D4D4B"/>
                </a:solidFill>
                <a:latin typeface="Arial"/>
                <a:cs typeface="Arial"/>
              </a:rPr>
              <a:t> </a:t>
            </a:r>
            <a:r>
              <a:rPr sz="2400" b="1" dirty="0">
                <a:solidFill>
                  <a:srgbClr val="4D4D4B"/>
                </a:solidFill>
                <a:latin typeface="Arial"/>
                <a:cs typeface="Arial"/>
              </a:rPr>
              <a:t>Elastic</a:t>
            </a:r>
            <a:r>
              <a:rPr sz="2400" b="1" spc="-5" dirty="0">
                <a:solidFill>
                  <a:srgbClr val="4D4D4B"/>
                </a:solidFill>
                <a:latin typeface="Arial"/>
                <a:cs typeface="Arial"/>
              </a:rPr>
              <a:t> </a:t>
            </a:r>
            <a:r>
              <a:rPr sz="2400" b="1" dirty="0">
                <a:solidFill>
                  <a:srgbClr val="4D4D4B"/>
                </a:solidFill>
                <a:latin typeface="Arial"/>
                <a:cs typeface="Arial"/>
              </a:rPr>
              <a:t>Load </a:t>
            </a:r>
            <a:r>
              <a:rPr sz="2400" b="1" spc="-650" dirty="0">
                <a:solidFill>
                  <a:srgbClr val="4D4D4B"/>
                </a:solidFill>
                <a:latin typeface="Arial"/>
                <a:cs typeface="Arial"/>
              </a:rPr>
              <a:t> </a:t>
            </a:r>
            <a:r>
              <a:rPr sz="2400" b="1" spc="-5" dirty="0">
                <a:solidFill>
                  <a:srgbClr val="4D4D4B"/>
                </a:solidFill>
                <a:latin typeface="Arial"/>
                <a:cs typeface="Arial"/>
              </a:rPr>
              <a:t>Balancing</a:t>
            </a:r>
            <a:r>
              <a:rPr sz="2400" b="1" spc="-15" dirty="0">
                <a:solidFill>
                  <a:srgbClr val="4D4D4B"/>
                </a:solidFill>
                <a:latin typeface="Arial"/>
                <a:cs typeface="Arial"/>
              </a:rPr>
              <a:t> </a:t>
            </a:r>
            <a:r>
              <a:rPr sz="2400" b="1" dirty="0">
                <a:solidFill>
                  <a:srgbClr val="4D4D4B"/>
                </a:solidFill>
                <a:latin typeface="Arial"/>
                <a:cs typeface="Arial"/>
              </a:rPr>
              <a:t>that is </a:t>
            </a:r>
            <a:r>
              <a:rPr sz="2400" b="1" spc="-5" dirty="0">
                <a:solidFill>
                  <a:srgbClr val="4D4D4B"/>
                </a:solidFill>
                <a:latin typeface="Arial"/>
                <a:cs typeface="Arial"/>
              </a:rPr>
              <a:t>disabled</a:t>
            </a:r>
            <a:r>
              <a:rPr sz="2400" b="1" spc="-10" dirty="0">
                <a:solidFill>
                  <a:srgbClr val="4D4D4B"/>
                </a:solidFill>
                <a:latin typeface="Arial"/>
                <a:cs typeface="Arial"/>
              </a:rPr>
              <a:t> </a:t>
            </a:r>
            <a:r>
              <a:rPr sz="2400" b="1" dirty="0">
                <a:solidFill>
                  <a:srgbClr val="4D4D4B"/>
                </a:solidFill>
                <a:latin typeface="Arial"/>
                <a:cs typeface="Arial"/>
              </a:rPr>
              <a:t>by</a:t>
            </a:r>
            <a:r>
              <a:rPr sz="2400" b="1" spc="-15" dirty="0">
                <a:solidFill>
                  <a:srgbClr val="4D4D4B"/>
                </a:solidFill>
                <a:latin typeface="Arial"/>
                <a:cs typeface="Arial"/>
              </a:rPr>
              <a:t> </a:t>
            </a:r>
            <a:r>
              <a:rPr sz="2400" b="1" dirty="0">
                <a:solidFill>
                  <a:srgbClr val="4D4D4B"/>
                </a:solidFill>
                <a:latin typeface="Arial"/>
                <a:cs typeface="Arial"/>
              </a:rPr>
              <a:t>default</a:t>
            </a:r>
            <a:r>
              <a:rPr sz="2400" dirty="0">
                <a:solidFill>
                  <a:srgbClr val="4D4D4B"/>
                </a:solidFill>
                <a:latin typeface="Arial MT"/>
                <a:cs typeface="Arial MT"/>
              </a:rPr>
              <a:t>.</a:t>
            </a:r>
            <a:endParaRPr sz="2400">
              <a:latin typeface="Arial MT"/>
              <a:cs typeface="Arial M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44" y="139065"/>
            <a:ext cx="3792854" cy="452120"/>
          </a:xfrm>
          <a:prstGeom prst="rect">
            <a:avLst/>
          </a:prstGeom>
        </p:spPr>
        <p:txBody>
          <a:bodyPr vert="horz" wrap="square" lIns="0" tIns="12065" rIns="0" bIns="0" rtlCol="0">
            <a:spAutoFit/>
          </a:bodyPr>
          <a:lstStyle/>
          <a:p>
            <a:pPr marL="12700">
              <a:lnSpc>
                <a:spcPct val="100000"/>
              </a:lnSpc>
              <a:spcBef>
                <a:spcPts val="95"/>
              </a:spcBef>
            </a:pPr>
            <a:r>
              <a:rPr u="none" spc="-5" dirty="0">
                <a:solidFill>
                  <a:srgbClr val="4D4D4B"/>
                </a:solidFill>
              </a:rPr>
              <a:t>Load</a:t>
            </a:r>
            <a:r>
              <a:rPr u="none" dirty="0">
                <a:solidFill>
                  <a:srgbClr val="4D4D4B"/>
                </a:solidFill>
              </a:rPr>
              <a:t> </a:t>
            </a:r>
            <a:r>
              <a:rPr u="none" spc="-5" dirty="0">
                <a:solidFill>
                  <a:srgbClr val="4D4D4B"/>
                </a:solidFill>
              </a:rPr>
              <a:t>Balancer</a:t>
            </a:r>
            <a:r>
              <a:rPr u="none" spc="15" dirty="0">
                <a:solidFill>
                  <a:srgbClr val="4D4D4B"/>
                </a:solidFill>
              </a:rPr>
              <a:t> </a:t>
            </a:r>
            <a:r>
              <a:rPr u="none" spc="-5" dirty="0">
                <a:solidFill>
                  <a:srgbClr val="4D4D4B"/>
                </a:solidFill>
              </a:rPr>
              <a:t>-</a:t>
            </a:r>
            <a:r>
              <a:rPr u="none" spc="-10" dirty="0">
                <a:solidFill>
                  <a:srgbClr val="4D4D4B"/>
                </a:solidFill>
              </a:rPr>
              <a:t> </a:t>
            </a:r>
            <a:r>
              <a:rPr u="none" spc="-55" dirty="0">
                <a:solidFill>
                  <a:srgbClr val="4D4D4B"/>
                </a:solidFill>
              </a:rPr>
              <a:t>Types</a:t>
            </a:r>
          </a:p>
        </p:txBody>
      </p:sp>
      <p:graphicFrame>
        <p:nvGraphicFramePr>
          <p:cNvPr id="3" name="object 3"/>
          <p:cNvGraphicFramePr>
            <a:graphicFrameLocks noGrp="1"/>
          </p:cNvGraphicFramePr>
          <p:nvPr/>
        </p:nvGraphicFramePr>
        <p:xfrm>
          <a:off x="330441" y="697356"/>
          <a:ext cx="8531225" cy="4175200"/>
        </p:xfrm>
        <a:graphic>
          <a:graphicData uri="http://schemas.openxmlformats.org/drawingml/2006/table">
            <a:tbl>
              <a:tblPr firstRow="1" bandRow="1">
                <a:tableStyleId>{2D5ABB26-0587-4C30-8999-92F81FD0307C}</a:tableStyleId>
              </a:tblPr>
              <a:tblGrid>
                <a:gridCol w="2202815">
                  <a:extLst>
                    <a:ext uri="{9D8B030D-6E8A-4147-A177-3AD203B41FA5}">
                      <a16:colId xmlns:a16="http://schemas.microsoft.com/office/drawing/2014/main" val="20000"/>
                    </a:ext>
                  </a:extLst>
                </a:gridCol>
                <a:gridCol w="6328410">
                  <a:extLst>
                    <a:ext uri="{9D8B030D-6E8A-4147-A177-3AD203B41FA5}">
                      <a16:colId xmlns:a16="http://schemas.microsoft.com/office/drawing/2014/main" val="20001"/>
                    </a:ext>
                  </a:extLst>
                </a:gridCol>
              </a:tblGrid>
              <a:tr h="609091">
                <a:tc>
                  <a:txBody>
                    <a:bodyPr/>
                    <a:lstStyle/>
                    <a:p>
                      <a:pPr algn="ctr">
                        <a:lnSpc>
                          <a:spcPct val="100000"/>
                        </a:lnSpc>
                        <a:spcBef>
                          <a:spcPts val="315"/>
                        </a:spcBef>
                      </a:pPr>
                      <a:r>
                        <a:rPr sz="1800" b="1" dirty="0">
                          <a:solidFill>
                            <a:srgbClr val="FFFFFF"/>
                          </a:solidFill>
                          <a:latin typeface="Arial"/>
                          <a:cs typeface="Arial"/>
                        </a:rPr>
                        <a:t>Load</a:t>
                      </a:r>
                      <a:r>
                        <a:rPr sz="1800" b="1" spc="-45" dirty="0">
                          <a:solidFill>
                            <a:srgbClr val="FFFFFF"/>
                          </a:solidFill>
                          <a:latin typeface="Arial"/>
                          <a:cs typeface="Arial"/>
                        </a:rPr>
                        <a:t> </a:t>
                      </a:r>
                      <a:r>
                        <a:rPr sz="1800" b="1" spc="-5" dirty="0">
                          <a:solidFill>
                            <a:srgbClr val="FFFFFF"/>
                          </a:solidFill>
                          <a:latin typeface="Arial"/>
                          <a:cs typeface="Arial"/>
                        </a:rPr>
                        <a:t>Balancer</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C67AD"/>
                    </a:solidFill>
                  </a:tcPr>
                </a:tc>
                <a:tc>
                  <a:txBody>
                    <a:bodyPr/>
                    <a:lstStyle/>
                    <a:p>
                      <a:pPr marL="1270" algn="ctr">
                        <a:lnSpc>
                          <a:spcPct val="100000"/>
                        </a:lnSpc>
                        <a:spcBef>
                          <a:spcPts val="315"/>
                        </a:spcBef>
                      </a:pPr>
                      <a:r>
                        <a:rPr sz="1800" b="1" spc="-5" dirty="0">
                          <a:solidFill>
                            <a:srgbClr val="FFFFFF"/>
                          </a:solidFill>
                          <a:latin typeface="Arial"/>
                          <a:cs typeface="Arial"/>
                        </a:rPr>
                        <a:t>Use</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C67AD"/>
                    </a:solidFill>
                  </a:tcPr>
                </a:tc>
                <a:extLst>
                  <a:ext uri="{0D108BD9-81ED-4DB2-BD59-A6C34878D82A}">
                    <a16:rowId xmlns:a16="http://schemas.microsoft.com/office/drawing/2014/main" val="10000"/>
                  </a:ext>
                </a:extLst>
              </a:tr>
              <a:tr h="1188720">
                <a:tc>
                  <a:txBody>
                    <a:bodyPr/>
                    <a:lstStyle/>
                    <a:p>
                      <a:pPr algn="ctr">
                        <a:lnSpc>
                          <a:spcPct val="100000"/>
                        </a:lnSpc>
                        <a:spcBef>
                          <a:spcPts val="315"/>
                        </a:spcBef>
                      </a:pPr>
                      <a:r>
                        <a:rPr sz="1800" spc="-5" dirty="0">
                          <a:solidFill>
                            <a:srgbClr val="464646"/>
                          </a:solidFill>
                          <a:latin typeface="Arial MT"/>
                          <a:cs typeface="Arial MT"/>
                        </a:rPr>
                        <a:t>Classic</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E2"/>
                    </a:solidFill>
                  </a:tcPr>
                </a:tc>
                <a:tc>
                  <a:txBody>
                    <a:bodyPr/>
                    <a:lstStyle/>
                    <a:p>
                      <a:pPr marL="377825" indent="-287020">
                        <a:lnSpc>
                          <a:spcPct val="100000"/>
                        </a:lnSpc>
                        <a:spcBef>
                          <a:spcPts val="315"/>
                        </a:spcBef>
                        <a:buChar char="•"/>
                        <a:tabLst>
                          <a:tab pos="377825" algn="l"/>
                          <a:tab pos="378460" algn="l"/>
                        </a:tabLst>
                      </a:pPr>
                      <a:r>
                        <a:rPr sz="1800" spc="-5" dirty="0">
                          <a:solidFill>
                            <a:srgbClr val="464646"/>
                          </a:solidFill>
                          <a:latin typeface="Arial MT"/>
                          <a:cs typeface="Arial MT"/>
                        </a:rPr>
                        <a:t>Basic</a:t>
                      </a:r>
                      <a:r>
                        <a:rPr sz="1800" spc="-10" dirty="0">
                          <a:solidFill>
                            <a:srgbClr val="464646"/>
                          </a:solidFill>
                          <a:latin typeface="Arial MT"/>
                          <a:cs typeface="Arial MT"/>
                        </a:rPr>
                        <a:t> </a:t>
                      </a:r>
                      <a:r>
                        <a:rPr sz="1800" spc="-5" dirty="0">
                          <a:solidFill>
                            <a:srgbClr val="464646"/>
                          </a:solidFill>
                          <a:latin typeface="Arial MT"/>
                          <a:cs typeface="Arial MT"/>
                        </a:rPr>
                        <a:t>load</a:t>
                      </a:r>
                      <a:r>
                        <a:rPr sz="1800" spc="10" dirty="0">
                          <a:solidFill>
                            <a:srgbClr val="464646"/>
                          </a:solidFill>
                          <a:latin typeface="Arial MT"/>
                          <a:cs typeface="Arial MT"/>
                        </a:rPr>
                        <a:t> </a:t>
                      </a:r>
                      <a:r>
                        <a:rPr sz="1800" spc="-10" dirty="0">
                          <a:solidFill>
                            <a:srgbClr val="464646"/>
                          </a:solidFill>
                          <a:latin typeface="Arial MT"/>
                          <a:cs typeface="Arial MT"/>
                        </a:rPr>
                        <a:t>balancing</a:t>
                      </a:r>
                      <a:r>
                        <a:rPr sz="1800" spc="30" dirty="0">
                          <a:solidFill>
                            <a:srgbClr val="464646"/>
                          </a:solidFill>
                          <a:latin typeface="Arial MT"/>
                          <a:cs typeface="Arial MT"/>
                        </a:rPr>
                        <a:t> </a:t>
                      </a:r>
                      <a:r>
                        <a:rPr sz="1800" spc="-5" dirty="0">
                          <a:solidFill>
                            <a:srgbClr val="464646"/>
                          </a:solidFill>
                          <a:latin typeface="Arial MT"/>
                          <a:cs typeface="Arial MT"/>
                        </a:rPr>
                        <a:t>across</a:t>
                      </a:r>
                      <a:r>
                        <a:rPr sz="1800" spc="5" dirty="0">
                          <a:solidFill>
                            <a:srgbClr val="464646"/>
                          </a:solidFill>
                          <a:latin typeface="Arial MT"/>
                          <a:cs typeface="Arial MT"/>
                        </a:rPr>
                        <a:t> </a:t>
                      </a:r>
                      <a:r>
                        <a:rPr sz="1800" spc="-5" dirty="0">
                          <a:solidFill>
                            <a:srgbClr val="464646"/>
                          </a:solidFill>
                          <a:latin typeface="Arial MT"/>
                          <a:cs typeface="Arial MT"/>
                        </a:rPr>
                        <a:t>multiple</a:t>
                      </a:r>
                      <a:r>
                        <a:rPr sz="1800" spc="5" dirty="0">
                          <a:solidFill>
                            <a:srgbClr val="464646"/>
                          </a:solidFill>
                          <a:latin typeface="Arial MT"/>
                          <a:cs typeface="Arial MT"/>
                        </a:rPr>
                        <a:t> </a:t>
                      </a:r>
                      <a:r>
                        <a:rPr sz="1800" spc="-5" dirty="0">
                          <a:solidFill>
                            <a:srgbClr val="464646"/>
                          </a:solidFill>
                          <a:latin typeface="Arial MT"/>
                          <a:cs typeface="Arial MT"/>
                        </a:rPr>
                        <a:t>EC2</a:t>
                      </a:r>
                      <a:r>
                        <a:rPr sz="1800" spc="5" dirty="0">
                          <a:solidFill>
                            <a:srgbClr val="464646"/>
                          </a:solidFill>
                          <a:latin typeface="Arial MT"/>
                          <a:cs typeface="Arial MT"/>
                        </a:rPr>
                        <a:t> </a:t>
                      </a:r>
                      <a:r>
                        <a:rPr sz="1800" spc="-5" dirty="0">
                          <a:solidFill>
                            <a:srgbClr val="464646"/>
                          </a:solidFill>
                          <a:latin typeface="Arial MT"/>
                          <a:cs typeface="Arial MT"/>
                        </a:rPr>
                        <a:t>instances</a:t>
                      </a:r>
                      <a:endParaRPr sz="1800">
                        <a:latin typeface="Arial MT"/>
                        <a:cs typeface="Arial MT"/>
                      </a:endParaRPr>
                    </a:p>
                    <a:p>
                      <a:pPr marL="377825" indent="-287020">
                        <a:lnSpc>
                          <a:spcPct val="100000"/>
                        </a:lnSpc>
                        <a:buChar char="•"/>
                        <a:tabLst>
                          <a:tab pos="377825" algn="l"/>
                          <a:tab pos="378460" algn="l"/>
                        </a:tabLst>
                      </a:pPr>
                      <a:r>
                        <a:rPr sz="1800" dirty="0">
                          <a:solidFill>
                            <a:srgbClr val="464646"/>
                          </a:solidFill>
                          <a:latin typeface="Arial MT"/>
                          <a:cs typeface="Arial MT"/>
                        </a:rPr>
                        <a:t>HTTP(S)</a:t>
                      </a:r>
                      <a:r>
                        <a:rPr sz="1800" spc="-50" dirty="0">
                          <a:solidFill>
                            <a:srgbClr val="464646"/>
                          </a:solidFill>
                          <a:latin typeface="Arial MT"/>
                          <a:cs typeface="Arial MT"/>
                        </a:rPr>
                        <a:t> </a:t>
                      </a:r>
                      <a:r>
                        <a:rPr sz="1800" spc="-5" dirty="0">
                          <a:solidFill>
                            <a:srgbClr val="464646"/>
                          </a:solidFill>
                          <a:latin typeface="Arial MT"/>
                          <a:cs typeface="Arial MT"/>
                        </a:rPr>
                        <a:t>and</a:t>
                      </a:r>
                      <a:r>
                        <a:rPr sz="1800" spc="-35" dirty="0">
                          <a:solidFill>
                            <a:srgbClr val="464646"/>
                          </a:solidFill>
                          <a:latin typeface="Arial MT"/>
                          <a:cs typeface="Arial MT"/>
                        </a:rPr>
                        <a:t> </a:t>
                      </a:r>
                      <a:r>
                        <a:rPr sz="1800" dirty="0">
                          <a:solidFill>
                            <a:srgbClr val="464646"/>
                          </a:solidFill>
                          <a:latin typeface="Arial MT"/>
                          <a:cs typeface="Arial MT"/>
                        </a:rPr>
                        <a:t>TCP</a:t>
                      </a:r>
                      <a:r>
                        <a:rPr sz="1800" spc="-65" dirty="0">
                          <a:solidFill>
                            <a:srgbClr val="464646"/>
                          </a:solidFill>
                          <a:latin typeface="Arial MT"/>
                          <a:cs typeface="Arial MT"/>
                        </a:rPr>
                        <a:t> </a:t>
                      </a:r>
                      <a:r>
                        <a:rPr sz="1800" spc="-5" dirty="0">
                          <a:solidFill>
                            <a:srgbClr val="464646"/>
                          </a:solidFill>
                          <a:latin typeface="Arial MT"/>
                          <a:cs typeface="Arial MT"/>
                        </a:rPr>
                        <a:t>Support</a:t>
                      </a:r>
                      <a:endParaRPr sz="1800">
                        <a:latin typeface="Arial MT"/>
                        <a:cs typeface="Arial MT"/>
                      </a:endParaRPr>
                    </a:p>
                    <a:p>
                      <a:pPr marL="377825" marR="431800" indent="-287020">
                        <a:lnSpc>
                          <a:spcPct val="100000"/>
                        </a:lnSpc>
                        <a:buChar char="•"/>
                        <a:tabLst>
                          <a:tab pos="377825" algn="l"/>
                          <a:tab pos="378460" algn="l"/>
                        </a:tabLst>
                      </a:pPr>
                      <a:r>
                        <a:rPr sz="1800" spc="-5" dirty="0">
                          <a:solidFill>
                            <a:srgbClr val="464646"/>
                          </a:solidFill>
                          <a:latin typeface="Arial MT"/>
                          <a:cs typeface="Arial MT"/>
                        </a:rPr>
                        <a:t>Recommended</a:t>
                      </a:r>
                      <a:r>
                        <a:rPr sz="1800" spc="10" dirty="0">
                          <a:solidFill>
                            <a:srgbClr val="464646"/>
                          </a:solidFill>
                          <a:latin typeface="Arial MT"/>
                          <a:cs typeface="Arial MT"/>
                        </a:rPr>
                        <a:t> </a:t>
                      </a:r>
                      <a:r>
                        <a:rPr sz="1800" dirty="0">
                          <a:solidFill>
                            <a:srgbClr val="464646"/>
                          </a:solidFill>
                          <a:latin typeface="Arial MT"/>
                          <a:cs typeface="Arial MT"/>
                        </a:rPr>
                        <a:t>for </a:t>
                      </a:r>
                      <a:r>
                        <a:rPr sz="1800" spc="-5" dirty="0">
                          <a:solidFill>
                            <a:srgbClr val="464646"/>
                          </a:solidFill>
                          <a:latin typeface="Arial MT"/>
                          <a:cs typeface="Arial MT"/>
                        </a:rPr>
                        <a:t>legacy</a:t>
                      </a:r>
                      <a:r>
                        <a:rPr sz="1800" spc="10" dirty="0">
                          <a:solidFill>
                            <a:srgbClr val="464646"/>
                          </a:solidFill>
                          <a:latin typeface="Arial MT"/>
                          <a:cs typeface="Arial MT"/>
                        </a:rPr>
                        <a:t> </a:t>
                      </a:r>
                      <a:r>
                        <a:rPr sz="1800" spc="-5" dirty="0">
                          <a:solidFill>
                            <a:srgbClr val="464646"/>
                          </a:solidFill>
                          <a:latin typeface="Arial MT"/>
                          <a:cs typeface="Arial MT"/>
                        </a:rPr>
                        <a:t>applications</a:t>
                      </a:r>
                      <a:r>
                        <a:rPr sz="1800" spc="20" dirty="0">
                          <a:solidFill>
                            <a:srgbClr val="464646"/>
                          </a:solidFill>
                          <a:latin typeface="Arial MT"/>
                          <a:cs typeface="Arial MT"/>
                        </a:rPr>
                        <a:t> </a:t>
                      </a:r>
                      <a:r>
                        <a:rPr sz="1800" spc="-5" dirty="0">
                          <a:solidFill>
                            <a:srgbClr val="464646"/>
                          </a:solidFill>
                          <a:latin typeface="Arial MT"/>
                          <a:cs typeface="Arial MT"/>
                        </a:rPr>
                        <a:t>on</a:t>
                      </a:r>
                      <a:r>
                        <a:rPr sz="1800" spc="5" dirty="0">
                          <a:solidFill>
                            <a:srgbClr val="464646"/>
                          </a:solidFill>
                          <a:latin typeface="Arial MT"/>
                          <a:cs typeface="Arial MT"/>
                        </a:rPr>
                        <a:t> </a:t>
                      </a:r>
                      <a:r>
                        <a:rPr sz="1800" spc="-5" dirty="0">
                          <a:solidFill>
                            <a:srgbClr val="464646"/>
                          </a:solidFill>
                          <a:latin typeface="Arial MT"/>
                          <a:cs typeface="Arial MT"/>
                        </a:rPr>
                        <a:t>EC2-Classic </a:t>
                      </a:r>
                      <a:r>
                        <a:rPr sz="1800" spc="-484" dirty="0">
                          <a:solidFill>
                            <a:srgbClr val="464646"/>
                          </a:solidFill>
                          <a:latin typeface="Arial MT"/>
                          <a:cs typeface="Arial MT"/>
                        </a:rPr>
                        <a:t> </a:t>
                      </a:r>
                      <a:r>
                        <a:rPr sz="1800" spc="-10" dirty="0">
                          <a:solidFill>
                            <a:srgbClr val="464646"/>
                          </a:solidFill>
                          <a:latin typeface="Arial MT"/>
                          <a:cs typeface="Arial MT"/>
                        </a:rPr>
                        <a:t>network</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2E2"/>
                    </a:solidFill>
                  </a:tcPr>
                </a:tc>
                <a:extLst>
                  <a:ext uri="{0D108BD9-81ED-4DB2-BD59-A6C34878D82A}">
                    <a16:rowId xmlns:a16="http://schemas.microsoft.com/office/drawing/2014/main" val="10001"/>
                  </a:ext>
                </a:extLst>
              </a:tr>
              <a:tr h="1188720">
                <a:tc>
                  <a:txBody>
                    <a:bodyPr/>
                    <a:lstStyle/>
                    <a:p>
                      <a:pPr marL="635" algn="ctr">
                        <a:lnSpc>
                          <a:spcPct val="100000"/>
                        </a:lnSpc>
                        <a:spcBef>
                          <a:spcPts val="320"/>
                        </a:spcBef>
                      </a:pPr>
                      <a:r>
                        <a:rPr sz="1800" spc="-5" dirty="0">
                          <a:solidFill>
                            <a:srgbClr val="464646"/>
                          </a:solidFill>
                          <a:latin typeface="Arial MT"/>
                          <a:cs typeface="Arial MT"/>
                        </a:rPr>
                        <a:t>Application</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1"/>
                    </a:solidFill>
                  </a:tcPr>
                </a:tc>
                <a:tc>
                  <a:txBody>
                    <a:bodyPr/>
                    <a:lstStyle/>
                    <a:p>
                      <a:pPr marL="377825" marR="978535" indent="-287020">
                        <a:lnSpc>
                          <a:spcPct val="100000"/>
                        </a:lnSpc>
                        <a:spcBef>
                          <a:spcPts val="320"/>
                        </a:spcBef>
                        <a:buChar char="•"/>
                        <a:tabLst>
                          <a:tab pos="377825" algn="l"/>
                          <a:tab pos="378460" algn="l"/>
                        </a:tabLst>
                      </a:pPr>
                      <a:r>
                        <a:rPr sz="1800" spc="-5" dirty="0">
                          <a:solidFill>
                            <a:srgbClr val="464646"/>
                          </a:solidFill>
                          <a:latin typeface="Arial MT"/>
                          <a:cs typeface="Arial MT"/>
                        </a:rPr>
                        <a:t>Load</a:t>
                      </a:r>
                      <a:r>
                        <a:rPr sz="1800" spc="5" dirty="0">
                          <a:solidFill>
                            <a:srgbClr val="464646"/>
                          </a:solidFill>
                          <a:latin typeface="Arial MT"/>
                          <a:cs typeface="Arial MT"/>
                        </a:rPr>
                        <a:t> </a:t>
                      </a:r>
                      <a:r>
                        <a:rPr sz="1800" spc="-5" dirty="0">
                          <a:solidFill>
                            <a:srgbClr val="464646"/>
                          </a:solidFill>
                          <a:latin typeface="Arial MT"/>
                          <a:cs typeface="Arial MT"/>
                        </a:rPr>
                        <a:t>Balance</a:t>
                      </a:r>
                      <a:r>
                        <a:rPr sz="1800" spc="5" dirty="0">
                          <a:solidFill>
                            <a:srgbClr val="464646"/>
                          </a:solidFill>
                          <a:latin typeface="Arial MT"/>
                          <a:cs typeface="Arial MT"/>
                        </a:rPr>
                        <a:t> </a:t>
                      </a:r>
                      <a:r>
                        <a:rPr sz="1800" spc="-5" dirty="0">
                          <a:solidFill>
                            <a:srgbClr val="464646"/>
                          </a:solidFill>
                          <a:latin typeface="Arial MT"/>
                          <a:cs typeface="Arial MT"/>
                        </a:rPr>
                        <a:t>across</a:t>
                      </a:r>
                      <a:r>
                        <a:rPr sz="1800" spc="15" dirty="0">
                          <a:solidFill>
                            <a:srgbClr val="464646"/>
                          </a:solidFill>
                          <a:latin typeface="Arial MT"/>
                          <a:cs typeface="Arial MT"/>
                        </a:rPr>
                        <a:t> </a:t>
                      </a:r>
                      <a:r>
                        <a:rPr sz="1800" spc="-5" dirty="0">
                          <a:solidFill>
                            <a:srgbClr val="464646"/>
                          </a:solidFill>
                          <a:latin typeface="Arial MT"/>
                          <a:cs typeface="Arial MT"/>
                        </a:rPr>
                        <a:t>EC2</a:t>
                      </a:r>
                      <a:r>
                        <a:rPr sz="1800" spc="-10" dirty="0">
                          <a:solidFill>
                            <a:srgbClr val="464646"/>
                          </a:solidFill>
                          <a:latin typeface="Arial MT"/>
                          <a:cs typeface="Arial MT"/>
                        </a:rPr>
                        <a:t> </a:t>
                      </a:r>
                      <a:r>
                        <a:rPr sz="1800" spc="-5" dirty="0">
                          <a:solidFill>
                            <a:srgbClr val="464646"/>
                          </a:solidFill>
                          <a:latin typeface="Arial MT"/>
                          <a:cs typeface="Arial MT"/>
                        </a:rPr>
                        <a:t>instances,</a:t>
                      </a:r>
                      <a:r>
                        <a:rPr sz="1800" spc="15" dirty="0">
                          <a:solidFill>
                            <a:srgbClr val="464646"/>
                          </a:solidFill>
                          <a:latin typeface="Arial MT"/>
                          <a:cs typeface="Arial MT"/>
                        </a:rPr>
                        <a:t> </a:t>
                      </a:r>
                      <a:r>
                        <a:rPr sz="1800" spc="-5" dirty="0">
                          <a:solidFill>
                            <a:srgbClr val="464646"/>
                          </a:solidFill>
                          <a:latin typeface="Arial MT"/>
                          <a:cs typeface="Arial MT"/>
                        </a:rPr>
                        <a:t>Containers, </a:t>
                      </a:r>
                      <a:r>
                        <a:rPr sz="1800" spc="-484" dirty="0">
                          <a:solidFill>
                            <a:srgbClr val="464646"/>
                          </a:solidFill>
                          <a:latin typeface="Arial MT"/>
                          <a:cs typeface="Arial MT"/>
                        </a:rPr>
                        <a:t> </a:t>
                      </a:r>
                      <a:r>
                        <a:rPr sz="1800" spc="-5" dirty="0">
                          <a:solidFill>
                            <a:srgbClr val="464646"/>
                          </a:solidFill>
                          <a:latin typeface="Arial MT"/>
                          <a:cs typeface="Arial MT"/>
                        </a:rPr>
                        <a:t>Lambda,</a:t>
                      </a:r>
                      <a:r>
                        <a:rPr sz="1800" spc="5" dirty="0">
                          <a:solidFill>
                            <a:srgbClr val="464646"/>
                          </a:solidFill>
                          <a:latin typeface="Arial MT"/>
                          <a:cs typeface="Arial MT"/>
                        </a:rPr>
                        <a:t> </a:t>
                      </a:r>
                      <a:r>
                        <a:rPr sz="1800" spc="-5" dirty="0">
                          <a:solidFill>
                            <a:srgbClr val="464646"/>
                          </a:solidFill>
                          <a:latin typeface="Arial MT"/>
                          <a:cs typeface="Arial MT"/>
                        </a:rPr>
                        <a:t>and</a:t>
                      </a:r>
                      <a:r>
                        <a:rPr sz="1800" spc="5" dirty="0">
                          <a:solidFill>
                            <a:srgbClr val="464646"/>
                          </a:solidFill>
                          <a:latin typeface="Arial MT"/>
                          <a:cs typeface="Arial MT"/>
                        </a:rPr>
                        <a:t> </a:t>
                      </a:r>
                      <a:r>
                        <a:rPr sz="1800" spc="-10" dirty="0">
                          <a:solidFill>
                            <a:srgbClr val="464646"/>
                          </a:solidFill>
                          <a:latin typeface="Arial MT"/>
                          <a:cs typeface="Arial MT"/>
                        </a:rPr>
                        <a:t>Hybrid</a:t>
                      </a:r>
                      <a:r>
                        <a:rPr sz="1800" spc="30" dirty="0">
                          <a:solidFill>
                            <a:srgbClr val="464646"/>
                          </a:solidFill>
                          <a:latin typeface="Arial MT"/>
                          <a:cs typeface="Arial MT"/>
                        </a:rPr>
                        <a:t> </a:t>
                      </a:r>
                      <a:r>
                        <a:rPr sz="1800" spc="-5" dirty="0">
                          <a:solidFill>
                            <a:srgbClr val="464646"/>
                          </a:solidFill>
                          <a:latin typeface="Arial MT"/>
                          <a:cs typeface="Arial MT"/>
                        </a:rPr>
                        <a:t>infrastructure</a:t>
                      </a:r>
                      <a:endParaRPr sz="1800">
                        <a:latin typeface="Arial MT"/>
                        <a:cs typeface="Arial MT"/>
                      </a:endParaRPr>
                    </a:p>
                    <a:p>
                      <a:pPr marL="377825" indent="-287020">
                        <a:lnSpc>
                          <a:spcPct val="100000"/>
                        </a:lnSpc>
                        <a:buChar char="•"/>
                        <a:tabLst>
                          <a:tab pos="377825" algn="l"/>
                          <a:tab pos="378460" algn="l"/>
                        </a:tabLst>
                      </a:pPr>
                      <a:r>
                        <a:rPr sz="1800" dirty="0">
                          <a:solidFill>
                            <a:srgbClr val="464646"/>
                          </a:solidFill>
                          <a:latin typeface="Arial MT"/>
                          <a:cs typeface="Arial MT"/>
                        </a:rPr>
                        <a:t>HTTP(S)</a:t>
                      </a:r>
                      <a:r>
                        <a:rPr sz="1800" spc="-45" dirty="0">
                          <a:solidFill>
                            <a:srgbClr val="464646"/>
                          </a:solidFill>
                          <a:latin typeface="Arial MT"/>
                          <a:cs typeface="Arial MT"/>
                        </a:rPr>
                        <a:t> </a:t>
                      </a:r>
                      <a:r>
                        <a:rPr sz="1800" spc="-5" dirty="0">
                          <a:solidFill>
                            <a:srgbClr val="464646"/>
                          </a:solidFill>
                          <a:latin typeface="Arial MT"/>
                          <a:cs typeface="Arial MT"/>
                        </a:rPr>
                        <a:t>traffic support</a:t>
                      </a:r>
                      <a:r>
                        <a:rPr sz="1800" spc="10" dirty="0">
                          <a:solidFill>
                            <a:srgbClr val="464646"/>
                          </a:solidFill>
                          <a:latin typeface="Arial MT"/>
                          <a:cs typeface="Arial MT"/>
                        </a:rPr>
                        <a:t> </a:t>
                      </a:r>
                      <a:r>
                        <a:rPr sz="1800" spc="-10" dirty="0">
                          <a:solidFill>
                            <a:srgbClr val="464646"/>
                          </a:solidFill>
                          <a:latin typeface="Arial MT"/>
                          <a:cs typeface="Arial MT"/>
                        </a:rPr>
                        <a:t>(Layer</a:t>
                      </a:r>
                      <a:r>
                        <a:rPr sz="1800" spc="15" dirty="0">
                          <a:solidFill>
                            <a:srgbClr val="464646"/>
                          </a:solidFill>
                          <a:latin typeface="Arial MT"/>
                          <a:cs typeface="Arial MT"/>
                        </a:rPr>
                        <a:t> </a:t>
                      </a:r>
                      <a:r>
                        <a:rPr sz="1800" spc="-5" dirty="0">
                          <a:solidFill>
                            <a:srgbClr val="464646"/>
                          </a:solidFill>
                          <a:latin typeface="Arial MT"/>
                          <a:cs typeface="Arial MT"/>
                        </a:rPr>
                        <a:t>7)</a:t>
                      </a:r>
                      <a:endParaRPr sz="1800">
                        <a:latin typeface="Arial MT"/>
                        <a:cs typeface="Arial MT"/>
                      </a:endParaRPr>
                    </a:p>
                    <a:p>
                      <a:pPr marL="377825" indent="-287020">
                        <a:lnSpc>
                          <a:spcPct val="100000"/>
                        </a:lnSpc>
                        <a:buChar char="•"/>
                        <a:tabLst>
                          <a:tab pos="377825" algn="l"/>
                          <a:tab pos="378460" algn="l"/>
                        </a:tabLst>
                      </a:pPr>
                      <a:r>
                        <a:rPr sz="1800" spc="-5" dirty="0">
                          <a:solidFill>
                            <a:srgbClr val="464646"/>
                          </a:solidFill>
                          <a:latin typeface="Arial MT"/>
                          <a:cs typeface="Arial MT"/>
                        </a:rPr>
                        <a:t>Route</a:t>
                      </a:r>
                      <a:r>
                        <a:rPr sz="1800" spc="5" dirty="0">
                          <a:solidFill>
                            <a:srgbClr val="464646"/>
                          </a:solidFill>
                          <a:latin typeface="Arial MT"/>
                          <a:cs typeface="Arial MT"/>
                        </a:rPr>
                        <a:t> </a:t>
                      </a:r>
                      <a:r>
                        <a:rPr sz="1800" spc="-5" dirty="0">
                          <a:solidFill>
                            <a:srgbClr val="464646"/>
                          </a:solidFill>
                          <a:latin typeface="Arial MT"/>
                          <a:cs typeface="Arial MT"/>
                        </a:rPr>
                        <a:t>traffic</a:t>
                      </a:r>
                      <a:r>
                        <a:rPr sz="1800" spc="-15" dirty="0">
                          <a:solidFill>
                            <a:srgbClr val="464646"/>
                          </a:solidFill>
                          <a:latin typeface="Arial MT"/>
                          <a:cs typeface="Arial MT"/>
                        </a:rPr>
                        <a:t> </a:t>
                      </a:r>
                      <a:r>
                        <a:rPr sz="1800" dirty="0">
                          <a:solidFill>
                            <a:srgbClr val="464646"/>
                          </a:solidFill>
                          <a:latin typeface="Arial MT"/>
                          <a:cs typeface="Arial MT"/>
                        </a:rPr>
                        <a:t>to </a:t>
                      </a:r>
                      <a:r>
                        <a:rPr sz="1800" spc="-5" dirty="0">
                          <a:solidFill>
                            <a:srgbClr val="464646"/>
                          </a:solidFill>
                          <a:latin typeface="Arial MT"/>
                          <a:cs typeface="Arial MT"/>
                        </a:rPr>
                        <a:t>target based</a:t>
                      </a:r>
                      <a:r>
                        <a:rPr sz="1800" spc="5" dirty="0">
                          <a:solidFill>
                            <a:srgbClr val="464646"/>
                          </a:solidFill>
                          <a:latin typeface="Arial MT"/>
                          <a:cs typeface="Arial MT"/>
                        </a:rPr>
                        <a:t> </a:t>
                      </a:r>
                      <a:r>
                        <a:rPr sz="1800" spc="-5" dirty="0">
                          <a:solidFill>
                            <a:srgbClr val="464646"/>
                          </a:solidFill>
                          <a:latin typeface="Arial MT"/>
                          <a:cs typeface="Arial MT"/>
                        </a:rPr>
                        <a:t>on</a:t>
                      </a:r>
                      <a:r>
                        <a:rPr sz="1800" spc="-10" dirty="0">
                          <a:solidFill>
                            <a:srgbClr val="464646"/>
                          </a:solidFill>
                          <a:latin typeface="Arial MT"/>
                          <a:cs typeface="Arial MT"/>
                        </a:rPr>
                        <a:t> </a:t>
                      </a:r>
                      <a:r>
                        <a:rPr sz="1800" spc="-5" dirty="0">
                          <a:solidFill>
                            <a:srgbClr val="464646"/>
                          </a:solidFill>
                          <a:latin typeface="Arial MT"/>
                          <a:cs typeface="Arial MT"/>
                        </a:rPr>
                        <a:t>the content</a:t>
                      </a:r>
                      <a:r>
                        <a:rPr sz="1800" spc="10" dirty="0">
                          <a:solidFill>
                            <a:srgbClr val="464646"/>
                          </a:solidFill>
                          <a:latin typeface="Arial MT"/>
                          <a:cs typeface="Arial MT"/>
                        </a:rPr>
                        <a:t> </a:t>
                      </a:r>
                      <a:r>
                        <a:rPr sz="1800" spc="-5" dirty="0">
                          <a:solidFill>
                            <a:srgbClr val="464646"/>
                          </a:solidFill>
                          <a:latin typeface="Arial MT"/>
                          <a:cs typeface="Arial MT"/>
                        </a:rPr>
                        <a:t>of </a:t>
                      </a:r>
                      <a:r>
                        <a:rPr sz="1800" dirty="0">
                          <a:solidFill>
                            <a:srgbClr val="464646"/>
                          </a:solidFill>
                          <a:latin typeface="Arial MT"/>
                          <a:cs typeface="Arial MT"/>
                        </a:rPr>
                        <a:t>the</a:t>
                      </a:r>
                      <a:r>
                        <a:rPr sz="1800" spc="-15" dirty="0">
                          <a:solidFill>
                            <a:srgbClr val="464646"/>
                          </a:solidFill>
                          <a:latin typeface="Arial MT"/>
                          <a:cs typeface="Arial MT"/>
                        </a:rPr>
                        <a:t> </a:t>
                      </a:r>
                      <a:r>
                        <a:rPr sz="1800" spc="-5" dirty="0">
                          <a:solidFill>
                            <a:srgbClr val="464646"/>
                          </a:solidFill>
                          <a:latin typeface="Arial MT"/>
                          <a:cs typeface="Arial MT"/>
                        </a:rPr>
                        <a:t>request</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1"/>
                    </a:solidFill>
                  </a:tcPr>
                </a:tc>
                <a:extLst>
                  <a:ext uri="{0D108BD9-81ED-4DB2-BD59-A6C34878D82A}">
                    <a16:rowId xmlns:a16="http://schemas.microsoft.com/office/drawing/2014/main" val="10002"/>
                  </a:ext>
                </a:extLst>
              </a:tr>
              <a:tr h="1188669">
                <a:tc>
                  <a:txBody>
                    <a:bodyPr/>
                    <a:lstStyle/>
                    <a:p>
                      <a:pPr algn="ctr">
                        <a:lnSpc>
                          <a:spcPct val="100000"/>
                        </a:lnSpc>
                        <a:spcBef>
                          <a:spcPts val="320"/>
                        </a:spcBef>
                      </a:pPr>
                      <a:r>
                        <a:rPr sz="1800" spc="-10" dirty="0">
                          <a:solidFill>
                            <a:srgbClr val="464646"/>
                          </a:solidFill>
                          <a:latin typeface="Arial MT"/>
                          <a:cs typeface="Arial MT"/>
                        </a:rPr>
                        <a:t>Network</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E2"/>
                    </a:solidFill>
                  </a:tcPr>
                </a:tc>
                <a:tc>
                  <a:txBody>
                    <a:bodyPr/>
                    <a:lstStyle/>
                    <a:p>
                      <a:pPr marL="377825" marR="978535" indent="-287020">
                        <a:lnSpc>
                          <a:spcPct val="100000"/>
                        </a:lnSpc>
                        <a:spcBef>
                          <a:spcPts val="320"/>
                        </a:spcBef>
                        <a:buChar char="•"/>
                        <a:tabLst>
                          <a:tab pos="377825" algn="l"/>
                          <a:tab pos="378460" algn="l"/>
                        </a:tabLst>
                      </a:pPr>
                      <a:r>
                        <a:rPr sz="1800" spc="-5" dirty="0">
                          <a:solidFill>
                            <a:srgbClr val="464646"/>
                          </a:solidFill>
                          <a:latin typeface="Arial MT"/>
                          <a:cs typeface="Arial MT"/>
                        </a:rPr>
                        <a:t>Load</a:t>
                      </a:r>
                      <a:r>
                        <a:rPr sz="1800" spc="5" dirty="0">
                          <a:solidFill>
                            <a:srgbClr val="464646"/>
                          </a:solidFill>
                          <a:latin typeface="Arial MT"/>
                          <a:cs typeface="Arial MT"/>
                        </a:rPr>
                        <a:t> </a:t>
                      </a:r>
                      <a:r>
                        <a:rPr sz="1800" spc="-5" dirty="0">
                          <a:solidFill>
                            <a:srgbClr val="464646"/>
                          </a:solidFill>
                          <a:latin typeface="Arial MT"/>
                          <a:cs typeface="Arial MT"/>
                        </a:rPr>
                        <a:t>Balance</a:t>
                      </a:r>
                      <a:r>
                        <a:rPr sz="1800" spc="5" dirty="0">
                          <a:solidFill>
                            <a:srgbClr val="464646"/>
                          </a:solidFill>
                          <a:latin typeface="Arial MT"/>
                          <a:cs typeface="Arial MT"/>
                        </a:rPr>
                        <a:t> </a:t>
                      </a:r>
                      <a:r>
                        <a:rPr sz="1800" spc="-5" dirty="0">
                          <a:solidFill>
                            <a:srgbClr val="464646"/>
                          </a:solidFill>
                          <a:latin typeface="Arial MT"/>
                          <a:cs typeface="Arial MT"/>
                        </a:rPr>
                        <a:t>across</a:t>
                      </a:r>
                      <a:r>
                        <a:rPr sz="1800" spc="15" dirty="0">
                          <a:solidFill>
                            <a:srgbClr val="464646"/>
                          </a:solidFill>
                          <a:latin typeface="Arial MT"/>
                          <a:cs typeface="Arial MT"/>
                        </a:rPr>
                        <a:t> </a:t>
                      </a:r>
                      <a:r>
                        <a:rPr sz="1800" spc="-5" dirty="0">
                          <a:solidFill>
                            <a:srgbClr val="464646"/>
                          </a:solidFill>
                          <a:latin typeface="Arial MT"/>
                          <a:cs typeface="Arial MT"/>
                        </a:rPr>
                        <a:t>EC2</a:t>
                      </a:r>
                      <a:r>
                        <a:rPr sz="1800" spc="-10" dirty="0">
                          <a:solidFill>
                            <a:srgbClr val="464646"/>
                          </a:solidFill>
                          <a:latin typeface="Arial MT"/>
                          <a:cs typeface="Arial MT"/>
                        </a:rPr>
                        <a:t> </a:t>
                      </a:r>
                      <a:r>
                        <a:rPr sz="1800" spc="-5" dirty="0">
                          <a:solidFill>
                            <a:srgbClr val="464646"/>
                          </a:solidFill>
                          <a:latin typeface="Arial MT"/>
                          <a:cs typeface="Arial MT"/>
                        </a:rPr>
                        <a:t>instances,</a:t>
                      </a:r>
                      <a:r>
                        <a:rPr sz="1800" spc="15" dirty="0">
                          <a:solidFill>
                            <a:srgbClr val="464646"/>
                          </a:solidFill>
                          <a:latin typeface="Arial MT"/>
                          <a:cs typeface="Arial MT"/>
                        </a:rPr>
                        <a:t> </a:t>
                      </a:r>
                      <a:r>
                        <a:rPr sz="1800" spc="-5" dirty="0">
                          <a:solidFill>
                            <a:srgbClr val="464646"/>
                          </a:solidFill>
                          <a:latin typeface="Arial MT"/>
                          <a:cs typeface="Arial MT"/>
                        </a:rPr>
                        <a:t>Containers, </a:t>
                      </a:r>
                      <a:r>
                        <a:rPr sz="1800" spc="-484" dirty="0">
                          <a:solidFill>
                            <a:srgbClr val="464646"/>
                          </a:solidFill>
                          <a:latin typeface="Arial MT"/>
                          <a:cs typeface="Arial MT"/>
                        </a:rPr>
                        <a:t> </a:t>
                      </a:r>
                      <a:r>
                        <a:rPr sz="1800" spc="-5" dirty="0">
                          <a:solidFill>
                            <a:srgbClr val="464646"/>
                          </a:solidFill>
                          <a:latin typeface="Arial MT"/>
                          <a:cs typeface="Arial MT"/>
                        </a:rPr>
                        <a:t>Lambda,</a:t>
                      </a:r>
                      <a:r>
                        <a:rPr sz="1800" spc="5" dirty="0">
                          <a:solidFill>
                            <a:srgbClr val="464646"/>
                          </a:solidFill>
                          <a:latin typeface="Arial MT"/>
                          <a:cs typeface="Arial MT"/>
                        </a:rPr>
                        <a:t> </a:t>
                      </a:r>
                      <a:r>
                        <a:rPr sz="1800" spc="-5" dirty="0">
                          <a:solidFill>
                            <a:srgbClr val="464646"/>
                          </a:solidFill>
                          <a:latin typeface="Arial MT"/>
                          <a:cs typeface="Arial MT"/>
                        </a:rPr>
                        <a:t>and</a:t>
                      </a:r>
                      <a:r>
                        <a:rPr sz="1800" spc="5" dirty="0">
                          <a:solidFill>
                            <a:srgbClr val="464646"/>
                          </a:solidFill>
                          <a:latin typeface="Arial MT"/>
                          <a:cs typeface="Arial MT"/>
                        </a:rPr>
                        <a:t> </a:t>
                      </a:r>
                      <a:r>
                        <a:rPr sz="1800" spc="-10" dirty="0">
                          <a:solidFill>
                            <a:srgbClr val="464646"/>
                          </a:solidFill>
                          <a:latin typeface="Arial MT"/>
                          <a:cs typeface="Arial MT"/>
                        </a:rPr>
                        <a:t>Hybrid</a:t>
                      </a:r>
                      <a:r>
                        <a:rPr sz="1800" spc="30" dirty="0">
                          <a:solidFill>
                            <a:srgbClr val="464646"/>
                          </a:solidFill>
                          <a:latin typeface="Arial MT"/>
                          <a:cs typeface="Arial MT"/>
                        </a:rPr>
                        <a:t> </a:t>
                      </a:r>
                      <a:r>
                        <a:rPr sz="1800" spc="-5" dirty="0">
                          <a:solidFill>
                            <a:srgbClr val="464646"/>
                          </a:solidFill>
                          <a:latin typeface="Arial MT"/>
                          <a:cs typeface="Arial MT"/>
                        </a:rPr>
                        <a:t>infrastructure</a:t>
                      </a:r>
                      <a:endParaRPr sz="1800" dirty="0">
                        <a:latin typeface="Arial MT"/>
                        <a:cs typeface="Arial MT"/>
                      </a:endParaRPr>
                    </a:p>
                    <a:p>
                      <a:pPr marL="377825" indent="-287020">
                        <a:lnSpc>
                          <a:spcPct val="100000"/>
                        </a:lnSpc>
                        <a:buChar char="•"/>
                        <a:tabLst>
                          <a:tab pos="377825" algn="l"/>
                          <a:tab pos="378460" algn="l"/>
                        </a:tabLst>
                      </a:pPr>
                      <a:r>
                        <a:rPr sz="1800" spc="-60" dirty="0">
                          <a:solidFill>
                            <a:srgbClr val="464646"/>
                          </a:solidFill>
                          <a:latin typeface="Arial MT"/>
                          <a:cs typeface="Arial MT"/>
                        </a:rPr>
                        <a:t>TCP,</a:t>
                      </a:r>
                      <a:r>
                        <a:rPr sz="1800" spc="-25" dirty="0">
                          <a:solidFill>
                            <a:srgbClr val="464646"/>
                          </a:solidFill>
                          <a:latin typeface="Arial MT"/>
                          <a:cs typeface="Arial MT"/>
                        </a:rPr>
                        <a:t> </a:t>
                      </a:r>
                      <a:r>
                        <a:rPr sz="1800" spc="-5" dirty="0">
                          <a:solidFill>
                            <a:srgbClr val="464646"/>
                          </a:solidFill>
                          <a:latin typeface="Arial MT"/>
                          <a:cs typeface="Arial MT"/>
                        </a:rPr>
                        <a:t>UDP</a:t>
                      </a:r>
                      <a:r>
                        <a:rPr sz="1800" spc="-30" dirty="0">
                          <a:solidFill>
                            <a:srgbClr val="464646"/>
                          </a:solidFill>
                          <a:latin typeface="Arial MT"/>
                          <a:cs typeface="Arial MT"/>
                        </a:rPr>
                        <a:t> </a:t>
                      </a:r>
                      <a:r>
                        <a:rPr sz="1800" spc="-5" dirty="0">
                          <a:solidFill>
                            <a:srgbClr val="464646"/>
                          </a:solidFill>
                          <a:latin typeface="Arial MT"/>
                          <a:cs typeface="Arial MT"/>
                        </a:rPr>
                        <a:t>traffic</a:t>
                      </a:r>
                      <a:r>
                        <a:rPr sz="1800" spc="-15" dirty="0">
                          <a:solidFill>
                            <a:srgbClr val="464646"/>
                          </a:solidFill>
                          <a:latin typeface="Arial MT"/>
                          <a:cs typeface="Arial MT"/>
                        </a:rPr>
                        <a:t> </a:t>
                      </a:r>
                      <a:r>
                        <a:rPr sz="1800" spc="-5" dirty="0">
                          <a:solidFill>
                            <a:srgbClr val="464646"/>
                          </a:solidFill>
                          <a:latin typeface="Arial MT"/>
                          <a:cs typeface="Arial MT"/>
                        </a:rPr>
                        <a:t>support</a:t>
                      </a:r>
                      <a:r>
                        <a:rPr sz="1800" spc="5" dirty="0">
                          <a:solidFill>
                            <a:srgbClr val="464646"/>
                          </a:solidFill>
                          <a:latin typeface="Arial MT"/>
                          <a:cs typeface="Arial MT"/>
                        </a:rPr>
                        <a:t> </a:t>
                      </a:r>
                      <a:r>
                        <a:rPr sz="1800" spc="-10" dirty="0">
                          <a:solidFill>
                            <a:srgbClr val="464646"/>
                          </a:solidFill>
                          <a:latin typeface="Arial MT"/>
                          <a:cs typeface="Arial MT"/>
                        </a:rPr>
                        <a:t>(Layer</a:t>
                      </a:r>
                      <a:r>
                        <a:rPr sz="1800" spc="25" dirty="0">
                          <a:solidFill>
                            <a:srgbClr val="464646"/>
                          </a:solidFill>
                          <a:latin typeface="Arial MT"/>
                          <a:cs typeface="Arial MT"/>
                        </a:rPr>
                        <a:t> </a:t>
                      </a:r>
                      <a:r>
                        <a:rPr sz="1800" spc="-5" dirty="0">
                          <a:solidFill>
                            <a:srgbClr val="464646"/>
                          </a:solidFill>
                          <a:latin typeface="Arial MT"/>
                          <a:cs typeface="Arial MT"/>
                        </a:rPr>
                        <a:t>4)</a:t>
                      </a:r>
                      <a:endParaRPr sz="1800" dirty="0">
                        <a:latin typeface="Arial MT"/>
                        <a:cs typeface="Arial MT"/>
                      </a:endParaRPr>
                    </a:p>
                    <a:p>
                      <a:pPr marL="377825" indent="-287020">
                        <a:lnSpc>
                          <a:spcPct val="100000"/>
                        </a:lnSpc>
                        <a:buChar char="•"/>
                        <a:tabLst>
                          <a:tab pos="377825" algn="l"/>
                          <a:tab pos="378460" algn="l"/>
                        </a:tabLst>
                      </a:pPr>
                      <a:r>
                        <a:rPr sz="1800" spc="-5" dirty="0">
                          <a:solidFill>
                            <a:srgbClr val="464646"/>
                          </a:solidFill>
                          <a:latin typeface="Arial MT"/>
                          <a:cs typeface="Arial MT"/>
                        </a:rPr>
                        <a:t>Extreme</a:t>
                      </a:r>
                      <a:r>
                        <a:rPr sz="1800" spc="-20" dirty="0">
                          <a:solidFill>
                            <a:srgbClr val="464646"/>
                          </a:solidFill>
                          <a:latin typeface="Arial MT"/>
                          <a:cs typeface="Arial MT"/>
                        </a:rPr>
                        <a:t> </a:t>
                      </a:r>
                      <a:r>
                        <a:rPr sz="1800" spc="-5" dirty="0">
                          <a:solidFill>
                            <a:srgbClr val="464646"/>
                          </a:solidFill>
                          <a:latin typeface="Arial MT"/>
                          <a:cs typeface="Arial MT"/>
                        </a:rPr>
                        <a:t>performance</a:t>
                      </a:r>
                      <a:endParaRPr sz="1800" dirty="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2E2"/>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4FAD-6733-175C-C20F-4A8B6F774520}"/>
              </a:ext>
            </a:extLst>
          </p:cNvPr>
          <p:cNvSpPr>
            <a:spLocks noGrp="1"/>
          </p:cNvSpPr>
          <p:nvPr>
            <p:ph type="title"/>
          </p:nvPr>
        </p:nvSpPr>
        <p:spPr>
          <a:xfrm>
            <a:off x="415544" y="139065"/>
            <a:ext cx="8312911" cy="861774"/>
          </a:xfrm>
        </p:spPr>
        <p:txBody>
          <a:bodyPr/>
          <a:lstStyle/>
          <a:p>
            <a:r>
              <a:rPr lang="en-US" b="1" i="0" dirty="0">
                <a:solidFill>
                  <a:srgbClr val="1C1D1F"/>
                </a:solidFill>
                <a:effectLst/>
                <a:latin typeface="udemy sans"/>
              </a:rPr>
              <a:t>Load Balancer Access Logs</a:t>
            </a:r>
            <a:br>
              <a:rPr lang="en-US" b="1" i="0" dirty="0">
                <a:solidFill>
                  <a:srgbClr val="1C1D1F"/>
                </a:solidFill>
                <a:effectLst/>
                <a:latin typeface="udemy sans"/>
              </a:rPr>
            </a:br>
            <a:endParaRPr lang="en-IN" dirty="0"/>
          </a:p>
        </p:txBody>
      </p:sp>
      <p:sp>
        <p:nvSpPr>
          <p:cNvPr id="3" name="Text Placeholder 2">
            <a:extLst>
              <a:ext uri="{FF2B5EF4-FFF2-40B4-BE49-F238E27FC236}">
                <a16:creationId xmlns:a16="http://schemas.microsoft.com/office/drawing/2014/main" id="{0625735D-83A5-EFC9-7AB8-0EA41D18433F}"/>
              </a:ext>
            </a:extLst>
          </p:cNvPr>
          <p:cNvSpPr>
            <a:spLocks noGrp="1"/>
          </p:cNvSpPr>
          <p:nvPr>
            <p:ph type="body" idx="1"/>
          </p:nvPr>
        </p:nvSpPr>
        <p:spPr>
          <a:xfrm>
            <a:off x="337058" y="1510410"/>
            <a:ext cx="8469883" cy="2769989"/>
          </a:xfrm>
        </p:spPr>
        <p:txBody>
          <a:bodyPr/>
          <a:lstStyle/>
          <a:p>
            <a:pPr algn="l"/>
            <a:r>
              <a:rPr lang="en-US" b="0" i="0" dirty="0">
                <a:solidFill>
                  <a:srgbClr val="1C1D1F"/>
                </a:solidFill>
                <a:effectLst/>
                <a:latin typeface="udemy sans"/>
              </a:rPr>
              <a:t>Access Logs for Elastic Load Balancer</a:t>
            </a:r>
          </a:p>
          <a:p>
            <a:pPr algn="l"/>
            <a:r>
              <a:rPr lang="en-US" b="0" i="0" dirty="0">
                <a:solidFill>
                  <a:srgbClr val="1C1D1F"/>
                </a:solidFill>
                <a:effectLst/>
                <a:latin typeface="udemy sans"/>
              </a:rPr>
              <a:t>“Elastic Load Balancing provides access logs that capture detailed information about requests sent to your load balancer.</a:t>
            </a:r>
          </a:p>
          <a:p>
            <a:pPr algn="l"/>
            <a:r>
              <a:rPr lang="en-US" b="0" i="0" dirty="0">
                <a:solidFill>
                  <a:srgbClr val="1C1D1F"/>
                </a:solidFill>
                <a:effectLst/>
                <a:latin typeface="udemy sans"/>
              </a:rPr>
              <a:t>Each log contains information such as the </a:t>
            </a:r>
            <a:r>
              <a:rPr lang="en-US" b="1" i="0" dirty="0">
                <a:solidFill>
                  <a:srgbClr val="1C1D1F"/>
                </a:solidFill>
                <a:effectLst/>
                <a:latin typeface="udemy sans"/>
              </a:rPr>
              <a:t>time the request was received, the client's IP address, latencies, request paths, and server responses</a:t>
            </a:r>
            <a:r>
              <a:rPr lang="en-US" b="0" i="0" dirty="0">
                <a:solidFill>
                  <a:srgbClr val="1C1D1F"/>
                </a:solidFill>
                <a:effectLst/>
                <a:latin typeface="udemy sans"/>
              </a:rPr>
              <a:t>.</a:t>
            </a:r>
          </a:p>
          <a:p>
            <a:pPr algn="l"/>
            <a:r>
              <a:rPr lang="en-US" b="0" i="0" dirty="0">
                <a:solidFill>
                  <a:srgbClr val="1C1D1F"/>
                </a:solidFill>
                <a:effectLst/>
                <a:latin typeface="udemy sans"/>
              </a:rPr>
              <a:t>You can use these access logs to analyze traffic patterns and troubleshoot issues.”</a:t>
            </a:r>
          </a:p>
          <a:p>
            <a:pPr algn="l"/>
            <a:r>
              <a:rPr lang="en-US" b="0" i="0" dirty="0">
                <a:solidFill>
                  <a:srgbClr val="1C1D1F"/>
                </a:solidFill>
                <a:effectLst/>
                <a:latin typeface="udemy sans"/>
              </a:rPr>
              <a:t>“</a:t>
            </a:r>
            <a:r>
              <a:rPr lang="en-US" b="1" i="0" dirty="0">
                <a:solidFill>
                  <a:srgbClr val="1C1D1F"/>
                </a:solidFill>
                <a:effectLst/>
                <a:latin typeface="udemy sans"/>
              </a:rPr>
              <a:t>Access logging is an optional feature of Elastic Load Balancing that is disabled by default</a:t>
            </a:r>
            <a:r>
              <a:rPr lang="en-US" b="0" i="0" dirty="0">
                <a:solidFill>
                  <a:srgbClr val="1C1D1F"/>
                </a:solidFill>
                <a:effectLst/>
                <a:latin typeface="udemy sans"/>
              </a:rPr>
              <a:t>.</a:t>
            </a:r>
          </a:p>
          <a:p>
            <a:pPr algn="l"/>
            <a:r>
              <a:rPr lang="en-US" b="0" i="0" dirty="0">
                <a:solidFill>
                  <a:srgbClr val="1C1D1F"/>
                </a:solidFill>
                <a:effectLst/>
                <a:latin typeface="udemy sans"/>
              </a:rPr>
              <a:t>After you enable access logging for your load balancer, Elastic Load Balancing captures the logs and stores them in the Amazon S3 bucket that you specify as compressed files.”</a:t>
            </a:r>
          </a:p>
          <a:p>
            <a:endParaRPr lang="en-IN" dirty="0"/>
          </a:p>
        </p:txBody>
      </p:sp>
    </p:spTree>
    <p:extLst>
      <p:ext uri="{BB962C8B-B14F-4D97-AF65-F5344CB8AC3E}">
        <p14:creationId xmlns:p14="http://schemas.microsoft.com/office/powerpoint/2010/main" val="1057821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686CE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192</TotalTime>
  <Words>1768</Words>
  <Application>Microsoft Office PowerPoint</Application>
  <PresentationFormat>On-screen Show (16:9)</PresentationFormat>
  <Paragraphs>280</Paragraphs>
  <Slides>34</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Arial MT</vt:lpstr>
      <vt:lpstr>Calibri</vt:lpstr>
      <vt:lpstr>udemy sans</vt:lpstr>
      <vt:lpstr>Office Theme</vt:lpstr>
      <vt:lpstr>Elastic Load Balancing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Elastic Load Balancing Motivation</vt:lpstr>
      <vt:lpstr>Elastic Load Balancing</vt:lpstr>
      <vt:lpstr>Elastic Load Balancing</vt:lpstr>
      <vt:lpstr>Elastic Load Balancing – Internet Facing</vt:lpstr>
      <vt:lpstr>Elastic Load Balancing – Internal Facing</vt:lpstr>
      <vt:lpstr>Elastic Load Balancing – Security</vt:lpstr>
      <vt:lpstr>Features</vt:lpstr>
      <vt:lpstr>Additional Concepts</vt:lpstr>
      <vt:lpstr>Additional Concepts</vt:lpstr>
      <vt:lpstr>PowerPoint Presentation</vt:lpstr>
      <vt:lpstr>Classic Load Balancer</vt:lpstr>
      <vt:lpstr>Application Load Balancer</vt:lpstr>
      <vt:lpstr>Application Load Balancer - Routing</vt:lpstr>
      <vt:lpstr>Application Load Balancer</vt:lpstr>
      <vt:lpstr>Application Load Balancer - Routing</vt:lpstr>
      <vt:lpstr>Network Load Balancer</vt:lpstr>
      <vt:lpstr>Network Load Balancer – Static IP</vt:lpstr>
      <vt:lpstr>Network Load Balancer</vt:lpstr>
      <vt:lpstr>Private Link - Motivation</vt:lpstr>
      <vt:lpstr>Private Link - Motivation</vt:lpstr>
      <vt:lpstr>Private Link</vt:lpstr>
      <vt:lpstr>Access Logs</vt:lpstr>
      <vt:lpstr>Load Balancer - Types</vt:lpstr>
      <vt:lpstr>Load Balancer Access Logs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SageMaker, AI and Machine Learning</dc:title>
  <dc:creator>ouraccount</dc:creator>
  <cp:lastModifiedBy>hp</cp:lastModifiedBy>
  <cp:revision>5</cp:revision>
  <dcterms:created xsi:type="dcterms:W3CDTF">2022-05-28T09:49:13Z</dcterms:created>
  <dcterms:modified xsi:type="dcterms:W3CDTF">2022-06-03T18:20:47Z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2020-02-25T00:00:00Z</vt:filetime>
  </property>
  <property fmtid="{D5CDD505-2E9C-101B-9397-08002B2CF9AE}" pid="3" name="Creator">
    <vt:lpwstr>Microsoft® PowerPoint® for Office 365</vt:lpwstr>
  </property>
  <property fmtid="{D5CDD505-2E9C-101B-9397-08002B2CF9AE}" pid="4" name="LastSaved">
    <vt:filetime>2022-05-28T00:00:00Z</vt:filetime>
  </property>
</Properties>
</file>