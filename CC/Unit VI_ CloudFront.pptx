
<file path=[Content_Types].xml><?xml version="1.0" encoding="utf-8"?>
<Types xmlns="http://schemas.openxmlformats.org/package/2006/content-types">
  <Default Extension="bin" ContentType="application/vnd.openxmlformats-officedocument.oleObject"/>
  <Default Extension="jpg" ContentType="image/jp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70" r:id="rId3"/>
    <p:sldId id="269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2" d="100"/>
          <a:sy n="102" d="100"/>
        </p:scale>
        <p:origin x="826" y="77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Copyright</a:t>
            </a:r>
            <a:r>
              <a:rPr spc="20" dirty="0"/>
              <a:t> </a:t>
            </a:r>
            <a:r>
              <a:rPr dirty="0"/>
              <a:t>© </a:t>
            </a:r>
            <a:r>
              <a:rPr spc="-5" dirty="0"/>
              <a:t>2019</a:t>
            </a:r>
            <a:r>
              <a:rPr spc="25" dirty="0"/>
              <a:t> </a:t>
            </a:r>
            <a:r>
              <a:rPr spc="-5" dirty="0"/>
              <a:t>ChandraMohan</a:t>
            </a:r>
            <a:r>
              <a:rPr spc="45" dirty="0"/>
              <a:t> </a:t>
            </a:r>
            <a:r>
              <a:rPr dirty="0"/>
              <a:t>Lingam.</a:t>
            </a:r>
            <a:r>
              <a:rPr spc="-5" dirty="0"/>
              <a:t> </a:t>
            </a:r>
            <a:r>
              <a:rPr dirty="0"/>
              <a:t>All</a:t>
            </a:r>
            <a:r>
              <a:rPr spc="-5" dirty="0"/>
              <a:t> </a:t>
            </a:r>
            <a:r>
              <a:rPr dirty="0"/>
              <a:t>Rights </a:t>
            </a:r>
            <a:r>
              <a:rPr spc="-5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heavy">
                <a:solidFill>
                  <a:srgbClr val="686CE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Copyright</a:t>
            </a:r>
            <a:r>
              <a:rPr spc="20" dirty="0"/>
              <a:t> </a:t>
            </a:r>
            <a:r>
              <a:rPr dirty="0"/>
              <a:t>© </a:t>
            </a:r>
            <a:r>
              <a:rPr spc="-5" dirty="0"/>
              <a:t>2019</a:t>
            </a:r>
            <a:r>
              <a:rPr spc="25" dirty="0"/>
              <a:t> </a:t>
            </a:r>
            <a:r>
              <a:rPr spc="-5" dirty="0"/>
              <a:t>ChandraMohan</a:t>
            </a:r>
            <a:r>
              <a:rPr spc="45" dirty="0"/>
              <a:t> </a:t>
            </a:r>
            <a:r>
              <a:rPr dirty="0"/>
              <a:t>Lingam.</a:t>
            </a:r>
            <a:r>
              <a:rPr spc="-5" dirty="0"/>
              <a:t> </a:t>
            </a:r>
            <a:r>
              <a:rPr dirty="0"/>
              <a:t>All</a:t>
            </a:r>
            <a:r>
              <a:rPr spc="-5" dirty="0"/>
              <a:t> </a:t>
            </a:r>
            <a:r>
              <a:rPr dirty="0"/>
              <a:t>Rights </a:t>
            </a:r>
            <a:r>
              <a:rPr spc="-5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heavy">
                <a:solidFill>
                  <a:srgbClr val="686CE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Copyright</a:t>
            </a:r>
            <a:r>
              <a:rPr spc="20" dirty="0"/>
              <a:t> </a:t>
            </a:r>
            <a:r>
              <a:rPr dirty="0"/>
              <a:t>© </a:t>
            </a:r>
            <a:r>
              <a:rPr spc="-5" dirty="0"/>
              <a:t>2019</a:t>
            </a:r>
            <a:r>
              <a:rPr spc="25" dirty="0"/>
              <a:t> </a:t>
            </a:r>
            <a:r>
              <a:rPr spc="-5" dirty="0"/>
              <a:t>ChandraMohan</a:t>
            </a:r>
            <a:r>
              <a:rPr spc="45" dirty="0"/>
              <a:t> </a:t>
            </a:r>
            <a:r>
              <a:rPr dirty="0"/>
              <a:t>Lingam.</a:t>
            </a:r>
            <a:r>
              <a:rPr spc="-5" dirty="0"/>
              <a:t> </a:t>
            </a:r>
            <a:r>
              <a:rPr dirty="0"/>
              <a:t>All</a:t>
            </a:r>
            <a:r>
              <a:rPr spc="-5" dirty="0"/>
              <a:t> </a:t>
            </a:r>
            <a:r>
              <a:rPr dirty="0"/>
              <a:t>Rights </a:t>
            </a:r>
            <a:r>
              <a:rPr spc="-5" dirty="0"/>
              <a:t>Reserved.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5/28/2022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 u="heavy">
                <a:solidFill>
                  <a:srgbClr val="686CE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Copyright</a:t>
            </a:r>
            <a:r>
              <a:rPr spc="20" dirty="0"/>
              <a:t> </a:t>
            </a:r>
            <a:r>
              <a:rPr dirty="0"/>
              <a:t>© </a:t>
            </a:r>
            <a:r>
              <a:rPr spc="-5" dirty="0"/>
              <a:t>2019</a:t>
            </a:r>
            <a:r>
              <a:rPr spc="25" dirty="0"/>
              <a:t> </a:t>
            </a:r>
            <a:r>
              <a:rPr spc="-5" dirty="0"/>
              <a:t>ChandraMohan</a:t>
            </a:r>
            <a:r>
              <a:rPr spc="45" dirty="0"/>
              <a:t> </a:t>
            </a:r>
            <a:r>
              <a:rPr dirty="0"/>
              <a:t>Lingam.</a:t>
            </a:r>
            <a:r>
              <a:rPr spc="-5" dirty="0"/>
              <a:t> </a:t>
            </a:r>
            <a:r>
              <a:rPr dirty="0"/>
              <a:t>All</a:t>
            </a:r>
            <a:r>
              <a:rPr spc="-5" dirty="0"/>
              <a:t> </a:t>
            </a:r>
            <a:r>
              <a:rPr dirty="0"/>
              <a:t>Rights </a:t>
            </a:r>
            <a:r>
              <a:rPr spc="-5" dirty="0"/>
              <a:t>Reserved.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5/28/2022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Copyright</a:t>
            </a:r>
            <a:r>
              <a:rPr spc="20" dirty="0"/>
              <a:t> </a:t>
            </a:r>
            <a:r>
              <a:rPr dirty="0"/>
              <a:t>© </a:t>
            </a:r>
            <a:r>
              <a:rPr spc="-5" dirty="0"/>
              <a:t>2019</a:t>
            </a:r>
            <a:r>
              <a:rPr spc="25" dirty="0"/>
              <a:t> </a:t>
            </a:r>
            <a:r>
              <a:rPr spc="-5" dirty="0"/>
              <a:t>ChandraMohan</a:t>
            </a:r>
            <a:r>
              <a:rPr spc="45" dirty="0"/>
              <a:t> </a:t>
            </a:r>
            <a:r>
              <a:rPr dirty="0"/>
              <a:t>Lingam.</a:t>
            </a:r>
            <a:r>
              <a:rPr spc="-5" dirty="0"/>
              <a:t> </a:t>
            </a:r>
            <a:r>
              <a:rPr dirty="0"/>
              <a:t>All</a:t>
            </a:r>
            <a:r>
              <a:rPr spc="-5" dirty="0"/>
              <a:t> </a:t>
            </a:r>
            <a:r>
              <a:rPr dirty="0"/>
              <a:t>Rights </a:t>
            </a:r>
            <a:r>
              <a:rPr spc="-5" dirty="0"/>
              <a:t>Reserved.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5/28/2022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5544" y="139065"/>
            <a:ext cx="8312911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 u="heavy">
                <a:solidFill>
                  <a:srgbClr val="686CEA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62883" y="1867865"/>
            <a:ext cx="4705984" cy="16725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23438" y="4961859"/>
            <a:ext cx="2896235" cy="1397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464646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pc="-5" dirty="0"/>
              <a:t>Copyright</a:t>
            </a:r>
            <a:r>
              <a:rPr spc="20" dirty="0"/>
              <a:t> </a:t>
            </a:r>
            <a:r>
              <a:rPr dirty="0"/>
              <a:t>© </a:t>
            </a:r>
            <a:r>
              <a:rPr spc="-5" dirty="0"/>
              <a:t>2019</a:t>
            </a:r>
            <a:r>
              <a:rPr spc="25" dirty="0"/>
              <a:t> </a:t>
            </a:r>
            <a:r>
              <a:rPr spc="-5" dirty="0"/>
              <a:t>ChandraMohan</a:t>
            </a:r>
            <a:r>
              <a:rPr spc="45" dirty="0"/>
              <a:t> </a:t>
            </a:r>
            <a:r>
              <a:rPr dirty="0"/>
              <a:t>Lingam.</a:t>
            </a:r>
            <a:r>
              <a:rPr spc="-5" dirty="0"/>
              <a:t> </a:t>
            </a:r>
            <a:r>
              <a:rPr dirty="0"/>
              <a:t>All</a:t>
            </a:r>
            <a:r>
              <a:rPr spc="-5" dirty="0"/>
              <a:t> </a:t>
            </a:r>
            <a:r>
              <a:rPr dirty="0"/>
              <a:t>Rights </a:t>
            </a:r>
            <a:r>
              <a:rPr spc="-5" dirty="0"/>
              <a:t>Reserved.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5/28/2022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2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3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ws.amazon.com/cloudfront/features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5284" y="1776222"/>
            <a:ext cx="27578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5" dirty="0">
                <a:solidFill>
                  <a:srgbClr val="4D4D4B"/>
                </a:solidFill>
              </a:rPr>
              <a:t>Clou</a:t>
            </a:r>
            <a:r>
              <a:rPr sz="4000" u="none" spc="-25" dirty="0">
                <a:solidFill>
                  <a:srgbClr val="4D4D4B"/>
                </a:solidFill>
              </a:rPr>
              <a:t>d</a:t>
            </a:r>
            <a:r>
              <a:rPr sz="4000" u="none" spc="-5" dirty="0">
                <a:solidFill>
                  <a:srgbClr val="4D4D4B"/>
                </a:solidFill>
              </a:rPr>
              <a:t>Front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475284" y="2597607"/>
            <a:ext cx="3482340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Content Delivery</a:t>
            </a:r>
            <a:r>
              <a:rPr sz="2400" spc="2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Network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CACB03D6-32E1-99FC-DB99-E6D2BA3CC12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5184500"/>
              </p:ext>
            </p:extLst>
          </p:nvPr>
        </p:nvGraphicFramePr>
        <p:xfrm>
          <a:off x="914400" y="449263"/>
          <a:ext cx="7315200" cy="424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Bitmap Image" r:id="rId3" imgW="7315200" imgH="4244400" progId="Paint.Picture">
                  <p:embed/>
                </p:oleObj>
              </mc:Choice>
              <mc:Fallback>
                <p:oleObj name="Bitmap Image" r:id="rId3" imgW="7315200" imgH="42444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449263"/>
                        <a:ext cx="7315200" cy="424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040213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B8B7E4F5-8568-1F9B-F9E6-8572BF69C30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85382633"/>
              </p:ext>
            </p:extLst>
          </p:nvPr>
        </p:nvGraphicFramePr>
        <p:xfrm>
          <a:off x="914400" y="449263"/>
          <a:ext cx="7315200" cy="424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5" name="Bitmap Image" r:id="rId3" imgW="7315200" imgH="4244400" progId="Paint.Picture">
                  <p:embed/>
                </p:oleObj>
              </mc:Choice>
              <mc:Fallback>
                <p:oleObj name="Bitmap Image" r:id="rId3" imgW="7315200" imgH="42444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449263"/>
                        <a:ext cx="7315200" cy="424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628951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5BFFCA34-5ADF-C579-2A01-AD6ED2AD197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97919354"/>
              </p:ext>
            </p:extLst>
          </p:nvPr>
        </p:nvGraphicFramePr>
        <p:xfrm>
          <a:off x="914400" y="449263"/>
          <a:ext cx="7315200" cy="424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Bitmap Image" r:id="rId3" imgW="7315200" imgH="4244400" progId="Paint.Picture">
                  <p:embed/>
                </p:oleObj>
              </mc:Choice>
              <mc:Fallback>
                <p:oleObj name="Bitmap Image" r:id="rId3" imgW="7315200" imgH="424440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914400" y="449263"/>
                        <a:ext cx="7315200" cy="42449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36138" y="4974559"/>
            <a:ext cx="2870835" cy="1143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890"/>
              </a:lnSpc>
            </a:pPr>
            <a:r>
              <a:rPr sz="800" spc="-5" dirty="0">
                <a:solidFill>
                  <a:srgbClr val="464646"/>
                </a:solidFill>
                <a:latin typeface="Arial MT"/>
                <a:cs typeface="Arial MT"/>
              </a:rPr>
              <a:t>Copyright</a:t>
            </a:r>
            <a:r>
              <a:rPr sz="80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464646"/>
                </a:solidFill>
                <a:latin typeface="Arial MT"/>
                <a:cs typeface="Arial MT"/>
              </a:rPr>
              <a:t>©</a:t>
            </a:r>
            <a:r>
              <a:rPr sz="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464646"/>
                </a:solidFill>
                <a:latin typeface="Arial MT"/>
                <a:cs typeface="Arial MT"/>
              </a:rPr>
              <a:t>2019</a:t>
            </a:r>
            <a:r>
              <a:rPr sz="800" spc="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800" spc="-5" dirty="0">
                <a:solidFill>
                  <a:srgbClr val="464646"/>
                </a:solidFill>
                <a:latin typeface="Arial MT"/>
                <a:cs typeface="Arial MT"/>
              </a:rPr>
              <a:t>ChandraMohan</a:t>
            </a:r>
            <a:r>
              <a:rPr sz="800" spc="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800" dirty="0">
                <a:solidFill>
                  <a:srgbClr val="464646"/>
                </a:solidFill>
                <a:latin typeface="Arial MT"/>
                <a:cs typeface="Arial MT"/>
              </a:rPr>
              <a:t>Lingam. All Rights</a:t>
            </a:r>
            <a:r>
              <a:rPr sz="800" spc="-5" dirty="0">
                <a:solidFill>
                  <a:srgbClr val="464646"/>
                </a:solidFill>
                <a:latin typeface="Arial MT"/>
                <a:cs typeface="Arial MT"/>
              </a:rPr>
              <a:t> Reserved.</a:t>
            </a:r>
            <a:endParaRPr sz="8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5962" y="403858"/>
            <a:ext cx="8194196" cy="473963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15874" y="26923"/>
            <a:ext cx="53511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5" dirty="0">
                <a:solidFill>
                  <a:srgbClr val="686CEA"/>
                </a:solidFill>
                <a:uFill>
                  <a:solidFill>
                    <a:srgbClr val="686CEA"/>
                  </a:solidFill>
                </a:uFill>
                <a:latin typeface="Arial MT"/>
                <a:cs typeface="Arial MT"/>
                <a:hlinkClick r:id="rId3"/>
              </a:rPr>
              <a:t>Source:</a:t>
            </a:r>
            <a:r>
              <a:rPr sz="1800" u="heavy" spc="20" dirty="0">
                <a:solidFill>
                  <a:srgbClr val="686CEA"/>
                </a:solidFill>
                <a:uFill>
                  <a:solidFill>
                    <a:srgbClr val="686CEA"/>
                  </a:solidFill>
                </a:uFill>
                <a:latin typeface="Arial MT"/>
                <a:cs typeface="Arial MT"/>
                <a:hlinkClick r:id="rId3"/>
              </a:rPr>
              <a:t> </a:t>
            </a:r>
            <a:r>
              <a:rPr sz="1800" u="heavy" spc="-5" dirty="0">
                <a:solidFill>
                  <a:srgbClr val="686CEA"/>
                </a:solidFill>
                <a:uFill>
                  <a:solidFill>
                    <a:srgbClr val="686CEA"/>
                  </a:solidFill>
                </a:uFill>
                <a:latin typeface="Arial MT"/>
                <a:cs typeface="Arial MT"/>
                <a:hlinkClick r:id="rId3"/>
              </a:rPr>
              <a:t>https://aws.amazon.com/cloudfront/features/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29032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5" dirty="0">
                <a:solidFill>
                  <a:srgbClr val="4D4D4B"/>
                </a:solidFill>
              </a:rPr>
              <a:t>Types</a:t>
            </a:r>
            <a:r>
              <a:rPr u="none" spc="15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of</a:t>
            </a:r>
            <a:r>
              <a:rPr u="none" spc="-20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Content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9506" y="962025"/>
            <a:ext cx="7566025" cy="339153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Static</a:t>
            </a:r>
            <a:r>
              <a:rPr sz="2400" spc="-2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–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 videos,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images,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JavaScript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Dynamic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–</a:t>
            </a:r>
            <a:r>
              <a:rPr sz="2400" spc="-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weather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data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User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specific</a:t>
            </a:r>
            <a:r>
              <a:rPr sz="2400" spc="2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–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user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 photo,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health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report</a:t>
            </a:r>
            <a:endParaRPr sz="2400">
              <a:latin typeface="Arial MT"/>
              <a:cs typeface="Arial MT"/>
            </a:endParaRPr>
          </a:p>
          <a:p>
            <a:pPr marL="355600" marR="508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Not-Cacheable</a:t>
            </a:r>
            <a:r>
              <a:rPr sz="2400" spc="5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–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OTP</a:t>
            </a:r>
            <a:r>
              <a:rPr sz="2400" spc="-4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(one-time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password),</a:t>
            </a:r>
            <a:r>
              <a:rPr sz="2400" spc="2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payment </a:t>
            </a:r>
            <a:r>
              <a:rPr sz="2400" spc="-65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card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 details</a:t>
            </a:r>
            <a:endParaRPr sz="2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>
              <a:latin typeface="Arial MT"/>
              <a:cs typeface="Arial MT"/>
            </a:endParaRPr>
          </a:p>
          <a:p>
            <a:pPr marL="12700" marR="145415">
              <a:lnSpc>
                <a:spcPct val="100000"/>
              </a:lnSpc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HTTP</a:t>
            </a:r>
            <a:r>
              <a:rPr sz="2400" spc="-5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Cache</a:t>
            </a:r>
            <a:r>
              <a:rPr sz="2400" spc="2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Control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Headers</a:t>
            </a:r>
            <a:r>
              <a:rPr sz="2400" spc="3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–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cache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or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not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to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 cache, </a:t>
            </a:r>
            <a:r>
              <a:rPr sz="2400" spc="-65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how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long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to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cache,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public</a:t>
            </a:r>
            <a:r>
              <a:rPr sz="2400" spc="3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or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private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cache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and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so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 forth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421322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4D4D4B"/>
                </a:solidFill>
              </a:rPr>
              <a:t>CloudFront Performance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5544" y="746629"/>
            <a:ext cx="8028305" cy="354965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Cache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copies</a:t>
            </a:r>
            <a:r>
              <a:rPr sz="2400" spc="2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of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content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close</a:t>
            </a:r>
            <a:r>
              <a:rPr sz="2400" spc="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to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your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users</a:t>
            </a:r>
            <a:endParaRPr sz="2400">
              <a:latin typeface="Arial MT"/>
              <a:cs typeface="Arial MT"/>
            </a:endParaRPr>
          </a:p>
          <a:p>
            <a:pPr marL="355600" indent="-342900">
              <a:lnSpc>
                <a:spcPct val="100000"/>
              </a:lnSpc>
              <a:spcBef>
                <a:spcPts val="58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CloudFront</a:t>
            </a:r>
            <a:r>
              <a:rPr sz="2400" spc="3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routes</a:t>
            </a:r>
            <a:r>
              <a:rPr sz="2400" spc="-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request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to</a:t>
            </a:r>
            <a:r>
              <a:rPr sz="2400" spc="-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nearest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edge</a:t>
            </a:r>
            <a:r>
              <a:rPr sz="2400" spc="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location</a:t>
            </a:r>
            <a:endParaRPr sz="2400">
              <a:latin typeface="Arial MT"/>
              <a:cs typeface="Arial MT"/>
            </a:endParaRPr>
          </a:p>
          <a:p>
            <a:pPr marL="355600" marR="698500" indent="-342900">
              <a:lnSpc>
                <a:spcPct val="100000"/>
              </a:lnSpc>
              <a:spcBef>
                <a:spcPts val="57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For</a:t>
            </a:r>
            <a:r>
              <a:rPr sz="2400" spc="-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content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not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 available</a:t>
            </a:r>
            <a:r>
              <a:rPr sz="2400" spc="4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at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 edge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and</a:t>
            </a:r>
            <a:r>
              <a:rPr sz="2400" spc="-1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regional</a:t>
            </a:r>
            <a:r>
              <a:rPr sz="2400" spc="2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edge </a:t>
            </a:r>
            <a:r>
              <a:rPr sz="2400" spc="-65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cache:</a:t>
            </a:r>
            <a:endParaRPr sz="2400">
              <a:latin typeface="Arial MT"/>
              <a:cs typeface="Arial MT"/>
            </a:endParaRPr>
          </a:p>
          <a:p>
            <a:pPr marL="1099185" lvl="1" indent="-343535">
              <a:lnSpc>
                <a:spcPct val="100000"/>
              </a:lnSpc>
              <a:spcBef>
                <a:spcPts val="484"/>
              </a:spcBef>
              <a:buChar char="•"/>
              <a:tabLst>
                <a:tab pos="1099185" algn="l"/>
                <a:tab pos="1099820" algn="l"/>
              </a:tabLst>
            </a:pPr>
            <a:r>
              <a:rPr sz="2000" dirty="0">
                <a:solidFill>
                  <a:srgbClr val="4D4D4B"/>
                </a:solidFill>
                <a:latin typeface="Arial MT"/>
                <a:cs typeface="Arial MT"/>
              </a:rPr>
              <a:t>Request</a:t>
            </a:r>
            <a:r>
              <a:rPr sz="2000" spc="-4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D4D4B"/>
                </a:solidFill>
                <a:latin typeface="Arial MT"/>
                <a:cs typeface="Arial MT"/>
              </a:rPr>
              <a:t>is</a:t>
            </a:r>
            <a:r>
              <a:rPr sz="2000" spc="-2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D4D4B"/>
                </a:solidFill>
                <a:latin typeface="Arial MT"/>
                <a:cs typeface="Arial MT"/>
              </a:rPr>
              <a:t>sent</a:t>
            </a:r>
            <a:r>
              <a:rPr sz="2000" spc="-2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D4D4B"/>
                </a:solidFill>
                <a:latin typeface="Arial MT"/>
                <a:cs typeface="Arial MT"/>
              </a:rPr>
              <a:t>to</a:t>
            </a:r>
            <a:r>
              <a:rPr sz="2000" spc="-3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D4D4B"/>
                </a:solidFill>
                <a:latin typeface="Arial MT"/>
                <a:cs typeface="Arial MT"/>
              </a:rPr>
              <a:t>the</a:t>
            </a:r>
            <a:r>
              <a:rPr sz="2000" spc="-2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D4D4B"/>
                </a:solidFill>
                <a:latin typeface="Arial MT"/>
                <a:cs typeface="Arial MT"/>
              </a:rPr>
              <a:t>origin</a:t>
            </a:r>
            <a:endParaRPr sz="2000">
              <a:latin typeface="Arial MT"/>
              <a:cs typeface="Arial MT"/>
            </a:endParaRPr>
          </a:p>
          <a:p>
            <a:pPr marL="1099185" marR="5080" lvl="1" indent="-342900">
              <a:lnSpc>
                <a:spcPct val="100000"/>
              </a:lnSpc>
              <a:spcBef>
                <a:spcPts val="484"/>
              </a:spcBef>
              <a:buChar char="•"/>
              <a:tabLst>
                <a:tab pos="1099185" algn="l"/>
                <a:tab pos="1099820" algn="l"/>
              </a:tabLst>
            </a:pPr>
            <a:r>
              <a:rPr sz="2000" dirty="0">
                <a:solidFill>
                  <a:srgbClr val="4D4D4B"/>
                </a:solidFill>
                <a:latin typeface="Arial MT"/>
                <a:cs typeface="Arial MT"/>
              </a:rPr>
              <a:t>CloudFront</a:t>
            </a:r>
            <a:r>
              <a:rPr sz="2000" spc="-3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D4D4B"/>
                </a:solidFill>
                <a:latin typeface="Arial MT"/>
                <a:cs typeface="Arial MT"/>
              </a:rPr>
              <a:t>keeps</a:t>
            </a:r>
            <a:r>
              <a:rPr sz="2000" spc="-3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D4D4B"/>
                </a:solidFill>
                <a:latin typeface="Arial MT"/>
                <a:cs typeface="Arial MT"/>
              </a:rPr>
              <a:t>persistent</a:t>
            </a:r>
            <a:r>
              <a:rPr sz="2000" spc="-4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D4D4B"/>
                </a:solidFill>
                <a:latin typeface="Arial MT"/>
                <a:cs typeface="Arial MT"/>
              </a:rPr>
              <a:t>connection</a:t>
            </a:r>
            <a:r>
              <a:rPr sz="2000" spc="-4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D4D4B"/>
                </a:solidFill>
                <a:latin typeface="Arial MT"/>
                <a:cs typeface="Arial MT"/>
              </a:rPr>
              <a:t>to</a:t>
            </a:r>
            <a:r>
              <a:rPr sz="2000" spc="-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D4D4B"/>
                </a:solidFill>
                <a:latin typeface="Arial MT"/>
                <a:cs typeface="Arial MT"/>
              </a:rPr>
              <a:t>Origin – minimizes </a:t>
            </a:r>
            <a:r>
              <a:rPr sz="2000" spc="-54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D4D4B"/>
                </a:solidFill>
                <a:latin typeface="Arial MT"/>
                <a:cs typeface="Arial MT"/>
              </a:rPr>
              <a:t>connection</a:t>
            </a:r>
            <a:r>
              <a:rPr sz="2000" spc="-5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D4D4B"/>
                </a:solidFill>
                <a:latin typeface="Arial MT"/>
                <a:cs typeface="Arial MT"/>
              </a:rPr>
              <a:t>establishment</a:t>
            </a:r>
            <a:r>
              <a:rPr sz="2000" spc="-4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000" dirty="0">
                <a:solidFill>
                  <a:srgbClr val="4D4D4B"/>
                </a:solidFill>
                <a:latin typeface="Arial MT"/>
                <a:cs typeface="Arial MT"/>
              </a:rPr>
              <a:t>overhead</a:t>
            </a:r>
            <a:endParaRPr sz="2000">
              <a:latin typeface="Arial MT"/>
              <a:cs typeface="Arial MT"/>
            </a:endParaRPr>
          </a:p>
          <a:p>
            <a:pPr marL="355600" marR="546100" indent="-342900">
              <a:lnSpc>
                <a:spcPct val="100000"/>
              </a:lnSpc>
              <a:spcBef>
                <a:spcPts val="5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Data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 transfer</a:t>
            </a:r>
            <a:r>
              <a:rPr sz="2400" spc="-2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over</a:t>
            </a:r>
            <a:r>
              <a:rPr sz="2400" spc="-13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30" dirty="0">
                <a:solidFill>
                  <a:srgbClr val="4D4D4B"/>
                </a:solidFill>
                <a:latin typeface="Arial MT"/>
                <a:cs typeface="Arial MT"/>
              </a:rPr>
              <a:t>AWS</a:t>
            </a:r>
            <a:r>
              <a:rPr sz="2400" spc="-1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backbone</a:t>
            </a:r>
            <a:r>
              <a:rPr sz="2400" spc="2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network</a:t>
            </a:r>
            <a:r>
              <a:rPr sz="2400" spc="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dirty="0">
                <a:solidFill>
                  <a:srgbClr val="4D4D4B"/>
                </a:solidFill>
                <a:latin typeface="Arial MT"/>
                <a:cs typeface="Arial MT"/>
              </a:rPr>
              <a:t>(for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origin </a:t>
            </a:r>
            <a:r>
              <a:rPr sz="2400" spc="-650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5" dirty="0">
                <a:solidFill>
                  <a:srgbClr val="4D4D4B"/>
                </a:solidFill>
                <a:latin typeface="Arial MT"/>
                <a:cs typeface="Arial MT"/>
              </a:rPr>
              <a:t>hosted in</a:t>
            </a:r>
            <a:r>
              <a:rPr sz="2400" spc="-125" dirty="0">
                <a:solidFill>
                  <a:srgbClr val="4D4D4B"/>
                </a:solidFill>
                <a:latin typeface="Arial MT"/>
                <a:cs typeface="Arial MT"/>
              </a:rPr>
              <a:t> </a:t>
            </a:r>
            <a:r>
              <a:rPr sz="2400" spc="-25" dirty="0">
                <a:solidFill>
                  <a:srgbClr val="4D4D4B"/>
                </a:solidFill>
                <a:latin typeface="Arial MT"/>
                <a:cs typeface="Arial MT"/>
              </a:rPr>
              <a:t>AWS)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10712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4D4D4B"/>
                </a:solidFill>
              </a:rPr>
              <a:t>Origin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24865" y="1193546"/>
            <a:ext cx="4303395" cy="1619250"/>
            <a:chOff x="324865" y="1193546"/>
            <a:chExt cx="4303395" cy="16192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411782" y="2002078"/>
              <a:ext cx="126361" cy="810116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439161" y="2001774"/>
              <a:ext cx="76200" cy="766445"/>
            </a:xfrm>
            <a:custGeom>
              <a:avLst/>
              <a:gdLst/>
              <a:ahLst/>
              <a:cxnLst/>
              <a:rect l="l" t="t" r="r" b="b"/>
              <a:pathLst>
                <a:path w="76200" h="766444">
                  <a:moveTo>
                    <a:pt x="25400" y="689863"/>
                  </a:moveTo>
                  <a:lnTo>
                    <a:pt x="0" y="689863"/>
                  </a:lnTo>
                  <a:lnTo>
                    <a:pt x="38100" y="766063"/>
                  </a:lnTo>
                  <a:lnTo>
                    <a:pt x="69850" y="702563"/>
                  </a:lnTo>
                  <a:lnTo>
                    <a:pt x="25400" y="702563"/>
                  </a:lnTo>
                  <a:lnTo>
                    <a:pt x="25400" y="689863"/>
                  </a:lnTo>
                  <a:close/>
                </a:path>
                <a:path w="76200" h="766444">
                  <a:moveTo>
                    <a:pt x="50800" y="63500"/>
                  </a:moveTo>
                  <a:lnTo>
                    <a:pt x="25400" y="63500"/>
                  </a:lnTo>
                  <a:lnTo>
                    <a:pt x="25400" y="702563"/>
                  </a:lnTo>
                  <a:lnTo>
                    <a:pt x="50800" y="702563"/>
                  </a:lnTo>
                  <a:lnTo>
                    <a:pt x="50800" y="63500"/>
                  </a:lnTo>
                  <a:close/>
                </a:path>
                <a:path w="76200" h="766444">
                  <a:moveTo>
                    <a:pt x="76200" y="689863"/>
                  </a:moveTo>
                  <a:lnTo>
                    <a:pt x="50800" y="689863"/>
                  </a:lnTo>
                  <a:lnTo>
                    <a:pt x="50800" y="702563"/>
                  </a:lnTo>
                  <a:lnTo>
                    <a:pt x="69850" y="702563"/>
                  </a:lnTo>
                  <a:lnTo>
                    <a:pt x="76200" y="689863"/>
                  </a:lnTo>
                  <a:close/>
                </a:path>
                <a:path w="76200" h="766444">
                  <a:moveTo>
                    <a:pt x="38100" y="0"/>
                  </a:moveTo>
                  <a:lnTo>
                    <a:pt x="0" y="76200"/>
                  </a:lnTo>
                  <a:lnTo>
                    <a:pt x="25400" y="76200"/>
                  </a:lnTo>
                  <a:lnTo>
                    <a:pt x="25400" y="63500"/>
                  </a:lnTo>
                  <a:lnTo>
                    <a:pt x="69850" y="63500"/>
                  </a:lnTo>
                  <a:lnTo>
                    <a:pt x="38100" y="0"/>
                  </a:lnTo>
                  <a:close/>
                </a:path>
                <a:path w="76200" h="766444">
                  <a:moveTo>
                    <a:pt x="69850" y="63500"/>
                  </a:moveTo>
                  <a:lnTo>
                    <a:pt x="50800" y="63500"/>
                  </a:lnTo>
                  <a:lnTo>
                    <a:pt x="50800" y="76200"/>
                  </a:lnTo>
                  <a:lnTo>
                    <a:pt x="76200" y="76200"/>
                  </a:lnTo>
                  <a:lnTo>
                    <a:pt x="69850" y="6350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37565" y="1206246"/>
              <a:ext cx="4277995" cy="795655"/>
            </a:xfrm>
            <a:custGeom>
              <a:avLst/>
              <a:gdLst/>
              <a:ahLst/>
              <a:cxnLst/>
              <a:rect l="l" t="t" r="r" b="b"/>
              <a:pathLst>
                <a:path w="4277995" h="795655">
                  <a:moveTo>
                    <a:pt x="4145280" y="0"/>
                  </a:moveTo>
                  <a:lnTo>
                    <a:pt x="132588" y="0"/>
                  </a:lnTo>
                  <a:lnTo>
                    <a:pt x="90679" y="6754"/>
                  </a:lnTo>
                  <a:lnTo>
                    <a:pt x="54282" y="25566"/>
                  </a:lnTo>
                  <a:lnTo>
                    <a:pt x="25581" y="54260"/>
                  </a:lnTo>
                  <a:lnTo>
                    <a:pt x="6759" y="90659"/>
                  </a:lnTo>
                  <a:lnTo>
                    <a:pt x="0" y="132587"/>
                  </a:lnTo>
                  <a:lnTo>
                    <a:pt x="0" y="662939"/>
                  </a:lnTo>
                  <a:lnTo>
                    <a:pt x="6759" y="704868"/>
                  </a:lnTo>
                  <a:lnTo>
                    <a:pt x="25581" y="741267"/>
                  </a:lnTo>
                  <a:lnTo>
                    <a:pt x="54282" y="769961"/>
                  </a:lnTo>
                  <a:lnTo>
                    <a:pt x="90679" y="788773"/>
                  </a:lnTo>
                  <a:lnTo>
                    <a:pt x="132588" y="795527"/>
                  </a:lnTo>
                  <a:lnTo>
                    <a:pt x="4145280" y="795527"/>
                  </a:lnTo>
                  <a:lnTo>
                    <a:pt x="4187208" y="788773"/>
                  </a:lnTo>
                  <a:lnTo>
                    <a:pt x="4223607" y="769961"/>
                  </a:lnTo>
                  <a:lnTo>
                    <a:pt x="4252301" y="741267"/>
                  </a:lnTo>
                  <a:lnTo>
                    <a:pt x="4271113" y="704868"/>
                  </a:lnTo>
                  <a:lnTo>
                    <a:pt x="4277868" y="662939"/>
                  </a:lnTo>
                  <a:lnTo>
                    <a:pt x="4277868" y="132587"/>
                  </a:lnTo>
                  <a:lnTo>
                    <a:pt x="4271113" y="90659"/>
                  </a:lnTo>
                  <a:lnTo>
                    <a:pt x="4252301" y="54260"/>
                  </a:lnTo>
                  <a:lnTo>
                    <a:pt x="4223607" y="25566"/>
                  </a:lnTo>
                  <a:lnTo>
                    <a:pt x="4187208" y="6754"/>
                  </a:lnTo>
                  <a:lnTo>
                    <a:pt x="41452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37565" y="1206246"/>
              <a:ext cx="4277995" cy="795655"/>
            </a:xfrm>
            <a:custGeom>
              <a:avLst/>
              <a:gdLst/>
              <a:ahLst/>
              <a:cxnLst/>
              <a:rect l="l" t="t" r="r" b="b"/>
              <a:pathLst>
                <a:path w="4277995" h="795655">
                  <a:moveTo>
                    <a:pt x="0" y="132587"/>
                  </a:moveTo>
                  <a:lnTo>
                    <a:pt x="6759" y="90659"/>
                  </a:lnTo>
                  <a:lnTo>
                    <a:pt x="25581" y="54260"/>
                  </a:lnTo>
                  <a:lnTo>
                    <a:pt x="54282" y="25566"/>
                  </a:lnTo>
                  <a:lnTo>
                    <a:pt x="90679" y="6754"/>
                  </a:lnTo>
                  <a:lnTo>
                    <a:pt x="132588" y="0"/>
                  </a:lnTo>
                  <a:lnTo>
                    <a:pt x="4145280" y="0"/>
                  </a:lnTo>
                  <a:lnTo>
                    <a:pt x="4187208" y="6754"/>
                  </a:lnTo>
                  <a:lnTo>
                    <a:pt x="4223607" y="25566"/>
                  </a:lnTo>
                  <a:lnTo>
                    <a:pt x="4252301" y="54260"/>
                  </a:lnTo>
                  <a:lnTo>
                    <a:pt x="4271113" y="90659"/>
                  </a:lnTo>
                  <a:lnTo>
                    <a:pt x="4277868" y="132587"/>
                  </a:lnTo>
                  <a:lnTo>
                    <a:pt x="4277868" y="662939"/>
                  </a:lnTo>
                  <a:lnTo>
                    <a:pt x="4271113" y="704868"/>
                  </a:lnTo>
                  <a:lnTo>
                    <a:pt x="4252301" y="741267"/>
                  </a:lnTo>
                  <a:lnTo>
                    <a:pt x="4223607" y="769961"/>
                  </a:lnTo>
                  <a:lnTo>
                    <a:pt x="4187208" y="788773"/>
                  </a:lnTo>
                  <a:lnTo>
                    <a:pt x="4145280" y="795527"/>
                  </a:lnTo>
                  <a:lnTo>
                    <a:pt x="132588" y="795527"/>
                  </a:lnTo>
                  <a:lnTo>
                    <a:pt x="90679" y="788773"/>
                  </a:lnTo>
                  <a:lnTo>
                    <a:pt x="54282" y="769961"/>
                  </a:lnTo>
                  <a:lnTo>
                    <a:pt x="25581" y="741267"/>
                  </a:lnTo>
                  <a:lnTo>
                    <a:pt x="6759" y="704868"/>
                  </a:lnTo>
                  <a:lnTo>
                    <a:pt x="0" y="662939"/>
                  </a:lnTo>
                  <a:lnTo>
                    <a:pt x="0" y="132587"/>
                  </a:lnTo>
                  <a:close/>
                </a:path>
              </a:pathLst>
            </a:custGeom>
            <a:ln w="2540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898395" y="1447927"/>
            <a:ext cx="1153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l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u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dFro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324865" y="2755645"/>
            <a:ext cx="4303395" cy="1196340"/>
            <a:chOff x="324865" y="2755645"/>
            <a:chExt cx="4303395" cy="1196340"/>
          </a:xfrm>
        </p:grpSpPr>
        <p:sp>
          <p:nvSpPr>
            <p:cNvPr id="10" name="object 10"/>
            <p:cNvSpPr/>
            <p:nvPr/>
          </p:nvSpPr>
          <p:spPr>
            <a:xfrm>
              <a:off x="337565" y="2768345"/>
              <a:ext cx="4277995" cy="1170940"/>
            </a:xfrm>
            <a:custGeom>
              <a:avLst/>
              <a:gdLst/>
              <a:ahLst/>
              <a:cxnLst/>
              <a:rect l="l" t="t" r="r" b="b"/>
              <a:pathLst>
                <a:path w="4277995" h="1170939">
                  <a:moveTo>
                    <a:pt x="4082796" y="0"/>
                  </a:moveTo>
                  <a:lnTo>
                    <a:pt x="195072" y="0"/>
                  </a:lnTo>
                  <a:lnTo>
                    <a:pt x="150344" y="5154"/>
                  </a:lnTo>
                  <a:lnTo>
                    <a:pt x="109284" y="19834"/>
                  </a:lnTo>
                  <a:lnTo>
                    <a:pt x="73064" y="42867"/>
                  </a:lnTo>
                  <a:lnTo>
                    <a:pt x="42855" y="73080"/>
                  </a:lnTo>
                  <a:lnTo>
                    <a:pt x="19827" y="109301"/>
                  </a:lnTo>
                  <a:lnTo>
                    <a:pt x="5152" y="150356"/>
                  </a:lnTo>
                  <a:lnTo>
                    <a:pt x="0" y="195072"/>
                  </a:lnTo>
                  <a:lnTo>
                    <a:pt x="0" y="975360"/>
                  </a:lnTo>
                  <a:lnTo>
                    <a:pt x="5152" y="1020075"/>
                  </a:lnTo>
                  <a:lnTo>
                    <a:pt x="19827" y="1061130"/>
                  </a:lnTo>
                  <a:lnTo>
                    <a:pt x="42855" y="1097351"/>
                  </a:lnTo>
                  <a:lnTo>
                    <a:pt x="73064" y="1127564"/>
                  </a:lnTo>
                  <a:lnTo>
                    <a:pt x="109284" y="1150597"/>
                  </a:lnTo>
                  <a:lnTo>
                    <a:pt x="150344" y="1165277"/>
                  </a:lnTo>
                  <a:lnTo>
                    <a:pt x="195072" y="1170432"/>
                  </a:lnTo>
                  <a:lnTo>
                    <a:pt x="4082796" y="1170432"/>
                  </a:lnTo>
                  <a:lnTo>
                    <a:pt x="4127511" y="1165277"/>
                  </a:lnTo>
                  <a:lnTo>
                    <a:pt x="4168566" y="1150597"/>
                  </a:lnTo>
                  <a:lnTo>
                    <a:pt x="4204787" y="1127564"/>
                  </a:lnTo>
                  <a:lnTo>
                    <a:pt x="4235000" y="1097351"/>
                  </a:lnTo>
                  <a:lnTo>
                    <a:pt x="4258033" y="1061130"/>
                  </a:lnTo>
                  <a:lnTo>
                    <a:pt x="4272713" y="1020075"/>
                  </a:lnTo>
                  <a:lnTo>
                    <a:pt x="4277868" y="975360"/>
                  </a:lnTo>
                  <a:lnTo>
                    <a:pt x="4277868" y="195072"/>
                  </a:lnTo>
                  <a:lnTo>
                    <a:pt x="4272713" y="150356"/>
                  </a:lnTo>
                  <a:lnTo>
                    <a:pt x="4258033" y="109301"/>
                  </a:lnTo>
                  <a:lnTo>
                    <a:pt x="4235000" y="73080"/>
                  </a:lnTo>
                  <a:lnTo>
                    <a:pt x="4204787" y="42867"/>
                  </a:lnTo>
                  <a:lnTo>
                    <a:pt x="4168566" y="19834"/>
                  </a:lnTo>
                  <a:lnTo>
                    <a:pt x="4127511" y="5154"/>
                  </a:lnTo>
                  <a:lnTo>
                    <a:pt x="4082796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37565" y="2768345"/>
              <a:ext cx="4277995" cy="1170940"/>
            </a:xfrm>
            <a:custGeom>
              <a:avLst/>
              <a:gdLst/>
              <a:ahLst/>
              <a:cxnLst/>
              <a:rect l="l" t="t" r="r" b="b"/>
              <a:pathLst>
                <a:path w="4277995" h="1170939">
                  <a:moveTo>
                    <a:pt x="0" y="195072"/>
                  </a:moveTo>
                  <a:lnTo>
                    <a:pt x="5152" y="150356"/>
                  </a:lnTo>
                  <a:lnTo>
                    <a:pt x="19827" y="109301"/>
                  </a:lnTo>
                  <a:lnTo>
                    <a:pt x="42855" y="73080"/>
                  </a:lnTo>
                  <a:lnTo>
                    <a:pt x="73064" y="42867"/>
                  </a:lnTo>
                  <a:lnTo>
                    <a:pt x="109284" y="19834"/>
                  </a:lnTo>
                  <a:lnTo>
                    <a:pt x="150344" y="5154"/>
                  </a:lnTo>
                  <a:lnTo>
                    <a:pt x="195072" y="0"/>
                  </a:lnTo>
                  <a:lnTo>
                    <a:pt x="4082796" y="0"/>
                  </a:lnTo>
                  <a:lnTo>
                    <a:pt x="4127511" y="5154"/>
                  </a:lnTo>
                  <a:lnTo>
                    <a:pt x="4168566" y="19834"/>
                  </a:lnTo>
                  <a:lnTo>
                    <a:pt x="4204787" y="42867"/>
                  </a:lnTo>
                  <a:lnTo>
                    <a:pt x="4235000" y="73080"/>
                  </a:lnTo>
                  <a:lnTo>
                    <a:pt x="4258033" y="109301"/>
                  </a:lnTo>
                  <a:lnTo>
                    <a:pt x="4272713" y="150356"/>
                  </a:lnTo>
                  <a:lnTo>
                    <a:pt x="4277868" y="195072"/>
                  </a:lnTo>
                  <a:lnTo>
                    <a:pt x="4277868" y="975360"/>
                  </a:lnTo>
                  <a:lnTo>
                    <a:pt x="4272713" y="1020075"/>
                  </a:lnTo>
                  <a:lnTo>
                    <a:pt x="4258033" y="1061130"/>
                  </a:lnTo>
                  <a:lnTo>
                    <a:pt x="4235000" y="1097351"/>
                  </a:lnTo>
                  <a:lnTo>
                    <a:pt x="4204787" y="1127564"/>
                  </a:lnTo>
                  <a:lnTo>
                    <a:pt x="4168566" y="1150597"/>
                  </a:lnTo>
                  <a:lnTo>
                    <a:pt x="4127511" y="1165277"/>
                  </a:lnTo>
                  <a:lnTo>
                    <a:pt x="4082796" y="1170432"/>
                  </a:lnTo>
                  <a:lnTo>
                    <a:pt x="195072" y="1170432"/>
                  </a:lnTo>
                  <a:lnTo>
                    <a:pt x="150344" y="1165277"/>
                  </a:lnTo>
                  <a:lnTo>
                    <a:pt x="109284" y="1150597"/>
                  </a:lnTo>
                  <a:lnTo>
                    <a:pt x="73064" y="1127564"/>
                  </a:lnTo>
                  <a:lnTo>
                    <a:pt x="42855" y="1097351"/>
                  </a:lnTo>
                  <a:lnTo>
                    <a:pt x="19827" y="1061130"/>
                  </a:lnTo>
                  <a:lnTo>
                    <a:pt x="5152" y="1020075"/>
                  </a:lnTo>
                  <a:lnTo>
                    <a:pt x="0" y="975360"/>
                  </a:lnTo>
                  <a:lnTo>
                    <a:pt x="0" y="195072"/>
                  </a:lnTo>
                  <a:close/>
                </a:path>
              </a:pathLst>
            </a:custGeom>
            <a:ln w="2540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59000" y="3543427"/>
            <a:ext cx="6350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ri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g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65073" y="2914142"/>
            <a:ext cx="857885" cy="621665"/>
            <a:chOff x="465073" y="2914142"/>
            <a:chExt cx="857885" cy="621665"/>
          </a:xfrm>
        </p:grpSpPr>
        <p:sp>
          <p:nvSpPr>
            <p:cNvPr id="14" name="object 14"/>
            <p:cNvSpPr/>
            <p:nvPr/>
          </p:nvSpPr>
          <p:spPr>
            <a:xfrm>
              <a:off x="477773" y="2926842"/>
              <a:ext cx="832485" cy="596265"/>
            </a:xfrm>
            <a:custGeom>
              <a:avLst/>
              <a:gdLst/>
              <a:ahLst/>
              <a:cxnLst/>
              <a:rect l="l" t="t" r="r" b="b"/>
              <a:pathLst>
                <a:path w="832485" h="596264">
                  <a:moveTo>
                    <a:pt x="732790" y="0"/>
                  </a:moveTo>
                  <a:lnTo>
                    <a:pt x="99314" y="0"/>
                  </a:lnTo>
                  <a:lnTo>
                    <a:pt x="60655" y="7802"/>
                  </a:lnTo>
                  <a:lnTo>
                    <a:pt x="29087" y="29082"/>
                  </a:lnTo>
                  <a:lnTo>
                    <a:pt x="7804" y="60650"/>
                  </a:lnTo>
                  <a:lnTo>
                    <a:pt x="0" y="99313"/>
                  </a:lnTo>
                  <a:lnTo>
                    <a:pt x="0" y="496569"/>
                  </a:lnTo>
                  <a:lnTo>
                    <a:pt x="7804" y="535233"/>
                  </a:lnTo>
                  <a:lnTo>
                    <a:pt x="29087" y="566801"/>
                  </a:lnTo>
                  <a:lnTo>
                    <a:pt x="60655" y="588081"/>
                  </a:lnTo>
                  <a:lnTo>
                    <a:pt x="99314" y="595883"/>
                  </a:lnTo>
                  <a:lnTo>
                    <a:pt x="732790" y="595883"/>
                  </a:lnTo>
                  <a:lnTo>
                    <a:pt x="771448" y="588081"/>
                  </a:lnTo>
                  <a:lnTo>
                    <a:pt x="803016" y="566801"/>
                  </a:lnTo>
                  <a:lnTo>
                    <a:pt x="824299" y="535233"/>
                  </a:lnTo>
                  <a:lnTo>
                    <a:pt x="832104" y="496569"/>
                  </a:lnTo>
                  <a:lnTo>
                    <a:pt x="832104" y="99313"/>
                  </a:lnTo>
                  <a:lnTo>
                    <a:pt x="824299" y="60650"/>
                  </a:lnTo>
                  <a:lnTo>
                    <a:pt x="803016" y="29082"/>
                  </a:lnTo>
                  <a:lnTo>
                    <a:pt x="771448" y="7802"/>
                  </a:lnTo>
                  <a:lnTo>
                    <a:pt x="7327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477773" y="2926842"/>
              <a:ext cx="832485" cy="596265"/>
            </a:xfrm>
            <a:custGeom>
              <a:avLst/>
              <a:gdLst/>
              <a:ahLst/>
              <a:cxnLst/>
              <a:rect l="l" t="t" r="r" b="b"/>
              <a:pathLst>
                <a:path w="832485" h="596264">
                  <a:moveTo>
                    <a:pt x="0" y="99313"/>
                  </a:moveTo>
                  <a:lnTo>
                    <a:pt x="7804" y="60650"/>
                  </a:lnTo>
                  <a:lnTo>
                    <a:pt x="29087" y="29082"/>
                  </a:lnTo>
                  <a:lnTo>
                    <a:pt x="60655" y="7802"/>
                  </a:lnTo>
                  <a:lnTo>
                    <a:pt x="99314" y="0"/>
                  </a:lnTo>
                  <a:lnTo>
                    <a:pt x="732790" y="0"/>
                  </a:lnTo>
                  <a:lnTo>
                    <a:pt x="771448" y="7802"/>
                  </a:lnTo>
                  <a:lnTo>
                    <a:pt x="803016" y="29082"/>
                  </a:lnTo>
                  <a:lnTo>
                    <a:pt x="824299" y="60650"/>
                  </a:lnTo>
                  <a:lnTo>
                    <a:pt x="832104" y="99313"/>
                  </a:lnTo>
                  <a:lnTo>
                    <a:pt x="832104" y="496569"/>
                  </a:lnTo>
                  <a:lnTo>
                    <a:pt x="824299" y="535233"/>
                  </a:lnTo>
                  <a:lnTo>
                    <a:pt x="803016" y="566801"/>
                  </a:lnTo>
                  <a:lnTo>
                    <a:pt x="771448" y="588081"/>
                  </a:lnTo>
                  <a:lnTo>
                    <a:pt x="732790" y="595883"/>
                  </a:lnTo>
                  <a:lnTo>
                    <a:pt x="99314" y="595883"/>
                  </a:lnTo>
                  <a:lnTo>
                    <a:pt x="60655" y="588081"/>
                  </a:lnTo>
                  <a:lnTo>
                    <a:pt x="29087" y="566801"/>
                  </a:lnTo>
                  <a:lnTo>
                    <a:pt x="7804" y="535233"/>
                  </a:lnTo>
                  <a:lnTo>
                    <a:pt x="0" y="496569"/>
                  </a:lnTo>
                  <a:lnTo>
                    <a:pt x="0" y="99313"/>
                  </a:lnTo>
                  <a:close/>
                </a:path>
              </a:pathLst>
            </a:custGeom>
            <a:ln w="2540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739851" y="3068827"/>
            <a:ext cx="305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S3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445005" y="2914142"/>
            <a:ext cx="857885" cy="621665"/>
            <a:chOff x="1445005" y="2914142"/>
            <a:chExt cx="857885" cy="621665"/>
          </a:xfrm>
        </p:grpSpPr>
        <p:sp>
          <p:nvSpPr>
            <p:cNvPr id="18" name="object 18"/>
            <p:cNvSpPr/>
            <p:nvPr/>
          </p:nvSpPr>
          <p:spPr>
            <a:xfrm>
              <a:off x="1457705" y="2926842"/>
              <a:ext cx="832485" cy="596265"/>
            </a:xfrm>
            <a:custGeom>
              <a:avLst/>
              <a:gdLst/>
              <a:ahLst/>
              <a:cxnLst/>
              <a:rect l="l" t="t" r="r" b="b"/>
              <a:pathLst>
                <a:path w="832485" h="596264">
                  <a:moveTo>
                    <a:pt x="732789" y="0"/>
                  </a:moveTo>
                  <a:lnTo>
                    <a:pt x="99313" y="0"/>
                  </a:lnTo>
                  <a:lnTo>
                    <a:pt x="60650" y="7802"/>
                  </a:lnTo>
                  <a:lnTo>
                    <a:pt x="29082" y="29082"/>
                  </a:lnTo>
                  <a:lnTo>
                    <a:pt x="7802" y="60650"/>
                  </a:lnTo>
                  <a:lnTo>
                    <a:pt x="0" y="99313"/>
                  </a:lnTo>
                  <a:lnTo>
                    <a:pt x="0" y="496569"/>
                  </a:lnTo>
                  <a:lnTo>
                    <a:pt x="7802" y="535233"/>
                  </a:lnTo>
                  <a:lnTo>
                    <a:pt x="29082" y="566801"/>
                  </a:lnTo>
                  <a:lnTo>
                    <a:pt x="60650" y="588081"/>
                  </a:lnTo>
                  <a:lnTo>
                    <a:pt x="99313" y="595883"/>
                  </a:lnTo>
                  <a:lnTo>
                    <a:pt x="732789" y="595883"/>
                  </a:lnTo>
                  <a:lnTo>
                    <a:pt x="771453" y="588081"/>
                  </a:lnTo>
                  <a:lnTo>
                    <a:pt x="803021" y="566801"/>
                  </a:lnTo>
                  <a:lnTo>
                    <a:pt x="824301" y="535233"/>
                  </a:lnTo>
                  <a:lnTo>
                    <a:pt x="832104" y="496569"/>
                  </a:lnTo>
                  <a:lnTo>
                    <a:pt x="832104" y="99313"/>
                  </a:lnTo>
                  <a:lnTo>
                    <a:pt x="824301" y="60650"/>
                  </a:lnTo>
                  <a:lnTo>
                    <a:pt x="803020" y="29082"/>
                  </a:lnTo>
                  <a:lnTo>
                    <a:pt x="771453" y="7802"/>
                  </a:lnTo>
                  <a:lnTo>
                    <a:pt x="7327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57705" y="2926842"/>
              <a:ext cx="832485" cy="596265"/>
            </a:xfrm>
            <a:custGeom>
              <a:avLst/>
              <a:gdLst/>
              <a:ahLst/>
              <a:cxnLst/>
              <a:rect l="l" t="t" r="r" b="b"/>
              <a:pathLst>
                <a:path w="832485" h="596264">
                  <a:moveTo>
                    <a:pt x="0" y="99313"/>
                  </a:moveTo>
                  <a:lnTo>
                    <a:pt x="7802" y="60650"/>
                  </a:lnTo>
                  <a:lnTo>
                    <a:pt x="29082" y="29082"/>
                  </a:lnTo>
                  <a:lnTo>
                    <a:pt x="60650" y="7802"/>
                  </a:lnTo>
                  <a:lnTo>
                    <a:pt x="99313" y="0"/>
                  </a:lnTo>
                  <a:lnTo>
                    <a:pt x="732789" y="0"/>
                  </a:lnTo>
                  <a:lnTo>
                    <a:pt x="771453" y="7802"/>
                  </a:lnTo>
                  <a:lnTo>
                    <a:pt x="803020" y="29082"/>
                  </a:lnTo>
                  <a:lnTo>
                    <a:pt x="824301" y="60650"/>
                  </a:lnTo>
                  <a:lnTo>
                    <a:pt x="832104" y="99313"/>
                  </a:lnTo>
                  <a:lnTo>
                    <a:pt x="832104" y="496569"/>
                  </a:lnTo>
                  <a:lnTo>
                    <a:pt x="824301" y="535233"/>
                  </a:lnTo>
                  <a:lnTo>
                    <a:pt x="803021" y="566801"/>
                  </a:lnTo>
                  <a:lnTo>
                    <a:pt x="771453" y="588081"/>
                  </a:lnTo>
                  <a:lnTo>
                    <a:pt x="732789" y="595883"/>
                  </a:lnTo>
                  <a:lnTo>
                    <a:pt x="99313" y="595883"/>
                  </a:lnTo>
                  <a:lnTo>
                    <a:pt x="60650" y="588081"/>
                  </a:lnTo>
                  <a:lnTo>
                    <a:pt x="29082" y="566801"/>
                  </a:lnTo>
                  <a:lnTo>
                    <a:pt x="7802" y="535233"/>
                  </a:lnTo>
                  <a:lnTo>
                    <a:pt x="0" y="496569"/>
                  </a:lnTo>
                  <a:lnTo>
                    <a:pt x="0" y="99313"/>
                  </a:lnTo>
                  <a:close/>
                </a:path>
              </a:pathLst>
            </a:custGeom>
            <a:ln w="2540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1643888" y="3068827"/>
            <a:ext cx="4572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L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B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2424938" y="2914142"/>
            <a:ext cx="857885" cy="621665"/>
            <a:chOff x="2424938" y="2914142"/>
            <a:chExt cx="857885" cy="621665"/>
          </a:xfrm>
        </p:grpSpPr>
        <p:sp>
          <p:nvSpPr>
            <p:cNvPr id="22" name="object 22"/>
            <p:cNvSpPr/>
            <p:nvPr/>
          </p:nvSpPr>
          <p:spPr>
            <a:xfrm>
              <a:off x="2437638" y="2926842"/>
              <a:ext cx="832485" cy="596265"/>
            </a:xfrm>
            <a:custGeom>
              <a:avLst/>
              <a:gdLst/>
              <a:ahLst/>
              <a:cxnLst/>
              <a:rect l="l" t="t" r="r" b="b"/>
              <a:pathLst>
                <a:path w="832485" h="596264">
                  <a:moveTo>
                    <a:pt x="732789" y="0"/>
                  </a:moveTo>
                  <a:lnTo>
                    <a:pt x="99313" y="0"/>
                  </a:lnTo>
                  <a:lnTo>
                    <a:pt x="60650" y="7802"/>
                  </a:lnTo>
                  <a:lnTo>
                    <a:pt x="29082" y="29082"/>
                  </a:lnTo>
                  <a:lnTo>
                    <a:pt x="7802" y="60650"/>
                  </a:lnTo>
                  <a:lnTo>
                    <a:pt x="0" y="99313"/>
                  </a:lnTo>
                  <a:lnTo>
                    <a:pt x="0" y="496569"/>
                  </a:lnTo>
                  <a:lnTo>
                    <a:pt x="7802" y="535233"/>
                  </a:lnTo>
                  <a:lnTo>
                    <a:pt x="29082" y="566801"/>
                  </a:lnTo>
                  <a:lnTo>
                    <a:pt x="60650" y="588081"/>
                  </a:lnTo>
                  <a:lnTo>
                    <a:pt x="99313" y="595883"/>
                  </a:lnTo>
                  <a:lnTo>
                    <a:pt x="732789" y="595883"/>
                  </a:lnTo>
                  <a:lnTo>
                    <a:pt x="771453" y="588081"/>
                  </a:lnTo>
                  <a:lnTo>
                    <a:pt x="803020" y="566801"/>
                  </a:lnTo>
                  <a:lnTo>
                    <a:pt x="824301" y="535233"/>
                  </a:lnTo>
                  <a:lnTo>
                    <a:pt x="832103" y="496569"/>
                  </a:lnTo>
                  <a:lnTo>
                    <a:pt x="832103" y="99313"/>
                  </a:lnTo>
                  <a:lnTo>
                    <a:pt x="824301" y="60650"/>
                  </a:lnTo>
                  <a:lnTo>
                    <a:pt x="803020" y="29082"/>
                  </a:lnTo>
                  <a:lnTo>
                    <a:pt x="771453" y="7802"/>
                  </a:lnTo>
                  <a:lnTo>
                    <a:pt x="73278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37638" y="2926842"/>
              <a:ext cx="832485" cy="596265"/>
            </a:xfrm>
            <a:custGeom>
              <a:avLst/>
              <a:gdLst/>
              <a:ahLst/>
              <a:cxnLst/>
              <a:rect l="l" t="t" r="r" b="b"/>
              <a:pathLst>
                <a:path w="832485" h="596264">
                  <a:moveTo>
                    <a:pt x="0" y="99313"/>
                  </a:moveTo>
                  <a:lnTo>
                    <a:pt x="7802" y="60650"/>
                  </a:lnTo>
                  <a:lnTo>
                    <a:pt x="29082" y="29082"/>
                  </a:lnTo>
                  <a:lnTo>
                    <a:pt x="60650" y="7802"/>
                  </a:lnTo>
                  <a:lnTo>
                    <a:pt x="99313" y="0"/>
                  </a:lnTo>
                  <a:lnTo>
                    <a:pt x="732789" y="0"/>
                  </a:lnTo>
                  <a:lnTo>
                    <a:pt x="771453" y="7802"/>
                  </a:lnTo>
                  <a:lnTo>
                    <a:pt x="803020" y="29082"/>
                  </a:lnTo>
                  <a:lnTo>
                    <a:pt x="824301" y="60650"/>
                  </a:lnTo>
                  <a:lnTo>
                    <a:pt x="832103" y="99313"/>
                  </a:lnTo>
                  <a:lnTo>
                    <a:pt x="832103" y="496569"/>
                  </a:lnTo>
                  <a:lnTo>
                    <a:pt x="824301" y="535233"/>
                  </a:lnTo>
                  <a:lnTo>
                    <a:pt x="803020" y="566801"/>
                  </a:lnTo>
                  <a:lnTo>
                    <a:pt x="771453" y="588081"/>
                  </a:lnTo>
                  <a:lnTo>
                    <a:pt x="732789" y="595883"/>
                  </a:lnTo>
                  <a:lnTo>
                    <a:pt x="99313" y="595883"/>
                  </a:lnTo>
                  <a:lnTo>
                    <a:pt x="60650" y="588081"/>
                  </a:lnTo>
                  <a:lnTo>
                    <a:pt x="29082" y="566801"/>
                  </a:lnTo>
                  <a:lnTo>
                    <a:pt x="7802" y="535233"/>
                  </a:lnTo>
                  <a:lnTo>
                    <a:pt x="0" y="496569"/>
                  </a:lnTo>
                  <a:lnTo>
                    <a:pt x="0" y="99313"/>
                  </a:lnTo>
                  <a:close/>
                </a:path>
              </a:pathLst>
            </a:custGeom>
            <a:ln w="2540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617977" y="3068827"/>
            <a:ext cx="47053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EC2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404870" y="2914142"/>
            <a:ext cx="1048385" cy="619760"/>
            <a:chOff x="3404870" y="2914142"/>
            <a:chExt cx="1048385" cy="619760"/>
          </a:xfrm>
        </p:grpSpPr>
        <p:sp>
          <p:nvSpPr>
            <p:cNvPr id="26" name="object 26"/>
            <p:cNvSpPr/>
            <p:nvPr/>
          </p:nvSpPr>
          <p:spPr>
            <a:xfrm>
              <a:off x="3417570" y="2926842"/>
              <a:ext cx="1022985" cy="594360"/>
            </a:xfrm>
            <a:custGeom>
              <a:avLst/>
              <a:gdLst/>
              <a:ahLst/>
              <a:cxnLst/>
              <a:rect l="l" t="t" r="r" b="b"/>
              <a:pathLst>
                <a:path w="1022985" h="594360">
                  <a:moveTo>
                    <a:pt x="923543" y="0"/>
                  </a:moveTo>
                  <a:lnTo>
                    <a:pt x="99059" y="0"/>
                  </a:lnTo>
                  <a:lnTo>
                    <a:pt x="60489" y="7780"/>
                  </a:lnTo>
                  <a:lnTo>
                    <a:pt x="29003" y="29003"/>
                  </a:lnTo>
                  <a:lnTo>
                    <a:pt x="7780" y="60489"/>
                  </a:lnTo>
                  <a:lnTo>
                    <a:pt x="0" y="99059"/>
                  </a:lnTo>
                  <a:lnTo>
                    <a:pt x="0" y="495300"/>
                  </a:lnTo>
                  <a:lnTo>
                    <a:pt x="7780" y="533870"/>
                  </a:lnTo>
                  <a:lnTo>
                    <a:pt x="29003" y="565356"/>
                  </a:lnTo>
                  <a:lnTo>
                    <a:pt x="60489" y="586579"/>
                  </a:lnTo>
                  <a:lnTo>
                    <a:pt x="99059" y="594360"/>
                  </a:lnTo>
                  <a:lnTo>
                    <a:pt x="923543" y="594360"/>
                  </a:lnTo>
                  <a:lnTo>
                    <a:pt x="962114" y="586579"/>
                  </a:lnTo>
                  <a:lnTo>
                    <a:pt x="993600" y="565356"/>
                  </a:lnTo>
                  <a:lnTo>
                    <a:pt x="1014823" y="533870"/>
                  </a:lnTo>
                  <a:lnTo>
                    <a:pt x="1022603" y="495300"/>
                  </a:lnTo>
                  <a:lnTo>
                    <a:pt x="1022603" y="99059"/>
                  </a:lnTo>
                  <a:lnTo>
                    <a:pt x="1014823" y="60489"/>
                  </a:lnTo>
                  <a:lnTo>
                    <a:pt x="993600" y="29003"/>
                  </a:lnTo>
                  <a:lnTo>
                    <a:pt x="962114" y="7780"/>
                  </a:lnTo>
                  <a:lnTo>
                    <a:pt x="92354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417570" y="2926842"/>
              <a:ext cx="1022985" cy="594360"/>
            </a:xfrm>
            <a:custGeom>
              <a:avLst/>
              <a:gdLst/>
              <a:ahLst/>
              <a:cxnLst/>
              <a:rect l="l" t="t" r="r" b="b"/>
              <a:pathLst>
                <a:path w="1022985" h="594360">
                  <a:moveTo>
                    <a:pt x="0" y="99059"/>
                  </a:moveTo>
                  <a:lnTo>
                    <a:pt x="7780" y="60489"/>
                  </a:lnTo>
                  <a:lnTo>
                    <a:pt x="29003" y="29003"/>
                  </a:lnTo>
                  <a:lnTo>
                    <a:pt x="60489" y="7780"/>
                  </a:lnTo>
                  <a:lnTo>
                    <a:pt x="99059" y="0"/>
                  </a:lnTo>
                  <a:lnTo>
                    <a:pt x="923543" y="0"/>
                  </a:lnTo>
                  <a:lnTo>
                    <a:pt x="962114" y="7780"/>
                  </a:lnTo>
                  <a:lnTo>
                    <a:pt x="993600" y="29003"/>
                  </a:lnTo>
                  <a:lnTo>
                    <a:pt x="1014823" y="60489"/>
                  </a:lnTo>
                  <a:lnTo>
                    <a:pt x="1022603" y="99059"/>
                  </a:lnTo>
                  <a:lnTo>
                    <a:pt x="1022603" y="495300"/>
                  </a:lnTo>
                  <a:lnTo>
                    <a:pt x="1014823" y="533870"/>
                  </a:lnTo>
                  <a:lnTo>
                    <a:pt x="993600" y="565356"/>
                  </a:lnTo>
                  <a:lnTo>
                    <a:pt x="962114" y="586579"/>
                  </a:lnTo>
                  <a:lnTo>
                    <a:pt x="923543" y="594360"/>
                  </a:lnTo>
                  <a:lnTo>
                    <a:pt x="99059" y="594360"/>
                  </a:lnTo>
                  <a:lnTo>
                    <a:pt x="60489" y="586579"/>
                  </a:lnTo>
                  <a:lnTo>
                    <a:pt x="29003" y="565356"/>
                  </a:lnTo>
                  <a:lnTo>
                    <a:pt x="7780" y="533870"/>
                  </a:lnTo>
                  <a:lnTo>
                    <a:pt x="0" y="495300"/>
                  </a:lnTo>
                  <a:lnTo>
                    <a:pt x="0" y="99059"/>
                  </a:lnTo>
                  <a:close/>
                </a:path>
              </a:pathLst>
            </a:custGeom>
            <a:ln w="25400">
              <a:solidFill>
                <a:srgbClr val="4646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566921" y="3084956"/>
            <a:ext cx="7245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Custom</a:t>
            </a:r>
            <a:endParaRPr sz="1600">
              <a:latin typeface="Arial MT"/>
              <a:cs typeface="Arial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945507" y="92202"/>
            <a:ext cx="314198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Dynamic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and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Static</a:t>
            </a:r>
            <a:r>
              <a:rPr sz="1800" spc="-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Content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945507" y="641096"/>
            <a:ext cx="3811904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Streaming,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Video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on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demand,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Live </a:t>
            </a:r>
            <a:r>
              <a:rPr sz="1800" spc="-484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streaming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945507" y="1464309"/>
            <a:ext cx="3473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Restrict access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-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Signed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URLs, </a:t>
            </a:r>
            <a:r>
              <a:rPr sz="1800" spc="-484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Signed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Cookies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45507" y="2286965"/>
            <a:ext cx="18859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Geo</a:t>
            </a:r>
            <a:r>
              <a:rPr sz="1800" spc="-6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Restriction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945507" y="2836291"/>
            <a:ext cx="378904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Configurable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Caching, Invalidation </a:t>
            </a:r>
            <a:r>
              <a:rPr sz="1800" spc="-484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Option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945507" y="3659530"/>
            <a:ext cx="3169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Personalized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–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Query String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Parameters,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HTTP</a:t>
            </a:r>
            <a:r>
              <a:rPr sz="1800" spc="-7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Cookies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945507" y="4482185"/>
            <a:ext cx="3900804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Backup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Origin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(primary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not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healthy)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5284" y="2103881"/>
            <a:ext cx="595249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u="none" spc="-40" dirty="0">
                <a:solidFill>
                  <a:srgbClr val="4D4D4B"/>
                </a:solidFill>
              </a:rPr>
              <a:t>Security,</a:t>
            </a:r>
            <a:r>
              <a:rPr sz="4000" u="none" dirty="0">
                <a:solidFill>
                  <a:srgbClr val="4D4D4B"/>
                </a:solidFill>
              </a:rPr>
              <a:t> </a:t>
            </a:r>
            <a:r>
              <a:rPr sz="4000" u="none" spc="-10" dirty="0">
                <a:solidFill>
                  <a:srgbClr val="4D4D4B"/>
                </a:solidFill>
              </a:rPr>
              <a:t>Lambda@Edge</a:t>
            </a:r>
            <a:endParaRPr sz="4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22516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4D4D4B"/>
                </a:solidFill>
              </a:rPr>
              <a:t>Securing</a:t>
            </a:r>
            <a:r>
              <a:rPr u="none" spc="-10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S3</a:t>
            </a:r>
            <a:r>
              <a:rPr u="none" spc="-25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Origin</a:t>
            </a:r>
          </a:p>
        </p:txBody>
      </p:sp>
      <p:sp>
        <p:nvSpPr>
          <p:cNvPr id="3" name="object 3"/>
          <p:cNvSpPr/>
          <p:nvPr/>
        </p:nvSpPr>
        <p:spPr>
          <a:xfrm>
            <a:off x="1700022" y="2347722"/>
            <a:ext cx="1569720" cy="795655"/>
          </a:xfrm>
          <a:custGeom>
            <a:avLst/>
            <a:gdLst/>
            <a:ahLst/>
            <a:cxnLst/>
            <a:rect l="l" t="t" r="r" b="b"/>
            <a:pathLst>
              <a:path w="1569720" h="795655">
                <a:moveTo>
                  <a:pt x="0" y="132587"/>
                </a:moveTo>
                <a:lnTo>
                  <a:pt x="6754" y="90659"/>
                </a:lnTo>
                <a:lnTo>
                  <a:pt x="25566" y="54260"/>
                </a:lnTo>
                <a:lnTo>
                  <a:pt x="54260" y="25566"/>
                </a:lnTo>
                <a:lnTo>
                  <a:pt x="90659" y="6754"/>
                </a:lnTo>
                <a:lnTo>
                  <a:pt x="132587" y="0"/>
                </a:lnTo>
                <a:lnTo>
                  <a:pt x="1437132" y="0"/>
                </a:lnTo>
                <a:lnTo>
                  <a:pt x="1479060" y="6754"/>
                </a:lnTo>
                <a:lnTo>
                  <a:pt x="1515459" y="25566"/>
                </a:lnTo>
                <a:lnTo>
                  <a:pt x="1544153" y="54260"/>
                </a:lnTo>
                <a:lnTo>
                  <a:pt x="1562965" y="90659"/>
                </a:lnTo>
                <a:lnTo>
                  <a:pt x="1569719" y="132587"/>
                </a:lnTo>
                <a:lnTo>
                  <a:pt x="1569719" y="662939"/>
                </a:lnTo>
                <a:lnTo>
                  <a:pt x="1562965" y="704868"/>
                </a:lnTo>
                <a:lnTo>
                  <a:pt x="1544153" y="741267"/>
                </a:lnTo>
                <a:lnTo>
                  <a:pt x="1515459" y="769961"/>
                </a:lnTo>
                <a:lnTo>
                  <a:pt x="1479060" y="788773"/>
                </a:lnTo>
                <a:lnTo>
                  <a:pt x="1437132" y="795527"/>
                </a:lnTo>
                <a:lnTo>
                  <a:pt x="132587" y="795527"/>
                </a:lnTo>
                <a:lnTo>
                  <a:pt x="90659" y="788773"/>
                </a:lnTo>
                <a:lnTo>
                  <a:pt x="54260" y="769961"/>
                </a:lnTo>
                <a:lnTo>
                  <a:pt x="25566" y="741267"/>
                </a:lnTo>
                <a:lnTo>
                  <a:pt x="6754" y="704868"/>
                </a:lnTo>
                <a:lnTo>
                  <a:pt x="0" y="662939"/>
                </a:lnTo>
                <a:lnTo>
                  <a:pt x="0" y="132587"/>
                </a:lnTo>
                <a:close/>
              </a:path>
            </a:pathLst>
          </a:custGeom>
          <a:ln w="25399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908175" y="2589098"/>
            <a:ext cx="115379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C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loud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Fro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101590" y="2347722"/>
            <a:ext cx="955675" cy="795655"/>
          </a:xfrm>
          <a:custGeom>
            <a:avLst/>
            <a:gdLst/>
            <a:ahLst/>
            <a:cxnLst/>
            <a:rect l="l" t="t" r="r" b="b"/>
            <a:pathLst>
              <a:path w="955675" h="795655">
                <a:moveTo>
                  <a:pt x="0" y="132587"/>
                </a:moveTo>
                <a:lnTo>
                  <a:pt x="6754" y="90659"/>
                </a:lnTo>
                <a:lnTo>
                  <a:pt x="25566" y="54260"/>
                </a:lnTo>
                <a:lnTo>
                  <a:pt x="54260" y="25566"/>
                </a:lnTo>
                <a:lnTo>
                  <a:pt x="90659" y="6754"/>
                </a:lnTo>
                <a:lnTo>
                  <a:pt x="132587" y="0"/>
                </a:lnTo>
                <a:lnTo>
                  <a:pt x="822960" y="0"/>
                </a:lnTo>
                <a:lnTo>
                  <a:pt x="864888" y="6754"/>
                </a:lnTo>
                <a:lnTo>
                  <a:pt x="901287" y="25566"/>
                </a:lnTo>
                <a:lnTo>
                  <a:pt x="929981" y="54260"/>
                </a:lnTo>
                <a:lnTo>
                  <a:pt x="948793" y="90659"/>
                </a:lnTo>
                <a:lnTo>
                  <a:pt x="955548" y="132587"/>
                </a:lnTo>
                <a:lnTo>
                  <a:pt x="955548" y="662939"/>
                </a:lnTo>
                <a:lnTo>
                  <a:pt x="948793" y="704868"/>
                </a:lnTo>
                <a:lnTo>
                  <a:pt x="929981" y="741267"/>
                </a:lnTo>
                <a:lnTo>
                  <a:pt x="901287" y="769961"/>
                </a:lnTo>
                <a:lnTo>
                  <a:pt x="864888" y="788773"/>
                </a:lnTo>
                <a:lnTo>
                  <a:pt x="822960" y="795527"/>
                </a:lnTo>
                <a:lnTo>
                  <a:pt x="132587" y="795527"/>
                </a:lnTo>
                <a:lnTo>
                  <a:pt x="90659" y="788773"/>
                </a:lnTo>
                <a:lnTo>
                  <a:pt x="54260" y="769961"/>
                </a:lnTo>
                <a:lnTo>
                  <a:pt x="25566" y="741267"/>
                </a:lnTo>
                <a:lnTo>
                  <a:pt x="6754" y="704868"/>
                </a:lnTo>
                <a:lnTo>
                  <a:pt x="0" y="662939"/>
                </a:lnTo>
                <a:lnTo>
                  <a:pt x="0" y="132587"/>
                </a:lnTo>
                <a:close/>
              </a:path>
            </a:pathLst>
          </a:custGeom>
          <a:ln w="25400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427090" y="2589098"/>
            <a:ext cx="30480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S3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15544" y="868171"/>
            <a:ext cx="8065134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Origin</a:t>
            </a:r>
            <a:r>
              <a:rPr sz="1800" spc="-9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Access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Identity</a:t>
            </a:r>
            <a:r>
              <a:rPr sz="18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Limit</a:t>
            </a:r>
            <a:r>
              <a:rPr sz="18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access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to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S3 bucket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only</a:t>
            </a:r>
            <a:r>
              <a:rPr sz="180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from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 CloudFront</a:t>
            </a:r>
            <a:r>
              <a:rPr sz="1800" spc="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Identity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When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configured,</a:t>
            </a:r>
            <a:r>
              <a:rPr sz="1800" spc="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CloudFront</a:t>
            </a:r>
            <a:r>
              <a:rPr sz="180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uses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OAI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credentials</a:t>
            </a:r>
            <a:r>
              <a:rPr sz="1800" spc="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to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sign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S3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requests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221735" y="2516111"/>
            <a:ext cx="1995170" cy="561340"/>
            <a:chOff x="3221735" y="2516111"/>
            <a:chExt cx="1995170" cy="561340"/>
          </a:xfrm>
        </p:grpSpPr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105655" y="2645689"/>
              <a:ext cx="1110996" cy="23467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225289" y="2707386"/>
              <a:ext cx="877569" cy="76200"/>
            </a:xfrm>
            <a:custGeom>
              <a:avLst/>
              <a:gdLst/>
              <a:ahLst/>
              <a:cxnLst/>
              <a:rect l="l" t="t" r="r" b="b"/>
              <a:pathLst>
                <a:path w="87757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63500" y="50800"/>
                  </a:lnTo>
                  <a:lnTo>
                    <a:pt x="6350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877570" h="76200">
                  <a:moveTo>
                    <a:pt x="800988" y="0"/>
                  </a:moveTo>
                  <a:lnTo>
                    <a:pt x="800988" y="76200"/>
                  </a:lnTo>
                  <a:lnTo>
                    <a:pt x="851788" y="50800"/>
                  </a:lnTo>
                  <a:lnTo>
                    <a:pt x="813688" y="50800"/>
                  </a:lnTo>
                  <a:lnTo>
                    <a:pt x="813688" y="25400"/>
                  </a:lnTo>
                  <a:lnTo>
                    <a:pt x="851788" y="25400"/>
                  </a:lnTo>
                  <a:lnTo>
                    <a:pt x="800988" y="0"/>
                  </a:lnTo>
                  <a:close/>
                </a:path>
                <a:path w="877570" h="76200">
                  <a:moveTo>
                    <a:pt x="76200" y="25400"/>
                  </a:moveTo>
                  <a:lnTo>
                    <a:pt x="63500" y="25400"/>
                  </a:lnTo>
                  <a:lnTo>
                    <a:pt x="635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877570" h="76200">
                  <a:moveTo>
                    <a:pt x="800988" y="25400"/>
                  </a:moveTo>
                  <a:lnTo>
                    <a:pt x="76200" y="25400"/>
                  </a:lnTo>
                  <a:lnTo>
                    <a:pt x="76200" y="50800"/>
                  </a:lnTo>
                  <a:lnTo>
                    <a:pt x="800988" y="50800"/>
                  </a:lnTo>
                  <a:lnTo>
                    <a:pt x="800988" y="25400"/>
                  </a:lnTo>
                  <a:close/>
                </a:path>
                <a:path w="877570" h="76200">
                  <a:moveTo>
                    <a:pt x="851788" y="25400"/>
                  </a:moveTo>
                  <a:lnTo>
                    <a:pt x="813688" y="25400"/>
                  </a:lnTo>
                  <a:lnTo>
                    <a:pt x="813688" y="50800"/>
                  </a:lnTo>
                  <a:lnTo>
                    <a:pt x="851788" y="50800"/>
                  </a:lnTo>
                  <a:lnTo>
                    <a:pt x="877188" y="38100"/>
                  </a:lnTo>
                  <a:lnTo>
                    <a:pt x="851788" y="2540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21735" y="2535923"/>
              <a:ext cx="1045476" cy="451116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68039" y="2516111"/>
              <a:ext cx="749833" cy="56084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68979" y="2563368"/>
              <a:ext cx="955548" cy="361188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3268979" y="2563368"/>
              <a:ext cx="955675" cy="361315"/>
            </a:xfrm>
            <a:custGeom>
              <a:avLst/>
              <a:gdLst/>
              <a:ahLst/>
              <a:cxnLst/>
              <a:rect l="l" t="t" r="r" b="b"/>
              <a:pathLst>
                <a:path w="955675" h="361314">
                  <a:moveTo>
                    <a:pt x="0" y="60198"/>
                  </a:moveTo>
                  <a:lnTo>
                    <a:pt x="4726" y="36754"/>
                  </a:lnTo>
                  <a:lnTo>
                    <a:pt x="17621" y="17621"/>
                  </a:lnTo>
                  <a:lnTo>
                    <a:pt x="36754" y="4726"/>
                  </a:lnTo>
                  <a:lnTo>
                    <a:pt x="60198" y="0"/>
                  </a:lnTo>
                  <a:lnTo>
                    <a:pt x="895350" y="0"/>
                  </a:lnTo>
                  <a:lnTo>
                    <a:pt x="918793" y="4726"/>
                  </a:lnTo>
                  <a:lnTo>
                    <a:pt x="937926" y="17621"/>
                  </a:lnTo>
                  <a:lnTo>
                    <a:pt x="950821" y="36754"/>
                  </a:lnTo>
                  <a:lnTo>
                    <a:pt x="955548" y="60198"/>
                  </a:lnTo>
                  <a:lnTo>
                    <a:pt x="955548" y="300989"/>
                  </a:lnTo>
                  <a:lnTo>
                    <a:pt x="950821" y="324433"/>
                  </a:lnTo>
                  <a:lnTo>
                    <a:pt x="937926" y="343566"/>
                  </a:lnTo>
                  <a:lnTo>
                    <a:pt x="918793" y="356461"/>
                  </a:lnTo>
                  <a:lnTo>
                    <a:pt x="895350" y="361188"/>
                  </a:lnTo>
                  <a:lnTo>
                    <a:pt x="60198" y="361188"/>
                  </a:lnTo>
                  <a:lnTo>
                    <a:pt x="36754" y="356461"/>
                  </a:lnTo>
                  <a:lnTo>
                    <a:pt x="17621" y="343566"/>
                  </a:lnTo>
                  <a:lnTo>
                    <a:pt x="4726" y="324433"/>
                  </a:lnTo>
                  <a:lnTo>
                    <a:pt x="0" y="300989"/>
                  </a:lnTo>
                  <a:lnTo>
                    <a:pt x="0" y="60198"/>
                  </a:lnTo>
                  <a:close/>
                </a:path>
              </a:pathLst>
            </a:custGeom>
            <a:ln w="9525">
              <a:solidFill>
                <a:srgbClr val="4545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536441" y="2589098"/>
            <a:ext cx="42037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OAI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46964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4D4D4B"/>
                </a:solidFill>
              </a:rPr>
              <a:t>Securing</a:t>
            </a:r>
            <a:r>
              <a:rPr u="none" spc="-114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App</a:t>
            </a:r>
            <a:r>
              <a:rPr u="none" spc="-15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Origin</a:t>
            </a:r>
          </a:p>
        </p:txBody>
      </p:sp>
      <p:sp>
        <p:nvSpPr>
          <p:cNvPr id="3" name="object 3"/>
          <p:cNvSpPr/>
          <p:nvPr/>
        </p:nvSpPr>
        <p:spPr>
          <a:xfrm>
            <a:off x="4124705" y="1059941"/>
            <a:ext cx="998219" cy="795655"/>
          </a:xfrm>
          <a:custGeom>
            <a:avLst/>
            <a:gdLst/>
            <a:ahLst/>
            <a:cxnLst/>
            <a:rect l="l" t="t" r="r" b="b"/>
            <a:pathLst>
              <a:path w="998220" h="795655">
                <a:moveTo>
                  <a:pt x="0" y="132587"/>
                </a:moveTo>
                <a:lnTo>
                  <a:pt x="6754" y="90659"/>
                </a:lnTo>
                <a:lnTo>
                  <a:pt x="25566" y="54260"/>
                </a:lnTo>
                <a:lnTo>
                  <a:pt x="54260" y="25566"/>
                </a:lnTo>
                <a:lnTo>
                  <a:pt x="90659" y="6754"/>
                </a:lnTo>
                <a:lnTo>
                  <a:pt x="132588" y="0"/>
                </a:lnTo>
                <a:lnTo>
                  <a:pt x="865632" y="0"/>
                </a:lnTo>
                <a:lnTo>
                  <a:pt x="907560" y="6754"/>
                </a:lnTo>
                <a:lnTo>
                  <a:pt x="943959" y="25566"/>
                </a:lnTo>
                <a:lnTo>
                  <a:pt x="972653" y="54260"/>
                </a:lnTo>
                <a:lnTo>
                  <a:pt x="991465" y="90659"/>
                </a:lnTo>
                <a:lnTo>
                  <a:pt x="998220" y="132587"/>
                </a:lnTo>
                <a:lnTo>
                  <a:pt x="998220" y="662940"/>
                </a:lnTo>
                <a:lnTo>
                  <a:pt x="991465" y="704868"/>
                </a:lnTo>
                <a:lnTo>
                  <a:pt x="972653" y="741267"/>
                </a:lnTo>
                <a:lnTo>
                  <a:pt x="943959" y="769961"/>
                </a:lnTo>
                <a:lnTo>
                  <a:pt x="907560" y="788773"/>
                </a:lnTo>
                <a:lnTo>
                  <a:pt x="865632" y="795528"/>
                </a:lnTo>
                <a:lnTo>
                  <a:pt x="132588" y="795528"/>
                </a:lnTo>
                <a:lnTo>
                  <a:pt x="90659" y="788773"/>
                </a:lnTo>
                <a:lnTo>
                  <a:pt x="54260" y="769961"/>
                </a:lnTo>
                <a:lnTo>
                  <a:pt x="25566" y="741267"/>
                </a:lnTo>
                <a:lnTo>
                  <a:pt x="6754" y="704868"/>
                </a:lnTo>
                <a:lnTo>
                  <a:pt x="0" y="662940"/>
                </a:lnTo>
                <a:lnTo>
                  <a:pt x="0" y="132587"/>
                </a:lnTo>
                <a:close/>
              </a:path>
            </a:pathLst>
          </a:custGeom>
          <a:ln w="25400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383404" y="1284477"/>
            <a:ext cx="47879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464646"/>
                </a:solidFill>
                <a:latin typeface="Arial MT"/>
                <a:cs typeface="Arial MT"/>
              </a:rPr>
              <a:t>App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82930" y="1059941"/>
            <a:ext cx="1569720" cy="795655"/>
          </a:xfrm>
          <a:custGeom>
            <a:avLst/>
            <a:gdLst/>
            <a:ahLst/>
            <a:cxnLst/>
            <a:rect l="l" t="t" r="r" b="b"/>
            <a:pathLst>
              <a:path w="1569720" h="795655">
                <a:moveTo>
                  <a:pt x="0" y="132587"/>
                </a:moveTo>
                <a:lnTo>
                  <a:pt x="6759" y="90659"/>
                </a:lnTo>
                <a:lnTo>
                  <a:pt x="25581" y="54260"/>
                </a:lnTo>
                <a:lnTo>
                  <a:pt x="54282" y="25566"/>
                </a:lnTo>
                <a:lnTo>
                  <a:pt x="90679" y="6754"/>
                </a:lnTo>
                <a:lnTo>
                  <a:pt x="132588" y="0"/>
                </a:lnTo>
                <a:lnTo>
                  <a:pt x="1437132" y="0"/>
                </a:lnTo>
                <a:lnTo>
                  <a:pt x="1479060" y="6754"/>
                </a:lnTo>
                <a:lnTo>
                  <a:pt x="1515459" y="25566"/>
                </a:lnTo>
                <a:lnTo>
                  <a:pt x="1544153" y="54260"/>
                </a:lnTo>
                <a:lnTo>
                  <a:pt x="1562965" y="90659"/>
                </a:lnTo>
                <a:lnTo>
                  <a:pt x="1569720" y="132587"/>
                </a:lnTo>
                <a:lnTo>
                  <a:pt x="1569720" y="662940"/>
                </a:lnTo>
                <a:lnTo>
                  <a:pt x="1562965" y="704868"/>
                </a:lnTo>
                <a:lnTo>
                  <a:pt x="1544153" y="741267"/>
                </a:lnTo>
                <a:lnTo>
                  <a:pt x="1515459" y="769961"/>
                </a:lnTo>
                <a:lnTo>
                  <a:pt x="1479060" y="788773"/>
                </a:lnTo>
                <a:lnTo>
                  <a:pt x="1437132" y="795528"/>
                </a:lnTo>
                <a:lnTo>
                  <a:pt x="132588" y="795528"/>
                </a:lnTo>
                <a:lnTo>
                  <a:pt x="90679" y="788773"/>
                </a:lnTo>
                <a:lnTo>
                  <a:pt x="54282" y="769961"/>
                </a:lnTo>
                <a:lnTo>
                  <a:pt x="25581" y="741267"/>
                </a:lnTo>
                <a:lnTo>
                  <a:pt x="6759" y="704868"/>
                </a:lnTo>
                <a:lnTo>
                  <a:pt x="0" y="662940"/>
                </a:lnTo>
                <a:lnTo>
                  <a:pt x="0" y="132587"/>
                </a:lnTo>
                <a:close/>
              </a:path>
            </a:pathLst>
          </a:custGeom>
          <a:ln w="25399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0143" y="1301241"/>
            <a:ext cx="1153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l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u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dFro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324347" y="254253"/>
            <a:ext cx="3041650" cy="848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Static</a:t>
            </a:r>
            <a:r>
              <a:rPr sz="180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Custom</a:t>
            </a:r>
            <a:r>
              <a:rPr sz="180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Header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8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95" dirty="0">
                <a:solidFill>
                  <a:srgbClr val="464646"/>
                </a:solidFill>
                <a:latin typeface="Arial MT"/>
                <a:cs typeface="Arial MT"/>
              </a:rPr>
              <a:t>To </a:t>
            </a:r>
            <a:r>
              <a:rPr sz="1800" spc="-484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validate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requests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from 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CloudFront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324347" y="1351915"/>
            <a:ext cx="19005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L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mb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d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@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d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ge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781802" y="1625930"/>
            <a:ext cx="19094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Custom</a:t>
            </a:r>
            <a:r>
              <a:rPr sz="1800" spc="-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Header</a:t>
            </a:r>
            <a:endParaRPr sz="180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Sign</a:t>
            </a:r>
            <a:r>
              <a:rPr sz="1800" spc="-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Requests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324347" y="2449448"/>
            <a:ext cx="12287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SS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L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/</a:t>
            </a:r>
            <a:r>
              <a:rPr sz="1800" spc="15" dirty="0">
                <a:solidFill>
                  <a:srgbClr val="464646"/>
                </a:solidFill>
                <a:latin typeface="Arial MT"/>
                <a:cs typeface="Arial MT"/>
              </a:rPr>
              <a:t>T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LS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324347" y="2998470"/>
            <a:ext cx="335851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Field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Level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Encryption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(example: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credit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card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number)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24347" y="3821683"/>
            <a:ext cx="318960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Customize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80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HTTP</a:t>
            </a:r>
            <a:r>
              <a:rPr sz="1800" spc="-7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Cookies, </a:t>
            </a:r>
            <a:r>
              <a:rPr sz="1800" spc="-484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Query String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Parameters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2033016" y="1357909"/>
            <a:ext cx="2207260" cy="234950"/>
            <a:chOff x="2033016" y="1357909"/>
            <a:chExt cx="2207260" cy="234950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3016" y="1357909"/>
              <a:ext cx="2206752" cy="23467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2152650" y="1419605"/>
              <a:ext cx="1972310" cy="76200"/>
            </a:xfrm>
            <a:custGeom>
              <a:avLst/>
              <a:gdLst/>
              <a:ahLst/>
              <a:cxnLst/>
              <a:rect l="l" t="t" r="r" b="b"/>
              <a:pathLst>
                <a:path w="1972310" h="76200">
                  <a:moveTo>
                    <a:pt x="76200" y="0"/>
                  </a:moveTo>
                  <a:lnTo>
                    <a:pt x="0" y="38100"/>
                  </a:lnTo>
                  <a:lnTo>
                    <a:pt x="76200" y="76200"/>
                  </a:lnTo>
                  <a:lnTo>
                    <a:pt x="76200" y="50800"/>
                  </a:lnTo>
                  <a:lnTo>
                    <a:pt x="63500" y="50800"/>
                  </a:lnTo>
                  <a:lnTo>
                    <a:pt x="63500" y="25400"/>
                  </a:lnTo>
                  <a:lnTo>
                    <a:pt x="76200" y="25400"/>
                  </a:lnTo>
                  <a:lnTo>
                    <a:pt x="76200" y="0"/>
                  </a:lnTo>
                  <a:close/>
                </a:path>
                <a:path w="1972310" h="76200">
                  <a:moveTo>
                    <a:pt x="1895602" y="0"/>
                  </a:moveTo>
                  <a:lnTo>
                    <a:pt x="1895602" y="76200"/>
                  </a:lnTo>
                  <a:lnTo>
                    <a:pt x="1946402" y="50800"/>
                  </a:lnTo>
                  <a:lnTo>
                    <a:pt x="1908302" y="50800"/>
                  </a:lnTo>
                  <a:lnTo>
                    <a:pt x="1908302" y="25400"/>
                  </a:lnTo>
                  <a:lnTo>
                    <a:pt x="1946402" y="25400"/>
                  </a:lnTo>
                  <a:lnTo>
                    <a:pt x="1895602" y="0"/>
                  </a:lnTo>
                  <a:close/>
                </a:path>
                <a:path w="1972310" h="76200">
                  <a:moveTo>
                    <a:pt x="76200" y="25400"/>
                  </a:moveTo>
                  <a:lnTo>
                    <a:pt x="63500" y="25400"/>
                  </a:lnTo>
                  <a:lnTo>
                    <a:pt x="63500" y="50800"/>
                  </a:lnTo>
                  <a:lnTo>
                    <a:pt x="76200" y="50800"/>
                  </a:lnTo>
                  <a:lnTo>
                    <a:pt x="76200" y="25400"/>
                  </a:lnTo>
                  <a:close/>
                </a:path>
                <a:path w="1972310" h="76200">
                  <a:moveTo>
                    <a:pt x="1895602" y="25400"/>
                  </a:moveTo>
                  <a:lnTo>
                    <a:pt x="76200" y="25400"/>
                  </a:lnTo>
                  <a:lnTo>
                    <a:pt x="76200" y="50800"/>
                  </a:lnTo>
                  <a:lnTo>
                    <a:pt x="1895602" y="50800"/>
                  </a:lnTo>
                  <a:lnTo>
                    <a:pt x="1895602" y="25400"/>
                  </a:lnTo>
                  <a:close/>
                </a:path>
                <a:path w="1972310" h="76200">
                  <a:moveTo>
                    <a:pt x="1946402" y="25400"/>
                  </a:moveTo>
                  <a:lnTo>
                    <a:pt x="1908302" y="25400"/>
                  </a:lnTo>
                  <a:lnTo>
                    <a:pt x="1908302" y="50800"/>
                  </a:lnTo>
                  <a:lnTo>
                    <a:pt x="1946402" y="50800"/>
                  </a:lnTo>
                  <a:lnTo>
                    <a:pt x="1971802" y="38100"/>
                  </a:lnTo>
                  <a:lnTo>
                    <a:pt x="1946402" y="25400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2335783" y="875157"/>
            <a:ext cx="14478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Static</a:t>
            </a:r>
            <a:r>
              <a:rPr sz="1800" spc="-8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Custom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Header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582930" y="3303270"/>
            <a:ext cx="1569720" cy="795655"/>
          </a:xfrm>
          <a:custGeom>
            <a:avLst/>
            <a:gdLst/>
            <a:ahLst/>
            <a:cxnLst/>
            <a:rect l="l" t="t" r="r" b="b"/>
            <a:pathLst>
              <a:path w="1569720" h="795654">
                <a:moveTo>
                  <a:pt x="0" y="132587"/>
                </a:moveTo>
                <a:lnTo>
                  <a:pt x="6759" y="90659"/>
                </a:lnTo>
                <a:lnTo>
                  <a:pt x="25581" y="54260"/>
                </a:lnTo>
                <a:lnTo>
                  <a:pt x="54282" y="25566"/>
                </a:lnTo>
                <a:lnTo>
                  <a:pt x="90679" y="6754"/>
                </a:lnTo>
                <a:lnTo>
                  <a:pt x="132588" y="0"/>
                </a:lnTo>
                <a:lnTo>
                  <a:pt x="1437132" y="0"/>
                </a:lnTo>
                <a:lnTo>
                  <a:pt x="1479060" y="6754"/>
                </a:lnTo>
                <a:lnTo>
                  <a:pt x="1515459" y="25566"/>
                </a:lnTo>
                <a:lnTo>
                  <a:pt x="1544153" y="54260"/>
                </a:lnTo>
                <a:lnTo>
                  <a:pt x="1562965" y="90659"/>
                </a:lnTo>
                <a:lnTo>
                  <a:pt x="1569720" y="132587"/>
                </a:lnTo>
                <a:lnTo>
                  <a:pt x="1569720" y="662939"/>
                </a:lnTo>
                <a:lnTo>
                  <a:pt x="1562965" y="704848"/>
                </a:lnTo>
                <a:lnTo>
                  <a:pt x="1544153" y="741245"/>
                </a:lnTo>
                <a:lnTo>
                  <a:pt x="1515459" y="769946"/>
                </a:lnTo>
                <a:lnTo>
                  <a:pt x="1479060" y="788768"/>
                </a:lnTo>
                <a:lnTo>
                  <a:pt x="1437132" y="795527"/>
                </a:lnTo>
                <a:lnTo>
                  <a:pt x="132588" y="795527"/>
                </a:lnTo>
                <a:lnTo>
                  <a:pt x="90679" y="788768"/>
                </a:lnTo>
                <a:lnTo>
                  <a:pt x="54282" y="769946"/>
                </a:lnTo>
                <a:lnTo>
                  <a:pt x="25581" y="741245"/>
                </a:lnTo>
                <a:lnTo>
                  <a:pt x="6759" y="704848"/>
                </a:lnTo>
                <a:lnTo>
                  <a:pt x="0" y="662939"/>
                </a:lnTo>
                <a:lnTo>
                  <a:pt x="0" y="132587"/>
                </a:lnTo>
                <a:close/>
              </a:path>
            </a:pathLst>
          </a:custGeom>
          <a:ln w="25400">
            <a:solidFill>
              <a:srgbClr val="4646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790143" y="3545840"/>
            <a:ext cx="1153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l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u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dFro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104644" y="3451859"/>
            <a:ext cx="1836420" cy="536575"/>
            <a:chOff x="2104644" y="3451859"/>
            <a:chExt cx="1836420" cy="53657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104644" y="3451859"/>
              <a:ext cx="1836420" cy="50446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153412" y="3480815"/>
              <a:ext cx="1737360" cy="50749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151888" y="3479291"/>
              <a:ext cx="1746503" cy="414527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2151888" y="3479291"/>
              <a:ext cx="1746885" cy="414655"/>
            </a:xfrm>
            <a:custGeom>
              <a:avLst/>
              <a:gdLst/>
              <a:ahLst/>
              <a:cxnLst/>
              <a:rect l="l" t="t" r="r" b="b"/>
              <a:pathLst>
                <a:path w="1746885" h="414654">
                  <a:moveTo>
                    <a:pt x="0" y="69087"/>
                  </a:moveTo>
                  <a:lnTo>
                    <a:pt x="5437" y="42219"/>
                  </a:lnTo>
                  <a:lnTo>
                    <a:pt x="20256" y="20256"/>
                  </a:lnTo>
                  <a:lnTo>
                    <a:pt x="42219" y="5437"/>
                  </a:lnTo>
                  <a:lnTo>
                    <a:pt x="69087" y="0"/>
                  </a:lnTo>
                  <a:lnTo>
                    <a:pt x="1677415" y="0"/>
                  </a:lnTo>
                  <a:lnTo>
                    <a:pt x="1704284" y="5437"/>
                  </a:lnTo>
                  <a:lnTo>
                    <a:pt x="1726247" y="20256"/>
                  </a:lnTo>
                  <a:lnTo>
                    <a:pt x="1741066" y="42219"/>
                  </a:lnTo>
                  <a:lnTo>
                    <a:pt x="1746503" y="69087"/>
                  </a:lnTo>
                  <a:lnTo>
                    <a:pt x="1746503" y="345439"/>
                  </a:lnTo>
                  <a:lnTo>
                    <a:pt x="1741066" y="372308"/>
                  </a:lnTo>
                  <a:lnTo>
                    <a:pt x="1726247" y="394271"/>
                  </a:lnTo>
                  <a:lnTo>
                    <a:pt x="1704284" y="409090"/>
                  </a:lnTo>
                  <a:lnTo>
                    <a:pt x="1677415" y="414527"/>
                  </a:lnTo>
                  <a:lnTo>
                    <a:pt x="69087" y="414527"/>
                  </a:lnTo>
                  <a:lnTo>
                    <a:pt x="42219" y="409090"/>
                  </a:lnTo>
                  <a:lnTo>
                    <a:pt x="20256" y="394271"/>
                  </a:lnTo>
                  <a:lnTo>
                    <a:pt x="5437" y="372308"/>
                  </a:lnTo>
                  <a:lnTo>
                    <a:pt x="0" y="345439"/>
                  </a:lnTo>
                  <a:lnTo>
                    <a:pt x="0" y="69087"/>
                  </a:lnTo>
                  <a:close/>
                </a:path>
              </a:pathLst>
            </a:custGeom>
            <a:ln w="9525">
              <a:solidFill>
                <a:srgbClr val="4545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305939" y="3548888"/>
            <a:ext cx="143764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5" dirty="0">
                <a:solidFill>
                  <a:srgbClr val="464646"/>
                </a:solidFill>
                <a:latin typeface="Arial MT"/>
                <a:cs typeface="Arial MT"/>
              </a:rPr>
              <a:t>Lambda@Edge</a:t>
            </a:r>
            <a:endParaRPr sz="1600">
              <a:latin typeface="Arial MT"/>
              <a:cs typeface="Arial MT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3779520" y="1755648"/>
            <a:ext cx="958850" cy="2066925"/>
            <a:chOff x="3779520" y="1755648"/>
            <a:chExt cx="958850" cy="2066925"/>
          </a:xfrm>
        </p:grpSpPr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79520" y="1755648"/>
              <a:ext cx="958583" cy="206654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899154" y="1855470"/>
              <a:ext cx="762000" cy="1870710"/>
            </a:xfrm>
            <a:custGeom>
              <a:avLst/>
              <a:gdLst/>
              <a:ahLst/>
              <a:cxnLst/>
              <a:rect l="l" t="t" r="r" b="b"/>
              <a:pathLst>
                <a:path w="762000" h="1870710">
                  <a:moveTo>
                    <a:pt x="76200" y="1794128"/>
                  </a:moveTo>
                  <a:lnTo>
                    <a:pt x="0" y="1832228"/>
                  </a:lnTo>
                  <a:lnTo>
                    <a:pt x="76200" y="1870328"/>
                  </a:lnTo>
                  <a:lnTo>
                    <a:pt x="76200" y="1844928"/>
                  </a:lnTo>
                  <a:lnTo>
                    <a:pt x="63500" y="1844928"/>
                  </a:lnTo>
                  <a:lnTo>
                    <a:pt x="63500" y="1819528"/>
                  </a:lnTo>
                  <a:lnTo>
                    <a:pt x="76200" y="1819528"/>
                  </a:lnTo>
                  <a:lnTo>
                    <a:pt x="76200" y="1794128"/>
                  </a:lnTo>
                  <a:close/>
                </a:path>
                <a:path w="762000" h="1870710">
                  <a:moveTo>
                    <a:pt x="76200" y="1819528"/>
                  </a:moveTo>
                  <a:lnTo>
                    <a:pt x="63500" y="1819528"/>
                  </a:lnTo>
                  <a:lnTo>
                    <a:pt x="63500" y="1844928"/>
                  </a:lnTo>
                  <a:lnTo>
                    <a:pt x="76200" y="1844928"/>
                  </a:lnTo>
                  <a:lnTo>
                    <a:pt x="76200" y="1819528"/>
                  </a:lnTo>
                  <a:close/>
                </a:path>
                <a:path w="762000" h="1870710">
                  <a:moveTo>
                    <a:pt x="711073" y="1819528"/>
                  </a:moveTo>
                  <a:lnTo>
                    <a:pt x="76200" y="1819528"/>
                  </a:lnTo>
                  <a:lnTo>
                    <a:pt x="76200" y="1844928"/>
                  </a:lnTo>
                  <a:lnTo>
                    <a:pt x="730758" y="1844928"/>
                  </a:lnTo>
                  <a:lnTo>
                    <a:pt x="736473" y="1839214"/>
                  </a:lnTo>
                  <a:lnTo>
                    <a:pt x="736473" y="1832228"/>
                  </a:lnTo>
                  <a:lnTo>
                    <a:pt x="711073" y="1832228"/>
                  </a:lnTo>
                  <a:lnTo>
                    <a:pt x="711073" y="1819528"/>
                  </a:lnTo>
                  <a:close/>
                </a:path>
                <a:path w="762000" h="1870710">
                  <a:moveTo>
                    <a:pt x="736473" y="63499"/>
                  </a:moveTo>
                  <a:lnTo>
                    <a:pt x="711073" y="63499"/>
                  </a:lnTo>
                  <a:lnTo>
                    <a:pt x="711073" y="1832228"/>
                  </a:lnTo>
                  <a:lnTo>
                    <a:pt x="723773" y="1819528"/>
                  </a:lnTo>
                  <a:lnTo>
                    <a:pt x="736473" y="1819528"/>
                  </a:lnTo>
                  <a:lnTo>
                    <a:pt x="736473" y="63499"/>
                  </a:lnTo>
                  <a:close/>
                </a:path>
                <a:path w="762000" h="1870710">
                  <a:moveTo>
                    <a:pt x="736473" y="1819528"/>
                  </a:moveTo>
                  <a:lnTo>
                    <a:pt x="723773" y="1819528"/>
                  </a:lnTo>
                  <a:lnTo>
                    <a:pt x="711073" y="1832228"/>
                  </a:lnTo>
                  <a:lnTo>
                    <a:pt x="736473" y="1832228"/>
                  </a:lnTo>
                  <a:lnTo>
                    <a:pt x="736473" y="1819528"/>
                  </a:lnTo>
                  <a:close/>
                </a:path>
                <a:path w="762000" h="1870710">
                  <a:moveTo>
                    <a:pt x="723773" y="0"/>
                  </a:moveTo>
                  <a:lnTo>
                    <a:pt x="685673" y="76200"/>
                  </a:lnTo>
                  <a:lnTo>
                    <a:pt x="711073" y="76200"/>
                  </a:lnTo>
                  <a:lnTo>
                    <a:pt x="711073" y="63499"/>
                  </a:lnTo>
                  <a:lnTo>
                    <a:pt x="755523" y="63499"/>
                  </a:lnTo>
                  <a:lnTo>
                    <a:pt x="723773" y="0"/>
                  </a:lnTo>
                  <a:close/>
                </a:path>
                <a:path w="762000" h="1870710">
                  <a:moveTo>
                    <a:pt x="755523" y="63499"/>
                  </a:moveTo>
                  <a:lnTo>
                    <a:pt x="736473" y="63499"/>
                  </a:lnTo>
                  <a:lnTo>
                    <a:pt x="736473" y="76200"/>
                  </a:lnTo>
                  <a:lnTo>
                    <a:pt x="761873" y="76200"/>
                  </a:lnTo>
                  <a:lnTo>
                    <a:pt x="755523" y="63499"/>
                  </a:lnTo>
                  <a:close/>
                </a:path>
              </a:pathLst>
            </a:custGeom>
            <a:solidFill>
              <a:srgbClr val="FBB64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2878582" y="2388489"/>
            <a:ext cx="16236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Sign Requests, </a:t>
            </a:r>
            <a:r>
              <a:rPr sz="1800" spc="-49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Custom</a:t>
            </a:r>
            <a:r>
              <a:rPr sz="1800" spc="-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Header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544" y="139065"/>
            <a:ext cx="344360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u="none" spc="-5" dirty="0">
                <a:solidFill>
                  <a:srgbClr val="4D4D4B"/>
                </a:solidFill>
              </a:rPr>
              <a:t>Security</a:t>
            </a:r>
            <a:r>
              <a:rPr u="none" spc="-10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at</a:t>
            </a:r>
            <a:r>
              <a:rPr u="none" spc="-15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the</a:t>
            </a:r>
            <a:r>
              <a:rPr u="none" dirty="0">
                <a:solidFill>
                  <a:srgbClr val="4D4D4B"/>
                </a:solidFill>
              </a:rPr>
              <a:t> </a:t>
            </a:r>
            <a:r>
              <a:rPr u="none" spc="-5" dirty="0">
                <a:solidFill>
                  <a:srgbClr val="4D4D4B"/>
                </a:solidFill>
              </a:rPr>
              <a:t>Edge</a:t>
            </a:r>
          </a:p>
        </p:txBody>
      </p:sp>
      <p:sp>
        <p:nvSpPr>
          <p:cNvPr id="3" name="object 3"/>
          <p:cNvSpPr/>
          <p:nvPr/>
        </p:nvSpPr>
        <p:spPr>
          <a:xfrm>
            <a:off x="500633" y="791718"/>
            <a:ext cx="2580640" cy="672465"/>
          </a:xfrm>
          <a:custGeom>
            <a:avLst/>
            <a:gdLst/>
            <a:ahLst/>
            <a:cxnLst/>
            <a:rect l="l" t="t" r="r" b="b"/>
            <a:pathLst>
              <a:path w="2580640" h="672465">
                <a:moveTo>
                  <a:pt x="0" y="112014"/>
                </a:moveTo>
                <a:lnTo>
                  <a:pt x="8802" y="68419"/>
                </a:lnTo>
                <a:lnTo>
                  <a:pt x="32808" y="32813"/>
                </a:lnTo>
                <a:lnTo>
                  <a:pt x="68413" y="8804"/>
                </a:lnTo>
                <a:lnTo>
                  <a:pt x="112014" y="0"/>
                </a:lnTo>
                <a:lnTo>
                  <a:pt x="2468117" y="0"/>
                </a:lnTo>
                <a:lnTo>
                  <a:pt x="2511712" y="8804"/>
                </a:lnTo>
                <a:lnTo>
                  <a:pt x="2547318" y="32813"/>
                </a:lnTo>
                <a:lnTo>
                  <a:pt x="2571327" y="68419"/>
                </a:lnTo>
                <a:lnTo>
                  <a:pt x="2580132" y="112014"/>
                </a:lnTo>
                <a:lnTo>
                  <a:pt x="2580132" y="560070"/>
                </a:lnTo>
                <a:lnTo>
                  <a:pt x="2571327" y="603664"/>
                </a:lnTo>
                <a:lnTo>
                  <a:pt x="2547318" y="639270"/>
                </a:lnTo>
                <a:lnTo>
                  <a:pt x="2511712" y="663279"/>
                </a:lnTo>
                <a:lnTo>
                  <a:pt x="2468117" y="672084"/>
                </a:lnTo>
                <a:lnTo>
                  <a:pt x="112014" y="672084"/>
                </a:lnTo>
                <a:lnTo>
                  <a:pt x="68413" y="663279"/>
                </a:lnTo>
                <a:lnTo>
                  <a:pt x="32808" y="639270"/>
                </a:lnTo>
                <a:lnTo>
                  <a:pt x="8802" y="603664"/>
                </a:lnTo>
                <a:lnTo>
                  <a:pt x="0" y="560070"/>
                </a:lnTo>
                <a:lnTo>
                  <a:pt x="0" y="112014"/>
                </a:lnTo>
                <a:close/>
              </a:path>
            </a:pathLst>
          </a:custGeom>
          <a:ln w="25400">
            <a:solidFill>
              <a:srgbClr val="F79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1212596" y="971169"/>
            <a:ext cx="115316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l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u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dFro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n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0633" y="3598926"/>
            <a:ext cx="2580640" cy="646430"/>
          </a:xfrm>
          <a:custGeom>
            <a:avLst/>
            <a:gdLst/>
            <a:ahLst/>
            <a:cxnLst/>
            <a:rect l="l" t="t" r="r" b="b"/>
            <a:pathLst>
              <a:path w="2580640" h="646429">
                <a:moveTo>
                  <a:pt x="0" y="107696"/>
                </a:moveTo>
                <a:lnTo>
                  <a:pt x="8463" y="65793"/>
                </a:lnTo>
                <a:lnTo>
                  <a:pt x="31545" y="31559"/>
                </a:lnTo>
                <a:lnTo>
                  <a:pt x="65777" y="8469"/>
                </a:lnTo>
                <a:lnTo>
                  <a:pt x="107695" y="0"/>
                </a:lnTo>
                <a:lnTo>
                  <a:pt x="2472436" y="0"/>
                </a:lnTo>
                <a:lnTo>
                  <a:pt x="2514338" y="8469"/>
                </a:lnTo>
                <a:lnTo>
                  <a:pt x="2548572" y="31559"/>
                </a:lnTo>
                <a:lnTo>
                  <a:pt x="2571662" y="65793"/>
                </a:lnTo>
                <a:lnTo>
                  <a:pt x="2580132" y="107696"/>
                </a:lnTo>
                <a:lnTo>
                  <a:pt x="2580132" y="538480"/>
                </a:lnTo>
                <a:lnTo>
                  <a:pt x="2571662" y="580398"/>
                </a:lnTo>
                <a:lnTo>
                  <a:pt x="2548572" y="614630"/>
                </a:lnTo>
                <a:lnTo>
                  <a:pt x="2514338" y="637712"/>
                </a:lnTo>
                <a:lnTo>
                  <a:pt x="2472436" y="646176"/>
                </a:lnTo>
                <a:lnTo>
                  <a:pt x="107695" y="646176"/>
                </a:lnTo>
                <a:lnTo>
                  <a:pt x="65777" y="637712"/>
                </a:lnTo>
                <a:lnTo>
                  <a:pt x="31545" y="614630"/>
                </a:lnTo>
                <a:lnTo>
                  <a:pt x="8463" y="580398"/>
                </a:lnTo>
                <a:lnTo>
                  <a:pt x="0" y="538480"/>
                </a:lnTo>
                <a:lnTo>
                  <a:pt x="0" y="107696"/>
                </a:lnTo>
                <a:close/>
              </a:path>
            </a:pathLst>
          </a:custGeom>
          <a:ln w="25400">
            <a:solidFill>
              <a:srgbClr val="F79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62050" y="3629405"/>
            <a:ext cx="16579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7515" marR="5080" indent="-425450">
              <a:lnSpc>
                <a:spcPct val="100000"/>
              </a:lnSpc>
              <a:spcBef>
                <a:spcPts val="100"/>
              </a:spcBef>
            </a:pPr>
            <a:r>
              <a:rPr sz="1800" spc="-35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eb</a:t>
            </a:r>
            <a:r>
              <a:rPr sz="1800" spc="-10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l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ic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tion 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Firewall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00633" y="1608582"/>
            <a:ext cx="2580640" cy="646430"/>
          </a:xfrm>
          <a:custGeom>
            <a:avLst/>
            <a:gdLst/>
            <a:ahLst/>
            <a:cxnLst/>
            <a:rect l="l" t="t" r="r" b="b"/>
            <a:pathLst>
              <a:path w="2580640" h="646430">
                <a:moveTo>
                  <a:pt x="0" y="107695"/>
                </a:moveTo>
                <a:lnTo>
                  <a:pt x="8463" y="65793"/>
                </a:lnTo>
                <a:lnTo>
                  <a:pt x="31545" y="31559"/>
                </a:lnTo>
                <a:lnTo>
                  <a:pt x="65777" y="8469"/>
                </a:lnTo>
                <a:lnTo>
                  <a:pt x="107695" y="0"/>
                </a:lnTo>
                <a:lnTo>
                  <a:pt x="2472436" y="0"/>
                </a:lnTo>
                <a:lnTo>
                  <a:pt x="2514338" y="8469"/>
                </a:lnTo>
                <a:lnTo>
                  <a:pt x="2548572" y="31559"/>
                </a:lnTo>
                <a:lnTo>
                  <a:pt x="2571662" y="65793"/>
                </a:lnTo>
                <a:lnTo>
                  <a:pt x="2580132" y="107695"/>
                </a:lnTo>
                <a:lnTo>
                  <a:pt x="2580132" y="538479"/>
                </a:lnTo>
                <a:lnTo>
                  <a:pt x="2571662" y="580382"/>
                </a:lnTo>
                <a:lnTo>
                  <a:pt x="2548572" y="614616"/>
                </a:lnTo>
                <a:lnTo>
                  <a:pt x="2514338" y="637706"/>
                </a:lnTo>
                <a:lnTo>
                  <a:pt x="2472436" y="646175"/>
                </a:lnTo>
                <a:lnTo>
                  <a:pt x="107695" y="646175"/>
                </a:lnTo>
                <a:lnTo>
                  <a:pt x="65777" y="637706"/>
                </a:lnTo>
                <a:lnTo>
                  <a:pt x="31545" y="614616"/>
                </a:lnTo>
                <a:lnTo>
                  <a:pt x="8463" y="580382"/>
                </a:lnTo>
                <a:lnTo>
                  <a:pt x="0" y="538479"/>
                </a:lnTo>
                <a:lnTo>
                  <a:pt x="0" y="107695"/>
                </a:lnTo>
                <a:close/>
              </a:path>
            </a:pathLst>
          </a:custGeom>
          <a:ln w="25400">
            <a:solidFill>
              <a:srgbClr val="F79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172362" y="1775841"/>
            <a:ext cx="1235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800" spc="-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Shield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62883" y="817626"/>
            <a:ext cx="453263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CloudFront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Front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 door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for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your</a:t>
            </a:r>
            <a:r>
              <a:rPr sz="1800" spc="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application. </a:t>
            </a:r>
            <a:r>
              <a:rPr sz="1800" spc="-484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Shield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your</a:t>
            </a:r>
            <a:r>
              <a:rPr sz="1800" spc="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critical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content</a:t>
            </a:r>
            <a:r>
              <a:rPr sz="180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and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infrastructure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762883" y="1593850"/>
            <a:ext cx="12350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AWS</a:t>
            </a:r>
            <a:r>
              <a:rPr sz="1800" spc="-7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Shield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5080" indent="-287020" algn="just">
              <a:lnSpc>
                <a:spcPct val="100000"/>
              </a:lnSpc>
              <a:spcBef>
                <a:spcPts val="100"/>
              </a:spcBef>
              <a:buChar char="•"/>
              <a:tabLst>
                <a:tab pos="299720" algn="l"/>
              </a:tabLst>
            </a:pPr>
            <a:r>
              <a:rPr spc="-5" dirty="0"/>
              <a:t>Protection </a:t>
            </a:r>
            <a:r>
              <a:rPr spc="-10" dirty="0"/>
              <a:t>against </a:t>
            </a:r>
            <a:r>
              <a:rPr spc="-5" dirty="0"/>
              <a:t>DDoS Attacks. Standard </a:t>
            </a:r>
            <a:r>
              <a:rPr spc="-490" dirty="0"/>
              <a:t> </a:t>
            </a:r>
            <a:r>
              <a:rPr spc="-5" dirty="0"/>
              <a:t>features (no </a:t>
            </a:r>
            <a:r>
              <a:rPr dirty="0"/>
              <a:t>cost) – </a:t>
            </a:r>
            <a:r>
              <a:rPr spc="-5" dirty="0"/>
              <a:t>protects against </a:t>
            </a:r>
            <a:r>
              <a:rPr spc="-10" dirty="0"/>
              <a:t>layer </a:t>
            </a:r>
            <a:r>
              <a:rPr spc="-5" dirty="0"/>
              <a:t>3 </a:t>
            </a:r>
            <a:r>
              <a:rPr spc="-490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10" dirty="0"/>
              <a:t>layer</a:t>
            </a:r>
            <a:r>
              <a:rPr spc="20" dirty="0"/>
              <a:t> </a:t>
            </a:r>
            <a:r>
              <a:rPr spc="-5" dirty="0"/>
              <a:t>4</a:t>
            </a:r>
            <a:r>
              <a:rPr dirty="0"/>
              <a:t> </a:t>
            </a:r>
            <a:r>
              <a:rPr spc="-5" dirty="0"/>
              <a:t>attacks</a:t>
            </a:r>
          </a:p>
          <a:p>
            <a:pPr marL="299085" marR="32384" indent="-287020">
              <a:lnSpc>
                <a:spcPct val="100000"/>
              </a:lnSpc>
              <a:spcBef>
                <a:spcPts val="5"/>
              </a:spcBef>
              <a:buChar char="•"/>
              <a:tabLst>
                <a:tab pos="299085" algn="l"/>
                <a:tab pos="299720" algn="l"/>
              </a:tabLst>
            </a:pPr>
            <a:r>
              <a:rPr spc="-5" dirty="0"/>
              <a:t>Advanced</a:t>
            </a:r>
            <a:r>
              <a:rPr dirty="0"/>
              <a:t> </a:t>
            </a:r>
            <a:r>
              <a:rPr spc="-5" dirty="0"/>
              <a:t>(paid)</a:t>
            </a:r>
            <a:r>
              <a:rPr spc="10" dirty="0"/>
              <a:t> </a:t>
            </a:r>
            <a:r>
              <a:rPr dirty="0"/>
              <a:t>–</a:t>
            </a:r>
            <a:r>
              <a:rPr spc="-10" dirty="0"/>
              <a:t> </a:t>
            </a:r>
            <a:r>
              <a:rPr spc="-5" dirty="0"/>
              <a:t>protection</a:t>
            </a:r>
            <a:r>
              <a:rPr dirty="0"/>
              <a:t> </a:t>
            </a:r>
            <a:r>
              <a:rPr spc="-5" dirty="0"/>
              <a:t>against</a:t>
            </a:r>
            <a:r>
              <a:rPr spc="5" dirty="0"/>
              <a:t> </a:t>
            </a:r>
            <a:r>
              <a:rPr spc="-5" dirty="0"/>
              <a:t>larger </a:t>
            </a:r>
            <a:r>
              <a:rPr spc="-484" dirty="0"/>
              <a:t> </a:t>
            </a:r>
            <a:r>
              <a:rPr spc="-5" dirty="0"/>
              <a:t>and</a:t>
            </a:r>
            <a:r>
              <a:rPr dirty="0"/>
              <a:t> </a:t>
            </a:r>
            <a:r>
              <a:rPr spc="-5" dirty="0"/>
              <a:t>more</a:t>
            </a:r>
            <a:r>
              <a:rPr spc="-10" dirty="0"/>
              <a:t> </a:t>
            </a:r>
            <a:r>
              <a:rPr spc="-5" dirty="0"/>
              <a:t>sophisticated</a:t>
            </a:r>
            <a:r>
              <a:rPr spc="15" dirty="0"/>
              <a:t> </a:t>
            </a:r>
            <a:r>
              <a:rPr dirty="0"/>
              <a:t>attacks</a:t>
            </a:r>
            <a:r>
              <a:rPr spc="-15" dirty="0"/>
              <a:t> </a:t>
            </a:r>
            <a:r>
              <a:rPr spc="-5" dirty="0"/>
              <a:t>(ELB, </a:t>
            </a:r>
            <a:r>
              <a:rPr dirty="0"/>
              <a:t> </a:t>
            </a:r>
            <a:r>
              <a:rPr spc="-5" dirty="0"/>
              <a:t>CloudFront,</a:t>
            </a:r>
            <a:r>
              <a:rPr spc="15" dirty="0"/>
              <a:t> </a:t>
            </a:r>
            <a:r>
              <a:rPr spc="-5" dirty="0"/>
              <a:t>Route53),</a:t>
            </a:r>
            <a:r>
              <a:rPr spc="10" dirty="0"/>
              <a:t> </a:t>
            </a:r>
            <a:r>
              <a:rPr spc="-5" dirty="0"/>
              <a:t>billing</a:t>
            </a:r>
            <a:r>
              <a:rPr spc="15" dirty="0"/>
              <a:t> </a:t>
            </a:r>
            <a:r>
              <a:rPr spc="-5" dirty="0"/>
              <a:t>protection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1716" y="3676599"/>
            <a:ext cx="52514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75" dirty="0">
                <a:solidFill>
                  <a:srgbClr val="464646"/>
                </a:solidFill>
                <a:latin typeface="Arial MT"/>
                <a:cs typeface="Arial MT"/>
              </a:rPr>
              <a:t>W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AF</a:t>
            </a:r>
            <a:endParaRPr sz="1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831716" y="3951528"/>
            <a:ext cx="483743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marR="13970" indent="-287020">
              <a:lnSpc>
                <a:spcPct val="100000"/>
              </a:lnSpc>
              <a:spcBef>
                <a:spcPts val="100"/>
              </a:spcBef>
              <a:buChar char="•"/>
              <a:tabLst>
                <a:tab pos="299085" algn="l"/>
                <a:tab pos="299720" algn="l"/>
              </a:tabLst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Control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access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to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content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25" dirty="0">
                <a:solidFill>
                  <a:srgbClr val="464646"/>
                </a:solidFill>
                <a:latin typeface="Arial MT"/>
                <a:cs typeface="Arial MT"/>
              </a:rPr>
              <a:t>(allow,</a:t>
            </a:r>
            <a:r>
              <a:rPr sz="1800" spc="5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deny,</a:t>
            </a:r>
            <a:r>
              <a:rPr sz="1800" spc="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count </a:t>
            </a:r>
            <a:r>
              <a:rPr sz="1800" spc="-484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requests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based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on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criteria)</a:t>
            </a:r>
            <a:endParaRPr sz="1800">
              <a:latin typeface="Arial MT"/>
              <a:cs typeface="Arial MT"/>
            </a:endParaRPr>
          </a:p>
          <a:p>
            <a:pPr marL="299085" indent="-287020">
              <a:lnSpc>
                <a:spcPct val="100000"/>
              </a:lnSpc>
              <a:buChar char="•"/>
              <a:tabLst>
                <a:tab pos="299085" algn="l"/>
                <a:tab pos="299720" algn="l"/>
              </a:tabLst>
            </a:pP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SQL</a:t>
            </a:r>
            <a:r>
              <a:rPr sz="1800" spc="-6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Injection,</a:t>
            </a:r>
            <a:r>
              <a:rPr sz="180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Cross-site</a:t>
            </a:r>
            <a:r>
              <a:rPr sz="18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scripting</a:t>
            </a:r>
            <a:r>
              <a:rPr sz="18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Protection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97941" y="278129"/>
            <a:ext cx="2580640" cy="647700"/>
          </a:xfrm>
          <a:custGeom>
            <a:avLst/>
            <a:gdLst/>
            <a:ahLst/>
            <a:cxnLst/>
            <a:rect l="l" t="t" r="r" b="b"/>
            <a:pathLst>
              <a:path w="2580640" h="647700">
                <a:moveTo>
                  <a:pt x="0" y="107950"/>
                </a:moveTo>
                <a:lnTo>
                  <a:pt x="8483" y="65954"/>
                </a:lnTo>
                <a:lnTo>
                  <a:pt x="31619" y="31638"/>
                </a:lnTo>
                <a:lnTo>
                  <a:pt x="65933" y="8491"/>
                </a:lnTo>
                <a:lnTo>
                  <a:pt x="107950" y="0"/>
                </a:lnTo>
                <a:lnTo>
                  <a:pt x="2472182" y="0"/>
                </a:lnTo>
                <a:lnTo>
                  <a:pt x="2514177" y="8491"/>
                </a:lnTo>
                <a:lnTo>
                  <a:pt x="2548493" y="31638"/>
                </a:lnTo>
                <a:lnTo>
                  <a:pt x="2571640" y="65954"/>
                </a:lnTo>
                <a:lnTo>
                  <a:pt x="2580132" y="107950"/>
                </a:lnTo>
                <a:lnTo>
                  <a:pt x="2580132" y="539750"/>
                </a:lnTo>
                <a:lnTo>
                  <a:pt x="2571640" y="581745"/>
                </a:lnTo>
                <a:lnTo>
                  <a:pt x="2548493" y="616061"/>
                </a:lnTo>
                <a:lnTo>
                  <a:pt x="2514177" y="639208"/>
                </a:lnTo>
                <a:lnTo>
                  <a:pt x="2472182" y="647700"/>
                </a:lnTo>
                <a:lnTo>
                  <a:pt x="107950" y="647700"/>
                </a:lnTo>
                <a:lnTo>
                  <a:pt x="65933" y="639208"/>
                </a:lnTo>
                <a:lnTo>
                  <a:pt x="31619" y="616061"/>
                </a:lnTo>
                <a:lnTo>
                  <a:pt x="8483" y="581745"/>
                </a:lnTo>
                <a:lnTo>
                  <a:pt x="0" y="539750"/>
                </a:lnTo>
                <a:lnTo>
                  <a:pt x="0" y="107950"/>
                </a:lnTo>
                <a:close/>
              </a:path>
            </a:pathLst>
          </a:custGeom>
          <a:ln w="25400">
            <a:solidFill>
              <a:srgbClr val="F79F2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780389" y="12954"/>
            <a:ext cx="7738745" cy="4769485"/>
          </a:xfrm>
          <a:prstGeom prst="rect">
            <a:avLst/>
          </a:prstGeom>
        </p:spPr>
        <p:txBody>
          <a:bodyPr vert="horz" wrap="square" lIns="0" tIns="91440" rIns="0" bIns="0" rtlCol="0">
            <a:spAutoFit/>
          </a:bodyPr>
          <a:lstStyle/>
          <a:p>
            <a:pPr marL="2645410">
              <a:lnSpc>
                <a:spcPct val="100000"/>
              </a:lnSpc>
              <a:spcBef>
                <a:spcPts val="720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Lambda functions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at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 edge locations</a:t>
            </a:r>
            <a:endParaRPr sz="1800">
              <a:latin typeface="Arial MT"/>
              <a:cs typeface="Arial MT"/>
            </a:endParaRPr>
          </a:p>
          <a:p>
            <a:pPr marL="12700">
              <a:lnSpc>
                <a:spcPts val="1850"/>
              </a:lnSpc>
              <a:spcBef>
                <a:spcPts val="62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Lambda@Edge</a:t>
            </a:r>
            <a:endParaRPr sz="1800">
              <a:latin typeface="Arial MT"/>
              <a:cs typeface="Arial MT"/>
            </a:endParaRPr>
          </a:p>
          <a:p>
            <a:pPr marL="2645410">
              <a:lnSpc>
                <a:spcPts val="1850"/>
              </a:lnSpc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Customize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application</a:t>
            </a:r>
            <a:r>
              <a:rPr sz="18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behavior</a:t>
            </a:r>
            <a:r>
              <a:rPr sz="1800" spc="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–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without</a:t>
            </a:r>
            <a:r>
              <a:rPr sz="1800" spc="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touching</a:t>
            </a:r>
            <a:endParaRPr sz="1800">
              <a:latin typeface="Arial MT"/>
              <a:cs typeface="Arial MT"/>
            </a:endParaRPr>
          </a:p>
          <a:p>
            <a:pPr marL="2645410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origin</a:t>
            </a:r>
            <a:r>
              <a:rPr sz="1800" spc="-3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systems</a:t>
            </a:r>
            <a:endParaRPr sz="1800">
              <a:latin typeface="Arial MT"/>
              <a:cs typeface="Arial MT"/>
            </a:endParaRPr>
          </a:p>
          <a:p>
            <a:pPr marL="2645410" marR="552450">
              <a:lnSpc>
                <a:spcPct val="200000"/>
              </a:lnSpc>
              <a:spcBef>
                <a:spcPts val="5"/>
              </a:spcBef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Run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application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logic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close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 to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your</a:t>
            </a:r>
            <a:r>
              <a:rPr sz="1800" spc="3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end users </a:t>
            </a:r>
            <a:r>
              <a:rPr sz="1800" spc="-484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Improve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responsiveness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 MT"/>
              <a:cs typeface="Arial MT"/>
            </a:endParaRPr>
          </a:p>
          <a:p>
            <a:pPr marL="2645410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Configure</a:t>
            </a:r>
            <a:r>
              <a:rPr sz="18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to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 run</a:t>
            </a:r>
            <a:r>
              <a:rPr sz="1800" spc="1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in-response</a:t>
            </a:r>
            <a:r>
              <a:rPr sz="1800" spc="2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to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 request</a:t>
            </a:r>
            <a:r>
              <a:rPr sz="18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0" dirty="0">
                <a:solidFill>
                  <a:srgbClr val="464646"/>
                </a:solidFill>
                <a:latin typeface="Arial MT"/>
                <a:cs typeface="Arial MT"/>
              </a:rPr>
              <a:t>lifecycle:</a:t>
            </a:r>
            <a:endParaRPr sz="1800">
              <a:latin typeface="Arial MT"/>
              <a:cs typeface="Arial MT"/>
            </a:endParaRPr>
          </a:p>
          <a:p>
            <a:pPr marL="2931795" indent="-287020">
              <a:lnSpc>
                <a:spcPct val="100000"/>
              </a:lnSpc>
              <a:buChar char="•"/>
              <a:tabLst>
                <a:tab pos="2931795" algn="l"/>
                <a:tab pos="2932430" algn="l"/>
              </a:tabLst>
            </a:pP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Viewer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Request/Response</a:t>
            </a:r>
            <a:endParaRPr sz="1800">
              <a:latin typeface="Arial MT"/>
              <a:cs typeface="Arial MT"/>
            </a:endParaRPr>
          </a:p>
          <a:p>
            <a:pPr marL="2931795" indent="-287020">
              <a:lnSpc>
                <a:spcPct val="100000"/>
              </a:lnSpc>
              <a:buChar char="•"/>
              <a:tabLst>
                <a:tab pos="2931795" algn="l"/>
                <a:tab pos="2932430" algn="l"/>
              </a:tabLst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Origin</a:t>
            </a:r>
            <a:r>
              <a:rPr sz="1800" spc="-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Request/Response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>
              <a:latin typeface="Arial MT"/>
              <a:cs typeface="Arial MT"/>
            </a:endParaRPr>
          </a:p>
          <a:p>
            <a:pPr marL="2645410" marR="270510">
              <a:lnSpc>
                <a:spcPct val="100000"/>
              </a:lnSpc>
            </a:pPr>
            <a:r>
              <a:rPr sz="1800" spc="-100" dirty="0">
                <a:solidFill>
                  <a:srgbClr val="464646"/>
                </a:solidFill>
                <a:latin typeface="Arial MT"/>
                <a:cs typeface="Arial MT"/>
              </a:rPr>
              <a:t>V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er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i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fy</a:t>
            </a:r>
            <a:r>
              <a:rPr sz="1800" spc="-10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u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th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ntic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tion</a:t>
            </a:r>
            <a:r>
              <a:rPr sz="1800" spc="1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Cr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nti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a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ls</a:t>
            </a:r>
            <a:r>
              <a:rPr sz="1800" spc="2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at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Ed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g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e</a:t>
            </a:r>
            <a:r>
              <a:rPr sz="1800" spc="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464646"/>
                </a:solidFill>
                <a:latin typeface="Arial MT"/>
                <a:cs typeface="Arial MT"/>
              </a:rPr>
              <a:t>- JWT  (JSON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15" dirty="0">
                <a:solidFill>
                  <a:srgbClr val="464646"/>
                </a:solidFill>
                <a:latin typeface="Arial MT"/>
                <a:cs typeface="Arial MT"/>
              </a:rPr>
              <a:t>Web</a:t>
            </a:r>
            <a:r>
              <a:rPr sz="1800" spc="-45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30" dirty="0">
                <a:solidFill>
                  <a:srgbClr val="464646"/>
                </a:solidFill>
                <a:latin typeface="Arial MT"/>
                <a:cs typeface="Arial MT"/>
              </a:rPr>
              <a:t>Tokens)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>
              <a:latin typeface="Arial MT"/>
              <a:cs typeface="Arial MT"/>
            </a:endParaRPr>
          </a:p>
          <a:p>
            <a:pPr marL="2645410">
              <a:lnSpc>
                <a:spcPct val="100000"/>
              </a:lnSpc>
            </a:pP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Bot</a:t>
            </a:r>
            <a:r>
              <a:rPr sz="1800" spc="-40" dirty="0">
                <a:solidFill>
                  <a:srgbClr val="464646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464646"/>
                </a:solidFill>
                <a:latin typeface="Arial MT"/>
                <a:cs typeface="Arial MT"/>
              </a:rPr>
              <a:t>detection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686CE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424</Words>
  <Application>Microsoft Office PowerPoint</Application>
  <PresentationFormat>On-screen Show (16:9)</PresentationFormat>
  <Paragraphs>78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MT</vt:lpstr>
      <vt:lpstr>Calibri</vt:lpstr>
      <vt:lpstr>Office Theme</vt:lpstr>
      <vt:lpstr>Paintbrush Picture</vt:lpstr>
      <vt:lpstr>CloudFront</vt:lpstr>
      <vt:lpstr>PowerPoint Presentation</vt:lpstr>
      <vt:lpstr>PowerPoint Presentation</vt:lpstr>
      <vt:lpstr>PowerPoint Presentation</vt:lpstr>
      <vt:lpstr>PowerPoint Presentation</vt:lpstr>
      <vt:lpstr>Types of Content</vt:lpstr>
      <vt:lpstr>CloudFront Performance</vt:lpstr>
      <vt:lpstr>Origin</vt:lpstr>
      <vt:lpstr>Security, Lambda@Edge</vt:lpstr>
      <vt:lpstr>Securing S3 Origin</vt:lpstr>
      <vt:lpstr>Securing App Origin</vt:lpstr>
      <vt:lpstr>Security at the Edge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SageMaker, AI and Machine Learning</dc:title>
  <dc:creator>ouraccount</dc:creator>
  <cp:lastModifiedBy>hp</cp:lastModifiedBy>
  <cp:revision>2</cp:revision>
  <dcterms:created xsi:type="dcterms:W3CDTF">2022-05-28T09:49:29Z</dcterms:created>
  <dcterms:modified xsi:type="dcterms:W3CDTF">2022-05-28T09:55:42Z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2020-03-06T00:00:00Z</vt:filetime>
  </property>
  <property fmtid="{D5CDD505-2E9C-101B-9397-08002B2CF9AE}" pid="3" name="Creator">
    <vt:lpwstr>Microsoft® PowerPoint® for Office 365</vt:lpwstr>
  </property>
  <property fmtid="{D5CDD505-2E9C-101B-9397-08002B2CF9AE}" pid="4" name="LastSaved">
    <vt:filetime>2022-05-28T00:00:00Z</vt:filetime>
  </property>
</Properties>
</file>