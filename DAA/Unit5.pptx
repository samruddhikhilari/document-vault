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70" r:id="rId14"/>
    <p:sldId id="271" r:id="rId15"/>
    <p:sldId id="272" r:id="rId16"/>
    <p:sldId id="273" r:id="rId17"/>
    <p:sldId id="268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15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3458-5CD3-419C-AB93-266305B21EDB}" type="datetimeFigureOut">
              <a:rPr lang="en-US" smtClean="0"/>
              <a:pPr/>
              <a:t>25/03/2025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3EEC-C7B2-46B3-AAEA-CFF0FF6F44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3458-5CD3-419C-AB93-266305B21EDB}" type="datetimeFigureOut">
              <a:rPr lang="en-US" smtClean="0"/>
              <a:pPr/>
              <a:t>25/03/2025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3EEC-C7B2-46B3-AAEA-CFF0FF6F44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3458-5CD3-419C-AB93-266305B21EDB}" type="datetimeFigureOut">
              <a:rPr lang="en-US" smtClean="0"/>
              <a:pPr/>
              <a:t>25/03/2025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3EEC-C7B2-46B3-AAEA-CFF0FF6F44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3458-5CD3-419C-AB93-266305B21EDB}" type="datetimeFigureOut">
              <a:rPr lang="en-US" smtClean="0"/>
              <a:pPr/>
              <a:t>25/03/2025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3EEC-C7B2-46B3-AAEA-CFF0FF6F44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3458-5CD3-419C-AB93-266305B21EDB}" type="datetimeFigureOut">
              <a:rPr lang="en-US" smtClean="0"/>
              <a:pPr/>
              <a:t>25/03/2025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3EEC-C7B2-46B3-AAEA-CFF0FF6F44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3458-5CD3-419C-AB93-266305B21EDB}" type="datetimeFigureOut">
              <a:rPr lang="en-US" smtClean="0"/>
              <a:pPr/>
              <a:t>25/03/2025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3EEC-C7B2-46B3-AAEA-CFF0FF6F44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3458-5CD3-419C-AB93-266305B21EDB}" type="datetimeFigureOut">
              <a:rPr lang="en-US" smtClean="0"/>
              <a:pPr/>
              <a:t>25/03/2025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3EEC-C7B2-46B3-AAEA-CFF0FF6F44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3458-5CD3-419C-AB93-266305B21EDB}" type="datetimeFigureOut">
              <a:rPr lang="en-US" smtClean="0"/>
              <a:pPr/>
              <a:t>25/03/2025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3EEC-C7B2-46B3-AAEA-CFF0FF6F44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3458-5CD3-419C-AB93-266305B21EDB}" type="datetimeFigureOut">
              <a:rPr lang="en-US" smtClean="0"/>
              <a:pPr/>
              <a:t>25/03/2025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3EEC-C7B2-46B3-AAEA-CFF0FF6F44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3458-5CD3-419C-AB93-266305B21EDB}" type="datetimeFigureOut">
              <a:rPr lang="en-US" smtClean="0"/>
              <a:pPr/>
              <a:t>25/03/2025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3EEC-C7B2-46B3-AAEA-CFF0FF6F44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3458-5CD3-419C-AB93-266305B21EDB}" type="datetimeFigureOut">
              <a:rPr lang="en-US" smtClean="0"/>
              <a:pPr/>
              <a:t>25/03/2025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3EEC-C7B2-46B3-AAEA-CFF0FF6F44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23458-5CD3-419C-AB93-266305B21EDB}" type="datetimeFigureOut">
              <a:rPr lang="en-US" smtClean="0"/>
              <a:pPr/>
              <a:t>25/03/2025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43EEC-C7B2-46B3-AAEA-CFF0FF6F44F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Unit 5 </a:t>
            </a:r>
            <a:br>
              <a:rPr lang="en-US" dirty="0" smtClean="0"/>
            </a:br>
            <a:r>
              <a:rPr lang="en-US" dirty="0" smtClean="0"/>
              <a:t>Backtracking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- by:</a:t>
            </a:r>
            <a:br>
              <a:rPr lang="en-US" dirty="0" smtClean="0"/>
            </a:br>
            <a:r>
              <a:rPr lang="en-US" dirty="0" smtClean="0"/>
              <a:t>Dr. Varsha R.Dange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Backtracking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Backtracking is like trying different paths, and when you hit a dead end, you backtrack to the last choice and try a different </a:t>
            </a:r>
            <a:r>
              <a:rPr lang="en-US" dirty="0" smtClean="0"/>
              <a:t>route.</a:t>
            </a:r>
          </a:p>
          <a:p>
            <a:pPr algn="just"/>
            <a:r>
              <a:rPr lang="en-US" dirty="0" smtClean="0"/>
              <a:t>Backtracking is a problem-solving algorithmic technique that involves finding a solution incrementally by trying </a:t>
            </a:r>
            <a:r>
              <a:rPr lang="en-US" b="1" dirty="0" smtClean="0"/>
              <a:t>different options</a:t>
            </a:r>
            <a:r>
              <a:rPr lang="en-US" dirty="0" smtClean="0"/>
              <a:t> and </a:t>
            </a:r>
            <a:r>
              <a:rPr lang="en-US" b="1" dirty="0" smtClean="0"/>
              <a:t>undoing</a:t>
            </a:r>
            <a:r>
              <a:rPr lang="en-US" dirty="0" smtClean="0"/>
              <a:t> them if they lead to a </a:t>
            </a:r>
            <a:r>
              <a:rPr lang="en-US" b="1" dirty="0" smtClean="0"/>
              <a:t>dead end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US" dirty="0" smtClean="0"/>
              <a:t>It </a:t>
            </a:r>
            <a:r>
              <a:rPr lang="en-US" dirty="0"/>
              <a:t>is commonly used in situations where you need to explore multiple possibilities to solve a problem, </a:t>
            </a:r>
            <a:endParaRPr lang="en-US" dirty="0" smtClean="0"/>
          </a:p>
          <a:p>
            <a:r>
              <a:rPr lang="en-US" dirty="0" smtClean="0"/>
              <a:t>like </a:t>
            </a:r>
            <a:r>
              <a:rPr lang="en-US" dirty="0"/>
              <a:t>searching for a path in a maze or solving puzzles like Sudoku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When a dead end is reached, the algorithm backtracks to the previous decision point and explores a different path until a solution is found or all possibilities have been exhausted.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 smtClean="0"/>
              <a:t>Types of Backtracking Problems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fontAlgn="base"/>
            <a:r>
              <a:rPr lang="en-US" dirty="0" smtClean="0"/>
              <a:t>Problems </a:t>
            </a:r>
            <a:r>
              <a:rPr lang="en-US" dirty="0"/>
              <a:t>associated with backtracking can be categorized into 3 categories:</a:t>
            </a:r>
          </a:p>
          <a:p>
            <a:r>
              <a:rPr lang="en-US" b="1" dirty="0" smtClean="0"/>
              <a:t>Decision Problems</a:t>
            </a:r>
          </a:p>
          <a:p>
            <a:r>
              <a:rPr lang="en-US" dirty="0" smtClean="0"/>
              <a:t>These problems require determining </a:t>
            </a:r>
            <a:r>
              <a:rPr lang="en-US" b="1" dirty="0" smtClean="0"/>
              <a:t>whether a solution exist(yes/no)</a:t>
            </a:r>
            <a:endParaRPr lang="en-US" dirty="0" smtClean="0"/>
          </a:p>
          <a:p>
            <a:r>
              <a:rPr lang="en-US" i="1" dirty="0" smtClean="0"/>
              <a:t>Example</a:t>
            </a:r>
            <a:r>
              <a:rPr lang="en-US" dirty="0" smtClean="0"/>
              <a:t>: Checking if a </a:t>
            </a:r>
            <a:r>
              <a:rPr lang="en-US" b="1" dirty="0" smtClean="0"/>
              <a:t>Hamiltonian cycle</a:t>
            </a:r>
            <a:r>
              <a:rPr lang="en-US" dirty="0" smtClean="0"/>
              <a:t> exists in a graph.</a:t>
            </a:r>
          </a:p>
          <a:p>
            <a:r>
              <a:rPr lang="en-US" b="1" dirty="0" smtClean="0"/>
              <a:t>2. Optimization Problems</a:t>
            </a:r>
          </a:p>
          <a:p>
            <a:r>
              <a:rPr lang="en-US" dirty="0" smtClean="0"/>
              <a:t>These problems involve </a:t>
            </a:r>
            <a:r>
              <a:rPr lang="en-US" b="1" dirty="0" smtClean="0"/>
              <a:t>finding the best solution</a:t>
            </a:r>
            <a:r>
              <a:rPr lang="en-US" dirty="0" smtClean="0"/>
              <a:t> from multiple possible solutions.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i="1" dirty="0" smtClean="0"/>
              <a:t>Example</a:t>
            </a:r>
            <a:r>
              <a:rPr lang="en-US" dirty="0" smtClean="0"/>
              <a:t>: The </a:t>
            </a:r>
            <a:r>
              <a:rPr lang="en-US" b="1" dirty="0" smtClean="0"/>
              <a:t>Traveling Salesman Problem (TSP)</a:t>
            </a:r>
            <a:r>
              <a:rPr lang="en-US" dirty="0" smtClean="0"/>
              <a:t>—finding the shortest route covering all cities.</a:t>
            </a:r>
          </a:p>
          <a:p>
            <a:r>
              <a:rPr lang="en-US" b="1" dirty="0" smtClean="0"/>
              <a:t>3. Constraint Satisfaction Problems (CSPs)</a:t>
            </a:r>
          </a:p>
          <a:p>
            <a:r>
              <a:rPr lang="en-US" dirty="0" smtClean="0"/>
              <a:t>Problems where a </a:t>
            </a:r>
            <a:r>
              <a:rPr lang="en-US" b="1" dirty="0" smtClean="0"/>
              <a:t>solution must satisfy a given set of constraints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i="1" dirty="0" smtClean="0"/>
              <a:t>Example</a:t>
            </a:r>
            <a:r>
              <a:rPr lang="en-US" dirty="0" smtClean="0"/>
              <a:t>: Sudoku, n-Queens, Graph Coloring.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Generally </a:t>
            </a:r>
            <a:r>
              <a:rPr lang="en-US" dirty="0" smtClean="0"/>
              <a:t>constraint </a:t>
            </a:r>
            <a:r>
              <a:rPr lang="en-US" dirty="0"/>
              <a:t>satisfaction problem can be solved using </a:t>
            </a:r>
            <a:r>
              <a:rPr lang="en-US" dirty="0" smtClean="0"/>
              <a:t>backtracking</a:t>
            </a:r>
          </a:p>
          <a:p>
            <a:r>
              <a:rPr lang="en-US" dirty="0" smtClean="0"/>
              <a:t>Backtracking problems involve </a:t>
            </a:r>
            <a:r>
              <a:rPr lang="en-US" b="1" dirty="0" smtClean="0"/>
              <a:t>two types of constraints</a:t>
            </a:r>
            <a:r>
              <a:rPr lang="en-US" dirty="0" smtClean="0"/>
              <a:t>:</a:t>
            </a:r>
          </a:p>
          <a:p>
            <a:r>
              <a:rPr lang="en-US" b="1" dirty="0" smtClean="0"/>
              <a:t>1. Explicit Constraints</a:t>
            </a:r>
          </a:p>
          <a:p>
            <a:r>
              <a:rPr lang="en-US" dirty="0" smtClean="0"/>
              <a:t>These define the properties of a valid solution.</a:t>
            </a:r>
          </a:p>
          <a:p>
            <a:r>
              <a:rPr lang="en-US" dirty="0" smtClean="0"/>
              <a:t>If an explicit constraint is violated, backtracking occurs immediately.</a:t>
            </a:r>
          </a:p>
          <a:p>
            <a:r>
              <a:rPr lang="en-US" i="1" dirty="0" smtClean="0"/>
              <a:t> Examples-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b="1" dirty="0" smtClean="0"/>
              <a:t>n-Queens</a:t>
            </a:r>
            <a:r>
              <a:rPr lang="en-US" dirty="0" smtClean="0"/>
              <a:t>, no two queens should be in the same row, column, or diagonal.</a:t>
            </a:r>
          </a:p>
          <a:p>
            <a:r>
              <a:rPr lang="en-US" dirty="0" smtClean="0"/>
              <a:t>In </a:t>
            </a:r>
            <a:r>
              <a:rPr lang="en-US" b="1" dirty="0" smtClean="0"/>
              <a:t>Graph Coloring</a:t>
            </a:r>
            <a:r>
              <a:rPr lang="en-US" dirty="0" smtClean="0"/>
              <a:t>, adjacent nodes must not have the same color.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Implicit Constraints</a:t>
            </a:r>
          </a:p>
          <a:p>
            <a:r>
              <a:rPr lang="en-US" dirty="0" smtClean="0"/>
              <a:t>These define the rules for selecting the next possible solution step.</a:t>
            </a:r>
          </a:p>
          <a:p>
            <a:r>
              <a:rPr lang="en-US" dirty="0" smtClean="0"/>
              <a:t>They dynamically evolve as the solution is built.</a:t>
            </a:r>
          </a:p>
          <a:p>
            <a:r>
              <a:rPr lang="en-US" i="1" dirty="0" smtClean="0"/>
              <a:t>Examples</a:t>
            </a:r>
            <a:r>
              <a:rPr lang="en-US" dirty="0" smtClean="0"/>
              <a:t>:</a:t>
            </a:r>
          </a:p>
          <a:p>
            <a:r>
              <a:rPr lang="en-US" dirty="0" smtClean="0"/>
              <a:t>In </a:t>
            </a:r>
            <a:r>
              <a:rPr lang="en-US" b="1" dirty="0" smtClean="0"/>
              <a:t>Sudoku</a:t>
            </a:r>
            <a:r>
              <a:rPr lang="en-US" dirty="0" smtClean="0"/>
              <a:t>, a number can be placed in a cell </a:t>
            </a:r>
            <a:r>
              <a:rPr lang="en-US" b="1" dirty="0" smtClean="0"/>
              <a:t>only if it is not present in the same row, column, or box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</a:t>
            </a:r>
            <a:r>
              <a:rPr lang="en-US" b="1" dirty="0" smtClean="0"/>
              <a:t>Word Search</a:t>
            </a:r>
            <a:r>
              <a:rPr lang="en-US" dirty="0" smtClean="0"/>
              <a:t>, the next selected letter must if it form a valid word.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Working of Backtracking Algorithm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Choose a possible solution component.</a:t>
            </a:r>
            <a:endParaRPr lang="en-US" dirty="0" smtClean="0"/>
          </a:p>
          <a:p>
            <a:r>
              <a:rPr lang="en-US" b="1" dirty="0" smtClean="0"/>
              <a:t>Verify if it satisfies constraints.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If it </a:t>
            </a:r>
            <a:r>
              <a:rPr lang="en-US" b="1" dirty="0" smtClean="0"/>
              <a:t>satisfies</a:t>
            </a:r>
            <a:r>
              <a:rPr lang="en-US" dirty="0" smtClean="0"/>
              <a:t>, proceed to the next step.</a:t>
            </a:r>
          </a:p>
          <a:p>
            <a:pPr lvl="1"/>
            <a:r>
              <a:rPr lang="en-US" dirty="0" smtClean="0"/>
              <a:t>If it </a:t>
            </a:r>
            <a:r>
              <a:rPr lang="en-US" b="1" dirty="0" smtClean="0"/>
              <a:t>violates</a:t>
            </a:r>
            <a:r>
              <a:rPr lang="en-US" dirty="0" smtClean="0"/>
              <a:t>, backtrack and try another option.</a:t>
            </a:r>
          </a:p>
          <a:p>
            <a:r>
              <a:rPr lang="en-US" b="1" dirty="0" smtClean="0"/>
              <a:t>Repeat until a complete solution is found.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Backtracking Algorithm Structure (</a:t>
            </a:r>
            <a:r>
              <a:rPr lang="en-US" dirty="0" err="1" smtClean="0"/>
              <a:t>Pseudocode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Backtrack(solution):</a:t>
            </a:r>
          </a:p>
          <a:p>
            <a:pPr>
              <a:buNone/>
            </a:pPr>
            <a:r>
              <a:rPr lang="en-US" dirty="0" smtClean="0"/>
              <a:t>    if solution is complete:</a:t>
            </a:r>
          </a:p>
          <a:p>
            <a:pPr>
              <a:buNone/>
            </a:pPr>
            <a:r>
              <a:rPr lang="en-US" dirty="0" smtClean="0"/>
              <a:t>        process the solution</a:t>
            </a:r>
          </a:p>
          <a:p>
            <a:pPr>
              <a:buNone/>
            </a:pPr>
            <a:r>
              <a:rPr lang="en-US" dirty="0" smtClean="0"/>
              <a:t>        return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for each possible choice:</a:t>
            </a:r>
          </a:p>
          <a:p>
            <a:pPr>
              <a:buNone/>
            </a:pPr>
            <a:r>
              <a:rPr lang="en-US" dirty="0" smtClean="0"/>
              <a:t>        if choice is valid:</a:t>
            </a:r>
          </a:p>
          <a:p>
            <a:pPr>
              <a:buNone/>
            </a:pPr>
            <a:r>
              <a:rPr lang="en-US" dirty="0" smtClean="0"/>
              <a:t>            make the choice</a:t>
            </a:r>
          </a:p>
          <a:p>
            <a:pPr>
              <a:buNone/>
            </a:pPr>
            <a:r>
              <a:rPr lang="en-US" dirty="0" smtClean="0"/>
              <a:t>            Backtrack(solution)  // Recursive call</a:t>
            </a:r>
          </a:p>
          <a:p>
            <a:pPr>
              <a:buNone/>
            </a:pPr>
            <a:r>
              <a:rPr lang="en-US" dirty="0" smtClean="0"/>
              <a:t>            undo the choice (backtrack)  // Remove last step if needed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Detailed Explanation of the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Base Case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If the solution is </a:t>
            </a:r>
            <a:r>
              <a:rPr lang="en-US" b="1" dirty="0" smtClean="0"/>
              <a:t>complete</a:t>
            </a:r>
            <a:r>
              <a:rPr lang="en-US" dirty="0" smtClean="0"/>
              <a:t>, process it and return.</a:t>
            </a:r>
          </a:p>
          <a:p>
            <a:r>
              <a:rPr lang="en-US" b="1" dirty="0" smtClean="0"/>
              <a:t>Recursive Case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Loop through </a:t>
            </a:r>
            <a:r>
              <a:rPr lang="en-US" b="1" dirty="0" smtClean="0"/>
              <a:t>all possible choices</a:t>
            </a:r>
            <a:r>
              <a:rPr lang="en-US" dirty="0" smtClean="0"/>
              <a:t> at the current step.</a:t>
            </a:r>
          </a:p>
          <a:p>
            <a:pPr lvl="1"/>
            <a:r>
              <a:rPr lang="en-US" dirty="0" smtClean="0"/>
              <a:t>Check if a choice is </a:t>
            </a:r>
            <a:r>
              <a:rPr lang="en-US" b="1" dirty="0" smtClean="0"/>
              <a:t>valid</a:t>
            </a:r>
            <a:r>
              <a:rPr lang="en-US" dirty="0" smtClean="0"/>
              <a:t> (i.e., satisfies constraints).</a:t>
            </a:r>
          </a:p>
          <a:p>
            <a:pPr lvl="1"/>
            <a:r>
              <a:rPr lang="en-US" dirty="0" smtClean="0"/>
              <a:t>If valid, </a:t>
            </a:r>
            <a:r>
              <a:rPr lang="en-US" b="1" dirty="0" smtClean="0"/>
              <a:t>include the choice</a:t>
            </a:r>
            <a:r>
              <a:rPr lang="en-US" dirty="0" smtClean="0"/>
              <a:t> and move to the next step.</a:t>
            </a:r>
          </a:p>
          <a:p>
            <a:pPr lvl="1"/>
            <a:r>
              <a:rPr lang="en-US" dirty="0" smtClean="0"/>
              <a:t>If no valid solution is found, </a:t>
            </a:r>
            <a:r>
              <a:rPr lang="en-US" b="1" dirty="0" smtClean="0"/>
              <a:t>backtrack</a:t>
            </a:r>
            <a:r>
              <a:rPr lang="en-US" dirty="0" smtClean="0"/>
              <a:t> by undoing the last choice.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/>
              <a:t>How does Backtracking works?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295400"/>
            <a:ext cx="8534400" cy="504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7200" dirty="0" smtClean="0"/>
              <a:t>graph coloring problem with examples</a:t>
            </a:r>
            <a:endParaRPr lang="en-US" sz="7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Graph coloring problem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pPr algn="just" fontAlgn="base"/>
            <a:r>
              <a:rPr lang="en-US" b="1" dirty="0" smtClean="0"/>
              <a:t>Graph coloring</a:t>
            </a:r>
            <a:r>
              <a:rPr lang="en-US" dirty="0" smtClean="0"/>
              <a:t> refers to the problem of </a:t>
            </a:r>
            <a:r>
              <a:rPr lang="en-US" b="1" dirty="0" smtClean="0"/>
              <a:t>coloring vertices</a:t>
            </a:r>
            <a:r>
              <a:rPr lang="en-US" dirty="0" smtClean="0"/>
              <a:t> of a graph in such a way that </a:t>
            </a:r>
            <a:r>
              <a:rPr lang="en-US" b="1" dirty="0" smtClean="0"/>
              <a:t>no two adjacent </a:t>
            </a:r>
            <a:r>
              <a:rPr lang="en-US" dirty="0" smtClean="0"/>
              <a:t>vertices have the </a:t>
            </a:r>
            <a:r>
              <a:rPr lang="en-US" b="1" dirty="0" smtClean="0"/>
              <a:t>same</a:t>
            </a:r>
            <a:r>
              <a:rPr lang="en-US" dirty="0" smtClean="0"/>
              <a:t> </a:t>
            </a:r>
            <a:r>
              <a:rPr lang="en-US" b="1" dirty="0" smtClean="0"/>
              <a:t>color</a:t>
            </a:r>
            <a:r>
              <a:rPr lang="en-US" dirty="0" smtClean="0"/>
              <a:t>. </a:t>
            </a:r>
          </a:p>
          <a:p>
            <a:pPr algn="just" fontAlgn="base"/>
            <a:r>
              <a:rPr lang="en-US" dirty="0" smtClean="0"/>
              <a:t>This is also called the </a:t>
            </a:r>
            <a:r>
              <a:rPr lang="en-US" b="1" dirty="0" smtClean="0"/>
              <a:t>vertex coloring</a:t>
            </a:r>
            <a:r>
              <a:rPr lang="en-US" dirty="0" smtClean="0"/>
              <a:t> problem. </a:t>
            </a:r>
          </a:p>
          <a:p>
            <a:pPr algn="just" fontAlgn="base"/>
            <a:r>
              <a:rPr lang="en-US" dirty="0" smtClean="0"/>
              <a:t>If coloring is done using at most m colors, it is called m-coloring.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graph coloring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pPr fontAlgn="base"/>
            <a:r>
              <a:rPr lang="en-US" dirty="0" smtClean="0"/>
              <a:t>Graph coloring problem is both, a </a:t>
            </a:r>
            <a:r>
              <a:rPr lang="en-US" b="1" dirty="0" smtClean="0"/>
              <a:t>decision problem</a:t>
            </a:r>
            <a:r>
              <a:rPr lang="en-US" dirty="0" smtClean="0"/>
              <a:t> as well as an </a:t>
            </a:r>
            <a:r>
              <a:rPr lang="en-US" b="1" dirty="0" smtClean="0"/>
              <a:t>optimization problem</a:t>
            </a:r>
            <a:r>
              <a:rPr lang="en-US" dirty="0" smtClean="0"/>
              <a:t>.</a:t>
            </a:r>
          </a:p>
          <a:p>
            <a:pPr fontAlgn="base"/>
            <a:r>
              <a:rPr lang="en-US" dirty="0" smtClean="0"/>
              <a:t>A </a:t>
            </a:r>
            <a:r>
              <a:rPr lang="en-US" b="1" dirty="0" smtClean="0"/>
              <a:t>decision problem </a:t>
            </a:r>
            <a:r>
              <a:rPr lang="en-US" dirty="0" smtClean="0"/>
              <a:t>is stated as, “With given M colors and graph G, whether a such color scheme is possible or not?”.</a:t>
            </a:r>
          </a:p>
          <a:p>
            <a:pPr fontAlgn="base"/>
            <a:r>
              <a:rPr lang="en-US" dirty="0" smtClean="0"/>
              <a:t>The </a:t>
            </a:r>
            <a:r>
              <a:rPr lang="en-US" b="1" dirty="0" smtClean="0"/>
              <a:t>optimization problem </a:t>
            </a:r>
            <a:r>
              <a:rPr lang="en-US" dirty="0" smtClean="0"/>
              <a:t>is stated as, “Given M colors and graph G, find the minimum number of colors required for graph coloring.”</a:t>
            </a:r>
          </a:p>
          <a:p>
            <a:pPr algn="just" fontAlgn="base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Applications of </a:t>
            </a:r>
            <a:r>
              <a:rPr lang="en-US" b="1" dirty="0" smtClean="0"/>
              <a:t>Graph Coloring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Map Coloring </a:t>
            </a:r>
            <a:r>
              <a:rPr lang="en-US" dirty="0" smtClean="0"/>
              <a:t>-</a:t>
            </a:r>
          </a:p>
          <a:p>
            <a:pPr lvl="1" algn="just"/>
            <a:r>
              <a:rPr lang="en-US" dirty="0" smtClean="0"/>
              <a:t>Ensures that no two adjacent regions (countries, states, districts) share the same color.</a:t>
            </a:r>
          </a:p>
          <a:p>
            <a:pPr lvl="1" algn="just"/>
            <a:r>
              <a:rPr lang="en-US" dirty="0" smtClean="0"/>
              <a:t>Used in geographical maps to differentiate neighboring areas.</a:t>
            </a:r>
          </a:p>
          <a:p>
            <a:r>
              <a:rPr lang="en-US" b="1" dirty="0" smtClean="0"/>
              <a:t>Task Scheduling </a:t>
            </a:r>
            <a:r>
              <a:rPr lang="en-US" dirty="0" smtClean="0"/>
              <a:t>-</a:t>
            </a:r>
          </a:p>
          <a:p>
            <a:pPr lvl="1" algn="just"/>
            <a:r>
              <a:rPr lang="en-US" dirty="0" smtClean="0"/>
              <a:t>Assigns resources (e.g., CPU, workers, classrooms) to tasks while avoiding conflicts.</a:t>
            </a:r>
          </a:p>
          <a:p>
            <a:pPr lvl="1" algn="just"/>
            <a:r>
              <a:rPr lang="en-US" dirty="0" smtClean="0"/>
              <a:t>Example: </a:t>
            </a:r>
            <a:r>
              <a:rPr lang="en-US" b="1" dirty="0" smtClean="0"/>
              <a:t>Parallel processing</a:t>
            </a:r>
            <a:r>
              <a:rPr lang="en-US" dirty="0" smtClean="0"/>
              <a:t> where dependent tasks get different colors to avoid execution conflicts.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Applications of </a:t>
            </a:r>
            <a:r>
              <a:rPr lang="en-US" b="1" dirty="0" smtClean="0"/>
              <a:t>Graph Coloring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Time Table Scheduling</a:t>
            </a:r>
            <a:r>
              <a:rPr lang="en-US" dirty="0" smtClean="0"/>
              <a:t>-</a:t>
            </a:r>
          </a:p>
          <a:p>
            <a:pPr lvl="1" algn="just"/>
            <a:r>
              <a:rPr lang="en-US" dirty="0" smtClean="0"/>
              <a:t>Allocates different time slots for classes/exams ensuring no two overlapping events occur at the same time.</a:t>
            </a:r>
          </a:p>
          <a:p>
            <a:r>
              <a:rPr lang="en-US" b="1" dirty="0" smtClean="0"/>
              <a:t>Assignment Problems </a:t>
            </a:r>
            <a:r>
              <a:rPr lang="en-US" dirty="0" smtClean="0"/>
              <a:t>-</a:t>
            </a:r>
          </a:p>
          <a:p>
            <a:pPr lvl="1"/>
            <a:r>
              <a:rPr lang="en-US" dirty="0" smtClean="0"/>
              <a:t>Assigns workers to tasks, ensuring that no worker is assigned two conflicting tasks.</a:t>
            </a:r>
          </a:p>
          <a:p>
            <a:pPr lvl="1"/>
            <a:r>
              <a:rPr lang="en-US" dirty="0" smtClean="0"/>
              <a:t>Example: Assigning interviewers to candidates in </a:t>
            </a:r>
            <a:r>
              <a:rPr lang="en-US" b="1" dirty="0" smtClean="0"/>
              <a:t>a recruitment process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Applications of </a:t>
            </a:r>
            <a:r>
              <a:rPr lang="en-US" b="1" dirty="0" smtClean="0"/>
              <a:t>Graph Coloring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Conflict Resolution -</a:t>
            </a:r>
          </a:p>
          <a:p>
            <a:pPr lvl="1"/>
            <a:r>
              <a:rPr lang="en-US" dirty="0" smtClean="0"/>
              <a:t>Used in networks, databases, and traffic systems to </a:t>
            </a:r>
            <a:r>
              <a:rPr lang="en-US" b="1" dirty="0" smtClean="0"/>
              <a:t>prevent conflicts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Example: </a:t>
            </a:r>
            <a:r>
              <a:rPr lang="en-US" b="1" dirty="0" smtClean="0"/>
              <a:t>Deadlock prevention</a:t>
            </a:r>
            <a:r>
              <a:rPr lang="en-US" dirty="0" smtClean="0"/>
              <a:t> in operating systems by ensuring non-conflicting resource allocation.</a:t>
            </a:r>
          </a:p>
          <a:p>
            <a:r>
              <a:rPr lang="en-US" b="1" dirty="0" smtClean="0"/>
              <a:t>Sudoku Puzzle Solving </a:t>
            </a:r>
            <a:r>
              <a:rPr lang="en-US" dirty="0" smtClean="0"/>
              <a:t>-</a:t>
            </a:r>
          </a:p>
          <a:p>
            <a:pPr lvl="1"/>
            <a:r>
              <a:rPr lang="en-US" dirty="0" smtClean="0"/>
              <a:t>Each cell in a Sudoku grid represents a node in a graph.</a:t>
            </a:r>
          </a:p>
          <a:p>
            <a:pPr lvl="1"/>
            <a:r>
              <a:rPr lang="en-US" smtClean="0"/>
              <a:t>Each number represents a different color.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 smtClean="0"/>
              <a:t>Chromatic Number: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i="1" dirty="0" smtClean="0"/>
              <a:t>The </a:t>
            </a:r>
            <a:r>
              <a:rPr lang="en-US" b="1" i="1" dirty="0" smtClean="0"/>
              <a:t>minimum </a:t>
            </a:r>
            <a:r>
              <a:rPr lang="en-US" i="1" dirty="0" smtClean="0"/>
              <a:t>number of </a:t>
            </a:r>
            <a:r>
              <a:rPr lang="en-US" b="1" i="1" dirty="0" smtClean="0"/>
              <a:t>colors </a:t>
            </a:r>
            <a:r>
              <a:rPr lang="en-US" i="1" dirty="0" smtClean="0"/>
              <a:t>needed to </a:t>
            </a:r>
            <a:r>
              <a:rPr lang="en-US" b="1" i="1" dirty="0" smtClean="0"/>
              <a:t>color </a:t>
            </a:r>
            <a:r>
              <a:rPr lang="en-US" i="1" dirty="0" smtClean="0"/>
              <a:t>a graph is called its </a:t>
            </a:r>
            <a:r>
              <a:rPr lang="en-US" b="1" i="1" dirty="0" smtClean="0"/>
              <a:t>chromatic </a:t>
            </a:r>
            <a:r>
              <a:rPr lang="en-US" i="1" dirty="0" smtClean="0"/>
              <a:t>number. </a:t>
            </a:r>
          </a:p>
          <a:p>
            <a:r>
              <a:rPr lang="en-US" i="1" dirty="0" smtClean="0"/>
              <a:t>For example, the following can be colored a minimum of 2 colors.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505200"/>
            <a:ext cx="7696200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763</Words>
  <Application>Microsoft Office PowerPoint</Application>
  <PresentationFormat>On-screen Show (4:3)</PresentationFormat>
  <Paragraphs>90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Unit 5  Backtracking</vt:lpstr>
      <vt:lpstr>Backtracking</vt:lpstr>
      <vt:lpstr>Slide 3</vt:lpstr>
      <vt:lpstr>Types of Backtracking Problems </vt:lpstr>
      <vt:lpstr>Slide 5</vt:lpstr>
      <vt:lpstr>Slide 6</vt:lpstr>
      <vt:lpstr>Working of Backtracking Algorithm </vt:lpstr>
      <vt:lpstr>Backtracking Algorithm Structure (Pseudocode)</vt:lpstr>
      <vt:lpstr>Detailed Explanation of the Steps</vt:lpstr>
      <vt:lpstr>How does Backtracking works? </vt:lpstr>
      <vt:lpstr>Slide 11</vt:lpstr>
      <vt:lpstr>Graph coloring problem</vt:lpstr>
      <vt:lpstr>graph coloring problem</vt:lpstr>
      <vt:lpstr>Applications of Graph Coloring</vt:lpstr>
      <vt:lpstr>Applications of Graph Coloring</vt:lpstr>
      <vt:lpstr>Applications of Graph Coloring</vt:lpstr>
      <vt:lpstr>Chromatic Number: 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5  Backtracking</dc:title>
  <dc:creator>Rahul Dange</dc:creator>
  <cp:lastModifiedBy>Rahul Dange</cp:lastModifiedBy>
  <cp:revision>27</cp:revision>
  <dcterms:created xsi:type="dcterms:W3CDTF">2025-03-21T00:50:45Z</dcterms:created>
  <dcterms:modified xsi:type="dcterms:W3CDTF">2025-03-25T06:28:11Z</dcterms:modified>
</cp:coreProperties>
</file>