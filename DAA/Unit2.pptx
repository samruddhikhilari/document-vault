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3" r:id="rId6"/>
    <p:sldId id="264" r:id="rId7"/>
    <p:sldId id="265" r:id="rId8"/>
    <p:sldId id="260" r:id="rId9"/>
    <p:sldId id="261" r:id="rId10"/>
    <p:sldId id="262" r:id="rId11"/>
    <p:sldId id="266" r:id="rId12"/>
    <p:sldId id="268" r:id="rId13"/>
    <p:sldId id="269" r:id="rId14"/>
    <p:sldId id="267" r:id="rId15"/>
    <p:sldId id="270" r:id="rId16"/>
    <p:sldId id="271" r:id="rId17"/>
    <p:sldId id="272" r:id="rId18"/>
    <p:sldId id="276" r:id="rId19"/>
    <p:sldId id="273" r:id="rId20"/>
    <p:sldId id="274" r:id="rId21"/>
    <p:sldId id="275" r:id="rId22"/>
    <p:sldId id="277" r:id="rId23"/>
    <p:sldId id="278" r:id="rId24"/>
    <p:sldId id="279" r:id="rId25"/>
    <p:sldId id="282" r:id="rId26"/>
    <p:sldId id="283" r:id="rId27"/>
    <p:sldId id="284" r:id="rId28"/>
    <p:sldId id="290" r:id="rId29"/>
    <p:sldId id="287" r:id="rId30"/>
    <p:sldId id="288" r:id="rId31"/>
    <p:sldId id="289" r:id="rId32"/>
    <p:sldId id="280" r:id="rId33"/>
    <p:sldId id="281" r:id="rId34"/>
    <p:sldId id="291" r:id="rId35"/>
    <p:sldId id="309" r:id="rId36"/>
    <p:sldId id="292" r:id="rId37"/>
    <p:sldId id="310" r:id="rId38"/>
    <p:sldId id="294" r:id="rId39"/>
    <p:sldId id="308" r:id="rId40"/>
    <p:sldId id="296" r:id="rId41"/>
    <p:sldId id="297" r:id="rId42"/>
    <p:sldId id="299" r:id="rId43"/>
    <p:sldId id="298" r:id="rId44"/>
    <p:sldId id="302" r:id="rId45"/>
    <p:sldId id="303" r:id="rId46"/>
    <p:sldId id="305" r:id="rId47"/>
    <p:sldId id="306" r:id="rId48"/>
    <p:sldId id="307" r:id="rId49"/>
    <p:sldId id="293" r:id="rId50"/>
    <p:sldId id="300" r:id="rId51"/>
    <p:sldId id="301" r:id="rId52"/>
    <p:sldId id="312" r:id="rId53"/>
    <p:sldId id="311" r:id="rId54"/>
    <p:sldId id="313" r:id="rId55"/>
    <p:sldId id="314" r:id="rId56"/>
    <p:sldId id="315" r:id="rId57"/>
    <p:sldId id="323" r:id="rId58"/>
    <p:sldId id="316" r:id="rId59"/>
    <p:sldId id="317" r:id="rId60"/>
    <p:sldId id="318" r:id="rId61"/>
    <p:sldId id="319" r:id="rId62"/>
    <p:sldId id="320" r:id="rId63"/>
    <p:sldId id="321" r:id="rId64"/>
    <p:sldId id="322" r:id="rId65"/>
    <p:sldId id="324" r:id="rId66"/>
    <p:sldId id="326" r:id="rId67"/>
    <p:sldId id="327" r:id="rId68"/>
    <p:sldId id="328" r:id="rId69"/>
    <p:sldId id="329" r:id="rId70"/>
    <p:sldId id="325" r:id="rId71"/>
    <p:sldId id="331" r:id="rId72"/>
    <p:sldId id="330" r:id="rId73"/>
    <p:sldId id="332" r:id="rId74"/>
    <p:sldId id="333" r:id="rId75"/>
    <p:sldId id="334" r:id="rId7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0" d="100"/>
          <a:sy n="60" d="100"/>
        </p:scale>
        <p:origin x="-156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55AB551-DA73-4A4F-B0DA-FB03072E8A8D}" type="datetimeFigureOut">
              <a:rPr lang="en-US" smtClean="0"/>
              <a:pPr/>
              <a:t>14/02/2025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A78E59-0CC4-4528-8AB0-B40A6F43D68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55AB551-DA73-4A4F-B0DA-FB03072E8A8D}" type="datetimeFigureOut">
              <a:rPr lang="en-US" smtClean="0"/>
              <a:pPr/>
              <a:t>14/02/2025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A78E59-0CC4-4528-8AB0-B40A6F43D68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55AB551-DA73-4A4F-B0DA-FB03072E8A8D}" type="datetimeFigureOut">
              <a:rPr lang="en-US" smtClean="0"/>
              <a:pPr/>
              <a:t>14/02/2025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A78E59-0CC4-4528-8AB0-B40A6F43D68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55AB551-DA73-4A4F-B0DA-FB03072E8A8D}" type="datetimeFigureOut">
              <a:rPr lang="en-US" smtClean="0"/>
              <a:pPr/>
              <a:t>14/02/2025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A78E59-0CC4-4528-8AB0-B40A6F43D68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55AB551-DA73-4A4F-B0DA-FB03072E8A8D}" type="datetimeFigureOut">
              <a:rPr lang="en-US" smtClean="0"/>
              <a:pPr/>
              <a:t>14/02/2025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A78E59-0CC4-4528-8AB0-B40A6F43D68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55AB551-DA73-4A4F-B0DA-FB03072E8A8D}" type="datetimeFigureOut">
              <a:rPr lang="en-US" smtClean="0"/>
              <a:pPr/>
              <a:t>14/02/2025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A78E59-0CC4-4528-8AB0-B40A6F43D68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5AB551-DA73-4A4F-B0DA-FB03072E8A8D}" type="datetimeFigureOut">
              <a:rPr lang="en-US" smtClean="0"/>
              <a:pPr/>
              <a:t>14/02/2025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A78E59-0CC4-4528-8AB0-B40A6F43D68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55AB551-DA73-4A4F-B0DA-FB03072E8A8D}" type="datetimeFigureOut">
              <a:rPr lang="en-US" smtClean="0"/>
              <a:pPr/>
              <a:t>14/02/2025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A78E59-0CC4-4528-8AB0-B40A6F43D68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55AB551-DA73-4A4F-B0DA-FB03072E8A8D}" type="datetimeFigureOut">
              <a:rPr lang="en-US" smtClean="0"/>
              <a:pPr/>
              <a:t>14/02/2025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A78E59-0CC4-4528-8AB0-B40A6F43D68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55AB551-DA73-4A4F-B0DA-FB03072E8A8D}" type="datetimeFigureOut">
              <a:rPr lang="en-US" smtClean="0"/>
              <a:pPr/>
              <a:t>14/02/2025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A78E59-0CC4-4528-8AB0-B40A6F43D68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55AB551-DA73-4A4F-B0DA-FB03072E8A8D}" type="datetimeFigureOut">
              <a:rPr lang="en-US" smtClean="0"/>
              <a:pPr/>
              <a:t>14/02/2025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A78E59-0CC4-4528-8AB0-B40A6F43D68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5AB551-DA73-4A4F-B0DA-FB03072E8A8D}" type="datetimeFigureOut">
              <a:rPr lang="en-US" smtClean="0"/>
              <a:pPr/>
              <a:t>14/02/2025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A78E59-0CC4-4528-8AB0-B40A6F43D68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tutorialspoint.com/data_structures_algorithms/merge_sort_algorithm.htm" TargetMode="External"/><Relationship Id="rId7" Type="http://schemas.openxmlformats.org/officeDocument/2006/relationships/hyperlink" Target="https://www.tutorialspoint.com/data_structures_algorithms/karatsuba_algorithm.htm" TargetMode="External"/><Relationship Id="rId2" Type="http://schemas.openxmlformats.org/officeDocument/2006/relationships/hyperlink" Target="https://www.tutorialspoint.com/data_structures_algorithms/max_min_problem.htm" TargetMode="External"/><Relationship Id="rId1" Type="http://schemas.openxmlformats.org/officeDocument/2006/relationships/slideLayout" Target="../slideLayouts/slideLayout2.xml"/><Relationship Id="rId6" Type="http://schemas.openxmlformats.org/officeDocument/2006/relationships/hyperlink" Target="https://www.tutorialspoint.com/data_structures_algorithms/strassens_matrix_multiplication_algorithm.htm" TargetMode="External"/><Relationship Id="rId5" Type="http://schemas.openxmlformats.org/officeDocument/2006/relationships/hyperlink" Target="https://www.tutorialspoint.com/data_structures_algorithms/binary_search_algorithm.htm" TargetMode="External"/><Relationship Id="rId4" Type="http://schemas.openxmlformats.org/officeDocument/2006/relationships/hyperlink" Target="https://www.tutorialspoint.com/data_structures_algorithms/quick_sort_algorithm.htm"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6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Divide &amp; Conquer Algorithm</a:t>
            </a:r>
            <a:br>
              <a:rPr lang="en-US" b="1" dirty="0"/>
            </a:br>
            <a:endParaRPr lang="en-US" dirty="0"/>
          </a:p>
        </p:txBody>
      </p:sp>
      <p:sp>
        <p:nvSpPr>
          <p:cNvPr id="3" name="Subtitle 2"/>
          <p:cNvSpPr>
            <a:spLocks noGrp="1"/>
          </p:cNvSpPr>
          <p:nvPr>
            <p:ph type="subTitle" idx="1"/>
          </p:nvPr>
        </p:nvSpPr>
        <p:spPr>
          <a:xfrm>
            <a:off x="2362200" y="3581400"/>
            <a:ext cx="6400800" cy="1752600"/>
          </a:xfrm>
        </p:spPr>
        <p:txBody>
          <a:bodyPr/>
          <a:lstStyle/>
          <a:p>
            <a:pPr algn="r"/>
            <a:r>
              <a:rPr lang="en-US" b="1" dirty="0" smtClean="0"/>
              <a:t>- Dr. Varsha R.Dange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lnSpcReduction="10000"/>
          </a:bodyPr>
          <a:lstStyle/>
          <a:p>
            <a:pPr>
              <a:buNone/>
            </a:pPr>
            <a:r>
              <a:rPr lang="en-US" b="1" dirty="0" smtClean="0"/>
              <a:t>Contents:-</a:t>
            </a:r>
          </a:p>
          <a:p>
            <a:r>
              <a:rPr lang="en-US" b="1" dirty="0" smtClean="0"/>
              <a:t>Divide </a:t>
            </a:r>
            <a:r>
              <a:rPr lang="en-US" b="1" dirty="0"/>
              <a:t>and conquer</a:t>
            </a:r>
            <a:endParaRPr lang="en-US" dirty="0"/>
          </a:p>
          <a:p>
            <a:r>
              <a:rPr lang="en-US" dirty="0"/>
              <a:t>General strategy of divide and conquer </a:t>
            </a:r>
            <a:endParaRPr lang="en-US" dirty="0" smtClean="0"/>
          </a:p>
          <a:p>
            <a:r>
              <a:rPr lang="en-US" dirty="0" smtClean="0"/>
              <a:t>examples </a:t>
            </a:r>
            <a:r>
              <a:rPr lang="en-US" dirty="0"/>
              <a:t>binary search, </a:t>
            </a:r>
            <a:endParaRPr lang="en-US" dirty="0" smtClean="0"/>
          </a:p>
          <a:p>
            <a:r>
              <a:rPr lang="en-US" dirty="0" smtClean="0"/>
              <a:t>quick </a:t>
            </a:r>
            <a:r>
              <a:rPr lang="en-US" dirty="0"/>
              <a:t>sort-best case, worst case and average case time complexities</a:t>
            </a:r>
            <a:r>
              <a:rPr lang="en-US" dirty="0" smtClean="0"/>
              <a:t>,</a:t>
            </a:r>
          </a:p>
          <a:p>
            <a:r>
              <a:rPr lang="en-US" dirty="0" smtClean="0"/>
              <a:t> </a:t>
            </a:r>
            <a:r>
              <a:rPr lang="en-US" dirty="0"/>
              <a:t>merge sort and analysis, </a:t>
            </a:r>
            <a:endParaRPr lang="en-US" dirty="0" smtClean="0"/>
          </a:p>
          <a:p>
            <a:r>
              <a:rPr lang="en-US" dirty="0" smtClean="0"/>
              <a:t>finding </a:t>
            </a:r>
            <a:r>
              <a:rPr lang="en-US" dirty="0"/>
              <a:t>majority element and analysis</a:t>
            </a:r>
            <a:r>
              <a:rPr lang="en-US" dirty="0" smtClean="0"/>
              <a:t>,</a:t>
            </a:r>
          </a:p>
          <a:p>
            <a:r>
              <a:rPr lang="en-US" dirty="0" smtClean="0"/>
              <a:t>finding </a:t>
            </a:r>
            <a:r>
              <a:rPr lang="en-US" dirty="0"/>
              <a:t>simultaneous maximum and minimum, </a:t>
            </a:r>
            <a:endParaRPr lang="en-US" dirty="0" smtClean="0"/>
          </a:p>
          <a:p>
            <a:r>
              <a:rPr lang="en-US" dirty="0" smtClean="0"/>
              <a:t>selection </a:t>
            </a:r>
            <a:r>
              <a:rPr lang="en-US" dirty="0"/>
              <a:t>problem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Divide and Conquer Algorithm</a:t>
            </a:r>
            <a:br>
              <a:rPr lang="en-US" b="1" dirty="0"/>
            </a:br>
            <a:endParaRPr lang="en-US" dirty="0"/>
          </a:p>
        </p:txBody>
      </p:sp>
      <p:sp>
        <p:nvSpPr>
          <p:cNvPr id="3" name="Content Placeholder 2"/>
          <p:cNvSpPr>
            <a:spLocks noGrp="1"/>
          </p:cNvSpPr>
          <p:nvPr>
            <p:ph idx="1"/>
          </p:nvPr>
        </p:nvSpPr>
        <p:spPr>
          <a:xfrm>
            <a:off x="457200" y="1600200"/>
            <a:ext cx="8458200" cy="4525963"/>
          </a:xfrm>
        </p:spPr>
        <p:txBody>
          <a:bodyPr/>
          <a:lstStyle/>
          <a:p>
            <a:pPr algn="just"/>
            <a:r>
              <a:rPr lang="en-US" dirty="0"/>
              <a:t>A </a:t>
            </a:r>
            <a:r>
              <a:rPr lang="en-US" b="1" dirty="0"/>
              <a:t>divide and conquer algorithm</a:t>
            </a:r>
            <a:r>
              <a:rPr lang="en-US" dirty="0"/>
              <a:t> is a strategy of solving a large problem by</a:t>
            </a:r>
          </a:p>
          <a:p>
            <a:pPr algn="just"/>
            <a:r>
              <a:rPr lang="en-US" dirty="0"/>
              <a:t>breaking the problem into smaller sub-problems</a:t>
            </a:r>
          </a:p>
          <a:p>
            <a:pPr algn="just"/>
            <a:r>
              <a:rPr lang="en-US" dirty="0"/>
              <a:t>solving the sub-problems, and</a:t>
            </a:r>
          </a:p>
          <a:p>
            <a:pPr algn="just"/>
            <a:r>
              <a:rPr lang="en-US" dirty="0"/>
              <a:t>combining them to get the desired output.</a:t>
            </a:r>
          </a:p>
          <a:p>
            <a:pPr algn="just"/>
            <a:r>
              <a:rPr lang="en-US" dirty="0"/>
              <a:t>To use the divide and conquer </a:t>
            </a:r>
            <a:r>
              <a:rPr lang="en-US" dirty="0" smtClean="0"/>
              <a:t>algorithm, </a:t>
            </a:r>
            <a:r>
              <a:rPr lang="en-US" b="1" dirty="0" smtClean="0"/>
              <a:t>recursion</a:t>
            </a:r>
            <a:r>
              <a:rPr lang="en-US" dirty="0"/>
              <a:t> is used.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How Divide and Conquer Algorithms Work?</a:t>
            </a:r>
            <a:br>
              <a:rPr lang="en-US" sz="3200" b="1" dirty="0"/>
            </a:br>
            <a:endParaRPr lang="en-US" sz="3200" dirty="0"/>
          </a:p>
        </p:txBody>
      </p:sp>
      <p:sp>
        <p:nvSpPr>
          <p:cNvPr id="3" name="Content Placeholder 2"/>
          <p:cNvSpPr>
            <a:spLocks noGrp="1"/>
          </p:cNvSpPr>
          <p:nvPr>
            <p:ph idx="1"/>
          </p:nvPr>
        </p:nvSpPr>
        <p:spPr/>
        <p:txBody>
          <a:bodyPr>
            <a:normAutofit lnSpcReduction="10000"/>
          </a:bodyPr>
          <a:lstStyle/>
          <a:p>
            <a:pPr algn="just"/>
            <a:r>
              <a:rPr lang="en-US" dirty="0"/>
              <a:t>Here are the steps involved:</a:t>
            </a:r>
          </a:p>
          <a:p>
            <a:pPr algn="just"/>
            <a:r>
              <a:rPr lang="en-US" b="1" dirty="0"/>
              <a:t>Divide</a:t>
            </a:r>
            <a:r>
              <a:rPr lang="en-US" dirty="0"/>
              <a:t>: Divide the given problem into sub-problems using recursion.</a:t>
            </a:r>
          </a:p>
          <a:p>
            <a:pPr algn="just"/>
            <a:r>
              <a:rPr lang="en-US" b="1" dirty="0"/>
              <a:t>Conquer</a:t>
            </a:r>
            <a:r>
              <a:rPr lang="en-US" dirty="0"/>
              <a:t>: Solve the smaller sub-problems recursively. If the </a:t>
            </a:r>
            <a:r>
              <a:rPr lang="en-US" dirty="0" smtClean="0"/>
              <a:t>sub problem </a:t>
            </a:r>
            <a:r>
              <a:rPr lang="en-US" dirty="0"/>
              <a:t>is small enough, then solve it directly.</a:t>
            </a:r>
          </a:p>
          <a:p>
            <a:pPr algn="just"/>
            <a:r>
              <a:rPr lang="en-US" b="1" dirty="0"/>
              <a:t>Combine:</a:t>
            </a:r>
            <a:r>
              <a:rPr lang="en-US" dirty="0"/>
              <a:t> Combine the solutions of the sub-problems that are part of the recursive process to solve the actual problem.</a:t>
            </a:r>
          </a:p>
          <a:p>
            <a:pPr algn="just"/>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dirty="0" smtClean="0"/>
              <a:t>Here after diving a problem into sub-problem then sub-problems remains same as main problem </a:t>
            </a:r>
            <a:endParaRPr lang="en-US" dirty="0"/>
          </a:p>
        </p:txBody>
      </p:sp>
      <p:pic>
        <p:nvPicPr>
          <p:cNvPr id="4099" name="Picture 3"/>
          <p:cNvPicPr>
            <a:picLocks noChangeAspect="1" noChangeArrowheads="1"/>
          </p:cNvPicPr>
          <p:nvPr/>
        </p:nvPicPr>
        <p:blipFill>
          <a:blip r:embed="rId2" cstate="print"/>
          <a:srcRect/>
          <a:stretch>
            <a:fillRect/>
          </a:stretch>
        </p:blipFill>
        <p:spPr bwMode="auto">
          <a:xfrm>
            <a:off x="1066800" y="2438400"/>
            <a:ext cx="6934200" cy="41910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dirty="0" smtClean="0"/>
              <a:t>General method for divide &amp; conquer strategy</a:t>
            </a: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1066800" y="1447800"/>
            <a:ext cx="6400800" cy="50292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57200" y="381000"/>
            <a:ext cx="8229600" cy="5745163"/>
          </a:xfrm>
        </p:spPr>
        <p:txBody>
          <a:bodyPr/>
          <a:lstStyle/>
          <a:p>
            <a:r>
              <a:rPr lang="en-US" dirty="0"/>
              <a:t>The following computer algorithms are based on divide-and-conquer programming approach </a:t>
            </a:r>
            <a:r>
              <a:rPr lang="en-US" dirty="0" smtClean="0"/>
              <a:t>−</a:t>
            </a:r>
          </a:p>
          <a:p>
            <a:r>
              <a:rPr lang="en-US" dirty="0">
                <a:hlinkClick r:id="rId2"/>
              </a:rPr>
              <a:t>Max-Min Problem</a:t>
            </a:r>
            <a:endParaRPr lang="en-US" dirty="0"/>
          </a:p>
          <a:p>
            <a:r>
              <a:rPr lang="en-US" dirty="0">
                <a:hlinkClick r:id="rId3"/>
              </a:rPr>
              <a:t>Merge Sort Algorithm</a:t>
            </a:r>
            <a:endParaRPr lang="en-US" dirty="0"/>
          </a:p>
          <a:p>
            <a:r>
              <a:rPr lang="en-US" dirty="0">
                <a:hlinkClick r:id="rId4"/>
              </a:rPr>
              <a:t>Quick Sort Algorithm</a:t>
            </a:r>
            <a:endParaRPr lang="en-US" dirty="0"/>
          </a:p>
          <a:p>
            <a:r>
              <a:rPr lang="en-US" dirty="0">
                <a:hlinkClick r:id="rId5"/>
              </a:rPr>
              <a:t>Binary Search Algorithm</a:t>
            </a:r>
            <a:endParaRPr lang="en-US" dirty="0"/>
          </a:p>
          <a:p>
            <a:r>
              <a:rPr lang="en-US" dirty="0" err="1">
                <a:hlinkClick r:id="rId6"/>
              </a:rPr>
              <a:t>Strassen's</a:t>
            </a:r>
            <a:r>
              <a:rPr lang="en-US" dirty="0">
                <a:hlinkClick r:id="rId6"/>
              </a:rPr>
              <a:t> Matrix Multiplication</a:t>
            </a:r>
            <a:endParaRPr lang="en-US" dirty="0"/>
          </a:p>
          <a:p>
            <a:r>
              <a:rPr lang="en-US" dirty="0" err="1">
                <a:hlinkClick r:id="rId7"/>
              </a:rPr>
              <a:t>Karatsuba</a:t>
            </a:r>
            <a:r>
              <a:rPr lang="en-US" dirty="0">
                <a:hlinkClick r:id="rId7"/>
              </a:rPr>
              <a:t> </a:t>
            </a:r>
            <a:r>
              <a:rPr lang="en-US" dirty="0" smtClean="0">
                <a:hlinkClick r:id="rId7"/>
              </a:rPr>
              <a:t>Algorithm</a:t>
            </a:r>
            <a:r>
              <a:rPr lang="en-US" dirty="0" smtClean="0"/>
              <a:t> </a:t>
            </a:r>
            <a:endParaRPr lang="en-US" dirty="0"/>
          </a:p>
          <a:p>
            <a:r>
              <a:rPr lang="en-US" dirty="0">
                <a:hlinkClick r:id="rId7"/>
              </a:rPr>
              <a:t>Closest pair (points)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lstStyle/>
          <a:p>
            <a:pPr marL="514350" indent="-514350">
              <a:buFont typeface="+mj-lt"/>
              <a:buAutoNum type="arabicPeriod"/>
            </a:pPr>
            <a:r>
              <a:rPr lang="en-US" dirty="0"/>
              <a:t>we will sort an array using the divide and conquer </a:t>
            </a:r>
            <a:r>
              <a:rPr lang="en-US" dirty="0" smtClean="0"/>
              <a:t>approach </a:t>
            </a:r>
            <a:r>
              <a:rPr lang="en-US" dirty="0"/>
              <a:t> </a:t>
            </a:r>
            <a:endParaRPr lang="en-US" dirty="0" smtClean="0"/>
          </a:p>
          <a:p>
            <a:pPr marL="514350" indent="-514350">
              <a:buFont typeface="+mj-lt"/>
              <a:buAutoNum type="arabicPeriod"/>
            </a:pPr>
            <a:endParaRPr lang="en-US" dirty="0"/>
          </a:p>
          <a:p>
            <a:pPr marL="514350" indent="-514350">
              <a:buFont typeface="+mj-lt"/>
              <a:buAutoNum type="arabicPeriod"/>
            </a:pPr>
            <a:endParaRPr lang="en-US" dirty="0" smtClean="0"/>
          </a:p>
          <a:p>
            <a:pPr marL="514350" indent="-514350">
              <a:buFont typeface="+mj-lt"/>
              <a:buAutoNum type="arabicPeriod"/>
            </a:pPr>
            <a:endParaRPr lang="en-US" dirty="0"/>
          </a:p>
          <a:p>
            <a:pPr marL="514350" indent="-514350">
              <a:buFont typeface="+mj-lt"/>
              <a:buAutoNum type="arabicPeriod"/>
            </a:pPr>
            <a:r>
              <a:rPr lang="en-US" b="1" dirty="0"/>
              <a:t>Divide</a:t>
            </a:r>
            <a:r>
              <a:rPr lang="en-US" dirty="0"/>
              <a:t> the array into two </a:t>
            </a:r>
            <a:r>
              <a:rPr lang="en-US" dirty="0" smtClean="0"/>
              <a:t>halves.</a:t>
            </a:r>
          </a:p>
          <a:p>
            <a:pPr marL="514350" indent="-514350">
              <a:buFont typeface="+mj-lt"/>
              <a:buAutoNum type="arabicPeriod"/>
            </a:pPr>
            <a:endParaRPr lang="en-US" dirty="0"/>
          </a:p>
          <a:p>
            <a:pPr marL="514350" indent="-514350">
              <a:buFont typeface="+mj-lt"/>
              <a:buAutoNum type="arabicPeriod"/>
            </a:pPr>
            <a:endParaRPr lang="en-US" dirty="0" smtClean="0"/>
          </a:p>
          <a:p>
            <a:pPr marL="514350" indent="-514350">
              <a:buFont typeface="+mj-lt"/>
              <a:buAutoNum type="arabicPeriod"/>
            </a:pPr>
            <a:endParaRPr lang="en-US" dirty="0"/>
          </a:p>
        </p:txBody>
      </p:sp>
      <p:grpSp>
        <p:nvGrpSpPr>
          <p:cNvPr id="8" name="Group 7"/>
          <p:cNvGrpSpPr/>
          <p:nvPr/>
        </p:nvGrpSpPr>
        <p:grpSpPr>
          <a:xfrm>
            <a:off x="1752600" y="2133600"/>
            <a:ext cx="5791200" cy="4038600"/>
            <a:chOff x="1752600" y="2133600"/>
            <a:chExt cx="5791200" cy="4038600"/>
          </a:xfrm>
        </p:grpSpPr>
        <p:pic>
          <p:nvPicPr>
            <p:cNvPr id="1027" name="Picture 3"/>
            <p:cNvPicPr>
              <a:picLocks noChangeAspect="1" noChangeArrowheads="1"/>
            </p:cNvPicPr>
            <p:nvPr/>
          </p:nvPicPr>
          <p:blipFill>
            <a:blip r:embed="rId2" cstate="print"/>
            <a:srcRect/>
            <a:stretch>
              <a:fillRect/>
            </a:stretch>
          </p:blipFill>
          <p:spPr bwMode="auto">
            <a:xfrm>
              <a:off x="2286000" y="2133600"/>
              <a:ext cx="4800600" cy="1219200"/>
            </a:xfrm>
            <a:prstGeom prst="rect">
              <a:avLst/>
            </a:prstGeom>
            <a:noFill/>
            <a:ln w="9525">
              <a:noFill/>
              <a:miter lim="800000"/>
              <a:headEnd/>
              <a:tailEnd/>
            </a:ln>
          </p:spPr>
        </p:pic>
        <p:pic>
          <p:nvPicPr>
            <p:cNvPr id="1028" name="Picture 4"/>
            <p:cNvPicPr>
              <a:picLocks noChangeAspect="1" noChangeArrowheads="1"/>
            </p:cNvPicPr>
            <p:nvPr/>
          </p:nvPicPr>
          <p:blipFill>
            <a:blip r:embed="rId3" cstate="print"/>
            <a:srcRect/>
            <a:stretch>
              <a:fillRect/>
            </a:stretch>
          </p:blipFill>
          <p:spPr bwMode="auto">
            <a:xfrm>
              <a:off x="1752600" y="4457700"/>
              <a:ext cx="5791200" cy="1714500"/>
            </a:xfrm>
            <a:prstGeom prst="rect">
              <a:avLst/>
            </a:prstGeom>
            <a:noFill/>
            <a:ln w="9525">
              <a:noFill/>
              <a:miter lim="800000"/>
              <a:headEnd/>
              <a:tailEnd/>
            </a:ln>
          </p:spPr>
        </p:pic>
      </p:grpSp>
      <p:sp>
        <p:nvSpPr>
          <p:cNvPr id="7" name="Title 1"/>
          <p:cNvSpPr>
            <a:spLocks noGrp="1"/>
          </p:cNvSpPr>
          <p:nvPr>
            <p:ph type="title"/>
          </p:nvPr>
        </p:nvSpPr>
        <p:spPr>
          <a:xfrm>
            <a:off x="381000" y="304800"/>
            <a:ext cx="8229600" cy="563562"/>
          </a:xfrm>
        </p:spPr>
        <p:txBody>
          <a:bodyPr>
            <a:noAutofit/>
          </a:bodyPr>
          <a:lstStyle/>
          <a:p>
            <a:r>
              <a:rPr lang="en-US" sz="3200" b="1" dirty="0" smtClean="0"/>
              <a:t>Divide </a:t>
            </a:r>
            <a:r>
              <a:rPr lang="en-US" sz="3200" b="1" dirty="0"/>
              <a:t>and Conquer </a:t>
            </a:r>
            <a:r>
              <a:rPr lang="en-US" sz="3200" b="1" dirty="0" smtClean="0"/>
              <a:t>Algorithms Example</a:t>
            </a:r>
            <a:r>
              <a:rPr lang="en-US" sz="3200" b="1" dirty="0"/>
              <a:t/>
            </a:r>
            <a:br>
              <a:rPr lang="en-US" sz="3200" b="1" dirty="0"/>
            </a:br>
            <a:endParaRPr 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lstStyle/>
          <a:p>
            <a:pPr marL="514350" indent="-514350">
              <a:buNone/>
            </a:pPr>
            <a:r>
              <a:rPr lang="en-US" dirty="0" smtClean="0"/>
              <a:t>Again</a:t>
            </a:r>
            <a:r>
              <a:rPr lang="en-US" dirty="0"/>
              <a:t>, divide each subpart recursively into two halves until you get individual elements.</a:t>
            </a:r>
          </a:p>
          <a:p>
            <a:pPr marL="514350" indent="-514350">
              <a:buFont typeface="+mj-lt"/>
              <a:buAutoNum type="arabicPeriod"/>
            </a:pPr>
            <a:endParaRPr lang="en-US" dirty="0" smtClean="0"/>
          </a:p>
          <a:p>
            <a:pPr marL="514350" indent="-514350">
              <a:buFont typeface="+mj-lt"/>
              <a:buAutoNum type="arabicPeriod"/>
            </a:pPr>
            <a:endParaRPr lang="en-US" dirty="0"/>
          </a:p>
        </p:txBody>
      </p:sp>
      <p:sp>
        <p:nvSpPr>
          <p:cNvPr id="7" name="Title 1"/>
          <p:cNvSpPr>
            <a:spLocks noGrp="1"/>
          </p:cNvSpPr>
          <p:nvPr>
            <p:ph type="title"/>
          </p:nvPr>
        </p:nvSpPr>
        <p:spPr>
          <a:xfrm>
            <a:off x="381000" y="304800"/>
            <a:ext cx="8229600" cy="563562"/>
          </a:xfrm>
        </p:spPr>
        <p:txBody>
          <a:bodyPr>
            <a:noAutofit/>
          </a:bodyPr>
          <a:lstStyle/>
          <a:p>
            <a:r>
              <a:rPr lang="en-US" sz="3200" b="1" dirty="0" smtClean="0"/>
              <a:t>Divide </a:t>
            </a:r>
            <a:r>
              <a:rPr lang="en-US" sz="3200" b="1" dirty="0"/>
              <a:t>and Conquer </a:t>
            </a:r>
            <a:r>
              <a:rPr lang="en-US" sz="3200" b="1" dirty="0" smtClean="0"/>
              <a:t>Algorithms Example</a:t>
            </a:r>
            <a:r>
              <a:rPr lang="en-US" sz="3200" b="1" dirty="0"/>
              <a:t/>
            </a:r>
            <a:br>
              <a:rPr lang="en-US" sz="3200" b="1" dirty="0"/>
            </a:br>
            <a:endParaRPr lang="en-US" sz="3200" dirty="0"/>
          </a:p>
        </p:txBody>
      </p:sp>
      <p:pic>
        <p:nvPicPr>
          <p:cNvPr id="2050" name="Picture 2"/>
          <p:cNvPicPr>
            <a:picLocks noChangeAspect="1" noChangeArrowheads="1"/>
          </p:cNvPicPr>
          <p:nvPr/>
        </p:nvPicPr>
        <p:blipFill>
          <a:blip r:embed="rId2" cstate="print"/>
          <a:srcRect/>
          <a:stretch>
            <a:fillRect/>
          </a:stretch>
        </p:blipFill>
        <p:spPr bwMode="auto">
          <a:xfrm>
            <a:off x="1828800" y="2514600"/>
            <a:ext cx="5943600" cy="36576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lstStyle/>
          <a:p>
            <a:pPr marL="0" indent="0">
              <a:buNone/>
              <a:tabLst>
                <a:tab pos="8008938" algn="l"/>
              </a:tabLst>
            </a:pPr>
            <a:r>
              <a:rPr lang="en-US" dirty="0" smtClean="0"/>
              <a:t>3. Now</a:t>
            </a:r>
            <a:r>
              <a:rPr lang="en-US" dirty="0"/>
              <a:t>, combine the individual elements in a sorted </a:t>
            </a:r>
            <a:r>
              <a:rPr lang="en-US" dirty="0" smtClean="0"/>
              <a:t>manner. Here </a:t>
            </a:r>
            <a:r>
              <a:rPr lang="en-US" b="1" dirty="0" smtClean="0"/>
              <a:t>conquer</a:t>
            </a:r>
            <a:r>
              <a:rPr lang="en-US" dirty="0"/>
              <a:t> and </a:t>
            </a:r>
            <a:r>
              <a:rPr lang="en-US" b="1" dirty="0"/>
              <a:t>combine</a:t>
            </a:r>
            <a:r>
              <a:rPr lang="en-US" dirty="0"/>
              <a:t> steps go side by side.</a:t>
            </a:r>
            <a:r>
              <a:rPr lang="en-US" dirty="0" smtClean="0"/>
              <a:t/>
            </a:r>
            <a:br>
              <a:rPr lang="en-US" dirty="0" smtClean="0"/>
            </a:br>
            <a:endParaRPr lang="en-US" dirty="0" smtClean="0"/>
          </a:p>
          <a:p>
            <a:pPr marL="514350" indent="-514350">
              <a:buFont typeface="+mj-lt"/>
              <a:buAutoNum type="arabicPeriod"/>
            </a:pPr>
            <a:endParaRPr lang="en-US" dirty="0"/>
          </a:p>
        </p:txBody>
      </p:sp>
      <p:sp>
        <p:nvSpPr>
          <p:cNvPr id="7" name="Title 1"/>
          <p:cNvSpPr>
            <a:spLocks noGrp="1"/>
          </p:cNvSpPr>
          <p:nvPr>
            <p:ph type="title"/>
          </p:nvPr>
        </p:nvSpPr>
        <p:spPr>
          <a:xfrm>
            <a:off x="381000" y="304800"/>
            <a:ext cx="8229600" cy="563562"/>
          </a:xfrm>
        </p:spPr>
        <p:txBody>
          <a:bodyPr>
            <a:noAutofit/>
          </a:bodyPr>
          <a:lstStyle/>
          <a:p>
            <a:r>
              <a:rPr lang="en-US" sz="3200" b="1" dirty="0" smtClean="0"/>
              <a:t>Divide </a:t>
            </a:r>
            <a:r>
              <a:rPr lang="en-US" sz="3200" b="1" dirty="0"/>
              <a:t>and Conquer </a:t>
            </a:r>
            <a:r>
              <a:rPr lang="en-US" sz="3200" b="1" dirty="0" smtClean="0"/>
              <a:t>Algorithms Example</a:t>
            </a:r>
            <a:r>
              <a:rPr lang="en-US" sz="3200" b="1" dirty="0"/>
              <a:t/>
            </a:r>
            <a:br>
              <a:rPr lang="en-US" sz="3200" b="1" dirty="0"/>
            </a:br>
            <a:endParaRPr lang="en-US" sz="3200" dirty="0"/>
          </a:p>
        </p:txBody>
      </p:sp>
      <p:pic>
        <p:nvPicPr>
          <p:cNvPr id="3074" name="Picture 2"/>
          <p:cNvPicPr>
            <a:picLocks noChangeAspect="1" noChangeArrowheads="1"/>
          </p:cNvPicPr>
          <p:nvPr/>
        </p:nvPicPr>
        <p:blipFill>
          <a:blip r:embed="rId2" cstate="print"/>
          <a:srcRect/>
          <a:stretch>
            <a:fillRect/>
          </a:stretch>
        </p:blipFill>
        <p:spPr bwMode="auto">
          <a:xfrm>
            <a:off x="1066800" y="2667001"/>
            <a:ext cx="7315200" cy="34290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t>Binary Search</a:t>
            </a:r>
            <a:br>
              <a:rPr lang="en-US" b="1" dirty="0"/>
            </a:br>
            <a:endParaRPr lang="en-US" dirty="0"/>
          </a:p>
        </p:txBody>
      </p:sp>
      <p:sp>
        <p:nvSpPr>
          <p:cNvPr id="3" name="Content Placeholder 2"/>
          <p:cNvSpPr>
            <a:spLocks noGrp="1"/>
          </p:cNvSpPr>
          <p:nvPr>
            <p:ph idx="1"/>
          </p:nvPr>
        </p:nvSpPr>
        <p:spPr>
          <a:xfrm>
            <a:off x="457200" y="914400"/>
            <a:ext cx="8229600" cy="5211763"/>
          </a:xfrm>
        </p:spPr>
        <p:txBody>
          <a:bodyPr>
            <a:normAutofit/>
          </a:bodyPr>
          <a:lstStyle/>
          <a:p>
            <a:pPr algn="just"/>
            <a:r>
              <a:rPr lang="en-US" dirty="0" smtClean="0"/>
              <a:t>Binary search is an efficient algorithm used to find a specific element in a sorted array or list.</a:t>
            </a:r>
          </a:p>
          <a:p>
            <a:pPr algn="just"/>
            <a:r>
              <a:rPr lang="en-US" dirty="0" smtClean="0"/>
              <a:t> It operates by repeatedly dividing the search interval in half until the target value is found or the interval is empty.</a:t>
            </a:r>
          </a:p>
          <a:p>
            <a:pPr algn="just"/>
            <a:r>
              <a:rPr lang="en-US" dirty="0" smtClean="0"/>
              <a:t>In </a:t>
            </a:r>
            <a:r>
              <a:rPr lang="en-US" dirty="0"/>
              <a:t>this approach, the element is always searched in the middle of a portion of an array</a:t>
            </a:r>
            <a:r>
              <a:rPr lang="en-US" dirty="0" smtClean="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84238"/>
            <a:ext cx="8229600" cy="182562"/>
          </a:xfrm>
        </p:spPr>
        <p:txBody>
          <a:bodyPr>
            <a:normAutofit fontScale="90000"/>
          </a:bodyPr>
          <a:lstStyle/>
          <a:p>
            <a:r>
              <a:rPr lang="en-US" b="1" dirty="0" smtClean="0"/>
              <a:t>How Binary Search Works:</a:t>
            </a:r>
            <a:r>
              <a:rPr lang="en-US" dirty="0" smtClean="0"/>
              <a:t/>
            </a:r>
            <a:br>
              <a:rPr lang="en-US" dirty="0" smtClean="0"/>
            </a:br>
            <a:r>
              <a:rPr lang="en-US" b="1" dirty="0"/>
              <a:t/>
            </a:r>
            <a:br>
              <a:rPr lang="en-US" b="1" dirty="0"/>
            </a:br>
            <a:endParaRPr lang="en-US" dirty="0"/>
          </a:p>
        </p:txBody>
      </p:sp>
      <p:sp>
        <p:nvSpPr>
          <p:cNvPr id="3" name="Content Placeholder 2"/>
          <p:cNvSpPr>
            <a:spLocks noGrp="1"/>
          </p:cNvSpPr>
          <p:nvPr>
            <p:ph idx="1"/>
          </p:nvPr>
        </p:nvSpPr>
        <p:spPr>
          <a:xfrm>
            <a:off x="457200" y="914400"/>
            <a:ext cx="8229600" cy="5638800"/>
          </a:xfrm>
        </p:spPr>
        <p:txBody>
          <a:bodyPr>
            <a:noAutofit/>
          </a:bodyPr>
          <a:lstStyle/>
          <a:p>
            <a:r>
              <a:rPr lang="en-US" sz="2800" b="1" dirty="0" smtClean="0"/>
              <a:t>Initialization:</a:t>
            </a:r>
            <a:r>
              <a:rPr lang="en-US" sz="2800" dirty="0" smtClean="0"/>
              <a:t> Start with two pointers, low and high, representing the bounds of the search interval. </a:t>
            </a:r>
          </a:p>
          <a:p>
            <a:r>
              <a:rPr lang="en-US" sz="2800" dirty="0" smtClean="0"/>
              <a:t>Initially, low is set to the first index (0), and high is set to the last index (n-1) of the array.</a:t>
            </a:r>
          </a:p>
          <a:p>
            <a:r>
              <a:rPr lang="en-US" sz="2800" b="1" dirty="0" smtClean="0"/>
              <a:t>Iteration:</a:t>
            </a:r>
            <a:r>
              <a:rPr lang="en-US" sz="2800" dirty="0" smtClean="0"/>
              <a:t> While low is less than or equal to high:</a:t>
            </a:r>
          </a:p>
          <a:p>
            <a:pPr lvl="1"/>
            <a:r>
              <a:rPr lang="en-US" sz="2400" dirty="0" smtClean="0"/>
              <a:t>Calculate the middle index: mid = (low + high) / 2.</a:t>
            </a:r>
          </a:p>
          <a:p>
            <a:pPr lvl="1"/>
            <a:r>
              <a:rPr lang="en-US" sz="2400" dirty="0" smtClean="0"/>
              <a:t>Compare the middle element (</a:t>
            </a:r>
            <a:r>
              <a:rPr lang="en-US" sz="2400" dirty="0" err="1" smtClean="0"/>
              <a:t>arr</a:t>
            </a:r>
            <a:r>
              <a:rPr lang="en-US" sz="2400" dirty="0" smtClean="0"/>
              <a:t>[mid]) with the target value:</a:t>
            </a:r>
          </a:p>
          <a:p>
            <a:pPr lvl="2"/>
            <a:r>
              <a:rPr lang="en-US" sz="2000" dirty="0" smtClean="0"/>
              <a:t>If </a:t>
            </a:r>
            <a:r>
              <a:rPr lang="en-US" sz="2000" dirty="0" err="1" smtClean="0"/>
              <a:t>arr</a:t>
            </a:r>
            <a:r>
              <a:rPr lang="en-US" sz="2000" dirty="0" smtClean="0"/>
              <a:t>[mid] equals the target, the search is successful, and the index mid is returned.</a:t>
            </a:r>
          </a:p>
          <a:p>
            <a:pPr lvl="2"/>
            <a:r>
              <a:rPr lang="en-US" sz="2000" dirty="0" smtClean="0"/>
              <a:t>If </a:t>
            </a:r>
            <a:r>
              <a:rPr lang="en-US" sz="2000" dirty="0" err="1" smtClean="0"/>
              <a:t>arr</a:t>
            </a:r>
            <a:r>
              <a:rPr lang="en-US" sz="2000" dirty="0" smtClean="0"/>
              <a:t>[mid] is less than the target, adjust the low pointer to mid + 1 to search the right half.</a:t>
            </a:r>
          </a:p>
          <a:p>
            <a:pPr lvl="2"/>
            <a:r>
              <a:rPr lang="en-US" sz="2000" dirty="0" smtClean="0"/>
              <a:t>If </a:t>
            </a:r>
            <a:r>
              <a:rPr lang="en-US" sz="2000" dirty="0" err="1" smtClean="0"/>
              <a:t>arr</a:t>
            </a:r>
            <a:r>
              <a:rPr lang="en-US" sz="2000" dirty="0" smtClean="0"/>
              <a:t>[mid] is greater than the target, adjust the high pointer to mid - 1 to search the left half.</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84238"/>
            <a:ext cx="8229600" cy="182562"/>
          </a:xfrm>
        </p:spPr>
        <p:txBody>
          <a:bodyPr>
            <a:normAutofit fontScale="90000"/>
          </a:bodyPr>
          <a:lstStyle/>
          <a:p>
            <a:r>
              <a:rPr lang="en-US" b="1" dirty="0" smtClean="0"/>
              <a:t>How Binary Search Works:</a:t>
            </a:r>
            <a:r>
              <a:rPr lang="en-US" dirty="0" smtClean="0"/>
              <a:t/>
            </a:r>
            <a:br>
              <a:rPr lang="en-US" dirty="0" smtClean="0"/>
            </a:br>
            <a:r>
              <a:rPr lang="en-US" b="1" dirty="0"/>
              <a:t/>
            </a:r>
            <a:br>
              <a:rPr lang="en-US" b="1" dirty="0"/>
            </a:br>
            <a:endParaRPr lang="en-US" dirty="0"/>
          </a:p>
        </p:txBody>
      </p:sp>
      <p:sp>
        <p:nvSpPr>
          <p:cNvPr id="3" name="Content Placeholder 2"/>
          <p:cNvSpPr>
            <a:spLocks noGrp="1"/>
          </p:cNvSpPr>
          <p:nvPr>
            <p:ph idx="1"/>
          </p:nvPr>
        </p:nvSpPr>
        <p:spPr>
          <a:xfrm>
            <a:off x="457200" y="914400"/>
            <a:ext cx="8229600" cy="5638800"/>
          </a:xfrm>
        </p:spPr>
        <p:txBody>
          <a:bodyPr>
            <a:noAutofit/>
          </a:bodyPr>
          <a:lstStyle/>
          <a:p>
            <a:r>
              <a:rPr lang="en-US" sz="2800" b="1" dirty="0" smtClean="0"/>
              <a:t>Termination:</a:t>
            </a:r>
            <a:r>
              <a:rPr lang="en-US" sz="2800" dirty="0" smtClean="0"/>
              <a:t> If low exceeds high, the target is not present in the array, and the search returns -1 or indicates failure.(means element to be search is not present in </a:t>
            </a:r>
            <a:r>
              <a:rPr lang="en-US" sz="2800" dirty="0" err="1" smtClean="0"/>
              <a:t>arr</a:t>
            </a:r>
            <a:r>
              <a:rPr lang="en-US" sz="2800" dirty="0" smtClean="0"/>
              <a:t>)</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cstate="print"/>
          <a:srcRect/>
          <a:stretch>
            <a:fillRect/>
          </a:stretch>
        </p:blipFill>
        <p:spPr bwMode="auto">
          <a:xfrm>
            <a:off x="457200" y="457200"/>
            <a:ext cx="8305800" cy="6096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304800" y="381000"/>
            <a:ext cx="8458200" cy="6248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cstate="print"/>
          <a:srcRect/>
          <a:stretch>
            <a:fillRect/>
          </a:stretch>
        </p:blipFill>
        <p:spPr bwMode="auto">
          <a:xfrm>
            <a:off x="304800" y="381000"/>
            <a:ext cx="8382000" cy="6172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324600"/>
          </a:xfrm>
        </p:spPr>
        <p:txBody>
          <a:bodyPr>
            <a:noAutofit/>
          </a:bodyPr>
          <a:lstStyle/>
          <a:p>
            <a:pPr>
              <a:buNone/>
            </a:pPr>
            <a:r>
              <a:rPr lang="en-US" sz="3600" b="1" dirty="0" smtClean="0"/>
              <a:t>Analysis:</a:t>
            </a:r>
          </a:p>
          <a:p>
            <a:pPr>
              <a:buNone/>
            </a:pPr>
            <a:r>
              <a:rPr lang="en-US" sz="2100" b="1" dirty="0" smtClean="0"/>
              <a:t>Input:</a:t>
            </a:r>
            <a:r>
              <a:rPr lang="en-US" sz="2100" dirty="0" smtClean="0"/>
              <a:t> an array A of size n, already sorted in the ascending or descending order.   k</a:t>
            </a:r>
          </a:p>
          <a:p>
            <a:pPr>
              <a:buNone/>
            </a:pPr>
            <a:r>
              <a:rPr lang="en-US" sz="2100" b="1" dirty="0" smtClean="0"/>
              <a:t>Output:</a:t>
            </a:r>
            <a:r>
              <a:rPr lang="en-US" sz="2100" dirty="0" smtClean="0"/>
              <a:t> analyze to search an element item in the sorted array of size n.</a:t>
            </a:r>
          </a:p>
          <a:p>
            <a:pPr>
              <a:buNone/>
            </a:pPr>
            <a:r>
              <a:rPr lang="en-US" sz="2100" b="1" dirty="0" smtClean="0"/>
              <a:t>Logic:</a:t>
            </a:r>
            <a:r>
              <a:rPr lang="en-US" sz="2100" dirty="0" smtClean="0"/>
              <a:t> Let T (n) = number of comparisons of an item with n elements in a sorted array.</a:t>
            </a:r>
          </a:p>
          <a:p>
            <a:pPr>
              <a:buNone/>
            </a:pPr>
            <a:r>
              <a:rPr lang="en-US" sz="2100" dirty="0" smtClean="0"/>
              <a:t>Set BEG = 1 and END = n        .  Find mid = </a:t>
            </a:r>
          </a:p>
          <a:p>
            <a:pPr>
              <a:buNone/>
            </a:pPr>
            <a:r>
              <a:rPr lang="en-US" sz="2100" dirty="0" smtClean="0"/>
              <a:t>Compare the search item with the mid item.</a:t>
            </a:r>
          </a:p>
          <a:p>
            <a:pPr>
              <a:buNone/>
            </a:pPr>
            <a:r>
              <a:rPr lang="en-US" sz="2100" b="1" dirty="0" smtClean="0"/>
              <a:t>Case 1:</a:t>
            </a:r>
            <a:r>
              <a:rPr lang="en-US" sz="2100" dirty="0" smtClean="0"/>
              <a:t> item = A[mid], then LOC = mid, but it the best case and T (n) = 1</a:t>
            </a:r>
          </a:p>
          <a:p>
            <a:pPr>
              <a:buNone/>
            </a:pPr>
            <a:r>
              <a:rPr lang="en-US" sz="2100" b="1" dirty="0" smtClean="0"/>
              <a:t>Case 2:</a:t>
            </a:r>
            <a:r>
              <a:rPr lang="en-US" sz="2100" dirty="0" smtClean="0"/>
              <a:t> item ≠A [mid], then we will split the array into two equal parts of size . And again find the midpoint of the half-sorted array and compare with search element.</a:t>
            </a:r>
          </a:p>
          <a:p>
            <a:pPr>
              <a:buNone/>
            </a:pPr>
            <a:r>
              <a:rPr lang="en-US" sz="2100" dirty="0" smtClean="0"/>
              <a:t>Repeat the same process until a search element is found.</a:t>
            </a:r>
          </a:p>
          <a:p>
            <a:pPr>
              <a:buNone/>
            </a:pPr>
            <a:r>
              <a:rPr lang="en-US" sz="2100" dirty="0" smtClean="0"/>
              <a:t>T (n) =  T(n/2)+1...... (Equation 1)</a:t>
            </a:r>
          </a:p>
          <a:p>
            <a:pPr>
              <a:buNone/>
            </a:pPr>
            <a:r>
              <a:rPr lang="en-US" sz="2100" dirty="0" smtClean="0"/>
              <a:t>{Time to compare the search element with mid element, then with half of the selected half part of array}</a:t>
            </a:r>
          </a:p>
          <a:p>
            <a:pPr>
              <a:buNone/>
            </a:pPr>
            <a:r>
              <a:rPr lang="en-US" sz="2100" dirty="0" smtClean="0"/>
              <a:t> </a:t>
            </a:r>
          </a:p>
          <a:p>
            <a:pPr>
              <a:buNone/>
            </a:pPr>
            <a:endParaRPr lang="en-US" sz="2100" dirty="0"/>
          </a:p>
        </p:txBody>
      </p:sp>
      <p:pic>
        <p:nvPicPr>
          <p:cNvPr id="4099" name="Picture 3"/>
          <p:cNvPicPr>
            <a:picLocks noChangeAspect="1" noChangeArrowheads="1"/>
          </p:cNvPicPr>
          <p:nvPr/>
        </p:nvPicPr>
        <p:blipFill>
          <a:blip r:embed="rId2" cstate="print"/>
          <a:srcRect/>
          <a:stretch>
            <a:fillRect/>
          </a:stretch>
        </p:blipFill>
        <p:spPr bwMode="auto">
          <a:xfrm>
            <a:off x="5105400" y="2362200"/>
            <a:ext cx="1343025" cy="5334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629400"/>
          </a:xfrm>
        </p:spPr>
        <p:txBody>
          <a:bodyPr>
            <a:noAutofit/>
          </a:bodyPr>
          <a:lstStyle/>
          <a:p>
            <a:pPr>
              <a:buNone/>
            </a:pPr>
            <a:endParaRPr lang="en-US" sz="1800" dirty="0" smtClean="0"/>
          </a:p>
          <a:p>
            <a:pPr>
              <a:buNone/>
            </a:pPr>
            <a:r>
              <a:rPr lang="en-US" sz="2400" b="1" dirty="0" smtClean="0"/>
              <a:t>// Recursive function for binary search</a:t>
            </a:r>
          </a:p>
          <a:p>
            <a:pPr>
              <a:buNone/>
            </a:pPr>
            <a:r>
              <a:rPr lang="en-US" sz="1800" dirty="0" smtClean="0"/>
              <a:t> </a:t>
            </a:r>
            <a:r>
              <a:rPr lang="en-US" sz="1800" dirty="0" err="1" smtClean="0"/>
              <a:t>binarySearch</a:t>
            </a:r>
            <a:r>
              <a:rPr lang="en-US" sz="1800" dirty="0" smtClean="0"/>
              <a:t>(int </a:t>
            </a:r>
            <a:r>
              <a:rPr lang="en-US" sz="1800" dirty="0" err="1" smtClean="0"/>
              <a:t>arr</a:t>
            </a:r>
            <a:r>
              <a:rPr lang="en-US" sz="1800" dirty="0" smtClean="0"/>
              <a:t>[], int low, int high, int target) {</a:t>
            </a:r>
          </a:p>
          <a:p>
            <a:pPr>
              <a:buNone/>
            </a:pPr>
            <a:r>
              <a:rPr lang="en-US" sz="1800" dirty="0" smtClean="0"/>
              <a:t>         if (low &lt;= high) {</a:t>
            </a:r>
          </a:p>
          <a:p>
            <a:pPr>
              <a:buNone/>
            </a:pPr>
            <a:r>
              <a:rPr lang="en-US" sz="1800" dirty="0" smtClean="0"/>
              <a:t>        int mid = low + (high - low) / 2;</a:t>
            </a:r>
          </a:p>
          <a:p>
            <a:pPr>
              <a:buNone/>
            </a:pPr>
            <a:endParaRPr lang="en-US" sz="1800" dirty="0" smtClean="0"/>
          </a:p>
          <a:p>
            <a:pPr>
              <a:buNone/>
            </a:pPr>
            <a:r>
              <a:rPr lang="en-US" sz="1800" dirty="0" smtClean="0"/>
              <a:t>          If (</a:t>
            </a:r>
            <a:r>
              <a:rPr lang="en-US" sz="1800" dirty="0" err="1" smtClean="0"/>
              <a:t>arr</a:t>
            </a:r>
            <a:r>
              <a:rPr lang="en-US" sz="1800" dirty="0" smtClean="0"/>
              <a:t>[mid] == key)</a:t>
            </a:r>
          </a:p>
          <a:p>
            <a:pPr>
              <a:buNone/>
            </a:pPr>
            <a:r>
              <a:rPr lang="en-US" sz="1800" dirty="0" smtClean="0"/>
              <a:t>            return mid;</a:t>
            </a:r>
          </a:p>
          <a:p>
            <a:pPr>
              <a:buNone/>
            </a:pPr>
            <a:endParaRPr lang="en-US" sz="1800" dirty="0" smtClean="0"/>
          </a:p>
          <a:p>
            <a:pPr>
              <a:buNone/>
            </a:pPr>
            <a:r>
              <a:rPr lang="en-US" sz="1800" b="1" dirty="0" smtClean="0"/>
              <a:t>        // If key is smaller than mid, search the left </a:t>
            </a:r>
            <a:r>
              <a:rPr lang="en-US" sz="1800" b="1" dirty="0" err="1" smtClean="0"/>
              <a:t>subarray</a:t>
            </a:r>
            <a:endParaRPr lang="en-US" sz="1800" b="1" dirty="0" smtClean="0"/>
          </a:p>
          <a:p>
            <a:pPr>
              <a:buNone/>
            </a:pPr>
            <a:r>
              <a:rPr lang="en-US" sz="1800" dirty="0" smtClean="0"/>
              <a:t>        if (key   &lt;  </a:t>
            </a:r>
            <a:r>
              <a:rPr lang="en-US" sz="1800" dirty="0" err="1" smtClean="0"/>
              <a:t>arr</a:t>
            </a:r>
            <a:r>
              <a:rPr lang="en-US" sz="1800" dirty="0" smtClean="0"/>
              <a:t>[mid] )</a:t>
            </a:r>
          </a:p>
          <a:p>
            <a:pPr>
              <a:buNone/>
            </a:pPr>
            <a:r>
              <a:rPr lang="en-US" sz="1800" dirty="0" smtClean="0"/>
              <a:t>              </a:t>
            </a:r>
            <a:r>
              <a:rPr lang="en-US" sz="1800" dirty="0" err="1" smtClean="0"/>
              <a:t>binarySearch</a:t>
            </a:r>
            <a:r>
              <a:rPr lang="en-US" sz="1800" dirty="0" smtClean="0"/>
              <a:t>(</a:t>
            </a:r>
            <a:r>
              <a:rPr lang="en-US" sz="1800" dirty="0" err="1" smtClean="0"/>
              <a:t>arr</a:t>
            </a:r>
            <a:r>
              <a:rPr lang="en-US" sz="1800" dirty="0" smtClean="0"/>
              <a:t>, low, mid - 1, key);</a:t>
            </a:r>
          </a:p>
          <a:p>
            <a:pPr>
              <a:buNone/>
            </a:pPr>
            <a:r>
              <a:rPr lang="en-US" sz="1800" dirty="0" smtClean="0"/>
              <a:t>            </a:t>
            </a:r>
          </a:p>
          <a:p>
            <a:pPr>
              <a:buNone/>
            </a:pPr>
            <a:r>
              <a:rPr lang="en-US" sz="1800" dirty="0" smtClean="0"/>
              <a:t>              </a:t>
            </a:r>
          </a:p>
          <a:p>
            <a:pPr>
              <a:buNone/>
            </a:pPr>
            <a:r>
              <a:rPr lang="en-US" sz="1800" b="1" dirty="0" smtClean="0"/>
              <a:t>        // If key is larger than mid, search the right </a:t>
            </a:r>
            <a:r>
              <a:rPr lang="en-US" sz="1800" b="1" dirty="0" err="1" smtClean="0"/>
              <a:t>subarray</a:t>
            </a:r>
            <a:endParaRPr lang="en-US" sz="1800" b="1" dirty="0" smtClean="0"/>
          </a:p>
          <a:p>
            <a:pPr>
              <a:buNone/>
            </a:pPr>
            <a:r>
              <a:rPr lang="en-US" sz="1800" dirty="0" smtClean="0"/>
              <a:t>            </a:t>
            </a:r>
            <a:r>
              <a:rPr lang="en-US" sz="1800" dirty="0" err="1" smtClean="0"/>
              <a:t>binarySearch</a:t>
            </a:r>
            <a:r>
              <a:rPr lang="en-US" sz="1800" dirty="0" smtClean="0"/>
              <a:t>(</a:t>
            </a:r>
            <a:r>
              <a:rPr lang="en-US" sz="1800" dirty="0" err="1" smtClean="0"/>
              <a:t>arr</a:t>
            </a:r>
            <a:r>
              <a:rPr lang="en-US" sz="1800" dirty="0" smtClean="0"/>
              <a:t>, mid + 1, high, key);</a:t>
            </a:r>
          </a:p>
          <a:p>
            <a:pPr>
              <a:buNone/>
            </a:pPr>
            <a:r>
              <a:rPr lang="en-US" sz="1800" dirty="0" smtClean="0"/>
              <a:t>    }</a:t>
            </a:r>
          </a:p>
          <a:p>
            <a:pPr>
              <a:buNone/>
            </a:pPr>
            <a:r>
              <a:rPr lang="en-US" sz="1800" dirty="0" smtClean="0"/>
              <a:t>    //key is not present in the array</a:t>
            </a:r>
          </a:p>
          <a:p>
            <a:pPr>
              <a:buNone/>
            </a:pPr>
            <a:r>
              <a:rPr lang="en-US" sz="1800" dirty="0" smtClean="0"/>
              <a:t>    return -1;</a:t>
            </a:r>
          </a:p>
          <a:p>
            <a:pPr>
              <a:buNone/>
            </a:pPr>
            <a:r>
              <a:rPr lang="en-US" sz="1800" dirty="0" smtClean="0"/>
              <a:t>}</a:t>
            </a:r>
          </a:p>
          <a:p>
            <a:pPr>
              <a:buNone/>
            </a:pPr>
            <a:endParaRPr lang="en-US" sz="1100" dirty="0"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5123" name="Picture 3"/>
          <p:cNvPicPr>
            <a:picLocks noChangeAspect="1" noChangeArrowheads="1"/>
          </p:cNvPicPr>
          <p:nvPr/>
        </p:nvPicPr>
        <p:blipFill>
          <a:blip r:embed="rId2" cstate="print"/>
          <a:srcRect/>
          <a:stretch>
            <a:fillRect/>
          </a:stretch>
        </p:blipFill>
        <p:spPr bwMode="auto">
          <a:xfrm>
            <a:off x="3981450" y="6019800"/>
            <a:ext cx="285750" cy="591911"/>
          </a:xfrm>
          <a:prstGeom prst="rect">
            <a:avLst/>
          </a:prstGeom>
          <a:noFill/>
          <a:ln w="9525">
            <a:noFill/>
            <a:miter lim="800000"/>
            <a:headEnd/>
            <a:tailEnd/>
          </a:ln>
        </p:spPr>
      </p:pic>
      <p:pic>
        <p:nvPicPr>
          <p:cNvPr id="5124" name="Picture 4"/>
          <p:cNvPicPr>
            <a:picLocks noChangeAspect="1" noChangeArrowheads="1"/>
          </p:cNvPicPr>
          <p:nvPr/>
        </p:nvPicPr>
        <p:blipFill>
          <a:blip r:embed="rId3" cstate="print"/>
          <a:srcRect/>
          <a:stretch>
            <a:fillRect/>
          </a:stretch>
        </p:blipFill>
        <p:spPr bwMode="auto">
          <a:xfrm>
            <a:off x="452438" y="242888"/>
            <a:ext cx="8239125" cy="6372225"/>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ChangeAspect="1" noChangeArrowheads="1"/>
          </p:cNvPicPr>
          <p:nvPr/>
        </p:nvPicPr>
        <p:blipFill>
          <a:blip r:embed="rId2" cstate="print"/>
          <a:srcRect/>
          <a:stretch>
            <a:fillRect/>
          </a:stretch>
        </p:blipFill>
        <p:spPr bwMode="auto">
          <a:xfrm>
            <a:off x="457200" y="304800"/>
            <a:ext cx="6934200" cy="44958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304800" y="228600"/>
            <a:ext cx="8305800" cy="6400800"/>
            <a:chOff x="304800" y="228600"/>
            <a:chExt cx="8305800" cy="6400800"/>
          </a:xfrm>
        </p:grpSpPr>
        <p:pic>
          <p:nvPicPr>
            <p:cNvPr id="7170" name="Picture 2"/>
            <p:cNvPicPr>
              <a:picLocks noChangeAspect="1" noChangeArrowheads="1"/>
            </p:cNvPicPr>
            <p:nvPr/>
          </p:nvPicPr>
          <p:blipFill>
            <a:blip r:embed="rId2" cstate="print"/>
            <a:srcRect/>
            <a:stretch>
              <a:fillRect/>
            </a:stretch>
          </p:blipFill>
          <p:spPr bwMode="auto">
            <a:xfrm>
              <a:off x="304800" y="304801"/>
              <a:ext cx="8305800" cy="5500688"/>
            </a:xfrm>
            <a:prstGeom prst="rect">
              <a:avLst/>
            </a:prstGeom>
            <a:noFill/>
            <a:ln w="9525">
              <a:noFill/>
              <a:miter lim="800000"/>
              <a:headEnd/>
              <a:tailEnd/>
            </a:ln>
          </p:spPr>
        </p:pic>
        <p:pic>
          <p:nvPicPr>
            <p:cNvPr id="7171" name="Picture 3"/>
            <p:cNvPicPr>
              <a:picLocks noChangeAspect="1" noChangeArrowheads="1"/>
            </p:cNvPicPr>
            <p:nvPr/>
          </p:nvPicPr>
          <p:blipFill>
            <a:blip r:embed="rId3" cstate="print"/>
            <a:srcRect/>
            <a:stretch>
              <a:fillRect/>
            </a:stretch>
          </p:blipFill>
          <p:spPr bwMode="auto">
            <a:xfrm>
              <a:off x="381000" y="5943600"/>
              <a:ext cx="7315200" cy="685800"/>
            </a:xfrm>
            <a:prstGeom prst="rect">
              <a:avLst/>
            </a:prstGeom>
            <a:noFill/>
            <a:ln w="9525">
              <a:noFill/>
              <a:miter lim="800000"/>
              <a:headEnd/>
              <a:tailEnd/>
            </a:ln>
          </p:spPr>
        </p:pic>
        <p:pic>
          <p:nvPicPr>
            <p:cNvPr id="7172" name="Picture 4"/>
            <p:cNvPicPr>
              <a:picLocks noChangeAspect="1" noChangeArrowheads="1"/>
            </p:cNvPicPr>
            <p:nvPr/>
          </p:nvPicPr>
          <p:blipFill>
            <a:blip r:embed="rId4" cstate="print"/>
            <a:srcRect/>
            <a:stretch>
              <a:fillRect/>
            </a:stretch>
          </p:blipFill>
          <p:spPr bwMode="auto">
            <a:xfrm>
              <a:off x="3429000" y="228600"/>
              <a:ext cx="5181600" cy="1447800"/>
            </a:xfrm>
            <a:prstGeom prst="rect">
              <a:avLst/>
            </a:prstGeom>
            <a:noFill/>
            <a:ln w="9525">
              <a:noFill/>
              <a:miter lim="800000"/>
              <a:headEnd/>
              <a:tailEnd/>
            </a:ln>
          </p:spPr>
        </p:pic>
        <p:pic>
          <p:nvPicPr>
            <p:cNvPr id="7173" name="Picture 5"/>
            <p:cNvPicPr>
              <a:picLocks noChangeAspect="1" noChangeArrowheads="1"/>
            </p:cNvPicPr>
            <p:nvPr/>
          </p:nvPicPr>
          <p:blipFill>
            <a:blip r:embed="rId4" cstate="print"/>
            <a:srcRect/>
            <a:stretch>
              <a:fillRect/>
            </a:stretch>
          </p:blipFill>
          <p:spPr bwMode="auto">
            <a:xfrm>
              <a:off x="3581400" y="3276600"/>
              <a:ext cx="3733800" cy="1066800"/>
            </a:xfrm>
            <a:prstGeom prst="rect">
              <a:avLst/>
            </a:prstGeom>
            <a:noFill/>
            <a:ln w="9525">
              <a:noFill/>
              <a:miter lim="800000"/>
              <a:headEnd/>
              <a:tailEnd/>
            </a:ln>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Time Complexity Analysis: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solidFill>
                  <a:srgbClr val="FF0000"/>
                </a:solidFill>
              </a:rPr>
              <a:t>Worst-Case Scenario:</a:t>
            </a:r>
            <a:r>
              <a:rPr lang="en-US" dirty="0" smtClean="0">
                <a:solidFill>
                  <a:srgbClr val="FF0000"/>
                </a:solidFill>
              </a:rPr>
              <a:t> </a:t>
            </a:r>
            <a:r>
              <a:rPr lang="en-US" dirty="0" smtClean="0"/>
              <a:t>In the worst case, the target element is not present in the array, or it is located at the first or last position. The while loop will continue halving the search space until the interval is reduced to a single element. The number of iterations required is proportional to the logarithm (base 2) of the number of elements, denoted as log₂(n). Therefore, the worst-case time complexity is </a:t>
            </a:r>
            <a:r>
              <a:rPr lang="en-US" b="1" dirty="0" smtClean="0">
                <a:solidFill>
                  <a:srgbClr val="FF0000"/>
                </a:solidFill>
              </a:rPr>
              <a:t>O(log n).</a:t>
            </a:r>
          </a:p>
          <a:p>
            <a:r>
              <a:rPr lang="en-US" b="1" dirty="0" smtClean="0">
                <a:solidFill>
                  <a:srgbClr val="FF0000"/>
                </a:solidFill>
              </a:rPr>
              <a:t>Best-Case Scenario:</a:t>
            </a:r>
            <a:r>
              <a:rPr lang="en-US" dirty="0" smtClean="0">
                <a:solidFill>
                  <a:srgbClr val="FF0000"/>
                </a:solidFill>
              </a:rPr>
              <a:t> </a:t>
            </a:r>
            <a:r>
              <a:rPr lang="en-US" dirty="0" smtClean="0"/>
              <a:t>In the best case, the target element is located at the middle of the array during the first comparison. In this situation, the while loop executes only once, resulting in a time complexity of </a:t>
            </a:r>
            <a:r>
              <a:rPr lang="en-US" b="1" dirty="0" smtClean="0">
                <a:solidFill>
                  <a:srgbClr val="FF0000"/>
                </a:solidFill>
              </a:rPr>
              <a:t>O(1).</a:t>
            </a:r>
          </a:p>
          <a:p>
            <a:r>
              <a:rPr lang="en-US" b="1" dirty="0" smtClean="0">
                <a:solidFill>
                  <a:srgbClr val="FF0000"/>
                </a:solidFill>
              </a:rPr>
              <a:t>Average-Case Scenario:</a:t>
            </a:r>
            <a:r>
              <a:rPr lang="en-US" dirty="0" smtClean="0">
                <a:solidFill>
                  <a:srgbClr val="FF0000"/>
                </a:solidFill>
              </a:rPr>
              <a:t> </a:t>
            </a:r>
            <a:r>
              <a:rPr lang="en-US" dirty="0" smtClean="0"/>
              <a:t>On average, the target element could be located at any position within the array. Due to the halving nature of the search space, the average number of iterations still scales logarithmically with the number of elements, leading to an average-case time complexity of </a:t>
            </a:r>
            <a:r>
              <a:rPr lang="en-US" b="1" dirty="0" smtClean="0">
                <a:solidFill>
                  <a:srgbClr val="FF0000"/>
                </a:solidFill>
              </a:rPr>
              <a:t>O(log n).</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Merge Sort</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The Merge Sort algorithm is a divide-and-conquer algorithm that sorts an array by first breaking it down into smaller arrays, and then building the array back together the correct way so that it is sorted.</a:t>
            </a:r>
          </a:p>
          <a:p>
            <a:r>
              <a:rPr lang="en-US" b="1" dirty="0" smtClean="0"/>
              <a:t>Divide: </a:t>
            </a:r>
            <a:r>
              <a:rPr lang="en-US" dirty="0" smtClean="0"/>
              <a:t>The algorithm starts with breaking up the array into smaller and smaller pieces until one such sub-array only consists of one element.</a:t>
            </a:r>
          </a:p>
          <a:p>
            <a:r>
              <a:rPr lang="en-US" b="1" dirty="0" smtClean="0"/>
              <a:t>Conquer: </a:t>
            </a:r>
            <a:r>
              <a:rPr lang="en-US" dirty="0" smtClean="0"/>
              <a:t>The algorithm merges the small pieces of the array back together by putting the lowest values first, resulting in a sorted array.</a:t>
            </a:r>
          </a:p>
          <a:p>
            <a:r>
              <a:rPr lang="en-US" dirty="0" smtClean="0"/>
              <a:t>The breaking down and building up of the array to sort the array is done recursively.</a:t>
            </a:r>
          </a:p>
          <a:p>
            <a:endParaRPr lang="en-US" dirty="0" smtClean="0"/>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24400" y="304800"/>
            <a:ext cx="3962400" cy="6248400"/>
          </a:xfrm>
        </p:spPr>
        <p:txBody>
          <a:bodyPr>
            <a:normAutofit fontScale="40000" lnSpcReduction="20000"/>
          </a:bodyPr>
          <a:lstStyle/>
          <a:p>
            <a:pPr fontAlgn="base"/>
            <a:r>
              <a:rPr lang="en-US" sz="4800" i="1" dirty="0" smtClean="0"/>
              <a:t>Let’s look at the working of above example: </a:t>
            </a:r>
          </a:p>
          <a:p>
            <a:pPr fontAlgn="base"/>
            <a:r>
              <a:rPr lang="en-US" sz="4800" b="1" i="1" dirty="0" smtClean="0"/>
              <a:t>Divide: </a:t>
            </a:r>
            <a:endParaRPr lang="en-US" sz="4800" i="1" dirty="0" smtClean="0"/>
          </a:p>
          <a:p>
            <a:pPr fontAlgn="base"/>
            <a:r>
              <a:rPr lang="en-US" sz="4800" b="1" i="1" dirty="0" smtClean="0"/>
              <a:t>[38, 27, 43, 10] </a:t>
            </a:r>
            <a:r>
              <a:rPr lang="en-US" sz="4800" i="1" dirty="0" smtClean="0"/>
              <a:t>is divided into </a:t>
            </a:r>
            <a:r>
              <a:rPr lang="en-US" sz="4800" b="1" i="1" dirty="0" smtClean="0"/>
              <a:t>[38, 27 </a:t>
            </a:r>
            <a:r>
              <a:rPr lang="en-US" sz="4800" i="1" dirty="0" smtClean="0"/>
              <a:t>] and </a:t>
            </a:r>
            <a:r>
              <a:rPr lang="en-US" sz="4800" b="1" i="1" dirty="0" smtClean="0"/>
              <a:t>[43, 10] </a:t>
            </a:r>
            <a:r>
              <a:rPr lang="en-US" sz="4800" i="1" dirty="0" smtClean="0"/>
              <a:t>. </a:t>
            </a:r>
          </a:p>
          <a:p>
            <a:pPr fontAlgn="base"/>
            <a:r>
              <a:rPr lang="en-US" sz="4800" b="1" i="1" dirty="0" smtClean="0"/>
              <a:t>[38, 27] </a:t>
            </a:r>
            <a:r>
              <a:rPr lang="en-US" sz="4800" i="1" dirty="0" smtClean="0"/>
              <a:t>is divided into </a:t>
            </a:r>
            <a:r>
              <a:rPr lang="en-US" sz="4800" b="1" i="1" dirty="0" smtClean="0"/>
              <a:t>[38] </a:t>
            </a:r>
            <a:r>
              <a:rPr lang="en-US" sz="4800" i="1" dirty="0" smtClean="0"/>
              <a:t>and </a:t>
            </a:r>
            <a:r>
              <a:rPr lang="en-US" sz="4800" b="1" i="1" dirty="0" smtClean="0"/>
              <a:t>[27] </a:t>
            </a:r>
            <a:r>
              <a:rPr lang="en-US" sz="4800" i="1" dirty="0" smtClean="0"/>
              <a:t>. </a:t>
            </a:r>
          </a:p>
          <a:p>
            <a:pPr fontAlgn="base"/>
            <a:r>
              <a:rPr lang="en-US" sz="4800" b="1" i="1" dirty="0" smtClean="0"/>
              <a:t>[43, 10] </a:t>
            </a:r>
            <a:r>
              <a:rPr lang="en-US" sz="4800" i="1" dirty="0" smtClean="0"/>
              <a:t>is divided into </a:t>
            </a:r>
            <a:r>
              <a:rPr lang="en-US" sz="4800" b="1" i="1" dirty="0" smtClean="0"/>
              <a:t>[43] </a:t>
            </a:r>
            <a:r>
              <a:rPr lang="en-US" sz="4800" i="1" dirty="0" smtClean="0"/>
              <a:t>and </a:t>
            </a:r>
            <a:r>
              <a:rPr lang="en-US" sz="4800" b="1" i="1" dirty="0" smtClean="0"/>
              <a:t>[10] </a:t>
            </a:r>
            <a:r>
              <a:rPr lang="en-US" sz="4800" i="1" dirty="0" smtClean="0"/>
              <a:t>. </a:t>
            </a:r>
          </a:p>
          <a:p>
            <a:pPr fontAlgn="base"/>
            <a:r>
              <a:rPr lang="en-US" sz="4800" b="1" i="1" dirty="0" smtClean="0"/>
              <a:t>Conquer: </a:t>
            </a:r>
            <a:endParaRPr lang="en-US" sz="4800" i="1" dirty="0" smtClean="0"/>
          </a:p>
          <a:p>
            <a:pPr fontAlgn="base"/>
            <a:r>
              <a:rPr lang="en-US" sz="4800" b="1" i="1" dirty="0" smtClean="0"/>
              <a:t>[38] </a:t>
            </a:r>
            <a:r>
              <a:rPr lang="en-US" sz="4800" i="1" dirty="0" smtClean="0"/>
              <a:t>is already sorted. </a:t>
            </a:r>
          </a:p>
          <a:p>
            <a:pPr fontAlgn="base"/>
            <a:r>
              <a:rPr lang="en-US" sz="4800" b="1" i="1" dirty="0" smtClean="0"/>
              <a:t>[27] </a:t>
            </a:r>
            <a:r>
              <a:rPr lang="en-US" sz="4800" i="1" dirty="0" smtClean="0"/>
              <a:t>is already sorted. </a:t>
            </a:r>
          </a:p>
          <a:p>
            <a:pPr fontAlgn="base"/>
            <a:r>
              <a:rPr lang="en-US" sz="4800" b="1" i="1" dirty="0" smtClean="0"/>
              <a:t>[43] </a:t>
            </a:r>
            <a:r>
              <a:rPr lang="en-US" sz="4800" i="1" dirty="0" smtClean="0"/>
              <a:t>is already sorted. </a:t>
            </a:r>
          </a:p>
          <a:p>
            <a:pPr fontAlgn="base"/>
            <a:r>
              <a:rPr lang="en-US" sz="4800" b="1" i="1" dirty="0" smtClean="0"/>
              <a:t>[10] </a:t>
            </a:r>
            <a:r>
              <a:rPr lang="en-US" sz="4800" i="1" dirty="0" smtClean="0"/>
              <a:t>is already sorted. </a:t>
            </a:r>
          </a:p>
          <a:p>
            <a:pPr fontAlgn="base"/>
            <a:r>
              <a:rPr lang="en-US" sz="4800" b="1" i="1" dirty="0" smtClean="0"/>
              <a:t>Merge: </a:t>
            </a:r>
            <a:endParaRPr lang="en-US" sz="4800" i="1" dirty="0" smtClean="0"/>
          </a:p>
          <a:p>
            <a:pPr fontAlgn="base"/>
            <a:r>
              <a:rPr lang="en-US" sz="4800" i="1" dirty="0" smtClean="0"/>
              <a:t>Merge </a:t>
            </a:r>
            <a:r>
              <a:rPr lang="en-US" sz="4800" b="1" i="1" dirty="0" smtClean="0"/>
              <a:t>[38] </a:t>
            </a:r>
            <a:r>
              <a:rPr lang="en-US" sz="4800" i="1" dirty="0" smtClean="0"/>
              <a:t>and </a:t>
            </a:r>
            <a:r>
              <a:rPr lang="en-US" sz="4800" b="1" i="1" dirty="0" smtClean="0"/>
              <a:t>[27] </a:t>
            </a:r>
            <a:r>
              <a:rPr lang="en-US" sz="4800" i="1" dirty="0" smtClean="0"/>
              <a:t>to get </a:t>
            </a:r>
            <a:r>
              <a:rPr lang="en-US" sz="4800" b="1" i="1" dirty="0" smtClean="0"/>
              <a:t>[27, 38] </a:t>
            </a:r>
            <a:r>
              <a:rPr lang="en-US" sz="4800" i="1" dirty="0" smtClean="0"/>
              <a:t>. </a:t>
            </a:r>
          </a:p>
          <a:p>
            <a:pPr fontAlgn="base"/>
            <a:r>
              <a:rPr lang="en-US" sz="4800" i="1" dirty="0" smtClean="0"/>
              <a:t>Merge </a:t>
            </a:r>
            <a:r>
              <a:rPr lang="en-US" sz="4800" b="1" i="1" dirty="0" smtClean="0"/>
              <a:t>[43] </a:t>
            </a:r>
            <a:r>
              <a:rPr lang="en-US" sz="4800" i="1" dirty="0" smtClean="0"/>
              <a:t>and </a:t>
            </a:r>
            <a:r>
              <a:rPr lang="en-US" sz="4800" b="1" i="1" dirty="0" smtClean="0"/>
              <a:t>[10] </a:t>
            </a:r>
            <a:r>
              <a:rPr lang="en-US" sz="4800" i="1" dirty="0" smtClean="0"/>
              <a:t>to get </a:t>
            </a:r>
            <a:r>
              <a:rPr lang="en-US" sz="4800" b="1" i="1" dirty="0" smtClean="0"/>
              <a:t>[10,43] </a:t>
            </a:r>
            <a:r>
              <a:rPr lang="en-US" sz="4800" i="1" dirty="0" smtClean="0"/>
              <a:t>. </a:t>
            </a:r>
          </a:p>
          <a:p>
            <a:pPr fontAlgn="base"/>
            <a:r>
              <a:rPr lang="en-US" sz="4800" i="1" dirty="0" smtClean="0"/>
              <a:t>Merge </a:t>
            </a:r>
            <a:r>
              <a:rPr lang="en-US" sz="4800" b="1" i="1" dirty="0" smtClean="0"/>
              <a:t>[27, 38] </a:t>
            </a:r>
            <a:r>
              <a:rPr lang="en-US" sz="4800" i="1" dirty="0" smtClean="0"/>
              <a:t>and </a:t>
            </a:r>
            <a:r>
              <a:rPr lang="en-US" sz="4800" b="1" i="1" dirty="0" smtClean="0"/>
              <a:t>[10,43] </a:t>
            </a:r>
            <a:r>
              <a:rPr lang="en-US" sz="4800" i="1" dirty="0" smtClean="0"/>
              <a:t>to get the final sorted list </a:t>
            </a:r>
            <a:r>
              <a:rPr lang="en-US" sz="4800" b="1" i="1" dirty="0" smtClean="0"/>
              <a:t>[10, 27, 38, 43] </a:t>
            </a:r>
            <a:endParaRPr lang="en-US" sz="4800" i="1" dirty="0" smtClean="0"/>
          </a:p>
          <a:p>
            <a:pPr fontAlgn="base"/>
            <a:r>
              <a:rPr lang="en-US" sz="4800" i="1" dirty="0" smtClean="0"/>
              <a:t>Therefore, the sorted list is </a:t>
            </a:r>
            <a:r>
              <a:rPr lang="en-US" sz="4800" b="1" i="1" dirty="0" smtClean="0"/>
              <a:t>[10, 27, 38, 43] </a:t>
            </a:r>
            <a:r>
              <a:rPr lang="en-US" sz="4800" i="1" dirty="0" smtClean="0"/>
              <a:t>. </a:t>
            </a:r>
          </a:p>
          <a:p>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609600" y="304800"/>
            <a:ext cx="3657600" cy="655320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cstate="print"/>
          <a:srcRect/>
          <a:stretch>
            <a:fillRect/>
          </a:stretch>
        </p:blipFill>
        <p:spPr bwMode="auto">
          <a:xfrm>
            <a:off x="381000" y="609600"/>
            <a:ext cx="8382000" cy="586740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Merge operation</a:t>
            </a:r>
            <a:endParaRPr lang="en-US" dirty="0"/>
          </a:p>
        </p:txBody>
      </p:sp>
      <p:pic>
        <p:nvPicPr>
          <p:cNvPr id="3074" name="Picture 2"/>
          <p:cNvPicPr>
            <a:picLocks noGrp="1" noChangeAspect="1" noChangeArrowheads="1"/>
          </p:cNvPicPr>
          <p:nvPr>
            <p:ph idx="1"/>
          </p:nvPr>
        </p:nvPicPr>
        <p:blipFill>
          <a:blip r:embed="rId2" cstate="print"/>
          <a:srcRect/>
          <a:stretch>
            <a:fillRect/>
          </a:stretch>
        </p:blipFill>
        <p:spPr bwMode="auto">
          <a:xfrm>
            <a:off x="457200" y="1600200"/>
            <a:ext cx="8305800" cy="4525963"/>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Mergersort</a:t>
            </a:r>
            <a:endParaRPr lang="en-US" dirty="0"/>
          </a:p>
        </p:txBody>
      </p:sp>
      <p:sp>
        <p:nvSpPr>
          <p:cNvPr id="3" name="Content Placeholder 2"/>
          <p:cNvSpPr>
            <a:spLocks noGrp="1"/>
          </p:cNvSpPr>
          <p:nvPr>
            <p:ph idx="1"/>
          </p:nvPr>
        </p:nvSpPr>
        <p:spPr/>
        <p:txBody>
          <a:bodyPr>
            <a:normAutofit lnSpcReduction="10000"/>
          </a:bodyPr>
          <a:lstStyle/>
          <a:p>
            <a:pPr>
              <a:buNone/>
            </a:pPr>
            <a:r>
              <a:rPr lang="en-US" dirty="0" smtClean="0"/>
              <a:t>void </a:t>
            </a:r>
            <a:r>
              <a:rPr lang="en-US" dirty="0" err="1" smtClean="0"/>
              <a:t>mergeSort</a:t>
            </a:r>
            <a:r>
              <a:rPr lang="en-US" dirty="0" smtClean="0"/>
              <a:t>(int </a:t>
            </a:r>
            <a:r>
              <a:rPr lang="en-US" dirty="0" err="1" smtClean="0"/>
              <a:t>arr</a:t>
            </a:r>
            <a:r>
              <a:rPr lang="en-US" dirty="0" smtClean="0"/>
              <a:t>[], int left, int right)</a:t>
            </a:r>
          </a:p>
          <a:p>
            <a:pPr>
              <a:buNone/>
            </a:pPr>
            <a:r>
              <a:rPr lang="en-US" dirty="0" smtClean="0"/>
              <a:t> { if (left &lt; right) </a:t>
            </a:r>
          </a:p>
          <a:p>
            <a:pPr>
              <a:buNone/>
            </a:pPr>
            <a:r>
              <a:rPr lang="en-US" dirty="0" smtClean="0"/>
              <a:t>{</a:t>
            </a:r>
          </a:p>
          <a:p>
            <a:pPr>
              <a:buNone/>
            </a:pPr>
            <a:r>
              <a:rPr lang="en-US" dirty="0" smtClean="0"/>
              <a:t> int mid = left + (right - left) / 2;</a:t>
            </a:r>
          </a:p>
          <a:p>
            <a:pPr>
              <a:buNone/>
            </a:pPr>
            <a:r>
              <a:rPr lang="en-US" dirty="0" smtClean="0"/>
              <a:t> </a:t>
            </a:r>
            <a:r>
              <a:rPr lang="en-US" dirty="0" err="1" smtClean="0"/>
              <a:t>mergeSort</a:t>
            </a:r>
            <a:r>
              <a:rPr lang="en-US" dirty="0" smtClean="0"/>
              <a:t>(</a:t>
            </a:r>
            <a:r>
              <a:rPr lang="en-US" dirty="0" err="1" smtClean="0"/>
              <a:t>arr</a:t>
            </a:r>
            <a:r>
              <a:rPr lang="en-US" dirty="0" smtClean="0"/>
              <a:t>, left, mid); </a:t>
            </a:r>
          </a:p>
          <a:p>
            <a:pPr>
              <a:buNone/>
            </a:pPr>
            <a:r>
              <a:rPr lang="en-US" dirty="0" smtClean="0"/>
              <a:t> </a:t>
            </a:r>
            <a:r>
              <a:rPr lang="en-US" dirty="0" err="1" smtClean="0"/>
              <a:t>mergeSort</a:t>
            </a:r>
            <a:r>
              <a:rPr lang="en-US" dirty="0" smtClean="0"/>
              <a:t>(</a:t>
            </a:r>
            <a:r>
              <a:rPr lang="en-US" dirty="0" err="1" smtClean="0"/>
              <a:t>arr</a:t>
            </a:r>
            <a:r>
              <a:rPr lang="en-US" dirty="0" smtClean="0"/>
              <a:t>, mid + 1, right); </a:t>
            </a:r>
          </a:p>
          <a:p>
            <a:pPr>
              <a:buNone/>
            </a:pPr>
            <a:r>
              <a:rPr lang="en-US" dirty="0" smtClean="0"/>
              <a:t> merge(</a:t>
            </a:r>
            <a:r>
              <a:rPr lang="en-US" dirty="0" err="1" smtClean="0"/>
              <a:t>arr</a:t>
            </a:r>
            <a:r>
              <a:rPr lang="en-US" dirty="0" smtClean="0"/>
              <a:t>, left, mid, right); </a:t>
            </a:r>
          </a:p>
          <a:p>
            <a:pPr>
              <a:buNone/>
            </a:pPr>
            <a:r>
              <a:rPr lang="en-US" dirty="0" smtClean="0"/>
              <a:t>} }</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merge function</a:t>
            </a:r>
            <a:endParaRPr lang="en-US" b="1" dirty="0"/>
          </a:p>
        </p:txBody>
      </p:sp>
      <p:sp>
        <p:nvSpPr>
          <p:cNvPr id="3" name="Content Placeholder 2"/>
          <p:cNvSpPr>
            <a:spLocks noGrp="1"/>
          </p:cNvSpPr>
          <p:nvPr>
            <p:ph idx="1"/>
          </p:nvPr>
        </p:nvSpPr>
        <p:spPr/>
        <p:txBody>
          <a:bodyPr>
            <a:normAutofit fontScale="85000" lnSpcReduction="20000"/>
          </a:bodyPr>
          <a:lstStyle/>
          <a:p>
            <a:r>
              <a:rPr lang="en-US" dirty="0" smtClean="0"/>
              <a:t>The merge function works as follows:</a:t>
            </a:r>
          </a:p>
          <a:p>
            <a:r>
              <a:rPr lang="en-US" dirty="0" smtClean="0"/>
              <a:t>Create copies of the </a:t>
            </a:r>
            <a:r>
              <a:rPr lang="en-US" dirty="0" err="1" smtClean="0"/>
              <a:t>subarrays</a:t>
            </a:r>
            <a:r>
              <a:rPr lang="en-US" dirty="0" smtClean="0"/>
              <a:t> L &lt;- A[p..q] and M &lt;- A[q+1..r].</a:t>
            </a:r>
          </a:p>
          <a:p>
            <a:r>
              <a:rPr lang="en-US" dirty="0" smtClean="0"/>
              <a:t>Create three pointers i, j and k</a:t>
            </a:r>
          </a:p>
          <a:p>
            <a:pPr lvl="1"/>
            <a:r>
              <a:rPr lang="en-US" dirty="0" smtClean="0"/>
              <a:t>i maintains current index of L, starting at 1</a:t>
            </a:r>
          </a:p>
          <a:p>
            <a:pPr lvl="1"/>
            <a:r>
              <a:rPr lang="en-US" dirty="0" smtClean="0"/>
              <a:t>j maintains current index of M, starting at 1</a:t>
            </a:r>
          </a:p>
          <a:p>
            <a:pPr lvl="1"/>
            <a:r>
              <a:rPr lang="en-US" dirty="0" smtClean="0"/>
              <a:t>k maintains the current index of A[p..q], starting at p.</a:t>
            </a:r>
          </a:p>
          <a:p>
            <a:r>
              <a:rPr lang="en-US" dirty="0" smtClean="0"/>
              <a:t>Until we reach the end of either L or M, pick the larger among the elements from L and M and place them in the correct position at A[p..q]</a:t>
            </a:r>
          </a:p>
          <a:p>
            <a:r>
              <a:rPr lang="en-US" dirty="0" smtClean="0"/>
              <a:t>When we run out of elements in either L or M, pick up the remaining elements and put in A[p..q]</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Merge</a:t>
            </a:r>
            <a:endParaRPr lang="en-US" dirty="0"/>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cstate="print"/>
          <a:srcRect/>
          <a:stretch>
            <a:fillRect/>
          </a:stretch>
        </p:blipFill>
        <p:spPr bwMode="auto">
          <a:xfrm>
            <a:off x="457200" y="1371600"/>
            <a:ext cx="8305799" cy="5105399"/>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Merge</a:t>
            </a:r>
            <a:endParaRPr lang="en-US" dirty="0"/>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cstate="print"/>
          <a:srcRect/>
          <a:stretch>
            <a:fillRect/>
          </a:stretch>
        </p:blipFill>
        <p:spPr bwMode="auto">
          <a:xfrm>
            <a:off x="609600" y="1719263"/>
            <a:ext cx="8229600" cy="4986337"/>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Merge</a:t>
            </a:r>
            <a:endParaRPr lang="en-US" dirty="0"/>
          </a:p>
        </p:txBody>
      </p:sp>
      <p:sp>
        <p:nvSpPr>
          <p:cNvPr id="3" name="Content Placeholder 2"/>
          <p:cNvSpPr>
            <a:spLocks noGrp="1"/>
          </p:cNvSpPr>
          <p:nvPr>
            <p:ph idx="1"/>
          </p:nvPr>
        </p:nvSpPr>
        <p:spPr/>
        <p:txBody>
          <a:bodyPr/>
          <a:lstStyle/>
          <a:p>
            <a:endParaRPr lang="en-US"/>
          </a:p>
        </p:txBody>
      </p:sp>
      <p:pic>
        <p:nvPicPr>
          <p:cNvPr id="6146" name="Picture 2"/>
          <p:cNvPicPr>
            <a:picLocks noChangeAspect="1" noChangeArrowheads="1"/>
          </p:cNvPicPr>
          <p:nvPr/>
        </p:nvPicPr>
        <p:blipFill>
          <a:blip r:embed="rId2" cstate="print"/>
          <a:srcRect/>
          <a:stretch>
            <a:fillRect/>
          </a:stretch>
        </p:blipFill>
        <p:spPr bwMode="auto">
          <a:xfrm>
            <a:off x="457200" y="1776413"/>
            <a:ext cx="8229600" cy="4624387"/>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Time Complexity analysis</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Best, Worst, and Average Case Complexity</a:t>
            </a:r>
          </a:p>
          <a:p>
            <a:r>
              <a:rPr lang="en-US" b="1" dirty="0" smtClean="0"/>
              <a:t>Best Case (O(n log n))</a:t>
            </a:r>
            <a:r>
              <a:rPr lang="en-US" dirty="0" smtClean="0"/>
              <a:t>: Even if the array is already sorted, Merge Sort still recursively divides and merges the array.</a:t>
            </a:r>
          </a:p>
          <a:p>
            <a:r>
              <a:rPr lang="en-US" b="1" dirty="0" smtClean="0"/>
              <a:t>Worst Case (O(n log n))</a:t>
            </a:r>
            <a:r>
              <a:rPr lang="en-US" dirty="0" smtClean="0"/>
              <a:t>: Even for a reverse-sorted array, Merge Sort performs the same number of comparisons and merging operations.</a:t>
            </a:r>
          </a:p>
          <a:p>
            <a:r>
              <a:rPr lang="en-US" b="1" dirty="0" smtClean="0"/>
              <a:t>Average Case (O(n log n))</a:t>
            </a:r>
            <a:r>
              <a:rPr lang="en-US" dirty="0" smtClean="0"/>
              <a:t>: Since the number of comparisons and merges does not change significantly for different inputs, the average-case complexity remains O(n log n).</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Recurrence Relation for Time Complexity</a:t>
            </a:r>
            <a:endParaRPr lang="en-US" dirty="0"/>
          </a:p>
        </p:txBody>
      </p:sp>
      <p:sp>
        <p:nvSpPr>
          <p:cNvPr id="3" name="Content Placeholder 2"/>
          <p:cNvSpPr>
            <a:spLocks noGrp="1"/>
          </p:cNvSpPr>
          <p:nvPr>
            <p:ph idx="1"/>
          </p:nvPr>
        </p:nvSpPr>
        <p:spPr>
          <a:xfrm>
            <a:off x="457200" y="1600200"/>
            <a:ext cx="5181600" cy="4525963"/>
          </a:xfrm>
        </p:spPr>
        <p:txBody>
          <a:bodyPr/>
          <a:lstStyle/>
          <a:p>
            <a:endParaRPr lang="en-US" dirty="0" smtClean="0"/>
          </a:p>
          <a:p>
            <a:r>
              <a:rPr lang="en-US" dirty="0" smtClean="0"/>
              <a:t>T(n)=2T(n/2)+O(n)</a:t>
            </a:r>
          </a:p>
          <a:p>
            <a:endParaRPr lang="en-US" dirty="0" smtClean="0"/>
          </a:p>
          <a:p>
            <a:r>
              <a:rPr lang="en-US" dirty="0" smtClean="0"/>
              <a:t>there are </a:t>
            </a:r>
            <a:r>
              <a:rPr lang="en-US" b="1" dirty="0" smtClean="0"/>
              <a:t>log n</a:t>
            </a:r>
            <a:r>
              <a:rPr lang="en-US" dirty="0" smtClean="0"/>
              <a:t> levels and each level requires </a:t>
            </a:r>
            <a:r>
              <a:rPr lang="en-US" b="1" dirty="0" smtClean="0"/>
              <a:t>O(n)</a:t>
            </a:r>
            <a:r>
              <a:rPr lang="en-US" dirty="0" smtClean="0"/>
              <a:t> merging work, the overall time complexity is:</a:t>
            </a:r>
          </a:p>
          <a:p>
            <a:r>
              <a:rPr lang="en-US" dirty="0" smtClean="0"/>
              <a:t>O(</a:t>
            </a:r>
            <a:r>
              <a:rPr lang="en-US" dirty="0" err="1" smtClean="0"/>
              <a:t>nlog⁡n</a:t>
            </a:r>
            <a:r>
              <a:rPr lang="en-US" dirty="0" smtClean="0"/>
              <a:t>)</a:t>
            </a:r>
            <a:endParaRPr lang="en-US" dirty="0"/>
          </a:p>
        </p:txBody>
      </p:sp>
      <p:pic>
        <p:nvPicPr>
          <p:cNvPr id="4" name="Picture 2"/>
          <p:cNvPicPr>
            <a:picLocks noChangeAspect="1" noChangeArrowheads="1"/>
          </p:cNvPicPr>
          <p:nvPr/>
        </p:nvPicPr>
        <p:blipFill>
          <a:blip r:embed="rId2" cstate="print"/>
          <a:srcRect/>
          <a:stretch>
            <a:fillRect/>
          </a:stretch>
        </p:blipFill>
        <p:spPr bwMode="auto">
          <a:xfrm>
            <a:off x="5410200" y="1371600"/>
            <a:ext cx="3581400" cy="4953000"/>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finding majority element and analysis</a:t>
            </a:r>
            <a:br>
              <a:rPr lang="en-US" dirty="0" smtClean="0"/>
            </a:br>
            <a:endParaRPr lang="en-US" dirty="0"/>
          </a:p>
        </p:txBody>
      </p:sp>
      <p:sp>
        <p:nvSpPr>
          <p:cNvPr id="5" name="Content Placeholder 4"/>
          <p:cNvSpPr>
            <a:spLocks noGrp="1"/>
          </p:cNvSpPr>
          <p:nvPr>
            <p:ph idx="1"/>
          </p:nvPr>
        </p:nvSpPr>
        <p:spPr/>
        <p:txBody>
          <a:bodyPr/>
          <a:lstStyle/>
          <a:p>
            <a:r>
              <a:rPr lang="en-US" dirty="0" smtClean="0"/>
              <a:t>Naïve Method /Brute force –good solution</a:t>
            </a:r>
          </a:p>
          <a:p>
            <a:r>
              <a:rPr lang="en-US" dirty="0" smtClean="0"/>
              <a:t>Sorted Approach-better solution</a:t>
            </a:r>
          </a:p>
          <a:p>
            <a:r>
              <a:rPr lang="en-US" dirty="0" smtClean="0"/>
              <a:t>Divide and Conquer Approach-better solution</a:t>
            </a:r>
          </a:p>
          <a:p>
            <a:r>
              <a:rPr lang="en-US" dirty="0" smtClean="0"/>
              <a:t>using Boyer-Moore Voting Algorithm –optimal solution</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p:txBody>
          <a:bodyPr>
            <a:normAutofit fontScale="97500"/>
          </a:bodyPr>
          <a:lstStyle/>
          <a:p>
            <a:pPr algn="ctr">
              <a:buNone/>
            </a:pPr>
            <a:r>
              <a:rPr lang="en-US" sz="5500" b="1" dirty="0" smtClean="0"/>
              <a:t>find the majority element using Naïve approach</a:t>
            </a:r>
          </a:p>
          <a:p>
            <a:pPr>
              <a:buNone/>
            </a:pPr>
            <a:r>
              <a:rPr lang="en-US" dirty="0" smtClean="0"/>
              <a:t/>
            </a:r>
            <a:br>
              <a:rPr lang="en-US" dirty="0" smtClean="0"/>
            </a:b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finding majority element and analysis </a:t>
            </a:r>
            <a:br>
              <a:rPr lang="en-US" dirty="0" smtClean="0"/>
            </a:br>
            <a:endParaRPr lang="en-US" dirty="0"/>
          </a:p>
        </p:txBody>
      </p:sp>
      <p:sp>
        <p:nvSpPr>
          <p:cNvPr id="3" name="Content Placeholder 2"/>
          <p:cNvSpPr>
            <a:spLocks noGrp="1"/>
          </p:cNvSpPr>
          <p:nvPr>
            <p:ph idx="1"/>
          </p:nvPr>
        </p:nvSpPr>
        <p:spPr>
          <a:xfrm>
            <a:off x="457200" y="990600"/>
            <a:ext cx="4572000" cy="5715000"/>
          </a:xfrm>
        </p:spPr>
        <p:style>
          <a:lnRef idx="2">
            <a:schemeClr val="dk1"/>
          </a:lnRef>
          <a:fillRef idx="1">
            <a:schemeClr val="lt1"/>
          </a:fillRef>
          <a:effectRef idx="0">
            <a:schemeClr val="dk1"/>
          </a:effectRef>
          <a:fontRef idx="minor">
            <a:schemeClr val="dk1"/>
          </a:fontRef>
        </p:style>
        <p:txBody>
          <a:bodyPr>
            <a:noAutofit/>
          </a:bodyPr>
          <a:lstStyle/>
          <a:p>
            <a:pPr>
              <a:buNone/>
            </a:pPr>
            <a:r>
              <a:rPr lang="en-US" sz="2200" b="1" dirty="0" smtClean="0"/>
              <a:t>// find the majority element using the </a:t>
            </a:r>
            <a:r>
              <a:rPr lang="en-US" sz="2200" b="1" dirty="0" smtClean="0">
                <a:solidFill>
                  <a:srgbClr val="FF0000"/>
                </a:solidFill>
              </a:rPr>
              <a:t>Naïve approach</a:t>
            </a:r>
          </a:p>
          <a:p>
            <a:pPr>
              <a:buNone/>
            </a:pPr>
            <a:r>
              <a:rPr lang="en-US" sz="2200" dirty="0" smtClean="0"/>
              <a:t>int </a:t>
            </a:r>
            <a:r>
              <a:rPr lang="en-US" sz="2200" dirty="0" err="1" smtClean="0"/>
              <a:t>findMajorityElement</a:t>
            </a:r>
            <a:r>
              <a:rPr lang="en-US" sz="2200" dirty="0" smtClean="0"/>
              <a:t>(int </a:t>
            </a:r>
            <a:r>
              <a:rPr lang="en-US" sz="2200" dirty="0" err="1" smtClean="0"/>
              <a:t>arr</a:t>
            </a:r>
            <a:r>
              <a:rPr lang="en-US" sz="2200" dirty="0" smtClean="0"/>
              <a:t>[], int n) {</a:t>
            </a:r>
          </a:p>
          <a:p>
            <a:pPr>
              <a:buNone/>
            </a:pPr>
            <a:r>
              <a:rPr lang="en-US" sz="2200" dirty="0" smtClean="0"/>
              <a:t>    for (int i = 0; i &lt; n; i++) </a:t>
            </a:r>
          </a:p>
          <a:p>
            <a:pPr>
              <a:buNone/>
            </a:pPr>
            <a:r>
              <a:rPr lang="en-US" sz="2200" dirty="0" smtClean="0"/>
              <a:t>    {</a:t>
            </a:r>
          </a:p>
          <a:p>
            <a:pPr>
              <a:buNone/>
            </a:pPr>
            <a:r>
              <a:rPr lang="en-US" sz="2200" dirty="0" smtClean="0"/>
              <a:t>          int count = 0;</a:t>
            </a:r>
          </a:p>
          <a:p>
            <a:pPr>
              <a:buNone/>
            </a:pPr>
            <a:r>
              <a:rPr lang="en-US" sz="2200" dirty="0" smtClean="0"/>
              <a:t>          </a:t>
            </a:r>
            <a:r>
              <a:rPr lang="en-US" sz="2200" b="1" dirty="0" smtClean="0"/>
              <a:t>// Count occurrences of </a:t>
            </a:r>
            <a:r>
              <a:rPr lang="en-US" sz="2200" b="1" dirty="0" err="1" smtClean="0"/>
              <a:t>arr</a:t>
            </a:r>
            <a:r>
              <a:rPr lang="en-US" sz="2200" b="1" dirty="0" smtClean="0"/>
              <a:t>[i]</a:t>
            </a:r>
          </a:p>
          <a:p>
            <a:pPr>
              <a:buNone/>
            </a:pPr>
            <a:r>
              <a:rPr lang="en-US" sz="2200" dirty="0" smtClean="0"/>
              <a:t>           for (int j = 0; j &lt; n; j++)</a:t>
            </a:r>
          </a:p>
          <a:p>
            <a:pPr>
              <a:buNone/>
            </a:pPr>
            <a:r>
              <a:rPr lang="en-US" sz="2200" dirty="0" smtClean="0"/>
              <a:t>          {</a:t>
            </a:r>
          </a:p>
          <a:p>
            <a:pPr>
              <a:buNone/>
            </a:pPr>
            <a:r>
              <a:rPr lang="en-US" sz="2200" dirty="0" smtClean="0"/>
              <a:t>               if (</a:t>
            </a:r>
            <a:r>
              <a:rPr lang="en-US" sz="2200" dirty="0" err="1" smtClean="0"/>
              <a:t>arr</a:t>
            </a:r>
            <a:r>
              <a:rPr lang="en-US" sz="2200" dirty="0" smtClean="0"/>
              <a:t>[j] == </a:t>
            </a:r>
            <a:r>
              <a:rPr lang="en-US" sz="2200" dirty="0" err="1" smtClean="0"/>
              <a:t>arr</a:t>
            </a:r>
            <a:r>
              <a:rPr lang="en-US" sz="2200" dirty="0" smtClean="0"/>
              <a:t>[i]) {</a:t>
            </a:r>
          </a:p>
          <a:p>
            <a:pPr>
              <a:buNone/>
            </a:pPr>
            <a:r>
              <a:rPr lang="en-US" sz="2200" dirty="0" smtClean="0"/>
              <a:t>                 count++;</a:t>
            </a:r>
          </a:p>
          <a:p>
            <a:pPr>
              <a:buNone/>
            </a:pPr>
            <a:r>
              <a:rPr lang="en-US" sz="2200" dirty="0" smtClean="0"/>
              <a:t>            }     </a:t>
            </a:r>
          </a:p>
          <a:p>
            <a:pPr>
              <a:buNone/>
            </a:pPr>
            <a:r>
              <a:rPr lang="en-US" sz="2200" dirty="0" smtClean="0"/>
              <a:t>       }</a:t>
            </a:r>
          </a:p>
          <a:p>
            <a:pPr>
              <a:buNone/>
            </a:pPr>
            <a:endParaRPr lang="en-US" sz="2200" dirty="0" smtClean="0"/>
          </a:p>
        </p:txBody>
      </p:sp>
      <p:sp>
        <p:nvSpPr>
          <p:cNvPr id="4" name="Rectangle 3"/>
          <p:cNvSpPr/>
          <p:nvPr/>
        </p:nvSpPr>
        <p:spPr>
          <a:xfrm>
            <a:off x="5257800" y="990600"/>
            <a:ext cx="3581400" cy="34778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sz="2200" b="1" dirty="0" smtClean="0"/>
              <a:t> // Check if it's the majority element</a:t>
            </a:r>
          </a:p>
          <a:p>
            <a:pPr>
              <a:buNone/>
            </a:pPr>
            <a:r>
              <a:rPr lang="en-US" sz="2200" dirty="0" smtClean="0"/>
              <a:t>        if (count &gt; n / 2) {</a:t>
            </a:r>
          </a:p>
          <a:p>
            <a:pPr>
              <a:buNone/>
            </a:pPr>
            <a:r>
              <a:rPr lang="en-US" sz="2200" dirty="0" smtClean="0"/>
              <a:t>            return </a:t>
            </a:r>
            <a:r>
              <a:rPr lang="en-US" sz="2200" dirty="0" err="1" smtClean="0"/>
              <a:t>arr</a:t>
            </a:r>
            <a:r>
              <a:rPr lang="en-US" sz="2200" dirty="0" smtClean="0"/>
              <a:t>[i];</a:t>
            </a:r>
          </a:p>
          <a:p>
            <a:pPr>
              <a:buNone/>
            </a:pPr>
            <a:r>
              <a:rPr lang="en-US" sz="2200" dirty="0" smtClean="0"/>
              <a:t>        }</a:t>
            </a:r>
          </a:p>
          <a:p>
            <a:pPr>
              <a:buNone/>
            </a:pPr>
            <a:r>
              <a:rPr lang="en-US" sz="2200" dirty="0" smtClean="0"/>
              <a:t>    }</a:t>
            </a:r>
          </a:p>
          <a:p>
            <a:pPr>
              <a:buNone/>
            </a:pPr>
            <a:endParaRPr lang="en-US" sz="2200" dirty="0" smtClean="0"/>
          </a:p>
          <a:p>
            <a:pPr>
              <a:buNone/>
            </a:pPr>
            <a:r>
              <a:rPr lang="en-US" sz="2200" dirty="0" smtClean="0"/>
              <a:t>    return -1; </a:t>
            </a:r>
            <a:r>
              <a:rPr lang="en-US" sz="2200" b="1" dirty="0" smtClean="0"/>
              <a:t>// No majority element found</a:t>
            </a:r>
          </a:p>
          <a:p>
            <a:pPr>
              <a:buNone/>
            </a:pPr>
            <a:r>
              <a:rPr lang="en-US" sz="2200" dirty="0" smtClean="0"/>
              <a:t>}</a:t>
            </a:r>
          </a:p>
        </p:txBody>
      </p:sp>
      <p:sp>
        <p:nvSpPr>
          <p:cNvPr id="5" name="Rectangle 4"/>
          <p:cNvSpPr/>
          <p:nvPr/>
        </p:nvSpPr>
        <p:spPr>
          <a:xfrm>
            <a:off x="5410200" y="4953000"/>
            <a:ext cx="3733800" cy="830997"/>
          </a:xfrm>
          <a:prstGeom prst="rect">
            <a:avLst/>
          </a:prstGeom>
        </p:spPr>
        <p:txBody>
          <a:bodyPr wrap="square">
            <a:spAutoFit/>
          </a:bodyPr>
          <a:lstStyle/>
          <a:p>
            <a:r>
              <a:rPr lang="en-US" sz="2400" b="1" dirty="0" smtClean="0"/>
              <a:t>O(N²) time complexity &amp;</a:t>
            </a:r>
            <a:r>
              <a:rPr lang="en-US" sz="2400" dirty="0" smtClean="0"/>
              <a:t> </a:t>
            </a:r>
            <a:r>
              <a:rPr lang="en-US" sz="2400" b="1" dirty="0" smtClean="0"/>
              <a:t>O(1) space complexity</a:t>
            </a:r>
            <a:r>
              <a:rPr lang="en-US" sz="2400" dirty="0" smtClean="0"/>
              <a:t>.</a:t>
            </a: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p:txBody>
          <a:bodyPr>
            <a:normAutofit fontScale="97500"/>
          </a:bodyPr>
          <a:lstStyle/>
          <a:p>
            <a:pPr algn="ctr">
              <a:buNone/>
            </a:pPr>
            <a:r>
              <a:rPr lang="en-US" sz="5500" b="1" dirty="0" smtClean="0"/>
              <a:t>find the majority element using sorting approach</a:t>
            </a:r>
          </a:p>
          <a:p>
            <a:pPr>
              <a:buNone/>
            </a:pPr>
            <a:r>
              <a:rPr lang="en-US" dirty="0" smtClean="0"/>
              <a:t/>
            </a:r>
            <a:br>
              <a:rPr lang="en-US" dirty="0" smtClean="0"/>
            </a:b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finding majority element and analysis </a:t>
            </a:r>
            <a:br>
              <a:rPr lang="en-US" dirty="0" smtClean="0"/>
            </a:br>
            <a:endParaRPr lang="en-US" dirty="0"/>
          </a:p>
        </p:txBody>
      </p:sp>
      <p:sp>
        <p:nvSpPr>
          <p:cNvPr id="3" name="Content Placeholder 2"/>
          <p:cNvSpPr>
            <a:spLocks noGrp="1"/>
          </p:cNvSpPr>
          <p:nvPr>
            <p:ph idx="1"/>
          </p:nvPr>
        </p:nvSpPr>
        <p:spPr>
          <a:xfrm>
            <a:off x="457200" y="990600"/>
            <a:ext cx="4724400" cy="5715000"/>
          </a:xfrm>
        </p:spPr>
        <p:style>
          <a:lnRef idx="2">
            <a:schemeClr val="dk1"/>
          </a:lnRef>
          <a:fillRef idx="1">
            <a:schemeClr val="lt1"/>
          </a:fillRef>
          <a:effectRef idx="0">
            <a:schemeClr val="dk1"/>
          </a:effectRef>
          <a:fontRef idx="minor">
            <a:schemeClr val="dk1"/>
          </a:fontRef>
        </p:style>
        <p:txBody>
          <a:bodyPr>
            <a:noAutofit/>
          </a:bodyPr>
          <a:lstStyle/>
          <a:p>
            <a:pPr>
              <a:buNone/>
            </a:pPr>
            <a:r>
              <a:rPr lang="en-US" sz="2200" b="1" dirty="0" smtClean="0"/>
              <a:t>// find the majority element </a:t>
            </a:r>
            <a:r>
              <a:rPr lang="en-US" sz="2200" b="1" dirty="0" smtClean="0">
                <a:solidFill>
                  <a:srgbClr val="FF0000"/>
                </a:solidFill>
              </a:rPr>
              <a:t>using sorting</a:t>
            </a:r>
          </a:p>
          <a:p>
            <a:pPr>
              <a:buNone/>
            </a:pPr>
            <a:r>
              <a:rPr lang="en-US" sz="2200" dirty="0" smtClean="0"/>
              <a:t>int </a:t>
            </a:r>
            <a:r>
              <a:rPr lang="en-US" sz="2200" dirty="0" err="1" smtClean="0"/>
              <a:t>findMajorityElement</a:t>
            </a:r>
            <a:r>
              <a:rPr lang="en-US" sz="2200" dirty="0" smtClean="0"/>
              <a:t>(int </a:t>
            </a:r>
            <a:r>
              <a:rPr lang="en-US" sz="2200" dirty="0" err="1" smtClean="0"/>
              <a:t>arr</a:t>
            </a:r>
            <a:r>
              <a:rPr lang="en-US" sz="2200" dirty="0" smtClean="0"/>
              <a:t>[], int n) {</a:t>
            </a:r>
          </a:p>
          <a:p>
            <a:pPr>
              <a:buNone/>
            </a:pPr>
            <a:r>
              <a:rPr lang="en-US" sz="2200" dirty="0" smtClean="0"/>
              <a:t>    </a:t>
            </a:r>
            <a:r>
              <a:rPr lang="en-US" sz="2200" b="1" dirty="0" smtClean="0"/>
              <a:t>// Step 1: Sort the array</a:t>
            </a:r>
          </a:p>
          <a:p>
            <a:pPr>
              <a:buNone/>
            </a:pPr>
            <a:r>
              <a:rPr lang="en-US" sz="2200" dirty="0" smtClean="0"/>
              <a:t>    </a:t>
            </a:r>
            <a:r>
              <a:rPr lang="en-US" sz="2200" dirty="0" err="1" smtClean="0"/>
              <a:t>qsort</a:t>
            </a:r>
            <a:r>
              <a:rPr lang="en-US" sz="2200" dirty="0" smtClean="0"/>
              <a:t>(</a:t>
            </a:r>
            <a:r>
              <a:rPr lang="en-US" sz="2200" dirty="0" err="1" smtClean="0"/>
              <a:t>arr</a:t>
            </a:r>
            <a:r>
              <a:rPr lang="en-US" sz="2200" dirty="0" smtClean="0"/>
              <a:t>, n, </a:t>
            </a:r>
            <a:r>
              <a:rPr lang="en-US" sz="2200" dirty="0" err="1" smtClean="0"/>
              <a:t>sizeof</a:t>
            </a:r>
            <a:r>
              <a:rPr lang="en-US" sz="2200" dirty="0" smtClean="0"/>
              <a:t>(int), compare);</a:t>
            </a:r>
          </a:p>
          <a:p>
            <a:pPr>
              <a:buNone/>
            </a:pPr>
            <a:r>
              <a:rPr lang="en-US" sz="2200" b="1" dirty="0" smtClean="0"/>
              <a:t>    // Step 2: Candidate is the middle element</a:t>
            </a:r>
          </a:p>
          <a:p>
            <a:pPr>
              <a:buNone/>
            </a:pPr>
            <a:r>
              <a:rPr lang="en-US" sz="2200" dirty="0" smtClean="0"/>
              <a:t>    int candidate = </a:t>
            </a:r>
            <a:r>
              <a:rPr lang="en-US" sz="2200" dirty="0" err="1" smtClean="0"/>
              <a:t>arr</a:t>
            </a:r>
            <a:r>
              <a:rPr lang="en-US" sz="2200" dirty="0" smtClean="0"/>
              <a:t>[n / 2];</a:t>
            </a:r>
          </a:p>
          <a:p>
            <a:pPr>
              <a:buNone/>
            </a:pPr>
            <a:r>
              <a:rPr lang="en-US" sz="2200" b="1" dirty="0" smtClean="0"/>
              <a:t>    // Step 3: Count occurrences of candidate</a:t>
            </a:r>
          </a:p>
          <a:p>
            <a:pPr>
              <a:buNone/>
            </a:pPr>
            <a:r>
              <a:rPr lang="en-US" sz="2200" dirty="0" smtClean="0"/>
              <a:t>    int count = 0;</a:t>
            </a:r>
          </a:p>
          <a:p>
            <a:pPr>
              <a:buNone/>
            </a:pPr>
            <a:r>
              <a:rPr lang="en-US" sz="2200" dirty="0" smtClean="0"/>
              <a:t>    for (int i = 0; i &lt; n; i++) {</a:t>
            </a:r>
          </a:p>
          <a:p>
            <a:pPr>
              <a:buNone/>
            </a:pPr>
            <a:r>
              <a:rPr lang="en-US" sz="2200" dirty="0" smtClean="0"/>
              <a:t>        if (</a:t>
            </a:r>
            <a:r>
              <a:rPr lang="en-US" sz="2200" dirty="0" err="1" smtClean="0"/>
              <a:t>arr</a:t>
            </a:r>
            <a:r>
              <a:rPr lang="en-US" sz="2200" dirty="0" smtClean="0"/>
              <a:t>[i] == candidate) {</a:t>
            </a:r>
          </a:p>
          <a:p>
            <a:pPr>
              <a:buNone/>
            </a:pPr>
            <a:r>
              <a:rPr lang="en-US" sz="2200" dirty="0" smtClean="0"/>
              <a:t>            count++;       }    }</a:t>
            </a:r>
          </a:p>
          <a:p>
            <a:pPr>
              <a:buNone/>
            </a:pPr>
            <a:endParaRPr lang="en-US" sz="2200" dirty="0" smtClean="0"/>
          </a:p>
          <a:p>
            <a:pPr>
              <a:buNone/>
            </a:pPr>
            <a:endParaRPr lang="en-US" sz="2200" dirty="0" smtClean="0"/>
          </a:p>
          <a:p>
            <a:pPr>
              <a:buNone/>
            </a:pPr>
            <a:endParaRPr lang="en-US" sz="2200" dirty="0" smtClean="0"/>
          </a:p>
          <a:p>
            <a:pPr>
              <a:buNone/>
            </a:pPr>
            <a:endParaRPr lang="en-US" sz="2200" dirty="0" smtClean="0"/>
          </a:p>
        </p:txBody>
      </p:sp>
      <p:sp>
        <p:nvSpPr>
          <p:cNvPr id="4" name="Rectangle 3"/>
          <p:cNvSpPr/>
          <p:nvPr/>
        </p:nvSpPr>
        <p:spPr>
          <a:xfrm>
            <a:off x="5257800" y="990600"/>
            <a:ext cx="3581400" cy="313932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sz="2200" b="1" dirty="0" smtClean="0"/>
              <a:t>  // Step 4: Verify majority condition</a:t>
            </a:r>
          </a:p>
          <a:p>
            <a:pPr>
              <a:buNone/>
            </a:pPr>
            <a:r>
              <a:rPr lang="en-US" sz="2200" dirty="0" smtClean="0"/>
              <a:t>    if (count &gt; n / 2) {</a:t>
            </a:r>
          </a:p>
          <a:p>
            <a:pPr>
              <a:buNone/>
            </a:pPr>
            <a:r>
              <a:rPr lang="en-US" sz="2200" dirty="0" smtClean="0"/>
              <a:t>        return candidate;</a:t>
            </a:r>
          </a:p>
          <a:p>
            <a:pPr>
              <a:buNone/>
            </a:pPr>
            <a:r>
              <a:rPr lang="en-US" sz="2200" dirty="0" smtClean="0"/>
              <a:t>    }</a:t>
            </a:r>
          </a:p>
          <a:p>
            <a:pPr>
              <a:buNone/>
            </a:pPr>
            <a:endParaRPr lang="en-US" sz="2200" dirty="0" smtClean="0"/>
          </a:p>
          <a:p>
            <a:pPr>
              <a:buNone/>
            </a:pPr>
            <a:r>
              <a:rPr lang="en-US" sz="2200" dirty="0" smtClean="0"/>
              <a:t>    return -1; </a:t>
            </a:r>
            <a:r>
              <a:rPr lang="en-US" sz="2200" b="1" dirty="0" smtClean="0"/>
              <a:t>// No majority element</a:t>
            </a:r>
          </a:p>
          <a:p>
            <a:pPr>
              <a:buNone/>
            </a:pPr>
            <a:r>
              <a:rPr lang="en-US" sz="2200" dirty="0" smtClean="0"/>
              <a:t>}</a:t>
            </a:r>
          </a:p>
        </p:txBody>
      </p:sp>
      <p:sp>
        <p:nvSpPr>
          <p:cNvPr id="5" name="Rectangle 4"/>
          <p:cNvSpPr/>
          <p:nvPr/>
        </p:nvSpPr>
        <p:spPr>
          <a:xfrm>
            <a:off x="5410200" y="4953000"/>
            <a:ext cx="3733800" cy="830997"/>
          </a:xfrm>
          <a:prstGeom prst="rect">
            <a:avLst/>
          </a:prstGeom>
        </p:spPr>
        <p:txBody>
          <a:bodyPr wrap="square">
            <a:spAutoFit/>
          </a:bodyPr>
          <a:lstStyle/>
          <a:p>
            <a:r>
              <a:rPr lang="en-US" sz="2400" b="1" dirty="0" smtClean="0"/>
              <a:t>O(N log N) time complexity &amp;</a:t>
            </a:r>
            <a:r>
              <a:rPr lang="en-US" sz="2400" dirty="0" smtClean="0"/>
              <a:t> </a:t>
            </a:r>
            <a:r>
              <a:rPr lang="en-US" sz="2400" b="1" dirty="0" smtClean="0"/>
              <a:t>O(1) space complexity</a:t>
            </a:r>
            <a:r>
              <a:rPr lang="en-US" sz="2400" dirty="0" smtClean="0"/>
              <a:t>.</a:t>
            </a:r>
            <a:endParaRPr 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p:txBody>
          <a:bodyPr>
            <a:normAutofit fontScale="97500"/>
          </a:bodyPr>
          <a:lstStyle/>
          <a:p>
            <a:pPr algn="ctr">
              <a:buNone/>
            </a:pPr>
            <a:r>
              <a:rPr lang="en-US" sz="5500" b="1" dirty="0" smtClean="0"/>
              <a:t>find the majority element using Divide and Conquer Approach </a:t>
            </a:r>
          </a:p>
          <a:p>
            <a:pPr>
              <a:buNone/>
            </a:pPr>
            <a:r>
              <a:rPr lang="en-US" dirty="0" smtClean="0"/>
              <a:t/>
            </a:r>
            <a:br>
              <a:rPr lang="en-US" dirty="0" smtClean="0"/>
            </a:b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Divide and Conquer Approach for Finding Majority Element </a:t>
            </a:r>
            <a:br>
              <a:rPr lang="en-US" dirty="0" smtClean="0"/>
            </a:br>
            <a:endParaRPr lang="en-US" dirty="0"/>
          </a:p>
        </p:txBody>
      </p:sp>
      <p:sp>
        <p:nvSpPr>
          <p:cNvPr id="6" name="Content Placeholder 5"/>
          <p:cNvSpPr>
            <a:spLocks noGrp="1"/>
          </p:cNvSpPr>
          <p:nvPr>
            <p:ph idx="1"/>
          </p:nvPr>
        </p:nvSpPr>
        <p:spPr>
          <a:xfrm>
            <a:off x="457200" y="1600200"/>
            <a:ext cx="8229600" cy="4525963"/>
          </a:xfrm>
        </p:spPr>
        <p:txBody>
          <a:bodyPr>
            <a:normAutofit fontScale="92500" lnSpcReduction="10000"/>
          </a:bodyPr>
          <a:lstStyle/>
          <a:p>
            <a:r>
              <a:rPr lang="en-US" b="1" dirty="0" smtClean="0"/>
              <a:t>Algorithm</a:t>
            </a:r>
          </a:p>
          <a:p>
            <a:r>
              <a:rPr lang="en-US" b="1" dirty="0" smtClean="0"/>
              <a:t>Divide:</a:t>
            </a:r>
            <a:r>
              <a:rPr lang="en-US" dirty="0" smtClean="0"/>
              <a:t> Split the array into two halves.</a:t>
            </a:r>
          </a:p>
          <a:p>
            <a:r>
              <a:rPr lang="en-US" b="1" dirty="0" smtClean="0"/>
              <a:t>Conquer:</a:t>
            </a:r>
            <a:r>
              <a:rPr lang="en-US" dirty="0" smtClean="0"/>
              <a:t> Recursively find the majority element in both halves.</a:t>
            </a:r>
          </a:p>
          <a:p>
            <a:r>
              <a:rPr lang="en-US" b="1" dirty="0" smtClean="0"/>
              <a:t>Combine:</a:t>
            </a:r>
            <a:endParaRPr lang="en-US" dirty="0" smtClean="0"/>
          </a:p>
          <a:p>
            <a:pPr lvl="1"/>
            <a:r>
              <a:rPr lang="en-US" dirty="0" smtClean="0"/>
              <a:t>If both halves return the same element, it is the majority.</a:t>
            </a:r>
          </a:p>
          <a:p>
            <a:pPr lvl="1"/>
            <a:r>
              <a:rPr lang="en-US" dirty="0" smtClean="0"/>
              <a:t>Otherwise, count occurrences of both candidates in the entire range and return the one that appears more than </a:t>
            </a:r>
            <a:r>
              <a:rPr lang="en-US" b="1" dirty="0" smtClean="0"/>
              <a:t>N/2</a:t>
            </a:r>
            <a:r>
              <a:rPr lang="en-US" dirty="0" smtClean="0"/>
              <a:t> times.</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Autofit/>
          </a:bodyPr>
          <a:lstStyle/>
          <a:p>
            <a:r>
              <a:rPr lang="en-US" sz="2400" b="1" dirty="0" smtClean="0"/>
              <a:t>Divide and Conquer Approach for Finding Majority Element </a:t>
            </a:r>
            <a:br>
              <a:rPr lang="en-US" sz="2400" b="1" dirty="0" smtClean="0"/>
            </a:br>
            <a:endParaRPr lang="en-US" sz="2400" b="1" dirty="0"/>
          </a:p>
        </p:txBody>
      </p:sp>
      <p:sp>
        <p:nvSpPr>
          <p:cNvPr id="6" name="Content Placeholder 5"/>
          <p:cNvSpPr>
            <a:spLocks noGrp="1"/>
          </p:cNvSpPr>
          <p:nvPr>
            <p:ph idx="1"/>
          </p:nvPr>
        </p:nvSpPr>
        <p:spPr>
          <a:xfrm>
            <a:off x="457200" y="762000"/>
            <a:ext cx="8382000" cy="6096000"/>
          </a:xfrm>
          <a:ln>
            <a:noFill/>
          </a:ln>
        </p:spPr>
        <p:style>
          <a:lnRef idx="2">
            <a:schemeClr val="dk1"/>
          </a:lnRef>
          <a:fillRef idx="1">
            <a:schemeClr val="lt1"/>
          </a:fillRef>
          <a:effectRef idx="0">
            <a:schemeClr val="dk1"/>
          </a:effectRef>
          <a:fontRef idx="minor">
            <a:schemeClr val="dk1"/>
          </a:fontRef>
        </p:style>
        <p:txBody>
          <a:bodyPr>
            <a:noAutofit/>
          </a:bodyPr>
          <a:lstStyle/>
          <a:p>
            <a:pPr>
              <a:buNone/>
            </a:pPr>
            <a:r>
              <a:rPr lang="en-US" sz="2000" b="1" dirty="0" smtClean="0"/>
              <a:t>// Function to find the majority element using Divide and Conquer</a:t>
            </a:r>
          </a:p>
          <a:p>
            <a:pPr>
              <a:buNone/>
            </a:pPr>
            <a:r>
              <a:rPr lang="en-US" sz="2000" dirty="0" smtClean="0"/>
              <a:t>int </a:t>
            </a:r>
            <a:r>
              <a:rPr lang="en-US" sz="2000" dirty="0" err="1" smtClean="0"/>
              <a:t>findMajorityElementDC</a:t>
            </a:r>
            <a:r>
              <a:rPr lang="en-US" sz="2000" dirty="0" smtClean="0"/>
              <a:t>(int </a:t>
            </a:r>
            <a:r>
              <a:rPr lang="en-US" sz="2000" dirty="0" err="1" smtClean="0"/>
              <a:t>arr</a:t>
            </a:r>
            <a:r>
              <a:rPr lang="en-US" sz="2000" dirty="0" smtClean="0"/>
              <a:t>[], int left, int right) {</a:t>
            </a:r>
          </a:p>
          <a:p>
            <a:pPr>
              <a:buNone/>
            </a:pPr>
            <a:r>
              <a:rPr lang="en-US" sz="2000" dirty="0" smtClean="0"/>
              <a:t>    </a:t>
            </a:r>
            <a:r>
              <a:rPr lang="en-US" sz="2000" b="1" dirty="0" smtClean="0"/>
              <a:t>// Base case: If only one element, return it</a:t>
            </a:r>
          </a:p>
          <a:p>
            <a:pPr>
              <a:buNone/>
            </a:pPr>
            <a:r>
              <a:rPr lang="en-US" sz="2000" dirty="0" smtClean="0"/>
              <a:t>    if (left == right) {</a:t>
            </a:r>
          </a:p>
          <a:p>
            <a:pPr>
              <a:buNone/>
            </a:pPr>
            <a:r>
              <a:rPr lang="en-US" sz="2000" dirty="0" smtClean="0"/>
              <a:t>        return </a:t>
            </a:r>
            <a:r>
              <a:rPr lang="en-US" sz="2000" dirty="0" err="1" smtClean="0"/>
              <a:t>arr</a:t>
            </a:r>
            <a:r>
              <a:rPr lang="en-US" sz="2000" dirty="0" smtClean="0"/>
              <a:t>[left];</a:t>
            </a:r>
          </a:p>
          <a:p>
            <a:pPr>
              <a:buNone/>
            </a:pPr>
            <a:r>
              <a:rPr lang="en-US" sz="2000" dirty="0" smtClean="0"/>
              <a:t>    }</a:t>
            </a:r>
          </a:p>
          <a:p>
            <a:pPr>
              <a:buNone/>
            </a:pPr>
            <a:r>
              <a:rPr lang="en-US" sz="2000" dirty="0" smtClean="0">
                <a:solidFill>
                  <a:srgbClr val="FF0000"/>
                </a:solidFill>
              </a:rPr>
              <a:t>    // Step 1: Divide - Find the middle index</a:t>
            </a:r>
          </a:p>
          <a:p>
            <a:pPr>
              <a:buNone/>
            </a:pPr>
            <a:r>
              <a:rPr lang="en-US" sz="2000" dirty="0" smtClean="0"/>
              <a:t>    int mid = left + (right - left) / 2;</a:t>
            </a:r>
          </a:p>
          <a:p>
            <a:pPr>
              <a:buNone/>
            </a:pPr>
            <a:r>
              <a:rPr lang="en-US" sz="2000" dirty="0" smtClean="0">
                <a:solidFill>
                  <a:srgbClr val="FF0000"/>
                </a:solidFill>
              </a:rPr>
              <a:t>    // Step 2: Conquer - Recursively find majority elements in left and right halves</a:t>
            </a:r>
          </a:p>
          <a:p>
            <a:pPr>
              <a:buNone/>
            </a:pPr>
            <a:r>
              <a:rPr lang="en-US" sz="2000" dirty="0" smtClean="0"/>
              <a:t>    int </a:t>
            </a:r>
            <a:r>
              <a:rPr lang="en-US" sz="2000" dirty="0" err="1" smtClean="0"/>
              <a:t>leftMajor</a:t>
            </a:r>
            <a:r>
              <a:rPr lang="en-US" sz="2000" dirty="0" smtClean="0"/>
              <a:t> = </a:t>
            </a:r>
            <a:r>
              <a:rPr lang="en-US" sz="2000" dirty="0" err="1" smtClean="0"/>
              <a:t>findMajorityElementDC</a:t>
            </a:r>
            <a:r>
              <a:rPr lang="en-US" sz="2000" dirty="0" smtClean="0"/>
              <a:t>(</a:t>
            </a:r>
            <a:r>
              <a:rPr lang="en-US" sz="2000" dirty="0" err="1" smtClean="0"/>
              <a:t>arr</a:t>
            </a:r>
            <a:r>
              <a:rPr lang="en-US" sz="2000" dirty="0" smtClean="0"/>
              <a:t>, left, mid);</a:t>
            </a:r>
          </a:p>
          <a:p>
            <a:pPr>
              <a:buNone/>
            </a:pPr>
            <a:r>
              <a:rPr lang="en-US" sz="2000" dirty="0" smtClean="0"/>
              <a:t>    int </a:t>
            </a:r>
            <a:r>
              <a:rPr lang="en-US" sz="2000" dirty="0" err="1" smtClean="0"/>
              <a:t>rightMajor</a:t>
            </a:r>
            <a:r>
              <a:rPr lang="en-US" sz="2000" dirty="0" smtClean="0"/>
              <a:t> = </a:t>
            </a:r>
            <a:r>
              <a:rPr lang="en-US" sz="2000" dirty="0" err="1" smtClean="0"/>
              <a:t>findMajorityElementDC</a:t>
            </a:r>
            <a:r>
              <a:rPr lang="en-US" sz="2000" dirty="0" smtClean="0"/>
              <a:t>(</a:t>
            </a:r>
            <a:r>
              <a:rPr lang="en-US" sz="2000" dirty="0" err="1" smtClean="0"/>
              <a:t>arr</a:t>
            </a:r>
            <a:r>
              <a:rPr lang="en-US" sz="2000" dirty="0" smtClean="0"/>
              <a:t>, mid + 1, right);</a:t>
            </a:r>
          </a:p>
          <a:p>
            <a:pPr>
              <a:buNone/>
            </a:pPr>
            <a:r>
              <a:rPr lang="en-US" sz="2000" dirty="0" smtClean="0"/>
              <a:t>    </a:t>
            </a:r>
            <a:r>
              <a:rPr lang="en-US" sz="2000" dirty="0" smtClean="0">
                <a:solidFill>
                  <a:srgbClr val="FF0000"/>
                </a:solidFill>
              </a:rPr>
              <a:t>// Step 3: Combine - If both halves return the same majority element</a:t>
            </a:r>
          </a:p>
          <a:p>
            <a:pPr>
              <a:buNone/>
            </a:pPr>
            <a:r>
              <a:rPr lang="en-US" sz="2000" dirty="0" smtClean="0"/>
              <a:t>    if (</a:t>
            </a:r>
            <a:r>
              <a:rPr lang="en-US" sz="2000" dirty="0" err="1" smtClean="0"/>
              <a:t>leftMajor</a:t>
            </a:r>
            <a:r>
              <a:rPr lang="en-US" sz="2000" dirty="0" smtClean="0"/>
              <a:t> == </a:t>
            </a:r>
            <a:r>
              <a:rPr lang="en-US" sz="2000" dirty="0" err="1" smtClean="0"/>
              <a:t>rightMajor</a:t>
            </a:r>
            <a:r>
              <a:rPr lang="en-US" sz="2000" dirty="0" smtClean="0"/>
              <a:t>) {</a:t>
            </a:r>
          </a:p>
          <a:p>
            <a:pPr>
              <a:buNone/>
            </a:pPr>
            <a:r>
              <a:rPr lang="en-US" sz="2000" dirty="0" smtClean="0"/>
              <a:t>        return </a:t>
            </a:r>
            <a:r>
              <a:rPr lang="en-US" sz="2000" dirty="0" err="1" smtClean="0"/>
              <a:t>leftMajor</a:t>
            </a:r>
            <a:r>
              <a:rPr lang="en-US" sz="2000" dirty="0" smtClean="0"/>
              <a:t>;</a:t>
            </a:r>
          </a:p>
          <a:p>
            <a:pPr>
              <a:buNone/>
            </a:pPr>
            <a:r>
              <a:rPr lang="en-US" sz="2000" dirty="0" smtClean="0"/>
              <a:t>    }</a:t>
            </a:r>
          </a:p>
          <a:p>
            <a:pPr>
              <a:buNone/>
            </a:pPr>
            <a:endParaRPr lang="en-US" sz="2000" dirty="0" smtClean="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Divide and Conquer Approach for Finding Majority Element </a:t>
            </a:r>
            <a:br>
              <a:rPr lang="en-US" dirty="0" smtClean="0"/>
            </a:br>
            <a:endParaRPr lang="en-US" dirty="0"/>
          </a:p>
        </p:txBody>
      </p:sp>
      <p:sp>
        <p:nvSpPr>
          <p:cNvPr id="4" name="Rectangle 3"/>
          <p:cNvSpPr/>
          <p:nvPr/>
        </p:nvSpPr>
        <p:spPr>
          <a:xfrm>
            <a:off x="609600" y="1447800"/>
            <a:ext cx="8305800" cy="5262979"/>
          </a:xfrm>
          <a:prstGeom prst="rect">
            <a:avLst/>
          </a:prstGeom>
          <a:ln>
            <a:noFill/>
          </a:ln>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b="1" dirty="0" smtClean="0"/>
              <a:t> </a:t>
            </a:r>
            <a:r>
              <a:rPr lang="en-US" sz="2400" b="1" dirty="0" smtClean="0"/>
              <a:t>// Otherwise, count occurrences in the full range</a:t>
            </a:r>
          </a:p>
          <a:p>
            <a:pPr>
              <a:buNone/>
            </a:pPr>
            <a:r>
              <a:rPr lang="en-US" sz="2400" dirty="0" smtClean="0"/>
              <a:t>    int </a:t>
            </a:r>
            <a:r>
              <a:rPr lang="en-US" sz="2400" dirty="0" err="1" smtClean="0"/>
              <a:t>leftCount</a:t>
            </a:r>
            <a:r>
              <a:rPr lang="en-US" sz="2400" dirty="0" smtClean="0"/>
              <a:t> = </a:t>
            </a:r>
            <a:r>
              <a:rPr lang="en-US" sz="2400" dirty="0" err="1" smtClean="0"/>
              <a:t>countOccurrences</a:t>
            </a:r>
            <a:r>
              <a:rPr lang="en-US" sz="2400" dirty="0" smtClean="0"/>
              <a:t>(</a:t>
            </a:r>
            <a:r>
              <a:rPr lang="en-US" sz="2400" dirty="0" err="1" smtClean="0"/>
              <a:t>arr</a:t>
            </a:r>
            <a:r>
              <a:rPr lang="en-US" sz="2400" dirty="0" smtClean="0"/>
              <a:t>, left, right, </a:t>
            </a:r>
            <a:r>
              <a:rPr lang="en-US" sz="2400" dirty="0" err="1" smtClean="0"/>
              <a:t>leftMajor</a:t>
            </a:r>
            <a:r>
              <a:rPr lang="en-US" sz="2400" dirty="0" smtClean="0"/>
              <a:t>);</a:t>
            </a:r>
          </a:p>
          <a:p>
            <a:pPr>
              <a:buNone/>
            </a:pPr>
            <a:r>
              <a:rPr lang="en-US" sz="2400" dirty="0" smtClean="0"/>
              <a:t>    int </a:t>
            </a:r>
            <a:r>
              <a:rPr lang="en-US" sz="2400" dirty="0" err="1" smtClean="0"/>
              <a:t>rightCount</a:t>
            </a:r>
            <a:r>
              <a:rPr lang="en-US" sz="2400" dirty="0" smtClean="0"/>
              <a:t> = </a:t>
            </a:r>
            <a:r>
              <a:rPr lang="en-US" sz="2400" dirty="0" err="1" smtClean="0"/>
              <a:t>countOccurrences</a:t>
            </a:r>
            <a:r>
              <a:rPr lang="en-US" sz="2400" dirty="0" smtClean="0"/>
              <a:t>(</a:t>
            </a:r>
            <a:r>
              <a:rPr lang="en-US" sz="2400" dirty="0" err="1" smtClean="0"/>
              <a:t>arr</a:t>
            </a:r>
            <a:r>
              <a:rPr lang="en-US" sz="2400" dirty="0" smtClean="0"/>
              <a:t>, left, right, </a:t>
            </a:r>
            <a:r>
              <a:rPr lang="en-US" sz="2400" dirty="0" err="1" smtClean="0"/>
              <a:t>rightMajor</a:t>
            </a:r>
            <a:r>
              <a:rPr lang="en-US" sz="2400" dirty="0" smtClean="0"/>
              <a:t>);</a:t>
            </a:r>
          </a:p>
          <a:p>
            <a:pPr>
              <a:buNone/>
            </a:pPr>
            <a:endParaRPr lang="en-US" sz="2400" dirty="0" smtClean="0"/>
          </a:p>
          <a:p>
            <a:pPr>
              <a:buNone/>
            </a:pPr>
            <a:r>
              <a:rPr lang="en-US" sz="2400" b="1" dirty="0" smtClean="0"/>
              <a:t>    // Return the one that appears more than N/2 times</a:t>
            </a:r>
          </a:p>
          <a:p>
            <a:pPr>
              <a:buNone/>
            </a:pPr>
            <a:r>
              <a:rPr lang="en-US" sz="2400" dirty="0" smtClean="0"/>
              <a:t>    int size = right - left + 1;</a:t>
            </a:r>
          </a:p>
          <a:p>
            <a:pPr>
              <a:buNone/>
            </a:pPr>
            <a:r>
              <a:rPr lang="en-US" sz="2400" dirty="0" smtClean="0"/>
              <a:t>    if (</a:t>
            </a:r>
            <a:r>
              <a:rPr lang="en-US" sz="2400" dirty="0" err="1" smtClean="0"/>
              <a:t>leftCount</a:t>
            </a:r>
            <a:r>
              <a:rPr lang="en-US" sz="2400" dirty="0" smtClean="0"/>
              <a:t> &gt; size / 2) {</a:t>
            </a:r>
          </a:p>
          <a:p>
            <a:pPr>
              <a:buNone/>
            </a:pPr>
            <a:r>
              <a:rPr lang="en-US" sz="2400" dirty="0" smtClean="0"/>
              <a:t>        return </a:t>
            </a:r>
            <a:r>
              <a:rPr lang="en-US" sz="2400" dirty="0" err="1" smtClean="0"/>
              <a:t>leftMajor</a:t>
            </a:r>
            <a:r>
              <a:rPr lang="en-US" sz="2400" dirty="0" smtClean="0"/>
              <a:t>;</a:t>
            </a:r>
          </a:p>
          <a:p>
            <a:pPr>
              <a:buNone/>
            </a:pPr>
            <a:r>
              <a:rPr lang="en-US" sz="2400" dirty="0" smtClean="0"/>
              <a:t>    }</a:t>
            </a:r>
          </a:p>
          <a:p>
            <a:pPr>
              <a:buNone/>
            </a:pPr>
            <a:r>
              <a:rPr lang="en-US" sz="2400" dirty="0" smtClean="0"/>
              <a:t>    if (</a:t>
            </a:r>
            <a:r>
              <a:rPr lang="en-US" sz="2400" dirty="0" err="1" smtClean="0"/>
              <a:t>rightCount</a:t>
            </a:r>
            <a:r>
              <a:rPr lang="en-US" sz="2400" dirty="0" smtClean="0"/>
              <a:t> &gt; size / 2) {</a:t>
            </a:r>
          </a:p>
          <a:p>
            <a:pPr>
              <a:buNone/>
            </a:pPr>
            <a:r>
              <a:rPr lang="en-US" sz="2400" dirty="0" smtClean="0"/>
              <a:t>        return </a:t>
            </a:r>
            <a:r>
              <a:rPr lang="en-US" sz="2400" dirty="0" err="1" smtClean="0"/>
              <a:t>rightMajor</a:t>
            </a:r>
            <a:r>
              <a:rPr lang="en-US" sz="2400" dirty="0" smtClean="0"/>
              <a:t>;</a:t>
            </a:r>
          </a:p>
          <a:p>
            <a:pPr>
              <a:buNone/>
            </a:pPr>
            <a:r>
              <a:rPr lang="en-US" sz="2400" dirty="0" smtClean="0"/>
              <a:t>    }</a:t>
            </a:r>
          </a:p>
          <a:p>
            <a:pPr>
              <a:buNone/>
            </a:pPr>
            <a:r>
              <a:rPr lang="en-US" sz="2400" dirty="0" smtClean="0"/>
              <a:t>    return -1; // </a:t>
            </a:r>
            <a:r>
              <a:rPr lang="en-US" sz="2400" b="1" dirty="0" smtClean="0"/>
              <a:t>No majority element found</a:t>
            </a:r>
          </a:p>
          <a:p>
            <a:pPr>
              <a:buNone/>
            </a:pPr>
            <a:r>
              <a:rPr lang="en-US" sz="2400" dirty="0" smtClean="0"/>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Divide and Conquer Approach for Finding Majority Element </a:t>
            </a:r>
            <a:br>
              <a:rPr lang="en-US" dirty="0" smtClean="0"/>
            </a:br>
            <a:endParaRPr lang="en-US" dirty="0"/>
          </a:p>
        </p:txBody>
      </p:sp>
      <p:sp>
        <p:nvSpPr>
          <p:cNvPr id="6" name="Content Placeholder 5"/>
          <p:cNvSpPr>
            <a:spLocks noGrp="1"/>
          </p:cNvSpPr>
          <p:nvPr>
            <p:ph idx="1"/>
          </p:nvPr>
        </p:nvSpPr>
        <p:spPr>
          <a:xfrm>
            <a:off x="457200" y="1600200"/>
            <a:ext cx="8229600" cy="4525963"/>
          </a:xfrm>
        </p:spPr>
        <p:txBody>
          <a:bodyPr>
            <a:noAutofit/>
          </a:bodyPr>
          <a:lstStyle/>
          <a:p>
            <a:pPr>
              <a:buNone/>
            </a:pPr>
            <a:endParaRPr lang="en-US" sz="2400" dirty="0" smtClean="0"/>
          </a:p>
          <a:p>
            <a:pPr>
              <a:buNone/>
            </a:pPr>
            <a:r>
              <a:rPr lang="en-US" sz="2400" b="1" dirty="0" smtClean="0"/>
              <a:t>// Function to count occurrences of an element in the given range</a:t>
            </a:r>
          </a:p>
          <a:p>
            <a:pPr>
              <a:buNone/>
            </a:pPr>
            <a:r>
              <a:rPr lang="en-US" sz="2400" dirty="0" smtClean="0"/>
              <a:t>int </a:t>
            </a:r>
            <a:r>
              <a:rPr lang="en-US" sz="2400" dirty="0" err="1" smtClean="0"/>
              <a:t>countOccurrences</a:t>
            </a:r>
            <a:r>
              <a:rPr lang="en-US" sz="2400" dirty="0" smtClean="0"/>
              <a:t>(int </a:t>
            </a:r>
            <a:r>
              <a:rPr lang="en-US" sz="2400" dirty="0" err="1" smtClean="0"/>
              <a:t>arr</a:t>
            </a:r>
            <a:r>
              <a:rPr lang="en-US" sz="2400" dirty="0" smtClean="0"/>
              <a:t>[], int left, int right, int candidate) {</a:t>
            </a:r>
          </a:p>
          <a:p>
            <a:pPr>
              <a:buNone/>
            </a:pPr>
            <a:r>
              <a:rPr lang="en-US" sz="2400" dirty="0" smtClean="0"/>
              <a:t>    int count = 0;</a:t>
            </a:r>
          </a:p>
          <a:p>
            <a:pPr>
              <a:buNone/>
            </a:pPr>
            <a:r>
              <a:rPr lang="en-US" sz="2400" dirty="0" smtClean="0"/>
              <a:t>    for (int i = left; i &lt;= right; i++) {</a:t>
            </a:r>
          </a:p>
          <a:p>
            <a:pPr>
              <a:buNone/>
            </a:pPr>
            <a:r>
              <a:rPr lang="en-US" sz="2400" dirty="0" smtClean="0"/>
              <a:t>        if (</a:t>
            </a:r>
            <a:r>
              <a:rPr lang="en-US" sz="2400" dirty="0" err="1" smtClean="0"/>
              <a:t>arr</a:t>
            </a:r>
            <a:r>
              <a:rPr lang="en-US" sz="2400" dirty="0" smtClean="0"/>
              <a:t>[i] == candidate) {</a:t>
            </a:r>
          </a:p>
          <a:p>
            <a:pPr>
              <a:buNone/>
            </a:pPr>
            <a:r>
              <a:rPr lang="en-US" sz="2400" dirty="0" smtClean="0"/>
              <a:t>            count++;</a:t>
            </a:r>
          </a:p>
          <a:p>
            <a:pPr>
              <a:buNone/>
            </a:pPr>
            <a:r>
              <a:rPr lang="en-US" sz="2400" dirty="0" smtClean="0"/>
              <a:t>        }</a:t>
            </a:r>
          </a:p>
          <a:p>
            <a:pPr>
              <a:buNone/>
            </a:pPr>
            <a:r>
              <a:rPr lang="en-US" sz="2400" dirty="0" smtClean="0"/>
              <a:t>    }</a:t>
            </a:r>
          </a:p>
          <a:p>
            <a:pPr>
              <a:buNone/>
            </a:pPr>
            <a:r>
              <a:rPr lang="en-US" sz="2400" dirty="0" smtClean="0"/>
              <a:t>    return count;</a:t>
            </a:r>
          </a:p>
          <a:p>
            <a:pPr>
              <a:buNone/>
            </a:pPr>
            <a:r>
              <a:rPr lang="en-US" sz="2400" dirty="0" smtClean="0"/>
              <a:t>}</a:t>
            </a:r>
          </a:p>
          <a:p>
            <a:pPr>
              <a:buNone/>
            </a:pPr>
            <a:endParaRPr lang="en-US" sz="2400" dirty="0" smtClean="0"/>
          </a:p>
        </p:txBody>
      </p:sp>
      <p:sp>
        <p:nvSpPr>
          <p:cNvPr id="4" name="Rectangle 3"/>
          <p:cNvSpPr/>
          <p:nvPr/>
        </p:nvSpPr>
        <p:spPr>
          <a:xfrm>
            <a:off x="5410200" y="4800600"/>
            <a:ext cx="3429000" cy="101566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000" b="1" dirty="0" smtClean="0"/>
              <a:t>O(N log N) time complexity </a:t>
            </a:r>
            <a:r>
              <a:rPr lang="en-US" sz="2000" dirty="0" smtClean="0"/>
              <a:t>&amp; Space Complexity: O(log N) (for recursion stack)</a:t>
            </a:r>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57200" y="1905000"/>
            <a:ext cx="8229600" cy="4221163"/>
          </a:xfrm>
        </p:spPr>
        <p:txBody>
          <a:bodyPr>
            <a:noAutofit/>
          </a:bodyPr>
          <a:lstStyle/>
          <a:p>
            <a:r>
              <a:rPr lang="en-US" b="1" dirty="0" smtClean="0"/>
              <a:t>Step 1: Divide the Array</a:t>
            </a:r>
          </a:p>
          <a:p>
            <a:r>
              <a:rPr lang="en-US" dirty="0" smtClean="0"/>
              <a:t>We start with the full array:</a:t>
            </a:r>
            <a:br>
              <a:rPr lang="en-US" dirty="0" smtClean="0"/>
            </a:br>
            <a:r>
              <a:rPr lang="en-US" dirty="0" err="1" smtClean="0"/>
              <a:t>arr</a:t>
            </a:r>
            <a:r>
              <a:rPr lang="en-US" dirty="0" smtClean="0"/>
              <a:t>[] = {3, 3, 4, 2, 4, 4, 2, 4, 4}.</a:t>
            </a:r>
          </a:p>
          <a:p>
            <a:r>
              <a:rPr lang="en-US" dirty="0" smtClean="0"/>
              <a:t>Divide the array into two halves:</a:t>
            </a:r>
          </a:p>
          <a:p>
            <a:pPr lvl="1"/>
            <a:r>
              <a:rPr lang="en-US" dirty="0" smtClean="0"/>
              <a:t>Left half: {3, 3, 4, 2 ,4}</a:t>
            </a:r>
          </a:p>
          <a:p>
            <a:pPr lvl="1"/>
            <a:r>
              <a:rPr lang="en-US" dirty="0" smtClean="0"/>
              <a:t>Right half: { 4, 2, 4, 4}</a:t>
            </a:r>
          </a:p>
          <a:p>
            <a:pPr>
              <a:buNone/>
            </a:pPr>
            <a:endParaRPr lang="en-US" sz="2400" dirty="0" smtClean="0"/>
          </a:p>
        </p:txBody>
      </p:sp>
      <p:sp>
        <p:nvSpPr>
          <p:cNvPr id="5" name="Title 1"/>
          <p:cNvSpPr txBox="1">
            <a:spLocks/>
          </p:cNvSpPr>
          <p:nvPr/>
        </p:nvSpPr>
        <p:spPr>
          <a:xfrm>
            <a:off x="381000" y="838200"/>
            <a:ext cx="8229600" cy="563562"/>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smtClean="0">
                <a:ln>
                  <a:noFill/>
                </a:ln>
                <a:solidFill>
                  <a:schemeClr val="tx1"/>
                </a:solidFill>
                <a:effectLst/>
                <a:uLnTx/>
                <a:uFillTx/>
                <a:latin typeface="+mj-lt"/>
                <a:ea typeface="+mj-ea"/>
                <a:cs typeface="+mj-cs"/>
              </a:rPr>
              <a:t>Example:</a:t>
            </a:r>
            <a:r>
              <a:rPr kumimoji="0" lang="en-US" sz="2800" b="0" i="0" u="none" strike="noStrike" kern="1200" cap="none" spc="0" normalizeH="0" baseline="0" noProof="0" dirty="0" smtClean="0">
                <a:ln>
                  <a:noFill/>
                </a:ln>
                <a:solidFill>
                  <a:schemeClr val="tx1"/>
                </a:solidFill>
                <a:effectLst/>
                <a:uLnTx/>
                <a:uFillTx/>
                <a:latin typeface="+mj-lt"/>
                <a:ea typeface="+mj-ea"/>
                <a:cs typeface="+mj-cs"/>
              </a:rPr>
              <a:t/>
            </a:r>
            <a:br>
              <a:rPr kumimoji="0" lang="en-US" sz="2800" b="0" i="0" u="none" strike="noStrike" kern="1200" cap="none" spc="0" normalizeH="0" baseline="0" noProof="0" dirty="0" smtClean="0">
                <a:ln>
                  <a:noFill/>
                </a:ln>
                <a:solidFill>
                  <a:schemeClr val="tx1"/>
                </a:solidFill>
                <a:effectLst/>
                <a:uLnTx/>
                <a:uFillTx/>
                <a:latin typeface="+mj-lt"/>
                <a:ea typeface="+mj-ea"/>
                <a:cs typeface="+mj-cs"/>
              </a:rPr>
            </a:br>
            <a:r>
              <a:rPr kumimoji="0" lang="en-US" sz="2800" b="0" i="0" u="none" strike="noStrike" kern="1200" cap="none" spc="0" normalizeH="0" baseline="0" noProof="0" dirty="0" smtClean="0">
                <a:ln>
                  <a:noFill/>
                </a:ln>
                <a:solidFill>
                  <a:schemeClr val="tx1"/>
                </a:solidFill>
                <a:effectLst/>
                <a:uLnTx/>
                <a:uFillTx/>
                <a:latin typeface="+mj-lt"/>
                <a:ea typeface="+mj-ea"/>
                <a:cs typeface="+mj-cs"/>
              </a:rPr>
              <a:t>Consider the array: [3, 3, 4, 2, 4, 4, 2, 4, 4]</a:t>
            </a:r>
            <a:br>
              <a:rPr kumimoji="0" lang="en-US" sz="2800" b="0" i="0" u="none" strike="noStrike" kern="1200" cap="none" spc="0" normalizeH="0" baseline="0" noProof="0" dirty="0" smtClean="0">
                <a:ln>
                  <a:noFill/>
                </a:ln>
                <a:solidFill>
                  <a:schemeClr val="tx1"/>
                </a:solidFill>
                <a:effectLst/>
                <a:uLnTx/>
                <a:uFillTx/>
                <a:latin typeface="+mj-lt"/>
                <a:ea typeface="+mj-ea"/>
                <a:cs typeface="+mj-cs"/>
              </a:rPr>
            </a:br>
            <a:endParaRPr kumimoji="0" lang="en-US" sz="28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Divide and Conquer Approach for Finding Majority Element </a:t>
            </a:r>
            <a:br>
              <a:rPr lang="en-US" dirty="0" smtClean="0"/>
            </a:br>
            <a:endParaRPr lang="en-US" dirty="0"/>
          </a:p>
        </p:txBody>
      </p:sp>
      <p:sp>
        <p:nvSpPr>
          <p:cNvPr id="6" name="Content Placeholder 5"/>
          <p:cNvSpPr>
            <a:spLocks noGrp="1"/>
          </p:cNvSpPr>
          <p:nvPr>
            <p:ph idx="1"/>
          </p:nvPr>
        </p:nvSpPr>
        <p:spPr>
          <a:xfrm>
            <a:off x="457200" y="1600200"/>
            <a:ext cx="8229600" cy="4800600"/>
          </a:xfrm>
        </p:spPr>
        <p:txBody>
          <a:bodyPr>
            <a:noAutofit/>
          </a:bodyPr>
          <a:lstStyle/>
          <a:p>
            <a:r>
              <a:rPr lang="en-US" sz="2800" b="1" dirty="0" smtClean="0"/>
              <a:t>step 2: Recursively Divide Each Half</a:t>
            </a:r>
          </a:p>
          <a:p>
            <a:r>
              <a:rPr lang="en-US" sz="2800" b="1" dirty="0" smtClean="0"/>
              <a:t>Left Half: {3, 3, 4, 2,4}</a:t>
            </a:r>
            <a:endParaRPr lang="en-US" sz="2800" dirty="0" smtClean="0"/>
          </a:p>
          <a:p>
            <a:r>
              <a:rPr lang="en-US" sz="2800" dirty="0" smtClean="0"/>
              <a:t>Divide again into two halves:</a:t>
            </a:r>
          </a:p>
          <a:p>
            <a:pPr lvl="1"/>
            <a:r>
              <a:rPr lang="en-US" sz="2400" dirty="0" smtClean="0"/>
              <a:t>Left half: {3, 3,4}</a:t>
            </a:r>
          </a:p>
          <a:p>
            <a:pPr lvl="1"/>
            <a:r>
              <a:rPr lang="en-US" sz="2400" dirty="0" smtClean="0"/>
              <a:t>Right half: {2,4}</a:t>
            </a:r>
          </a:p>
          <a:p>
            <a:pPr lvl="1"/>
            <a:r>
              <a:rPr lang="en-US" sz="2400" dirty="0" smtClean="0"/>
              <a:t>For {3, 3,4},recursively divide into: </a:t>
            </a:r>
          </a:p>
          <a:p>
            <a:pPr lvl="2"/>
            <a:r>
              <a:rPr lang="en-US" sz="2000" dirty="0" smtClean="0"/>
              <a:t>{3} → Majority element is 3.</a:t>
            </a:r>
          </a:p>
          <a:p>
            <a:pPr lvl="2"/>
            <a:r>
              <a:rPr lang="en-US" sz="2000" dirty="0" smtClean="0"/>
              <a:t>{3} → Majority element is 3.</a:t>
            </a:r>
          </a:p>
          <a:p>
            <a:pPr lvl="2"/>
            <a:r>
              <a:rPr lang="en-US" sz="2000" dirty="0" smtClean="0"/>
              <a:t>{4} → Majority element is 4.</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Divide and Conquer Approach for Finding Majority Element </a:t>
            </a:r>
            <a:br>
              <a:rPr lang="en-US" dirty="0" smtClean="0"/>
            </a:br>
            <a:endParaRPr lang="en-US" dirty="0"/>
          </a:p>
        </p:txBody>
      </p:sp>
      <p:sp>
        <p:nvSpPr>
          <p:cNvPr id="6" name="Content Placeholder 5"/>
          <p:cNvSpPr>
            <a:spLocks noGrp="1"/>
          </p:cNvSpPr>
          <p:nvPr>
            <p:ph idx="1"/>
          </p:nvPr>
        </p:nvSpPr>
        <p:spPr>
          <a:xfrm>
            <a:off x="457200" y="1600200"/>
            <a:ext cx="8229600" cy="4525963"/>
          </a:xfrm>
        </p:spPr>
        <p:txBody>
          <a:bodyPr>
            <a:noAutofit/>
          </a:bodyPr>
          <a:lstStyle/>
          <a:p>
            <a:r>
              <a:rPr lang="en-US" sz="2800" dirty="0" smtClean="0"/>
              <a:t>Now combine:</a:t>
            </a:r>
          </a:p>
          <a:p>
            <a:pPr>
              <a:buNone/>
            </a:pPr>
            <a:r>
              <a:rPr lang="en-US" sz="2800" dirty="0" smtClean="0"/>
              <a:t>	</a:t>
            </a:r>
            <a:r>
              <a:rPr lang="en-US" sz="2800" dirty="0" err="1" smtClean="0"/>
              <a:t>leftMajor</a:t>
            </a:r>
            <a:r>
              <a:rPr lang="en-US" sz="2800" dirty="0" smtClean="0"/>
              <a:t> = 3, </a:t>
            </a:r>
            <a:r>
              <a:rPr lang="en-US" sz="2800" dirty="0" err="1" smtClean="0"/>
              <a:t>rightMajor</a:t>
            </a:r>
            <a:r>
              <a:rPr lang="en-US" sz="2800" dirty="0" smtClean="0"/>
              <a:t> = 3.</a:t>
            </a:r>
          </a:p>
          <a:p>
            <a:r>
              <a:rPr lang="en-US" sz="2800" dirty="0" smtClean="0"/>
              <a:t>Count occurrences of both in {3, 3}:</a:t>
            </a:r>
          </a:p>
          <a:p>
            <a:pPr lvl="1"/>
            <a:r>
              <a:rPr lang="en-US" sz="2400" dirty="0" smtClean="0"/>
              <a:t>3 occurs </a:t>
            </a:r>
            <a:r>
              <a:rPr lang="en-US" sz="2400" b="1" dirty="0" smtClean="0"/>
              <a:t>2 time</a:t>
            </a:r>
            <a:endParaRPr lang="en-US" sz="2400" dirty="0" smtClean="0"/>
          </a:p>
          <a:p>
            <a:pPr lvl="1"/>
            <a:r>
              <a:rPr lang="en-US" dirty="0" smtClean="0"/>
              <a:t>the majority element is 3</a:t>
            </a:r>
          </a:p>
          <a:p>
            <a:pPr marL="393700" lvl="1" indent="63500">
              <a:buNone/>
            </a:pPr>
            <a:r>
              <a:rPr lang="en-US" dirty="0" smtClean="0"/>
              <a:t>Now combine:</a:t>
            </a:r>
          </a:p>
          <a:p>
            <a:pPr>
              <a:buNone/>
            </a:pPr>
            <a:r>
              <a:rPr lang="en-US" sz="2800" dirty="0" err="1" smtClean="0"/>
              <a:t>leftMajor</a:t>
            </a:r>
            <a:r>
              <a:rPr lang="en-US" sz="2800" dirty="0" smtClean="0"/>
              <a:t> = 3, </a:t>
            </a:r>
            <a:r>
              <a:rPr lang="en-US" sz="2800" dirty="0" err="1" smtClean="0"/>
              <a:t>rightMajor</a:t>
            </a:r>
            <a:r>
              <a:rPr lang="en-US" sz="2800" dirty="0" smtClean="0"/>
              <a:t> = 4</a:t>
            </a:r>
          </a:p>
          <a:p>
            <a:r>
              <a:rPr lang="en-US" sz="2800" dirty="0" smtClean="0"/>
              <a:t>Count occurrences of both in {3, 3,4}:</a:t>
            </a:r>
          </a:p>
          <a:p>
            <a:pPr lvl="1"/>
            <a:r>
              <a:rPr lang="en-US" sz="2400" dirty="0" smtClean="0"/>
              <a:t>3 occurs </a:t>
            </a:r>
            <a:r>
              <a:rPr lang="en-US" sz="2400" b="1" dirty="0" smtClean="0"/>
              <a:t>2 time</a:t>
            </a:r>
            <a:r>
              <a:rPr lang="en-US" sz="2400" dirty="0" smtClean="0"/>
              <a:t>, 4 occurs </a:t>
            </a:r>
            <a:r>
              <a:rPr lang="en-US" sz="2400" b="1" dirty="0" smtClean="0"/>
              <a:t>1 time</a:t>
            </a:r>
            <a:r>
              <a:rPr lang="en-US" sz="2400" dirty="0" smtClean="0"/>
              <a:t>.</a:t>
            </a:r>
          </a:p>
          <a:p>
            <a:pPr lvl="1"/>
            <a:r>
              <a:rPr lang="en-US" sz="2400" dirty="0" smtClean="0"/>
              <a:t>the majority element is 3</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Divide and Conquer Approach for Finding Majority Element </a:t>
            </a:r>
            <a:br>
              <a:rPr lang="en-US" dirty="0" smtClean="0"/>
            </a:br>
            <a:endParaRPr lang="en-US" dirty="0"/>
          </a:p>
        </p:txBody>
      </p:sp>
      <p:sp>
        <p:nvSpPr>
          <p:cNvPr id="6" name="Content Placeholder 5"/>
          <p:cNvSpPr>
            <a:spLocks noGrp="1"/>
          </p:cNvSpPr>
          <p:nvPr>
            <p:ph idx="1"/>
          </p:nvPr>
        </p:nvSpPr>
        <p:spPr>
          <a:xfrm>
            <a:off x="457200" y="1295400"/>
            <a:ext cx="8229600" cy="4830763"/>
          </a:xfrm>
        </p:spPr>
        <p:txBody>
          <a:bodyPr>
            <a:noAutofit/>
          </a:bodyPr>
          <a:lstStyle/>
          <a:p>
            <a:r>
              <a:rPr lang="en-US" sz="2400" dirty="0" smtClean="0"/>
              <a:t>Same for Right Half: { 4, 2, 4, 4} </a:t>
            </a:r>
          </a:p>
          <a:p>
            <a:r>
              <a:rPr lang="en-US" sz="2400" dirty="0" smtClean="0"/>
              <a:t>4 is the majority element in this half.</a:t>
            </a:r>
          </a:p>
          <a:p>
            <a:r>
              <a:rPr lang="en-US" sz="2400" b="1" dirty="0" smtClean="0"/>
              <a:t>Step 3: Combine Left and Right Halves</a:t>
            </a:r>
          </a:p>
          <a:p>
            <a:pPr lvl="1"/>
            <a:r>
              <a:rPr lang="en-US" sz="2400" dirty="0" smtClean="0"/>
              <a:t>Now we combine results for the entire array:</a:t>
            </a:r>
          </a:p>
          <a:p>
            <a:pPr lvl="1"/>
            <a:r>
              <a:rPr lang="en-US" sz="2400" dirty="0" smtClean="0"/>
              <a:t>Left Major from {3, 3, 4, 2,4}: 3</a:t>
            </a:r>
          </a:p>
          <a:p>
            <a:pPr lvl="1"/>
            <a:r>
              <a:rPr lang="en-US" sz="2400" dirty="0" smtClean="0"/>
              <a:t>Right </a:t>
            </a:r>
            <a:r>
              <a:rPr lang="en-US" sz="2000" dirty="0" smtClean="0"/>
              <a:t>Major from { 4, 2, 4, 4}: 4</a:t>
            </a:r>
          </a:p>
          <a:p>
            <a:r>
              <a:rPr lang="en-US" dirty="0" smtClean="0"/>
              <a:t>Count occurrences of 3 and 4 in the entire array {3, 3, 4, 2, 4, 4, 2, 4, 4}:</a:t>
            </a:r>
          </a:p>
          <a:p>
            <a:r>
              <a:rPr lang="en-US" dirty="0" smtClean="0"/>
              <a:t>3 occurs </a:t>
            </a:r>
            <a:r>
              <a:rPr lang="en-US" b="1" dirty="0" smtClean="0"/>
              <a:t>2 times</a:t>
            </a:r>
            <a:r>
              <a:rPr lang="en-US" dirty="0" smtClean="0"/>
              <a:t>.</a:t>
            </a:r>
          </a:p>
          <a:p>
            <a:r>
              <a:rPr lang="en-US" dirty="0" smtClean="0"/>
              <a:t>4 occurs </a:t>
            </a:r>
            <a:r>
              <a:rPr lang="en-US" b="1" dirty="0" smtClean="0"/>
              <a:t>5 times</a:t>
            </a:r>
            <a:r>
              <a:rPr lang="en-US" dirty="0" smtClean="0"/>
              <a:t>.</a:t>
            </a:r>
          </a:p>
          <a:p>
            <a:pPr lvl="1"/>
            <a:r>
              <a:rPr lang="en-US" sz="2000" dirty="0" smtClean="0"/>
              <a:t>Since 4 appears more than 9/2 = 4.5 times, 4 is the </a:t>
            </a:r>
            <a:r>
              <a:rPr lang="en-US" sz="2000" b="1" dirty="0" smtClean="0"/>
              <a:t>majority element</a:t>
            </a:r>
            <a:r>
              <a:rPr lang="en-US" sz="2000" dirty="0" smtClean="0"/>
              <a:t>.</a:t>
            </a:r>
          </a:p>
          <a:p>
            <a:endParaRPr lang="en-US" sz="2400" dirty="0" smtClean="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p:txBody>
          <a:bodyPr>
            <a:normAutofit fontScale="97500"/>
          </a:bodyPr>
          <a:lstStyle/>
          <a:p>
            <a:pPr algn="ctr">
              <a:buNone/>
            </a:pPr>
            <a:r>
              <a:rPr lang="en-US" sz="5500" b="1" dirty="0" smtClean="0"/>
              <a:t>find the majority element using Boyer-Moore Voting Algorithm</a:t>
            </a:r>
          </a:p>
          <a:p>
            <a:pPr>
              <a:buNone/>
            </a:pPr>
            <a:r>
              <a:rPr lang="en-US" dirty="0" smtClean="0"/>
              <a:t/>
            </a:r>
            <a:br>
              <a:rPr lang="en-US" dirty="0" smtClean="0"/>
            </a:b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finding majority element and analysis</a:t>
            </a:r>
            <a:br>
              <a:rPr lang="en-US" dirty="0" smtClean="0"/>
            </a:br>
            <a:endParaRPr lang="en-US" dirty="0"/>
          </a:p>
        </p:txBody>
      </p:sp>
      <p:sp>
        <p:nvSpPr>
          <p:cNvPr id="3" name="Content Placeholder 2"/>
          <p:cNvSpPr>
            <a:spLocks noGrp="1"/>
          </p:cNvSpPr>
          <p:nvPr>
            <p:ph idx="1"/>
          </p:nvPr>
        </p:nvSpPr>
        <p:spPr>
          <a:xfrm>
            <a:off x="457200" y="990600"/>
            <a:ext cx="4572000" cy="5715000"/>
          </a:xfrm>
        </p:spPr>
        <p:style>
          <a:lnRef idx="2">
            <a:schemeClr val="dk1"/>
          </a:lnRef>
          <a:fillRef idx="1">
            <a:schemeClr val="lt1"/>
          </a:fillRef>
          <a:effectRef idx="0">
            <a:schemeClr val="dk1"/>
          </a:effectRef>
          <a:fontRef idx="minor">
            <a:schemeClr val="dk1"/>
          </a:fontRef>
        </p:style>
        <p:txBody>
          <a:bodyPr>
            <a:noAutofit/>
          </a:bodyPr>
          <a:lstStyle/>
          <a:p>
            <a:pPr>
              <a:buNone/>
            </a:pPr>
            <a:r>
              <a:rPr lang="en-US" sz="2200" b="1" dirty="0" smtClean="0"/>
              <a:t>//  find the majority element using </a:t>
            </a:r>
            <a:r>
              <a:rPr lang="en-US" sz="2200" b="1" dirty="0" smtClean="0">
                <a:solidFill>
                  <a:srgbClr val="FF0000"/>
                </a:solidFill>
              </a:rPr>
              <a:t>Boyer-Moore Voting Algorithm</a:t>
            </a:r>
          </a:p>
          <a:p>
            <a:pPr>
              <a:buNone/>
            </a:pPr>
            <a:r>
              <a:rPr lang="en-US" sz="2200" dirty="0" smtClean="0"/>
              <a:t>int </a:t>
            </a:r>
            <a:r>
              <a:rPr lang="en-US" sz="2200" dirty="0" err="1" smtClean="0"/>
              <a:t>findMajorityElement</a:t>
            </a:r>
            <a:r>
              <a:rPr lang="en-US" sz="2200" dirty="0" smtClean="0"/>
              <a:t>(int </a:t>
            </a:r>
            <a:r>
              <a:rPr lang="en-US" sz="2200" dirty="0" err="1" smtClean="0"/>
              <a:t>arr</a:t>
            </a:r>
            <a:r>
              <a:rPr lang="en-US" sz="2200" dirty="0" smtClean="0"/>
              <a:t>[], int n) {    </a:t>
            </a:r>
          </a:p>
          <a:p>
            <a:pPr>
              <a:buNone/>
            </a:pPr>
            <a:r>
              <a:rPr lang="en-US" sz="2200" dirty="0" smtClean="0"/>
              <a:t>      int candidate = -1, count = 0;</a:t>
            </a:r>
          </a:p>
          <a:p>
            <a:pPr>
              <a:buNone/>
            </a:pPr>
            <a:r>
              <a:rPr lang="en-US" sz="2200" b="1" dirty="0" smtClean="0"/>
              <a:t> // Phase 1: Find a candidate</a:t>
            </a:r>
          </a:p>
          <a:p>
            <a:pPr>
              <a:buNone/>
            </a:pPr>
            <a:r>
              <a:rPr lang="en-US" sz="2200" dirty="0" smtClean="0"/>
              <a:t>    for (int i = 0; i &lt; n; i++) {</a:t>
            </a:r>
          </a:p>
          <a:p>
            <a:pPr>
              <a:buNone/>
            </a:pPr>
            <a:r>
              <a:rPr lang="en-US" sz="2200" dirty="0" smtClean="0"/>
              <a:t>        if (count == 0) {</a:t>
            </a:r>
          </a:p>
          <a:p>
            <a:pPr>
              <a:buNone/>
            </a:pPr>
            <a:r>
              <a:rPr lang="en-US" sz="2200" dirty="0" smtClean="0"/>
              <a:t>            candidate = </a:t>
            </a:r>
            <a:r>
              <a:rPr lang="en-US" sz="2200" dirty="0" err="1" smtClean="0"/>
              <a:t>arr</a:t>
            </a:r>
            <a:r>
              <a:rPr lang="en-US" sz="2200" dirty="0" smtClean="0"/>
              <a:t>[i];</a:t>
            </a:r>
          </a:p>
          <a:p>
            <a:pPr>
              <a:buNone/>
            </a:pPr>
            <a:r>
              <a:rPr lang="en-US" sz="2200" dirty="0" smtClean="0"/>
              <a:t>            count = 1;</a:t>
            </a:r>
          </a:p>
          <a:p>
            <a:pPr>
              <a:buNone/>
            </a:pPr>
            <a:r>
              <a:rPr lang="en-US" sz="2200" dirty="0" smtClean="0"/>
              <a:t>        } else if (</a:t>
            </a:r>
            <a:r>
              <a:rPr lang="en-US" sz="2200" dirty="0" err="1" smtClean="0"/>
              <a:t>arr</a:t>
            </a:r>
            <a:r>
              <a:rPr lang="en-US" sz="2200" dirty="0" smtClean="0"/>
              <a:t>[i] == candidate) {</a:t>
            </a:r>
          </a:p>
          <a:p>
            <a:pPr>
              <a:buNone/>
            </a:pPr>
            <a:r>
              <a:rPr lang="en-US" sz="2200" dirty="0" smtClean="0"/>
              <a:t>            count++;</a:t>
            </a:r>
          </a:p>
          <a:p>
            <a:pPr>
              <a:buNone/>
            </a:pPr>
            <a:r>
              <a:rPr lang="en-US" sz="2200" dirty="0" smtClean="0"/>
              <a:t>        } else {</a:t>
            </a:r>
          </a:p>
          <a:p>
            <a:pPr>
              <a:buNone/>
            </a:pPr>
            <a:r>
              <a:rPr lang="en-US" sz="2200" dirty="0" smtClean="0"/>
              <a:t>            count--;        }}}</a:t>
            </a:r>
          </a:p>
          <a:p>
            <a:pPr>
              <a:buNone/>
            </a:pPr>
            <a:endParaRPr lang="en-US" sz="2200" dirty="0" smtClean="0"/>
          </a:p>
        </p:txBody>
      </p:sp>
      <p:sp>
        <p:nvSpPr>
          <p:cNvPr id="4" name="Rectangle 3"/>
          <p:cNvSpPr/>
          <p:nvPr/>
        </p:nvSpPr>
        <p:spPr>
          <a:xfrm>
            <a:off x="5257800" y="990600"/>
            <a:ext cx="3581400" cy="483209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sz="2200" b="1" dirty="0" smtClean="0"/>
              <a:t>// Phase 2: Verify the candidate</a:t>
            </a:r>
          </a:p>
          <a:p>
            <a:pPr>
              <a:buNone/>
            </a:pPr>
            <a:r>
              <a:rPr lang="en-US" sz="2200" dirty="0" smtClean="0"/>
              <a:t>    count = 0;</a:t>
            </a:r>
          </a:p>
          <a:p>
            <a:pPr>
              <a:buNone/>
            </a:pPr>
            <a:r>
              <a:rPr lang="en-US" sz="2200" dirty="0" smtClean="0"/>
              <a:t>    for (int i = 0; i &lt; n; i++) {</a:t>
            </a:r>
          </a:p>
          <a:p>
            <a:pPr>
              <a:buNone/>
            </a:pPr>
            <a:r>
              <a:rPr lang="en-US" sz="2200" dirty="0" smtClean="0"/>
              <a:t>        if (</a:t>
            </a:r>
            <a:r>
              <a:rPr lang="en-US" sz="2200" dirty="0" err="1" smtClean="0"/>
              <a:t>arr</a:t>
            </a:r>
            <a:r>
              <a:rPr lang="en-US" sz="2200" dirty="0" smtClean="0"/>
              <a:t>[i] == candidate) {</a:t>
            </a:r>
          </a:p>
          <a:p>
            <a:pPr>
              <a:buNone/>
            </a:pPr>
            <a:r>
              <a:rPr lang="en-US" sz="2200" dirty="0" smtClean="0"/>
              <a:t>            count++;</a:t>
            </a:r>
          </a:p>
          <a:p>
            <a:pPr>
              <a:buNone/>
            </a:pPr>
            <a:r>
              <a:rPr lang="en-US" sz="2200" dirty="0" smtClean="0"/>
              <a:t>        }    }</a:t>
            </a:r>
          </a:p>
          <a:p>
            <a:pPr>
              <a:buNone/>
            </a:pPr>
            <a:r>
              <a:rPr lang="en-US" sz="2200" b="1" dirty="0" smtClean="0"/>
              <a:t>    // Check if the candidate is a majority element</a:t>
            </a:r>
          </a:p>
          <a:p>
            <a:pPr>
              <a:buNone/>
            </a:pPr>
            <a:r>
              <a:rPr lang="en-US" sz="2200" dirty="0" smtClean="0"/>
              <a:t>    if (count &gt; n / 2) {</a:t>
            </a:r>
          </a:p>
          <a:p>
            <a:pPr>
              <a:buNone/>
            </a:pPr>
            <a:r>
              <a:rPr lang="en-US" sz="2200" dirty="0" smtClean="0"/>
              <a:t>        return candidate;</a:t>
            </a:r>
          </a:p>
          <a:p>
            <a:pPr>
              <a:buNone/>
            </a:pPr>
            <a:r>
              <a:rPr lang="en-US" sz="2200" dirty="0" smtClean="0"/>
              <a:t>    }</a:t>
            </a:r>
          </a:p>
          <a:p>
            <a:pPr>
              <a:buNone/>
            </a:pPr>
            <a:r>
              <a:rPr lang="en-US" sz="2200" dirty="0" smtClean="0"/>
              <a:t>    return -1; </a:t>
            </a:r>
            <a:r>
              <a:rPr lang="en-US" sz="2200" b="1" dirty="0" smtClean="0"/>
              <a:t>// No majority element found</a:t>
            </a:r>
          </a:p>
        </p:txBody>
      </p:sp>
      <p:sp>
        <p:nvSpPr>
          <p:cNvPr id="5" name="Rectangle 4"/>
          <p:cNvSpPr/>
          <p:nvPr/>
        </p:nvSpPr>
        <p:spPr>
          <a:xfrm>
            <a:off x="5486400" y="5867400"/>
            <a:ext cx="3429000" cy="707886"/>
          </a:xfrm>
          <a:prstGeom prst="rect">
            <a:avLst/>
          </a:prstGeom>
        </p:spPr>
        <p:txBody>
          <a:bodyPr wrap="square">
            <a:spAutoFit/>
          </a:bodyPr>
          <a:lstStyle/>
          <a:p>
            <a:r>
              <a:rPr lang="en-US" sz="2000" b="1" dirty="0" smtClean="0"/>
              <a:t>O(N) time</a:t>
            </a:r>
            <a:r>
              <a:rPr lang="en-US" sz="2000" dirty="0" smtClean="0"/>
              <a:t> </a:t>
            </a:r>
            <a:r>
              <a:rPr lang="en-US" sz="2000" b="1" dirty="0" smtClean="0"/>
              <a:t>complexity </a:t>
            </a:r>
            <a:r>
              <a:rPr lang="en-US" sz="2000" dirty="0" smtClean="0"/>
              <a:t>&amp;                 </a:t>
            </a:r>
            <a:r>
              <a:rPr lang="en-US" sz="2000" b="1" dirty="0" smtClean="0"/>
              <a:t>O(1) space</a:t>
            </a:r>
            <a:r>
              <a:rPr lang="en-US" sz="2000" dirty="0" smtClean="0"/>
              <a:t> </a:t>
            </a:r>
            <a:r>
              <a:rPr lang="en-US" sz="2000" b="1" dirty="0" smtClean="0"/>
              <a:t>complexity</a:t>
            </a:r>
            <a:endParaRPr lang="en-US" sz="2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2800" b="1" dirty="0" smtClean="0"/>
              <a:t>Example:</a:t>
            </a:r>
            <a:r>
              <a:rPr lang="en-US" sz="2800" dirty="0" smtClean="0"/>
              <a:t/>
            </a:r>
            <a:br>
              <a:rPr lang="en-US" sz="2800" dirty="0" smtClean="0"/>
            </a:br>
            <a:r>
              <a:rPr lang="en-US" sz="2800" dirty="0" smtClean="0"/>
              <a:t>Consider the array: [3, 3, 4, 2, 4, 4, 2, 4, 4]</a:t>
            </a:r>
            <a:br>
              <a:rPr lang="en-US" sz="2800" dirty="0" smtClean="0"/>
            </a:br>
            <a:endParaRPr lang="en-US" sz="2800" dirty="0"/>
          </a:p>
        </p:txBody>
      </p:sp>
      <p:sp>
        <p:nvSpPr>
          <p:cNvPr id="3" name="Content Placeholder 2"/>
          <p:cNvSpPr>
            <a:spLocks noGrp="1"/>
          </p:cNvSpPr>
          <p:nvPr>
            <p:ph idx="1"/>
          </p:nvPr>
        </p:nvSpPr>
        <p:spPr>
          <a:xfrm>
            <a:off x="457200" y="1143000"/>
            <a:ext cx="8229600" cy="5562600"/>
          </a:xfrm>
        </p:spPr>
        <p:txBody>
          <a:bodyPr>
            <a:normAutofit/>
          </a:bodyPr>
          <a:lstStyle/>
          <a:p>
            <a:r>
              <a:rPr lang="en-US" sz="2400" dirty="0" smtClean="0"/>
              <a:t>First Pass</a:t>
            </a:r>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r>
              <a:rPr lang="en-US" sz="2400" dirty="0" smtClean="0"/>
              <a:t>After the first pass, the potential majority candidate is 4.</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685800" y="1600200"/>
            <a:ext cx="8077200" cy="4267200"/>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2800" b="1" dirty="0" smtClean="0"/>
              <a:t>Example:</a:t>
            </a:r>
            <a:r>
              <a:rPr lang="en-US" sz="2800" dirty="0" smtClean="0"/>
              <a:t/>
            </a:r>
            <a:br>
              <a:rPr lang="en-US" sz="2800" dirty="0" smtClean="0"/>
            </a:br>
            <a:r>
              <a:rPr lang="en-US" sz="2800" dirty="0" smtClean="0"/>
              <a:t>Consider the array: [3, 3, 4, 2, 4, 4, 2, 4, 4]</a:t>
            </a:r>
            <a:br>
              <a:rPr lang="en-US" sz="2800" dirty="0" smtClean="0"/>
            </a:br>
            <a:endParaRPr lang="en-US" sz="2800" dirty="0"/>
          </a:p>
        </p:txBody>
      </p:sp>
      <p:sp>
        <p:nvSpPr>
          <p:cNvPr id="3" name="Content Placeholder 2"/>
          <p:cNvSpPr>
            <a:spLocks noGrp="1"/>
          </p:cNvSpPr>
          <p:nvPr>
            <p:ph idx="1"/>
          </p:nvPr>
        </p:nvSpPr>
        <p:spPr>
          <a:xfrm>
            <a:off x="457200" y="1143000"/>
            <a:ext cx="8229600" cy="5562600"/>
          </a:xfrm>
        </p:spPr>
        <p:txBody>
          <a:bodyPr>
            <a:normAutofit lnSpcReduction="10000"/>
          </a:bodyPr>
          <a:lstStyle/>
          <a:p>
            <a:r>
              <a:rPr lang="en-US" b="1" dirty="0" smtClean="0"/>
              <a:t>Second Pass:</a:t>
            </a:r>
            <a:endParaRPr lang="en-US" dirty="0" smtClean="0"/>
          </a:p>
          <a:p>
            <a:pPr lvl="1"/>
            <a:r>
              <a:rPr lang="en-US" dirty="0" smtClean="0"/>
              <a:t>Count the occurrences of 4 in the array:</a:t>
            </a:r>
          </a:p>
          <a:p>
            <a:pPr lvl="2"/>
            <a:r>
              <a:rPr lang="en-US" dirty="0" smtClean="0"/>
              <a:t>4 appears 5 times.</a:t>
            </a:r>
          </a:p>
          <a:p>
            <a:pPr lvl="1"/>
            <a:r>
              <a:rPr lang="en-US" dirty="0" smtClean="0"/>
              <a:t>Array length n is 9; thus, n/2 is 4.5.</a:t>
            </a:r>
          </a:p>
          <a:p>
            <a:pPr lvl="1"/>
            <a:r>
              <a:rPr lang="en-US" dirty="0" smtClean="0"/>
              <a:t>Since 5 &gt; 4.5, 4 is confirmed as the majority element.</a:t>
            </a:r>
          </a:p>
          <a:p>
            <a:r>
              <a:rPr lang="en-US" b="1" dirty="0" smtClean="0"/>
              <a:t>Conclusion:</a:t>
            </a:r>
            <a:endParaRPr lang="en-US" dirty="0" smtClean="0"/>
          </a:p>
          <a:p>
            <a:r>
              <a:rPr lang="en-US" dirty="0" smtClean="0"/>
              <a:t>The Boyer–Moore Majority Vote Algorithm efficiently identifies the majority element by first selecting a candidate and then verifying its majority status. This two-pass approach ensures both time and space efficiency.</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ctr">
              <a:buNone/>
            </a:pPr>
            <a:r>
              <a:rPr lang="en-US" sz="6600" dirty="0" smtClean="0"/>
              <a:t>finding simultaneous maximum and minimum</a:t>
            </a:r>
            <a:endParaRPr lang="en-US" sz="66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finding simultaneous maximum and minimum</a:t>
            </a: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Approach: Divide and Conquer</a:t>
            </a:r>
          </a:p>
          <a:p>
            <a:r>
              <a:rPr lang="en-US" b="1" dirty="0" smtClean="0"/>
              <a:t>Divide:</a:t>
            </a:r>
            <a:endParaRPr lang="en-US" dirty="0" smtClean="0"/>
          </a:p>
          <a:p>
            <a:pPr lvl="1"/>
            <a:r>
              <a:rPr lang="en-US" dirty="0" smtClean="0"/>
              <a:t>Split the array into two halves.</a:t>
            </a:r>
          </a:p>
          <a:p>
            <a:r>
              <a:rPr lang="en-US" b="1" dirty="0" smtClean="0"/>
              <a:t>Conquer:</a:t>
            </a:r>
            <a:endParaRPr lang="en-US" dirty="0" smtClean="0"/>
          </a:p>
          <a:p>
            <a:pPr lvl="1"/>
            <a:r>
              <a:rPr lang="en-US" dirty="0" smtClean="0"/>
              <a:t>Recursively find the maximum and minimum in each half.</a:t>
            </a:r>
          </a:p>
          <a:p>
            <a:r>
              <a:rPr lang="en-US" b="1" dirty="0" smtClean="0"/>
              <a:t>Combine:</a:t>
            </a:r>
            <a:endParaRPr lang="en-US" dirty="0" smtClean="0"/>
          </a:p>
          <a:p>
            <a:pPr lvl="1"/>
            <a:r>
              <a:rPr lang="en-US" dirty="0" smtClean="0"/>
              <a:t>Compare the results from both halves to get the final </a:t>
            </a:r>
            <a:r>
              <a:rPr lang="en-US" b="1" dirty="0" smtClean="0"/>
              <a:t>maximum and minimum</a:t>
            </a:r>
            <a:r>
              <a:rPr lang="en-US" dirty="0" smtClean="0"/>
              <a:t>.</a:t>
            </a:r>
          </a:p>
          <a:p>
            <a:r>
              <a:rPr lang="en-US" b="1" dirty="0" smtClean="0"/>
              <a:t>Time Complexity</a:t>
            </a:r>
          </a:p>
          <a:p>
            <a:r>
              <a:rPr lang="en-US" b="1" dirty="0" smtClean="0"/>
              <a:t>Best/Average/</a:t>
            </a:r>
          </a:p>
          <a:p>
            <a:r>
              <a:rPr lang="en-US" b="1" dirty="0" smtClean="0"/>
              <a:t>Worst Case:</a:t>
            </a:r>
            <a:r>
              <a:rPr lang="en-US" dirty="0" smtClean="0"/>
              <a:t> O(n)(linear time).</a:t>
            </a:r>
          </a:p>
          <a:p>
            <a:r>
              <a:rPr lang="en-US" dirty="0" smtClean="0"/>
              <a:t>Uses </a:t>
            </a:r>
            <a:r>
              <a:rPr lang="en-US" b="1" dirty="0" smtClean="0"/>
              <a:t>3n/2 -2</a:t>
            </a:r>
            <a:r>
              <a:rPr lang="en-US" dirty="0" smtClean="0"/>
              <a:t> comparisons</a:t>
            </a:r>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cstate="print"/>
          <a:srcRect/>
          <a:stretch>
            <a:fillRect/>
          </a:stretch>
        </p:blipFill>
        <p:spPr bwMode="auto">
          <a:xfrm>
            <a:off x="304800" y="381000"/>
            <a:ext cx="8381999" cy="60960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4038600" y="1447800"/>
            <a:ext cx="4648200" cy="4343400"/>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135563"/>
          </a:xfrm>
        </p:spPr>
        <p:txBody>
          <a:bodyPr>
            <a:normAutofit/>
          </a:bodyPr>
          <a:lstStyle/>
          <a:p>
            <a:r>
              <a:rPr lang="en-US" dirty="0" smtClean="0"/>
              <a:t>In linear approach consider that 1 2 3 4</a:t>
            </a:r>
          </a:p>
          <a:p>
            <a:r>
              <a:rPr lang="en-US" dirty="0" smtClean="0"/>
              <a:t>Max =  1 2 3 4</a:t>
            </a:r>
          </a:p>
          <a:p>
            <a:r>
              <a:rPr lang="en-US" dirty="0" smtClean="0"/>
              <a:t>Min= 1</a:t>
            </a:r>
          </a:p>
          <a:p>
            <a:r>
              <a:rPr lang="en-US" dirty="0" smtClean="0"/>
              <a:t>Now  consider  4 3 2 1</a:t>
            </a:r>
          </a:p>
          <a:p>
            <a:r>
              <a:rPr lang="en-US" dirty="0" smtClean="0"/>
              <a:t>Max =4</a:t>
            </a:r>
          </a:p>
          <a:p>
            <a:r>
              <a:rPr lang="en-US" dirty="0" smtClean="0"/>
              <a:t>Min= 4  3 2 1</a:t>
            </a:r>
          </a:p>
          <a:p>
            <a:r>
              <a:rPr lang="en-US" dirty="0" smtClean="0"/>
              <a:t>Here for best case it will take (n-1) comparisons and worst case it will take 2(n-1) comparisons</a:t>
            </a:r>
          </a:p>
          <a:p>
            <a:pPr>
              <a:buNone/>
            </a:pPr>
            <a:endParaRPr lang="en-US" dirty="0"/>
          </a:p>
        </p:txBody>
      </p:sp>
      <p:grpSp>
        <p:nvGrpSpPr>
          <p:cNvPr id="15" name="Group 14"/>
          <p:cNvGrpSpPr/>
          <p:nvPr/>
        </p:nvGrpSpPr>
        <p:grpSpPr>
          <a:xfrm>
            <a:off x="1752600" y="1752600"/>
            <a:ext cx="1143000" cy="2743200"/>
            <a:chOff x="1752600" y="2209800"/>
            <a:chExt cx="1143000" cy="2743200"/>
          </a:xfrm>
        </p:grpSpPr>
        <p:grpSp>
          <p:nvGrpSpPr>
            <p:cNvPr id="14" name="Group 13"/>
            <p:cNvGrpSpPr/>
            <p:nvPr/>
          </p:nvGrpSpPr>
          <p:grpSpPr>
            <a:xfrm>
              <a:off x="2057400" y="2209800"/>
              <a:ext cx="838200" cy="457200"/>
              <a:chOff x="2057400" y="2209800"/>
              <a:chExt cx="838200" cy="457200"/>
            </a:xfrm>
          </p:grpSpPr>
          <p:cxnSp>
            <p:nvCxnSpPr>
              <p:cNvPr id="7" name="Straight Connector 6"/>
              <p:cNvCxnSpPr/>
              <p:nvPr/>
            </p:nvCxnSpPr>
            <p:spPr>
              <a:xfrm flipH="1">
                <a:off x="2667000" y="2209800"/>
                <a:ext cx="228600" cy="457200"/>
              </a:xfrm>
              <a:prstGeom prst="line">
                <a:avLst/>
              </a:prstGeom>
            </p:spPr>
            <p:style>
              <a:lnRef idx="2">
                <a:schemeClr val="dk1"/>
              </a:lnRef>
              <a:fillRef idx="0">
                <a:schemeClr val="dk1"/>
              </a:fillRef>
              <a:effectRef idx="1">
                <a:schemeClr val="dk1"/>
              </a:effectRef>
              <a:fontRef idx="minor">
                <a:schemeClr val="tx1"/>
              </a:fontRef>
            </p:style>
          </p:cxnSp>
          <p:cxnSp>
            <p:nvCxnSpPr>
              <p:cNvPr id="8" name="Straight Connector 7"/>
              <p:cNvCxnSpPr/>
              <p:nvPr/>
            </p:nvCxnSpPr>
            <p:spPr>
              <a:xfrm flipH="1">
                <a:off x="2057400" y="2209800"/>
                <a:ext cx="228600" cy="457200"/>
              </a:xfrm>
              <a:prstGeom prst="line">
                <a:avLst/>
              </a:prstGeom>
            </p:spPr>
            <p:style>
              <a:lnRef idx="2">
                <a:schemeClr val="dk1"/>
              </a:lnRef>
              <a:fillRef idx="0">
                <a:schemeClr val="dk1"/>
              </a:fillRef>
              <a:effectRef idx="1">
                <a:schemeClr val="dk1"/>
              </a:effectRef>
              <a:fontRef idx="minor">
                <a:schemeClr val="tx1"/>
              </a:fontRef>
            </p:style>
          </p:cxnSp>
          <p:cxnSp>
            <p:nvCxnSpPr>
              <p:cNvPr id="9" name="Straight Connector 8"/>
              <p:cNvCxnSpPr/>
              <p:nvPr/>
            </p:nvCxnSpPr>
            <p:spPr>
              <a:xfrm flipH="1">
                <a:off x="2362200" y="2209800"/>
                <a:ext cx="228600" cy="457200"/>
              </a:xfrm>
              <a:prstGeom prst="line">
                <a:avLst/>
              </a:prstGeom>
            </p:spPr>
            <p:style>
              <a:lnRef idx="2">
                <a:schemeClr val="dk1"/>
              </a:lnRef>
              <a:fillRef idx="0">
                <a:schemeClr val="dk1"/>
              </a:fillRef>
              <a:effectRef idx="1">
                <a:schemeClr val="dk1"/>
              </a:effectRef>
              <a:fontRef idx="minor">
                <a:schemeClr val="tx1"/>
              </a:fontRef>
            </p:style>
          </p:cxnSp>
        </p:grpSp>
        <p:grpSp>
          <p:nvGrpSpPr>
            <p:cNvPr id="13" name="Group 12"/>
            <p:cNvGrpSpPr/>
            <p:nvPr/>
          </p:nvGrpSpPr>
          <p:grpSpPr>
            <a:xfrm>
              <a:off x="1752600" y="4495800"/>
              <a:ext cx="914400" cy="457200"/>
              <a:chOff x="1752600" y="4495800"/>
              <a:chExt cx="914400" cy="457200"/>
            </a:xfrm>
          </p:grpSpPr>
          <p:cxnSp>
            <p:nvCxnSpPr>
              <p:cNvPr id="10" name="Straight Connector 9"/>
              <p:cNvCxnSpPr/>
              <p:nvPr/>
            </p:nvCxnSpPr>
            <p:spPr>
              <a:xfrm flipH="1">
                <a:off x="1752600" y="4495800"/>
                <a:ext cx="228600" cy="457200"/>
              </a:xfrm>
              <a:prstGeom prst="line">
                <a:avLst/>
              </a:prstGeom>
            </p:spPr>
            <p:style>
              <a:lnRef idx="2">
                <a:schemeClr val="dk1"/>
              </a:lnRef>
              <a:fillRef idx="0">
                <a:schemeClr val="dk1"/>
              </a:fillRef>
              <a:effectRef idx="1">
                <a:schemeClr val="dk1"/>
              </a:effectRef>
              <a:fontRef idx="minor">
                <a:schemeClr val="tx1"/>
              </a:fontRef>
            </p:style>
          </p:cxnSp>
          <p:cxnSp>
            <p:nvCxnSpPr>
              <p:cNvPr id="11" name="Straight Connector 10"/>
              <p:cNvCxnSpPr/>
              <p:nvPr/>
            </p:nvCxnSpPr>
            <p:spPr>
              <a:xfrm flipH="1">
                <a:off x="2133600" y="4495800"/>
                <a:ext cx="228600" cy="457200"/>
              </a:xfrm>
              <a:prstGeom prst="line">
                <a:avLst/>
              </a:prstGeom>
            </p:spPr>
            <p:style>
              <a:lnRef idx="2">
                <a:schemeClr val="dk1"/>
              </a:lnRef>
              <a:fillRef idx="0">
                <a:schemeClr val="dk1"/>
              </a:fillRef>
              <a:effectRef idx="1">
                <a:schemeClr val="dk1"/>
              </a:effectRef>
              <a:fontRef idx="minor">
                <a:schemeClr val="tx1"/>
              </a:fontRef>
            </p:style>
          </p:cxnSp>
          <p:cxnSp>
            <p:nvCxnSpPr>
              <p:cNvPr id="12" name="Straight Connector 11"/>
              <p:cNvCxnSpPr/>
              <p:nvPr/>
            </p:nvCxnSpPr>
            <p:spPr>
              <a:xfrm flipH="1">
                <a:off x="2438400" y="4495800"/>
                <a:ext cx="228600" cy="457200"/>
              </a:xfrm>
              <a:prstGeom prst="line">
                <a:avLst/>
              </a:prstGeom>
            </p:spPr>
            <p:style>
              <a:lnRef idx="2">
                <a:schemeClr val="dk1"/>
              </a:lnRef>
              <a:fillRef idx="0">
                <a:schemeClr val="dk1"/>
              </a:fillRef>
              <a:effectRef idx="1">
                <a:schemeClr val="dk1"/>
              </a:effectRef>
              <a:fontRef idx="minor">
                <a:schemeClr val="tx1"/>
              </a:fontRef>
            </p:style>
          </p:cxnSp>
        </p:gr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68362"/>
          </a:xfrm>
        </p:spPr>
        <p:txBody>
          <a:bodyPr/>
          <a:lstStyle/>
          <a:p>
            <a:r>
              <a:rPr lang="en-US" dirty="0" smtClean="0"/>
              <a:t>Using DAC </a:t>
            </a:r>
            <a:endParaRPr lang="en-US" dirty="0"/>
          </a:p>
        </p:txBody>
      </p:sp>
      <p:sp>
        <p:nvSpPr>
          <p:cNvPr id="3" name="Content Placeholder 2"/>
          <p:cNvSpPr>
            <a:spLocks noGrp="1"/>
          </p:cNvSpPr>
          <p:nvPr>
            <p:ph idx="1"/>
          </p:nvPr>
        </p:nvSpPr>
        <p:spPr>
          <a:xfrm>
            <a:off x="457200" y="1066800"/>
            <a:ext cx="8229600" cy="5638800"/>
          </a:xfrm>
        </p:spPr>
        <p:txBody>
          <a:bodyPr>
            <a:normAutofit fontScale="85000" lnSpcReduction="10000"/>
          </a:bodyPr>
          <a:lstStyle/>
          <a:p>
            <a:r>
              <a:rPr lang="en-US" dirty="0" smtClean="0"/>
              <a:t>In DAC approach, we will divide the problem into sub-problems and find the max and min of each group, now max of each group will compare with the only max of another group and min with only min.</a:t>
            </a:r>
            <a:endParaRPr lang="en-US" b="1" dirty="0" smtClean="0"/>
          </a:p>
          <a:p>
            <a:r>
              <a:rPr lang="en-US" b="1" dirty="0" smtClean="0">
                <a:solidFill>
                  <a:srgbClr val="00B050"/>
                </a:solidFill>
              </a:rPr>
              <a:t>Algorithm</a:t>
            </a:r>
          </a:p>
          <a:p>
            <a:r>
              <a:rPr lang="en-US" b="1" dirty="0" smtClean="0"/>
              <a:t>Base Case:</a:t>
            </a:r>
            <a:r>
              <a:rPr lang="en-US" dirty="0" smtClean="0"/>
              <a:t> If there is only </a:t>
            </a:r>
            <a:r>
              <a:rPr lang="en-US" b="1" dirty="0" smtClean="0"/>
              <a:t>one</a:t>
            </a:r>
            <a:r>
              <a:rPr lang="en-US" dirty="0" smtClean="0"/>
              <a:t> element, both min and max are the same.</a:t>
            </a:r>
          </a:p>
          <a:p>
            <a:r>
              <a:rPr lang="en-US" b="1" dirty="0" smtClean="0"/>
              <a:t>Base Case:</a:t>
            </a:r>
            <a:r>
              <a:rPr lang="en-US" dirty="0" smtClean="0"/>
              <a:t> If there are </a:t>
            </a:r>
            <a:r>
              <a:rPr lang="en-US" b="1" dirty="0" smtClean="0"/>
              <a:t>two</a:t>
            </a:r>
            <a:r>
              <a:rPr lang="en-US" dirty="0" smtClean="0"/>
              <a:t> elements, compare them directly.</a:t>
            </a:r>
          </a:p>
          <a:p>
            <a:r>
              <a:rPr lang="en-US" b="1" dirty="0" smtClean="0"/>
              <a:t>Recursive Case:</a:t>
            </a:r>
            <a:endParaRPr lang="en-US" dirty="0" smtClean="0"/>
          </a:p>
          <a:p>
            <a:pPr lvl="1"/>
            <a:r>
              <a:rPr lang="en-US" dirty="0" smtClean="0"/>
              <a:t>Divide the array into </a:t>
            </a:r>
            <a:r>
              <a:rPr lang="en-US" b="1" dirty="0" smtClean="0"/>
              <a:t>two halves</a:t>
            </a:r>
            <a:r>
              <a:rPr lang="en-US" dirty="0" smtClean="0"/>
              <a:t>.</a:t>
            </a:r>
          </a:p>
          <a:p>
            <a:pPr lvl="1"/>
            <a:r>
              <a:rPr lang="en-US" dirty="0" smtClean="0"/>
              <a:t>Recursively find min-max in both halves.</a:t>
            </a:r>
          </a:p>
          <a:p>
            <a:pPr lvl="1"/>
            <a:r>
              <a:rPr lang="en-US" dirty="0" smtClean="0"/>
              <a:t>Merge the results.</a:t>
            </a:r>
          </a:p>
          <a:p>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smtClean="0"/>
              <a:t>Example</a:t>
            </a:r>
            <a:endParaRPr lang="en-US" dirty="0"/>
          </a:p>
        </p:txBody>
      </p:sp>
      <p:pic>
        <p:nvPicPr>
          <p:cNvPr id="77826" name="Picture 2"/>
          <p:cNvPicPr>
            <a:picLocks noGrp="1" noChangeAspect="1" noChangeArrowheads="1"/>
          </p:cNvPicPr>
          <p:nvPr>
            <p:ph idx="1"/>
          </p:nvPr>
        </p:nvPicPr>
        <p:blipFill>
          <a:blip r:embed="rId2" cstate="print"/>
          <a:srcRect/>
          <a:stretch>
            <a:fillRect/>
          </a:stretch>
        </p:blipFill>
        <p:spPr bwMode="auto">
          <a:xfrm>
            <a:off x="609600" y="914400"/>
            <a:ext cx="8001000" cy="5638800"/>
          </a:xfrm>
          <a:prstGeom prst="rect">
            <a:avLst/>
          </a:prstGeom>
          <a:noFill/>
          <a:ln w="9525">
            <a:noFill/>
            <a:miter lim="800000"/>
            <a:headEnd/>
            <a:tailEnd/>
          </a:ln>
        </p:spPr>
      </p:pic>
      <p:pic>
        <p:nvPicPr>
          <p:cNvPr id="77827" name="Picture 3"/>
          <p:cNvPicPr>
            <a:picLocks noChangeAspect="1" noChangeArrowheads="1"/>
          </p:cNvPicPr>
          <p:nvPr/>
        </p:nvPicPr>
        <p:blipFill>
          <a:blip r:embed="rId3" cstate="print"/>
          <a:srcRect/>
          <a:stretch>
            <a:fillRect/>
          </a:stretch>
        </p:blipFill>
        <p:spPr bwMode="auto">
          <a:xfrm>
            <a:off x="4495800" y="6172200"/>
            <a:ext cx="1295400" cy="496111"/>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normAutofit fontScale="90000"/>
          </a:bodyPr>
          <a:lstStyle/>
          <a:p>
            <a:r>
              <a:rPr lang="en-US" dirty="0" smtClean="0"/>
              <a:t>Algorithm</a:t>
            </a:r>
            <a:endParaRPr lang="en-US" dirty="0"/>
          </a:p>
        </p:txBody>
      </p:sp>
      <p:sp>
        <p:nvSpPr>
          <p:cNvPr id="3" name="Content Placeholder 2"/>
          <p:cNvSpPr>
            <a:spLocks noGrp="1"/>
          </p:cNvSpPr>
          <p:nvPr>
            <p:ph idx="1"/>
          </p:nvPr>
        </p:nvSpPr>
        <p:spPr>
          <a:xfrm>
            <a:off x="457200" y="838200"/>
            <a:ext cx="8458200" cy="5791200"/>
          </a:xfrm>
        </p:spPr>
        <p:txBody>
          <a:bodyPr>
            <a:noAutofit/>
          </a:bodyPr>
          <a:lstStyle/>
          <a:p>
            <a:pPr>
              <a:buNone/>
            </a:pPr>
            <a:r>
              <a:rPr lang="en-US" sz="2400" dirty="0" smtClean="0"/>
              <a:t>// Function to find min and max using Divide and Conquer</a:t>
            </a:r>
          </a:p>
          <a:p>
            <a:pPr>
              <a:buNone/>
            </a:pPr>
            <a:r>
              <a:rPr lang="en-US" sz="2800" dirty="0" err="1" smtClean="0"/>
              <a:t>findMinMaxDAC</a:t>
            </a:r>
            <a:r>
              <a:rPr lang="en-US" sz="2800" dirty="0" smtClean="0"/>
              <a:t>(int </a:t>
            </a:r>
            <a:r>
              <a:rPr lang="en-US" sz="2800" dirty="0" err="1" smtClean="0"/>
              <a:t>arr</a:t>
            </a:r>
            <a:r>
              <a:rPr lang="en-US" sz="2800" dirty="0" smtClean="0"/>
              <a:t>[], int low, int high) {</a:t>
            </a:r>
          </a:p>
          <a:p>
            <a:pPr>
              <a:buNone/>
            </a:pPr>
            <a:r>
              <a:rPr lang="en-US" sz="2800" b="1" dirty="0" smtClean="0"/>
              <a:t> // Base case: Only one element</a:t>
            </a:r>
          </a:p>
          <a:p>
            <a:pPr>
              <a:buNone/>
            </a:pPr>
            <a:r>
              <a:rPr lang="en-US" sz="2800" dirty="0" smtClean="0"/>
              <a:t>    if (low == high) {</a:t>
            </a:r>
          </a:p>
          <a:p>
            <a:pPr>
              <a:buNone/>
            </a:pPr>
            <a:r>
              <a:rPr lang="en-US" sz="2800" dirty="0" smtClean="0"/>
              <a:t>        min = </a:t>
            </a:r>
            <a:r>
              <a:rPr lang="en-US" sz="2800" dirty="0" err="1" smtClean="0"/>
              <a:t>arr</a:t>
            </a:r>
            <a:r>
              <a:rPr lang="en-US" sz="2800" dirty="0" smtClean="0"/>
              <a:t>[low];</a:t>
            </a:r>
          </a:p>
          <a:p>
            <a:pPr>
              <a:buNone/>
            </a:pPr>
            <a:r>
              <a:rPr lang="en-US" sz="2800" dirty="0" smtClean="0"/>
              <a:t>        max = </a:t>
            </a:r>
            <a:r>
              <a:rPr lang="en-US" sz="2800" dirty="0" err="1" smtClean="0"/>
              <a:t>arr</a:t>
            </a:r>
            <a:r>
              <a:rPr lang="en-US" sz="2800" dirty="0" smtClean="0"/>
              <a:t>[low];      </a:t>
            </a:r>
          </a:p>
          <a:p>
            <a:pPr>
              <a:buNone/>
            </a:pPr>
            <a:r>
              <a:rPr lang="en-US" sz="2800" dirty="0" smtClean="0"/>
              <a:t> }</a:t>
            </a:r>
          </a:p>
          <a:p>
            <a:pPr>
              <a:buNone/>
            </a:pPr>
            <a:endParaRPr lang="en-US" sz="2800" dirty="0" smtClean="0"/>
          </a:p>
          <a:p>
            <a:pPr>
              <a:buNone/>
            </a:pPr>
            <a:endParaRPr lang="en-US" sz="2800" dirty="0" smtClean="0"/>
          </a:p>
          <a:p>
            <a:pPr>
              <a:buNone/>
            </a:pPr>
            <a:endParaRPr lang="en-US" sz="2800" dirty="0" smtClean="0"/>
          </a:p>
          <a:p>
            <a:pPr>
              <a:buNone/>
            </a:pPr>
            <a:r>
              <a:rPr lang="en-US" sz="2800" dirty="0" smtClean="0"/>
              <a:t>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pPr algn="l"/>
            <a:r>
              <a:rPr lang="en-US" sz="2800" dirty="0" smtClean="0"/>
              <a:t>Continued…</a:t>
            </a:r>
            <a:endParaRPr lang="en-US" sz="2800" dirty="0"/>
          </a:p>
        </p:txBody>
      </p:sp>
      <p:sp>
        <p:nvSpPr>
          <p:cNvPr id="3" name="Content Placeholder 2"/>
          <p:cNvSpPr>
            <a:spLocks noGrp="1"/>
          </p:cNvSpPr>
          <p:nvPr>
            <p:ph idx="1"/>
          </p:nvPr>
        </p:nvSpPr>
        <p:spPr>
          <a:xfrm>
            <a:off x="457200" y="914400"/>
            <a:ext cx="8229600" cy="5211763"/>
          </a:xfrm>
        </p:spPr>
        <p:txBody>
          <a:bodyPr>
            <a:normAutofit lnSpcReduction="10000"/>
          </a:bodyPr>
          <a:lstStyle/>
          <a:p>
            <a:pPr>
              <a:buNone/>
            </a:pPr>
            <a:r>
              <a:rPr lang="en-US" b="1" dirty="0" smtClean="0"/>
              <a:t>// Base case: Two elements</a:t>
            </a:r>
          </a:p>
          <a:p>
            <a:pPr>
              <a:buNone/>
            </a:pPr>
            <a:r>
              <a:rPr lang="en-US" dirty="0" smtClean="0"/>
              <a:t>    if (high == low + 1) {</a:t>
            </a:r>
          </a:p>
          <a:p>
            <a:pPr>
              <a:buNone/>
            </a:pPr>
            <a:r>
              <a:rPr lang="en-US" dirty="0" smtClean="0"/>
              <a:t>        if (</a:t>
            </a:r>
            <a:r>
              <a:rPr lang="en-US" dirty="0" err="1" smtClean="0"/>
              <a:t>arr</a:t>
            </a:r>
            <a:r>
              <a:rPr lang="en-US" dirty="0" smtClean="0"/>
              <a:t>[low] &lt; </a:t>
            </a:r>
            <a:r>
              <a:rPr lang="en-US" dirty="0" err="1" smtClean="0"/>
              <a:t>arr</a:t>
            </a:r>
            <a:r>
              <a:rPr lang="en-US" dirty="0" smtClean="0"/>
              <a:t>[high]) {</a:t>
            </a:r>
          </a:p>
          <a:p>
            <a:pPr>
              <a:buNone/>
            </a:pPr>
            <a:r>
              <a:rPr lang="en-US" dirty="0" smtClean="0"/>
              <a:t>            min = </a:t>
            </a:r>
            <a:r>
              <a:rPr lang="en-US" dirty="0" err="1" smtClean="0"/>
              <a:t>arr</a:t>
            </a:r>
            <a:r>
              <a:rPr lang="en-US" dirty="0" smtClean="0"/>
              <a:t>[low];</a:t>
            </a:r>
          </a:p>
          <a:p>
            <a:pPr>
              <a:buNone/>
            </a:pPr>
            <a:r>
              <a:rPr lang="en-US" dirty="0" smtClean="0"/>
              <a:t>		max = </a:t>
            </a:r>
            <a:r>
              <a:rPr lang="en-US" dirty="0" err="1" smtClean="0"/>
              <a:t>arr</a:t>
            </a:r>
            <a:r>
              <a:rPr lang="en-US" dirty="0" smtClean="0"/>
              <a:t>[high];</a:t>
            </a:r>
          </a:p>
          <a:p>
            <a:pPr>
              <a:buNone/>
            </a:pPr>
            <a:r>
              <a:rPr lang="en-US" dirty="0" smtClean="0"/>
              <a:t>        else {</a:t>
            </a:r>
          </a:p>
          <a:p>
            <a:pPr>
              <a:buNone/>
            </a:pPr>
            <a:r>
              <a:rPr lang="en-US" dirty="0" smtClean="0"/>
              <a:t>	       min = </a:t>
            </a:r>
            <a:r>
              <a:rPr lang="en-US" dirty="0" err="1" smtClean="0"/>
              <a:t>arr</a:t>
            </a:r>
            <a:r>
              <a:rPr lang="en-US" dirty="0" smtClean="0"/>
              <a:t>[high]; </a:t>
            </a:r>
          </a:p>
          <a:p>
            <a:pPr>
              <a:buNone/>
            </a:pPr>
            <a:r>
              <a:rPr lang="en-US" dirty="0" smtClean="0"/>
              <a:t>		max = </a:t>
            </a:r>
            <a:r>
              <a:rPr lang="en-US" dirty="0" err="1" smtClean="0"/>
              <a:t>arr</a:t>
            </a:r>
            <a:r>
              <a:rPr lang="en-US" dirty="0" smtClean="0"/>
              <a:t>[low];</a:t>
            </a:r>
          </a:p>
          <a:p>
            <a:pPr>
              <a:buNone/>
            </a:pPr>
            <a:r>
              <a:rPr lang="en-US" dirty="0" smtClean="0"/>
              <a:t> }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pPr algn="l"/>
            <a:r>
              <a:rPr lang="en-US" sz="2800" dirty="0" smtClean="0"/>
              <a:t>Continued…</a:t>
            </a:r>
            <a:endParaRPr lang="en-US" sz="2800" dirty="0"/>
          </a:p>
        </p:txBody>
      </p:sp>
      <p:sp>
        <p:nvSpPr>
          <p:cNvPr id="3" name="Content Placeholder 2"/>
          <p:cNvSpPr>
            <a:spLocks noGrp="1"/>
          </p:cNvSpPr>
          <p:nvPr>
            <p:ph idx="1"/>
          </p:nvPr>
        </p:nvSpPr>
        <p:spPr>
          <a:xfrm>
            <a:off x="228600" y="914400"/>
            <a:ext cx="8610600" cy="5211763"/>
          </a:xfrm>
        </p:spPr>
        <p:txBody>
          <a:bodyPr>
            <a:normAutofit/>
          </a:bodyPr>
          <a:lstStyle/>
          <a:p>
            <a:pPr>
              <a:buNone/>
            </a:pPr>
            <a:r>
              <a:rPr lang="en-US" b="1" dirty="0" smtClean="0"/>
              <a:t>// Divide: Find middle index</a:t>
            </a:r>
          </a:p>
          <a:p>
            <a:pPr>
              <a:buNone/>
            </a:pPr>
            <a:r>
              <a:rPr lang="en-US" dirty="0" smtClean="0"/>
              <a:t>             mid = (low + high) / 2</a:t>
            </a:r>
          </a:p>
          <a:p>
            <a:pPr>
              <a:buNone/>
            </a:pPr>
            <a:r>
              <a:rPr lang="en-US" sz="3000" b="1" dirty="0" smtClean="0"/>
              <a:t>//Recursively find min &amp; max in left &amp;right  </a:t>
            </a:r>
            <a:r>
              <a:rPr lang="en-US" sz="3000" b="1" dirty="0" err="1" smtClean="0"/>
              <a:t>subarrays</a:t>
            </a:r>
            <a:endParaRPr lang="en-US" sz="3000" b="1" dirty="0" smtClean="0"/>
          </a:p>
          <a:p>
            <a:pPr>
              <a:buNone/>
            </a:pPr>
            <a:r>
              <a:rPr lang="en-US" sz="2800" dirty="0" smtClean="0"/>
              <a:t>	left = </a:t>
            </a:r>
            <a:r>
              <a:rPr lang="en-US" sz="2800" dirty="0" err="1" smtClean="0"/>
              <a:t>findMinMax</a:t>
            </a:r>
            <a:r>
              <a:rPr lang="en-US" sz="2800" dirty="0" smtClean="0"/>
              <a:t>(</a:t>
            </a:r>
            <a:r>
              <a:rPr lang="en-US" sz="2800" dirty="0" err="1" smtClean="0"/>
              <a:t>arr</a:t>
            </a:r>
            <a:r>
              <a:rPr lang="en-US" sz="2800" dirty="0" smtClean="0"/>
              <a:t>, low, mid);</a:t>
            </a:r>
          </a:p>
          <a:p>
            <a:pPr>
              <a:buNone/>
            </a:pPr>
            <a:r>
              <a:rPr lang="en-US" sz="2800" dirty="0" smtClean="0"/>
              <a:t>	 right = </a:t>
            </a:r>
            <a:r>
              <a:rPr lang="en-US" sz="2800" dirty="0" err="1" smtClean="0"/>
              <a:t>findMinMax</a:t>
            </a:r>
            <a:r>
              <a:rPr lang="en-US" sz="2800" dirty="0" smtClean="0"/>
              <a:t>(</a:t>
            </a:r>
            <a:r>
              <a:rPr lang="en-US" sz="2800" dirty="0" err="1" smtClean="0"/>
              <a:t>arr</a:t>
            </a:r>
            <a:r>
              <a:rPr lang="en-US" sz="2800" dirty="0" smtClean="0"/>
              <a:t>, mid + 1, high);</a:t>
            </a:r>
          </a:p>
          <a:p>
            <a:pPr>
              <a:buNone/>
            </a:pPr>
            <a:r>
              <a:rPr lang="en-US" sz="2800" b="1" dirty="0" smtClean="0"/>
              <a:t>// Combine: Merge results</a:t>
            </a:r>
          </a:p>
          <a:p>
            <a:pPr>
              <a:buNone/>
            </a:pPr>
            <a:r>
              <a:rPr lang="en-US" sz="2800" dirty="0" smtClean="0"/>
              <a:t>      min = (left.min &lt; right.min) ? left.min : right.min; </a:t>
            </a:r>
          </a:p>
          <a:p>
            <a:pPr>
              <a:buNone/>
            </a:pPr>
            <a:r>
              <a:rPr lang="en-US" sz="2800" dirty="0" smtClean="0"/>
              <a:t>     max = (left.max &gt; right.max) ? left.max : right.max;</a:t>
            </a:r>
            <a:endParaRPr lang="en-US" sz="3000" b="1" dirty="0" smtClean="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pPr algn="l"/>
            <a:r>
              <a:rPr lang="en-US" sz="2800" dirty="0" smtClean="0"/>
              <a:t>Continued…</a:t>
            </a:r>
            <a:endParaRPr lang="en-US" sz="2800" dirty="0"/>
          </a:p>
        </p:txBody>
      </p:sp>
      <p:sp>
        <p:nvSpPr>
          <p:cNvPr id="3" name="Content Placeholder 2"/>
          <p:cNvSpPr>
            <a:spLocks noGrp="1"/>
          </p:cNvSpPr>
          <p:nvPr>
            <p:ph idx="1"/>
          </p:nvPr>
        </p:nvSpPr>
        <p:spPr>
          <a:xfrm>
            <a:off x="228600" y="762000"/>
            <a:ext cx="5029200" cy="5791200"/>
          </a:xfrm>
        </p:spPr>
        <p:style>
          <a:lnRef idx="2">
            <a:schemeClr val="dk1"/>
          </a:lnRef>
          <a:fillRef idx="1">
            <a:schemeClr val="lt1"/>
          </a:fillRef>
          <a:effectRef idx="0">
            <a:schemeClr val="dk1"/>
          </a:effectRef>
          <a:fontRef idx="minor">
            <a:schemeClr val="dk1"/>
          </a:fontRef>
        </p:style>
        <p:txBody>
          <a:bodyPr>
            <a:normAutofit fontScale="92500" lnSpcReduction="10000"/>
          </a:bodyPr>
          <a:lstStyle/>
          <a:p>
            <a:pPr>
              <a:buNone/>
            </a:pPr>
            <a:r>
              <a:rPr lang="en-US" b="1" dirty="0" smtClean="0"/>
              <a:t>// Divide: Find middle index</a:t>
            </a:r>
          </a:p>
          <a:p>
            <a:pPr>
              <a:buNone/>
            </a:pPr>
            <a:r>
              <a:rPr lang="en-US" dirty="0" smtClean="0"/>
              <a:t>             mid = (low + high) / 2</a:t>
            </a:r>
          </a:p>
          <a:p>
            <a:pPr>
              <a:buNone/>
            </a:pPr>
            <a:r>
              <a:rPr lang="en-US" sz="3000" b="1" dirty="0" smtClean="0"/>
              <a:t>//Recursively find min &amp; max in left &amp;right  </a:t>
            </a:r>
            <a:r>
              <a:rPr lang="en-US" sz="3000" b="1" dirty="0" err="1" smtClean="0"/>
              <a:t>subarrays</a:t>
            </a:r>
            <a:endParaRPr lang="en-US" sz="3000" b="1" dirty="0" smtClean="0"/>
          </a:p>
          <a:p>
            <a:pPr>
              <a:buNone/>
            </a:pPr>
            <a:r>
              <a:rPr lang="en-US" sz="2800" dirty="0" smtClean="0"/>
              <a:t>left = </a:t>
            </a:r>
            <a:r>
              <a:rPr lang="en-US" sz="2800" dirty="0" err="1" smtClean="0"/>
              <a:t>findMinMax</a:t>
            </a:r>
            <a:r>
              <a:rPr lang="en-US" sz="2800" dirty="0" smtClean="0"/>
              <a:t>(</a:t>
            </a:r>
            <a:r>
              <a:rPr lang="en-US" sz="2800" dirty="0" err="1" smtClean="0"/>
              <a:t>arr</a:t>
            </a:r>
            <a:r>
              <a:rPr lang="en-US" sz="2800" dirty="0" smtClean="0"/>
              <a:t>, low, mid);</a:t>
            </a:r>
          </a:p>
          <a:p>
            <a:pPr>
              <a:buNone/>
            </a:pPr>
            <a:r>
              <a:rPr lang="en-US" sz="2800" dirty="0" smtClean="0"/>
              <a:t>right=</a:t>
            </a:r>
            <a:r>
              <a:rPr lang="en-US" sz="2800" dirty="0" err="1" smtClean="0"/>
              <a:t>findMinMax</a:t>
            </a:r>
            <a:r>
              <a:rPr lang="en-US" sz="2800" dirty="0" smtClean="0"/>
              <a:t>(</a:t>
            </a:r>
            <a:r>
              <a:rPr lang="en-US" sz="2800" dirty="0" err="1" smtClean="0"/>
              <a:t>arr</a:t>
            </a:r>
            <a:r>
              <a:rPr lang="en-US" sz="2800" dirty="0" smtClean="0"/>
              <a:t>, mid+1, high);</a:t>
            </a:r>
          </a:p>
          <a:p>
            <a:pPr>
              <a:buNone/>
            </a:pPr>
            <a:r>
              <a:rPr lang="en-US" sz="2800" b="1" dirty="0" smtClean="0"/>
              <a:t>// Combine: Merge results</a:t>
            </a:r>
          </a:p>
          <a:p>
            <a:pPr>
              <a:buNone/>
            </a:pPr>
            <a:r>
              <a:rPr lang="en-US" sz="2800" b="1" dirty="0" smtClean="0"/>
              <a:t>   // Find minimum</a:t>
            </a:r>
          </a:p>
          <a:p>
            <a:pPr>
              <a:buNone/>
            </a:pPr>
            <a:r>
              <a:rPr lang="en-US" sz="2800" dirty="0" smtClean="0"/>
              <a:t>if (left.min &lt; right.min) {</a:t>
            </a:r>
          </a:p>
          <a:p>
            <a:pPr>
              <a:buNone/>
            </a:pPr>
            <a:r>
              <a:rPr lang="en-US" sz="2800" dirty="0" smtClean="0"/>
              <a:t>    min = left.min;</a:t>
            </a:r>
          </a:p>
          <a:p>
            <a:pPr>
              <a:buNone/>
            </a:pPr>
            <a:r>
              <a:rPr lang="en-US" sz="2800" dirty="0" smtClean="0"/>
              <a:t>} else {</a:t>
            </a:r>
          </a:p>
          <a:p>
            <a:pPr>
              <a:buNone/>
            </a:pPr>
            <a:r>
              <a:rPr lang="en-US" sz="2800" dirty="0" smtClean="0"/>
              <a:t>    min = right.min;</a:t>
            </a:r>
          </a:p>
          <a:p>
            <a:pPr>
              <a:buNone/>
            </a:pPr>
            <a:r>
              <a:rPr lang="en-US" sz="2800" dirty="0" smtClean="0"/>
              <a:t>}</a:t>
            </a:r>
          </a:p>
          <a:p>
            <a:pPr>
              <a:buNone/>
            </a:pPr>
            <a:endParaRPr lang="en-US" sz="2800" dirty="0" smtClean="0"/>
          </a:p>
        </p:txBody>
      </p:sp>
      <p:sp>
        <p:nvSpPr>
          <p:cNvPr id="5" name="Rectangle 4"/>
          <p:cNvSpPr/>
          <p:nvPr/>
        </p:nvSpPr>
        <p:spPr>
          <a:xfrm>
            <a:off x="5334000" y="762000"/>
            <a:ext cx="3581400" cy="310854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sz="2800" b="1" dirty="0" smtClean="0"/>
              <a:t>// Find maximum</a:t>
            </a:r>
          </a:p>
          <a:p>
            <a:pPr>
              <a:buNone/>
            </a:pPr>
            <a:r>
              <a:rPr lang="en-US" sz="2800" dirty="0" smtClean="0"/>
              <a:t>if (left.max &gt; right.max) {</a:t>
            </a:r>
          </a:p>
          <a:p>
            <a:pPr>
              <a:buNone/>
            </a:pPr>
            <a:r>
              <a:rPr lang="en-US" sz="2800" dirty="0" smtClean="0"/>
              <a:t>   max = left.max;</a:t>
            </a:r>
          </a:p>
          <a:p>
            <a:pPr>
              <a:buNone/>
            </a:pPr>
            <a:r>
              <a:rPr lang="en-US" sz="2800" dirty="0" smtClean="0"/>
              <a:t>} else {</a:t>
            </a:r>
          </a:p>
          <a:p>
            <a:pPr>
              <a:buNone/>
            </a:pPr>
            <a:r>
              <a:rPr lang="en-US" sz="2800" dirty="0" smtClean="0"/>
              <a:t>    max = right.max;</a:t>
            </a:r>
          </a:p>
          <a:p>
            <a:pPr>
              <a:buNone/>
            </a:pPr>
            <a:r>
              <a:rPr lang="en-US" sz="2800" dirty="0" smtClean="0"/>
              <a:t>}</a:t>
            </a:r>
          </a:p>
        </p:txBody>
      </p:sp>
      <p:pic>
        <p:nvPicPr>
          <p:cNvPr id="3074" name="Picture 2"/>
          <p:cNvPicPr>
            <a:picLocks noChangeAspect="1" noChangeArrowheads="1"/>
          </p:cNvPicPr>
          <p:nvPr/>
        </p:nvPicPr>
        <p:blipFill>
          <a:blip r:embed="rId2" cstate="print"/>
          <a:srcRect/>
          <a:stretch>
            <a:fillRect/>
          </a:stretch>
        </p:blipFill>
        <p:spPr bwMode="auto">
          <a:xfrm>
            <a:off x="5257800" y="5000625"/>
            <a:ext cx="3657600" cy="1400175"/>
          </a:xfrm>
          <a:prstGeom prst="rect">
            <a:avLst/>
          </a:prstGeom>
          <a:noFill/>
          <a:ln w="9525">
            <a:noFill/>
            <a:miter lim="800000"/>
            <a:headEnd/>
            <a:tailEnd/>
          </a:ln>
        </p:spPr>
      </p:pic>
      <p:sp>
        <p:nvSpPr>
          <p:cNvPr id="8" name="Rectangle 7"/>
          <p:cNvSpPr/>
          <p:nvPr/>
        </p:nvSpPr>
        <p:spPr>
          <a:xfrm>
            <a:off x="5318083" y="4353580"/>
            <a:ext cx="3444917" cy="523220"/>
          </a:xfrm>
          <a:prstGeom prst="rect">
            <a:avLst/>
          </a:prstGeom>
        </p:spPr>
        <p:txBody>
          <a:bodyPr wrap="none">
            <a:spAutoFit/>
          </a:bodyPr>
          <a:lstStyle/>
          <a:p>
            <a:r>
              <a:rPr lang="en-US" sz="2800" b="1" dirty="0" smtClean="0"/>
              <a:t>Recurrence Relation =</a:t>
            </a:r>
            <a:endParaRPr lang="en-US" sz="2800" b="1"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cstate="print"/>
          <a:srcRect/>
          <a:stretch>
            <a:fillRect/>
          </a:stretch>
        </p:blipFill>
        <p:spPr bwMode="auto">
          <a:xfrm>
            <a:off x="304800" y="228600"/>
            <a:ext cx="5181600" cy="1752600"/>
          </a:xfrm>
          <a:prstGeom prst="rect">
            <a:avLst/>
          </a:prstGeom>
          <a:noFill/>
          <a:ln w="9525">
            <a:noFill/>
            <a:miter lim="800000"/>
            <a:headEnd/>
            <a:tailEnd/>
          </a:ln>
        </p:spPr>
      </p:pic>
      <p:pic>
        <p:nvPicPr>
          <p:cNvPr id="4099" name="Picture 3"/>
          <p:cNvPicPr>
            <a:picLocks noChangeAspect="1" noChangeArrowheads="1"/>
          </p:cNvPicPr>
          <p:nvPr/>
        </p:nvPicPr>
        <p:blipFill>
          <a:blip r:embed="rId3" cstate="print"/>
          <a:srcRect/>
          <a:stretch>
            <a:fillRect/>
          </a:stretch>
        </p:blipFill>
        <p:spPr bwMode="auto">
          <a:xfrm>
            <a:off x="533400" y="2133600"/>
            <a:ext cx="6324600" cy="2819400"/>
          </a:xfrm>
          <a:prstGeom prst="rect">
            <a:avLst/>
          </a:prstGeom>
          <a:noFill/>
          <a:ln w="9525">
            <a:noFill/>
            <a:miter lim="800000"/>
            <a:headEnd/>
            <a:tailEnd/>
          </a:ln>
        </p:spPr>
      </p:pic>
      <p:pic>
        <p:nvPicPr>
          <p:cNvPr id="4100" name="Picture 4"/>
          <p:cNvPicPr>
            <a:picLocks noChangeAspect="1" noChangeArrowheads="1"/>
          </p:cNvPicPr>
          <p:nvPr/>
        </p:nvPicPr>
        <p:blipFill>
          <a:blip r:embed="rId4" cstate="print"/>
          <a:srcRect/>
          <a:stretch>
            <a:fillRect/>
          </a:stretch>
        </p:blipFill>
        <p:spPr bwMode="auto">
          <a:xfrm>
            <a:off x="609600" y="5181600"/>
            <a:ext cx="7315200" cy="1428750"/>
          </a:xfrm>
          <a:prstGeom prst="rect">
            <a:avLst/>
          </a:prstGeom>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381000" y="228600"/>
            <a:ext cx="8305800" cy="2438400"/>
          </a:xfrm>
          <a:prstGeom prst="rect">
            <a:avLst/>
          </a:prstGeom>
          <a:noFill/>
          <a:ln w="9525">
            <a:noFill/>
            <a:miter lim="800000"/>
            <a:headEnd/>
            <a:tailEnd/>
          </a:ln>
        </p:spPr>
      </p:pic>
      <p:pic>
        <p:nvPicPr>
          <p:cNvPr id="5122" name="Picture 2"/>
          <p:cNvPicPr>
            <a:picLocks noChangeAspect="1" noChangeArrowheads="1"/>
          </p:cNvPicPr>
          <p:nvPr/>
        </p:nvPicPr>
        <p:blipFill>
          <a:blip r:embed="rId3" cstate="print"/>
          <a:srcRect/>
          <a:stretch>
            <a:fillRect/>
          </a:stretch>
        </p:blipFill>
        <p:spPr bwMode="auto">
          <a:xfrm>
            <a:off x="533400" y="2819400"/>
            <a:ext cx="7696200" cy="3733800"/>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p:cNvSpPr>
            <a:spLocks noChangeArrowheads="1"/>
          </p:cNvSpPr>
          <p:nvPr/>
        </p:nvSpPr>
        <p:spPr bwMode="auto">
          <a:xfrm>
            <a:off x="304800" y="565665"/>
            <a:ext cx="8305800"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333333"/>
                </a:solidFill>
                <a:effectLst/>
                <a:latin typeface="Montserrat" pitchFamily="2" charset="0"/>
                <a:cs typeface="Arial" pitchFamily="34" charset="0"/>
              </a:rPr>
              <a:t>Number of comparisons requires applying the divide and conquering algorithm on n elements</a:t>
            </a:r>
            <a:r>
              <a:rPr kumimoji="0" lang="en-US" sz="2400" b="0" i="0" u="none" strike="noStrike" cap="none" normalizeH="0" dirty="0" smtClean="0">
                <a:ln>
                  <a:noFill/>
                </a:ln>
                <a:solidFill>
                  <a:srgbClr val="333333"/>
                </a:solidFill>
                <a:effectLst/>
                <a:latin typeface="Montserrat" pitchFamily="2" charset="0"/>
                <a:cs typeface="Arial" pitchFamily="34" charset="0"/>
              </a:rPr>
              <a:t> </a:t>
            </a:r>
            <a:r>
              <a:rPr kumimoji="0" lang="en-US" sz="2400" b="0" i="0" u="none" strike="noStrike" cap="none" normalizeH="0" baseline="0" dirty="0" smtClean="0">
                <a:ln>
                  <a:noFill/>
                </a:ln>
                <a:solidFill>
                  <a:srgbClr val="333333"/>
                </a:solidFill>
                <a:effectLst/>
                <a:latin typeface="Montserrat" pitchFamily="2" charset="0"/>
                <a:cs typeface="Arial" pitchFamily="34" charset="0"/>
              </a:rPr>
              <a:t>=  </a:t>
            </a:r>
            <a:r>
              <a:rPr kumimoji="0" lang="en-US" sz="1400" b="0" i="0" u="none" strike="noStrike" cap="none" normalizeH="0" baseline="0" dirty="0" smtClean="0">
                <a:ln>
                  <a:noFill/>
                </a:ln>
                <a:solidFill>
                  <a:schemeClr val="tx1"/>
                </a:solidFill>
                <a:effectLst/>
                <a:latin typeface="Arial" pitchFamily="34" charset="0"/>
                <a:cs typeface="Arial" pitchFamily="34" charset="0"/>
              </a:rPr>
              <a:t>  </a:t>
            </a:r>
            <a:r>
              <a:rPr kumimoji="0" lang="en-US" sz="4800" b="0" i="0" u="none" strike="noStrike" cap="none" normalizeH="0" baseline="0" dirty="0" smtClean="0">
                <a:ln>
                  <a:noFill/>
                </a:ln>
                <a:solidFill>
                  <a:schemeClr val="tx1"/>
                </a:solidFill>
                <a:effectLst/>
                <a:latin typeface="Arial" pitchFamily="34" charset="0"/>
                <a:cs typeface="Arial" pitchFamily="34" charset="0"/>
              </a:rPr>
              <a:t> </a:t>
            </a:r>
            <a:endParaRPr kumimoji="0" lang="en-US" sz="4000" b="0" i="0" u="none" strike="noStrike" cap="none" normalizeH="0" baseline="0" dirty="0" smtClean="0">
              <a:ln>
                <a:noFill/>
              </a:ln>
              <a:solidFill>
                <a:schemeClr val="tx1"/>
              </a:solidFill>
              <a:effectLst/>
              <a:latin typeface="Arial" pitchFamily="34" charset="0"/>
              <a:cs typeface="Arial" pitchFamily="34" charset="0"/>
            </a:endParaRPr>
          </a:p>
        </p:txBody>
      </p:sp>
      <p:pic>
        <p:nvPicPr>
          <p:cNvPr id="6146" name="Picture 2" descr="Max - Min Problem"/>
          <p:cNvPicPr>
            <a:picLocks noChangeAspect="1" noChangeArrowheads="1"/>
          </p:cNvPicPr>
          <p:nvPr/>
        </p:nvPicPr>
        <p:blipFill>
          <a:blip r:embed="rId2" cstate="print"/>
          <a:srcRect/>
          <a:stretch>
            <a:fillRect/>
          </a:stretch>
        </p:blipFill>
        <p:spPr bwMode="auto">
          <a:xfrm>
            <a:off x="7348538" y="-190500"/>
            <a:ext cx="428625" cy="400050"/>
          </a:xfrm>
          <a:prstGeom prst="rect">
            <a:avLst/>
          </a:prstGeom>
          <a:noFill/>
        </p:spPr>
      </p:pic>
      <p:pic>
        <p:nvPicPr>
          <p:cNvPr id="6147" name="Picture 3"/>
          <p:cNvPicPr>
            <a:picLocks noChangeAspect="1" noChangeArrowheads="1"/>
          </p:cNvPicPr>
          <p:nvPr/>
        </p:nvPicPr>
        <p:blipFill>
          <a:blip r:embed="rId3" cstate="print"/>
          <a:srcRect/>
          <a:stretch>
            <a:fillRect/>
          </a:stretch>
        </p:blipFill>
        <p:spPr bwMode="auto">
          <a:xfrm>
            <a:off x="7162800" y="1066800"/>
            <a:ext cx="1371600" cy="990600"/>
          </a:xfrm>
          <a:prstGeom prst="rect">
            <a:avLst/>
          </a:prstGeom>
          <a:noFill/>
          <a:ln w="9525">
            <a:noFill/>
            <a:miter lim="800000"/>
            <a:headEnd/>
            <a:tailEnd/>
          </a:ln>
        </p:spPr>
      </p:pic>
      <p:pic>
        <p:nvPicPr>
          <p:cNvPr id="6150" name="Picture 6"/>
          <p:cNvPicPr>
            <a:picLocks noChangeAspect="1" noChangeArrowheads="1"/>
          </p:cNvPicPr>
          <p:nvPr/>
        </p:nvPicPr>
        <p:blipFill>
          <a:blip r:embed="rId4" cstate="print"/>
          <a:srcRect/>
          <a:stretch>
            <a:fillRect/>
          </a:stretch>
        </p:blipFill>
        <p:spPr bwMode="auto">
          <a:xfrm>
            <a:off x="304800" y="2133600"/>
            <a:ext cx="8001000" cy="2667000"/>
          </a:xfrm>
          <a:prstGeom prst="rect">
            <a:avLst/>
          </a:prstGeom>
          <a:noFill/>
          <a:ln w="9525">
            <a:noFill/>
            <a:miter lim="800000"/>
            <a:headEnd/>
            <a:tailEnd/>
          </a:ln>
        </p:spPr>
      </p:pic>
      <p:pic>
        <p:nvPicPr>
          <p:cNvPr id="6151" name="Picture 7"/>
          <p:cNvPicPr>
            <a:picLocks noChangeAspect="1" noChangeArrowheads="1"/>
          </p:cNvPicPr>
          <p:nvPr/>
        </p:nvPicPr>
        <p:blipFill>
          <a:blip r:embed="rId5" cstate="print"/>
          <a:srcRect/>
          <a:stretch>
            <a:fillRect/>
          </a:stretch>
        </p:blipFill>
        <p:spPr bwMode="auto">
          <a:xfrm>
            <a:off x="381000" y="5029200"/>
            <a:ext cx="8001000" cy="1371600"/>
          </a:xfrm>
          <a:prstGeom prst="rect">
            <a:avLst/>
          </a:prstGeom>
          <a:noFill/>
          <a:ln w="9525">
            <a:noFill/>
            <a:miter lim="800000"/>
            <a:headEnd/>
            <a:tailEnd/>
          </a:ln>
        </p:spPr>
      </p:pic>
      <p:sp>
        <p:nvSpPr>
          <p:cNvPr id="11" name="Rectangle 10"/>
          <p:cNvSpPr/>
          <p:nvPr/>
        </p:nvSpPr>
        <p:spPr>
          <a:xfrm>
            <a:off x="4038600" y="6019800"/>
            <a:ext cx="1164101" cy="369332"/>
          </a:xfrm>
          <a:prstGeom prst="rect">
            <a:avLst/>
          </a:prstGeom>
        </p:spPr>
        <p:txBody>
          <a:bodyPr wrap="none">
            <a:spAutoFit/>
          </a:bodyPr>
          <a:lstStyle/>
          <a:p>
            <a:r>
              <a:rPr lang="en-US" dirty="0" err="1" smtClean="0">
                <a:solidFill>
                  <a:srgbClr val="333333"/>
                </a:solidFill>
                <a:latin typeface="Montserrat" pitchFamily="2" charset="0"/>
                <a:cs typeface="Arial" pitchFamily="34" charset="0"/>
              </a:rPr>
              <a:t>Ans</a:t>
            </a:r>
            <a:r>
              <a:rPr lang="en-US" dirty="0" smtClean="0">
                <a:solidFill>
                  <a:srgbClr val="333333"/>
                </a:solidFill>
                <a:latin typeface="Montserrat" pitchFamily="2" charset="0"/>
                <a:cs typeface="Arial" pitchFamily="34" charset="0"/>
              </a:rPr>
              <a:t>: 748</a:t>
            </a: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lgn="ctr">
              <a:buNone/>
            </a:pPr>
            <a:endParaRPr lang="en-US" sz="6600" dirty="0" smtClean="0"/>
          </a:p>
          <a:p>
            <a:pPr algn="ctr">
              <a:buNone/>
            </a:pPr>
            <a:r>
              <a:rPr lang="en-US" sz="6600" dirty="0" smtClean="0"/>
              <a:t>Selection problem</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smtClean="0"/>
              <a:t>Selection Problem</a:t>
            </a:r>
            <a:endParaRPr lang="en-US" dirty="0"/>
          </a:p>
        </p:txBody>
      </p:sp>
      <p:sp>
        <p:nvSpPr>
          <p:cNvPr id="3" name="Content Placeholder 2"/>
          <p:cNvSpPr>
            <a:spLocks noGrp="1"/>
          </p:cNvSpPr>
          <p:nvPr>
            <p:ph idx="1"/>
          </p:nvPr>
        </p:nvSpPr>
        <p:spPr>
          <a:xfrm>
            <a:off x="304800" y="990600"/>
            <a:ext cx="8305800" cy="5135563"/>
          </a:xfrm>
        </p:spPr>
        <p:txBody>
          <a:bodyPr/>
          <a:lstStyle/>
          <a:p>
            <a:r>
              <a:rPr lang="en-US" dirty="0" smtClean="0"/>
              <a:t>The </a:t>
            </a:r>
            <a:r>
              <a:rPr lang="en-US" b="1" dirty="0" smtClean="0"/>
              <a:t>general problem</a:t>
            </a:r>
            <a:r>
              <a:rPr lang="en-US" dirty="0" smtClean="0"/>
              <a:t> of finding the </a:t>
            </a:r>
            <a:r>
              <a:rPr lang="en-US" b="1" dirty="0" smtClean="0"/>
              <a:t>k-</a:t>
            </a:r>
            <a:r>
              <a:rPr lang="en-US" b="1" dirty="0" err="1" smtClean="0"/>
              <a:t>th</a:t>
            </a:r>
            <a:r>
              <a:rPr lang="en-US" b="1" dirty="0" smtClean="0"/>
              <a:t> smallest or k-</a:t>
            </a:r>
            <a:r>
              <a:rPr lang="en-US" b="1" dirty="0" err="1" smtClean="0"/>
              <a:t>th</a:t>
            </a:r>
            <a:r>
              <a:rPr lang="en-US" b="1" dirty="0" smtClean="0"/>
              <a:t> largest element</a:t>
            </a:r>
            <a:r>
              <a:rPr lang="en-US" dirty="0" smtClean="0"/>
              <a:t> in an </a:t>
            </a:r>
            <a:r>
              <a:rPr lang="en-US" b="1" dirty="0" smtClean="0"/>
              <a:t>unsorted array</a:t>
            </a:r>
            <a:r>
              <a:rPr lang="en-US" dirty="0" smtClean="0"/>
              <a:t> using the </a:t>
            </a:r>
            <a:r>
              <a:rPr lang="en-US" b="1" dirty="0" smtClean="0"/>
              <a:t>Divide and Conquer (DAC)</a:t>
            </a:r>
            <a:r>
              <a:rPr lang="en-US" dirty="0" smtClean="0"/>
              <a:t> approach. Different ways to solve it:</a:t>
            </a:r>
          </a:p>
          <a:p>
            <a:r>
              <a:rPr lang="pt-BR" b="1" dirty="0" smtClean="0"/>
              <a:t>Sorting + Picking k-th element</a:t>
            </a:r>
            <a:r>
              <a:rPr lang="pt-BR" dirty="0" smtClean="0"/>
              <a:t> → O(nlogn)</a:t>
            </a:r>
          </a:p>
          <a:p>
            <a:r>
              <a:rPr lang="en-US" b="1" dirty="0" err="1" smtClean="0"/>
              <a:t>QuickSelect</a:t>
            </a:r>
            <a:r>
              <a:rPr lang="en-US" b="1" dirty="0" smtClean="0"/>
              <a:t> Algorithm</a:t>
            </a:r>
            <a:r>
              <a:rPr lang="en-US" dirty="0" smtClean="0"/>
              <a:t> → O(n)</a:t>
            </a:r>
            <a:endParaRPr lang="en-US" dirty="0"/>
          </a:p>
        </p:txBody>
      </p:sp>
      <p:pic>
        <p:nvPicPr>
          <p:cNvPr id="79875" name="Picture 3"/>
          <p:cNvPicPr>
            <a:picLocks noChangeAspect="1" noChangeArrowheads="1"/>
          </p:cNvPicPr>
          <p:nvPr/>
        </p:nvPicPr>
        <p:blipFill>
          <a:blip r:embed="rId2" cstate="print"/>
          <a:srcRect/>
          <a:stretch>
            <a:fillRect/>
          </a:stretch>
        </p:blipFill>
        <p:spPr bwMode="auto">
          <a:xfrm>
            <a:off x="685800" y="4267200"/>
            <a:ext cx="8077200" cy="2286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a:normAutofit fontScale="90000"/>
          </a:bodyPr>
          <a:lstStyle/>
          <a:p>
            <a:r>
              <a:rPr lang="en-US" b="1" dirty="0" smtClean="0"/>
              <a:t>Selection Problem applications</a:t>
            </a:r>
            <a:endParaRPr lang="en-US" dirty="0"/>
          </a:p>
        </p:txBody>
      </p:sp>
      <p:sp>
        <p:nvSpPr>
          <p:cNvPr id="3" name="Content Placeholder 2"/>
          <p:cNvSpPr>
            <a:spLocks noGrp="1"/>
          </p:cNvSpPr>
          <p:nvPr>
            <p:ph idx="1"/>
          </p:nvPr>
        </p:nvSpPr>
        <p:spPr>
          <a:xfrm>
            <a:off x="228600" y="762000"/>
            <a:ext cx="8915400" cy="5867400"/>
          </a:xfrm>
        </p:spPr>
        <p:txBody>
          <a:bodyPr>
            <a:noAutofit/>
          </a:bodyPr>
          <a:lstStyle/>
          <a:p>
            <a:pPr>
              <a:buNone/>
            </a:pPr>
            <a:r>
              <a:rPr lang="en-US" sz="2000" dirty="0" smtClean="0"/>
              <a:t>The </a:t>
            </a:r>
            <a:r>
              <a:rPr lang="en-US" sz="2000" b="1" dirty="0" smtClean="0"/>
              <a:t>Selection Problem</a:t>
            </a:r>
            <a:r>
              <a:rPr lang="en-US" sz="2000" dirty="0" smtClean="0"/>
              <a:t> has several real-world applications across different domains. Here are some key applications:</a:t>
            </a:r>
          </a:p>
          <a:p>
            <a:pPr>
              <a:buNone/>
            </a:pPr>
            <a:r>
              <a:rPr lang="en-US" sz="2000" b="1" dirty="0" smtClean="0"/>
              <a:t>1. Order Statistics in Data Analysis</a:t>
            </a:r>
          </a:p>
          <a:p>
            <a:pPr>
              <a:buNone/>
            </a:pPr>
            <a:r>
              <a:rPr lang="en-US" sz="2000" b="1" dirty="0" smtClean="0"/>
              <a:t>Finding the Median</a:t>
            </a:r>
            <a:r>
              <a:rPr lang="en-US" sz="2000" dirty="0" smtClean="0"/>
              <a:t>: The median is the n/2th smallest element. This is crucial in statistics for robust data summarization.</a:t>
            </a:r>
          </a:p>
          <a:p>
            <a:pPr>
              <a:buNone/>
            </a:pPr>
            <a:r>
              <a:rPr lang="en-US" sz="2000" b="1" dirty="0" smtClean="0"/>
              <a:t>Percentiles &amp; Quartiles</a:t>
            </a:r>
            <a:r>
              <a:rPr lang="en-US" sz="2000" dirty="0" smtClean="0"/>
              <a:t>: The </a:t>
            </a:r>
            <a:r>
              <a:rPr lang="en-US" sz="2000" b="1" dirty="0" smtClean="0"/>
              <a:t>k-</a:t>
            </a:r>
            <a:r>
              <a:rPr lang="en-US" sz="2000" b="1" dirty="0" err="1" smtClean="0"/>
              <a:t>th</a:t>
            </a:r>
            <a:r>
              <a:rPr lang="en-US" sz="2000" b="1" dirty="0" smtClean="0"/>
              <a:t> smallest element</a:t>
            </a:r>
            <a:r>
              <a:rPr lang="en-US" sz="2000" dirty="0" smtClean="0"/>
              <a:t> helps in calculating percentiles (e.g., 25th, 50th, 75th percentile).</a:t>
            </a:r>
          </a:p>
          <a:p>
            <a:pPr>
              <a:buNone/>
            </a:pPr>
            <a:r>
              <a:rPr lang="en-US" sz="2000" b="1" dirty="0" smtClean="0"/>
              <a:t>Example</a:t>
            </a:r>
            <a:r>
              <a:rPr lang="en-US" sz="2000" dirty="0" smtClean="0"/>
              <a:t>: In large datasets (like salaries, exam scores, or stock prices), median and percentiles help in meaningful comparisons.</a:t>
            </a:r>
          </a:p>
          <a:p>
            <a:pPr>
              <a:buNone/>
            </a:pPr>
            <a:r>
              <a:rPr lang="en-US" sz="2000" b="1" dirty="0" smtClean="0"/>
              <a:t>2. Competitive Programming &amp; Algorithm Design</a:t>
            </a:r>
          </a:p>
          <a:p>
            <a:pPr>
              <a:buNone/>
            </a:pPr>
            <a:r>
              <a:rPr lang="en-US" sz="2000" dirty="0" smtClean="0"/>
              <a:t>Used in </a:t>
            </a:r>
            <a:r>
              <a:rPr lang="en-US" sz="2000" b="1" dirty="0" err="1" smtClean="0"/>
              <a:t>QuickSelect</a:t>
            </a:r>
            <a:r>
              <a:rPr lang="en-US" sz="2000" b="1" dirty="0" smtClean="0"/>
              <a:t> Algorithm</a:t>
            </a:r>
            <a:r>
              <a:rPr lang="en-US" sz="2000" dirty="0" smtClean="0"/>
              <a:t>, an efficient way to find the k-</a:t>
            </a:r>
            <a:r>
              <a:rPr lang="en-US" sz="2000" dirty="0" err="1" smtClean="0"/>
              <a:t>th</a:t>
            </a:r>
            <a:r>
              <a:rPr lang="en-US" sz="2000" dirty="0" smtClean="0"/>
              <a:t> smallest/largest element in </a:t>
            </a:r>
            <a:r>
              <a:rPr lang="en-US" sz="2000" b="1" dirty="0" smtClean="0"/>
              <a:t>O(n) average time</a:t>
            </a:r>
            <a:r>
              <a:rPr lang="en-US" sz="2000" dirty="0" smtClean="0"/>
              <a:t>.</a:t>
            </a:r>
          </a:p>
          <a:p>
            <a:pPr>
              <a:buNone/>
            </a:pPr>
            <a:r>
              <a:rPr lang="en-US" sz="2000" dirty="0" smtClean="0"/>
              <a:t>Used in </a:t>
            </a:r>
            <a:r>
              <a:rPr lang="en-US" sz="2000" b="1" dirty="0" smtClean="0"/>
              <a:t>Median of Medians Algorithm</a:t>
            </a:r>
            <a:r>
              <a:rPr lang="en-US" sz="2000" dirty="0" smtClean="0"/>
              <a:t> to guarantee worst-case </a:t>
            </a:r>
            <a:r>
              <a:rPr lang="en-US" sz="2000" b="1" dirty="0" smtClean="0"/>
              <a:t>O(n)</a:t>
            </a:r>
            <a:r>
              <a:rPr lang="en-US" sz="2000" dirty="0" smtClean="0"/>
              <a:t> selection.</a:t>
            </a:r>
          </a:p>
          <a:p>
            <a:pPr>
              <a:buNone/>
            </a:pPr>
            <a:r>
              <a:rPr lang="en-US" sz="2000" b="1" dirty="0" smtClean="0"/>
              <a:t>3. Database Query Optimization</a:t>
            </a:r>
          </a:p>
          <a:p>
            <a:pPr>
              <a:buNone/>
            </a:pPr>
            <a:r>
              <a:rPr lang="en-US" sz="2000" b="1" dirty="0" smtClean="0"/>
              <a:t>Top-k Queries</a:t>
            </a:r>
            <a:r>
              <a:rPr lang="en-US" sz="2000" dirty="0" smtClean="0"/>
              <a:t>: Databases often retrieve only the </a:t>
            </a:r>
            <a:r>
              <a:rPr lang="en-US" sz="2000" b="1" dirty="0" smtClean="0"/>
              <a:t>top-k</a:t>
            </a:r>
            <a:r>
              <a:rPr lang="en-US" sz="2000" dirty="0" smtClean="0"/>
              <a:t> largest or smallest elements instead of sorting the entire dataset.</a:t>
            </a:r>
          </a:p>
          <a:p>
            <a:pPr>
              <a:buNone/>
            </a:pPr>
            <a:r>
              <a:rPr lang="en-US" sz="2000" b="1" dirty="0" smtClean="0"/>
              <a:t>Example</a:t>
            </a:r>
            <a:r>
              <a:rPr lang="en-US" sz="2000" dirty="0" smtClean="0"/>
              <a:t>: Finding the </a:t>
            </a:r>
            <a:r>
              <a:rPr lang="en-US" sz="2000" b="1" dirty="0" smtClean="0"/>
              <a:t>top 10 highest-grossing movies</a:t>
            </a:r>
            <a:r>
              <a:rPr lang="en-US" sz="2000" dirty="0" smtClean="0"/>
              <a:t> without sorting all movies.</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229600" cy="685800"/>
          </a:xfrm>
        </p:spPr>
        <p:txBody>
          <a:bodyPr>
            <a:normAutofit/>
          </a:bodyPr>
          <a:lstStyle/>
          <a:p>
            <a:r>
              <a:rPr lang="en-US" sz="3200" b="1" dirty="0" smtClean="0"/>
              <a:t>Selection Problem applications</a:t>
            </a:r>
            <a:endParaRPr lang="en-US" sz="3200" dirty="0"/>
          </a:p>
        </p:txBody>
      </p:sp>
      <p:sp>
        <p:nvSpPr>
          <p:cNvPr id="3" name="Content Placeholder 2"/>
          <p:cNvSpPr>
            <a:spLocks noGrp="1"/>
          </p:cNvSpPr>
          <p:nvPr>
            <p:ph idx="1"/>
          </p:nvPr>
        </p:nvSpPr>
        <p:spPr>
          <a:xfrm>
            <a:off x="304800" y="914400"/>
            <a:ext cx="8839200" cy="5791200"/>
          </a:xfrm>
        </p:spPr>
        <p:txBody>
          <a:bodyPr>
            <a:normAutofit fontScale="70000" lnSpcReduction="20000"/>
          </a:bodyPr>
          <a:lstStyle/>
          <a:p>
            <a:pPr>
              <a:buNone/>
            </a:pPr>
            <a:r>
              <a:rPr lang="en-US" sz="3400" b="1" dirty="0" smtClean="0"/>
              <a:t>4. Machine Learning &amp; Data Science</a:t>
            </a:r>
          </a:p>
          <a:p>
            <a:pPr>
              <a:buNone/>
            </a:pPr>
            <a:r>
              <a:rPr lang="en-US" sz="3400" b="1" dirty="0" smtClean="0"/>
              <a:t>Feature Selection</a:t>
            </a:r>
            <a:r>
              <a:rPr lang="en-US" sz="3400" dirty="0" smtClean="0"/>
              <a:t>: Selecting the most important k features from a dataset.</a:t>
            </a:r>
          </a:p>
          <a:p>
            <a:pPr>
              <a:buNone/>
            </a:pPr>
            <a:r>
              <a:rPr lang="en-US" sz="3400" b="1" dirty="0" smtClean="0"/>
              <a:t>Example</a:t>
            </a:r>
            <a:r>
              <a:rPr lang="en-US" sz="3400" dirty="0" smtClean="0"/>
              <a:t>: In a machine learning model, choosing the top-k most significant attributes to improve accuracy.</a:t>
            </a:r>
          </a:p>
          <a:p>
            <a:pPr>
              <a:buNone/>
            </a:pPr>
            <a:r>
              <a:rPr lang="en-US" sz="3400" b="1" dirty="0" smtClean="0"/>
              <a:t>Outlier Detection</a:t>
            </a:r>
            <a:r>
              <a:rPr lang="en-US" sz="3400" dirty="0" smtClean="0"/>
              <a:t>: Finding extreme values in data, like the </a:t>
            </a:r>
            <a:r>
              <a:rPr lang="en-US" sz="3400" b="1" dirty="0" smtClean="0"/>
              <a:t>top 5 highest temperatures recorded</a:t>
            </a:r>
            <a:r>
              <a:rPr lang="en-US" sz="3400" dirty="0" smtClean="0"/>
              <a:t>.</a:t>
            </a:r>
          </a:p>
          <a:p>
            <a:pPr>
              <a:buNone/>
            </a:pPr>
            <a:r>
              <a:rPr lang="en-US" sz="3400" b="1" dirty="0" smtClean="0"/>
              <a:t>5. Operating Systems &amp; Memory Management</a:t>
            </a:r>
          </a:p>
          <a:p>
            <a:pPr>
              <a:buNone/>
            </a:pPr>
            <a:r>
              <a:rPr lang="en-US" sz="3400" b="1" dirty="0" smtClean="0"/>
              <a:t>Process Scheduling</a:t>
            </a:r>
            <a:r>
              <a:rPr lang="en-US" sz="3400" dirty="0" smtClean="0"/>
              <a:t>: Selecting the k-</a:t>
            </a:r>
            <a:r>
              <a:rPr lang="en-US" sz="3400" dirty="0" err="1" smtClean="0"/>
              <a:t>th</a:t>
            </a:r>
            <a:r>
              <a:rPr lang="en-US" sz="3400" dirty="0" smtClean="0"/>
              <a:t> highest priority process in priority-based scheduling.</a:t>
            </a:r>
          </a:p>
          <a:p>
            <a:pPr>
              <a:buNone/>
            </a:pPr>
            <a:r>
              <a:rPr lang="en-US" sz="3400" b="1" dirty="0" smtClean="0"/>
              <a:t>Memory Allocation</a:t>
            </a:r>
            <a:r>
              <a:rPr lang="en-US" sz="3400" dirty="0" smtClean="0"/>
              <a:t>: Finding the k-</a:t>
            </a:r>
            <a:r>
              <a:rPr lang="en-US" sz="3400" dirty="0" err="1" smtClean="0"/>
              <a:t>th</a:t>
            </a:r>
            <a:r>
              <a:rPr lang="en-US" sz="3400" dirty="0" smtClean="0"/>
              <a:t> largest memory block available in </a:t>
            </a:r>
            <a:r>
              <a:rPr lang="en-US" sz="3400" b="1" dirty="0" smtClean="0"/>
              <a:t>best-fit or worst-fit</a:t>
            </a:r>
            <a:r>
              <a:rPr lang="en-US" sz="3400" dirty="0" smtClean="0"/>
              <a:t> allocation.</a:t>
            </a:r>
          </a:p>
          <a:p>
            <a:pPr>
              <a:buNone/>
            </a:pPr>
            <a:r>
              <a:rPr lang="en-US" sz="3400" b="1" dirty="0" smtClean="0"/>
              <a:t>6. Network Security &amp; Intrusion Detection</a:t>
            </a:r>
          </a:p>
          <a:p>
            <a:pPr>
              <a:buNone/>
            </a:pPr>
            <a:r>
              <a:rPr lang="en-US" sz="3400" b="1" dirty="0" smtClean="0"/>
              <a:t>Detecting Top-k Anomalous Activities</a:t>
            </a:r>
            <a:r>
              <a:rPr lang="en-US" sz="3400" dirty="0" smtClean="0"/>
              <a:t>: Identifying the k most suspicious IP addresses or users based on anomaly scores.</a:t>
            </a:r>
          </a:p>
          <a:p>
            <a:pPr>
              <a:buNone/>
            </a:pPr>
            <a:r>
              <a:rPr lang="en-US" sz="3400" b="1" dirty="0" smtClean="0"/>
              <a:t>Traffic Analysis</a:t>
            </a:r>
            <a:r>
              <a:rPr lang="en-US" sz="3400" dirty="0" smtClean="0"/>
              <a:t>: Finding the </a:t>
            </a:r>
            <a:r>
              <a:rPr lang="en-US" sz="3400" b="1" dirty="0" smtClean="0"/>
              <a:t>top-k busiest network connections</a:t>
            </a:r>
            <a:r>
              <a:rPr lang="en-US" sz="3400" dirty="0" smtClean="0"/>
              <a:t> for optimization and security monitoring.</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685800"/>
          </a:xfrm>
        </p:spPr>
        <p:txBody>
          <a:bodyPr>
            <a:normAutofit/>
          </a:bodyPr>
          <a:lstStyle/>
          <a:p>
            <a:r>
              <a:rPr lang="en-US" sz="3200" b="1" dirty="0" smtClean="0"/>
              <a:t>Selection Problem applications</a:t>
            </a:r>
            <a:endParaRPr lang="en-US" sz="3200" dirty="0"/>
          </a:p>
        </p:txBody>
      </p:sp>
      <p:sp>
        <p:nvSpPr>
          <p:cNvPr id="3" name="Content Placeholder 2"/>
          <p:cNvSpPr>
            <a:spLocks noGrp="1"/>
          </p:cNvSpPr>
          <p:nvPr>
            <p:ph idx="1"/>
          </p:nvPr>
        </p:nvSpPr>
        <p:spPr>
          <a:xfrm>
            <a:off x="304800" y="1066800"/>
            <a:ext cx="8839200" cy="5410200"/>
          </a:xfrm>
        </p:spPr>
        <p:txBody>
          <a:bodyPr>
            <a:normAutofit fontScale="70000" lnSpcReduction="20000"/>
          </a:bodyPr>
          <a:lstStyle/>
          <a:p>
            <a:pPr>
              <a:buNone/>
            </a:pPr>
            <a:r>
              <a:rPr lang="en-US" sz="3400" b="1" dirty="0" smtClean="0"/>
              <a:t>7. Stock Market &amp; Financial Analysis</a:t>
            </a:r>
          </a:p>
          <a:p>
            <a:pPr>
              <a:buNone/>
            </a:pPr>
            <a:r>
              <a:rPr lang="en-US" sz="3400" b="1" dirty="0" smtClean="0"/>
              <a:t>Top-k Performing Stocks</a:t>
            </a:r>
            <a:r>
              <a:rPr lang="en-US" sz="3400" dirty="0" smtClean="0"/>
              <a:t>: Finding the </a:t>
            </a:r>
            <a:r>
              <a:rPr lang="en-US" sz="3400" b="1" dirty="0" smtClean="0"/>
              <a:t>top 5 stocks</a:t>
            </a:r>
            <a:r>
              <a:rPr lang="en-US" sz="3400" dirty="0" smtClean="0"/>
              <a:t> based on highest returns in a given period.</a:t>
            </a:r>
          </a:p>
          <a:p>
            <a:pPr>
              <a:buNone/>
            </a:pPr>
            <a:r>
              <a:rPr lang="en-US" sz="3400" b="1" dirty="0" smtClean="0"/>
              <a:t>Risk Assessment</a:t>
            </a:r>
            <a:r>
              <a:rPr lang="en-US" sz="3400" dirty="0" smtClean="0"/>
              <a:t>: Selecting </a:t>
            </a:r>
            <a:r>
              <a:rPr lang="en-US" sz="3400" b="1" dirty="0" smtClean="0"/>
              <a:t>k worst-performing stocks</a:t>
            </a:r>
            <a:r>
              <a:rPr lang="en-US" sz="3400" dirty="0" smtClean="0"/>
              <a:t> to minimize risk in portfolio management.</a:t>
            </a:r>
          </a:p>
          <a:p>
            <a:pPr>
              <a:buNone/>
            </a:pPr>
            <a:r>
              <a:rPr lang="en-US" sz="3400" b="1" dirty="0" smtClean="0"/>
              <a:t>8. Image &amp; Signal Processing</a:t>
            </a:r>
          </a:p>
          <a:p>
            <a:pPr>
              <a:buNone/>
            </a:pPr>
            <a:r>
              <a:rPr lang="en-US" sz="3400" b="1" dirty="0" smtClean="0"/>
              <a:t>Filtering &amp; Edge Detection</a:t>
            </a:r>
            <a:r>
              <a:rPr lang="en-US" sz="3400" dirty="0" smtClean="0"/>
              <a:t>: Selecting the median pixel intensity for noise reduction.</a:t>
            </a:r>
          </a:p>
          <a:p>
            <a:pPr>
              <a:buNone/>
            </a:pPr>
            <a:r>
              <a:rPr lang="en-US" sz="3400" b="1" dirty="0" smtClean="0"/>
              <a:t>Top-k Pixel Selection</a:t>
            </a:r>
            <a:r>
              <a:rPr lang="en-US" sz="3400" dirty="0" smtClean="0"/>
              <a:t>: Finding the </a:t>
            </a:r>
            <a:r>
              <a:rPr lang="en-US" sz="3400" b="1" dirty="0" smtClean="0"/>
              <a:t>k-</a:t>
            </a:r>
            <a:r>
              <a:rPr lang="en-US" sz="3400" b="1" dirty="0" err="1" smtClean="0"/>
              <a:t>th</a:t>
            </a:r>
            <a:r>
              <a:rPr lang="en-US" sz="3400" b="1" dirty="0" smtClean="0"/>
              <a:t> most prominent colors</a:t>
            </a:r>
            <a:r>
              <a:rPr lang="en-US" sz="3400" dirty="0" smtClean="0"/>
              <a:t> in an image for compression.</a:t>
            </a:r>
          </a:p>
          <a:p>
            <a:pPr>
              <a:buNone/>
            </a:pPr>
            <a:r>
              <a:rPr lang="en-US" sz="3400" b="1" dirty="0" smtClean="0"/>
              <a:t>9. Artificial Intelligence &amp; Search Engines</a:t>
            </a:r>
          </a:p>
          <a:p>
            <a:pPr>
              <a:buNone/>
            </a:pPr>
            <a:r>
              <a:rPr lang="en-US" sz="3400" b="1" dirty="0" smtClean="0"/>
              <a:t>Top-k Document Retrieval</a:t>
            </a:r>
            <a:r>
              <a:rPr lang="en-US" sz="3400" dirty="0" smtClean="0"/>
              <a:t>: Search engines like Google use selection algorithms to return the </a:t>
            </a:r>
            <a:r>
              <a:rPr lang="en-US" sz="3400" b="1" dirty="0" smtClean="0"/>
              <a:t>top-k most relevant results</a:t>
            </a:r>
            <a:r>
              <a:rPr lang="en-US" sz="3400" dirty="0" smtClean="0"/>
              <a:t>.</a:t>
            </a:r>
          </a:p>
          <a:p>
            <a:pPr>
              <a:buNone/>
            </a:pPr>
            <a:r>
              <a:rPr lang="en-US" sz="3400" b="1" dirty="0" smtClean="0"/>
              <a:t>Recommendation Systems</a:t>
            </a:r>
            <a:r>
              <a:rPr lang="en-US" sz="3400" dirty="0" smtClean="0"/>
              <a:t>: Suggesting the </a:t>
            </a:r>
            <a:r>
              <a:rPr lang="en-US" sz="3400" b="1" dirty="0" smtClean="0"/>
              <a:t>top-k most popular movies, books, or songs</a:t>
            </a:r>
            <a:r>
              <a:rPr lang="en-US" sz="2800" dirty="0" smtClean="0"/>
              <a:t>.</a:t>
            </a:r>
            <a:endParaRPr lang="en-US" sz="2800"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78850" name="Picture 2"/>
          <p:cNvPicPr>
            <a:picLocks noChangeAspect="1" noChangeArrowheads="1"/>
          </p:cNvPicPr>
          <p:nvPr/>
        </p:nvPicPr>
        <p:blipFill>
          <a:blip r:embed="rId2" cstate="print"/>
          <a:srcRect/>
          <a:stretch>
            <a:fillRect/>
          </a:stretch>
        </p:blipFill>
        <p:spPr bwMode="auto">
          <a:xfrm>
            <a:off x="381000" y="304800"/>
            <a:ext cx="8153400" cy="6324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228600" y="1752600"/>
            <a:ext cx="8534399" cy="2667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7500" lnSpcReduction="20000"/>
          </a:bodyPr>
          <a:lstStyle/>
          <a:p>
            <a:r>
              <a:rPr lang="en-US" b="1" dirty="0" smtClean="0"/>
              <a:t>Algorithm:</a:t>
            </a:r>
          </a:p>
          <a:p>
            <a:r>
              <a:rPr lang="en-US" b="1" dirty="0" smtClean="0"/>
              <a:t>Divide</a:t>
            </a:r>
            <a:r>
              <a:rPr lang="en-US" dirty="0" smtClean="0"/>
              <a:t>:</a:t>
            </a:r>
          </a:p>
          <a:p>
            <a:pPr lvl="1"/>
            <a:r>
              <a:rPr lang="en-US" dirty="0" smtClean="0"/>
              <a:t>Choose a pivot element (e.g., last, first, or median-of-medians).</a:t>
            </a:r>
          </a:p>
          <a:p>
            <a:pPr lvl="1"/>
            <a:r>
              <a:rPr lang="en-US" dirty="0" smtClean="0"/>
              <a:t>Partition the array into two </a:t>
            </a:r>
            <a:r>
              <a:rPr lang="en-US" dirty="0" err="1" smtClean="0"/>
              <a:t>subarrays</a:t>
            </a:r>
            <a:r>
              <a:rPr lang="en-US" dirty="0" smtClean="0"/>
              <a:t>:</a:t>
            </a:r>
          </a:p>
          <a:p>
            <a:pPr lvl="2"/>
            <a:r>
              <a:rPr lang="en-US" dirty="0" smtClean="0"/>
              <a:t>Left </a:t>
            </a:r>
            <a:r>
              <a:rPr lang="en-US" dirty="0" err="1" smtClean="0"/>
              <a:t>subarray</a:t>
            </a:r>
            <a:r>
              <a:rPr lang="en-US" dirty="0" smtClean="0"/>
              <a:t> with elements </a:t>
            </a:r>
            <a:r>
              <a:rPr lang="en-US" b="1" dirty="0" smtClean="0"/>
              <a:t>less than</a:t>
            </a:r>
            <a:r>
              <a:rPr lang="en-US" dirty="0" smtClean="0"/>
              <a:t> the pivot.</a:t>
            </a:r>
          </a:p>
          <a:p>
            <a:pPr lvl="2"/>
            <a:r>
              <a:rPr lang="en-US" dirty="0" smtClean="0"/>
              <a:t>Right </a:t>
            </a:r>
            <a:r>
              <a:rPr lang="en-US" dirty="0" err="1" smtClean="0"/>
              <a:t>subarray</a:t>
            </a:r>
            <a:r>
              <a:rPr lang="en-US" dirty="0" smtClean="0"/>
              <a:t> with elements </a:t>
            </a:r>
            <a:r>
              <a:rPr lang="en-US" b="1" dirty="0" smtClean="0"/>
              <a:t>greater than</a:t>
            </a:r>
            <a:r>
              <a:rPr lang="en-US" dirty="0" smtClean="0"/>
              <a:t> the pivot.</a:t>
            </a:r>
          </a:p>
          <a:p>
            <a:pPr lvl="1"/>
            <a:r>
              <a:rPr lang="en-US" dirty="0" smtClean="0"/>
              <a:t>The pivot is now in its correct position.</a:t>
            </a:r>
          </a:p>
          <a:p>
            <a:r>
              <a:rPr lang="en-US" b="1" dirty="0" smtClean="0"/>
              <a:t>Conquer</a:t>
            </a:r>
            <a:r>
              <a:rPr lang="en-US" dirty="0" smtClean="0"/>
              <a:t>:</a:t>
            </a:r>
          </a:p>
          <a:p>
            <a:pPr lvl="1"/>
            <a:r>
              <a:rPr lang="en-US" dirty="0" smtClean="0"/>
              <a:t>If pivot index = k, return the pivot.</a:t>
            </a:r>
          </a:p>
          <a:p>
            <a:pPr lvl="1"/>
            <a:r>
              <a:rPr lang="en-US" dirty="0" smtClean="0"/>
              <a:t>If k is smaller, recursively search in the left </a:t>
            </a:r>
            <a:r>
              <a:rPr lang="en-US" dirty="0" err="1" smtClean="0"/>
              <a:t>subarray</a:t>
            </a:r>
            <a:r>
              <a:rPr lang="en-US" dirty="0" smtClean="0"/>
              <a:t>.</a:t>
            </a:r>
          </a:p>
          <a:p>
            <a:pPr lvl="1"/>
            <a:r>
              <a:rPr lang="en-US" dirty="0" smtClean="0"/>
              <a:t>If k is larger, recursively search in the right </a:t>
            </a:r>
            <a:r>
              <a:rPr lang="en-US" dirty="0" err="1" smtClean="0"/>
              <a:t>subarray</a:t>
            </a:r>
            <a:r>
              <a:rPr lang="en-US" dirty="0" smtClean="0"/>
              <a:t> with adjusted k.</a:t>
            </a:r>
          </a:p>
          <a:p>
            <a:r>
              <a:rPr lang="en-US" b="1" dirty="0" smtClean="0"/>
              <a:t>Combine</a:t>
            </a:r>
            <a:r>
              <a:rPr lang="en-US" dirty="0" smtClean="0"/>
              <a:t>:</a:t>
            </a:r>
          </a:p>
          <a:p>
            <a:pPr lvl="1"/>
            <a:r>
              <a:rPr lang="en-US" dirty="0" smtClean="0"/>
              <a:t>The result is found in one of the recursive calls.</a:t>
            </a:r>
            <a:br>
              <a:rPr lang="en-US" dirty="0" smtClean="0"/>
            </a:br>
            <a:endParaRPr lang="en-US" dirty="0" smtClean="0"/>
          </a:p>
          <a:p>
            <a:pPr lvl="1"/>
            <a:r>
              <a:rPr lang="en-US" sz="3600" b="1" dirty="0" smtClean="0"/>
              <a:t>Its time complexity is O(n) in best case in worst it is </a:t>
            </a:r>
            <a:r>
              <a:rPr lang="en-US" sz="3200" b="1" dirty="0" smtClean="0"/>
              <a:t>O(n²)</a:t>
            </a:r>
            <a:endParaRPr lang="en-US" sz="3600" b="1" dirty="0" smtClean="0"/>
          </a:p>
          <a:p>
            <a:endParaRPr lang="en-US"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85000" lnSpcReduction="20000"/>
          </a:bodyPr>
          <a:lstStyle/>
          <a:p>
            <a:pPr>
              <a:buNone/>
            </a:pPr>
            <a:r>
              <a:rPr lang="en-US" dirty="0" smtClean="0"/>
              <a:t>partition(</a:t>
            </a:r>
            <a:r>
              <a:rPr lang="en-US" b="1" dirty="0" smtClean="0"/>
              <a:t>int</a:t>
            </a:r>
            <a:r>
              <a:rPr lang="en-US" dirty="0" smtClean="0"/>
              <a:t> </a:t>
            </a:r>
            <a:r>
              <a:rPr lang="en-US" dirty="0" err="1" smtClean="0"/>
              <a:t>arr</a:t>
            </a:r>
            <a:r>
              <a:rPr lang="en-US" dirty="0" smtClean="0"/>
              <a:t>[],  low, high) {  </a:t>
            </a:r>
          </a:p>
          <a:p>
            <a:pPr>
              <a:buNone/>
            </a:pPr>
            <a:r>
              <a:rPr lang="en-US" dirty="0" smtClean="0"/>
              <a:t>    pivot = </a:t>
            </a:r>
            <a:r>
              <a:rPr lang="en-US" dirty="0" err="1" smtClean="0"/>
              <a:t>arr</a:t>
            </a:r>
            <a:r>
              <a:rPr lang="en-US" dirty="0" smtClean="0"/>
              <a:t>[high];  </a:t>
            </a:r>
          </a:p>
          <a:p>
            <a:pPr>
              <a:buNone/>
            </a:pPr>
            <a:r>
              <a:rPr lang="en-US" dirty="0" smtClean="0"/>
              <a:t>     i = (low );  </a:t>
            </a:r>
          </a:p>
          <a:p>
            <a:pPr>
              <a:buNone/>
            </a:pPr>
            <a:r>
              <a:rPr lang="en-US" dirty="0" smtClean="0"/>
              <a:t>  </a:t>
            </a:r>
          </a:p>
          <a:p>
            <a:pPr>
              <a:buNone/>
            </a:pPr>
            <a:r>
              <a:rPr lang="en-US" dirty="0" smtClean="0"/>
              <a:t>    </a:t>
            </a:r>
            <a:r>
              <a:rPr lang="en-US" b="1" dirty="0" smtClean="0"/>
              <a:t>for</a:t>
            </a:r>
            <a:r>
              <a:rPr lang="en-US" dirty="0" smtClean="0"/>
              <a:t> (j = low; j &lt;= high - 1; j++) {  </a:t>
            </a:r>
          </a:p>
          <a:p>
            <a:pPr>
              <a:buNone/>
            </a:pPr>
            <a:r>
              <a:rPr lang="en-US" dirty="0" smtClean="0"/>
              <a:t>        </a:t>
            </a:r>
            <a:r>
              <a:rPr lang="en-US" b="1" dirty="0" smtClean="0"/>
              <a:t>if</a:t>
            </a:r>
            <a:r>
              <a:rPr lang="en-US" dirty="0" smtClean="0"/>
              <a:t> (</a:t>
            </a:r>
            <a:r>
              <a:rPr lang="en-US" dirty="0" err="1" smtClean="0"/>
              <a:t>arr</a:t>
            </a:r>
            <a:r>
              <a:rPr lang="en-US" dirty="0" smtClean="0"/>
              <a:t>[j] &lt; pivot) {  </a:t>
            </a:r>
          </a:p>
          <a:p>
            <a:pPr>
              <a:buNone/>
            </a:pPr>
            <a:r>
              <a:rPr lang="en-US" dirty="0" smtClean="0"/>
              <a:t>             swap(&amp;</a:t>
            </a:r>
            <a:r>
              <a:rPr lang="en-US" dirty="0" err="1" smtClean="0"/>
              <a:t>arr</a:t>
            </a:r>
            <a:r>
              <a:rPr lang="en-US" dirty="0" smtClean="0"/>
              <a:t>[i], &amp;</a:t>
            </a:r>
            <a:r>
              <a:rPr lang="en-US" dirty="0" err="1" smtClean="0"/>
              <a:t>arr</a:t>
            </a:r>
            <a:r>
              <a:rPr lang="en-US" dirty="0" smtClean="0"/>
              <a:t>[j]);  </a:t>
            </a:r>
            <a:endParaRPr lang="en-US" dirty="0" smtClean="0"/>
          </a:p>
          <a:p>
            <a:pPr>
              <a:buNone/>
            </a:pPr>
            <a:r>
              <a:rPr lang="en-US" dirty="0" smtClean="0"/>
              <a:t>		</a:t>
            </a:r>
            <a:r>
              <a:rPr lang="en-US" dirty="0" smtClean="0"/>
              <a:t> i++;  </a:t>
            </a:r>
            <a:endParaRPr lang="en-US" dirty="0" smtClean="0"/>
          </a:p>
          <a:p>
            <a:pPr>
              <a:buNone/>
            </a:pPr>
            <a:r>
              <a:rPr lang="en-US" dirty="0" smtClean="0"/>
              <a:t>        }  </a:t>
            </a:r>
          </a:p>
          <a:p>
            <a:pPr>
              <a:buNone/>
            </a:pPr>
            <a:r>
              <a:rPr lang="en-US" dirty="0" smtClean="0"/>
              <a:t>    }  </a:t>
            </a:r>
          </a:p>
          <a:p>
            <a:pPr>
              <a:buNone/>
            </a:pPr>
            <a:r>
              <a:rPr lang="en-US" dirty="0" smtClean="0"/>
              <a:t>    swap(&amp;</a:t>
            </a:r>
            <a:r>
              <a:rPr lang="en-US" dirty="0" err="1" smtClean="0"/>
              <a:t>arr</a:t>
            </a:r>
            <a:r>
              <a:rPr lang="en-US" dirty="0" smtClean="0"/>
              <a:t>[i], &amp;</a:t>
            </a:r>
            <a:r>
              <a:rPr lang="en-US" dirty="0" err="1" smtClean="0"/>
              <a:t>arr</a:t>
            </a:r>
            <a:r>
              <a:rPr lang="en-US" dirty="0" smtClean="0"/>
              <a:t>[high]);  </a:t>
            </a:r>
          </a:p>
          <a:p>
            <a:pPr>
              <a:buNone/>
            </a:pPr>
            <a:r>
              <a:rPr lang="en-US" dirty="0" smtClean="0"/>
              <a:t>    </a:t>
            </a:r>
            <a:r>
              <a:rPr lang="en-US" b="1" dirty="0" smtClean="0"/>
              <a:t>return</a:t>
            </a:r>
            <a:r>
              <a:rPr lang="en-US" dirty="0" smtClean="0"/>
              <a:t> (i );  </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77500" lnSpcReduction="20000"/>
          </a:bodyPr>
          <a:lstStyle/>
          <a:p>
            <a:pPr>
              <a:buNone/>
            </a:pPr>
            <a:r>
              <a:rPr lang="en-US" dirty="0" smtClean="0"/>
              <a:t>// </a:t>
            </a:r>
            <a:r>
              <a:rPr lang="en-US" dirty="0" err="1" smtClean="0"/>
              <a:t>QuickSelect</a:t>
            </a:r>
            <a:r>
              <a:rPr lang="en-US" dirty="0" smtClean="0"/>
              <a:t> to find k-</a:t>
            </a:r>
            <a:r>
              <a:rPr lang="en-US" dirty="0" err="1" smtClean="0"/>
              <a:t>th</a:t>
            </a:r>
            <a:r>
              <a:rPr lang="en-US" dirty="0" smtClean="0"/>
              <a:t> smallest element </a:t>
            </a:r>
          </a:p>
          <a:p>
            <a:pPr>
              <a:buNone/>
            </a:pPr>
            <a:r>
              <a:rPr lang="en-US" dirty="0" err="1" smtClean="0"/>
              <a:t>quickSelect</a:t>
            </a:r>
            <a:r>
              <a:rPr lang="en-US" dirty="0" smtClean="0"/>
              <a:t>(</a:t>
            </a:r>
            <a:r>
              <a:rPr lang="en-US" dirty="0" err="1" smtClean="0"/>
              <a:t>arr</a:t>
            </a:r>
            <a:r>
              <a:rPr lang="en-US" dirty="0" smtClean="0"/>
              <a:t>[], low,  high, k) {</a:t>
            </a:r>
          </a:p>
          <a:p>
            <a:pPr>
              <a:buNone/>
            </a:pPr>
            <a:r>
              <a:rPr lang="en-US" dirty="0" smtClean="0"/>
              <a:t> while (low &lt;= high) { </a:t>
            </a:r>
          </a:p>
          <a:p>
            <a:pPr>
              <a:buNone/>
            </a:pPr>
            <a:r>
              <a:rPr lang="en-US" dirty="0" smtClean="0"/>
              <a:t>	 </a:t>
            </a:r>
            <a:r>
              <a:rPr lang="en-US" dirty="0" err="1" smtClean="0"/>
              <a:t>pivotIndex</a:t>
            </a:r>
            <a:r>
              <a:rPr lang="en-US" dirty="0" smtClean="0"/>
              <a:t> = partition(</a:t>
            </a:r>
            <a:r>
              <a:rPr lang="en-US" dirty="0" err="1" smtClean="0"/>
              <a:t>arr</a:t>
            </a:r>
            <a:r>
              <a:rPr lang="en-US" dirty="0" smtClean="0"/>
              <a:t>, low, high);</a:t>
            </a:r>
          </a:p>
          <a:p>
            <a:pPr>
              <a:buNone/>
            </a:pPr>
            <a:r>
              <a:rPr lang="en-US" dirty="0" smtClean="0"/>
              <a:t> 	if (</a:t>
            </a:r>
            <a:r>
              <a:rPr lang="en-US" dirty="0" err="1" smtClean="0"/>
              <a:t>pivotIndex</a:t>
            </a:r>
            <a:r>
              <a:rPr lang="en-US" dirty="0" smtClean="0"/>
              <a:t> == k)</a:t>
            </a:r>
          </a:p>
          <a:p>
            <a:pPr>
              <a:buNone/>
            </a:pPr>
            <a:r>
              <a:rPr lang="en-US" dirty="0" smtClean="0"/>
              <a:t>  		 return </a:t>
            </a:r>
            <a:r>
              <a:rPr lang="en-US" dirty="0" err="1" smtClean="0"/>
              <a:t>arr</a:t>
            </a:r>
            <a:r>
              <a:rPr lang="en-US" dirty="0" smtClean="0"/>
              <a:t>[</a:t>
            </a:r>
            <a:r>
              <a:rPr lang="en-US" dirty="0" err="1" smtClean="0"/>
              <a:t>pivotIndex</a:t>
            </a:r>
            <a:r>
              <a:rPr lang="en-US" dirty="0" smtClean="0"/>
              <a:t>]; </a:t>
            </a:r>
            <a:r>
              <a:rPr lang="en-US" b="1" dirty="0" smtClean="0"/>
              <a:t>	// Found k-</a:t>
            </a:r>
            <a:r>
              <a:rPr lang="en-US" b="1" dirty="0" err="1" smtClean="0"/>
              <a:t>th</a:t>
            </a:r>
            <a:r>
              <a:rPr lang="en-US" b="1" dirty="0" smtClean="0"/>
              <a:t> smallest</a:t>
            </a:r>
          </a:p>
          <a:p>
            <a:pPr>
              <a:buNone/>
            </a:pPr>
            <a:r>
              <a:rPr lang="en-US" dirty="0" smtClean="0"/>
              <a:t>    else if (k &lt; </a:t>
            </a:r>
            <a:r>
              <a:rPr lang="en-US" dirty="0" err="1" smtClean="0"/>
              <a:t>pivotIndex</a:t>
            </a:r>
            <a:r>
              <a:rPr lang="en-US" dirty="0" smtClean="0"/>
              <a:t> )</a:t>
            </a:r>
          </a:p>
          <a:p>
            <a:pPr>
              <a:buNone/>
            </a:pPr>
            <a:r>
              <a:rPr lang="en-US" dirty="0" smtClean="0"/>
              <a:t> 	high = </a:t>
            </a:r>
            <a:r>
              <a:rPr lang="en-US" dirty="0" err="1" smtClean="0"/>
              <a:t>pivotIndex</a:t>
            </a:r>
            <a:r>
              <a:rPr lang="en-US" dirty="0" smtClean="0"/>
              <a:t> - 1; </a:t>
            </a:r>
            <a:r>
              <a:rPr lang="en-US" b="1" dirty="0" smtClean="0"/>
              <a:t>// Search in left </a:t>
            </a:r>
            <a:r>
              <a:rPr lang="en-US" b="1" dirty="0" err="1" smtClean="0"/>
              <a:t>subarray</a:t>
            </a:r>
            <a:endParaRPr lang="en-US" b="1" dirty="0" smtClean="0"/>
          </a:p>
          <a:p>
            <a:pPr>
              <a:buNone/>
            </a:pPr>
            <a:r>
              <a:rPr lang="en-US" dirty="0" smtClean="0"/>
              <a:t>	</a:t>
            </a:r>
            <a:r>
              <a:rPr lang="en-US" dirty="0" err="1" smtClean="0"/>
              <a:t>quickSelect</a:t>
            </a:r>
            <a:r>
              <a:rPr lang="en-US" dirty="0" smtClean="0"/>
              <a:t>(</a:t>
            </a:r>
            <a:r>
              <a:rPr lang="en-US" dirty="0" err="1" smtClean="0"/>
              <a:t>arr</a:t>
            </a:r>
            <a:r>
              <a:rPr lang="en-US" dirty="0" smtClean="0"/>
              <a:t>, low,  high, k)</a:t>
            </a:r>
          </a:p>
          <a:p>
            <a:pPr>
              <a:buNone/>
            </a:pPr>
            <a:r>
              <a:rPr lang="en-US" dirty="0" smtClean="0"/>
              <a:t> else</a:t>
            </a:r>
          </a:p>
          <a:p>
            <a:pPr>
              <a:buNone/>
            </a:pPr>
            <a:r>
              <a:rPr lang="en-US" dirty="0" smtClean="0"/>
              <a:t>   low = </a:t>
            </a:r>
            <a:r>
              <a:rPr lang="en-US" dirty="0" err="1" smtClean="0"/>
              <a:t>pivotIndex</a:t>
            </a:r>
            <a:r>
              <a:rPr lang="en-US" dirty="0" smtClean="0"/>
              <a:t> + 1;  </a:t>
            </a:r>
            <a:r>
              <a:rPr lang="en-US" b="1" dirty="0" smtClean="0"/>
              <a:t>// Search in right </a:t>
            </a:r>
            <a:r>
              <a:rPr lang="en-US" b="1" dirty="0" err="1" smtClean="0"/>
              <a:t>subarray</a:t>
            </a:r>
            <a:endParaRPr lang="en-US" b="1" dirty="0" smtClean="0"/>
          </a:p>
          <a:p>
            <a:pPr>
              <a:buNone/>
            </a:pPr>
            <a:r>
              <a:rPr lang="en-US" dirty="0" smtClean="0"/>
              <a:t>  </a:t>
            </a:r>
            <a:r>
              <a:rPr lang="en-US" dirty="0" err="1" smtClean="0"/>
              <a:t>quickSelect</a:t>
            </a:r>
            <a:r>
              <a:rPr lang="en-US" dirty="0" smtClean="0"/>
              <a:t>(</a:t>
            </a:r>
            <a:r>
              <a:rPr lang="en-US" dirty="0" err="1" smtClean="0"/>
              <a:t>arr</a:t>
            </a:r>
            <a:r>
              <a:rPr lang="en-US" dirty="0" smtClean="0"/>
              <a:t>, low,  high, k)</a:t>
            </a:r>
          </a:p>
          <a:p>
            <a:pPr>
              <a:buNone/>
            </a:pPr>
            <a:r>
              <a:rPr lang="en-US" dirty="0" smtClean="0"/>
              <a:t> }</a:t>
            </a:r>
          </a:p>
          <a:p>
            <a:pPr>
              <a:buNone/>
            </a:pPr>
            <a:r>
              <a:rPr lang="en-US" dirty="0" smtClean="0"/>
              <a:t> return -1; // Error case</a:t>
            </a:r>
          </a:p>
          <a:p>
            <a:pPr>
              <a:buNone/>
            </a:pPr>
            <a:r>
              <a:rPr lang="en-US" dirty="0" smtClean="0"/>
              <a:t> } </a:t>
            </a:r>
            <a:endParaRPr lang="en-US"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28600"/>
            <a:ext cx="8610600" cy="5897563"/>
          </a:xfrm>
        </p:spPr>
        <p:txBody>
          <a:bodyPr>
            <a:normAutofit fontScale="92500" lnSpcReduction="10000"/>
          </a:bodyPr>
          <a:lstStyle/>
          <a:p>
            <a:pPr marL="514350" indent="-514350">
              <a:buFont typeface="+mj-lt"/>
              <a:buAutoNum type="arabicPeriod"/>
            </a:pPr>
            <a:r>
              <a:rPr lang="en-US" dirty="0" smtClean="0"/>
              <a:t>54 78 63 92 45 86 15 28 37     k=3</a:t>
            </a:r>
          </a:p>
          <a:p>
            <a:pPr marL="514350" indent="-514350">
              <a:buFont typeface="+mj-lt"/>
              <a:buAutoNum type="arabicPeriod"/>
            </a:pPr>
            <a:r>
              <a:rPr lang="en-US" dirty="0" smtClean="0"/>
              <a:t>7 10 4 3 20 15       k=3</a:t>
            </a:r>
          </a:p>
          <a:p>
            <a:pPr marL="514350" indent="-514350">
              <a:buFont typeface="+mj-lt"/>
              <a:buAutoNum type="arabicPeriod"/>
            </a:pPr>
            <a:endParaRPr lang="en-US" dirty="0" smtClean="0"/>
          </a:p>
          <a:p>
            <a:pPr marL="514350" indent="-514350">
              <a:buNone/>
            </a:pPr>
            <a:r>
              <a:rPr lang="en-US" dirty="0" smtClean="0"/>
              <a:t>54 78 63 92 45 86 15 28 37     k=3</a:t>
            </a:r>
          </a:p>
          <a:p>
            <a:pPr marL="514350" indent="-514350">
              <a:buNone/>
            </a:pPr>
            <a:r>
              <a:rPr lang="en-US" dirty="0" smtClean="0"/>
              <a:t>After partition </a:t>
            </a:r>
            <a:br>
              <a:rPr lang="en-US" dirty="0" smtClean="0"/>
            </a:br>
            <a:r>
              <a:rPr lang="en-US" dirty="0" smtClean="0"/>
              <a:t>15 28 </a:t>
            </a:r>
            <a:r>
              <a:rPr lang="en-US" dirty="0" smtClean="0">
                <a:solidFill>
                  <a:srgbClr val="FF0000"/>
                </a:solidFill>
              </a:rPr>
              <a:t>37</a:t>
            </a:r>
            <a:r>
              <a:rPr lang="en-US" dirty="0" smtClean="0"/>
              <a:t> 92 45 86 54 78 63   </a:t>
            </a:r>
            <a:r>
              <a:rPr lang="en-US" dirty="0" err="1" smtClean="0"/>
              <a:t>pivotindex</a:t>
            </a:r>
            <a:r>
              <a:rPr lang="en-US" dirty="0" smtClean="0"/>
              <a:t>=k </a:t>
            </a:r>
          </a:p>
          <a:p>
            <a:pPr marL="514350" indent="-514350">
              <a:buNone/>
            </a:pPr>
            <a:endParaRPr lang="en-US" dirty="0" smtClean="0"/>
          </a:p>
          <a:p>
            <a:pPr marL="514350" indent="-514350">
              <a:buNone/>
            </a:pPr>
            <a:r>
              <a:rPr lang="en-US" dirty="0" smtClean="0"/>
              <a:t>7 10 4 3 20 15       k=3</a:t>
            </a:r>
          </a:p>
          <a:p>
            <a:pPr marL="514350" indent="-514350">
              <a:buNone/>
            </a:pPr>
            <a:r>
              <a:rPr lang="en-US" dirty="0" smtClean="0"/>
              <a:t>After partition     </a:t>
            </a:r>
            <a:r>
              <a:rPr lang="en-US" dirty="0" smtClean="0">
                <a:solidFill>
                  <a:srgbClr val="FF0000"/>
                </a:solidFill>
              </a:rPr>
              <a:t>7 10 4 3 </a:t>
            </a:r>
            <a:r>
              <a:rPr lang="en-US" dirty="0" smtClean="0"/>
              <a:t>15 20 </a:t>
            </a:r>
            <a:r>
              <a:rPr lang="en-US" dirty="0" err="1" smtClean="0"/>
              <a:t>pivotindex</a:t>
            </a:r>
            <a:r>
              <a:rPr lang="en-US" dirty="0" smtClean="0"/>
              <a:t>!=k </a:t>
            </a:r>
          </a:p>
          <a:p>
            <a:pPr marL="514350" indent="-514350">
              <a:buNone/>
            </a:pPr>
            <a:r>
              <a:rPr lang="en-US" dirty="0" smtClean="0"/>
              <a:t>Again partition p=3     3 </a:t>
            </a:r>
            <a:r>
              <a:rPr lang="en-US" dirty="0" smtClean="0">
                <a:solidFill>
                  <a:srgbClr val="FF0000"/>
                </a:solidFill>
              </a:rPr>
              <a:t>10 4 7 </a:t>
            </a:r>
            <a:r>
              <a:rPr lang="en-US" dirty="0" smtClean="0"/>
              <a:t>15 20 </a:t>
            </a:r>
            <a:r>
              <a:rPr lang="en-US" dirty="0" err="1" smtClean="0"/>
              <a:t>pivotindex</a:t>
            </a:r>
            <a:r>
              <a:rPr lang="en-US" dirty="0" smtClean="0"/>
              <a:t>!=k</a:t>
            </a:r>
          </a:p>
          <a:p>
            <a:pPr marL="514350" indent="-514350">
              <a:buNone/>
            </a:pPr>
            <a:r>
              <a:rPr lang="en-US" dirty="0" smtClean="0"/>
              <a:t> Again partition p=7     3 </a:t>
            </a:r>
            <a:r>
              <a:rPr lang="en-US" dirty="0" smtClean="0">
                <a:solidFill>
                  <a:srgbClr val="FF0000"/>
                </a:solidFill>
              </a:rPr>
              <a:t>4 7  10 </a:t>
            </a:r>
            <a:r>
              <a:rPr lang="en-US" dirty="0" smtClean="0"/>
              <a:t>15 20 </a:t>
            </a:r>
            <a:r>
              <a:rPr lang="en-US" dirty="0" err="1" smtClean="0"/>
              <a:t>pivotindex</a:t>
            </a:r>
            <a:r>
              <a:rPr lang="en-US" dirty="0" smtClean="0"/>
              <a:t>=k</a:t>
            </a:r>
          </a:p>
          <a:p>
            <a:pPr marL="514350" indent="-514350">
              <a:buNone/>
            </a:pP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4902</TotalTime>
  <Words>3559</Words>
  <Application>Microsoft Office PowerPoint</Application>
  <PresentationFormat>On-screen Show (4:3)</PresentationFormat>
  <Paragraphs>514</Paragraphs>
  <Slides>75</Slides>
  <Notes>0</Notes>
  <HiddenSlides>0</HiddenSlides>
  <MMClips>0</MMClips>
  <ScaleCrop>false</ScaleCrop>
  <HeadingPairs>
    <vt:vector size="4" baseType="variant">
      <vt:variant>
        <vt:lpstr>Theme</vt:lpstr>
      </vt:variant>
      <vt:variant>
        <vt:i4>1</vt:i4>
      </vt:variant>
      <vt:variant>
        <vt:lpstr>Slide Titles</vt:lpstr>
      </vt:variant>
      <vt:variant>
        <vt:i4>75</vt:i4>
      </vt:variant>
    </vt:vector>
  </HeadingPairs>
  <TitlesOfParts>
    <vt:vector size="76" baseType="lpstr">
      <vt:lpstr>Office Theme</vt:lpstr>
      <vt:lpstr>Divide &amp; Conquer Algorithm </vt:lpstr>
      <vt:lpstr>Slide 2</vt:lpstr>
      <vt:lpstr>Divide and Conquer Algorithm </vt:lpstr>
      <vt:lpstr>How Divide and Conquer Algorithms Work? </vt:lpstr>
      <vt:lpstr>Slide 5</vt:lpstr>
      <vt:lpstr>Slide 6</vt:lpstr>
      <vt:lpstr>Slide 7</vt:lpstr>
      <vt:lpstr>Divide and Conquer Algorithms Example </vt:lpstr>
      <vt:lpstr>Divide and Conquer Algorithms Example </vt:lpstr>
      <vt:lpstr>Divide and Conquer Algorithms Example </vt:lpstr>
      <vt:lpstr>Binary Search </vt:lpstr>
      <vt:lpstr>How Binary Search Works:  </vt:lpstr>
      <vt:lpstr>How Binary Search Works:  </vt:lpstr>
      <vt:lpstr>Slide 14</vt:lpstr>
      <vt:lpstr>Slide 15</vt:lpstr>
      <vt:lpstr>Slide 16</vt:lpstr>
      <vt:lpstr>Slide 17</vt:lpstr>
      <vt:lpstr>Slide 18</vt:lpstr>
      <vt:lpstr>Slide 19</vt:lpstr>
      <vt:lpstr>Slide 20</vt:lpstr>
      <vt:lpstr>Slide 21</vt:lpstr>
      <vt:lpstr>Time Complexity Analysis: </vt:lpstr>
      <vt:lpstr>Merge Sort </vt:lpstr>
      <vt:lpstr>Slide 24</vt:lpstr>
      <vt:lpstr>Slide 25</vt:lpstr>
      <vt:lpstr>Merge operation</vt:lpstr>
      <vt:lpstr>Mergersort</vt:lpstr>
      <vt:lpstr>merge function</vt:lpstr>
      <vt:lpstr>Merge</vt:lpstr>
      <vt:lpstr>Merge</vt:lpstr>
      <vt:lpstr>Merge</vt:lpstr>
      <vt:lpstr>Time Complexity analysis</vt:lpstr>
      <vt:lpstr>Recurrence Relation for Time Complexity</vt:lpstr>
      <vt:lpstr>finding majority element and analysis </vt:lpstr>
      <vt:lpstr>Slide 35</vt:lpstr>
      <vt:lpstr>finding majority element and analysis  </vt:lpstr>
      <vt:lpstr>Slide 37</vt:lpstr>
      <vt:lpstr>finding majority element and analysis  </vt:lpstr>
      <vt:lpstr>Slide 39</vt:lpstr>
      <vt:lpstr>Divide and Conquer Approach for Finding Majority Element  </vt:lpstr>
      <vt:lpstr>Divide and Conquer Approach for Finding Majority Element  </vt:lpstr>
      <vt:lpstr>Divide and Conquer Approach for Finding Majority Element  </vt:lpstr>
      <vt:lpstr>Divide and Conquer Approach for Finding Majority Element  </vt:lpstr>
      <vt:lpstr>Slide 44</vt:lpstr>
      <vt:lpstr>Divide and Conquer Approach for Finding Majority Element  </vt:lpstr>
      <vt:lpstr>Divide and Conquer Approach for Finding Majority Element  </vt:lpstr>
      <vt:lpstr>Divide and Conquer Approach for Finding Majority Element  </vt:lpstr>
      <vt:lpstr>Slide 48</vt:lpstr>
      <vt:lpstr>finding majority element and analysis </vt:lpstr>
      <vt:lpstr>Example: Consider the array: [3, 3, 4, 2, 4, 4, 2, 4, 4] </vt:lpstr>
      <vt:lpstr>Example: Consider the array: [3, 3, 4, 2, 4, 4, 2, 4, 4] </vt:lpstr>
      <vt:lpstr>Slide 52</vt:lpstr>
      <vt:lpstr>finding simultaneous maximum and minimum</vt:lpstr>
      <vt:lpstr>Slide 54</vt:lpstr>
      <vt:lpstr>Slide 55</vt:lpstr>
      <vt:lpstr>Using DAC </vt:lpstr>
      <vt:lpstr>Example</vt:lpstr>
      <vt:lpstr>Algorithm</vt:lpstr>
      <vt:lpstr>Continued…</vt:lpstr>
      <vt:lpstr>Continued…</vt:lpstr>
      <vt:lpstr>Continued…</vt:lpstr>
      <vt:lpstr>Slide 62</vt:lpstr>
      <vt:lpstr>Slide 63</vt:lpstr>
      <vt:lpstr>Slide 64</vt:lpstr>
      <vt:lpstr>Slide 65</vt:lpstr>
      <vt:lpstr>Selection Problem</vt:lpstr>
      <vt:lpstr>Selection Problem applications</vt:lpstr>
      <vt:lpstr>Selection Problem applications</vt:lpstr>
      <vt:lpstr>Selection Problem applications</vt:lpstr>
      <vt:lpstr>Slide 70</vt:lpstr>
      <vt:lpstr>Slide 71</vt:lpstr>
      <vt:lpstr>Slide 72</vt:lpstr>
      <vt:lpstr>Slide 73</vt:lpstr>
      <vt:lpstr>Slide 74</vt:lpstr>
      <vt:lpstr>Slide 75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Rahul Dange</dc:creator>
  <cp:lastModifiedBy>Rahul Dange</cp:lastModifiedBy>
  <cp:revision>163</cp:revision>
  <dcterms:created xsi:type="dcterms:W3CDTF">2025-02-01T11:56:10Z</dcterms:created>
  <dcterms:modified xsi:type="dcterms:W3CDTF">2025-02-14T06:04:17Z</dcterms:modified>
</cp:coreProperties>
</file>