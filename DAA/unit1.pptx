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57" r:id="rId4"/>
    <p:sldId id="258" r:id="rId5"/>
    <p:sldId id="260" r:id="rId6"/>
    <p:sldId id="261" r:id="rId7"/>
    <p:sldId id="262" r:id="rId8"/>
    <p:sldId id="383" r:id="rId9"/>
    <p:sldId id="384" r:id="rId10"/>
    <p:sldId id="385" r:id="rId11"/>
    <p:sldId id="386" r:id="rId12"/>
    <p:sldId id="387" r:id="rId13"/>
    <p:sldId id="259" r:id="rId14"/>
    <p:sldId id="270" r:id="rId15"/>
    <p:sldId id="263" r:id="rId16"/>
    <p:sldId id="388" r:id="rId17"/>
    <p:sldId id="271" r:id="rId18"/>
    <p:sldId id="285" r:id="rId19"/>
    <p:sldId id="316" r:id="rId20"/>
    <p:sldId id="317" r:id="rId21"/>
    <p:sldId id="319" r:id="rId22"/>
    <p:sldId id="389" r:id="rId23"/>
    <p:sldId id="266" r:id="rId24"/>
    <p:sldId id="390" r:id="rId25"/>
    <p:sldId id="267" r:id="rId26"/>
    <p:sldId id="318" r:id="rId27"/>
    <p:sldId id="396" r:id="rId28"/>
    <p:sldId id="397" r:id="rId29"/>
    <p:sldId id="398" r:id="rId30"/>
    <p:sldId id="392" r:id="rId31"/>
    <p:sldId id="393" r:id="rId32"/>
    <p:sldId id="394" r:id="rId33"/>
    <p:sldId id="395" r:id="rId34"/>
    <p:sldId id="296" r:id="rId35"/>
    <p:sldId id="400" r:id="rId36"/>
    <p:sldId id="399" r:id="rId37"/>
    <p:sldId id="391" r:id="rId38"/>
    <p:sldId id="297" r:id="rId39"/>
    <p:sldId id="298" r:id="rId40"/>
    <p:sldId id="299" r:id="rId41"/>
    <p:sldId id="300" r:id="rId42"/>
    <p:sldId id="273" r:id="rId43"/>
    <p:sldId id="301" r:id="rId44"/>
    <p:sldId id="302" r:id="rId45"/>
    <p:sldId id="303" r:id="rId46"/>
    <p:sldId id="304" r:id="rId47"/>
    <p:sldId id="305" r:id="rId48"/>
    <p:sldId id="401" r:id="rId49"/>
    <p:sldId id="402" r:id="rId50"/>
    <p:sldId id="276" r:id="rId51"/>
    <p:sldId id="306" r:id="rId52"/>
    <p:sldId id="403" r:id="rId53"/>
    <p:sldId id="404" r:id="rId54"/>
    <p:sldId id="280" r:id="rId55"/>
    <p:sldId id="307" r:id="rId56"/>
    <p:sldId id="308" r:id="rId57"/>
    <p:sldId id="281" r:id="rId58"/>
    <p:sldId id="405" r:id="rId59"/>
    <p:sldId id="279" r:id="rId60"/>
    <p:sldId id="283" r:id="rId61"/>
    <p:sldId id="406" r:id="rId62"/>
    <p:sldId id="309" r:id="rId63"/>
    <p:sldId id="310" r:id="rId64"/>
    <p:sldId id="284" r:id="rId65"/>
    <p:sldId id="313" r:id="rId66"/>
    <p:sldId id="314" r:id="rId67"/>
    <p:sldId id="315" r:id="rId68"/>
    <p:sldId id="290" r:id="rId69"/>
    <p:sldId id="292" r:id="rId70"/>
    <p:sldId id="286" r:id="rId71"/>
    <p:sldId id="293" r:id="rId72"/>
    <p:sldId id="294" r:id="rId73"/>
    <p:sldId id="407" r:id="rId74"/>
    <p:sldId id="408" r:id="rId75"/>
    <p:sldId id="291" r:id="rId76"/>
    <p:sldId id="287" r:id="rId77"/>
    <p:sldId id="288" r:id="rId78"/>
    <p:sldId id="268" r:id="rId79"/>
    <p:sldId id="269" r:id="rId80"/>
    <p:sldId id="320" r:id="rId81"/>
    <p:sldId id="321" r:id="rId82"/>
    <p:sldId id="322" r:id="rId83"/>
    <p:sldId id="323" r:id="rId84"/>
    <p:sldId id="324" r:id="rId85"/>
    <p:sldId id="325" r:id="rId86"/>
    <p:sldId id="326" r:id="rId87"/>
    <p:sldId id="327" r:id="rId88"/>
    <p:sldId id="328" r:id="rId89"/>
    <p:sldId id="329" r:id="rId90"/>
    <p:sldId id="330" r:id="rId91"/>
    <p:sldId id="331" r:id="rId92"/>
    <p:sldId id="311" r:id="rId93"/>
    <p:sldId id="312" r:id="rId94"/>
    <p:sldId id="332" r:id="rId95"/>
    <p:sldId id="333" r:id="rId96"/>
    <p:sldId id="334" r:id="rId97"/>
    <p:sldId id="335" r:id="rId98"/>
    <p:sldId id="336" r:id="rId99"/>
    <p:sldId id="337" r:id="rId100"/>
    <p:sldId id="277" r:id="rId101"/>
    <p:sldId id="278" r:id="rId102"/>
    <p:sldId id="338" r:id="rId103"/>
    <p:sldId id="339" r:id="rId104"/>
    <p:sldId id="340" r:id="rId105"/>
    <p:sldId id="341" r:id="rId106"/>
    <p:sldId id="342" r:id="rId107"/>
    <p:sldId id="343" r:id="rId108"/>
    <p:sldId id="344" r:id="rId109"/>
    <p:sldId id="346" r:id="rId110"/>
    <p:sldId id="353" r:id="rId111"/>
    <p:sldId id="352" r:id="rId112"/>
    <p:sldId id="364" r:id="rId113"/>
    <p:sldId id="345" r:id="rId114"/>
    <p:sldId id="347" r:id="rId115"/>
    <p:sldId id="348" r:id="rId116"/>
    <p:sldId id="349" r:id="rId117"/>
    <p:sldId id="350" r:id="rId118"/>
    <p:sldId id="355" r:id="rId119"/>
    <p:sldId id="409" r:id="rId120"/>
    <p:sldId id="354" r:id="rId121"/>
    <p:sldId id="356" r:id="rId122"/>
    <p:sldId id="357" r:id="rId123"/>
    <p:sldId id="358" r:id="rId124"/>
    <p:sldId id="359" r:id="rId125"/>
    <p:sldId id="360" r:id="rId126"/>
    <p:sldId id="361" r:id="rId127"/>
    <p:sldId id="362" r:id="rId128"/>
    <p:sldId id="363" r:id="rId129"/>
    <p:sldId id="366" r:id="rId130"/>
    <p:sldId id="368" r:id="rId131"/>
    <p:sldId id="369" r:id="rId132"/>
    <p:sldId id="370" r:id="rId133"/>
    <p:sldId id="371" r:id="rId134"/>
    <p:sldId id="372" r:id="rId135"/>
    <p:sldId id="373" r:id="rId136"/>
    <p:sldId id="365" r:id="rId137"/>
    <p:sldId id="377" r:id="rId138"/>
    <p:sldId id="374" r:id="rId139"/>
    <p:sldId id="376" r:id="rId140"/>
    <p:sldId id="375" r:id="rId141"/>
    <p:sldId id="378" r:id="rId142"/>
    <p:sldId id="379" r:id="rId143"/>
    <p:sldId id="380" r:id="rId144"/>
    <p:sldId id="381" r:id="rId145"/>
    <p:sldId id="382"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85" d="100"/>
          <a:sy n="85" d="100"/>
        </p:scale>
        <p:origin x="547"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11/20/2025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analysis-of-algorithms-set-2-asymptotic-analysi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www.geeksforgeeks.org/linear-search/"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8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8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8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9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9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11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12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12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2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13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5" Type="http://schemas.openxmlformats.org/officeDocument/2006/relationships/image" Target="../media/image136.png"/><Relationship Id="rId4" Type="http://schemas.openxmlformats.org/officeDocument/2006/relationships/image" Target="../media/image135.png"/></Relationships>
</file>

<file path=ppt/slides/_rels/slide13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13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13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13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1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 Id="rId5" Type="http://schemas.openxmlformats.org/officeDocument/2006/relationships/image" Target="../media/image156.png"/><Relationship Id="rId4" Type="http://schemas.openxmlformats.org/officeDocument/2006/relationships/image" Target="../media/image155.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40.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 </a:t>
            </a:r>
            <a:r>
              <a:rPr lang="en-US" b="1" dirty="0"/>
              <a:t>DESIGN AND ANALYSIS OF ALGORITHMS</a:t>
            </a:r>
            <a:endParaRPr lang="en-US" dirty="0"/>
          </a:p>
        </p:txBody>
      </p:sp>
      <p:sp>
        <p:nvSpPr>
          <p:cNvPr id="3" name="Subtitle 2"/>
          <p:cNvSpPr>
            <a:spLocks noGrp="1"/>
          </p:cNvSpPr>
          <p:nvPr>
            <p:ph type="subTitle" idx="1"/>
          </p:nvPr>
        </p:nvSpPr>
        <p:spPr/>
        <p:txBody>
          <a:bodyPr/>
          <a:lstStyle/>
          <a:p>
            <a:r>
              <a:rPr lang="en-US" dirty="0"/>
              <a:t>-Dr. Varsha R.Dange</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Course Prerequisites</a:t>
            </a:r>
            <a:r>
              <a:rPr lang="en-US" sz="3600" dirty="0"/>
              <a:t>: </a:t>
            </a:r>
            <a:r>
              <a:rPr lang="en-US" sz="2400" dirty="0"/>
              <a:t>Basic programming Skills, Data structures, Discrete Structures.</a:t>
            </a:r>
          </a:p>
        </p:txBody>
      </p:sp>
      <p:sp>
        <p:nvSpPr>
          <p:cNvPr id="3" name="Content Placeholder 2"/>
          <p:cNvSpPr>
            <a:spLocks noGrp="1"/>
          </p:cNvSpPr>
          <p:nvPr>
            <p:ph idx="1"/>
          </p:nvPr>
        </p:nvSpPr>
        <p:spPr>
          <a:xfrm>
            <a:off x="838200" y="1825625"/>
            <a:ext cx="10515600" cy="4734832"/>
          </a:xfrm>
        </p:spPr>
        <p:txBody>
          <a:bodyPr>
            <a:normAutofit fontScale="77500" lnSpcReduction="20000"/>
          </a:bodyPr>
          <a:lstStyle/>
          <a:p>
            <a:pPr algn="just"/>
            <a:r>
              <a:rPr lang="en-US" sz="3800" b="1" dirty="0"/>
              <a:t>Course Objectives: </a:t>
            </a:r>
            <a:endParaRPr lang="en-US" sz="3800" dirty="0"/>
          </a:p>
          <a:p>
            <a:pPr algn="just">
              <a:buNone/>
            </a:pPr>
            <a:r>
              <a:rPr lang="en-US" sz="3800" dirty="0"/>
              <a:t>1. To understand asymptotic notations and apply suitable mathematical techniques to find asymptotic time and space complexities of algorithms. </a:t>
            </a:r>
          </a:p>
          <a:p>
            <a:pPr algn="just">
              <a:buNone/>
            </a:pPr>
            <a:r>
              <a:rPr lang="en-US" sz="3800" dirty="0"/>
              <a:t>2. To provide students with foundations to deal with a variety of computational problems using different design strategies. </a:t>
            </a:r>
          </a:p>
          <a:p>
            <a:pPr algn="just">
              <a:buNone/>
            </a:pPr>
            <a:r>
              <a:rPr lang="en-US" sz="3800" dirty="0"/>
              <a:t>3. To select appropriate algorithm design strategies to solve real world problems. </a:t>
            </a:r>
          </a:p>
          <a:p>
            <a:pPr algn="just">
              <a:buNone/>
            </a:pPr>
            <a:r>
              <a:rPr lang="en-US" sz="3800" dirty="0"/>
              <a:t>4. To understand notions of NP-hardness and NP-completeness and their relationship with the intractability of decision problems. </a:t>
            </a:r>
          </a:p>
          <a:p>
            <a:pPr algn="just">
              <a:buNone/>
            </a:pPr>
            <a:r>
              <a:rPr lang="en-US" sz="3800" dirty="0"/>
              <a:t>5. To understand randomized, approximation algorithms for given computational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7371"/>
            <a:ext cx="10515600" cy="6270172"/>
          </a:xfrm>
        </p:spPr>
        <p:txBody>
          <a:bodyPr>
            <a:normAutofit/>
          </a:bodyPr>
          <a:lstStyle/>
          <a:p>
            <a:pPr algn="just"/>
            <a:r>
              <a:rPr lang="en-US" b="1" dirty="0">
                <a:latin typeface="Times New Roman" pitchFamily="18" charset="0"/>
                <a:cs typeface="Times New Roman" pitchFamily="18" charset="0"/>
              </a:rPr>
              <a:t>Course Outcomes </a:t>
            </a:r>
            <a:endParaRPr lang="en-US" dirty="0">
              <a:latin typeface="Times New Roman" pitchFamily="18" charset="0"/>
              <a:cs typeface="Times New Roman" pitchFamily="18" charset="0"/>
            </a:endParaRPr>
          </a:p>
          <a:p>
            <a:pPr marL="742950" indent="-742950">
              <a:buNone/>
            </a:pPr>
            <a:r>
              <a:rPr lang="en-US" sz="2400" dirty="0">
                <a:latin typeface="Times New Roman" pitchFamily="18" charset="0"/>
                <a:cs typeface="Times New Roman" pitchFamily="18" charset="0"/>
              </a:rPr>
              <a:t>The student will be able – </a:t>
            </a:r>
          </a:p>
          <a:p>
            <a:pPr>
              <a:buNone/>
            </a:pPr>
            <a:r>
              <a:rPr lang="en-US" sz="2400" dirty="0">
                <a:latin typeface="Times New Roman" pitchFamily="18" charset="0"/>
                <a:cs typeface="Times New Roman" pitchFamily="18" charset="0"/>
              </a:rPr>
              <a:t>1. To formulate computational problems mathematically. </a:t>
            </a:r>
          </a:p>
          <a:p>
            <a:pPr>
              <a:buNone/>
            </a:pPr>
            <a:r>
              <a:rPr lang="en-US" sz="2400" dirty="0">
                <a:latin typeface="Times New Roman" pitchFamily="18" charset="0"/>
                <a:cs typeface="Times New Roman" pitchFamily="18" charset="0"/>
              </a:rPr>
              <a:t>2. To apply appropriate algorithmic paradigm to design efficient algorithms for computational problems. </a:t>
            </a:r>
          </a:p>
          <a:p>
            <a:pPr>
              <a:buNone/>
            </a:pPr>
            <a:r>
              <a:rPr lang="en-US" sz="2400" dirty="0">
                <a:latin typeface="Times New Roman" pitchFamily="18" charset="0"/>
                <a:cs typeface="Times New Roman" pitchFamily="18" charset="0"/>
              </a:rPr>
              <a:t>3. To apply suitable mathematical techniques to analyze asymptotic complexity of the algorithm for a complex computational problem. </a:t>
            </a:r>
          </a:p>
          <a:p>
            <a:pPr>
              <a:buNone/>
            </a:pPr>
            <a:r>
              <a:rPr lang="en-US" sz="2400" dirty="0">
                <a:latin typeface="Times New Roman" pitchFamily="18" charset="0"/>
                <a:cs typeface="Times New Roman" pitchFamily="18" charset="0"/>
              </a:rPr>
              <a:t>4. To understand the significance of NP--completeness of some decision problems and its  relationship with intractability of the decision problems. </a:t>
            </a:r>
          </a:p>
          <a:p>
            <a:pPr>
              <a:buNone/>
            </a:pPr>
            <a:r>
              <a:rPr lang="en-US" sz="2400" dirty="0">
                <a:latin typeface="Times New Roman" pitchFamily="18" charset="0"/>
                <a:cs typeface="Times New Roman" pitchFamily="18" charset="0"/>
              </a:rPr>
              <a:t>5. To understand significance of randomness, </a:t>
            </a:r>
            <a:r>
              <a:rPr lang="en-US" sz="2400" dirty="0" err="1">
                <a:latin typeface="Times New Roman" pitchFamily="18" charset="0"/>
                <a:cs typeface="Times New Roman" pitchFamily="18" charset="0"/>
              </a:rPr>
              <a:t>approximability</a:t>
            </a:r>
            <a:r>
              <a:rPr lang="en-US" sz="2400" dirty="0">
                <a:latin typeface="Times New Roman" pitchFamily="18" charset="0"/>
                <a:cs typeface="Times New Roman" pitchFamily="18" charset="0"/>
              </a:rPr>
              <a:t> in computation and design randomized and approximation algorithms for suitable problems. </a:t>
            </a:r>
          </a:p>
          <a:p>
            <a:pPr>
              <a:buNone/>
            </a:pPr>
            <a:r>
              <a:rPr lang="en-US" sz="2400" dirty="0">
                <a:latin typeface="Times New Roman" pitchFamily="18" charset="0"/>
                <a:cs typeface="Times New Roman" pitchFamily="18" charset="0"/>
              </a:rPr>
              <a:t>6. To incorporate appropriate data structures, algorithmic paradigms to craft innovative scientific solutions for complex computing problems.</a:t>
            </a: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fontScale="90000"/>
          </a:bodyPr>
          <a:lstStyle/>
          <a:p>
            <a:pPr algn="ctr"/>
            <a:r>
              <a:rPr lang="en-US" sz="4000" b="1" dirty="0"/>
              <a:t>Unit 1</a:t>
            </a:r>
          </a:p>
        </p:txBody>
      </p:sp>
      <p:sp>
        <p:nvSpPr>
          <p:cNvPr id="3" name="Content Placeholder 2"/>
          <p:cNvSpPr>
            <a:spLocks noGrp="1"/>
          </p:cNvSpPr>
          <p:nvPr>
            <p:ph idx="1"/>
          </p:nvPr>
        </p:nvSpPr>
        <p:spPr>
          <a:xfrm>
            <a:off x="838200" y="1825625"/>
            <a:ext cx="10515600" cy="4734832"/>
          </a:xfrm>
        </p:spPr>
        <p:txBody>
          <a:bodyPr>
            <a:normAutofit fontScale="92500" lnSpcReduction="10000"/>
          </a:bodyPr>
          <a:lstStyle/>
          <a:p>
            <a:pPr algn="just"/>
            <a:r>
              <a:rPr lang="en-US" sz="4000" b="1" dirty="0"/>
              <a:t>Basic introduction to time and space complexity analysis</a:t>
            </a:r>
            <a:r>
              <a:rPr lang="en-US" sz="4000" dirty="0"/>
              <a:t>: Algorithm definition, insertion sort running time calculation, Notations Theta, big O, big Omega, little o notations with examples. Space complexity definition and examples like matrix multiplication, bubble sort, factorial computation recursive and iterative version. Recurrence relations and finding time complexity using substitution method, recursion tree and master theorem. Proof of correctness of algorithms</a:t>
            </a:r>
            <a:endParaRPr lang="en-US" sz="3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Autofit/>
          </a:bodyPr>
          <a:lstStyle/>
          <a:p>
            <a:pPr algn="ctr"/>
            <a:r>
              <a:rPr lang="en-US" sz="6000" b="1" dirty="0"/>
              <a:t>Algorithm</a:t>
            </a:r>
          </a:p>
        </p:txBody>
      </p:sp>
      <p:sp>
        <p:nvSpPr>
          <p:cNvPr id="3" name="Content Placeholder 2"/>
          <p:cNvSpPr>
            <a:spLocks noGrp="1"/>
          </p:cNvSpPr>
          <p:nvPr>
            <p:ph idx="1"/>
          </p:nvPr>
        </p:nvSpPr>
        <p:spPr>
          <a:xfrm>
            <a:off x="838200" y="1825625"/>
            <a:ext cx="10515600" cy="4734832"/>
          </a:xfrm>
        </p:spPr>
        <p:txBody>
          <a:bodyPr>
            <a:normAutofit fontScale="92500"/>
          </a:bodyPr>
          <a:lstStyle/>
          <a:p>
            <a:r>
              <a:rPr lang="en-US" sz="4000" dirty="0"/>
              <a:t>An </a:t>
            </a:r>
            <a:r>
              <a:rPr lang="en-US" sz="4000" i="1" dirty="0"/>
              <a:t>algorithm </a:t>
            </a:r>
            <a:r>
              <a:rPr lang="en-US" sz="4000" dirty="0"/>
              <a:t>is any well-defined computational </a:t>
            </a:r>
          </a:p>
          <a:p>
            <a:pPr>
              <a:buNone/>
            </a:pPr>
            <a:r>
              <a:rPr lang="en-US" sz="4000" dirty="0"/>
              <a:t>procedure that takes some value, or set of values, as </a:t>
            </a:r>
          </a:p>
          <a:p>
            <a:pPr>
              <a:buNone/>
            </a:pPr>
            <a:r>
              <a:rPr lang="en-US" sz="4000" dirty="0"/>
              <a:t>input and produces some value, or set of values, as </a:t>
            </a:r>
          </a:p>
          <a:p>
            <a:pPr>
              <a:buNone/>
            </a:pPr>
            <a:r>
              <a:rPr lang="en-US" sz="4000" dirty="0"/>
              <a:t>output. </a:t>
            </a:r>
          </a:p>
          <a:p>
            <a:r>
              <a:rPr lang="en-US" sz="4000" dirty="0"/>
              <a:t>An algorithm is thus a sequence of computational steps that transform the </a:t>
            </a:r>
            <a:r>
              <a:rPr lang="en-US" sz="4000" i="1" dirty="0"/>
              <a:t>input </a:t>
            </a:r>
            <a:r>
              <a:rPr lang="en-US" sz="4000" dirty="0"/>
              <a:t>into the  </a:t>
            </a:r>
            <a:r>
              <a:rPr lang="en-US" sz="4000" i="1" dirty="0"/>
              <a:t>output</a:t>
            </a:r>
            <a:r>
              <a:rPr lang="en-US" sz="4000" dirty="0"/>
              <a:t>.</a:t>
            </a:r>
            <a:endParaRPr lang="en-US" sz="3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Autofit/>
          </a:bodyPr>
          <a:lstStyle/>
          <a:p>
            <a:pPr algn="ctr"/>
            <a:r>
              <a:rPr lang="en-US" sz="6000" b="1" dirty="0"/>
              <a:t>Algorithm</a:t>
            </a:r>
          </a:p>
        </p:txBody>
      </p:sp>
      <p:pic>
        <p:nvPicPr>
          <p:cNvPr id="1026" name="Picture 2"/>
          <p:cNvPicPr>
            <a:picLocks noGrp="1" noChangeAspect="1" noChangeArrowheads="1"/>
          </p:cNvPicPr>
          <p:nvPr>
            <p:ph idx="1"/>
          </p:nvPr>
        </p:nvPicPr>
        <p:blipFill>
          <a:blip r:embed="rId2" cstate="print"/>
          <a:srcRect/>
          <a:stretch>
            <a:fillRect/>
          </a:stretch>
        </p:blipFill>
        <p:spPr bwMode="auto">
          <a:xfrm>
            <a:off x="1117600" y="1465944"/>
            <a:ext cx="9913257" cy="4532426"/>
          </a:xfrm>
          <a:prstGeom prst="rect">
            <a:avLst/>
          </a:prstGeom>
          <a:noFill/>
          <a:ln w="9525">
            <a:noFill/>
            <a:miter lim="800000"/>
            <a:headEnd/>
            <a:tailEnd/>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4"/>
            <a:ext cx="10515600" cy="607332"/>
          </a:xfrm>
        </p:spPr>
        <p:txBody>
          <a:bodyPr>
            <a:noAutofit/>
          </a:bodyPr>
          <a:lstStyle/>
          <a:p>
            <a:pPr algn="ctr"/>
            <a:r>
              <a:rPr lang="en-US" sz="6000" b="1" dirty="0"/>
              <a:t>Ways of writing Algorithm</a:t>
            </a:r>
          </a:p>
        </p:txBody>
      </p:sp>
      <p:sp>
        <p:nvSpPr>
          <p:cNvPr id="4" name="Content Placeholder 3"/>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696686" y="972456"/>
            <a:ext cx="11074400" cy="3585029"/>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672875" y="4552950"/>
            <a:ext cx="11083698" cy="1760764"/>
          </a:xfrm>
          <a:prstGeom prst="rect">
            <a:avLst/>
          </a:prstGeom>
          <a:noFill/>
          <a:ln w="9525">
            <a:noFill/>
            <a:miter lim="800000"/>
            <a:headEnd/>
            <a:tailEnd/>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4"/>
            <a:ext cx="10515600" cy="607332"/>
          </a:xfrm>
        </p:spPr>
        <p:txBody>
          <a:bodyPr>
            <a:noAutofit/>
          </a:bodyPr>
          <a:lstStyle/>
          <a:p>
            <a:pPr algn="ctr"/>
            <a:r>
              <a:rPr lang="en-US" sz="6000" b="1" dirty="0"/>
              <a:t>Ways of writing Algorithm</a:t>
            </a:r>
          </a:p>
        </p:txBody>
      </p:sp>
      <p:sp>
        <p:nvSpPr>
          <p:cNvPr id="4" name="Content Placeholder 3"/>
          <p:cNvSpPr>
            <a:spLocks noGrp="1"/>
          </p:cNvSpPr>
          <p:nvPr>
            <p:ph idx="1"/>
          </p:nvPr>
        </p:nvSpPr>
        <p:spPr>
          <a:xfrm>
            <a:off x="838200" y="1825625"/>
            <a:ext cx="7188200" cy="4351338"/>
          </a:xfrm>
        </p:spPr>
        <p:txBody>
          <a:bodyPr/>
          <a:lstStyle/>
          <a:p>
            <a:pPr marL="514350" indent="-514350">
              <a:buFont typeface="+mj-lt"/>
              <a:buAutoNum type="arabicPeriod"/>
            </a:pPr>
            <a:r>
              <a:rPr lang="en-US" b="1" dirty="0"/>
              <a:t>Natural Language (Plain English)</a:t>
            </a:r>
          </a:p>
          <a:p>
            <a:r>
              <a:rPr lang="en-US" dirty="0"/>
              <a:t>Simple, human-readable steps.</a:t>
            </a:r>
          </a:p>
          <a:p>
            <a:r>
              <a:rPr lang="en-US" dirty="0"/>
              <a:t>Good for explaining the logic informally.</a:t>
            </a:r>
          </a:p>
          <a:p>
            <a:r>
              <a:rPr lang="en-US" b="1" dirty="0"/>
              <a:t>Example</a:t>
            </a:r>
            <a:r>
              <a:rPr lang="en-US" dirty="0"/>
              <a:t>:</a:t>
            </a:r>
            <a:br>
              <a:rPr lang="en-US" dirty="0"/>
            </a:br>
            <a:r>
              <a:rPr lang="en-US" b="1" dirty="0"/>
              <a:t>Problem</a:t>
            </a:r>
            <a:r>
              <a:rPr lang="en-US" dirty="0"/>
              <a:t>: Find the maximum of three numbers.</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7445829" y="1749199"/>
            <a:ext cx="4293053" cy="40129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4"/>
            <a:ext cx="10515600" cy="607332"/>
          </a:xfrm>
        </p:spPr>
        <p:txBody>
          <a:bodyPr>
            <a:noAutofit/>
          </a:bodyPr>
          <a:lstStyle/>
          <a:p>
            <a:pPr algn="ctr"/>
            <a:r>
              <a:rPr lang="en-US" sz="6000" b="1" dirty="0"/>
              <a:t>Ways of writing Algorithm</a:t>
            </a:r>
          </a:p>
        </p:txBody>
      </p:sp>
      <p:sp>
        <p:nvSpPr>
          <p:cNvPr id="4" name="Content Placeholder 3"/>
          <p:cNvSpPr>
            <a:spLocks noGrp="1"/>
          </p:cNvSpPr>
          <p:nvPr>
            <p:ph idx="1"/>
          </p:nvPr>
        </p:nvSpPr>
        <p:spPr>
          <a:xfrm>
            <a:off x="838200" y="1825625"/>
            <a:ext cx="7188200" cy="4351338"/>
          </a:xfrm>
        </p:spPr>
        <p:txBody>
          <a:bodyPr/>
          <a:lstStyle/>
          <a:p>
            <a:r>
              <a:rPr lang="en-US" b="1" dirty="0"/>
              <a:t>2. </a:t>
            </a:r>
            <a:r>
              <a:rPr lang="en-US" b="1" dirty="0" err="1"/>
              <a:t>Pseudocode</a:t>
            </a:r>
            <a:endParaRPr lang="en-US" b="1" dirty="0"/>
          </a:p>
          <a:p>
            <a:r>
              <a:rPr lang="en-US" dirty="0"/>
              <a:t>Structured like programming code but language-independent.</a:t>
            </a:r>
          </a:p>
          <a:p>
            <a:r>
              <a:rPr lang="en-US" dirty="0"/>
              <a:t>Preferred in DAA for clarity and analysis.</a:t>
            </a:r>
          </a:p>
          <a:p>
            <a:r>
              <a:rPr lang="en-US" b="1" dirty="0"/>
              <a:t>Example</a:t>
            </a:r>
            <a:r>
              <a:rPr lang="en-US" dirty="0"/>
              <a:t>:</a:t>
            </a:r>
          </a:p>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7503886" y="1801812"/>
            <a:ext cx="3491593" cy="41925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4"/>
            <a:ext cx="10515600" cy="607332"/>
          </a:xfrm>
        </p:spPr>
        <p:txBody>
          <a:bodyPr>
            <a:noAutofit/>
          </a:bodyPr>
          <a:lstStyle/>
          <a:p>
            <a:pPr algn="ctr"/>
            <a:r>
              <a:rPr lang="en-US" sz="6000" b="1" dirty="0"/>
              <a:t>Ways of writing Algorithm</a:t>
            </a:r>
          </a:p>
        </p:txBody>
      </p:sp>
      <p:sp>
        <p:nvSpPr>
          <p:cNvPr id="4" name="Content Placeholder 3"/>
          <p:cNvSpPr>
            <a:spLocks noGrp="1"/>
          </p:cNvSpPr>
          <p:nvPr>
            <p:ph idx="1"/>
          </p:nvPr>
        </p:nvSpPr>
        <p:spPr>
          <a:xfrm>
            <a:off x="838200" y="1825625"/>
            <a:ext cx="7188200" cy="4351338"/>
          </a:xfrm>
        </p:spPr>
        <p:txBody>
          <a:bodyPr/>
          <a:lstStyle/>
          <a:p>
            <a:r>
              <a:rPr lang="en-US" b="1" dirty="0"/>
              <a:t>3. Flowchart</a:t>
            </a:r>
          </a:p>
          <a:p>
            <a:r>
              <a:rPr lang="en-US" dirty="0"/>
              <a:t>Visual representation using symbols (ovals, diamonds, rectangles).</a:t>
            </a:r>
          </a:p>
          <a:p>
            <a:r>
              <a:rPr lang="en-US" dirty="0"/>
              <a:t>Useful for understanding flow and logic.</a:t>
            </a:r>
          </a:p>
          <a:p>
            <a:r>
              <a:rPr lang="en-US" dirty="0"/>
              <a:t>Best for beginners or simple processes.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4"/>
            <a:ext cx="10515600" cy="607332"/>
          </a:xfrm>
        </p:spPr>
        <p:txBody>
          <a:bodyPr>
            <a:noAutofit/>
          </a:bodyPr>
          <a:lstStyle/>
          <a:p>
            <a:pPr algn="ctr"/>
            <a:r>
              <a:rPr lang="en-US" sz="6000" b="1" dirty="0"/>
              <a:t>Ways of writing Algorithm</a:t>
            </a:r>
          </a:p>
        </p:txBody>
      </p:sp>
      <p:sp>
        <p:nvSpPr>
          <p:cNvPr id="4" name="Content Placeholder 3"/>
          <p:cNvSpPr>
            <a:spLocks noGrp="1"/>
          </p:cNvSpPr>
          <p:nvPr>
            <p:ph idx="1"/>
          </p:nvPr>
        </p:nvSpPr>
        <p:spPr>
          <a:xfrm>
            <a:off x="838200" y="1825625"/>
            <a:ext cx="7188200" cy="4351338"/>
          </a:xfrm>
        </p:spPr>
        <p:txBody>
          <a:bodyPr/>
          <a:lstStyle/>
          <a:p>
            <a:r>
              <a:rPr lang="en-US" b="1" dirty="0"/>
              <a:t>4. Programming Language</a:t>
            </a:r>
          </a:p>
          <a:p>
            <a:r>
              <a:rPr lang="en-US" dirty="0"/>
              <a:t>Writing the actual implementation in C, Python, Java, etc.</a:t>
            </a:r>
          </a:p>
          <a:p>
            <a:r>
              <a:rPr lang="en-US" dirty="0"/>
              <a:t>Useful for running and testing.</a:t>
            </a:r>
          </a:p>
          <a:p>
            <a:r>
              <a:rPr lang="en-US" b="1" dirty="0"/>
              <a:t>Example in C</a:t>
            </a:r>
            <a:r>
              <a:rPr lang="en-US" dirty="0"/>
              <a:t>:</a:t>
            </a:r>
          </a:p>
          <a:p>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7627709" y="1852386"/>
            <a:ext cx="3925661" cy="38227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444"/>
            <a:ext cx="10515600" cy="607332"/>
          </a:xfrm>
        </p:spPr>
        <p:txBody>
          <a:bodyPr>
            <a:noAutofit/>
          </a:bodyPr>
          <a:lstStyle/>
          <a:p>
            <a:pPr algn="ctr"/>
            <a:r>
              <a:rPr lang="en-US" sz="6000" b="1" dirty="0"/>
              <a:t>Ways of writing Algorithm</a:t>
            </a:r>
          </a:p>
        </p:txBody>
      </p:sp>
      <p:sp>
        <p:nvSpPr>
          <p:cNvPr id="4" name="Content Placeholder 3"/>
          <p:cNvSpPr>
            <a:spLocks noGrp="1"/>
          </p:cNvSpPr>
          <p:nvPr>
            <p:ph idx="1"/>
          </p:nvPr>
        </p:nvSpPr>
        <p:spPr>
          <a:xfrm>
            <a:off x="838200" y="1825625"/>
            <a:ext cx="7188200" cy="4351338"/>
          </a:xfrm>
        </p:spPr>
        <p:txBody>
          <a:bodyPr/>
          <a:lstStyle/>
          <a:p>
            <a:r>
              <a:rPr lang="en-US" b="1" dirty="0"/>
              <a:t>5. Mathematical/Recursive Notation</a:t>
            </a:r>
          </a:p>
          <a:p>
            <a:r>
              <a:rPr lang="en-US" dirty="0"/>
              <a:t>Used for recursive algorithms and mathematical problems.</a:t>
            </a:r>
          </a:p>
          <a:p>
            <a:r>
              <a:rPr lang="en-US" b="1" dirty="0"/>
              <a:t>Example</a:t>
            </a:r>
            <a:r>
              <a:rPr lang="en-US" dirty="0"/>
              <a:t>: Factorial</a:t>
            </a:r>
          </a:p>
          <a:p>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7373257" y="2247221"/>
            <a:ext cx="4045403" cy="216512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600" b="1" dirty="0"/>
              <a:t>Analysis of Algorithms</a:t>
            </a:r>
          </a:p>
        </p:txBody>
      </p:sp>
      <p:sp>
        <p:nvSpPr>
          <p:cNvPr id="3" name="Content Placeholder 2"/>
          <p:cNvSpPr>
            <a:spLocks noGrp="1"/>
          </p:cNvSpPr>
          <p:nvPr>
            <p:ph idx="1"/>
          </p:nvPr>
        </p:nvSpPr>
        <p:spPr>
          <a:xfrm>
            <a:off x="838200" y="1825625"/>
            <a:ext cx="10831286" cy="4734832"/>
          </a:xfrm>
        </p:spPr>
        <p:txBody>
          <a:bodyPr>
            <a:normAutofit/>
          </a:bodyPr>
          <a:lstStyle/>
          <a:p>
            <a:r>
              <a:rPr lang="en-US" sz="4000" b="1" dirty="0"/>
              <a:t>Analysis of algorithms</a:t>
            </a:r>
            <a:r>
              <a:rPr lang="en-US" sz="4000" dirty="0"/>
              <a:t> is the process of evaluating an algorithm's efficiency in terms of:</a:t>
            </a:r>
          </a:p>
          <a:p>
            <a:r>
              <a:rPr lang="en-US" sz="4000" b="1" dirty="0"/>
              <a:t>Time</a:t>
            </a:r>
            <a:r>
              <a:rPr lang="en-US" sz="4000" dirty="0"/>
              <a:t> (how fast it runs)</a:t>
            </a:r>
          </a:p>
          <a:p>
            <a:r>
              <a:rPr lang="en-US" sz="4000" b="1" dirty="0"/>
              <a:t>Space</a:t>
            </a:r>
            <a:r>
              <a:rPr lang="en-US" sz="4000" dirty="0"/>
              <a:t> (how much memory it uses)</a:t>
            </a:r>
          </a:p>
          <a:p>
            <a:r>
              <a:rPr lang="en-US" sz="4000" dirty="0"/>
              <a:t>It helps you decide which algorithm is </a:t>
            </a:r>
            <a:r>
              <a:rPr lang="en-US" sz="4000" b="1" dirty="0"/>
              <a:t>best suited</a:t>
            </a:r>
            <a:r>
              <a:rPr lang="en-US" sz="4000" dirty="0"/>
              <a:t> for a given problem, especially when there are multiple alternatives.</a:t>
            </a:r>
          </a:p>
          <a:p>
            <a:pPr algn="just"/>
            <a:endParaRPr lang="en-US" sz="3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600" b="1" dirty="0"/>
              <a:t>Analysis of Algorithms</a:t>
            </a:r>
          </a:p>
        </p:txBody>
      </p:sp>
      <p:sp>
        <p:nvSpPr>
          <p:cNvPr id="4" name="Content Placeholder 3"/>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406400" y="1059543"/>
            <a:ext cx="11364686" cy="5515427"/>
          </a:xfrm>
          <a:prstGeom prst="rect">
            <a:avLst/>
          </a:prstGeom>
          <a:noFill/>
          <a:ln w="9525">
            <a:noFill/>
            <a:miter lim="800000"/>
            <a:headEnd/>
            <a:tailEnd/>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600" b="1" dirty="0"/>
              <a:t>Analysis of Algorithms</a:t>
            </a:r>
          </a:p>
        </p:txBody>
      </p:sp>
      <p:sp>
        <p:nvSpPr>
          <p:cNvPr id="3" name="Content Placeholder 2"/>
          <p:cNvSpPr>
            <a:spLocks noGrp="1"/>
          </p:cNvSpPr>
          <p:nvPr>
            <p:ph idx="1"/>
          </p:nvPr>
        </p:nvSpPr>
        <p:spPr>
          <a:xfrm>
            <a:off x="838200" y="1422400"/>
            <a:ext cx="10515600" cy="5138057"/>
          </a:xfrm>
        </p:spPr>
        <p:txBody>
          <a:bodyPr>
            <a:normAutofit fontScale="70000" lnSpcReduction="20000"/>
          </a:bodyPr>
          <a:lstStyle/>
          <a:p>
            <a:pPr algn="just"/>
            <a:r>
              <a:rPr lang="en-US" sz="4000" dirty="0"/>
              <a:t>This ensures that our program works well, especially when dealing with large amounts of data or solving complex problems.</a:t>
            </a:r>
          </a:p>
          <a:p>
            <a:r>
              <a:rPr lang="en-US" sz="4000" b="1" dirty="0"/>
              <a:t>Real-Time Example</a:t>
            </a:r>
          </a:p>
          <a:p>
            <a:r>
              <a:rPr lang="en-US" sz="4000" dirty="0"/>
              <a:t>Imagine you're planning a road trip, and you have two routes to choose from:</a:t>
            </a:r>
          </a:p>
          <a:p>
            <a:r>
              <a:rPr lang="en-US" sz="4000" dirty="0"/>
              <a:t>Route A is a highway with minimal traffic, but it's longer.</a:t>
            </a:r>
          </a:p>
          <a:p>
            <a:r>
              <a:rPr lang="en-US" sz="4000" dirty="0"/>
              <a:t>Route B is shorter but has heavy traffic.</a:t>
            </a:r>
          </a:p>
          <a:p>
            <a:r>
              <a:rPr lang="en-US" sz="3600" dirty="0"/>
              <a:t>Similarly, in programming:</a:t>
            </a:r>
          </a:p>
          <a:p>
            <a:r>
              <a:rPr lang="en-US" sz="3600" b="1" dirty="0"/>
              <a:t>Route A</a:t>
            </a:r>
            <a:r>
              <a:rPr lang="en-US" sz="3600" dirty="0"/>
              <a:t> might be like an algorithm that's slower but uses less memory. </a:t>
            </a:r>
          </a:p>
          <a:p>
            <a:r>
              <a:rPr lang="en-US" b="1" dirty="0"/>
              <a:t>Example</a:t>
            </a:r>
            <a:r>
              <a:rPr lang="en-US" dirty="0"/>
              <a:t>:</a:t>
            </a:r>
            <a:br>
              <a:rPr lang="en-US" dirty="0"/>
            </a:br>
            <a:r>
              <a:rPr lang="en-US" dirty="0"/>
              <a:t>A </a:t>
            </a:r>
            <a:r>
              <a:rPr lang="en-US" b="1" dirty="0"/>
              <a:t>recursive algorithm</a:t>
            </a:r>
            <a:r>
              <a:rPr lang="en-US" dirty="0"/>
              <a:t> using fewer variables (e.g., recursive Fibonacci with no array)</a:t>
            </a:r>
          </a:p>
          <a:p>
            <a:r>
              <a:rPr lang="en-US" sz="3200" dirty="0"/>
              <a:t>Slower because it recalculates values</a:t>
            </a:r>
          </a:p>
          <a:p>
            <a:r>
              <a:rPr lang="en-US" sz="3200" dirty="0"/>
              <a:t>Uses little memory</a:t>
            </a:r>
          </a:p>
          <a:p>
            <a:endParaRPr lang="en-US" sz="3600" dirty="0"/>
          </a:p>
          <a:p>
            <a:pPr algn="just"/>
            <a:endParaRPr lang="en-US" sz="3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600" b="1" dirty="0"/>
              <a:t>Analysis of Algorithms</a:t>
            </a:r>
          </a:p>
        </p:txBody>
      </p:sp>
      <p:sp>
        <p:nvSpPr>
          <p:cNvPr id="3" name="Content Placeholder 2"/>
          <p:cNvSpPr>
            <a:spLocks noGrp="1"/>
          </p:cNvSpPr>
          <p:nvPr>
            <p:ph idx="1"/>
          </p:nvPr>
        </p:nvSpPr>
        <p:spPr>
          <a:xfrm>
            <a:off x="838200" y="1422400"/>
            <a:ext cx="10515600" cy="5138057"/>
          </a:xfrm>
        </p:spPr>
        <p:txBody>
          <a:bodyPr>
            <a:normAutofit fontScale="92500" lnSpcReduction="10000"/>
          </a:bodyPr>
          <a:lstStyle/>
          <a:p>
            <a:endParaRPr lang="en-US" sz="3600" dirty="0"/>
          </a:p>
          <a:p>
            <a:r>
              <a:rPr lang="en-US" sz="3600" b="1" dirty="0"/>
              <a:t>Route B</a:t>
            </a:r>
            <a:r>
              <a:rPr lang="en-US" sz="3600" dirty="0"/>
              <a:t> might be faster but uses more memory.</a:t>
            </a:r>
          </a:p>
          <a:p>
            <a:r>
              <a:rPr lang="en-US" sz="4000" b="1" dirty="0"/>
              <a:t>frequent braking</a:t>
            </a:r>
            <a:r>
              <a:rPr lang="en-US" sz="4000" dirty="0"/>
              <a:t>, </a:t>
            </a:r>
            <a:r>
              <a:rPr lang="en-US" sz="4000" b="1" dirty="0"/>
              <a:t>acceleration</a:t>
            </a:r>
            <a:r>
              <a:rPr lang="en-US" sz="4000" dirty="0"/>
              <a:t>, and </a:t>
            </a:r>
            <a:r>
              <a:rPr lang="en-US" sz="4000" b="1" dirty="0"/>
              <a:t>idling in traffic</a:t>
            </a:r>
            <a:r>
              <a:rPr lang="en-US" sz="4000" dirty="0"/>
              <a:t>.</a:t>
            </a:r>
          </a:p>
          <a:p>
            <a:r>
              <a:rPr lang="en-US" sz="4000" dirty="0"/>
              <a:t>Requires </a:t>
            </a:r>
            <a:r>
              <a:rPr lang="en-US" sz="4000" b="1" dirty="0"/>
              <a:t>more fuel</a:t>
            </a:r>
            <a:r>
              <a:rPr lang="en-US" sz="4000" dirty="0"/>
              <a:t> because of the stop-and-go.</a:t>
            </a:r>
          </a:p>
          <a:p>
            <a:r>
              <a:rPr lang="en-US" sz="4000" dirty="0"/>
              <a:t>Example: </a:t>
            </a:r>
          </a:p>
          <a:p>
            <a:r>
              <a:rPr lang="en-US" sz="4000" dirty="0"/>
              <a:t>A </a:t>
            </a:r>
            <a:r>
              <a:rPr lang="en-US" sz="4000" b="1" dirty="0"/>
              <a:t>dynamic programming</a:t>
            </a:r>
            <a:r>
              <a:rPr lang="en-US" sz="4000" dirty="0"/>
              <a:t> version of Fibonacci using memoization or a table</a:t>
            </a:r>
          </a:p>
          <a:p>
            <a:r>
              <a:rPr lang="en-US" sz="4000" dirty="0"/>
              <a:t>Faster due to reuse of computed values</a:t>
            </a:r>
          </a:p>
          <a:p>
            <a:r>
              <a:rPr lang="en-US" sz="4000" dirty="0"/>
              <a:t>Uses extra memory to store results</a:t>
            </a:r>
          </a:p>
          <a:p>
            <a:pPr algn="just"/>
            <a:endParaRPr lang="en-US" sz="3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600" b="1" dirty="0"/>
              <a:t>Need of Analysis of Algorithms</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747033" y="1244487"/>
            <a:ext cx="5734050" cy="4445113"/>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7707086" y="1275670"/>
            <a:ext cx="3164114" cy="4326844"/>
          </a:xfrm>
          <a:prstGeom prst="rect">
            <a:avLst/>
          </a:prstGeom>
          <a:noFill/>
          <a:ln w="9525">
            <a:noFill/>
            <a:miter lim="800000"/>
            <a:headEnd/>
            <a:tailEnd/>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fontScale="90000"/>
          </a:bodyPr>
          <a:lstStyle/>
          <a:p>
            <a:pPr algn="ctr" fontAlgn="base"/>
            <a:r>
              <a:rPr lang="en-US" sz="3600" b="1" dirty="0"/>
              <a:t>What is the need for Complexity Analysis?</a:t>
            </a:r>
            <a:br>
              <a:rPr lang="en-US" sz="3600" b="1" dirty="0"/>
            </a:br>
            <a:endParaRPr lang="en-US" sz="3600" b="1" dirty="0"/>
          </a:p>
        </p:txBody>
      </p:sp>
      <p:sp>
        <p:nvSpPr>
          <p:cNvPr id="3" name="Content Placeholder 2"/>
          <p:cNvSpPr>
            <a:spLocks noGrp="1"/>
          </p:cNvSpPr>
          <p:nvPr>
            <p:ph idx="1"/>
          </p:nvPr>
        </p:nvSpPr>
        <p:spPr>
          <a:xfrm>
            <a:off x="838200" y="1407886"/>
            <a:ext cx="10515600" cy="5152571"/>
          </a:xfrm>
        </p:spPr>
        <p:txBody>
          <a:bodyPr>
            <a:noAutofit/>
          </a:bodyPr>
          <a:lstStyle/>
          <a:p>
            <a:pPr fontAlgn="base"/>
            <a:r>
              <a:rPr lang="en-US" sz="3200" dirty="0"/>
              <a:t>Complexity Analysis determines the amount of time and space resources required to execute it.</a:t>
            </a:r>
          </a:p>
          <a:p>
            <a:pPr fontAlgn="base"/>
            <a:r>
              <a:rPr lang="en-US" sz="3200" dirty="0"/>
              <a:t>It is used for comparing different algorithms on different input sizes.</a:t>
            </a:r>
          </a:p>
          <a:p>
            <a:pPr fontAlgn="base"/>
            <a:r>
              <a:rPr lang="en-US" sz="3200" dirty="0"/>
              <a:t>Complexity helps to determine the difficulty of a problem.</a:t>
            </a:r>
          </a:p>
          <a:p>
            <a:pPr fontAlgn="base"/>
            <a:r>
              <a:rPr lang="en-US" sz="3200" dirty="0"/>
              <a:t>measured by how much time and space (memory) it takes to solve a particular problem</a:t>
            </a:r>
          </a:p>
          <a:p>
            <a:pPr>
              <a:buNone/>
            </a:pPr>
            <a:br>
              <a:rPr lang="en-US" sz="3200" dirty="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normAutofit fontScale="90000"/>
          </a:bodyPr>
          <a:lstStyle/>
          <a:p>
            <a:r>
              <a:rPr lang="en-US" b="1" dirty="0"/>
              <a:t>Orders of growth (</a:t>
            </a:r>
            <a:r>
              <a:rPr lang="en-US" dirty="0"/>
              <a:t>time complexities)</a:t>
            </a:r>
            <a:br>
              <a:rPr lang="en-US" dirty="0"/>
            </a:br>
            <a:r>
              <a:rPr lang="en-US" dirty="0"/>
              <a:t>(classes of Time function)</a:t>
            </a:r>
          </a:p>
        </p:txBody>
      </p:sp>
      <p:sp>
        <p:nvSpPr>
          <p:cNvPr id="3" name="Content Placeholder 2"/>
          <p:cNvSpPr>
            <a:spLocks noGrp="1"/>
          </p:cNvSpPr>
          <p:nvPr>
            <p:ph idx="1"/>
          </p:nvPr>
        </p:nvSpPr>
        <p:spPr>
          <a:xfrm>
            <a:off x="838200" y="1451429"/>
            <a:ext cx="8233229" cy="5210628"/>
          </a:xfrm>
        </p:spPr>
        <p:txBody>
          <a:bodyPr/>
          <a:lstStyle/>
          <a:p>
            <a:r>
              <a:rPr lang="en-US" dirty="0"/>
              <a:t>order of growth means the efficiency of an algorithm</a:t>
            </a:r>
          </a:p>
        </p:txBody>
      </p:sp>
      <p:graphicFrame>
        <p:nvGraphicFramePr>
          <p:cNvPr id="4" name="Table 3"/>
          <p:cNvGraphicFramePr>
            <a:graphicFrameLocks noGrp="1"/>
          </p:cNvGraphicFramePr>
          <p:nvPr/>
        </p:nvGraphicFramePr>
        <p:xfrm>
          <a:off x="667654" y="2200123"/>
          <a:ext cx="10580916" cy="429768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1520374">
                  <a:extLst>
                    <a:ext uri="{9D8B030D-6E8A-4147-A177-3AD203B41FA5}">
                      <a16:colId xmlns:a16="http://schemas.microsoft.com/office/drawing/2014/main" val="20001"/>
                    </a:ext>
                  </a:extLst>
                </a:gridCol>
                <a:gridCol w="2699657">
                  <a:extLst>
                    <a:ext uri="{9D8B030D-6E8A-4147-A177-3AD203B41FA5}">
                      <a16:colId xmlns:a16="http://schemas.microsoft.com/office/drawing/2014/main" val="20002"/>
                    </a:ext>
                  </a:extLst>
                </a:gridCol>
                <a:gridCol w="3715656">
                  <a:extLst>
                    <a:ext uri="{9D8B030D-6E8A-4147-A177-3AD203B41FA5}">
                      <a16:colId xmlns:a16="http://schemas.microsoft.com/office/drawing/2014/main" val="20003"/>
                    </a:ext>
                  </a:extLst>
                </a:gridCol>
              </a:tblGrid>
              <a:tr h="370840">
                <a:tc>
                  <a:txBody>
                    <a:bodyPr/>
                    <a:lstStyle/>
                    <a:p>
                      <a:r>
                        <a:rPr lang="en-US" dirty="0"/>
                        <a:t>Order of Growth</a:t>
                      </a:r>
                    </a:p>
                  </a:txBody>
                  <a:tcPr/>
                </a:tc>
                <a:tc>
                  <a:txBody>
                    <a:bodyPr/>
                    <a:lstStyle/>
                    <a:p>
                      <a:r>
                        <a:rPr lang="en-US" dirty="0"/>
                        <a:t>Description</a:t>
                      </a:r>
                    </a:p>
                  </a:txBody>
                  <a:tcPr/>
                </a:tc>
                <a:tc>
                  <a:txBody>
                    <a:bodyPr/>
                    <a:lstStyle/>
                    <a:p>
                      <a:pPr algn="l" fontAlgn="t"/>
                      <a:r>
                        <a:rPr lang="en-US" dirty="0"/>
                        <a:t>Example</a:t>
                      </a:r>
                    </a:p>
                  </a:txBody>
                  <a:tcPr marL="76200" marR="76200" marT="76200" marB="76200"/>
                </a:tc>
                <a:tc>
                  <a:txBody>
                    <a:bodyPr/>
                    <a:lstStyle/>
                    <a:p>
                      <a:pPr algn="l" fontAlgn="t"/>
                      <a:r>
                        <a:rPr lang="en-US" dirty="0"/>
                        <a:t>Explanation</a:t>
                      </a:r>
                      <a:r>
                        <a:rPr lang="en-US" baseline="0" dirty="0"/>
                        <a:t> </a:t>
                      </a:r>
                      <a:endParaRPr lang="en-US" dirty="0"/>
                    </a:p>
                  </a:txBody>
                  <a:tcPr marL="76200" marR="76200" marT="76200" marB="76200"/>
                </a:tc>
                <a:extLst>
                  <a:ext uri="{0D108BD9-81ED-4DB2-BD59-A6C34878D82A}">
                    <a16:rowId xmlns:a16="http://schemas.microsoft.com/office/drawing/2014/main" val="10000"/>
                  </a:ext>
                </a:extLst>
              </a:tr>
              <a:tr h="370840">
                <a:tc>
                  <a:txBody>
                    <a:bodyPr/>
                    <a:lstStyle/>
                    <a:p>
                      <a:pPr fontAlgn="t"/>
                      <a:r>
                        <a:rPr lang="en-US" dirty="0"/>
                        <a:t>Constant</a:t>
                      </a:r>
                    </a:p>
                  </a:txBody>
                  <a:tcPr marL="76200" marR="76200" marT="76200" marB="76200"/>
                </a:tc>
                <a:tc>
                  <a:txBody>
                    <a:bodyPr/>
                    <a:lstStyle/>
                    <a:p>
                      <a:pPr fontAlgn="t"/>
                      <a:r>
                        <a:rPr lang="en-US" dirty="0"/>
                        <a:t>O</a:t>
                      </a:r>
                      <a:r>
                        <a:rPr lang="el-GR" dirty="0"/>
                        <a:t>(1)</a:t>
                      </a:r>
                    </a:p>
                  </a:txBody>
                  <a:tcPr marL="76200" marR="76200" marT="76200" marB="76200"/>
                </a:tc>
                <a:tc>
                  <a:txBody>
                    <a:bodyPr/>
                    <a:lstStyle/>
                    <a:p>
                      <a:pPr fontAlgn="t"/>
                      <a:r>
                        <a:rPr lang="en-US"/>
                        <a:t>Indexing an item in a list</a:t>
                      </a:r>
                    </a:p>
                  </a:txBody>
                  <a:tcPr marL="76200" marR="76200" marT="76200" marB="76200"/>
                </a:tc>
                <a:tc>
                  <a:txBody>
                    <a:bodyPr/>
                    <a:lstStyle/>
                    <a:p>
                      <a:pPr fontAlgn="t"/>
                      <a:r>
                        <a:rPr lang="en-US" dirty="0"/>
                        <a:t>Time does not depend on input size.</a:t>
                      </a:r>
                    </a:p>
                  </a:txBody>
                  <a:tcPr marL="76200" marR="76200" marT="76200" marB="76200"/>
                </a:tc>
                <a:extLst>
                  <a:ext uri="{0D108BD9-81ED-4DB2-BD59-A6C34878D82A}">
                    <a16:rowId xmlns:a16="http://schemas.microsoft.com/office/drawing/2014/main" val="10001"/>
                  </a:ext>
                </a:extLst>
              </a:tr>
              <a:tr h="370840">
                <a:tc>
                  <a:txBody>
                    <a:bodyPr/>
                    <a:lstStyle/>
                    <a:p>
                      <a:pPr fontAlgn="t"/>
                      <a:r>
                        <a:rPr lang="en-US"/>
                        <a:t>Logarithmic</a:t>
                      </a:r>
                    </a:p>
                  </a:txBody>
                  <a:tcPr marL="76200" marR="76200" marT="76200" marB="76200"/>
                </a:tc>
                <a:tc>
                  <a:txBody>
                    <a:bodyPr/>
                    <a:lstStyle/>
                    <a:p>
                      <a:pPr fontAlgn="t"/>
                      <a:r>
                        <a:rPr lang="en-US" dirty="0"/>
                        <a:t>O</a:t>
                      </a:r>
                      <a:r>
                        <a:rPr lang="el-GR" dirty="0"/>
                        <a:t>(</a:t>
                      </a:r>
                      <a:r>
                        <a:rPr lang="en-US" dirty="0"/>
                        <a:t>log N)</a:t>
                      </a:r>
                    </a:p>
                  </a:txBody>
                  <a:tcPr marL="76200" marR="76200" marT="76200" marB="76200"/>
                </a:tc>
                <a:tc>
                  <a:txBody>
                    <a:bodyPr/>
                    <a:lstStyle/>
                    <a:p>
                      <a:pPr fontAlgn="t"/>
                      <a:r>
                        <a:rPr lang="en-US"/>
                        <a:t>Repeatedly halving a number</a:t>
                      </a:r>
                    </a:p>
                  </a:txBody>
                  <a:tcPr marL="76200" marR="76200" marT="76200" marB="76200"/>
                </a:tc>
                <a:tc>
                  <a:txBody>
                    <a:bodyPr/>
                    <a:lstStyle/>
                    <a:p>
                      <a:pPr fontAlgn="t"/>
                      <a:r>
                        <a:rPr lang="en-US" dirty="0"/>
                        <a:t>Time grows with the logarithm of input size. </a:t>
                      </a:r>
                    </a:p>
                  </a:txBody>
                  <a:tcPr marL="76200" marR="76200" marT="76200" marB="76200"/>
                </a:tc>
                <a:extLst>
                  <a:ext uri="{0D108BD9-81ED-4DB2-BD59-A6C34878D82A}">
                    <a16:rowId xmlns:a16="http://schemas.microsoft.com/office/drawing/2014/main" val="10002"/>
                  </a:ext>
                </a:extLst>
              </a:tr>
              <a:tr h="370840">
                <a:tc>
                  <a:txBody>
                    <a:bodyPr/>
                    <a:lstStyle/>
                    <a:p>
                      <a:pPr fontAlgn="t"/>
                      <a:r>
                        <a:rPr lang="en-US"/>
                        <a:t>Linear</a:t>
                      </a:r>
                    </a:p>
                  </a:txBody>
                  <a:tcPr marL="76200" marR="76200" marT="76200" marB="76200"/>
                </a:tc>
                <a:tc>
                  <a:txBody>
                    <a:bodyPr/>
                    <a:lstStyle/>
                    <a:p>
                      <a:pPr fontAlgn="t"/>
                      <a:r>
                        <a:rPr lang="en-US" dirty="0"/>
                        <a:t>O</a:t>
                      </a:r>
                      <a:r>
                        <a:rPr lang="el-GR" dirty="0"/>
                        <a:t>(</a:t>
                      </a:r>
                      <a:r>
                        <a:rPr lang="en-US" dirty="0"/>
                        <a:t>n)</a:t>
                      </a:r>
                    </a:p>
                  </a:txBody>
                  <a:tcPr marL="76200" marR="76200" marT="76200" marB="76200"/>
                </a:tc>
                <a:tc>
                  <a:txBody>
                    <a:bodyPr/>
                    <a:lstStyle/>
                    <a:p>
                      <a:pPr fontAlgn="t"/>
                      <a:r>
                        <a:rPr lang="en-US" dirty="0"/>
                        <a:t>Summing a list</a:t>
                      </a:r>
                    </a:p>
                  </a:txBody>
                  <a:tcPr marL="76200" marR="76200" marT="76200" marB="76200"/>
                </a:tc>
                <a:tc>
                  <a:txBody>
                    <a:bodyPr/>
                    <a:lstStyle/>
                    <a:p>
                      <a:pPr fontAlgn="t"/>
                      <a:r>
                        <a:rPr lang="en-US" dirty="0"/>
                        <a:t>Time grows proportionally to input size. </a:t>
                      </a:r>
                    </a:p>
                  </a:txBody>
                  <a:tcPr marL="76200" marR="76200" marT="76200" marB="76200"/>
                </a:tc>
                <a:extLst>
                  <a:ext uri="{0D108BD9-81ED-4DB2-BD59-A6C34878D82A}">
                    <a16:rowId xmlns:a16="http://schemas.microsoft.com/office/drawing/2014/main" val="10003"/>
                  </a:ext>
                </a:extLst>
              </a:tr>
              <a:tr h="370840">
                <a:tc>
                  <a:txBody>
                    <a:bodyPr/>
                    <a:lstStyle/>
                    <a:p>
                      <a:pPr fontAlgn="t"/>
                      <a:r>
                        <a:rPr lang="en-US"/>
                        <a:t>Quadratic</a:t>
                      </a:r>
                    </a:p>
                  </a:txBody>
                  <a:tcPr marL="76200" marR="76200" marT="76200" marB="76200"/>
                </a:tc>
                <a:tc>
                  <a:txBody>
                    <a:bodyPr/>
                    <a:lstStyle/>
                    <a:p>
                      <a:pPr fontAlgn="t"/>
                      <a:r>
                        <a:rPr lang="en-US" dirty="0"/>
                        <a:t>O</a:t>
                      </a:r>
                      <a:r>
                        <a:rPr lang="el-GR" dirty="0"/>
                        <a:t>(</a:t>
                      </a:r>
                      <a:r>
                        <a:rPr lang="en-US" dirty="0"/>
                        <a:t>n^2)</a:t>
                      </a:r>
                    </a:p>
                  </a:txBody>
                  <a:tcPr marL="76200" marR="76200" marT="76200" marB="76200"/>
                </a:tc>
                <a:tc>
                  <a:txBody>
                    <a:bodyPr/>
                    <a:lstStyle/>
                    <a:p>
                      <a:pPr fontAlgn="t"/>
                      <a:r>
                        <a:rPr lang="en-US" dirty="0"/>
                        <a:t>Summing each pair of numbers in a list</a:t>
                      </a:r>
                    </a:p>
                  </a:txBody>
                  <a:tcPr marL="76200" marR="76200" marT="76200" marB="76200"/>
                </a:tc>
                <a:tc>
                  <a:txBody>
                    <a:bodyPr/>
                    <a:lstStyle/>
                    <a:p>
                      <a:pPr fontAlgn="t"/>
                      <a:r>
                        <a:rPr lang="en-US" dirty="0"/>
                        <a:t>Time grows </a:t>
                      </a:r>
                      <a:r>
                        <a:rPr lang="en-US" dirty="0" err="1"/>
                        <a:t>quadratically</a:t>
                      </a:r>
                      <a:r>
                        <a:rPr lang="en-US" dirty="0"/>
                        <a:t> with input size. </a:t>
                      </a:r>
                    </a:p>
                  </a:txBody>
                  <a:tcPr marL="76200" marR="76200" marT="76200" marB="76200"/>
                </a:tc>
                <a:extLst>
                  <a:ext uri="{0D108BD9-81ED-4DB2-BD59-A6C34878D82A}">
                    <a16:rowId xmlns:a16="http://schemas.microsoft.com/office/drawing/2014/main" val="10004"/>
                  </a:ext>
                </a:extLst>
              </a:tr>
              <a:tr h="370840">
                <a:tc>
                  <a:txBody>
                    <a:bodyPr/>
                    <a:lstStyle/>
                    <a:p>
                      <a:r>
                        <a:rPr lang="en-US" dirty="0"/>
                        <a:t>Cubic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a:t>
                      </a:r>
                      <a:r>
                        <a:rPr lang="el-GR" dirty="0"/>
                        <a:t>(</a:t>
                      </a:r>
                      <a:r>
                        <a:rPr lang="en-US" dirty="0"/>
                        <a:t>n^3)</a:t>
                      </a:r>
                    </a:p>
                  </a:txBody>
                  <a:tcPr/>
                </a:tc>
                <a:tc>
                  <a:txBody>
                    <a:bodyPr/>
                    <a:lstStyle/>
                    <a:p>
                      <a:r>
                        <a:rPr lang="en-US" dirty="0"/>
                        <a:t>Matrix Multiplication</a:t>
                      </a:r>
                    </a:p>
                  </a:txBody>
                  <a:tcPr/>
                </a:tc>
                <a:tc>
                  <a:txBody>
                    <a:bodyPr/>
                    <a:lstStyle/>
                    <a:p>
                      <a:r>
                        <a:rPr lang="en-US" dirty="0"/>
                        <a:t>Cubic growth. Examples include triple nested loops</a:t>
                      </a:r>
                      <a:r>
                        <a:rPr lang="en-US"/>
                        <a:t>. </a:t>
                      </a:r>
                      <a:endParaRPr lang="en-US" dirty="0"/>
                    </a:p>
                  </a:txBody>
                  <a:tcPr/>
                </a:tc>
                <a:extLst>
                  <a:ext uri="{0D108BD9-81ED-4DB2-BD59-A6C34878D82A}">
                    <a16:rowId xmlns:a16="http://schemas.microsoft.com/office/drawing/2014/main" val="10005"/>
                  </a:ext>
                </a:extLst>
              </a:tr>
              <a:tr h="370840">
                <a:tc>
                  <a:txBody>
                    <a:bodyPr/>
                    <a:lstStyle/>
                    <a:p>
                      <a:pPr fontAlgn="t"/>
                      <a:r>
                        <a:rPr lang="en-US" dirty="0"/>
                        <a:t>Exponential</a:t>
                      </a:r>
                    </a:p>
                  </a:txBody>
                  <a:tcPr marL="76200" marR="76200" marT="76200" marB="76200"/>
                </a:tc>
                <a:tc>
                  <a:txBody>
                    <a:bodyPr/>
                    <a:lstStyle/>
                    <a:p>
                      <a:pPr fontAlgn="t"/>
                      <a:r>
                        <a:rPr lang="en-US" dirty="0"/>
                        <a:t>O</a:t>
                      </a:r>
                      <a:r>
                        <a:rPr lang="el-GR" dirty="0"/>
                        <a:t>(2^</a:t>
                      </a:r>
                      <a:r>
                        <a:rPr lang="en-US" dirty="0"/>
                        <a:t>n)</a:t>
                      </a:r>
                    </a:p>
                  </a:txBody>
                  <a:tcPr marL="76200" marR="76200" marT="76200" marB="76200"/>
                </a:tc>
                <a:tc>
                  <a:txBody>
                    <a:bodyPr/>
                    <a:lstStyle/>
                    <a:p>
                      <a:pPr fontAlgn="t"/>
                      <a:r>
                        <a:rPr lang="en-US" dirty="0"/>
                        <a:t>Visiting each node in a binary tree</a:t>
                      </a:r>
                    </a:p>
                  </a:txBody>
                  <a:tcPr marL="76200" marR="76200" marT="76200" marB="76200"/>
                </a:tc>
                <a:tc>
                  <a:txBody>
                    <a:bodyPr/>
                    <a:lstStyle/>
                    <a:p>
                      <a:pPr fontAlgn="t"/>
                      <a:r>
                        <a:rPr lang="en-US" dirty="0"/>
                        <a:t>Time doubles with each additional input size.</a:t>
                      </a:r>
                    </a:p>
                  </a:txBody>
                  <a:tcPr marL="76200" marR="76200" marT="76200" marB="76200"/>
                </a:tc>
                <a:extLst>
                  <a:ext uri="{0D108BD9-81ED-4DB2-BD59-A6C34878D82A}">
                    <a16:rowId xmlns:a16="http://schemas.microsoft.com/office/drawing/2014/main" val="10006"/>
                  </a:ext>
                </a:extLst>
              </a:tr>
            </a:tbl>
          </a:graphicData>
        </a:graphic>
      </p:graphicFrame>
      <p:sp>
        <p:nvSpPr>
          <p:cNvPr id="14" name="Rectangle 13"/>
          <p:cNvSpPr/>
          <p:nvPr/>
        </p:nvSpPr>
        <p:spPr>
          <a:xfrm>
            <a:off x="8977065" y="1125298"/>
            <a:ext cx="2518253" cy="1477328"/>
          </a:xfrm>
          <a:prstGeom prst="rect">
            <a:avLst/>
          </a:prstGeom>
        </p:spPr>
        <p:txBody>
          <a:bodyPr wrap="square">
            <a:spAutoFit/>
          </a:bodyPr>
          <a:lstStyle/>
          <a:p>
            <a:r>
              <a:rPr lang="en-US" dirty="0"/>
              <a:t>f(n)=2n+3</a:t>
            </a:r>
          </a:p>
          <a:p>
            <a:r>
              <a:rPr lang="en-US" dirty="0"/>
              <a:t>f(n) =500n+700</a:t>
            </a:r>
          </a:p>
          <a:p>
            <a:r>
              <a:rPr lang="en-US" dirty="0"/>
              <a:t>f(n) = n/200+6</a:t>
            </a:r>
          </a:p>
          <a:p>
            <a:endParaRPr lang="en-US" dirty="0"/>
          </a:p>
          <a:p>
            <a:endParaRPr lang="en-US" dirty="0"/>
          </a:p>
        </p:txBody>
      </p:sp>
      <p:grpSp>
        <p:nvGrpSpPr>
          <p:cNvPr id="15" name="Group 14"/>
          <p:cNvGrpSpPr/>
          <p:nvPr/>
        </p:nvGrpSpPr>
        <p:grpSpPr>
          <a:xfrm>
            <a:off x="10675255" y="1328104"/>
            <a:ext cx="609600" cy="551543"/>
            <a:chOff x="9985829" y="1712686"/>
            <a:chExt cx="609600" cy="551543"/>
          </a:xfrm>
        </p:grpSpPr>
        <p:cxnSp>
          <p:nvCxnSpPr>
            <p:cNvPr id="16" name="Straight Arrow Connector 15"/>
            <p:cNvCxnSpPr/>
            <p:nvPr/>
          </p:nvCxnSpPr>
          <p:spPr>
            <a:xfrm>
              <a:off x="10043886" y="1712686"/>
              <a:ext cx="493485" cy="21771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V="1">
              <a:off x="9985829" y="1959429"/>
              <a:ext cx="493485" cy="435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V="1">
              <a:off x="10348686" y="2090057"/>
              <a:ext cx="246743" cy="17417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
        <p:nvSpPr>
          <p:cNvPr id="19" name="Rectangle 18"/>
          <p:cNvSpPr/>
          <p:nvPr/>
        </p:nvSpPr>
        <p:spPr>
          <a:xfrm>
            <a:off x="11163694" y="1313981"/>
            <a:ext cx="655949" cy="400110"/>
          </a:xfrm>
          <a:prstGeom prst="rect">
            <a:avLst/>
          </a:prstGeom>
        </p:spPr>
        <p:txBody>
          <a:bodyPr wrap="none">
            <a:spAutoFit/>
          </a:bodyPr>
          <a:lstStyle/>
          <a:p>
            <a:r>
              <a:rPr lang="en-US" sz="2000" b="1" dirty="0"/>
              <a:t>O(n)</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8970"/>
            <a:ext cx="10515600" cy="58065"/>
          </a:xfrm>
        </p:spPr>
        <p:txBody>
          <a:bodyPr>
            <a:noAutofit/>
          </a:bodyPr>
          <a:lstStyle/>
          <a:p>
            <a:pPr algn="ctr"/>
            <a:r>
              <a:rPr lang="en-US" sz="2800" b="1" dirty="0"/>
              <a:t>Orders of growth (</a:t>
            </a:r>
            <a:r>
              <a:rPr lang="en-US" sz="2800" dirty="0"/>
              <a:t>time complexities)  (classes of Time function)</a:t>
            </a:r>
            <a:endParaRPr lang="en-US" sz="2800" b="1" dirty="0"/>
          </a:p>
        </p:txBody>
      </p:sp>
      <p:pic>
        <p:nvPicPr>
          <p:cNvPr id="1026" name="Picture 2"/>
          <p:cNvPicPr>
            <a:picLocks noChangeAspect="1" noChangeArrowheads="1"/>
          </p:cNvPicPr>
          <p:nvPr/>
        </p:nvPicPr>
        <p:blipFill>
          <a:blip r:embed="rId2" cstate="print"/>
          <a:srcRect/>
          <a:stretch>
            <a:fillRect/>
          </a:stretch>
        </p:blipFill>
        <p:spPr bwMode="auto">
          <a:xfrm>
            <a:off x="464467" y="2525483"/>
            <a:ext cx="7068458" cy="399142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p:cNvPicPr>
            <a:picLocks noGrp="1" noChangeAspect="1" noChangeArrowheads="1"/>
          </p:cNvPicPr>
          <p:nvPr>
            <p:ph idx="1"/>
          </p:nvPr>
        </p:nvPicPr>
        <p:blipFill>
          <a:blip r:embed="rId3" cstate="print"/>
          <a:srcRect/>
          <a:stretch>
            <a:fillRect/>
          </a:stretch>
        </p:blipFill>
        <p:spPr bwMode="auto">
          <a:xfrm>
            <a:off x="485331" y="1364343"/>
            <a:ext cx="7063061" cy="1166245"/>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7750625" y="1378857"/>
            <a:ext cx="4267200" cy="5138057"/>
          </a:xfrm>
          <a:prstGeom prst="rect">
            <a:avLst/>
          </a:prstGeom>
          <a:noFill/>
          <a:ln w="6350">
            <a:solidFill>
              <a:schemeClr val="tx1"/>
            </a:solidFill>
            <a:miter lim="800000"/>
            <a:headEnd/>
            <a:tailEnd/>
          </a:ln>
        </p:spPr>
      </p:pic>
      <p:sp>
        <p:nvSpPr>
          <p:cNvPr id="6" name="Rectangle 5"/>
          <p:cNvSpPr/>
          <p:nvPr/>
        </p:nvSpPr>
        <p:spPr>
          <a:xfrm>
            <a:off x="493485" y="754520"/>
            <a:ext cx="11263085" cy="400110"/>
          </a:xfrm>
          <a:prstGeom prst="rect">
            <a:avLst/>
          </a:prstGeom>
        </p:spPr>
        <p:txBody>
          <a:bodyPr wrap="square">
            <a:spAutoFit/>
          </a:bodyPr>
          <a:lstStyle/>
          <a:p>
            <a:r>
              <a:rPr lang="en-US" sz="2000" dirty="0"/>
              <a:t>The sequence of growth rates (from slowest to fastest) is as follows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0914"/>
            <a:ext cx="10515600" cy="6212115"/>
          </a:xfrm>
        </p:spPr>
        <p:txBody>
          <a:bodyPr>
            <a:normAutofit/>
          </a:bodyPr>
          <a:lstStyle/>
          <a:p>
            <a:pPr>
              <a:buNone/>
            </a:pPr>
            <a:r>
              <a:rPr lang="en-US" b="1" dirty="0"/>
              <a:t>Constant Growth (1):</a:t>
            </a:r>
            <a:endParaRPr lang="en-US" dirty="0"/>
          </a:p>
          <a:p>
            <a:pPr>
              <a:buNone/>
            </a:pPr>
            <a:r>
              <a:rPr lang="en-US" dirty="0"/>
              <a:t>the number of operations Independent of n. Always the slowest growth.</a:t>
            </a:r>
          </a:p>
          <a:p>
            <a:pPr>
              <a:buNone/>
            </a:pPr>
            <a:r>
              <a:rPr lang="en-US" b="1" dirty="0"/>
              <a:t>Logarithmic Growth (log ⁡n):</a:t>
            </a:r>
            <a:endParaRPr lang="en-US" dirty="0"/>
          </a:p>
          <a:p>
            <a:pPr>
              <a:buNone/>
            </a:pPr>
            <a:r>
              <a:rPr lang="en-US" dirty="0"/>
              <a:t>the number of operations grows very slowly, even for large n. For example: log⁡10=1, log⁡100=2 (base 10). (Ex. binary search)</a:t>
            </a:r>
          </a:p>
          <a:p>
            <a:pPr>
              <a:buNone/>
            </a:pPr>
            <a:r>
              <a:rPr lang="en-US" b="1" dirty="0"/>
              <a:t>Square Root Growth (</a:t>
            </a:r>
            <a:r>
              <a:rPr lang="en-US" dirty="0"/>
              <a:t>√n</a:t>
            </a:r>
            <a:r>
              <a:rPr lang="en-US" b="1" dirty="0"/>
              <a:t>):</a:t>
            </a:r>
            <a:endParaRPr lang="en-US" dirty="0"/>
          </a:p>
          <a:p>
            <a:pPr>
              <a:buNone/>
            </a:pPr>
            <a:r>
              <a:rPr lang="en-US" dirty="0"/>
              <a:t>Faster than logarithmic but slower than linear. For example: For n = 100         √n = 10</a:t>
            </a:r>
          </a:p>
          <a:p>
            <a:pPr>
              <a:buNone/>
            </a:pPr>
            <a:r>
              <a:rPr lang="en-US" b="1" dirty="0"/>
              <a:t>Linear Growth (n): </a:t>
            </a:r>
          </a:p>
          <a:p>
            <a:pPr>
              <a:buNone/>
            </a:pPr>
            <a:r>
              <a:rPr lang="en-US" dirty="0"/>
              <a:t>the number of operations grows directly proportionally to n. For example: n=100 , </a:t>
            </a:r>
            <a:r>
              <a:rPr lang="en-US" dirty="0" err="1"/>
              <a:t>algo</a:t>
            </a:r>
            <a:r>
              <a:rPr lang="en-US" dirty="0"/>
              <a:t> performs </a:t>
            </a:r>
            <a:r>
              <a:rPr lang="en-US" b="1" dirty="0"/>
              <a:t>about 100 steps/operations</a:t>
            </a:r>
            <a:r>
              <a:rPr lang="en-US" dirty="0"/>
              <a:t>.</a:t>
            </a:r>
          </a:p>
          <a:p>
            <a:pPr>
              <a:buNone/>
            </a:pPr>
            <a:endParaRPr lang="en-US" dirty="0"/>
          </a:p>
        </p:txBody>
      </p:sp>
      <p:grpSp>
        <p:nvGrpSpPr>
          <p:cNvPr id="10" name="Group 9"/>
          <p:cNvGrpSpPr/>
          <p:nvPr/>
        </p:nvGrpSpPr>
        <p:grpSpPr>
          <a:xfrm>
            <a:off x="8149770" y="36674"/>
            <a:ext cx="2300537" cy="848697"/>
            <a:chOff x="8149770" y="36674"/>
            <a:chExt cx="2300537" cy="1477328"/>
          </a:xfrm>
        </p:grpSpPr>
        <p:sp>
          <p:nvSpPr>
            <p:cNvPr id="4" name="Rectangle 3"/>
            <p:cNvSpPr/>
            <p:nvPr/>
          </p:nvSpPr>
          <p:spPr>
            <a:xfrm>
              <a:off x="8149770" y="36674"/>
              <a:ext cx="2300537" cy="1477328"/>
            </a:xfrm>
            <a:prstGeom prst="rect">
              <a:avLst/>
            </a:prstGeom>
          </p:spPr>
          <p:txBody>
            <a:bodyPr wrap="square">
              <a:spAutoFit/>
            </a:bodyPr>
            <a:lstStyle/>
            <a:p>
              <a:r>
                <a:rPr lang="en-US" dirty="0"/>
                <a:t>f(n)=2</a:t>
              </a:r>
            </a:p>
            <a:p>
              <a:r>
                <a:rPr lang="en-US" dirty="0"/>
                <a:t>f(n) =5</a:t>
              </a:r>
            </a:p>
            <a:p>
              <a:r>
                <a:rPr lang="en-US" dirty="0"/>
                <a:t>f(n) = 6000</a:t>
              </a:r>
            </a:p>
            <a:p>
              <a:endParaRPr lang="en-US" dirty="0"/>
            </a:p>
            <a:p>
              <a:endParaRPr lang="en-US" dirty="0"/>
            </a:p>
          </p:txBody>
        </p:sp>
        <p:sp>
          <p:nvSpPr>
            <p:cNvPr id="5" name="Rectangle 4"/>
            <p:cNvSpPr/>
            <p:nvPr/>
          </p:nvSpPr>
          <p:spPr>
            <a:xfrm>
              <a:off x="9639717" y="181815"/>
              <a:ext cx="647934" cy="400110"/>
            </a:xfrm>
            <a:prstGeom prst="rect">
              <a:avLst/>
            </a:prstGeom>
          </p:spPr>
          <p:txBody>
            <a:bodyPr wrap="none">
              <a:spAutoFit/>
            </a:bodyPr>
            <a:lstStyle/>
            <a:p>
              <a:r>
                <a:rPr lang="en-US" sz="2000" b="1" dirty="0"/>
                <a:t>O(1)</a:t>
              </a:r>
            </a:p>
          </p:txBody>
        </p:sp>
        <p:grpSp>
          <p:nvGrpSpPr>
            <p:cNvPr id="6" name="Group 5"/>
            <p:cNvGrpSpPr/>
            <p:nvPr/>
          </p:nvGrpSpPr>
          <p:grpSpPr>
            <a:xfrm>
              <a:off x="9013392" y="174167"/>
              <a:ext cx="609600" cy="551543"/>
              <a:chOff x="9985829" y="1712686"/>
              <a:chExt cx="609600" cy="551543"/>
            </a:xfrm>
          </p:grpSpPr>
          <p:cxnSp>
            <p:nvCxnSpPr>
              <p:cNvPr id="7" name="Straight Arrow Connector 6"/>
              <p:cNvCxnSpPr/>
              <p:nvPr/>
            </p:nvCxnSpPr>
            <p:spPr>
              <a:xfrm>
                <a:off x="10043886" y="1712686"/>
                <a:ext cx="493485" cy="21771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V="1">
                <a:off x="9985829" y="1959429"/>
                <a:ext cx="493485" cy="435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flipV="1">
                <a:off x="10348686" y="2090057"/>
                <a:ext cx="246743" cy="17417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grpSp>
      <p:sp>
        <p:nvSpPr>
          <p:cNvPr id="11" name="Rectangle 10"/>
          <p:cNvSpPr/>
          <p:nvPr/>
        </p:nvSpPr>
        <p:spPr>
          <a:xfrm>
            <a:off x="4680009" y="203200"/>
            <a:ext cx="2187907" cy="461665"/>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US" sz="2400" dirty="0"/>
              <a:t>n is size of input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0914"/>
            <a:ext cx="10515600" cy="6212115"/>
          </a:xfrm>
        </p:spPr>
        <p:txBody>
          <a:bodyPr>
            <a:normAutofit lnSpcReduction="10000"/>
          </a:bodyPr>
          <a:lstStyle/>
          <a:p>
            <a:pPr>
              <a:buNone/>
            </a:pPr>
            <a:r>
              <a:rPr lang="en-US" b="1" dirty="0" err="1"/>
              <a:t>Linearithmic</a:t>
            </a:r>
            <a:r>
              <a:rPr lang="en-US" b="1" dirty="0"/>
              <a:t> Growth (</a:t>
            </a:r>
            <a:r>
              <a:rPr lang="en-US" b="1" dirty="0" err="1"/>
              <a:t>nlog⁡n</a:t>
            </a:r>
            <a:r>
              <a:rPr lang="en-US" b="1" dirty="0"/>
              <a:t> ): </a:t>
            </a:r>
          </a:p>
          <a:p>
            <a:pPr>
              <a:buNone/>
            </a:pPr>
            <a:r>
              <a:rPr lang="en-US" dirty="0"/>
              <a:t>Combines linear and logarithmic terms. Common in efficient sorting algorithms like merge sort.</a:t>
            </a:r>
          </a:p>
          <a:p>
            <a:pPr>
              <a:buNone/>
            </a:pPr>
            <a:r>
              <a:rPr lang="en-US" b="1" dirty="0"/>
              <a:t>Polynomial Growth (n</a:t>
            </a:r>
            <a:r>
              <a:rPr lang="en-US" b="1" baseline="30000" dirty="0"/>
              <a:t>2</a:t>
            </a:r>
            <a:r>
              <a:rPr lang="en-US" b="1" dirty="0"/>
              <a:t>,n</a:t>
            </a:r>
            <a:r>
              <a:rPr lang="en-US" b="1" baseline="30000" dirty="0"/>
              <a:t>3</a:t>
            </a:r>
            <a:r>
              <a:rPr lang="en-US" b="1" dirty="0"/>
              <a:t>):</a:t>
            </a:r>
            <a:endParaRPr lang="en-US" dirty="0"/>
          </a:p>
          <a:p>
            <a:pPr>
              <a:buNone/>
            </a:pPr>
            <a:r>
              <a:rPr lang="en-US" b="1" dirty="0"/>
              <a:t>  n</a:t>
            </a:r>
            <a:r>
              <a:rPr lang="en-US" b="1" baseline="30000" dirty="0"/>
              <a:t>2  </a:t>
            </a:r>
            <a:r>
              <a:rPr lang="en-US" dirty="0"/>
              <a:t>grows faster than </a:t>
            </a:r>
            <a:r>
              <a:rPr lang="en-US" dirty="0" err="1"/>
              <a:t>nlog⁡n</a:t>
            </a:r>
            <a:r>
              <a:rPr lang="en-US" dirty="0"/>
              <a:t>  and n</a:t>
            </a:r>
            <a:r>
              <a:rPr lang="en-US" baseline="30000" dirty="0"/>
              <a:t>3 </a:t>
            </a:r>
            <a:r>
              <a:rPr lang="en-US" dirty="0"/>
              <a:t>grows faster than n</a:t>
            </a:r>
            <a:r>
              <a:rPr lang="en-US" baseline="30000" dirty="0"/>
              <a:t>2</a:t>
            </a:r>
            <a:r>
              <a:rPr lang="en-US" dirty="0"/>
              <a:t>. Examples include nested loops (e.g., bubble sort). Cubic growth. Examples include triple nested loops.</a:t>
            </a:r>
          </a:p>
          <a:p>
            <a:pPr>
              <a:buNone/>
            </a:pPr>
            <a:r>
              <a:rPr lang="en-US" b="1" dirty="0"/>
              <a:t>Exponential Growth (2</a:t>
            </a:r>
            <a:r>
              <a:rPr lang="en-US" b="1" baseline="30000" dirty="0"/>
              <a:t>n</a:t>
            </a:r>
            <a:r>
              <a:rPr lang="en-US" b="1" dirty="0"/>
              <a:t>):</a:t>
            </a:r>
            <a:endParaRPr lang="en-US" dirty="0"/>
          </a:p>
          <a:p>
            <a:pPr>
              <a:buNone/>
            </a:pPr>
            <a:r>
              <a:rPr lang="en-US" dirty="0"/>
              <a:t>the number of operations grows much faster than any polynomial growth. For example: For n=10, 2</a:t>
            </a:r>
            <a:r>
              <a:rPr lang="en-US" baseline="30000" dirty="0"/>
              <a:t>n</a:t>
            </a:r>
            <a:r>
              <a:rPr lang="en-US" dirty="0"/>
              <a:t> = 1024. Exponential growth. Examples include recursive algorithms like solving the traveling salesman problem.</a:t>
            </a:r>
          </a:p>
          <a:p>
            <a:pPr>
              <a:buNone/>
            </a:pPr>
            <a:r>
              <a:rPr lang="en-US" b="1" dirty="0"/>
              <a:t>Super-Exponential Growth (</a:t>
            </a:r>
            <a:r>
              <a:rPr lang="en-US" b="1" dirty="0" err="1"/>
              <a:t>n</a:t>
            </a:r>
            <a:r>
              <a:rPr lang="en-US" b="1" baseline="30000" dirty="0" err="1"/>
              <a:t>n</a:t>
            </a:r>
            <a:r>
              <a:rPr lang="en-US" b="1" dirty="0"/>
              <a:t>):</a:t>
            </a:r>
            <a:endParaRPr lang="en-US" dirty="0"/>
          </a:p>
          <a:p>
            <a:pPr>
              <a:buNone/>
            </a:pPr>
            <a:r>
              <a:rPr lang="en-US" dirty="0"/>
              <a:t>The fastest growth rate. For n=5 , </a:t>
            </a:r>
            <a:r>
              <a:rPr lang="en-US" dirty="0" err="1"/>
              <a:t>n</a:t>
            </a:r>
            <a:r>
              <a:rPr lang="en-US" baseline="30000" dirty="0" err="1"/>
              <a:t>n</a:t>
            </a:r>
            <a:r>
              <a:rPr lang="en-US" dirty="0"/>
              <a:t>=3125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90"/>
            <a:ext cx="10515600" cy="607332"/>
          </a:xfrm>
        </p:spPr>
        <p:txBody>
          <a:bodyPr>
            <a:normAutofit/>
          </a:bodyPr>
          <a:lstStyle/>
          <a:p>
            <a:pPr algn="ctr" fontAlgn="base"/>
            <a:r>
              <a:rPr lang="en-US" sz="3200" b="1" dirty="0"/>
              <a:t>Asymptotic Notations in Complexity Analysis:</a:t>
            </a:r>
          </a:p>
        </p:txBody>
      </p:sp>
      <p:sp>
        <p:nvSpPr>
          <p:cNvPr id="3" name="Content Placeholder 2"/>
          <p:cNvSpPr>
            <a:spLocks noGrp="1"/>
          </p:cNvSpPr>
          <p:nvPr>
            <p:ph idx="1"/>
          </p:nvPr>
        </p:nvSpPr>
        <p:spPr>
          <a:xfrm>
            <a:off x="838199" y="841829"/>
            <a:ext cx="10918371" cy="5791199"/>
          </a:xfrm>
        </p:spPr>
        <p:txBody>
          <a:bodyPr>
            <a:noAutofit/>
          </a:bodyPr>
          <a:lstStyle/>
          <a:p>
            <a:r>
              <a:rPr lang="en-US" sz="2400" dirty="0"/>
              <a:t>Algorithm A is </a:t>
            </a:r>
            <a:r>
              <a:rPr lang="en-US" sz="2400" b="1" dirty="0"/>
              <a:t>asymptotically faster</a:t>
            </a:r>
            <a:r>
              <a:rPr lang="en-US" sz="2400" dirty="0"/>
              <a:t> than Algorithm B</a:t>
            </a:r>
          </a:p>
          <a:p>
            <a:r>
              <a:rPr lang="en-US" sz="2400" dirty="0"/>
              <a:t>We mean:</a:t>
            </a:r>
          </a:p>
          <a:p>
            <a:r>
              <a:rPr lang="en-US" sz="2400" dirty="0"/>
              <a:t>For </a:t>
            </a:r>
            <a:r>
              <a:rPr lang="en-US" sz="2400" b="1" dirty="0"/>
              <a:t>small inputs</a:t>
            </a:r>
            <a:r>
              <a:rPr lang="en-US" sz="2400" dirty="0"/>
              <a:t>, B might be faster.</a:t>
            </a:r>
          </a:p>
          <a:p>
            <a:r>
              <a:rPr lang="en-US" sz="2400" dirty="0"/>
              <a:t>But for </a:t>
            </a:r>
            <a:r>
              <a:rPr lang="en-US" sz="2400" b="1" dirty="0"/>
              <a:t>large inputs</a:t>
            </a:r>
            <a:r>
              <a:rPr lang="en-US" sz="2400" dirty="0"/>
              <a:t>, A will eventually be </a:t>
            </a:r>
            <a:r>
              <a:rPr lang="en-US" sz="2400" b="1" dirty="0"/>
              <a:t>better</a:t>
            </a:r>
            <a:r>
              <a:rPr lang="en-US" sz="2400" dirty="0"/>
              <a:t> or </a:t>
            </a:r>
            <a:r>
              <a:rPr lang="en-US" sz="2400" b="1" dirty="0"/>
              <a:t>more efficient</a:t>
            </a:r>
            <a:r>
              <a:rPr lang="en-US" sz="2400" dirty="0"/>
              <a:t>.</a:t>
            </a:r>
          </a:p>
          <a:p>
            <a:pPr fontAlgn="base"/>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90"/>
            <a:ext cx="10515600" cy="607332"/>
          </a:xfrm>
        </p:spPr>
        <p:txBody>
          <a:bodyPr>
            <a:normAutofit/>
          </a:bodyPr>
          <a:lstStyle/>
          <a:p>
            <a:pPr algn="ctr" fontAlgn="base"/>
            <a:r>
              <a:rPr lang="en-US" sz="3200" b="1" dirty="0"/>
              <a:t>Asymptotic Notations in Complexity Analysis:</a:t>
            </a:r>
          </a:p>
        </p:txBody>
      </p:sp>
      <p:sp>
        <p:nvSpPr>
          <p:cNvPr id="3" name="Content Placeholder 2"/>
          <p:cNvSpPr>
            <a:spLocks noGrp="1"/>
          </p:cNvSpPr>
          <p:nvPr>
            <p:ph idx="1"/>
          </p:nvPr>
        </p:nvSpPr>
        <p:spPr>
          <a:xfrm>
            <a:off x="838199" y="841829"/>
            <a:ext cx="10918371" cy="5791199"/>
          </a:xfrm>
        </p:spPr>
        <p:txBody>
          <a:bodyPr>
            <a:noAutofit/>
          </a:bodyPr>
          <a:lstStyle/>
          <a:p>
            <a:pPr fontAlgn="base"/>
            <a:r>
              <a:rPr lang="en-US" sz="2400" b="1" dirty="0"/>
              <a:t>Asymptotic Notation</a:t>
            </a:r>
            <a:r>
              <a:rPr lang="en-US" sz="2400" dirty="0"/>
              <a:t> is a way to describe the </a:t>
            </a:r>
            <a:r>
              <a:rPr lang="en-US" sz="2400" b="1" dirty="0"/>
              <a:t>efficiency</a:t>
            </a:r>
            <a:r>
              <a:rPr lang="en-US" sz="2400" dirty="0"/>
              <a:t> of an algorithm (time or space)</a:t>
            </a:r>
          </a:p>
          <a:p>
            <a:pPr fontAlgn="base"/>
            <a:r>
              <a:rPr lang="en-US" sz="2400" dirty="0"/>
              <a:t>Asymptotic Notations are </a:t>
            </a:r>
            <a:r>
              <a:rPr lang="en-US" sz="2400" b="1" dirty="0"/>
              <a:t>mathematical tools </a:t>
            </a:r>
            <a:r>
              <a:rPr lang="en-US" sz="2400" dirty="0"/>
              <a:t>used to </a:t>
            </a:r>
            <a:r>
              <a:rPr lang="en-US" sz="2400" b="1" dirty="0"/>
              <a:t>describe how fast an algorithm work </a:t>
            </a:r>
            <a:r>
              <a:rPr lang="en-US" sz="2400" dirty="0"/>
              <a:t>when the </a:t>
            </a:r>
            <a:r>
              <a:rPr lang="en-US" sz="2400" b="1" dirty="0"/>
              <a:t>input size (n) becomes very large. (n</a:t>
            </a:r>
            <a:r>
              <a:rPr lang="en-US" sz="2400" b="1" dirty="0">
                <a:sym typeface="Wingdings" pitchFamily="2" charset="2"/>
              </a:rPr>
              <a:t></a:t>
            </a:r>
            <a:r>
              <a:rPr lang="en-US" sz="2400" dirty="0"/>
              <a:t> ∞).</a:t>
            </a:r>
          </a:p>
          <a:p>
            <a:pPr fontAlgn="base"/>
            <a:r>
              <a:rPr lang="en-US" sz="2400" dirty="0"/>
              <a:t>asymptotic notations are used to evaluate the performance of an algorithm, in its </a:t>
            </a:r>
            <a:r>
              <a:rPr lang="en-US" sz="2400" u="sng" dirty="0">
                <a:hlinkClick r:id="rId2"/>
              </a:rPr>
              <a:t>best cases and worst cases</a:t>
            </a:r>
            <a:r>
              <a:rPr lang="en-US" sz="2400" u="sng" dirty="0"/>
              <a:t> scenario</a:t>
            </a:r>
            <a:r>
              <a:rPr lang="en-US" sz="2400" dirty="0"/>
              <a:t>. </a:t>
            </a:r>
          </a:p>
          <a:p>
            <a:pPr fontAlgn="base"/>
            <a:r>
              <a:rPr lang="en-US" sz="2400" dirty="0"/>
              <a:t>Is a method of defining the mathematical boundaries of its run-time performance .</a:t>
            </a:r>
          </a:p>
          <a:p>
            <a:pPr fontAlgn="base"/>
            <a:r>
              <a:rPr lang="en-US" sz="2400" b="1" i="1" dirty="0"/>
              <a:t>There are mainly three asymptotic notations:</a:t>
            </a:r>
            <a:endParaRPr lang="en-US" sz="2400" i="1" dirty="0"/>
          </a:p>
          <a:p>
            <a:pPr lvl="1" fontAlgn="base"/>
            <a:r>
              <a:rPr lang="en-US" sz="2000" b="1" i="1" dirty="0"/>
              <a:t>Big-Oh Notation (O-notation)</a:t>
            </a:r>
            <a:endParaRPr lang="en-US" sz="2000" i="1" dirty="0"/>
          </a:p>
          <a:p>
            <a:pPr lvl="1" fontAlgn="base"/>
            <a:r>
              <a:rPr lang="en-US" sz="2000" b="1" i="1" dirty="0"/>
              <a:t>Big-Omega Notation (Ω-notation)</a:t>
            </a:r>
            <a:endParaRPr lang="en-US" sz="2000" i="1" dirty="0"/>
          </a:p>
          <a:p>
            <a:pPr lvl="1" fontAlgn="base"/>
            <a:r>
              <a:rPr lang="en-US" sz="2000" b="1" i="1" dirty="0"/>
              <a:t>Theta Notation (Θ-notation)</a:t>
            </a:r>
          </a:p>
          <a:p>
            <a:pPr lvl="1" fontAlgn="base"/>
            <a:r>
              <a:rPr lang="en-US" sz="2000" b="1" i="1" dirty="0"/>
              <a:t>Small /little  Oh (o)</a:t>
            </a:r>
          </a:p>
          <a:p>
            <a:pPr lvl="1" fontAlgn="base"/>
            <a:r>
              <a:rPr lang="en-US" sz="2000" b="1" i="1" dirty="0"/>
              <a:t>Small /little omega  </a:t>
            </a:r>
            <a:r>
              <a:rPr lang="el-GR" sz="2000" b="1" dirty="0"/>
              <a:t>ω</a:t>
            </a:r>
            <a:endParaRPr lang="en-US" sz="2000" b="1" i="1" dirty="0"/>
          </a:p>
          <a:p>
            <a:pPr fontAlgn="base"/>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902"/>
            <a:ext cx="10515600" cy="607332"/>
          </a:xfrm>
        </p:spPr>
        <p:txBody>
          <a:bodyPr>
            <a:normAutofit/>
          </a:bodyPr>
          <a:lstStyle/>
          <a:p>
            <a:pPr algn="ctr" fontAlgn="base"/>
            <a:r>
              <a:rPr lang="en-US" sz="3200" b="1" dirty="0"/>
              <a:t>Big-O    notation</a:t>
            </a:r>
          </a:p>
        </p:txBody>
      </p:sp>
      <p:sp>
        <p:nvSpPr>
          <p:cNvPr id="3" name="Content Placeholder 2"/>
          <p:cNvSpPr>
            <a:spLocks noGrp="1"/>
          </p:cNvSpPr>
          <p:nvPr>
            <p:ph idx="1"/>
          </p:nvPr>
        </p:nvSpPr>
        <p:spPr>
          <a:xfrm>
            <a:off x="838199" y="986980"/>
            <a:ext cx="10918371" cy="5152571"/>
          </a:xfrm>
        </p:spPr>
        <p:txBody>
          <a:bodyPr>
            <a:noAutofit/>
          </a:bodyPr>
          <a:lstStyle/>
          <a:p>
            <a:pPr algn="just" fontAlgn="base"/>
            <a:endParaRPr lang="en-US" sz="2400" dirty="0"/>
          </a:p>
          <a:p>
            <a:pPr algn="just" fontAlgn="base"/>
            <a:r>
              <a:rPr lang="en-US" sz="2400" dirty="0"/>
              <a:t>Big O notation is a mathematical notation used to describe the </a:t>
            </a:r>
            <a:r>
              <a:rPr lang="en-US" sz="2400" b="1" dirty="0"/>
              <a:t>upper bound or worst-case </a:t>
            </a:r>
            <a:r>
              <a:rPr lang="en-US" sz="2400" dirty="0"/>
              <a:t>scenario of an algorithm's runtime complexity in terms of the input size.</a:t>
            </a:r>
          </a:p>
          <a:p>
            <a:r>
              <a:rPr lang="en-US" sz="2400" dirty="0"/>
              <a:t>Describes the </a:t>
            </a:r>
            <a:r>
              <a:rPr lang="en-US" sz="2400" b="1" dirty="0"/>
              <a:t>maximum time</a:t>
            </a:r>
            <a:r>
              <a:rPr lang="en-US" sz="2400" dirty="0"/>
              <a:t> an algorithm takes.</a:t>
            </a:r>
          </a:p>
          <a:p>
            <a:pPr fontAlgn="base"/>
            <a:endParaRPr lang="en-US" sz="2400" dirty="0"/>
          </a:p>
          <a:p>
            <a:pPr algn="just" fontAlgn="base"/>
            <a:r>
              <a:rPr lang="en-US" sz="2400" dirty="0"/>
              <a:t>It tells : “The algorithm will </a:t>
            </a:r>
            <a:r>
              <a:rPr lang="en-US" sz="2400" b="1" dirty="0"/>
              <a:t>not take more time</a:t>
            </a:r>
            <a:r>
              <a:rPr lang="en-US" sz="2400" dirty="0"/>
              <a:t> than this, even in the worst case.”</a:t>
            </a:r>
          </a:p>
          <a:p>
            <a:pPr fontAlgn="base"/>
            <a:r>
              <a:rPr lang="en-US" sz="2400" b="1" dirty="0"/>
              <a:t>Example</a:t>
            </a:r>
            <a:r>
              <a:rPr lang="en-US" sz="2400" dirty="0"/>
              <a:t>:</a:t>
            </a:r>
            <a:br>
              <a:rPr lang="en-US" sz="2400" dirty="0"/>
            </a:br>
            <a:r>
              <a:rPr lang="en-US" sz="2400" dirty="0"/>
              <a:t>If an algorithm runs in at most 5n + 3 steps, we say it is O(n).</a:t>
            </a:r>
          </a:p>
          <a:p>
            <a:pPr algn="just" fontAlgn="base"/>
            <a:endParaRPr lang="en-US" sz="2400" i="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Big-O    notation</a:t>
            </a:r>
          </a:p>
        </p:txBody>
      </p:sp>
      <p:sp>
        <p:nvSpPr>
          <p:cNvPr id="3" name="Content Placeholder 2"/>
          <p:cNvSpPr>
            <a:spLocks noGrp="1"/>
          </p:cNvSpPr>
          <p:nvPr>
            <p:ph idx="1"/>
          </p:nvPr>
        </p:nvSpPr>
        <p:spPr>
          <a:xfrm>
            <a:off x="333829" y="1103086"/>
            <a:ext cx="11277600" cy="5457371"/>
          </a:xfrm>
        </p:spPr>
        <p:txBody>
          <a:bodyPr>
            <a:noAutofit/>
          </a:bodyPr>
          <a:lstStyle/>
          <a:p>
            <a:pPr algn="just" fontAlgn="base"/>
            <a:r>
              <a:rPr lang="en-US" dirty="0"/>
              <a:t>In Big O notation, </a:t>
            </a:r>
            <a:r>
              <a:rPr lang="en-US" b="1" dirty="0"/>
              <a:t>"order"</a:t>
            </a:r>
            <a:r>
              <a:rPr lang="en-US" dirty="0"/>
              <a:t> refers to the </a:t>
            </a:r>
            <a:r>
              <a:rPr lang="en-US" b="1" dirty="0"/>
              <a:t>growth rate</a:t>
            </a:r>
            <a:r>
              <a:rPr lang="en-US" dirty="0"/>
              <a:t> of a function as its input size increases.</a:t>
            </a:r>
          </a:p>
          <a:p>
            <a:pPr algn="just" fontAlgn="base"/>
            <a:r>
              <a:rPr lang="en-US" dirty="0"/>
              <a:t>It helps measure how the time (or space) complexity of an algorithm scales with the size of the input.</a:t>
            </a:r>
          </a:p>
          <a:p>
            <a:pPr algn="just" fontAlgn="base"/>
            <a:r>
              <a:rPr lang="en-US" dirty="0"/>
              <a:t>Big-O notation ignores constants and lower-order terms to focus on the dominant factor that affects growth.</a:t>
            </a:r>
          </a:p>
          <a:p>
            <a:pPr algn="just" fontAlgn="base"/>
            <a:endParaRPr lang="en-US" dirty="0"/>
          </a:p>
          <a:p>
            <a:pPr algn="just" fontAlgn="base"/>
            <a:endParaRPr lang="en-US" i="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algorithm grows”</a:t>
            </a:r>
            <a:r>
              <a:rPr lang="en-US" dirty="0"/>
              <a:t> /growth rate</a:t>
            </a:r>
          </a:p>
        </p:txBody>
      </p:sp>
      <p:sp>
        <p:nvSpPr>
          <p:cNvPr id="3" name="Content Placeholder 2"/>
          <p:cNvSpPr>
            <a:spLocks noGrp="1"/>
          </p:cNvSpPr>
          <p:nvPr>
            <p:ph idx="1"/>
          </p:nvPr>
        </p:nvSpPr>
        <p:spPr/>
        <p:txBody>
          <a:bodyPr>
            <a:normAutofit/>
          </a:bodyPr>
          <a:lstStyle/>
          <a:p>
            <a:r>
              <a:rPr lang="en-US" dirty="0"/>
              <a:t>It means: </a:t>
            </a:r>
            <a:r>
              <a:rPr lang="en-US" b="1" dirty="0"/>
              <a:t>How the time (or memory) taken by the algorithm increases</a:t>
            </a:r>
            <a:r>
              <a:rPr lang="en-US" dirty="0"/>
              <a:t> when the </a:t>
            </a:r>
            <a:r>
              <a:rPr lang="en-US" b="1" dirty="0"/>
              <a:t>input size (n)</a:t>
            </a:r>
            <a:r>
              <a:rPr lang="en-US" dirty="0"/>
              <a:t> becomes bigger.</a:t>
            </a:r>
          </a:p>
          <a:p>
            <a:r>
              <a:rPr lang="en-US" b="1" dirty="0"/>
              <a:t>Algorithm grows” means:</a:t>
            </a:r>
            <a:br>
              <a:rPr lang="en-US" dirty="0"/>
            </a:br>
            <a:r>
              <a:rPr lang="en-US" b="1" dirty="0"/>
              <a:t>How quickly the time or space increases when the input gets bigger</a:t>
            </a:r>
            <a:endParaRPr lang="en-US" dirty="0"/>
          </a:p>
          <a:p>
            <a:r>
              <a:rPr lang="en-US" dirty="0"/>
              <a:t>In other words:</a:t>
            </a:r>
          </a:p>
          <a:p>
            <a:r>
              <a:rPr lang="en-US" dirty="0"/>
              <a:t>When the input gets larger, does your algorithm:</a:t>
            </a:r>
          </a:p>
          <a:p>
            <a:pPr lvl="1"/>
            <a:r>
              <a:rPr lang="en-US" dirty="0"/>
              <a:t>Take </a:t>
            </a:r>
            <a:r>
              <a:rPr lang="en-US" b="1" dirty="0"/>
              <a:t>a little more time</a:t>
            </a:r>
            <a:r>
              <a:rPr lang="en-US" dirty="0"/>
              <a:t>?</a:t>
            </a:r>
          </a:p>
          <a:p>
            <a:pPr lvl="1"/>
            <a:r>
              <a:rPr lang="en-US" dirty="0"/>
              <a:t>Take </a:t>
            </a:r>
            <a:r>
              <a:rPr lang="en-US" b="1" dirty="0"/>
              <a:t>a lot more time</a:t>
            </a:r>
            <a:r>
              <a:rPr lang="en-US" dirty="0"/>
              <a:t>?</a:t>
            </a:r>
          </a:p>
          <a:p>
            <a:pPr lvl="1"/>
            <a:r>
              <a:rPr lang="en-US" dirty="0"/>
              <a:t>Take </a:t>
            </a:r>
            <a:r>
              <a:rPr lang="en-US" b="1" dirty="0"/>
              <a:t>crazy long time</a:t>
            </a:r>
            <a:r>
              <a:rPr lang="en-US" dirty="0"/>
              <a: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algorithm grows”</a:t>
            </a:r>
            <a:r>
              <a:rPr lang="en-US" dirty="0"/>
              <a:t> /growth rate</a:t>
            </a:r>
          </a:p>
        </p:txBody>
      </p:sp>
      <p:sp>
        <p:nvSpPr>
          <p:cNvPr id="3" name="Content Placeholder 2"/>
          <p:cNvSpPr>
            <a:spLocks noGrp="1"/>
          </p:cNvSpPr>
          <p:nvPr>
            <p:ph idx="1"/>
          </p:nvPr>
        </p:nvSpPr>
        <p:spPr/>
        <p:txBody>
          <a:bodyPr>
            <a:normAutofit/>
          </a:bodyPr>
          <a:lstStyle/>
          <a:p>
            <a:r>
              <a:rPr lang="en-US" dirty="0"/>
              <a:t>Ex-</a:t>
            </a:r>
          </a:p>
          <a:p>
            <a:r>
              <a:rPr lang="en-US" dirty="0"/>
              <a:t>You’re cooking:</a:t>
            </a:r>
          </a:p>
          <a:p>
            <a:r>
              <a:rPr lang="en-US" dirty="0"/>
              <a:t>For </a:t>
            </a:r>
            <a:r>
              <a:rPr lang="en-US" b="1" dirty="0"/>
              <a:t>2 people</a:t>
            </a:r>
            <a:r>
              <a:rPr lang="en-US" dirty="0"/>
              <a:t>, it takes 20 minutes.</a:t>
            </a:r>
          </a:p>
          <a:p>
            <a:r>
              <a:rPr lang="en-US" dirty="0"/>
              <a:t>For </a:t>
            </a:r>
            <a:r>
              <a:rPr lang="en-US" b="1" dirty="0"/>
              <a:t>4 people</a:t>
            </a:r>
            <a:r>
              <a:rPr lang="en-US" dirty="0"/>
              <a:t>, it takes 40 minutes.</a:t>
            </a:r>
          </a:p>
          <a:p>
            <a:r>
              <a:rPr lang="en-US" dirty="0"/>
              <a:t>For </a:t>
            </a:r>
            <a:r>
              <a:rPr lang="en-US" b="1" dirty="0"/>
              <a:t>8 people</a:t>
            </a:r>
            <a:r>
              <a:rPr lang="en-US" dirty="0"/>
              <a:t>, it takes 80 minutes.</a:t>
            </a:r>
          </a:p>
          <a:p>
            <a:r>
              <a:rPr lang="en-US" dirty="0"/>
              <a:t>Here, time increases </a:t>
            </a:r>
            <a:r>
              <a:rPr lang="en-US" b="1" dirty="0"/>
              <a:t>as the number of people increases</a:t>
            </a:r>
            <a:r>
              <a:rPr lang="en-US" dirty="0"/>
              <a:t> → so your cooking </a:t>
            </a:r>
            <a:r>
              <a:rPr lang="en-US" b="1" dirty="0"/>
              <a:t>"grows" linearly</a:t>
            </a:r>
            <a:r>
              <a:rPr lang="en-US" dirty="0"/>
              <a:t>.</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algorithm grows”</a:t>
            </a:r>
            <a:r>
              <a:rPr lang="en-US" dirty="0"/>
              <a:t> /growth rate</a:t>
            </a:r>
          </a:p>
        </p:txBody>
      </p:sp>
      <p:sp>
        <p:nvSpPr>
          <p:cNvPr id="3" name="Content Placeholder 2"/>
          <p:cNvSpPr>
            <a:spLocks noGrp="1"/>
          </p:cNvSpPr>
          <p:nvPr>
            <p:ph idx="1"/>
          </p:nvPr>
        </p:nvSpPr>
        <p:spPr/>
        <p:txBody>
          <a:bodyPr>
            <a:normAutofit/>
          </a:bodyPr>
          <a:lstStyle/>
          <a:p>
            <a:r>
              <a:rPr lang="en-US" dirty="0"/>
              <a:t>Growth Rate = "How Fast" the Time Increases</a:t>
            </a:r>
          </a:p>
          <a:p>
            <a:endParaRPr lang="en-US" dirty="0"/>
          </a:p>
          <a:p>
            <a:endParaRPr lang="en-US" dirty="0"/>
          </a:p>
          <a:p>
            <a:endParaRPr lang="en-US" dirty="0"/>
          </a:p>
          <a:p>
            <a:endParaRPr lang="en-US" dirty="0"/>
          </a:p>
          <a:p>
            <a:r>
              <a:rPr lang="en-US" dirty="0"/>
              <a:t>For </a:t>
            </a:r>
            <a:r>
              <a:rPr lang="en-US" b="1" dirty="0"/>
              <a:t>n²</a:t>
            </a:r>
            <a:r>
              <a:rPr lang="en-US" dirty="0"/>
              <a:t>, the algorithm grows </a:t>
            </a:r>
            <a:r>
              <a:rPr lang="en-US" b="1" dirty="0"/>
              <a:t>faster</a:t>
            </a:r>
            <a:endParaRPr lang="en-US" dirty="0"/>
          </a:p>
          <a:p>
            <a:r>
              <a:rPr lang="en-US" dirty="0"/>
              <a:t>For </a:t>
            </a:r>
            <a:r>
              <a:rPr lang="en-US" b="1" dirty="0"/>
              <a:t>n</a:t>
            </a:r>
            <a:r>
              <a:rPr lang="en-US" dirty="0"/>
              <a:t>, it grows </a:t>
            </a:r>
            <a:r>
              <a:rPr lang="en-US" b="1" dirty="0"/>
              <a:t>slower</a:t>
            </a:r>
            <a:endParaRPr lang="en-US" dirty="0"/>
          </a:p>
          <a:p>
            <a:endParaRPr lang="en-US" dirty="0"/>
          </a:p>
        </p:txBody>
      </p:sp>
      <p:graphicFrame>
        <p:nvGraphicFramePr>
          <p:cNvPr id="4" name="Table 3"/>
          <p:cNvGraphicFramePr>
            <a:graphicFrameLocks noGrp="1"/>
          </p:cNvGraphicFramePr>
          <p:nvPr/>
        </p:nvGraphicFramePr>
        <p:xfrm>
          <a:off x="1451428" y="2562981"/>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rPr lang="en-US" dirty="0"/>
                        <a:t>Input size (n)</a:t>
                      </a:r>
                    </a:p>
                  </a:txBody>
                  <a:tcPr anchor="ctr"/>
                </a:tc>
                <a:tc>
                  <a:txBody>
                    <a:bodyPr/>
                    <a:lstStyle/>
                    <a:p>
                      <a:r>
                        <a:rPr lang="en-US" dirty="0"/>
                        <a:t>Steps for f(n) = n</a:t>
                      </a:r>
                    </a:p>
                  </a:txBody>
                  <a:tcPr anchor="ctr"/>
                </a:tc>
                <a:tc>
                  <a:txBody>
                    <a:bodyPr/>
                    <a:lstStyle/>
                    <a:p>
                      <a:r>
                        <a:rPr lang="en-US"/>
                        <a:t>Steps for f(n) = n²</a:t>
                      </a:r>
                    </a:p>
                  </a:txBody>
                  <a:tcPr anchor="ctr"/>
                </a:tc>
                <a:extLst>
                  <a:ext uri="{0D108BD9-81ED-4DB2-BD59-A6C34878D82A}">
                    <a16:rowId xmlns:a16="http://schemas.microsoft.com/office/drawing/2014/main" val="10000"/>
                  </a:ext>
                </a:extLst>
              </a:tr>
              <a:tr h="370840">
                <a:tc>
                  <a:txBody>
                    <a:bodyPr/>
                    <a:lstStyle/>
                    <a:p>
                      <a:r>
                        <a:rPr lang="en-US"/>
                        <a:t>1</a:t>
                      </a:r>
                    </a:p>
                  </a:txBody>
                  <a:tcPr anchor="ctr"/>
                </a:tc>
                <a:tc>
                  <a:txBody>
                    <a:bodyPr/>
                    <a:lstStyle/>
                    <a:p>
                      <a:r>
                        <a:rPr lang="en-US"/>
                        <a:t>1</a:t>
                      </a:r>
                    </a:p>
                  </a:txBody>
                  <a:tcPr anchor="ctr"/>
                </a:tc>
                <a:tc>
                  <a:txBody>
                    <a:bodyPr/>
                    <a:lstStyle/>
                    <a:p>
                      <a:r>
                        <a:rPr lang="en-US"/>
                        <a:t>1</a:t>
                      </a:r>
                    </a:p>
                  </a:txBody>
                  <a:tcPr anchor="ctr"/>
                </a:tc>
                <a:extLst>
                  <a:ext uri="{0D108BD9-81ED-4DB2-BD59-A6C34878D82A}">
                    <a16:rowId xmlns:a16="http://schemas.microsoft.com/office/drawing/2014/main" val="10001"/>
                  </a:ext>
                </a:extLst>
              </a:tr>
              <a:tr h="370840">
                <a:tc>
                  <a:txBody>
                    <a:bodyPr/>
                    <a:lstStyle/>
                    <a:p>
                      <a:r>
                        <a:rPr lang="en-US"/>
                        <a:t>10</a:t>
                      </a:r>
                    </a:p>
                  </a:txBody>
                  <a:tcPr anchor="ctr"/>
                </a:tc>
                <a:tc>
                  <a:txBody>
                    <a:bodyPr/>
                    <a:lstStyle/>
                    <a:p>
                      <a:r>
                        <a:rPr lang="en-US"/>
                        <a:t>10</a:t>
                      </a:r>
                    </a:p>
                  </a:txBody>
                  <a:tcPr anchor="ctr"/>
                </a:tc>
                <a:tc>
                  <a:txBody>
                    <a:bodyPr/>
                    <a:lstStyle/>
                    <a:p>
                      <a:r>
                        <a:rPr lang="en-US" dirty="0"/>
                        <a:t>100</a:t>
                      </a:r>
                    </a:p>
                  </a:txBody>
                  <a:tcPr anchor="ctr"/>
                </a:tc>
                <a:extLst>
                  <a:ext uri="{0D108BD9-81ED-4DB2-BD59-A6C34878D82A}">
                    <a16:rowId xmlns:a16="http://schemas.microsoft.com/office/drawing/2014/main" val="10002"/>
                  </a:ext>
                </a:extLst>
              </a:tr>
              <a:tr h="370840">
                <a:tc>
                  <a:txBody>
                    <a:bodyPr/>
                    <a:lstStyle/>
                    <a:p>
                      <a:r>
                        <a:rPr lang="en-US" dirty="0"/>
                        <a:t>100</a:t>
                      </a:r>
                    </a:p>
                  </a:txBody>
                  <a:tcPr anchor="ctr"/>
                </a:tc>
                <a:tc>
                  <a:txBody>
                    <a:bodyPr/>
                    <a:lstStyle/>
                    <a:p>
                      <a:r>
                        <a:rPr lang="en-US" dirty="0"/>
                        <a:t>100</a:t>
                      </a:r>
                    </a:p>
                  </a:txBody>
                  <a:tcPr anchor="ctr"/>
                </a:tc>
                <a:tc>
                  <a:txBody>
                    <a:bodyPr/>
                    <a:lstStyle/>
                    <a:p>
                      <a:r>
                        <a:rPr lang="en-US" dirty="0"/>
                        <a:t>10,000</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f(n)</a:t>
            </a:r>
          </a:p>
        </p:txBody>
      </p:sp>
      <p:sp>
        <p:nvSpPr>
          <p:cNvPr id="3" name="Content Placeholder 2"/>
          <p:cNvSpPr>
            <a:spLocks noGrp="1"/>
          </p:cNvSpPr>
          <p:nvPr>
            <p:ph idx="1"/>
          </p:nvPr>
        </p:nvSpPr>
        <p:spPr>
          <a:xfrm>
            <a:off x="333829" y="1103086"/>
            <a:ext cx="11277600" cy="5457371"/>
          </a:xfrm>
        </p:spPr>
        <p:txBody>
          <a:bodyPr>
            <a:noAutofit/>
          </a:bodyPr>
          <a:lstStyle/>
          <a:p>
            <a:pPr algn="just" fontAlgn="base"/>
            <a:r>
              <a:rPr lang="en-US" b="1" dirty="0"/>
              <a:t>f(n)</a:t>
            </a:r>
            <a:r>
              <a:rPr lang="en-US" dirty="0"/>
              <a:t> is the </a:t>
            </a:r>
            <a:r>
              <a:rPr lang="en-US" b="1" dirty="0"/>
              <a:t>actual number of steps</a:t>
            </a:r>
            <a:r>
              <a:rPr lang="en-US" dirty="0"/>
              <a:t> (or time or memory) your algorithm takes when the input size is </a:t>
            </a:r>
            <a:r>
              <a:rPr lang="en-US" b="1" dirty="0"/>
              <a:t>n</a:t>
            </a:r>
            <a:r>
              <a:rPr lang="en-US" dirty="0"/>
              <a:t>.</a:t>
            </a:r>
          </a:p>
          <a:p>
            <a:r>
              <a:rPr lang="en-US" b="1" dirty="0"/>
              <a:t>Real-Life Analogy:</a:t>
            </a:r>
          </a:p>
          <a:p>
            <a:r>
              <a:rPr lang="en-US" dirty="0"/>
              <a:t>Imagine you’re folding clothes:</a:t>
            </a:r>
          </a:p>
          <a:p>
            <a:r>
              <a:rPr lang="en-US" dirty="0"/>
              <a:t>1 shirt → takes 1 minute</a:t>
            </a:r>
          </a:p>
          <a:p>
            <a:r>
              <a:rPr lang="en-US" dirty="0"/>
              <a:t>5 shirts → takes 5 minutes</a:t>
            </a:r>
          </a:p>
          <a:p>
            <a:r>
              <a:rPr lang="en-US" dirty="0"/>
              <a:t>100 shirts → takes 100 minutes</a:t>
            </a:r>
          </a:p>
          <a:p>
            <a:r>
              <a:rPr lang="en-US" dirty="0"/>
              <a:t>That’s </a:t>
            </a:r>
            <a:r>
              <a:rPr lang="en-US" b="1" dirty="0"/>
              <a:t>f(n) = n  </a:t>
            </a:r>
            <a:r>
              <a:rPr lang="en-US" dirty="0"/>
              <a:t>(because time grows as the number of shirts </a:t>
            </a:r>
            <a:r>
              <a:rPr lang="en-US" b="1" dirty="0"/>
              <a:t>n</a:t>
            </a:r>
            <a:r>
              <a:rPr lang="en-US" dirty="0"/>
              <a:t> grows)</a:t>
            </a:r>
          </a:p>
          <a:p>
            <a:pPr algn="just" fontAlgn="base"/>
            <a:r>
              <a:rPr lang="en-US" dirty="0"/>
              <a:t>Ex.</a:t>
            </a:r>
          </a:p>
          <a:p>
            <a:pPr algn="just" fontAlgn="base"/>
            <a:r>
              <a:rPr lang="nn-NO" i="1" dirty="0"/>
              <a:t>         for (int i = 0; i &lt; n; i++) {     print(i); }</a:t>
            </a:r>
          </a:p>
          <a:p>
            <a:r>
              <a:rPr lang="en-US" dirty="0"/>
              <a:t>This loop runs </a:t>
            </a:r>
            <a:r>
              <a:rPr lang="en-US" b="1" dirty="0"/>
              <a:t>n times</a:t>
            </a:r>
            <a:r>
              <a:rPr lang="en-US" dirty="0"/>
              <a:t>.  So, </a:t>
            </a:r>
            <a:r>
              <a:rPr lang="en-US" b="1" dirty="0"/>
              <a:t>f(n) = n </a:t>
            </a:r>
            <a:r>
              <a:rPr lang="en-US" dirty="0"/>
              <a:t>(Number of steps = n)</a:t>
            </a:r>
          </a:p>
          <a:p>
            <a:pPr algn="just" fontAlgn="base"/>
            <a:endParaRPr lang="nn-NO" i="1" dirty="0"/>
          </a:p>
          <a:p>
            <a:pPr algn="just" fontAlgn="base"/>
            <a:endParaRPr lang="en-US" i="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endParaRPr lang="en-US" sz="3200" b="1" dirty="0"/>
          </a:p>
        </p:txBody>
      </p:sp>
      <p:sp>
        <p:nvSpPr>
          <p:cNvPr id="3" name="Content Placeholder 2"/>
          <p:cNvSpPr>
            <a:spLocks noGrp="1"/>
          </p:cNvSpPr>
          <p:nvPr>
            <p:ph idx="1"/>
          </p:nvPr>
        </p:nvSpPr>
        <p:spPr>
          <a:xfrm>
            <a:off x="333829" y="1103086"/>
            <a:ext cx="11277600" cy="5457371"/>
          </a:xfrm>
        </p:spPr>
        <p:txBody>
          <a:bodyPr>
            <a:noAutofit/>
          </a:bodyPr>
          <a:lstStyle/>
          <a:p>
            <a:r>
              <a:rPr lang="pt-BR" dirty="0"/>
              <a:t>This loop runs </a:t>
            </a:r>
            <a:r>
              <a:rPr lang="pt-BR" b="1" dirty="0"/>
              <a:t>n × n = n² times</a:t>
            </a:r>
            <a:endParaRPr lang="pt-BR" dirty="0"/>
          </a:p>
          <a:p>
            <a:pPr>
              <a:buNone/>
            </a:pPr>
            <a:r>
              <a:rPr lang="pt-BR" dirty="0"/>
              <a:t>   So, </a:t>
            </a:r>
            <a:r>
              <a:rPr lang="pt-BR" b="1" dirty="0"/>
              <a:t>f(n) = n²</a:t>
            </a:r>
            <a:endParaRPr lang="pt-BR" dirty="0"/>
          </a:p>
          <a:p>
            <a:pPr algn="just" fontAlgn="base"/>
            <a:endParaRPr lang="en-US" i="1" dirty="0"/>
          </a:p>
        </p:txBody>
      </p:sp>
      <p:pic>
        <p:nvPicPr>
          <p:cNvPr id="1026" name="Picture 2"/>
          <p:cNvPicPr>
            <a:picLocks noChangeAspect="1" noChangeArrowheads="1"/>
          </p:cNvPicPr>
          <p:nvPr/>
        </p:nvPicPr>
        <p:blipFill>
          <a:blip r:embed="rId2" cstate="print"/>
          <a:srcRect/>
          <a:stretch>
            <a:fillRect/>
          </a:stretch>
        </p:blipFill>
        <p:spPr bwMode="auto">
          <a:xfrm>
            <a:off x="6286273" y="1121681"/>
            <a:ext cx="4889726" cy="301489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829" y="333830"/>
            <a:ext cx="11277600" cy="6226628"/>
          </a:xfrm>
        </p:spPr>
        <p:txBody>
          <a:bodyPr>
            <a:noAutofit/>
          </a:bodyPr>
          <a:lstStyle/>
          <a:p>
            <a:r>
              <a:rPr lang="en-US" sz="2000" b="1" dirty="0"/>
              <a:t>g(n)</a:t>
            </a:r>
            <a:r>
              <a:rPr lang="en-US" sz="2000" dirty="0"/>
              <a:t> is a </a:t>
            </a:r>
            <a:r>
              <a:rPr lang="en-US" sz="2000" b="1" dirty="0"/>
              <a:t>standard function</a:t>
            </a:r>
            <a:r>
              <a:rPr lang="en-US" sz="2000" dirty="0"/>
              <a:t> used to </a:t>
            </a:r>
            <a:r>
              <a:rPr lang="en-US" sz="2000" b="1" dirty="0"/>
              <a:t>compare</a:t>
            </a:r>
            <a:r>
              <a:rPr lang="en-US" sz="2000" dirty="0"/>
              <a:t> with the actual work your algorithm does.</a:t>
            </a:r>
          </a:p>
          <a:p>
            <a:r>
              <a:rPr lang="en-US" sz="2000" b="1" dirty="0"/>
              <a:t>g(n)</a:t>
            </a:r>
            <a:r>
              <a:rPr lang="en-US" sz="2000" dirty="0"/>
              <a:t> is a </a:t>
            </a:r>
            <a:r>
              <a:rPr lang="en-US" sz="2000" b="1" dirty="0"/>
              <a:t>known function</a:t>
            </a:r>
            <a:r>
              <a:rPr lang="en-US" sz="2000" dirty="0"/>
              <a:t> used to </a:t>
            </a:r>
            <a:r>
              <a:rPr lang="en-US" sz="2000" b="1" dirty="0"/>
              <a:t>describe how fast</a:t>
            </a:r>
            <a:r>
              <a:rPr lang="en-US" sz="2000" dirty="0"/>
              <a:t> an algorithm grows</a:t>
            </a:r>
          </a:p>
          <a:p>
            <a:r>
              <a:rPr lang="en-US" sz="2000" b="1" dirty="0"/>
              <a:t>f(n)</a:t>
            </a:r>
            <a:r>
              <a:rPr lang="en-US" sz="2000" dirty="0"/>
              <a:t> = what your algorithm </a:t>
            </a:r>
            <a:r>
              <a:rPr lang="en-US" sz="2000" b="1" dirty="0"/>
              <a:t>actually does</a:t>
            </a:r>
            <a:endParaRPr lang="en-US" sz="2000" dirty="0"/>
          </a:p>
          <a:p>
            <a:r>
              <a:rPr lang="en-US" sz="2000" b="1" dirty="0"/>
              <a:t>g(n)</a:t>
            </a:r>
            <a:r>
              <a:rPr lang="en-US" sz="2000" dirty="0"/>
              <a:t> = a </a:t>
            </a:r>
            <a:r>
              <a:rPr lang="en-US" sz="2000" b="1" dirty="0"/>
              <a:t>reference growth pattern</a:t>
            </a:r>
            <a:r>
              <a:rPr lang="en-US" sz="2000" dirty="0"/>
              <a:t> like:</a:t>
            </a:r>
          </a:p>
          <a:p>
            <a:pPr lvl="1"/>
            <a:r>
              <a:rPr lang="en-US" sz="1800" b="1" dirty="0"/>
              <a:t>1</a:t>
            </a:r>
            <a:r>
              <a:rPr lang="en-US" sz="1800" dirty="0"/>
              <a:t> → constant time</a:t>
            </a:r>
          </a:p>
          <a:p>
            <a:pPr lvl="1"/>
            <a:r>
              <a:rPr lang="en-US" sz="1800" b="1" dirty="0"/>
              <a:t>log n</a:t>
            </a:r>
            <a:r>
              <a:rPr lang="en-US" sz="1800" dirty="0"/>
              <a:t> → logarithmic time</a:t>
            </a:r>
          </a:p>
          <a:p>
            <a:pPr lvl="1"/>
            <a:r>
              <a:rPr lang="en-US" sz="1800" b="1" dirty="0"/>
              <a:t>n</a:t>
            </a:r>
            <a:r>
              <a:rPr lang="en-US" sz="1800" dirty="0"/>
              <a:t> → linear time</a:t>
            </a:r>
          </a:p>
          <a:p>
            <a:pPr lvl="1"/>
            <a:r>
              <a:rPr lang="en-US" sz="1800" b="1" dirty="0"/>
              <a:t>n²</a:t>
            </a:r>
            <a:r>
              <a:rPr lang="en-US" sz="1800" dirty="0"/>
              <a:t> → quadratic time</a:t>
            </a:r>
          </a:p>
          <a:p>
            <a:pPr lvl="1"/>
            <a:r>
              <a:rPr lang="en-US" sz="1800" b="1" dirty="0"/>
              <a:t>2ⁿ</a:t>
            </a:r>
            <a:r>
              <a:rPr lang="en-US" sz="1800" dirty="0"/>
              <a:t> → exponential time</a:t>
            </a:r>
          </a:p>
          <a:p>
            <a:r>
              <a:rPr lang="en-US" sz="2000" dirty="0"/>
              <a:t>You use </a:t>
            </a:r>
            <a:r>
              <a:rPr lang="en-US" sz="2000" b="1" dirty="0"/>
              <a:t>g(n)</a:t>
            </a:r>
            <a:r>
              <a:rPr lang="en-US" sz="2000" dirty="0"/>
              <a:t> to describe the </a:t>
            </a:r>
            <a:r>
              <a:rPr lang="en-US" sz="2000" b="1" dirty="0"/>
              <a:t>speed class</a:t>
            </a:r>
            <a:r>
              <a:rPr lang="en-US" sz="2000" dirty="0"/>
              <a:t> of your algorithm.</a:t>
            </a:r>
          </a:p>
          <a:p>
            <a:r>
              <a:rPr lang="en-US" sz="2000" b="1" dirty="0"/>
              <a:t>Why do we need g(n)?</a:t>
            </a:r>
          </a:p>
          <a:p>
            <a:r>
              <a:rPr lang="en-US" sz="2000" dirty="0"/>
              <a:t>Because we want to group and compare algorithms easily.</a:t>
            </a:r>
          </a:p>
          <a:p>
            <a:r>
              <a:rPr lang="en-US" sz="2000" dirty="0"/>
              <a:t>Instead of saying:</a:t>
            </a:r>
          </a:p>
          <a:p>
            <a:r>
              <a:rPr lang="en-US" sz="2000" dirty="0"/>
              <a:t>“My algorithm takes 3n² + 5n + 7 steps,”</a:t>
            </a:r>
            <a:br>
              <a:rPr lang="en-US" sz="2000" dirty="0"/>
            </a:br>
            <a:r>
              <a:rPr lang="en-US" sz="2000" dirty="0"/>
              <a:t>We say:</a:t>
            </a:r>
            <a:br>
              <a:rPr lang="en-US" sz="2000" dirty="0"/>
            </a:br>
            <a:r>
              <a:rPr lang="en-US" sz="2000" dirty="0"/>
              <a:t>“It grows like </a:t>
            </a:r>
            <a:r>
              <a:rPr lang="en-US" sz="2000" b="1" dirty="0"/>
              <a:t>n²</a:t>
            </a:r>
            <a:r>
              <a:rPr lang="en-US" sz="2000" dirty="0"/>
              <a:t> → That’s </a:t>
            </a:r>
            <a:r>
              <a:rPr lang="en-US" sz="2000" b="1" dirty="0"/>
              <a:t>g(n)</a:t>
            </a:r>
            <a:endParaRPr lang="en-US" sz="2000" dirty="0"/>
          </a:p>
          <a:p>
            <a:endParaRPr lang="en-US" sz="2000" i="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957940"/>
          <a:ext cx="10515600" cy="3754135"/>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94795">
                <a:tc>
                  <a:txBody>
                    <a:bodyPr/>
                    <a:lstStyle/>
                    <a:p>
                      <a:r>
                        <a:rPr lang="en-US" b="1" dirty="0"/>
                        <a:t>g(n)</a:t>
                      </a:r>
                      <a:endParaRPr lang="en-US" dirty="0"/>
                    </a:p>
                  </a:txBody>
                  <a:tcPr anchor="ctr"/>
                </a:tc>
                <a:tc>
                  <a:txBody>
                    <a:bodyPr/>
                    <a:lstStyle/>
                    <a:p>
                      <a:r>
                        <a:rPr lang="en-US" dirty="0"/>
                        <a:t>Called...</a:t>
                      </a:r>
                    </a:p>
                  </a:txBody>
                  <a:tcPr anchor="ctr"/>
                </a:tc>
                <a:tc>
                  <a:txBody>
                    <a:bodyPr/>
                    <a:lstStyle/>
                    <a:p>
                      <a:r>
                        <a:rPr lang="en-US" dirty="0"/>
                        <a:t>Growth Speed</a:t>
                      </a:r>
                    </a:p>
                  </a:txBody>
                  <a:tcPr anchor="ctr"/>
                </a:tc>
                <a:tc>
                  <a:txBody>
                    <a:bodyPr/>
                    <a:lstStyle/>
                    <a:p>
                      <a:r>
                        <a:rPr lang="en-US" dirty="0"/>
                        <a:t>Example Task</a:t>
                      </a:r>
                    </a:p>
                  </a:txBody>
                  <a:tcPr anchor="ctr"/>
                </a:tc>
                <a:extLst>
                  <a:ext uri="{0D108BD9-81ED-4DB2-BD59-A6C34878D82A}">
                    <a16:rowId xmlns:a16="http://schemas.microsoft.com/office/drawing/2014/main" val="10000"/>
                  </a:ext>
                </a:extLst>
              </a:tr>
              <a:tr h="494795">
                <a:tc>
                  <a:txBody>
                    <a:bodyPr/>
                    <a:lstStyle/>
                    <a:p>
                      <a:r>
                        <a:rPr lang="en-US"/>
                        <a:t>1</a:t>
                      </a:r>
                    </a:p>
                  </a:txBody>
                  <a:tcPr anchor="ctr"/>
                </a:tc>
                <a:tc>
                  <a:txBody>
                    <a:bodyPr/>
                    <a:lstStyle/>
                    <a:p>
                      <a:r>
                        <a:rPr lang="en-US"/>
                        <a:t>Constant</a:t>
                      </a:r>
                    </a:p>
                  </a:txBody>
                  <a:tcPr anchor="ctr"/>
                </a:tc>
                <a:tc>
                  <a:txBody>
                    <a:bodyPr/>
                    <a:lstStyle/>
                    <a:p>
                      <a:r>
                        <a:rPr lang="en-US"/>
                        <a:t>Fastest</a:t>
                      </a:r>
                    </a:p>
                  </a:txBody>
                  <a:tcPr anchor="ctr"/>
                </a:tc>
                <a:tc>
                  <a:txBody>
                    <a:bodyPr/>
                    <a:lstStyle/>
                    <a:p>
                      <a:r>
                        <a:rPr lang="en-US"/>
                        <a:t>Return first element in array</a:t>
                      </a:r>
                    </a:p>
                  </a:txBody>
                  <a:tcPr anchor="ctr"/>
                </a:tc>
                <a:extLst>
                  <a:ext uri="{0D108BD9-81ED-4DB2-BD59-A6C34878D82A}">
                    <a16:rowId xmlns:a16="http://schemas.microsoft.com/office/drawing/2014/main" val="10001"/>
                  </a:ext>
                </a:extLst>
              </a:tr>
              <a:tr h="494795">
                <a:tc>
                  <a:txBody>
                    <a:bodyPr/>
                    <a:lstStyle/>
                    <a:p>
                      <a:r>
                        <a:rPr lang="en-US"/>
                        <a:t>log n</a:t>
                      </a:r>
                    </a:p>
                  </a:txBody>
                  <a:tcPr anchor="ctr"/>
                </a:tc>
                <a:tc>
                  <a:txBody>
                    <a:bodyPr/>
                    <a:lstStyle/>
                    <a:p>
                      <a:r>
                        <a:rPr lang="en-US"/>
                        <a:t>Logarithmic</a:t>
                      </a:r>
                    </a:p>
                  </a:txBody>
                  <a:tcPr anchor="ctr"/>
                </a:tc>
                <a:tc>
                  <a:txBody>
                    <a:bodyPr/>
                    <a:lstStyle/>
                    <a:p>
                      <a:r>
                        <a:rPr lang="en-US"/>
                        <a:t>Very fast</a:t>
                      </a:r>
                    </a:p>
                  </a:txBody>
                  <a:tcPr anchor="ctr"/>
                </a:tc>
                <a:tc>
                  <a:txBody>
                    <a:bodyPr/>
                    <a:lstStyle/>
                    <a:p>
                      <a:r>
                        <a:rPr lang="en-US"/>
                        <a:t>Binary search</a:t>
                      </a:r>
                    </a:p>
                  </a:txBody>
                  <a:tcPr anchor="ctr"/>
                </a:tc>
                <a:extLst>
                  <a:ext uri="{0D108BD9-81ED-4DB2-BD59-A6C34878D82A}">
                    <a16:rowId xmlns:a16="http://schemas.microsoft.com/office/drawing/2014/main" val="10002"/>
                  </a:ext>
                </a:extLst>
              </a:tr>
              <a:tr h="494795">
                <a:tc>
                  <a:txBody>
                    <a:bodyPr/>
                    <a:lstStyle/>
                    <a:p>
                      <a:r>
                        <a:rPr lang="en-US"/>
                        <a:t>n</a:t>
                      </a:r>
                    </a:p>
                  </a:txBody>
                  <a:tcPr anchor="ctr"/>
                </a:tc>
                <a:tc>
                  <a:txBody>
                    <a:bodyPr/>
                    <a:lstStyle/>
                    <a:p>
                      <a:r>
                        <a:rPr lang="en-US"/>
                        <a:t>Linear</a:t>
                      </a:r>
                    </a:p>
                  </a:txBody>
                  <a:tcPr anchor="ctr"/>
                </a:tc>
                <a:tc>
                  <a:txBody>
                    <a:bodyPr/>
                    <a:lstStyle/>
                    <a:p>
                      <a:r>
                        <a:rPr lang="en-US"/>
                        <a:t>Normal speed</a:t>
                      </a:r>
                    </a:p>
                  </a:txBody>
                  <a:tcPr anchor="ctr"/>
                </a:tc>
                <a:tc>
                  <a:txBody>
                    <a:bodyPr/>
                    <a:lstStyle/>
                    <a:p>
                      <a:r>
                        <a:rPr lang="en-US"/>
                        <a:t>Loop over all items</a:t>
                      </a:r>
                    </a:p>
                  </a:txBody>
                  <a:tcPr anchor="ctr"/>
                </a:tc>
                <a:extLst>
                  <a:ext uri="{0D108BD9-81ED-4DB2-BD59-A6C34878D82A}">
                    <a16:rowId xmlns:a16="http://schemas.microsoft.com/office/drawing/2014/main" val="10003"/>
                  </a:ext>
                </a:extLst>
              </a:tr>
              <a:tr h="494795">
                <a:tc>
                  <a:txBody>
                    <a:bodyPr/>
                    <a:lstStyle/>
                    <a:p>
                      <a:r>
                        <a:rPr lang="en-US"/>
                        <a:t>n log n</a:t>
                      </a:r>
                    </a:p>
                  </a:txBody>
                  <a:tcPr anchor="ctr"/>
                </a:tc>
                <a:tc>
                  <a:txBody>
                    <a:bodyPr/>
                    <a:lstStyle/>
                    <a:p>
                      <a:r>
                        <a:rPr lang="en-US"/>
                        <a:t>Linearithmic</a:t>
                      </a:r>
                    </a:p>
                  </a:txBody>
                  <a:tcPr anchor="ctr"/>
                </a:tc>
                <a:tc>
                  <a:txBody>
                    <a:bodyPr/>
                    <a:lstStyle/>
                    <a:p>
                      <a:r>
                        <a:rPr lang="en-US"/>
                        <a:t>Faster than quadratic</a:t>
                      </a:r>
                    </a:p>
                  </a:txBody>
                  <a:tcPr anchor="ctr"/>
                </a:tc>
                <a:tc>
                  <a:txBody>
                    <a:bodyPr/>
                    <a:lstStyle/>
                    <a:p>
                      <a:r>
                        <a:rPr lang="en-US"/>
                        <a:t>Merge sort</a:t>
                      </a:r>
                    </a:p>
                  </a:txBody>
                  <a:tcPr anchor="ctr"/>
                </a:tc>
                <a:extLst>
                  <a:ext uri="{0D108BD9-81ED-4DB2-BD59-A6C34878D82A}">
                    <a16:rowId xmlns:a16="http://schemas.microsoft.com/office/drawing/2014/main" val="10004"/>
                  </a:ext>
                </a:extLst>
              </a:tr>
              <a:tr h="494795">
                <a:tc>
                  <a:txBody>
                    <a:bodyPr/>
                    <a:lstStyle/>
                    <a:p>
                      <a:r>
                        <a:rPr lang="en-US"/>
                        <a:t>n²</a:t>
                      </a:r>
                    </a:p>
                  </a:txBody>
                  <a:tcPr anchor="ctr"/>
                </a:tc>
                <a:tc>
                  <a:txBody>
                    <a:bodyPr/>
                    <a:lstStyle/>
                    <a:p>
                      <a:r>
                        <a:rPr lang="en-US"/>
                        <a:t>Quadratic</a:t>
                      </a:r>
                    </a:p>
                  </a:txBody>
                  <a:tcPr anchor="ctr"/>
                </a:tc>
                <a:tc>
                  <a:txBody>
                    <a:bodyPr/>
                    <a:lstStyle/>
                    <a:p>
                      <a:r>
                        <a:rPr lang="en-US"/>
                        <a:t>Slow</a:t>
                      </a:r>
                    </a:p>
                  </a:txBody>
                  <a:tcPr anchor="ctr"/>
                </a:tc>
                <a:tc>
                  <a:txBody>
                    <a:bodyPr/>
                    <a:lstStyle/>
                    <a:p>
                      <a:r>
                        <a:rPr lang="en-US"/>
                        <a:t>Nested loops</a:t>
                      </a:r>
                    </a:p>
                  </a:txBody>
                  <a:tcPr anchor="ctr"/>
                </a:tc>
                <a:extLst>
                  <a:ext uri="{0D108BD9-81ED-4DB2-BD59-A6C34878D82A}">
                    <a16:rowId xmlns:a16="http://schemas.microsoft.com/office/drawing/2014/main" val="10005"/>
                  </a:ext>
                </a:extLst>
              </a:tr>
              <a:tr h="494795">
                <a:tc>
                  <a:txBody>
                    <a:bodyPr/>
                    <a:lstStyle/>
                    <a:p>
                      <a:r>
                        <a:rPr lang="en-US"/>
                        <a:t>2ⁿ</a:t>
                      </a:r>
                    </a:p>
                  </a:txBody>
                  <a:tcPr anchor="ctr"/>
                </a:tc>
                <a:tc>
                  <a:txBody>
                    <a:bodyPr/>
                    <a:lstStyle/>
                    <a:p>
                      <a:r>
                        <a:rPr lang="en-US"/>
                        <a:t>Exponential</a:t>
                      </a:r>
                    </a:p>
                  </a:txBody>
                  <a:tcPr anchor="ctr"/>
                </a:tc>
                <a:tc>
                  <a:txBody>
                    <a:bodyPr/>
                    <a:lstStyle/>
                    <a:p>
                      <a:r>
                        <a:rPr lang="en-US"/>
                        <a:t>Very slow</a:t>
                      </a:r>
                    </a:p>
                  </a:txBody>
                  <a:tcPr anchor="ctr"/>
                </a:tc>
                <a:tc>
                  <a:txBody>
                    <a:bodyPr/>
                    <a:lstStyle/>
                    <a:p>
                      <a:r>
                        <a:rPr lang="en-US" dirty="0"/>
                        <a:t>All combinations of n items</a:t>
                      </a:r>
                    </a:p>
                  </a:txBody>
                  <a:tcPr anchor="ctr"/>
                </a:tc>
                <a:extLst>
                  <a:ext uri="{0D108BD9-81ED-4DB2-BD59-A6C34878D82A}">
                    <a16:rowId xmlns:a16="http://schemas.microsoft.com/office/drawing/2014/main" val="10006"/>
                  </a:ext>
                </a:extLst>
              </a:tr>
            </a:tbl>
          </a:graphicData>
        </a:graphic>
      </p:graphicFrame>
      <p:sp>
        <p:nvSpPr>
          <p:cNvPr id="5" name="Rectangle 4"/>
          <p:cNvSpPr/>
          <p:nvPr/>
        </p:nvSpPr>
        <p:spPr>
          <a:xfrm>
            <a:off x="894409" y="326962"/>
            <a:ext cx="6360074" cy="523220"/>
          </a:xfrm>
          <a:prstGeom prst="rect">
            <a:avLst/>
          </a:prstGeom>
        </p:spPr>
        <p:txBody>
          <a:bodyPr wrap="none">
            <a:spAutoFit/>
          </a:bodyPr>
          <a:lstStyle/>
          <a:p>
            <a:r>
              <a:rPr lang="en-US" sz="2800" dirty="0"/>
              <a:t>Common g(n) functions (growth patterns):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Big-O    notation</a:t>
            </a:r>
          </a:p>
        </p:txBody>
      </p:sp>
      <p:sp>
        <p:nvSpPr>
          <p:cNvPr id="7" name="Content Placeholder 2"/>
          <p:cNvSpPr txBox="1">
            <a:spLocks/>
          </p:cNvSpPr>
          <p:nvPr/>
        </p:nvSpPr>
        <p:spPr>
          <a:xfrm>
            <a:off x="486229" y="1255486"/>
            <a:ext cx="11255828" cy="5457371"/>
          </a:xfrm>
          <a:prstGeom prst="rect">
            <a:avLst/>
          </a:prstGeom>
        </p:spPr>
        <p:txBody>
          <a:bodyPr vert="horz" lIns="91440" tIns="45720" rIns="91440" bIns="45720" rtlCol="0">
            <a:noAutofit/>
          </a:bodyPr>
          <a:lstStyle/>
          <a:p>
            <a:pPr>
              <a:buFont typeface="Arial" pitchFamily="34" charset="0"/>
              <a:buChar char="•"/>
            </a:pPr>
            <a:r>
              <a:rPr lang="en-US" sz="2800" b="1" dirty="0"/>
              <a:t>Big-O</a:t>
            </a:r>
            <a:r>
              <a:rPr lang="en-US" sz="2800" dirty="0"/>
              <a:t> gives an </a:t>
            </a:r>
            <a:r>
              <a:rPr lang="en-US" sz="2800" b="1" dirty="0"/>
              <a:t>upper bound</a:t>
            </a:r>
            <a:r>
              <a:rPr lang="en-US" sz="2800" dirty="0"/>
              <a:t> on how much </a:t>
            </a:r>
            <a:r>
              <a:rPr lang="en-US" sz="2800" b="1" dirty="0"/>
              <a:t>time or space</a:t>
            </a:r>
            <a:r>
              <a:rPr lang="en-US" sz="2800" dirty="0"/>
              <a:t> an algorithm can take as the input size </a:t>
            </a:r>
            <a:r>
              <a:rPr lang="en-US" sz="2800" b="1" dirty="0"/>
              <a:t>n</a:t>
            </a:r>
            <a:r>
              <a:rPr lang="en-US" sz="2800" dirty="0"/>
              <a:t> increases.</a:t>
            </a:r>
          </a:p>
          <a:p>
            <a:pPr>
              <a:buFont typeface="Arial" pitchFamily="34" charset="0"/>
              <a:buChar char="•"/>
            </a:pPr>
            <a:r>
              <a:rPr lang="en-US" sz="2800" b="1" dirty="0"/>
              <a:t>Big-O tells us the worst-case time“  </a:t>
            </a:r>
            <a:r>
              <a:rPr lang="en-US" sz="2800" dirty="0"/>
              <a:t>It answers the question:  </a:t>
            </a:r>
            <a:r>
              <a:rPr lang="en-US" sz="2800" b="1" dirty="0"/>
              <a:t>“How bad can it get?”</a:t>
            </a:r>
            <a:endParaRPr lang="en-US" sz="2800" dirty="0"/>
          </a:p>
          <a:p>
            <a:pPr>
              <a:buFont typeface="Arial" pitchFamily="34" charset="0"/>
              <a:buChar char="•"/>
            </a:pPr>
            <a:r>
              <a:rPr lang="en-US" sz="2800" dirty="0"/>
              <a:t>It tells you:</a:t>
            </a:r>
          </a:p>
          <a:p>
            <a:pPr lvl="1">
              <a:buFont typeface="Arial" pitchFamily="34" charset="0"/>
              <a:buChar char="•"/>
            </a:pPr>
            <a:r>
              <a:rPr lang="en-US" sz="2800" dirty="0"/>
              <a:t>The </a:t>
            </a:r>
            <a:r>
              <a:rPr lang="en-US" sz="2800" b="1" dirty="0"/>
              <a:t>maximum number of steps</a:t>
            </a:r>
            <a:r>
              <a:rPr lang="en-US" sz="2800" dirty="0"/>
              <a:t> your algorithm may take For </a:t>
            </a:r>
            <a:r>
              <a:rPr lang="en-US" sz="2800" b="1" dirty="0"/>
              <a:t>very large input. Ex-</a:t>
            </a:r>
          </a:p>
          <a:p>
            <a:r>
              <a:rPr lang="en-US" sz="2800" dirty="0"/>
              <a:t>     this loop runs n times So, f(n) = n</a:t>
            </a:r>
          </a:p>
          <a:p>
            <a:r>
              <a:rPr lang="en-US" sz="2800" dirty="0"/>
              <a:t>      We write: f(n) = O(n)</a:t>
            </a:r>
            <a:br>
              <a:rPr lang="en-US" sz="2800" dirty="0"/>
            </a:br>
            <a:r>
              <a:rPr lang="en-US" sz="2800" dirty="0"/>
              <a:t>→ meaning: “This algorithm will take at most n steps”</a:t>
            </a:r>
          </a:p>
          <a:p>
            <a:pPr lvl="1">
              <a:buFont typeface="Arial" pitchFamily="34" charset="0"/>
              <a:buChar char="•"/>
            </a:pPr>
            <a:endParaRPr lang="en-US" sz="2800" dirty="0"/>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1" u="none" strike="noStrike" kern="1200" cap="none" spc="0" normalizeH="0" baseline="0" noProof="0" dirty="0">
              <a:ln>
                <a:noFill/>
              </a:ln>
              <a:solidFill>
                <a:schemeClr val="tx1"/>
              </a:solidFill>
              <a:effectLst/>
              <a:uLnTx/>
              <a:uFillTx/>
              <a:latin typeface="+mn-lt"/>
              <a:ea typeface="+mn-ea"/>
              <a:cs typeface="+mn-cs"/>
            </a:endParaRPr>
          </a:p>
        </p:txBody>
      </p:sp>
      <p:pic>
        <p:nvPicPr>
          <p:cNvPr id="110593" name="Picture 1"/>
          <p:cNvPicPr>
            <a:picLocks noGrp="1" noChangeAspect="1" noChangeArrowheads="1"/>
          </p:cNvPicPr>
          <p:nvPr>
            <p:ph idx="1"/>
          </p:nvPr>
        </p:nvPicPr>
        <p:blipFill>
          <a:blip r:embed="rId2" cstate="print"/>
          <a:srcRect/>
          <a:stretch>
            <a:fillRect/>
          </a:stretch>
        </p:blipFill>
        <p:spPr bwMode="auto">
          <a:xfrm>
            <a:off x="8709251" y="4234543"/>
            <a:ext cx="2219325" cy="1426028"/>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Big-O    notation</a:t>
            </a:r>
          </a:p>
        </p:txBody>
      </p:sp>
      <p:sp>
        <p:nvSpPr>
          <p:cNvPr id="7" name="Content Placeholder 2"/>
          <p:cNvSpPr txBox="1">
            <a:spLocks/>
          </p:cNvSpPr>
          <p:nvPr/>
        </p:nvSpPr>
        <p:spPr>
          <a:xfrm>
            <a:off x="486229" y="1255486"/>
            <a:ext cx="11255828" cy="5457371"/>
          </a:xfrm>
          <a:prstGeom prst="rect">
            <a:avLst/>
          </a:prstGeom>
        </p:spPr>
        <p:txBody>
          <a:bodyPr vert="horz" lIns="91440" tIns="45720" rIns="91440" bIns="45720" rtlCol="0">
            <a:noAutofit/>
          </a:bodyPr>
          <a:lstStyle/>
          <a:p>
            <a:r>
              <a:rPr lang="en-US" sz="2800" b="1" dirty="0"/>
              <a:t>For ex- Grocery Checkout</a:t>
            </a:r>
          </a:p>
          <a:p>
            <a:r>
              <a:rPr lang="en-US" sz="2800" dirty="0"/>
              <a:t>You’re at a supermarket:</a:t>
            </a:r>
          </a:p>
          <a:p>
            <a:r>
              <a:rPr lang="en-US" sz="2800" dirty="0"/>
              <a:t>If there are </a:t>
            </a:r>
            <a:r>
              <a:rPr lang="en-US" sz="2800" b="1" dirty="0"/>
              <a:t>n people</a:t>
            </a:r>
            <a:r>
              <a:rPr lang="en-US" sz="2800" dirty="0"/>
              <a:t> in line, and the cashier takes 1 minute per person</a:t>
            </a:r>
          </a:p>
          <a:p>
            <a:r>
              <a:rPr lang="en-US" sz="2800" dirty="0"/>
              <a:t>You wait up to </a:t>
            </a:r>
            <a:r>
              <a:rPr lang="en-US" sz="2800" b="1" dirty="0"/>
              <a:t>n minutes</a:t>
            </a:r>
            <a:endParaRPr lang="en-US" sz="2800" dirty="0"/>
          </a:p>
          <a:p>
            <a:r>
              <a:rPr lang="en-US" sz="2800" dirty="0"/>
              <a:t>So:</a:t>
            </a:r>
          </a:p>
          <a:p>
            <a:r>
              <a:rPr lang="en-US" sz="2800" dirty="0"/>
              <a:t>Your </a:t>
            </a:r>
            <a:r>
              <a:rPr lang="en-US" sz="2800" b="1" dirty="0"/>
              <a:t>waiting time = f(n)</a:t>
            </a:r>
            <a:endParaRPr lang="en-US" sz="2800" dirty="0"/>
          </a:p>
          <a:p>
            <a:r>
              <a:rPr lang="en-US" sz="2800" dirty="0"/>
              <a:t>Compare with </a:t>
            </a:r>
            <a:r>
              <a:rPr lang="en-US" sz="2800" b="1" dirty="0"/>
              <a:t>g(n) = n</a:t>
            </a:r>
            <a:endParaRPr lang="en-US" sz="2800" dirty="0"/>
          </a:p>
          <a:p>
            <a:r>
              <a:rPr lang="en-US" sz="2800" dirty="0"/>
              <a:t>Then: </a:t>
            </a:r>
            <a:r>
              <a:rPr lang="en-US" sz="2800" b="1" dirty="0"/>
              <a:t>f(n) = O(n)</a:t>
            </a:r>
            <a:r>
              <a:rPr lang="en-US" sz="2800" dirty="0"/>
              <a:t> → time is </a:t>
            </a:r>
            <a:r>
              <a:rPr lang="en-US" sz="2800" b="1" dirty="0"/>
              <a:t>at most n minutes</a:t>
            </a:r>
            <a:endParaRPr lang="en-US" sz="2800" dirty="0"/>
          </a:p>
          <a:p>
            <a:r>
              <a:rPr lang="en-US" sz="2800" dirty="0"/>
              <a:t>Even if sometimes it’s faster (e.g., some people leave),</a:t>
            </a:r>
            <a:br>
              <a:rPr lang="en-US" sz="2800" dirty="0"/>
            </a:br>
            <a:r>
              <a:rPr lang="en-US" sz="2800" b="1" dirty="0"/>
              <a:t>Big-O still describes the worst you might face.</a:t>
            </a:r>
            <a:endParaRPr lang="en-US" sz="2800" dirty="0"/>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just"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Big-O    notation</a:t>
            </a:r>
          </a:p>
        </p:txBody>
      </p:sp>
      <p:sp>
        <p:nvSpPr>
          <p:cNvPr id="3" name="Content Placeholder 2"/>
          <p:cNvSpPr>
            <a:spLocks noGrp="1"/>
          </p:cNvSpPr>
          <p:nvPr>
            <p:ph idx="1"/>
          </p:nvPr>
        </p:nvSpPr>
        <p:spPr>
          <a:xfrm>
            <a:off x="333829" y="1103086"/>
            <a:ext cx="7561942" cy="5457371"/>
          </a:xfrm>
        </p:spPr>
        <p:txBody>
          <a:bodyPr>
            <a:noAutofit/>
          </a:bodyPr>
          <a:lstStyle/>
          <a:p>
            <a:pPr algn="just" fontAlgn="base"/>
            <a:r>
              <a:rPr lang="en-US" b="1" dirty="0"/>
              <a:t>Mathematical representation (definition):</a:t>
            </a:r>
          </a:p>
          <a:p>
            <a:pPr fontAlgn="base"/>
            <a:r>
              <a:rPr lang="en-US" dirty="0"/>
              <a:t>Given two functions</a:t>
            </a:r>
            <a:r>
              <a:rPr lang="en-US" b="1" dirty="0"/>
              <a:t> f(n)</a:t>
            </a:r>
            <a:r>
              <a:rPr lang="en-US" dirty="0"/>
              <a:t> and </a:t>
            </a:r>
            <a:r>
              <a:rPr lang="en-US" b="1" dirty="0"/>
              <a:t>g(n)</a:t>
            </a:r>
            <a:r>
              <a:rPr lang="en-US" dirty="0"/>
              <a:t>,</a:t>
            </a:r>
          </a:p>
          <a:p>
            <a:pPr fontAlgn="base">
              <a:buNone/>
            </a:pPr>
            <a:r>
              <a:rPr lang="en-US" dirty="0"/>
              <a:t> we say that</a:t>
            </a:r>
            <a:r>
              <a:rPr lang="en-US" b="1" dirty="0"/>
              <a:t> f(n)</a:t>
            </a:r>
            <a:r>
              <a:rPr lang="en-US" dirty="0"/>
              <a:t> is </a:t>
            </a:r>
            <a:r>
              <a:rPr lang="en-US" b="1" dirty="0"/>
              <a:t>Asymptotically equal to</a:t>
            </a:r>
            <a:r>
              <a:rPr lang="en-US" dirty="0"/>
              <a:t> </a:t>
            </a:r>
            <a:r>
              <a:rPr lang="en-US" b="1" dirty="0"/>
              <a:t>O(g(n)) </a:t>
            </a:r>
          </a:p>
          <a:p>
            <a:pPr fontAlgn="base">
              <a:buNone/>
            </a:pPr>
            <a:r>
              <a:rPr lang="en-US" b="1" dirty="0"/>
              <a:t>	f(n) = O(g(n)) </a:t>
            </a:r>
            <a:r>
              <a:rPr lang="en-US" dirty="0" err="1"/>
              <a:t>iff</a:t>
            </a:r>
            <a:r>
              <a:rPr lang="en-US" dirty="0"/>
              <a:t> there exist constants</a:t>
            </a:r>
            <a:r>
              <a:rPr lang="en-US" b="1" dirty="0"/>
              <a:t> c &gt; 0 </a:t>
            </a:r>
            <a:r>
              <a:rPr lang="en-US" dirty="0"/>
              <a:t>and </a:t>
            </a:r>
            <a:r>
              <a:rPr lang="en-US" b="1" dirty="0"/>
              <a:t>n</a:t>
            </a:r>
            <a:r>
              <a:rPr lang="en-US" b="1" baseline="-25000" dirty="0"/>
              <a:t>0</a:t>
            </a:r>
            <a:r>
              <a:rPr lang="en-US" b="1" dirty="0"/>
              <a:t> &gt;= 1</a:t>
            </a:r>
            <a:r>
              <a:rPr lang="en-US" dirty="0"/>
              <a:t> such that:</a:t>
            </a:r>
            <a:r>
              <a:rPr lang="en-US" b="1" dirty="0"/>
              <a:t> </a:t>
            </a:r>
          </a:p>
          <a:p>
            <a:pPr fontAlgn="base">
              <a:buNone/>
            </a:pPr>
            <a:r>
              <a:rPr lang="en-US" b="1" dirty="0"/>
              <a:t>	    f(n) &lt;= c*g(n)</a:t>
            </a:r>
            <a:r>
              <a:rPr lang="en-US" dirty="0"/>
              <a:t> for all </a:t>
            </a:r>
            <a:r>
              <a:rPr lang="en-US" b="1" dirty="0"/>
              <a:t>n &gt;= n</a:t>
            </a:r>
            <a:r>
              <a:rPr lang="en-US" b="1" baseline="-25000" dirty="0"/>
              <a:t>0</a:t>
            </a:r>
            <a:r>
              <a:rPr lang="en-US" dirty="0"/>
              <a:t>.</a:t>
            </a:r>
          </a:p>
          <a:p>
            <a:pPr fontAlgn="base"/>
            <a:r>
              <a:rPr lang="en-US" dirty="0"/>
              <a:t>In simpler terms, here g(n) is an upper bound for function f(n),as g(n) grows faster than f(n) , for all n &gt;= n</a:t>
            </a:r>
            <a:r>
              <a:rPr lang="en-US" baseline="-25000" dirty="0"/>
              <a:t>0</a:t>
            </a:r>
            <a:r>
              <a:rPr lang="en-US" dirty="0"/>
              <a:t> where c and n</a:t>
            </a:r>
            <a:r>
              <a:rPr lang="en-US" baseline="-25000" dirty="0"/>
              <a:t>0</a:t>
            </a:r>
            <a:r>
              <a:rPr lang="en-US" dirty="0"/>
              <a:t> are constants.</a:t>
            </a:r>
          </a:p>
          <a:p>
            <a:pPr algn="just" fontAlgn="base"/>
            <a:endParaRPr lang="en-US" dirty="0"/>
          </a:p>
          <a:p>
            <a:pPr algn="just" fontAlgn="base"/>
            <a:endParaRPr lang="en-US" dirty="0"/>
          </a:p>
          <a:p>
            <a:pPr algn="just" fontAlgn="base"/>
            <a:endParaRPr lang="en-US" i="1" dirty="0"/>
          </a:p>
        </p:txBody>
      </p:sp>
      <p:pic>
        <p:nvPicPr>
          <p:cNvPr id="1026" name="Picture 2"/>
          <p:cNvPicPr>
            <a:picLocks noChangeAspect="1" noChangeArrowheads="1"/>
          </p:cNvPicPr>
          <p:nvPr/>
        </p:nvPicPr>
        <p:blipFill>
          <a:blip r:embed="rId2" cstate="print"/>
          <a:srcRect/>
          <a:stretch>
            <a:fillRect/>
          </a:stretch>
        </p:blipFill>
        <p:spPr bwMode="auto">
          <a:xfrm>
            <a:off x="7866742" y="1150484"/>
            <a:ext cx="3933371" cy="5134202"/>
          </a:xfrm>
          <a:prstGeom prst="rect">
            <a:avLst/>
          </a:prstGeom>
          <a:noFill/>
          <a:ln w="9525">
            <a:noFill/>
            <a:miter lim="800000"/>
            <a:headEnd/>
            <a:tailEnd/>
          </a:ln>
        </p:spPr>
      </p:pic>
      <p:sp>
        <p:nvSpPr>
          <p:cNvPr id="5" name="Rectangle 4"/>
          <p:cNvSpPr/>
          <p:nvPr/>
        </p:nvSpPr>
        <p:spPr>
          <a:xfrm>
            <a:off x="8329655" y="1676791"/>
            <a:ext cx="2410898" cy="67710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fontAlgn="base"/>
            <a:r>
              <a:rPr lang="en-US" b="1" dirty="0"/>
              <a:t>g(n) is </a:t>
            </a:r>
            <a:r>
              <a:rPr lang="en-US" sz="2000" b="1" dirty="0"/>
              <a:t>TIGHT </a:t>
            </a:r>
            <a:r>
              <a:rPr lang="en-US" b="1" dirty="0"/>
              <a:t>upper bound of f(n)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Big-O    notation</a:t>
            </a:r>
          </a:p>
        </p:txBody>
      </p:sp>
      <p:sp>
        <p:nvSpPr>
          <p:cNvPr id="3" name="Content Placeholder 2"/>
          <p:cNvSpPr>
            <a:spLocks noGrp="1"/>
          </p:cNvSpPr>
          <p:nvPr>
            <p:ph idx="1"/>
          </p:nvPr>
        </p:nvSpPr>
        <p:spPr>
          <a:xfrm>
            <a:off x="333828" y="1103086"/>
            <a:ext cx="11059885" cy="5457371"/>
          </a:xfrm>
        </p:spPr>
        <p:txBody>
          <a:bodyPr>
            <a:noAutofit/>
          </a:bodyPr>
          <a:lstStyle/>
          <a:p>
            <a:r>
              <a:rPr lang="en-US" dirty="0"/>
              <a:t>Example :</a:t>
            </a:r>
          </a:p>
          <a:p>
            <a:r>
              <a:rPr lang="en-US" dirty="0"/>
              <a:t>If an algorithm runs in </a:t>
            </a:r>
            <a:r>
              <a:rPr lang="en-US" b="1" dirty="0"/>
              <a:t>f(n) = 3n + 5</a:t>
            </a:r>
            <a:r>
              <a:rPr lang="en-US" dirty="0"/>
              <a:t>, then:</a:t>
            </a:r>
          </a:p>
          <a:p>
            <a:r>
              <a:rPr lang="en-US" dirty="0"/>
              <a:t>It is </a:t>
            </a:r>
            <a:r>
              <a:rPr lang="en-US" b="1" dirty="0"/>
              <a:t>O(n)</a:t>
            </a:r>
            <a:r>
              <a:rPr lang="en-US" dirty="0"/>
              <a:t> because for large enough n, the constant and lower-order terms don’t matter.</a:t>
            </a:r>
          </a:p>
          <a:p>
            <a:r>
              <a:rPr lang="en-US" dirty="0"/>
              <a:t>i.e., 3n + 5 ≤ 4n for all n ≥ 1</a:t>
            </a:r>
          </a:p>
          <a:p>
            <a:r>
              <a:rPr lang="en-US" dirty="0"/>
              <a:t>Or we can take </a:t>
            </a:r>
          </a:p>
          <a:p>
            <a:r>
              <a:rPr lang="en-US" dirty="0"/>
              <a:t>3n + 5 ≤ 4n² for all n ≥ 1</a:t>
            </a:r>
          </a:p>
          <a:p>
            <a:pPr algn="just" fontAlgn="base"/>
            <a:endParaRPr lang="en-US" dirty="0"/>
          </a:p>
          <a:p>
            <a:pPr algn="just" fontAlgn="base"/>
            <a:endParaRPr lang="en-US" dirty="0"/>
          </a:p>
          <a:p>
            <a:pPr algn="just" fontAlgn="base"/>
            <a:endParaRPr lang="en-US" i="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566057" y="1016000"/>
            <a:ext cx="10784113" cy="5428343"/>
          </a:xfrm>
          <a:prstGeom prst="rect">
            <a:avLst/>
          </a:prstGeom>
          <a:noFill/>
          <a:ln w="9525">
            <a:noFill/>
            <a:miter lim="800000"/>
            <a:headEnd/>
            <a:tailEnd/>
          </a:ln>
        </p:spPr>
      </p:pic>
      <p:sp>
        <p:nvSpPr>
          <p:cNvPr id="6" name="Title 1"/>
          <p:cNvSpPr>
            <a:spLocks noGrp="1"/>
          </p:cNvSpPr>
          <p:nvPr>
            <p:ph type="title"/>
          </p:nvPr>
        </p:nvSpPr>
        <p:spPr>
          <a:xfrm>
            <a:off x="838200" y="365126"/>
            <a:ext cx="10515600" cy="607332"/>
          </a:xfrm>
        </p:spPr>
        <p:txBody>
          <a:bodyPr>
            <a:normAutofit/>
          </a:bodyPr>
          <a:lstStyle/>
          <a:p>
            <a:pPr algn="ctr" fontAlgn="base"/>
            <a:r>
              <a:rPr lang="en-US" sz="3200" b="1" dirty="0"/>
              <a:t>Problem 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9171" y="1132114"/>
            <a:ext cx="10515600" cy="2772229"/>
          </a:xfrm>
        </p:spPr>
        <p:txBody>
          <a:bodyPr/>
          <a:lstStyle/>
          <a:p>
            <a:r>
              <a:rPr lang="en-US" dirty="0"/>
              <a:t>This grows </a:t>
            </a:r>
            <a:r>
              <a:rPr lang="en-US" b="1" dirty="0"/>
              <a:t>logarithmically</a:t>
            </a:r>
            <a:r>
              <a:rPr lang="en-US" dirty="0"/>
              <a:t> with n, which is much slower than linear growth for large n</a:t>
            </a:r>
          </a:p>
        </p:txBody>
      </p:sp>
      <p:sp>
        <p:nvSpPr>
          <p:cNvPr id="5" name="Title 1"/>
          <p:cNvSpPr>
            <a:spLocks noGrp="1"/>
          </p:cNvSpPr>
          <p:nvPr>
            <p:ph type="title"/>
          </p:nvPr>
        </p:nvSpPr>
        <p:spPr>
          <a:xfrm>
            <a:off x="838200" y="365126"/>
            <a:ext cx="10515600" cy="607332"/>
          </a:xfrm>
        </p:spPr>
        <p:txBody>
          <a:bodyPr>
            <a:normAutofit/>
          </a:bodyPr>
          <a:lstStyle/>
          <a:p>
            <a:pPr algn="ctr" fontAlgn="base"/>
            <a:r>
              <a:rPr lang="en-US" sz="3200" b="1" dirty="0"/>
              <a:t>Problem 2</a:t>
            </a:r>
          </a:p>
        </p:txBody>
      </p:sp>
      <p:grpSp>
        <p:nvGrpSpPr>
          <p:cNvPr id="6" name="Group 5"/>
          <p:cNvGrpSpPr/>
          <p:nvPr/>
        </p:nvGrpSpPr>
        <p:grpSpPr>
          <a:xfrm>
            <a:off x="232229" y="2032000"/>
            <a:ext cx="11684000" cy="3875314"/>
            <a:chOff x="232229" y="885371"/>
            <a:chExt cx="11684000" cy="5500916"/>
          </a:xfrm>
        </p:grpSpPr>
        <p:pic>
          <p:nvPicPr>
            <p:cNvPr id="3074" name="Picture 2"/>
            <p:cNvPicPr>
              <a:picLocks noChangeAspect="1" noChangeArrowheads="1"/>
            </p:cNvPicPr>
            <p:nvPr/>
          </p:nvPicPr>
          <p:blipFill>
            <a:blip r:embed="rId2" cstate="print"/>
            <a:srcRect/>
            <a:stretch>
              <a:fillRect/>
            </a:stretch>
          </p:blipFill>
          <p:spPr bwMode="auto">
            <a:xfrm>
              <a:off x="232229" y="885371"/>
              <a:ext cx="11684000" cy="5500916"/>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9532485" y="1061131"/>
              <a:ext cx="2009775" cy="637040"/>
            </a:xfrm>
            <a:prstGeom prst="rect">
              <a:avLst/>
            </a:prstGeom>
            <a:noFill/>
            <a:ln w="9525">
              <a:noFill/>
              <a:miter lim="800000"/>
              <a:headEnd/>
              <a:tailEnd/>
            </a:ln>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838200" y="31304"/>
            <a:ext cx="10515600" cy="607332"/>
          </a:xfrm>
        </p:spPr>
        <p:txBody>
          <a:bodyPr>
            <a:normAutofit/>
          </a:bodyPr>
          <a:lstStyle/>
          <a:p>
            <a:pPr algn="ctr" fontAlgn="base"/>
            <a:r>
              <a:rPr lang="en-US" sz="3200" b="1" dirty="0"/>
              <a:t>Problem 3</a:t>
            </a:r>
          </a:p>
        </p:txBody>
      </p:sp>
      <p:pic>
        <p:nvPicPr>
          <p:cNvPr id="5122" name="Picture 2"/>
          <p:cNvPicPr>
            <a:picLocks noGrp="1" noChangeAspect="1" noChangeArrowheads="1"/>
          </p:cNvPicPr>
          <p:nvPr>
            <p:ph idx="1"/>
          </p:nvPr>
        </p:nvPicPr>
        <p:blipFill>
          <a:blip r:embed="rId2" cstate="print"/>
          <a:srcRect/>
          <a:stretch>
            <a:fillRect/>
          </a:stretch>
        </p:blipFill>
        <p:spPr bwMode="auto">
          <a:xfrm>
            <a:off x="324396" y="725714"/>
            <a:ext cx="11359604" cy="3918857"/>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290286" y="4630058"/>
            <a:ext cx="11379200" cy="1770742"/>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416606" y="783771"/>
            <a:ext cx="11006137" cy="5471886"/>
            <a:chOff x="416606" y="0"/>
            <a:chExt cx="11006137" cy="6255657"/>
          </a:xfrm>
        </p:grpSpPr>
        <p:pic>
          <p:nvPicPr>
            <p:cNvPr id="6146" name="Picture 2"/>
            <p:cNvPicPr>
              <a:picLocks noChangeAspect="1" noChangeArrowheads="1"/>
            </p:cNvPicPr>
            <p:nvPr/>
          </p:nvPicPr>
          <p:blipFill>
            <a:blip r:embed="rId2" cstate="print"/>
            <a:srcRect/>
            <a:stretch>
              <a:fillRect/>
            </a:stretch>
          </p:blipFill>
          <p:spPr bwMode="auto">
            <a:xfrm>
              <a:off x="416606" y="0"/>
              <a:ext cx="11006137" cy="4920343"/>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431345" y="4901293"/>
              <a:ext cx="10976883" cy="1354364"/>
            </a:xfrm>
            <a:prstGeom prst="rect">
              <a:avLst/>
            </a:prstGeom>
            <a:noFill/>
            <a:ln w="9525">
              <a:noFill/>
              <a:miter lim="800000"/>
              <a:headEnd/>
              <a:tailEnd/>
            </a:ln>
          </p:spPr>
        </p:pic>
      </p:grpSp>
      <p:sp>
        <p:nvSpPr>
          <p:cNvPr id="8" name="Title 1"/>
          <p:cNvSpPr>
            <a:spLocks noGrp="1"/>
          </p:cNvSpPr>
          <p:nvPr>
            <p:ph type="title"/>
          </p:nvPr>
        </p:nvSpPr>
        <p:spPr>
          <a:xfrm>
            <a:off x="620490" y="103874"/>
            <a:ext cx="10515600" cy="607332"/>
          </a:xfrm>
        </p:spPr>
        <p:txBody>
          <a:bodyPr>
            <a:normAutofit/>
          </a:bodyPr>
          <a:lstStyle/>
          <a:p>
            <a:pPr algn="ctr" fontAlgn="base"/>
            <a:r>
              <a:rPr lang="en-US" sz="3200" b="1" dirty="0"/>
              <a:t>Problem 3 continued………………..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1275"/>
            <a:ext cx="10515600" cy="608013"/>
          </a:xfrm>
        </p:spPr>
        <p:txBody>
          <a:bodyPr>
            <a:normAutofit/>
          </a:bodyPr>
          <a:lstStyle/>
          <a:p>
            <a:pPr algn="ctr" fontAlgn="base"/>
            <a:r>
              <a:rPr lang="en-US" sz="3200" b="1" dirty="0"/>
              <a:t>Problem 4</a:t>
            </a:r>
          </a:p>
        </p:txBody>
      </p:sp>
      <p:grpSp>
        <p:nvGrpSpPr>
          <p:cNvPr id="10" name="Group 9"/>
          <p:cNvGrpSpPr/>
          <p:nvPr/>
        </p:nvGrpSpPr>
        <p:grpSpPr>
          <a:xfrm>
            <a:off x="366940" y="827766"/>
            <a:ext cx="10591346" cy="5674633"/>
            <a:chOff x="366940" y="827766"/>
            <a:chExt cx="10591346" cy="5674633"/>
          </a:xfrm>
        </p:grpSpPr>
        <p:pic>
          <p:nvPicPr>
            <p:cNvPr id="7170" name="Picture 2"/>
            <p:cNvPicPr>
              <a:picLocks noChangeAspect="1" noChangeArrowheads="1"/>
            </p:cNvPicPr>
            <p:nvPr/>
          </p:nvPicPr>
          <p:blipFill>
            <a:blip r:embed="rId2" cstate="print"/>
            <a:srcRect/>
            <a:stretch>
              <a:fillRect/>
            </a:stretch>
          </p:blipFill>
          <p:spPr bwMode="auto">
            <a:xfrm>
              <a:off x="375103" y="827766"/>
              <a:ext cx="10568667" cy="3410405"/>
            </a:xfrm>
            <a:prstGeom prst="rect">
              <a:avLst/>
            </a:prstGeom>
            <a:noFill/>
            <a:ln w="9525">
              <a:noFill/>
              <a:miter lim="800000"/>
              <a:headEnd/>
              <a:tailEnd/>
            </a:ln>
          </p:spPr>
        </p:pic>
        <p:pic>
          <p:nvPicPr>
            <p:cNvPr id="7172" name="Picture 4"/>
            <p:cNvPicPr>
              <a:picLocks noChangeAspect="1" noChangeArrowheads="1"/>
            </p:cNvPicPr>
            <p:nvPr/>
          </p:nvPicPr>
          <p:blipFill>
            <a:blip r:embed="rId3" cstate="print"/>
            <a:srcRect/>
            <a:stretch>
              <a:fillRect/>
            </a:stretch>
          </p:blipFill>
          <p:spPr bwMode="auto">
            <a:xfrm>
              <a:off x="366940" y="4237498"/>
              <a:ext cx="10591346" cy="2264901"/>
            </a:xfrm>
            <a:prstGeom prst="rect">
              <a:avLst/>
            </a:prstGeom>
            <a:noFill/>
            <a:ln w="9525">
              <a:noFill/>
              <a:miter lim="800000"/>
              <a:headEnd/>
              <a:tailEnd/>
            </a:ln>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1275"/>
            <a:ext cx="10515600" cy="608013"/>
          </a:xfrm>
        </p:spPr>
        <p:txBody>
          <a:bodyPr>
            <a:normAutofit/>
          </a:bodyPr>
          <a:lstStyle/>
          <a:p>
            <a:pPr algn="ctr" fontAlgn="base"/>
            <a:r>
              <a:rPr lang="en-US" sz="3200" b="1" dirty="0"/>
              <a:t>Problem 4 continued……………..</a:t>
            </a:r>
          </a:p>
        </p:txBody>
      </p:sp>
      <p:grpSp>
        <p:nvGrpSpPr>
          <p:cNvPr id="9" name="Group 8"/>
          <p:cNvGrpSpPr/>
          <p:nvPr/>
        </p:nvGrpSpPr>
        <p:grpSpPr>
          <a:xfrm>
            <a:off x="270102" y="687842"/>
            <a:ext cx="11094584" cy="5887129"/>
            <a:chOff x="270102" y="687842"/>
            <a:chExt cx="11094584" cy="5887129"/>
          </a:xfrm>
        </p:grpSpPr>
        <p:pic>
          <p:nvPicPr>
            <p:cNvPr id="8194" name="Picture 2"/>
            <p:cNvPicPr>
              <a:picLocks noChangeAspect="1" noChangeArrowheads="1"/>
            </p:cNvPicPr>
            <p:nvPr/>
          </p:nvPicPr>
          <p:blipFill>
            <a:blip r:embed="rId2" cstate="print"/>
            <a:srcRect/>
            <a:stretch>
              <a:fillRect/>
            </a:stretch>
          </p:blipFill>
          <p:spPr bwMode="auto">
            <a:xfrm>
              <a:off x="281441" y="687842"/>
              <a:ext cx="11083245" cy="4653415"/>
            </a:xfrm>
            <a:prstGeom prst="rect">
              <a:avLst/>
            </a:prstGeom>
            <a:noFill/>
            <a:ln w="9525">
              <a:noFill/>
              <a:miter lim="800000"/>
              <a:headEnd/>
              <a:tailEnd/>
            </a:ln>
          </p:spPr>
        </p:pic>
        <p:pic>
          <p:nvPicPr>
            <p:cNvPr id="8196" name="Picture 4"/>
            <p:cNvPicPr>
              <a:picLocks noChangeAspect="1" noChangeArrowheads="1"/>
            </p:cNvPicPr>
            <p:nvPr/>
          </p:nvPicPr>
          <p:blipFill>
            <a:blip r:embed="rId3" cstate="print"/>
            <a:srcRect/>
            <a:stretch>
              <a:fillRect/>
            </a:stretch>
          </p:blipFill>
          <p:spPr bwMode="auto">
            <a:xfrm>
              <a:off x="270102" y="5333774"/>
              <a:ext cx="11094584" cy="1241197"/>
            </a:xfrm>
            <a:prstGeom prst="rect">
              <a:avLst/>
            </a:prstGeom>
            <a:noFill/>
            <a:ln w="9525">
              <a:noFill/>
              <a:miter lim="800000"/>
              <a:headEnd/>
              <a:tailEnd/>
            </a:ln>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1275"/>
            <a:ext cx="10515600" cy="608013"/>
          </a:xfrm>
        </p:spPr>
        <p:txBody>
          <a:bodyPr>
            <a:normAutofit/>
          </a:bodyPr>
          <a:lstStyle/>
          <a:p>
            <a:pPr algn="ctr" fontAlgn="base"/>
            <a:r>
              <a:rPr lang="en-US" sz="3200" b="1" dirty="0"/>
              <a:t>Problem 5</a:t>
            </a:r>
          </a:p>
        </p:txBody>
      </p:sp>
      <p:grpSp>
        <p:nvGrpSpPr>
          <p:cNvPr id="8" name="Group 7"/>
          <p:cNvGrpSpPr/>
          <p:nvPr/>
        </p:nvGrpSpPr>
        <p:grpSpPr>
          <a:xfrm>
            <a:off x="357642" y="841829"/>
            <a:ext cx="11297329" cy="5485267"/>
            <a:chOff x="357642" y="841829"/>
            <a:chExt cx="11297329" cy="5485267"/>
          </a:xfrm>
        </p:grpSpPr>
        <p:pic>
          <p:nvPicPr>
            <p:cNvPr id="10242" name="Picture 2"/>
            <p:cNvPicPr>
              <a:picLocks noChangeAspect="1" noChangeArrowheads="1"/>
            </p:cNvPicPr>
            <p:nvPr/>
          </p:nvPicPr>
          <p:blipFill>
            <a:blip r:embed="rId2" cstate="print"/>
            <a:srcRect/>
            <a:stretch>
              <a:fillRect/>
            </a:stretch>
          </p:blipFill>
          <p:spPr bwMode="auto">
            <a:xfrm>
              <a:off x="362857" y="841829"/>
              <a:ext cx="11292114" cy="4315959"/>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a:stretch>
              <a:fillRect/>
            </a:stretch>
          </p:blipFill>
          <p:spPr bwMode="auto">
            <a:xfrm>
              <a:off x="357642" y="5117421"/>
              <a:ext cx="11282815" cy="1209675"/>
            </a:xfrm>
            <a:prstGeom prst="rect">
              <a:avLst/>
            </a:prstGeom>
            <a:noFill/>
            <a:ln w="9525">
              <a:noFill/>
              <a:miter lim="800000"/>
              <a:headEnd/>
              <a:tailEnd/>
            </a:ln>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1275"/>
            <a:ext cx="10515600" cy="608013"/>
          </a:xfrm>
        </p:spPr>
        <p:txBody>
          <a:bodyPr>
            <a:normAutofit/>
          </a:bodyPr>
          <a:lstStyle/>
          <a:p>
            <a:pPr algn="ctr" fontAlgn="base"/>
            <a:r>
              <a:rPr lang="en-US" sz="3200" b="1" dirty="0"/>
              <a:t>Problem 6                        </a:t>
            </a:r>
          </a:p>
        </p:txBody>
      </p:sp>
      <p:pic>
        <p:nvPicPr>
          <p:cNvPr id="11266" name="Picture 2"/>
          <p:cNvPicPr>
            <a:picLocks noChangeAspect="1" noChangeArrowheads="1"/>
          </p:cNvPicPr>
          <p:nvPr/>
        </p:nvPicPr>
        <p:blipFill>
          <a:blip r:embed="rId2" cstate="print"/>
          <a:srcRect/>
          <a:stretch>
            <a:fillRect/>
          </a:stretch>
        </p:blipFill>
        <p:spPr bwMode="auto">
          <a:xfrm>
            <a:off x="841829" y="794431"/>
            <a:ext cx="10566400" cy="4532312"/>
          </a:xfrm>
          <a:prstGeom prst="rect">
            <a:avLst/>
          </a:prstGeom>
          <a:noFill/>
          <a:ln w="9525">
            <a:noFill/>
            <a:miter lim="800000"/>
            <a:headEnd/>
            <a:tailEnd/>
          </a:ln>
        </p:spPr>
      </p:pic>
      <p:sp>
        <p:nvSpPr>
          <p:cNvPr id="5" name="Title 1"/>
          <p:cNvSpPr txBox="1">
            <a:spLocks/>
          </p:cNvSpPr>
          <p:nvPr/>
        </p:nvSpPr>
        <p:spPr>
          <a:xfrm>
            <a:off x="758371" y="5655582"/>
            <a:ext cx="10515600" cy="608013"/>
          </a:xfrm>
          <a:prstGeom prst="rect">
            <a:avLst/>
          </a:prstGeom>
        </p:spPr>
        <p:txBody>
          <a:bodyPr vert="horz" lIns="91440" tIns="45720" rIns="91440" bIns="45720" rtlCol="0" anchor="ctr">
            <a:normAutofit/>
          </a:bodyPr>
          <a:lstStyle/>
          <a:p>
            <a:pPr marL="0" marR="0" lvl="0" indent="0" algn="ctr" defTabSz="914400" rtl="0" eaLnBrk="1" fontAlgn="base" latinLnBrk="0" hangingPunct="1">
              <a:lnSpc>
                <a:spcPct val="90000"/>
              </a:lnSpc>
              <a:spcBef>
                <a:spcPct val="0"/>
              </a:spcBef>
              <a:spcAft>
                <a:spcPts val="0"/>
              </a:spcAft>
              <a:buClrTx/>
              <a:buSzTx/>
              <a:buFontTx/>
              <a:buNone/>
              <a:tabLst/>
              <a:defRPr/>
            </a:pPr>
            <a:r>
              <a:rPr lang="en-US" sz="3200" b="1" dirty="0">
                <a:latin typeface="+mj-lt"/>
                <a:ea typeface="+mj-ea"/>
                <a:cs typeface="+mj-cs"/>
              </a:rPr>
              <a:t>n0=12</a:t>
            </a:r>
            <a:r>
              <a:rPr kumimoji="0" lang="en-US" sz="3200" b="1" i="0" u="none" strike="noStrike" kern="1200" cap="none" spc="0" normalizeH="0" baseline="0" noProof="0" dirty="0">
                <a:ln>
                  <a:noFill/>
                </a:ln>
                <a:solidFill>
                  <a:schemeClr val="tx1"/>
                </a:solidFill>
                <a:effectLst/>
                <a:uLnTx/>
                <a:uFillTx/>
                <a:latin typeface="+mj-lt"/>
                <a:ea typeface="+mj-ea"/>
                <a:cs typeface="+mj-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1275"/>
            <a:ext cx="10515600" cy="608013"/>
          </a:xfrm>
        </p:spPr>
        <p:txBody>
          <a:bodyPr>
            <a:normAutofit/>
          </a:bodyPr>
          <a:lstStyle/>
          <a:p>
            <a:pPr algn="ctr" fontAlgn="base"/>
            <a:r>
              <a:rPr lang="en-US" sz="3200" b="1" dirty="0"/>
              <a:t>Problem 7</a:t>
            </a:r>
          </a:p>
        </p:txBody>
      </p:sp>
      <p:grpSp>
        <p:nvGrpSpPr>
          <p:cNvPr id="6" name="Group 5"/>
          <p:cNvGrpSpPr/>
          <p:nvPr/>
        </p:nvGrpSpPr>
        <p:grpSpPr>
          <a:xfrm>
            <a:off x="539977" y="704849"/>
            <a:ext cx="10839223" cy="5754007"/>
            <a:chOff x="539977" y="704849"/>
            <a:chExt cx="10839223" cy="5754007"/>
          </a:xfrm>
        </p:grpSpPr>
        <p:pic>
          <p:nvPicPr>
            <p:cNvPr id="12290" name="Picture 2"/>
            <p:cNvPicPr>
              <a:picLocks noChangeAspect="1" noChangeArrowheads="1"/>
            </p:cNvPicPr>
            <p:nvPr/>
          </p:nvPicPr>
          <p:blipFill>
            <a:blip r:embed="rId2" cstate="print"/>
            <a:srcRect/>
            <a:stretch>
              <a:fillRect/>
            </a:stretch>
          </p:blipFill>
          <p:spPr bwMode="auto">
            <a:xfrm>
              <a:off x="539977" y="704849"/>
              <a:ext cx="10839223" cy="4505779"/>
            </a:xfrm>
            <a:prstGeom prst="rect">
              <a:avLst/>
            </a:prstGeom>
            <a:noFill/>
            <a:ln w="9525">
              <a:noFill/>
              <a:miter lim="800000"/>
              <a:headEnd/>
              <a:tailEnd/>
            </a:ln>
          </p:spPr>
        </p:pic>
        <p:pic>
          <p:nvPicPr>
            <p:cNvPr id="12291" name="Picture 3"/>
            <p:cNvPicPr>
              <a:picLocks noChangeAspect="1" noChangeArrowheads="1"/>
            </p:cNvPicPr>
            <p:nvPr/>
          </p:nvPicPr>
          <p:blipFill>
            <a:blip r:embed="rId3" cstate="print"/>
            <a:srcRect/>
            <a:stretch>
              <a:fillRect/>
            </a:stretch>
          </p:blipFill>
          <p:spPr bwMode="auto">
            <a:xfrm>
              <a:off x="540885" y="5143953"/>
              <a:ext cx="10838315" cy="1314903"/>
            </a:xfrm>
            <a:prstGeom prst="rect">
              <a:avLst/>
            </a:prstGeom>
            <a:noFill/>
            <a:ln w="9525">
              <a:noFill/>
              <a:miter lim="800000"/>
              <a:headEnd/>
              <a:tailEnd/>
            </a:ln>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1275"/>
            <a:ext cx="10515600" cy="608013"/>
          </a:xfrm>
        </p:spPr>
        <p:txBody>
          <a:bodyPr>
            <a:normAutofit/>
          </a:bodyPr>
          <a:lstStyle/>
          <a:p>
            <a:pPr algn="ctr" fontAlgn="base"/>
            <a:r>
              <a:rPr lang="en-US" sz="3200" b="1" dirty="0"/>
              <a:t>Problem 8</a:t>
            </a:r>
          </a:p>
        </p:txBody>
      </p:sp>
      <p:pic>
        <p:nvPicPr>
          <p:cNvPr id="13314" name="Picture 2"/>
          <p:cNvPicPr>
            <a:picLocks noChangeAspect="1" noChangeArrowheads="1"/>
          </p:cNvPicPr>
          <p:nvPr/>
        </p:nvPicPr>
        <p:blipFill>
          <a:blip r:embed="rId2" cstate="print"/>
          <a:srcRect/>
          <a:stretch>
            <a:fillRect/>
          </a:stretch>
        </p:blipFill>
        <p:spPr bwMode="auto">
          <a:xfrm>
            <a:off x="696686" y="885372"/>
            <a:ext cx="10479314" cy="5326742"/>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Big-Omega (</a:t>
            </a:r>
            <a:r>
              <a:rPr lang="el-GR" b="1" dirty="0"/>
              <a:t>Ω)</a:t>
            </a:r>
            <a:r>
              <a:rPr lang="el-GR" dirty="0"/>
              <a:t>?</a:t>
            </a:r>
            <a:endParaRPr lang="en-US" dirty="0"/>
          </a:p>
        </p:txBody>
      </p:sp>
      <p:sp>
        <p:nvSpPr>
          <p:cNvPr id="3" name="Content Placeholder 2"/>
          <p:cNvSpPr>
            <a:spLocks noGrp="1"/>
          </p:cNvSpPr>
          <p:nvPr>
            <p:ph idx="1"/>
          </p:nvPr>
        </p:nvSpPr>
        <p:spPr>
          <a:xfrm>
            <a:off x="838199" y="1825625"/>
            <a:ext cx="10889343" cy="4351338"/>
          </a:xfrm>
        </p:spPr>
        <p:txBody>
          <a:bodyPr>
            <a:normAutofit fontScale="92500" lnSpcReduction="20000"/>
          </a:bodyPr>
          <a:lstStyle/>
          <a:p>
            <a:pPr>
              <a:buNone/>
            </a:pPr>
            <a:r>
              <a:rPr lang="en-US" b="1" dirty="0"/>
              <a:t>Big-Omega (Ω)</a:t>
            </a:r>
            <a:r>
              <a:rPr lang="en-US" dirty="0"/>
              <a:t> gives a </a:t>
            </a:r>
            <a:r>
              <a:rPr lang="en-US" b="1" dirty="0"/>
              <a:t>lower bound</a:t>
            </a:r>
            <a:r>
              <a:rPr lang="en-US" dirty="0"/>
              <a:t> on the time or space your algorithm will take.</a:t>
            </a:r>
          </a:p>
          <a:p>
            <a:r>
              <a:rPr lang="en-US" dirty="0"/>
              <a:t>It tells you:      </a:t>
            </a:r>
            <a:r>
              <a:rPr lang="en-US" b="1" dirty="0"/>
              <a:t>“At least this much time will be needed.” </a:t>
            </a:r>
            <a:br>
              <a:rPr lang="en-US" b="1" dirty="0"/>
            </a:br>
            <a:r>
              <a:rPr lang="en-US" b="1" dirty="0"/>
              <a:t>It shows best case.</a:t>
            </a:r>
          </a:p>
          <a:p>
            <a:r>
              <a:rPr lang="en-US" b="1" dirty="0"/>
              <a:t>Example  Laundry</a:t>
            </a:r>
          </a:p>
          <a:p>
            <a:r>
              <a:rPr lang="en-US" dirty="0"/>
              <a:t>You are folding clothes:</a:t>
            </a:r>
          </a:p>
          <a:p>
            <a:r>
              <a:rPr lang="en-US" dirty="0"/>
              <a:t>Each shirt takes </a:t>
            </a:r>
            <a:r>
              <a:rPr lang="en-US" b="1" dirty="0"/>
              <a:t>at least 1 minute</a:t>
            </a:r>
            <a:endParaRPr lang="en-US" dirty="0"/>
          </a:p>
          <a:p>
            <a:r>
              <a:rPr lang="en-US" dirty="0"/>
              <a:t>If there are </a:t>
            </a:r>
            <a:r>
              <a:rPr lang="en-US" b="1" dirty="0"/>
              <a:t>n shirts</a:t>
            </a:r>
            <a:r>
              <a:rPr lang="en-US" dirty="0"/>
              <a:t>, it will take </a:t>
            </a:r>
            <a:r>
              <a:rPr lang="en-US" b="1" dirty="0"/>
              <a:t>at least n minutes</a:t>
            </a:r>
            <a:endParaRPr lang="en-US" dirty="0"/>
          </a:p>
          <a:p>
            <a:r>
              <a:rPr lang="en-US" dirty="0"/>
              <a:t>So:</a:t>
            </a:r>
          </a:p>
          <a:p>
            <a:r>
              <a:rPr lang="en-US" dirty="0"/>
              <a:t>Time = </a:t>
            </a:r>
            <a:r>
              <a:rPr lang="en-US" b="1" dirty="0"/>
              <a:t>Ω(n)</a:t>
            </a:r>
            <a:br>
              <a:rPr lang="en-US" dirty="0"/>
            </a:br>
            <a:r>
              <a:rPr lang="en-US" dirty="0"/>
              <a:t>Even if you are super fast or multitask, you </a:t>
            </a:r>
            <a:r>
              <a:rPr lang="en-US" b="1" dirty="0"/>
              <a:t>cannot</a:t>
            </a:r>
            <a:r>
              <a:rPr lang="en-US" dirty="0"/>
              <a:t> do it in less than </a:t>
            </a:r>
            <a:r>
              <a:rPr lang="en-US" b="1" dirty="0"/>
              <a:t>n minutes</a:t>
            </a:r>
            <a:r>
              <a:rPr lang="en-US" dirty="0"/>
              <a:t>.</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Big-Omega (</a:t>
            </a:r>
            <a:r>
              <a:rPr lang="el-GR" b="1" dirty="0"/>
              <a:t>Ω)</a:t>
            </a:r>
            <a:r>
              <a:rPr lang="el-GR" dirty="0"/>
              <a:t>?</a:t>
            </a:r>
            <a:endParaRPr lang="en-US" dirty="0"/>
          </a:p>
        </p:txBody>
      </p:sp>
      <p:sp>
        <p:nvSpPr>
          <p:cNvPr id="3" name="Content Placeholder 2"/>
          <p:cNvSpPr>
            <a:spLocks noGrp="1"/>
          </p:cNvSpPr>
          <p:nvPr>
            <p:ph idx="1"/>
          </p:nvPr>
        </p:nvSpPr>
        <p:spPr>
          <a:xfrm>
            <a:off x="838199" y="1825625"/>
            <a:ext cx="10889343" cy="4351338"/>
          </a:xfrm>
        </p:spPr>
        <p:txBody>
          <a:bodyPr>
            <a:normAutofit/>
          </a:bodyPr>
          <a:lstStyle/>
          <a:p>
            <a:r>
              <a:rPr lang="en-US" b="1" dirty="0"/>
              <a:t>Example:</a:t>
            </a:r>
          </a:p>
          <a:p>
            <a:r>
              <a:rPr lang="en-US" dirty="0"/>
              <a:t>Let’s say you are searching in an </a:t>
            </a:r>
            <a:r>
              <a:rPr lang="en-US" b="1" dirty="0"/>
              <a:t>unsorted list</a:t>
            </a:r>
            <a:r>
              <a:rPr lang="en-US" dirty="0"/>
              <a:t>:</a:t>
            </a:r>
          </a:p>
          <a:p>
            <a:r>
              <a:rPr lang="en-US" dirty="0"/>
              <a:t>Best case: the item is at the first position → </a:t>
            </a:r>
            <a:r>
              <a:rPr lang="en-US" b="1" dirty="0"/>
              <a:t>Ω(1)</a:t>
            </a:r>
            <a:endParaRPr lang="en-US" dirty="0"/>
          </a:p>
          <a:p>
            <a:r>
              <a:rPr lang="en-US" dirty="0"/>
              <a:t>Worst case: item is at the end → </a:t>
            </a:r>
            <a:r>
              <a:rPr lang="en-US" b="1" dirty="0"/>
              <a:t>O(n)</a:t>
            </a:r>
            <a:endParaRPr lang="en-US" dirty="0"/>
          </a:p>
          <a:p>
            <a:r>
              <a:rPr lang="en-US" dirty="0"/>
              <a:t>So you can say:</a:t>
            </a:r>
          </a:p>
          <a:p>
            <a:r>
              <a:rPr lang="en-US" dirty="0"/>
              <a:t>The time to search is </a:t>
            </a:r>
            <a:r>
              <a:rPr lang="en-US" b="1" dirty="0"/>
              <a:t>Ω(1)</a:t>
            </a:r>
            <a:r>
              <a:rPr lang="en-US" dirty="0"/>
              <a:t> and </a:t>
            </a:r>
            <a:r>
              <a:rPr lang="en-US" b="1" dirty="0"/>
              <a:t>O(n)</a:t>
            </a:r>
            <a:endParaRPr lang="en-US" dirty="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389"/>
          </a:xfrm>
        </p:spPr>
        <p:txBody>
          <a:bodyPr>
            <a:normAutofit fontScale="90000"/>
          </a:bodyPr>
          <a:lstStyle/>
          <a:p>
            <a:pPr algn="ctr"/>
            <a:r>
              <a:rPr lang="en-US" b="1" dirty="0"/>
              <a:t>Big Omega</a:t>
            </a:r>
          </a:p>
        </p:txBody>
      </p:sp>
      <p:sp>
        <p:nvSpPr>
          <p:cNvPr id="3" name="Content Placeholder 2"/>
          <p:cNvSpPr>
            <a:spLocks noGrp="1"/>
          </p:cNvSpPr>
          <p:nvPr>
            <p:ph idx="1"/>
          </p:nvPr>
        </p:nvSpPr>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we use Big-Omega </a:t>
            </a:r>
            <a:r>
              <a:rPr lang="en-US" b="1" dirty="0"/>
              <a:t>Ω</a:t>
            </a:r>
            <a:r>
              <a:rPr lang="en-US" dirty="0"/>
              <a:t> when we want to represent the </a:t>
            </a:r>
            <a:r>
              <a:rPr lang="en-US" b="1" dirty="0"/>
              <a:t>minimum time</a:t>
            </a:r>
            <a:r>
              <a:rPr lang="en-US" dirty="0"/>
              <a:t> the algorithm will take.</a:t>
            </a:r>
          </a:p>
          <a:p>
            <a:endParaRPr lang="en-US" dirty="0"/>
          </a:p>
          <a:p>
            <a:endParaRPr lang="en-US" dirty="0"/>
          </a:p>
          <a:p>
            <a:endParaRPr lang="en-US" dirty="0"/>
          </a:p>
          <a:p>
            <a:endParaRPr lang="en-US" dirty="0"/>
          </a:p>
          <a:p>
            <a:endParaRPr lang="en-US" dirty="0"/>
          </a:p>
          <a:p>
            <a:endParaRPr lang="en-US" dirty="0"/>
          </a:p>
          <a:p>
            <a:endParaRPr lang="en-US" dirty="0"/>
          </a:p>
          <a:p>
            <a:pPr>
              <a:buNone/>
            </a:pPr>
            <a:endParaRPr lang="en-US" dirty="0"/>
          </a:p>
        </p:txBody>
      </p:sp>
      <p:pic>
        <p:nvPicPr>
          <p:cNvPr id="1029" name="Picture 5"/>
          <p:cNvPicPr>
            <a:picLocks noChangeAspect="1" noChangeArrowheads="1"/>
          </p:cNvPicPr>
          <p:nvPr/>
        </p:nvPicPr>
        <p:blipFill>
          <a:blip r:embed="rId2" cstate="print"/>
          <a:srcRect/>
          <a:stretch>
            <a:fillRect/>
          </a:stretch>
        </p:blipFill>
        <p:spPr bwMode="auto">
          <a:xfrm>
            <a:off x="1190171" y="1364343"/>
            <a:ext cx="6763658" cy="3875314"/>
          </a:xfrm>
          <a:prstGeom prst="rect">
            <a:avLst/>
          </a:prstGeom>
          <a:noFill/>
          <a:ln w="9525">
            <a:noFill/>
            <a:miter lim="800000"/>
            <a:headEnd/>
            <a:tailEnd/>
          </a:ln>
        </p:spPr>
      </p:pic>
      <p:pic>
        <p:nvPicPr>
          <p:cNvPr id="2050" name="Picture 2"/>
          <p:cNvPicPr>
            <a:picLocks noChangeAspect="1" noChangeArrowheads="1"/>
          </p:cNvPicPr>
          <p:nvPr/>
        </p:nvPicPr>
        <p:blipFill>
          <a:blip r:embed="rId3" cstate="print"/>
          <a:srcRect/>
          <a:stretch>
            <a:fillRect/>
          </a:stretch>
        </p:blipFill>
        <p:spPr bwMode="auto">
          <a:xfrm>
            <a:off x="8040914" y="1498827"/>
            <a:ext cx="3221264" cy="3566659"/>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cstate="print"/>
          <a:srcRect/>
          <a:stretch>
            <a:fillRect/>
          </a:stretch>
        </p:blipFill>
        <p:spPr bwMode="auto">
          <a:xfrm>
            <a:off x="609599" y="1451428"/>
            <a:ext cx="10406743" cy="5065485"/>
          </a:xfrm>
          <a:prstGeom prst="rect">
            <a:avLst/>
          </a:prstGeom>
          <a:noFill/>
          <a:ln w="9525">
            <a:noFill/>
            <a:miter lim="800000"/>
            <a:headEnd/>
            <a:tailEnd/>
          </a:ln>
        </p:spPr>
      </p:pic>
      <p:sp>
        <p:nvSpPr>
          <p:cNvPr id="5" name="Title 1"/>
          <p:cNvSpPr>
            <a:spLocks noGrp="1"/>
          </p:cNvSpPr>
          <p:nvPr>
            <p:ph type="title"/>
          </p:nvPr>
        </p:nvSpPr>
        <p:spPr>
          <a:xfrm>
            <a:off x="722086" y="278039"/>
            <a:ext cx="10515600" cy="608013"/>
          </a:xfrm>
        </p:spPr>
        <p:txBody>
          <a:bodyPr>
            <a:normAutofit/>
          </a:bodyPr>
          <a:lstStyle/>
          <a:p>
            <a:pPr algn="ctr" fontAlgn="base"/>
            <a:r>
              <a:rPr lang="en-US" sz="3200" b="1" dirty="0"/>
              <a:t>Problem 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Theta (</a:t>
            </a:r>
            <a:r>
              <a:rPr lang="el-GR" dirty="0"/>
              <a:t>Θ)</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Theta (Θ)</a:t>
            </a:r>
            <a:r>
              <a:rPr lang="en-US" dirty="0"/>
              <a:t> notation gives a </a:t>
            </a:r>
            <a:r>
              <a:rPr lang="en-US" b="1" dirty="0"/>
              <a:t>tight bound</a:t>
            </a:r>
            <a:r>
              <a:rPr lang="en-US" dirty="0"/>
              <a:t> on the time or space your algorithm takes.</a:t>
            </a:r>
          </a:p>
          <a:p>
            <a:r>
              <a:rPr lang="en-US" dirty="0"/>
              <a:t>Your algorithm takes </a:t>
            </a:r>
            <a:r>
              <a:rPr lang="en-US" b="1" dirty="0"/>
              <a:t>at least</a:t>
            </a:r>
            <a:r>
              <a:rPr lang="en-US" dirty="0"/>
              <a:t> and </a:t>
            </a:r>
            <a:r>
              <a:rPr lang="en-US" b="1" dirty="0"/>
              <a:t>at most</a:t>
            </a:r>
            <a:r>
              <a:rPr lang="en-US" dirty="0"/>
              <a:t> that much time — so it grows </a:t>
            </a:r>
            <a:r>
              <a:rPr lang="en-US" b="1" dirty="0"/>
              <a:t>exactly</a:t>
            </a:r>
            <a:r>
              <a:rPr lang="en-US" dirty="0"/>
              <a:t> at that rate.</a:t>
            </a:r>
          </a:p>
          <a:p>
            <a:r>
              <a:rPr lang="en-US" dirty="0"/>
              <a:t>Ex: If an algorithm takes </a:t>
            </a:r>
            <a:r>
              <a:rPr lang="en-US" b="1" dirty="0"/>
              <a:t>exactly n steps</a:t>
            </a:r>
            <a:r>
              <a:rPr lang="en-US" dirty="0"/>
              <a:t> (not more, not less),</a:t>
            </a:r>
            <a:br>
              <a:rPr lang="en-US" dirty="0"/>
            </a:br>
            <a:r>
              <a:rPr lang="en-US" dirty="0"/>
              <a:t>we say:  </a:t>
            </a:r>
            <a:r>
              <a:rPr lang="en-US" b="1" dirty="0"/>
              <a:t>f(n) = Θ(n)</a:t>
            </a:r>
          </a:p>
          <a:p>
            <a:r>
              <a:rPr lang="en-US" dirty="0"/>
              <a:t>This for loop runs </a:t>
            </a:r>
            <a:r>
              <a:rPr lang="en-US" b="1" dirty="0"/>
              <a:t>exactly n times</a:t>
            </a:r>
            <a:r>
              <a:rPr lang="en-US" dirty="0"/>
              <a:t> in all cases:</a:t>
            </a:r>
          </a:p>
          <a:p>
            <a:r>
              <a:rPr lang="en-US" dirty="0"/>
              <a:t>Best case → n times</a:t>
            </a:r>
          </a:p>
          <a:p>
            <a:r>
              <a:rPr lang="en-US" dirty="0"/>
              <a:t>Worst case → n times</a:t>
            </a:r>
          </a:p>
          <a:p>
            <a:r>
              <a:rPr lang="en-US" dirty="0"/>
              <a:t>So,  Time complexity = </a:t>
            </a:r>
            <a:r>
              <a:rPr lang="en-US" b="1" dirty="0"/>
              <a:t>Θ(n)</a:t>
            </a:r>
            <a:endParaRPr lang="en-US" dirty="0"/>
          </a:p>
          <a:p>
            <a:endParaRPr lang="en-US" dirty="0"/>
          </a:p>
        </p:txBody>
      </p:sp>
      <p:pic>
        <p:nvPicPr>
          <p:cNvPr id="150530" name="Picture 2"/>
          <p:cNvPicPr>
            <a:picLocks noChangeAspect="1" noChangeArrowheads="1"/>
          </p:cNvPicPr>
          <p:nvPr/>
        </p:nvPicPr>
        <p:blipFill>
          <a:blip r:embed="rId2" cstate="print"/>
          <a:srcRect/>
          <a:stretch>
            <a:fillRect/>
          </a:stretch>
        </p:blipFill>
        <p:spPr bwMode="auto">
          <a:xfrm>
            <a:off x="7474858" y="4455432"/>
            <a:ext cx="2807834" cy="1132567"/>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Theta (</a:t>
            </a:r>
            <a:r>
              <a:rPr lang="el-GR" dirty="0"/>
              <a:t>Θ)</a:t>
            </a:r>
            <a:endParaRPr lang="en-US" dirty="0"/>
          </a:p>
        </p:txBody>
      </p:sp>
      <p:sp>
        <p:nvSpPr>
          <p:cNvPr id="3" name="Content Placeholder 2"/>
          <p:cNvSpPr>
            <a:spLocks noGrp="1"/>
          </p:cNvSpPr>
          <p:nvPr>
            <p:ph idx="1"/>
          </p:nvPr>
        </p:nvSpPr>
        <p:spPr>
          <a:xfrm>
            <a:off x="838200" y="1825625"/>
            <a:ext cx="10515600" cy="4618718"/>
          </a:xfrm>
        </p:spPr>
        <p:txBody>
          <a:bodyPr>
            <a:normAutofit fontScale="92500" lnSpcReduction="10000"/>
          </a:bodyPr>
          <a:lstStyle/>
          <a:p>
            <a:r>
              <a:rPr lang="en-US" b="1" dirty="0"/>
              <a:t>Example: Bus Travel Time</a:t>
            </a:r>
          </a:p>
          <a:p>
            <a:r>
              <a:rPr lang="en-US" dirty="0"/>
              <a:t>Imagine a </a:t>
            </a:r>
            <a:r>
              <a:rPr lang="en-US" b="1" dirty="0"/>
              <a:t>bus that always travels at a fixed speed</a:t>
            </a:r>
            <a:r>
              <a:rPr lang="en-US" dirty="0"/>
              <a:t> of 60 km/h.</a:t>
            </a:r>
          </a:p>
          <a:p>
            <a:r>
              <a:rPr lang="en-US" dirty="0"/>
              <a:t>If you want to calculate how long it will take to travel a distance of n kilometers:</a:t>
            </a:r>
          </a:p>
          <a:p>
            <a:r>
              <a:rPr lang="en-US" b="1" dirty="0"/>
              <a:t>Time taken = (n / 60)      hours</a:t>
            </a:r>
          </a:p>
          <a:p>
            <a:r>
              <a:rPr lang="en-US" dirty="0"/>
              <a:t>This means: The </a:t>
            </a:r>
            <a:r>
              <a:rPr lang="en-US" b="1" dirty="0"/>
              <a:t>time</a:t>
            </a:r>
            <a:r>
              <a:rPr lang="en-US" dirty="0"/>
              <a:t> to travel grows </a:t>
            </a:r>
            <a:r>
              <a:rPr lang="en-US" b="1" dirty="0"/>
              <a:t>exactly</a:t>
            </a:r>
            <a:r>
              <a:rPr lang="en-US" dirty="0"/>
              <a:t> in proportion to the </a:t>
            </a:r>
            <a:r>
              <a:rPr lang="en-US" b="1" dirty="0"/>
              <a:t>distance</a:t>
            </a:r>
            <a:r>
              <a:rPr lang="en-US" dirty="0"/>
              <a:t>.</a:t>
            </a:r>
          </a:p>
          <a:p>
            <a:r>
              <a:rPr lang="en-US" dirty="0"/>
              <a:t>For </a:t>
            </a:r>
            <a:r>
              <a:rPr lang="en-US" b="1" dirty="0"/>
              <a:t>every extra km</a:t>
            </a:r>
            <a:r>
              <a:rPr lang="en-US" dirty="0"/>
              <a:t>, the time increases by </a:t>
            </a:r>
            <a:r>
              <a:rPr lang="en-US" b="1" dirty="0"/>
              <a:t>exactly the same amount</a:t>
            </a:r>
            <a:r>
              <a:rPr lang="en-US" dirty="0"/>
              <a:t>.</a:t>
            </a:r>
          </a:p>
          <a:p>
            <a:r>
              <a:rPr lang="en-US" dirty="0"/>
              <a:t>It's a </a:t>
            </a:r>
            <a:r>
              <a:rPr lang="en-US" b="1" dirty="0"/>
              <a:t>tight bound</a:t>
            </a:r>
            <a:r>
              <a:rPr lang="en-US" dirty="0"/>
              <a:t> — not more, not less.</a:t>
            </a:r>
          </a:p>
          <a:p>
            <a:pPr lvl="1"/>
            <a:r>
              <a:rPr lang="en-US" dirty="0"/>
              <a:t>No traffic (no best/worst case)</a:t>
            </a:r>
          </a:p>
          <a:p>
            <a:pPr lvl="1"/>
            <a:r>
              <a:rPr lang="en-US" dirty="0"/>
              <a:t>shortcuts (no random speedups)</a:t>
            </a:r>
          </a:p>
          <a:p>
            <a:pPr lvl="1"/>
            <a:r>
              <a:rPr lang="en-US" dirty="0"/>
              <a:t>Time always grows </a:t>
            </a:r>
            <a:r>
              <a:rPr lang="en-US" b="1" dirty="0"/>
              <a:t>linearly</a:t>
            </a:r>
            <a:r>
              <a:rPr lang="en-US" dirty="0"/>
              <a:t> with distance</a:t>
            </a:r>
          </a:p>
          <a:p>
            <a:endParaRPr lang="en-US" dirty="0"/>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pPr algn="ctr"/>
            <a:r>
              <a:rPr lang="en-US" dirty="0"/>
              <a:t>Big Theta Notation</a:t>
            </a:r>
          </a:p>
        </p:txBody>
      </p:sp>
      <p:sp>
        <p:nvSpPr>
          <p:cNvPr id="3" name="Content Placeholder 2"/>
          <p:cNvSpPr>
            <a:spLocks noGrp="1"/>
          </p:cNvSpPr>
          <p:nvPr>
            <p:ph idx="1"/>
          </p:nvPr>
        </p:nvSpPr>
        <p:spPr/>
        <p:txBody>
          <a:bodyPr>
            <a:normAutofit fontScale="92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We use </a:t>
            </a:r>
            <a:r>
              <a:rPr lang="en-US" b="1" dirty="0"/>
              <a:t>Big-Theta (Θ)</a:t>
            </a:r>
            <a:r>
              <a:rPr lang="en-US" dirty="0"/>
              <a:t> to show the </a:t>
            </a:r>
            <a:r>
              <a:rPr lang="en-US" b="1" dirty="0"/>
              <a:t>exact time</a:t>
            </a:r>
            <a:r>
              <a:rPr lang="en-US" dirty="0"/>
              <a:t> an algorithm takes.</a:t>
            </a:r>
          </a:p>
          <a:p>
            <a:r>
              <a:rPr lang="en-US" dirty="0"/>
              <a:t>t means the algorithm takes </a:t>
            </a:r>
            <a:r>
              <a:rPr lang="en-US" b="1" dirty="0"/>
              <a:t>at least</a:t>
            </a:r>
            <a:r>
              <a:rPr lang="en-US" dirty="0"/>
              <a:t> and </a:t>
            </a:r>
            <a:r>
              <a:rPr lang="en-US" b="1" dirty="0"/>
              <a:t>at most</a:t>
            </a:r>
            <a:r>
              <a:rPr lang="en-US" dirty="0"/>
              <a:t> that much time — it's the </a:t>
            </a:r>
            <a:r>
              <a:rPr lang="en-US" b="1" dirty="0"/>
              <a:t>tight bound</a:t>
            </a:r>
            <a:r>
              <a:rPr lang="en-US" dirty="0"/>
              <a:t>.</a:t>
            </a:r>
          </a:p>
          <a:p>
            <a:endParaRPr lang="en-US" dirty="0"/>
          </a:p>
          <a:p>
            <a:endParaRPr lang="en-US" dirty="0"/>
          </a:p>
          <a:p>
            <a:endParaRPr lang="en-US" dirty="0"/>
          </a:p>
          <a:p>
            <a:endParaRPr lang="en-US" dirty="0"/>
          </a:p>
          <a:p>
            <a:endParaRPr lang="en-US" dirty="0"/>
          </a:p>
          <a:p>
            <a:endParaRPr lang="en-US" dirty="0"/>
          </a:p>
          <a:p>
            <a:pPr>
              <a:buNone/>
            </a:pPr>
            <a:endParaRPr lang="en-US" dirty="0"/>
          </a:p>
        </p:txBody>
      </p:sp>
      <p:pic>
        <p:nvPicPr>
          <p:cNvPr id="3076" name="Picture 4"/>
          <p:cNvPicPr>
            <a:picLocks noChangeAspect="1" noChangeArrowheads="1"/>
          </p:cNvPicPr>
          <p:nvPr/>
        </p:nvPicPr>
        <p:blipFill>
          <a:blip r:embed="rId2" cstate="print"/>
          <a:srcRect/>
          <a:stretch>
            <a:fillRect/>
          </a:stretch>
        </p:blipFill>
        <p:spPr bwMode="auto">
          <a:xfrm>
            <a:off x="617311" y="1208088"/>
            <a:ext cx="7147832" cy="3683226"/>
          </a:xfrm>
          <a:prstGeom prst="rect">
            <a:avLst/>
          </a:prstGeom>
          <a:noFill/>
          <a:ln w="9525">
            <a:noFill/>
            <a:miter lim="800000"/>
            <a:headEnd/>
            <a:tailEnd/>
          </a:ln>
        </p:spPr>
      </p:pic>
      <p:pic>
        <p:nvPicPr>
          <p:cNvPr id="3078" name="Picture 6"/>
          <p:cNvPicPr>
            <a:picLocks noChangeAspect="1" noChangeArrowheads="1"/>
          </p:cNvPicPr>
          <p:nvPr/>
        </p:nvPicPr>
        <p:blipFill>
          <a:blip r:embed="rId3" cstate="print"/>
          <a:srcRect/>
          <a:stretch>
            <a:fillRect/>
          </a:stretch>
        </p:blipFill>
        <p:spPr bwMode="auto">
          <a:xfrm>
            <a:off x="7881031" y="1192438"/>
            <a:ext cx="3323998" cy="362630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722086" y="278039"/>
            <a:ext cx="10515600" cy="608013"/>
          </a:xfrm>
        </p:spPr>
        <p:txBody>
          <a:bodyPr>
            <a:normAutofit/>
          </a:bodyPr>
          <a:lstStyle/>
          <a:p>
            <a:pPr algn="ctr" fontAlgn="base"/>
            <a:r>
              <a:rPr lang="en-US" sz="3200" b="1" dirty="0"/>
              <a:t>Problem 1</a:t>
            </a:r>
          </a:p>
        </p:txBody>
      </p:sp>
      <p:sp>
        <p:nvSpPr>
          <p:cNvPr id="4" name="Content Placeholder 3"/>
          <p:cNvSpPr>
            <a:spLocks noGrp="1"/>
          </p:cNvSpPr>
          <p:nvPr>
            <p:ph idx="1"/>
          </p:nvPr>
        </p:nvSpPr>
        <p:spPr/>
        <p:txBody>
          <a:bodyPr/>
          <a:lstStyle/>
          <a:p>
            <a:endParaRPr lang="en-US"/>
          </a:p>
        </p:txBody>
      </p:sp>
      <p:pic>
        <p:nvPicPr>
          <p:cNvPr id="15362" name="Picture 2"/>
          <p:cNvPicPr>
            <a:picLocks noChangeAspect="1" noChangeArrowheads="1"/>
          </p:cNvPicPr>
          <p:nvPr/>
        </p:nvPicPr>
        <p:blipFill>
          <a:blip r:embed="rId2" cstate="print"/>
          <a:srcRect/>
          <a:stretch>
            <a:fillRect/>
          </a:stretch>
        </p:blipFill>
        <p:spPr bwMode="auto">
          <a:xfrm>
            <a:off x="667431" y="1061811"/>
            <a:ext cx="10943998" cy="5280932"/>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722086" y="278039"/>
            <a:ext cx="10515600" cy="608013"/>
          </a:xfrm>
        </p:spPr>
        <p:txBody>
          <a:bodyPr>
            <a:normAutofit/>
          </a:bodyPr>
          <a:lstStyle/>
          <a:p>
            <a:pPr algn="ctr" fontAlgn="base"/>
            <a:r>
              <a:rPr lang="en-US" sz="3200" b="1" dirty="0"/>
              <a:t>Problem 1 continued………..</a:t>
            </a:r>
          </a:p>
        </p:txBody>
      </p:sp>
      <p:sp>
        <p:nvSpPr>
          <p:cNvPr id="4" name="Content Placeholder 3"/>
          <p:cNvSpPr>
            <a:spLocks noGrp="1"/>
          </p:cNvSpPr>
          <p:nvPr>
            <p:ph idx="1"/>
          </p:nvPr>
        </p:nvSpPr>
        <p:spPr/>
        <p:txBody>
          <a:bodyPr/>
          <a:lstStyle/>
          <a:p>
            <a:endParaRPr lang="en-US"/>
          </a:p>
        </p:txBody>
      </p:sp>
      <p:grpSp>
        <p:nvGrpSpPr>
          <p:cNvPr id="7" name="Group 6"/>
          <p:cNvGrpSpPr/>
          <p:nvPr/>
        </p:nvGrpSpPr>
        <p:grpSpPr>
          <a:xfrm>
            <a:off x="846363" y="1239156"/>
            <a:ext cx="9981293" cy="4842330"/>
            <a:chOff x="846363" y="1239156"/>
            <a:chExt cx="9981293" cy="4842330"/>
          </a:xfrm>
        </p:grpSpPr>
        <p:pic>
          <p:nvPicPr>
            <p:cNvPr id="16386" name="Picture 2"/>
            <p:cNvPicPr>
              <a:picLocks noChangeAspect="1" noChangeArrowheads="1"/>
            </p:cNvPicPr>
            <p:nvPr/>
          </p:nvPicPr>
          <p:blipFill>
            <a:blip r:embed="rId2" cstate="print"/>
            <a:srcRect/>
            <a:stretch>
              <a:fillRect/>
            </a:stretch>
          </p:blipFill>
          <p:spPr bwMode="auto">
            <a:xfrm>
              <a:off x="846363" y="1239156"/>
              <a:ext cx="9981293" cy="3811815"/>
            </a:xfrm>
            <a:prstGeom prst="rect">
              <a:avLst/>
            </a:prstGeom>
            <a:noFill/>
            <a:ln w="9525">
              <a:noFill/>
              <a:miter lim="800000"/>
              <a:headEnd/>
              <a:tailEnd/>
            </a:ln>
          </p:spPr>
        </p:pic>
        <p:pic>
          <p:nvPicPr>
            <p:cNvPr id="16387" name="Picture 3"/>
            <p:cNvPicPr>
              <a:picLocks noChangeAspect="1" noChangeArrowheads="1"/>
            </p:cNvPicPr>
            <p:nvPr/>
          </p:nvPicPr>
          <p:blipFill>
            <a:blip r:embed="rId3" cstate="print"/>
            <a:srcRect/>
            <a:stretch>
              <a:fillRect/>
            </a:stretch>
          </p:blipFill>
          <p:spPr bwMode="auto">
            <a:xfrm>
              <a:off x="861785" y="5034870"/>
              <a:ext cx="9951357" cy="1046616"/>
            </a:xfrm>
            <a:prstGeom prst="rect">
              <a:avLst/>
            </a:prstGeom>
            <a:noFill/>
            <a:ln w="9525">
              <a:noFill/>
              <a:miter lim="800000"/>
              <a:headEnd/>
              <a:tailEnd/>
            </a:ln>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pPr algn="ctr"/>
            <a:r>
              <a:rPr lang="en-US" dirty="0"/>
              <a:t>Little o Notation</a:t>
            </a:r>
          </a:p>
        </p:txBody>
      </p:sp>
      <p:sp>
        <p:nvSpPr>
          <p:cNvPr id="3" name="Content Placeholder 2"/>
          <p:cNvSpPr>
            <a:spLocks noGrp="1"/>
          </p:cNvSpPr>
          <p:nvPr>
            <p:ph idx="1"/>
          </p:nvPr>
        </p:nvSpPr>
        <p:spPr/>
        <p:txBody>
          <a:bodyPr>
            <a:normAutofit/>
          </a:bodyPr>
          <a:lstStyle/>
          <a:p>
            <a:r>
              <a:rPr lang="en-US" dirty="0"/>
              <a:t>Little o notation is used to describe an upper bound that cannot be tight. In other words, loose upper bound of f(n).</a:t>
            </a:r>
          </a:p>
          <a:p>
            <a:r>
              <a:rPr lang="en-US" b="1" dirty="0"/>
              <a:t>The growth of function f(n) is strictly less than g(n).It means</a:t>
            </a:r>
            <a:endParaRPr lang="en-US" dirty="0"/>
          </a:p>
          <a:p>
            <a:r>
              <a:rPr lang="en-US" dirty="0"/>
              <a:t> f(n) grows </a:t>
            </a:r>
            <a:r>
              <a:rPr lang="en-US" b="1" dirty="0"/>
              <a:t>slower</a:t>
            </a:r>
            <a:r>
              <a:rPr lang="en-US" dirty="0"/>
              <a:t> than g(n) as n becomes very large.</a:t>
            </a:r>
          </a:p>
          <a:p>
            <a:r>
              <a:rPr lang="en-US" dirty="0"/>
              <a:t>f(n) will </a:t>
            </a:r>
            <a:r>
              <a:rPr lang="en-US" b="1" dirty="0"/>
              <a:t>never catch up</a:t>
            </a:r>
            <a:r>
              <a:rPr lang="en-US" dirty="0"/>
              <a:t> to g(n), no matter how big n gets.</a:t>
            </a:r>
          </a:p>
          <a:p>
            <a:endParaRPr lang="en-US" dirty="0"/>
          </a:p>
          <a:p>
            <a:endParaRPr lang="en-US" dirty="0"/>
          </a:p>
          <a:p>
            <a:endParaRPr lang="en-US" dirty="0"/>
          </a:p>
          <a:p>
            <a:pPr>
              <a:buNone/>
            </a:pPr>
            <a:endParaRPr lang="en-US" dirty="0"/>
          </a:p>
          <a:p>
            <a:endParaRPr lang="en-US" dirty="0"/>
          </a:p>
          <a:p>
            <a:endParaRPr lang="en-US" dirty="0"/>
          </a:p>
          <a:p>
            <a:endParaRPr lang="en-US" dirty="0"/>
          </a:p>
          <a:p>
            <a:endParaRPr lang="en-US" dirty="0"/>
          </a:p>
          <a:p>
            <a:endParaRPr lang="en-US" dirty="0"/>
          </a:p>
          <a:p>
            <a:endParaRPr lang="en-US" dirty="0"/>
          </a:p>
          <a:p>
            <a:pPr>
              <a:buNone/>
            </a:pP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2708049" y="4848905"/>
            <a:ext cx="7292294" cy="1493837"/>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9561"/>
          </a:xfrm>
        </p:spPr>
        <p:txBody>
          <a:bodyPr>
            <a:normAutofit fontScale="90000"/>
          </a:bodyPr>
          <a:lstStyle/>
          <a:p>
            <a:r>
              <a:rPr lang="en-US" b="1" dirty="0"/>
              <a:t>Example Slow Walker </a:t>
            </a:r>
            <a:r>
              <a:rPr lang="en-US" b="1" dirty="0" err="1"/>
              <a:t>vs</a:t>
            </a:r>
            <a:r>
              <a:rPr lang="en-US" b="1" dirty="0"/>
              <a:t> Fast Runner </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dirty="0"/>
              <a:t>Imagine:</a:t>
            </a:r>
          </a:p>
          <a:p>
            <a:r>
              <a:rPr lang="en-US" b="1" dirty="0"/>
              <a:t>f(n)</a:t>
            </a:r>
            <a:r>
              <a:rPr lang="en-US" dirty="0"/>
              <a:t> is the </a:t>
            </a:r>
            <a:r>
              <a:rPr lang="en-US" b="1" dirty="0"/>
              <a:t>time a slow walker</a:t>
            </a:r>
            <a:r>
              <a:rPr lang="en-US" dirty="0"/>
              <a:t> takes to finish a race as the distance increases.</a:t>
            </a:r>
          </a:p>
          <a:p>
            <a:r>
              <a:rPr lang="en-US" b="1" dirty="0"/>
              <a:t>g(n)</a:t>
            </a:r>
            <a:r>
              <a:rPr lang="en-US" dirty="0"/>
              <a:t> is the </a:t>
            </a:r>
            <a:r>
              <a:rPr lang="en-US" b="1" dirty="0"/>
              <a:t>time a fast runner</a:t>
            </a:r>
            <a:r>
              <a:rPr lang="en-US" dirty="0"/>
              <a:t> takes.</a:t>
            </a:r>
          </a:p>
          <a:p>
            <a:r>
              <a:rPr lang="en-US" dirty="0"/>
              <a:t>Now suppose:</a:t>
            </a:r>
          </a:p>
          <a:p>
            <a:r>
              <a:rPr lang="en-US" dirty="0"/>
              <a:t>As the race gets longer and longer (distance = n),</a:t>
            </a:r>
            <a:br>
              <a:rPr lang="en-US" dirty="0"/>
            </a:br>
            <a:r>
              <a:rPr lang="en-US" dirty="0"/>
              <a:t>the </a:t>
            </a:r>
            <a:r>
              <a:rPr lang="en-US" b="1" dirty="0"/>
              <a:t>walker becomes much slower</a:t>
            </a:r>
            <a:r>
              <a:rPr lang="en-US" dirty="0"/>
              <a:t> compared to the runner.</a:t>
            </a:r>
          </a:p>
          <a:p>
            <a:r>
              <a:rPr lang="en-US" dirty="0"/>
              <a:t>Even though both need more time as distance grows,</a:t>
            </a:r>
            <a:br>
              <a:rPr lang="en-US" dirty="0"/>
            </a:br>
            <a:r>
              <a:rPr lang="en-US" dirty="0"/>
              <a:t>the walker's time grows </a:t>
            </a:r>
            <a:r>
              <a:rPr lang="en-US" b="1" dirty="0"/>
              <a:t>much more slowly</a:t>
            </a:r>
            <a:r>
              <a:rPr lang="en-US" dirty="0"/>
              <a:t> — </a:t>
            </a:r>
            <a:r>
              <a:rPr lang="en-US" b="1" dirty="0"/>
              <a:t>it never catches up</a:t>
            </a:r>
            <a:r>
              <a:rPr lang="en-US" dirty="0"/>
              <a:t> with the runner.</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Difference Between Big O (O) and Little o(o)</a:t>
            </a:r>
          </a:p>
        </p:txBody>
      </p:sp>
      <p:pic>
        <p:nvPicPr>
          <p:cNvPr id="11265" name="Picture 1"/>
          <p:cNvPicPr>
            <a:picLocks noChangeAspect="1" noChangeArrowheads="1"/>
          </p:cNvPicPr>
          <p:nvPr/>
        </p:nvPicPr>
        <p:blipFill>
          <a:blip r:embed="rId2" cstate="print"/>
          <a:srcRect/>
          <a:stretch>
            <a:fillRect/>
          </a:stretch>
        </p:blipFill>
        <p:spPr bwMode="auto">
          <a:xfrm>
            <a:off x="914400" y="1582057"/>
            <a:ext cx="10551886" cy="4383314"/>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pPr algn="ctr"/>
            <a:r>
              <a:rPr lang="en-US" dirty="0"/>
              <a:t>Little omega  </a:t>
            </a:r>
            <a:r>
              <a:rPr lang="el-GR" dirty="0"/>
              <a:t>(ω)</a:t>
            </a:r>
            <a:r>
              <a:rPr lang="en-US" dirty="0"/>
              <a:t>Notation</a:t>
            </a:r>
          </a:p>
        </p:txBody>
      </p:sp>
      <p:sp>
        <p:nvSpPr>
          <p:cNvPr id="3" name="Content Placeholder 2"/>
          <p:cNvSpPr>
            <a:spLocks noGrp="1"/>
          </p:cNvSpPr>
          <p:nvPr>
            <p:ph idx="1"/>
          </p:nvPr>
        </p:nvSpPr>
        <p:spPr>
          <a:xfrm>
            <a:off x="838200" y="1262743"/>
            <a:ext cx="10515600" cy="4914220"/>
          </a:xfrm>
        </p:spPr>
        <p:txBody>
          <a:bodyPr>
            <a:normAutofit/>
          </a:bodyPr>
          <a:lstStyle/>
          <a:p>
            <a:r>
              <a:rPr lang="en-US" dirty="0"/>
              <a:t>Little omega (ω) notation describes the </a:t>
            </a:r>
            <a:r>
              <a:rPr lang="en-US" b="1" dirty="0"/>
              <a:t>strict lower bound</a:t>
            </a:r>
            <a:r>
              <a:rPr lang="en-US" dirty="0"/>
              <a:t> of a function's growth rate. </a:t>
            </a:r>
          </a:p>
          <a:p>
            <a:r>
              <a:rPr lang="en-US" b="1" dirty="0"/>
              <a:t>The function f(n) grows strictly faster than g(n)</a:t>
            </a:r>
            <a:r>
              <a:rPr lang="en-US" dirty="0"/>
              <a:t> as n becomes very large as n→∞.</a:t>
            </a:r>
          </a:p>
          <a:p>
            <a:r>
              <a:rPr lang="en-US" dirty="0"/>
              <a:t>f(n) is </a:t>
            </a:r>
            <a:r>
              <a:rPr lang="en-US" b="1" dirty="0"/>
              <a:t>always more</a:t>
            </a:r>
            <a:r>
              <a:rPr lang="en-US" dirty="0"/>
              <a:t> than g(n) after a point.</a:t>
            </a:r>
          </a:p>
          <a:p>
            <a:r>
              <a:rPr lang="en-US" dirty="0"/>
              <a:t>g(n) is a </a:t>
            </a:r>
            <a:r>
              <a:rPr lang="en-US" b="1" dirty="0"/>
              <a:t>loose lower bound</a:t>
            </a:r>
            <a:r>
              <a:rPr lang="en-US" dirty="0"/>
              <a:t> of f(n) — but not tight.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buNone/>
            </a:pPr>
            <a:endParaRPr lang="en-US" dirty="0"/>
          </a:p>
        </p:txBody>
      </p:sp>
      <p:pic>
        <p:nvPicPr>
          <p:cNvPr id="39940" name="Picture 4"/>
          <p:cNvPicPr>
            <a:picLocks noChangeAspect="1" noChangeArrowheads="1"/>
          </p:cNvPicPr>
          <p:nvPr/>
        </p:nvPicPr>
        <p:blipFill>
          <a:blip r:embed="rId2" cstate="print"/>
          <a:srcRect/>
          <a:stretch>
            <a:fillRect/>
          </a:stretch>
        </p:blipFill>
        <p:spPr bwMode="auto">
          <a:xfrm>
            <a:off x="2119084" y="4310742"/>
            <a:ext cx="8461829" cy="1799771"/>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pPr algn="ctr"/>
            <a:r>
              <a:rPr lang="en-US" dirty="0"/>
              <a:t>Little omega  </a:t>
            </a:r>
            <a:r>
              <a:rPr lang="el-GR" dirty="0"/>
              <a:t>(ω)</a:t>
            </a:r>
            <a:r>
              <a:rPr lang="en-US" dirty="0"/>
              <a:t>Notation</a:t>
            </a:r>
          </a:p>
        </p:txBody>
      </p:sp>
      <p:sp>
        <p:nvSpPr>
          <p:cNvPr id="3" name="Content Placeholder 2"/>
          <p:cNvSpPr>
            <a:spLocks noGrp="1"/>
          </p:cNvSpPr>
          <p:nvPr>
            <p:ph idx="1"/>
          </p:nvPr>
        </p:nvSpPr>
        <p:spPr>
          <a:xfrm>
            <a:off x="838200" y="1262743"/>
            <a:ext cx="10515600" cy="4914220"/>
          </a:xfrm>
        </p:spPr>
        <p:txBody>
          <a:bodyPr>
            <a:normAutofit/>
          </a:bodyPr>
          <a:lstStyle/>
          <a:p>
            <a:r>
              <a:rPr lang="en-US" b="1" dirty="0"/>
              <a:t>Real-Life Example</a:t>
            </a:r>
          </a:p>
          <a:p>
            <a:r>
              <a:rPr lang="en-US" dirty="0"/>
              <a:t>Imagine:</a:t>
            </a:r>
          </a:p>
          <a:p>
            <a:r>
              <a:rPr lang="en-US" dirty="0"/>
              <a:t>f(n) = speed of a car</a:t>
            </a:r>
          </a:p>
          <a:p>
            <a:r>
              <a:rPr lang="en-US" dirty="0"/>
              <a:t>g(n) = speed of a cycle</a:t>
            </a:r>
          </a:p>
          <a:p>
            <a:r>
              <a:rPr lang="en-US" dirty="0"/>
              <a:t>As time (n) goes on, the car </a:t>
            </a:r>
            <a:r>
              <a:rPr lang="en-US" b="1" dirty="0"/>
              <a:t>always becomes faster</a:t>
            </a:r>
            <a:r>
              <a:rPr lang="en-US" dirty="0"/>
              <a:t> than the cycle — and </a:t>
            </a:r>
            <a:r>
              <a:rPr lang="en-US" b="1" dirty="0"/>
              <a:t>keeps increasing the gap</a:t>
            </a:r>
            <a:r>
              <a:rPr lang="en-US" dirty="0"/>
              <a:t>.</a:t>
            </a:r>
          </a:p>
          <a:p>
            <a:r>
              <a:rPr lang="en-US" dirty="0"/>
              <a:t>So,</a:t>
            </a:r>
            <a:br>
              <a:rPr lang="en-US" dirty="0"/>
            </a:br>
            <a:r>
              <a:rPr lang="en-US" dirty="0"/>
              <a:t>Car speed = ω(Cycle speed)</a:t>
            </a:r>
            <a:br>
              <a:rPr lang="en-US" dirty="0"/>
            </a:br>
            <a:r>
              <a:rPr lang="en-US" dirty="0"/>
              <a:t>The car always overtakes and grows faster.</a:t>
            </a:r>
          </a:p>
          <a:p>
            <a:pPr>
              <a:buNone/>
            </a:pP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475116" y="155846"/>
            <a:ext cx="11426597" cy="6520726"/>
            <a:chOff x="475116" y="155846"/>
            <a:chExt cx="11426597" cy="6520726"/>
          </a:xfrm>
        </p:grpSpPr>
        <p:pic>
          <p:nvPicPr>
            <p:cNvPr id="17412" name="Picture 4"/>
            <p:cNvPicPr>
              <a:picLocks noChangeAspect="1" noChangeArrowheads="1"/>
            </p:cNvPicPr>
            <p:nvPr/>
          </p:nvPicPr>
          <p:blipFill>
            <a:blip r:embed="rId2" cstate="print"/>
            <a:srcRect/>
            <a:stretch>
              <a:fillRect/>
            </a:stretch>
          </p:blipFill>
          <p:spPr bwMode="auto">
            <a:xfrm>
              <a:off x="8998858" y="155846"/>
              <a:ext cx="2873827" cy="1484311"/>
            </a:xfrm>
            <a:prstGeom prst="rect">
              <a:avLst/>
            </a:prstGeom>
            <a:noFill/>
            <a:ln w="9525">
              <a:noFill/>
              <a:miter lim="800000"/>
              <a:headEnd/>
              <a:tailEnd/>
            </a:ln>
          </p:spPr>
        </p:pic>
        <p:pic>
          <p:nvPicPr>
            <p:cNvPr id="17413" name="Picture 5"/>
            <p:cNvPicPr>
              <a:picLocks noChangeAspect="1" noChangeArrowheads="1"/>
            </p:cNvPicPr>
            <p:nvPr/>
          </p:nvPicPr>
          <p:blipFill>
            <a:blip r:embed="rId3" cstate="print"/>
            <a:srcRect/>
            <a:stretch>
              <a:fillRect/>
            </a:stretch>
          </p:blipFill>
          <p:spPr bwMode="auto">
            <a:xfrm>
              <a:off x="9011784" y="1669879"/>
              <a:ext cx="2889929" cy="1813550"/>
            </a:xfrm>
            <a:prstGeom prst="rect">
              <a:avLst/>
            </a:prstGeom>
            <a:noFill/>
            <a:ln w="9525">
              <a:noFill/>
              <a:miter lim="800000"/>
              <a:headEnd/>
              <a:tailEnd/>
            </a:ln>
          </p:spPr>
        </p:pic>
        <p:pic>
          <p:nvPicPr>
            <p:cNvPr id="17414" name="Picture 6"/>
            <p:cNvPicPr>
              <a:picLocks noChangeAspect="1" noChangeArrowheads="1"/>
            </p:cNvPicPr>
            <p:nvPr/>
          </p:nvPicPr>
          <p:blipFill>
            <a:blip r:embed="rId4" cstate="print"/>
            <a:srcRect/>
            <a:stretch>
              <a:fillRect/>
            </a:stretch>
          </p:blipFill>
          <p:spPr bwMode="auto">
            <a:xfrm>
              <a:off x="8996588" y="3570515"/>
              <a:ext cx="2890611" cy="1524032"/>
            </a:xfrm>
            <a:prstGeom prst="rect">
              <a:avLst/>
            </a:prstGeom>
            <a:noFill/>
            <a:ln w="9525">
              <a:noFill/>
              <a:miter lim="800000"/>
              <a:headEnd/>
              <a:tailEnd/>
            </a:ln>
          </p:spPr>
        </p:pic>
        <p:pic>
          <p:nvPicPr>
            <p:cNvPr id="17415" name="Picture 7"/>
            <p:cNvPicPr>
              <a:picLocks noChangeAspect="1" noChangeArrowheads="1"/>
            </p:cNvPicPr>
            <p:nvPr/>
          </p:nvPicPr>
          <p:blipFill>
            <a:blip r:embed="rId5" cstate="print"/>
            <a:srcRect/>
            <a:stretch>
              <a:fillRect/>
            </a:stretch>
          </p:blipFill>
          <p:spPr bwMode="auto">
            <a:xfrm>
              <a:off x="8938532" y="5228998"/>
              <a:ext cx="2934154" cy="1447574"/>
            </a:xfrm>
            <a:prstGeom prst="rect">
              <a:avLst/>
            </a:prstGeom>
            <a:noFill/>
            <a:ln w="9525">
              <a:noFill/>
              <a:miter lim="800000"/>
              <a:headEnd/>
              <a:tailEnd/>
            </a:ln>
          </p:spPr>
        </p:pic>
        <p:grpSp>
          <p:nvGrpSpPr>
            <p:cNvPr id="3" name="Group 15"/>
            <p:cNvGrpSpPr/>
            <p:nvPr/>
          </p:nvGrpSpPr>
          <p:grpSpPr>
            <a:xfrm>
              <a:off x="475116" y="537029"/>
              <a:ext cx="8247969" cy="5733142"/>
              <a:chOff x="475117" y="1190171"/>
              <a:chExt cx="7899626" cy="4601029"/>
            </a:xfrm>
          </p:grpSpPr>
          <p:pic>
            <p:nvPicPr>
              <p:cNvPr id="17416" name="Picture 8"/>
              <p:cNvPicPr>
                <a:picLocks noChangeAspect="1" noChangeArrowheads="1"/>
              </p:cNvPicPr>
              <p:nvPr/>
            </p:nvPicPr>
            <p:blipFill>
              <a:blip r:embed="rId6" cstate="print"/>
              <a:srcRect/>
              <a:stretch>
                <a:fillRect/>
              </a:stretch>
            </p:blipFill>
            <p:spPr bwMode="auto">
              <a:xfrm>
                <a:off x="6011409" y="1190171"/>
                <a:ext cx="2363334" cy="4601029"/>
              </a:xfrm>
              <a:prstGeom prst="rect">
                <a:avLst/>
              </a:prstGeom>
              <a:noFill/>
              <a:ln w="9525">
                <a:noFill/>
                <a:miter lim="800000"/>
                <a:headEnd/>
                <a:tailEnd/>
              </a:ln>
            </p:spPr>
          </p:pic>
          <p:pic>
            <p:nvPicPr>
              <p:cNvPr id="17417" name="Picture 9"/>
              <p:cNvPicPr>
                <a:picLocks noChangeAspect="1" noChangeArrowheads="1"/>
              </p:cNvPicPr>
              <p:nvPr/>
            </p:nvPicPr>
            <p:blipFill>
              <a:blip r:embed="rId7" cstate="print"/>
              <a:srcRect/>
              <a:stretch>
                <a:fillRect/>
              </a:stretch>
            </p:blipFill>
            <p:spPr bwMode="auto">
              <a:xfrm>
                <a:off x="475117" y="1195842"/>
                <a:ext cx="5610225" cy="4580844"/>
              </a:xfrm>
              <a:prstGeom prst="rect">
                <a:avLst/>
              </a:prstGeom>
              <a:noFill/>
              <a:ln w="9525">
                <a:noFill/>
                <a:miter lim="800000"/>
                <a:headEnd/>
                <a:tailEnd/>
              </a:ln>
            </p:spPr>
          </p:pic>
        </p:gr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174174" y="0"/>
          <a:ext cx="11887200" cy="6537872"/>
        </p:xfrm>
        <a:graphic>
          <a:graphicData uri="http://schemas.openxmlformats.org/drawingml/2006/table">
            <a:tbl>
              <a:tblPr/>
              <a:tblGrid>
                <a:gridCol w="885371">
                  <a:extLst>
                    <a:ext uri="{9D8B030D-6E8A-4147-A177-3AD203B41FA5}">
                      <a16:colId xmlns:a16="http://schemas.microsoft.com/office/drawing/2014/main" val="20000"/>
                    </a:ext>
                  </a:extLst>
                </a:gridCol>
                <a:gridCol w="3831772">
                  <a:extLst>
                    <a:ext uri="{9D8B030D-6E8A-4147-A177-3AD203B41FA5}">
                      <a16:colId xmlns:a16="http://schemas.microsoft.com/office/drawing/2014/main" val="20001"/>
                    </a:ext>
                  </a:extLst>
                </a:gridCol>
                <a:gridCol w="3077028">
                  <a:extLst>
                    <a:ext uri="{9D8B030D-6E8A-4147-A177-3AD203B41FA5}">
                      <a16:colId xmlns:a16="http://schemas.microsoft.com/office/drawing/2014/main" val="20002"/>
                    </a:ext>
                  </a:extLst>
                </a:gridCol>
                <a:gridCol w="4093029">
                  <a:extLst>
                    <a:ext uri="{9D8B030D-6E8A-4147-A177-3AD203B41FA5}">
                      <a16:colId xmlns:a16="http://schemas.microsoft.com/office/drawing/2014/main" val="20003"/>
                    </a:ext>
                  </a:extLst>
                </a:gridCol>
              </a:tblGrid>
              <a:tr h="333829">
                <a:tc>
                  <a:txBody>
                    <a:bodyPr/>
                    <a:lstStyle/>
                    <a:p>
                      <a:pPr algn="ctr" rtl="0" fontAlgn="base"/>
                      <a:r>
                        <a:rPr lang="en-US" sz="2000" b="1" dirty="0" err="1"/>
                        <a:t>S.No</a:t>
                      </a:r>
                      <a:r>
                        <a:rPr lang="en-US" sz="2000" b="1" dirty="0"/>
                        <a:t>.</a:t>
                      </a:r>
                    </a:p>
                  </a:txBody>
                  <a:tcPr marL="29886" marR="29886" marT="74714" marB="7471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2000" b="1" dirty="0"/>
                        <a:t>Big O</a:t>
                      </a:r>
                    </a:p>
                  </a:txBody>
                  <a:tcPr marL="74714" marR="74714" marT="74714" marB="7471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2000" b="1" dirty="0"/>
                        <a:t>Big Omega (</a:t>
                      </a:r>
                      <a:r>
                        <a:rPr lang="el-GR" sz="2000" b="1" dirty="0"/>
                        <a:t>Ω)</a:t>
                      </a:r>
                    </a:p>
                  </a:txBody>
                  <a:tcPr marL="74714" marR="74714" marT="74714" marB="7471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2000" b="1" dirty="0"/>
                        <a:t>Big Theta (</a:t>
                      </a:r>
                      <a:r>
                        <a:rPr lang="el-GR" sz="2000" b="1" dirty="0"/>
                        <a:t>Θ)</a:t>
                      </a:r>
                    </a:p>
                  </a:txBody>
                  <a:tcPr marL="74714" marR="74714" marT="74714" marB="7471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252660">
                <a:tc>
                  <a:txBody>
                    <a:bodyPr/>
                    <a:lstStyle/>
                    <a:p>
                      <a:pPr algn="ctr" fontAlgn="base"/>
                      <a:r>
                        <a:rPr lang="en-US" sz="2000" b="1" dirty="0"/>
                        <a:t>1.</a:t>
                      </a:r>
                    </a:p>
                  </a:txBody>
                  <a:tcPr marL="29886" marR="29886" marT="44784" marB="447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It is like (&lt;=) </a:t>
                      </a:r>
                      <a:br>
                        <a:rPr lang="en-US" sz="1800" b="0"/>
                      </a:br>
                      <a:r>
                        <a:rPr lang="en-US" sz="1800" b="0"/>
                        <a:t>rate of growth of an algorithm is less than or equal to a specific value. </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t>It is like (&gt;=) </a:t>
                      </a:r>
                      <a:br>
                        <a:rPr lang="en-US" sz="1800" b="0" dirty="0"/>
                      </a:br>
                      <a:r>
                        <a:rPr lang="en-US" sz="1800" b="0" dirty="0"/>
                        <a:t>rate of growth is greater than or equal to a specified value.</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It is like (==) </a:t>
                      </a:r>
                      <a:br>
                        <a:rPr lang="en-US" sz="1800" b="0"/>
                      </a:br>
                      <a:r>
                        <a:rPr lang="en-US" sz="1800" b="0"/>
                        <a:t>meaning the rate of growth is equal to a specified value.</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15283">
                <a:tc>
                  <a:txBody>
                    <a:bodyPr/>
                    <a:lstStyle/>
                    <a:p>
                      <a:pPr algn="ctr" fontAlgn="base"/>
                      <a:r>
                        <a:rPr lang="en-US" sz="2000" b="1" dirty="0"/>
                        <a:t>2.</a:t>
                      </a:r>
                    </a:p>
                  </a:txBody>
                  <a:tcPr marL="29886" marR="29886" marT="44784" marB="447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The upper bound of algorithm is represented by Big O notation. Only the above function is bounded by Big O. Asymptotic upper bound is  given by Big O notation.</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t>The algorithm’s lower bound is represented by Omega notation. The asymptotic lower bound is given by Omega notation.</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The bounding of function from above and below is represented by theta notation. The exact asymptotic behavior is done by this theta notation.</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7971">
                <a:tc>
                  <a:txBody>
                    <a:bodyPr/>
                    <a:lstStyle/>
                    <a:p>
                      <a:pPr algn="ctr" fontAlgn="base"/>
                      <a:r>
                        <a:rPr lang="en-US" sz="2000" b="1" dirty="0"/>
                        <a:t>3.</a:t>
                      </a:r>
                    </a:p>
                  </a:txBody>
                  <a:tcPr marL="29886" marR="29886" marT="44784" marB="447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Big O – Upper Bound</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t>Big Omega (Ω) – Lower Bound</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t>Big Theta (Θ) – Tight Bound</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788871">
                <a:tc>
                  <a:txBody>
                    <a:bodyPr/>
                    <a:lstStyle/>
                    <a:p>
                      <a:pPr algn="ctr" fontAlgn="base"/>
                      <a:r>
                        <a:rPr lang="en-US" sz="2000" b="1" dirty="0"/>
                        <a:t>4.</a:t>
                      </a:r>
                    </a:p>
                  </a:txBody>
                  <a:tcPr marL="29886" marR="29886" marT="44784" marB="447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It is define as upper bound and upper bound on an algorithm is the most amount of time required ( the worst case performance).</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t>It is define as lower bound and lower bound on an algorithm is the least amount of time required ( the most efficient way possible, in other words best case).</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It is define as tightest bound and tightest bound is the best of all the worst case times that the algorithm can take.</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1550">
                <a:tc>
                  <a:txBody>
                    <a:bodyPr/>
                    <a:lstStyle/>
                    <a:p>
                      <a:pPr algn="ctr" fontAlgn="base"/>
                      <a:r>
                        <a:rPr lang="en-US" sz="2000" b="1" dirty="0"/>
                        <a:t>5.</a:t>
                      </a:r>
                    </a:p>
                  </a:txBody>
                  <a:tcPr marL="29886" marR="29886" marT="44784" marB="447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Mathematically: Big Oh is 0 &lt;= f(n) &lt;= Cg(n) for all n &gt;= n0</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t>Mathematically: Big Omega is 0 &lt;= Cg(n) &lt;= f(n) for all n &gt;= n0</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t>Mathematically – Big Theta is 0 &lt;= C2g(n) &lt;= f(n) &lt;= C1g(n) for n &gt;= n0</a:t>
                      </a:r>
                    </a:p>
                  </a:txBody>
                  <a:tcPr marL="74714" marR="74714" marT="104599" marB="10459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normAutofit fontScale="90000"/>
          </a:bodyPr>
          <a:lstStyle/>
          <a:p>
            <a:pPr algn="ctr"/>
            <a:r>
              <a:rPr lang="en-US" dirty="0"/>
              <a:t>Difference Between Big Omega (Ω) and Little Omega (ω)</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buNone/>
            </a:pPr>
            <a:endParaRPr lang="en-US" dirty="0"/>
          </a:p>
        </p:txBody>
      </p:sp>
      <p:pic>
        <p:nvPicPr>
          <p:cNvPr id="40962" name="Picture 2"/>
          <p:cNvPicPr>
            <a:picLocks noChangeAspect="1" noChangeArrowheads="1"/>
          </p:cNvPicPr>
          <p:nvPr/>
        </p:nvPicPr>
        <p:blipFill>
          <a:blip r:embed="rId2" cstate="print"/>
          <a:srcRect/>
          <a:stretch>
            <a:fillRect/>
          </a:stretch>
        </p:blipFill>
        <p:spPr bwMode="auto">
          <a:xfrm>
            <a:off x="943428" y="1187904"/>
            <a:ext cx="10769601" cy="4821010"/>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613646" y="1764493"/>
            <a:ext cx="7439425" cy="4167046"/>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2219711" y="2069740"/>
            <a:ext cx="5288016" cy="3936612"/>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3729317" y="2274168"/>
            <a:ext cx="5003587" cy="3443135"/>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714" y="-1"/>
            <a:ext cx="10515600" cy="885371"/>
          </a:xfrm>
        </p:spPr>
        <p:txBody>
          <a:bodyPr>
            <a:noAutofit/>
          </a:bodyPr>
          <a:lstStyle/>
          <a:p>
            <a:pPr algn="ctr"/>
            <a:r>
              <a:rPr lang="en-US" sz="2800" b="1" dirty="0"/>
              <a:t>Types of analysis of </a:t>
            </a:r>
            <a:r>
              <a:rPr lang="en-US" sz="2800" b="1" dirty="0" err="1"/>
              <a:t>algo</a:t>
            </a:r>
            <a:r>
              <a:rPr lang="en-US" sz="2800" b="1" dirty="0"/>
              <a:t> - Best case, average case, and worst-case</a:t>
            </a:r>
          </a:p>
        </p:txBody>
      </p:sp>
      <p:sp>
        <p:nvSpPr>
          <p:cNvPr id="3" name="Content Placeholder 2"/>
          <p:cNvSpPr>
            <a:spLocks noGrp="1"/>
          </p:cNvSpPr>
          <p:nvPr>
            <p:ph idx="1"/>
          </p:nvPr>
        </p:nvSpPr>
        <p:spPr>
          <a:xfrm>
            <a:off x="838200" y="1349829"/>
            <a:ext cx="11136086" cy="5167085"/>
          </a:xfrm>
        </p:spPr>
        <p:txBody>
          <a:bodyPr>
            <a:noAutofit/>
          </a:bodyPr>
          <a:lstStyle/>
          <a:p>
            <a:r>
              <a:rPr lang="en-US" sz="2400" dirty="0"/>
              <a:t>When we study algorithms, we want to know </a:t>
            </a:r>
            <a:r>
              <a:rPr lang="en-US" sz="2400" b="1" dirty="0"/>
              <a:t>how fast they run</a:t>
            </a:r>
            <a:r>
              <a:rPr lang="en-US" sz="2400" dirty="0"/>
              <a:t> and </a:t>
            </a:r>
            <a:r>
              <a:rPr lang="en-US" sz="2400" b="1" dirty="0"/>
              <a:t>how much memory they use</a:t>
            </a:r>
            <a:r>
              <a:rPr lang="en-US" sz="2400" dirty="0"/>
              <a:t>.</a:t>
            </a:r>
            <a:br>
              <a:rPr lang="en-US" sz="2400" dirty="0"/>
            </a:br>
            <a:r>
              <a:rPr lang="en-US" sz="2400" dirty="0"/>
              <a:t>This helps us understand how </a:t>
            </a:r>
            <a:r>
              <a:rPr lang="en-US" sz="2400" b="1" dirty="0"/>
              <a:t>efficient</a:t>
            </a:r>
            <a:r>
              <a:rPr lang="en-US" sz="2400" dirty="0"/>
              <a:t> an algorithm is.</a:t>
            </a:r>
          </a:p>
          <a:p>
            <a:r>
              <a:rPr lang="en-US" sz="2400" b="1" dirty="0"/>
              <a:t>Time and Space Complexity:</a:t>
            </a:r>
          </a:p>
          <a:p>
            <a:pPr lvl="1"/>
            <a:r>
              <a:rPr lang="en-US" sz="2000" b="1" dirty="0"/>
              <a:t>Time complexity</a:t>
            </a:r>
            <a:r>
              <a:rPr lang="en-US" sz="2000" dirty="0"/>
              <a:t> = How long the algorithm takes to run</a:t>
            </a:r>
          </a:p>
          <a:p>
            <a:pPr lvl="1"/>
            <a:r>
              <a:rPr lang="en-US" sz="2000" b="1" dirty="0"/>
              <a:t>Space complexity</a:t>
            </a:r>
            <a:r>
              <a:rPr lang="en-US" sz="2000" dirty="0"/>
              <a:t> = How much memory it uses</a:t>
            </a:r>
          </a:p>
          <a:p>
            <a:endParaRPr lang="en-US" sz="2400" dirty="0"/>
          </a:p>
          <a:p>
            <a:r>
              <a:rPr lang="en-US" sz="2400" b="1" dirty="0"/>
              <a:t>Worst Case:</a:t>
            </a:r>
          </a:p>
          <a:p>
            <a:r>
              <a:rPr lang="en-US" sz="2400" dirty="0"/>
              <a:t> It shows the </a:t>
            </a:r>
            <a:r>
              <a:rPr lang="en-US" sz="2400" b="1" dirty="0"/>
              <a:t>maximum time</a:t>
            </a:r>
            <a:r>
              <a:rPr lang="en-US" sz="2400" dirty="0"/>
              <a:t> an algorithm might take to finish.</a:t>
            </a:r>
          </a:p>
          <a:p>
            <a:r>
              <a:rPr lang="en-US" sz="2400" dirty="0"/>
              <a:t>We assume the </a:t>
            </a:r>
            <a:r>
              <a:rPr lang="en-US" sz="2400" b="1" dirty="0"/>
              <a:t>most difficult input</a:t>
            </a:r>
            <a:r>
              <a:rPr lang="en-US" sz="2400" dirty="0"/>
              <a:t> for the algorithm.</a:t>
            </a:r>
          </a:p>
          <a:p>
            <a:r>
              <a:rPr lang="en-US" sz="2400" dirty="0"/>
              <a:t>It helps us know the </a:t>
            </a:r>
            <a:r>
              <a:rPr lang="en-US" sz="2400" b="1" dirty="0"/>
              <a:t>upper bound</a:t>
            </a:r>
            <a:r>
              <a:rPr lang="en-US" sz="2400" dirty="0"/>
              <a:t> (maximum limit) of time.</a:t>
            </a:r>
          </a:p>
          <a:p>
            <a:r>
              <a:rPr lang="en-US" sz="2400" dirty="0"/>
              <a:t>For </a:t>
            </a:r>
            <a:r>
              <a:rPr lang="en-US" sz="2400" u="sng" dirty="0">
                <a:hlinkClick r:id="rId2"/>
              </a:rPr>
              <a:t>linear search</a:t>
            </a:r>
            <a:r>
              <a:rPr lang="en-US" sz="2400" dirty="0"/>
              <a:t>, the worst case occurs when x is present at the last location. So Time complexity (Worst case) = </a:t>
            </a:r>
            <a:r>
              <a:rPr lang="en-US" sz="2400" b="1" dirty="0"/>
              <a:t>O(n)</a:t>
            </a:r>
            <a:r>
              <a:rPr lang="en-US" sz="2400" dirty="0"/>
              <a: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38"/>
            <a:ext cx="10515600" cy="621846"/>
          </a:xfrm>
        </p:spPr>
        <p:txBody>
          <a:bodyPr>
            <a:noAutofit/>
          </a:bodyPr>
          <a:lstStyle/>
          <a:p>
            <a:pPr algn="ctr"/>
            <a:r>
              <a:rPr lang="en-US" sz="2800" b="1" dirty="0"/>
              <a:t>Types of analysis of </a:t>
            </a:r>
            <a:r>
              <a:rPr lang="en-US" sz="2800" b="1" dirty="0" err="1"/>
              <a:t>algo</a:t>
            </a:r>
            <a:r>
              <a:rPr lang="en-US" sz="2800" b="1" dirty="0"/>
              <a:t> - Best case, average case, and worst-case</a:t>
            </a:r>
          </a:p>
        </p:txBody>
      </p:sp>
      <p:sp>
        <p:nvSpPr>
          <p:cNvPr id="3" name="Content Placeholder 2"/>
          <p:cNvSpPr>
            <a:spLocks noGrp="1"/>
          </p:cNvSpPr>
          <p:nvPr>
            <p:ph idx="1"/>
          </p:nvPr>
        </p:nvSpPr>
        <p:spPr>
          <a:xfrm>
            <a:off x="838200" y="1117599"/>
            <a:ext cx="10816771" cy="4804230"/>
          </a:xfrm>
        </p:spPr>
        <p:txBody>
          <a:bodyPr>
            <a:noAutofit/>
          </a:bodyPr>
          <a:lstStyle/>
          <a:p>
            <a:r>
              <a:rPr lang="en-US" sz="3200" b="1" dirty="0"/>
              <a:t>Worst-case analysis </a:t>
            </a:r>
            <a:r>
              <a:rPr lang="en-US" sz="2400" dirty="0"/>
              <a:t>is used in critical systems where </a:t>
            </a:r>
            <a:r>
              <a:rPr lang="en-US" sz="2400" b="1" dirty="0"/>
              <a:t>failure is not an option</a:t>
            </a:r>
            <a:r>
              <a:rPr lang="en-US" sz="2400" dirty="0"/>
              <a:t> and performance must be guaranteed, no matter how extreme the situation is.</a:t>
            </a:r>
          </a:p>
          <a:p>
            <a:r>
              <a:rPr lang="en-US" sz="2400" b="1" dirty="0"/>
              <a:t>Banking Transactions</a:t>
            </a:r>
            <a:r>
              <a:rPr lang="en-US" sz="2400" dirty="0"/>
              <a:t>: In banking systems, even if there's heavy traffic or the database is overloaded, the system must process transactions without delays. </a:t>
            </a:r>
            <a:r>
              <a:rPr lang="en-US" sz="2400" b="1" dirty="0"/>
              <a:t>Worst-case analysis</a:t>
            </a:r>
            <a:r>
              <a:rPr lang="en-US" sz="2400" dirty="0"/>
              <a:t> ensures the system remains fast and reliable under such conditions.</a:t>
            </a:r>
          </a:p>
          <a:p>
            <a:r>
              <a:rPr lang="en-US" sz="2400" b="1" dirty="0"/>
              <a:t>Emergency Services</a:t>
            </a:r>
            <a:r>
              <a:rPr lang="en-US" sz="2400" dirty="0"/>
              <a:t>: In emergency response systems the system must work quickly even if there’s a high volume of calls or complex data. </a:t>
            </a:r>
            <a:r>
              <a:rPr lang="en-US" sz="2400" b="1" dirty="0"/>
              <a:t>Worst-case analysis</a:t>
            </a:r>
            <a:r>
              <a:rPr lang="en-US" sz="2400" dirty="0"/>
              <a:t> ensures the system can handle the worst possible situation without failure.</a:t>
            </a:r>
          </a:p>
          <a:p>
            <a:r>
              <a:rPr lang="en-US" sz="2400" b="1" dirty="0"/>
              <a:t>Flight Control Systems</a:t>
            </a:r>
            <a:r>
              <a:rPr lang="en-US" sz="2400" dirty="0"/>
              <a:t>: In aviation, the flight control system must always respond quickly, even during extreme conditions like turbulence or system overload. </a:t>
            </a:r>
            <a:r>
              <a:rPr lang="en-US" sz="2400" b="1" dirty="0"/>
              <a:t>Worst-case analysis</a:t>
            </a:r>
            <a:r>
              <a:rPr lang="en-US" sz="2400" dirty="0"/>
              <a:t> helps ensure safety and efficiency under all scenarios.</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846"/>
          </a:xfrm>
        </p:spPr>
        <p:txBody>
          <a:bodyPr>
            <a:normAutofit fontScale="90000"/>
          </a:bodyPr>
          <a:lstStyle/>
          <a:p>
            <a:pPr algn="ctr"/>
            <a:r>
              <a:rPr lang="en-US" b="1" dirty="0"/>
              <a:t>Types of analysis of </a:t>
            </a:r>
            <a:r>
              <a:rPr lang="en-US" b="1" dirty="0" err="1"/>
              <a:t>algo</a:t>
            </a:r>
            <a:r>
              <a:rPr lang="en-US" b="1" dirty="0"/>
              <a:t> - Best case, average case, and worst-case</a:t>
            </a:r>
          </a:p>
        </p:txBody>
      </p:sp>
      <p:sp>
        <p:nvSpPr>
          <p:cNvPr id="3" name="Content Placeholder 2"/>
          <p:cNvSpPr>
            <a:spLocks noGrp="1"/>
          </p:cNvSpPr>
          <p:nvPr>
            <p:ph idx="1"/>
          </p:nvPr>
        </p:nvSpPr>
        <p:spPr/>
        <p:txBody>
          <a:bodyPr>
            <a:normAutofit/>
          </a:bodyPr>
          <a:lstStyle/>
          <a:p>
            <a:r>
              <a:rPr lang="en-US" b="1" dirty="0"/>
              <a:t>Best Case</a:t>
            </a:r>
            <a:r>
              <a:rPr lang="en-US" dirty="0"/>
              <a:t>: </a:t>
            </a:r>
            <a:r>
              <a:rPr lang="en-US" b="1" dirty="0"/>
              <a:t> </a:t>
            </a:r>
          </a:p>
          <a:p>
            <a:r>
              <a:rPr lang="en-US" dirty="0"/>
              <a:t>It shows the </a:t>
            </a:r>
            <a:r>
              <a:rPr lang="en-US" b="1" dirty="0"/>
              <a:t>minimum time</a:t>
            </a:r>
            <a:r>
              <a:rPr lang="en-US" dirty="0"/>
              <a:t> an algorithm can take to finish.</a:t>
            </a:r>
          </a:p>
          <a:p>
            <a:r>
              <a:rPr lang="en-US" dirty="0"/>
              <a:t>This happens when the </a:t>
            </a:r>
            <a:r>
              <a:rPr lang="en-US" b="1" dirty="0"/>
              <a:t>input is most favorable</a:t>
            </a:r>
            <a:r>
              <a:rPr lang="en-US" dirty="0"/>
              <a:t>.</a:t>
            </a:r>
          </a:p>
          <a:p>
            <a:r>
              <a:rPr lang="en-US" dirty="0"/>
              <a:t>We use it to find the </a:t>
            </a:r>
            <a:r>
              <a:rPr lang="en-US" b="1" dirty="0"/>
              <a:t>lower bound</a:t>
            </a:r>
            <a:r>
              <a:rPr lang="en-US" dirty="0"/>
              <a:t> (smallest limit) of the time.</a:t>
            </a:r>
          </a:p>
          <a:p>
            <a:r>
              <a:rPr lang="en-US" dirty="0"/>
              <a:t>For linear search, the best case occurs when x is present at the first location. So Time complexity (Best case) = </a:t>
            </a:r>
            <a:r>
              <a:rPr lang="en-US" b="1" dirty="0"/>
              <a:t>Ω(1)</a:t>
            </a:r>
            <a:r>
              <a:rPr lang="en-US" dirty="0"/>
              <a:t> (constant time)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7029"/>
            <a:ext cx="10515600" cy="5544457"/>
          </a:xfrm>
        </p:spPr>
        <p:txBody>
          <a:bodyPr>
            <a:normAutofit/>
          </a:bodyPr>
          <a:lstStyle/>
          <a:p>
            <a:r>
              <a:rPr lang="en-US" sz="2400" b="1" dirty="0">
                <a:latin typeface="Times New Roman" pitchFamily="18" charset="0"/>
                <a:cs typeface="Times New Roman" pitchFamily="18" charset="0"/>
              </a:rPr>
              <a:t>Real-Time Example of Best-Case Use:</a:t>
            </a:r>
          </a:p>
          <a:p>
            <a:r>
              <a:rPr lang="en-US" sz="2400" b="1" dirty="0">
                <a:latin typeface="Times New Roman" pitchFamily="18" charset="0"/>
                <a:cs typeface="Times New Roman" pitchFamily="18" charset="0"/>
              </a:rPr>
              <a:t>Sorting Small Lists</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In situations where a small list of items is already sorted (e.g., sorting a list of 5 names in alphabetical order), </a:t>
            </a:r>
            <a:r>
              <a:rPr lang="en-US" sz="2400" b="1" dirty="0">
                <a:latin typeface="Times New Roman" pitchFamily="18" charset="0"/>
                <a:cs typeface="Times New Roman" pitchFamily="18" charset="0"/>
              </a:rPr>
              <a:t>best-case analysis</a:t>
            </a:r>
            <a:r>
              <a:rPr lang="en-US" sz="2400" dirty="0">
                <a:latin typeface="Times New Roman" pitchFamily="18" charset="0"/>
                <a:cs typeface="Times New Roman" pitchFamily="18" charset="0"/>
              </a:rPr>
              <a:t> shows the algorithm's fastest performance.</a:t>
            </a:r>
          </a:p>
          <a:p>
            <a:r>
              <a:rPr lang="en-US" sz="2400" b="1" dirty="0">
                <a:latin typeface="Times New Roman" pitchFamily="18" charset="0"/>
                <a:cs typeface="Times New Roman" pitchFamily="18" charset="0"/>
              </a:rPr>
              <a:t>Search Engine Cache</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When a user searches for a popular query that is already cached in the system, the search engine can retrieve results almost instantly. </a:t>
            </a:r>
            <a:r>
              <a:rPr lang="en-US" sz="2400" b="1" dirty="0">
                <a:latin typeface="Times New Roman" pitchFamily="18" charset="0"/>
                <a:cs typeface="Times New Roman" pitchFamily="18" charset="0"/>
              </a:rPr>
              <a:t>Best-case analysis</a:t>
            </a:r>
            <a:r>
              <a:rPr lang="en-US" sz="2400" dirty="0">
                <a:latin typeface="Times New Roman" pitchFamily="18" charset="0"/>
                <a:cs typeface="Times New Roman" pitchFamily="18" charset="0"/>
              </a:rPr>
              <a:t> helps optimize performance for these types of quick, common searches.</a:t>
            </a:r>
          </a:p>
          <a:p>
            <a:r>
              <a:rPr lang="en-US" sz="2400" b="1" dirty="0" err="1">
                <a:latin typeface="Times New Roman" pitchFamily="18" charset="0"/>
                <a:cs typeface="Times New Roman" pitchFamily="18" charset="0"/>
              </a:rPr>
              <a:t>Autofill</a:t>
            </a:r>
            <a:r>
              <a:rPr lang="en-US" sz="2400" b="1" dirty="0">
                <a:latin typeface="Times New Roman" pitchFamily="18" charset="0"/>
                <a:cs typeface="Times New Roman" pitchFamily="18" charset="0"/>
              </a:rPr>
              <a:t> Suggestions</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In applications like Google search or address forms, if the user types something that matches the stored data exactly (e.g., previously entered addresses), </a:t>
            </a:r>
            <a:r>
              <a:rPr lang="en-US" sz="2400" b="1" dirty="0">
                <a:latin typeface="Times New Roman" pitchFamily="18" charset="0"/>
                <a:cs typeface="Times New Roman" pitchFamily="18" charset="0"/>
              </a:rPr>
              <a:t>best-case analysis</a:t>
            </a:r>
            <a:r>
              <a:rPr lang="en-US" sz="2400" dirty="0">
                <a:latin typeface="Times New Roman" pitchFamily="18" charset="0"/>
                <a:cs typeface="Times New Roman" pitchFamily="18" charset="0"/>
              </a:rPr>
              <a:t> ensures the </a:t>
            </a:r>
            <a:r>
              <a:rPr lang="en-US" sz="2400" dirty="0" err="1">
                <a:latin typeface="Times New Roman" pitchFamily="18" charset="0"/>
                <a:cs typeface="Times New Roman" pitchFamily="18" charset="0"/>
              </a:rPr>
              <a:t>autofill</a:t>
            </a:r>
            <a:r>
              <a:rPr lang="en-US" sz="2400" dirty="0">
                <a:latin typeface="Times New Roman" pitchFamily="18" charset="0"/>
                <a:cs typeface="Times New Roman" pitchFamily="18" charset="0"/>
              </a:rPr>
              <a:t> feature works as fast as possible.</a:t>
            </a:r>
          </a:p>
          <a:p>
            <a:endParaRPr lang="en-US" sz="2400" b="1" dirty="0">
              <a:latin typeface="Times New Roman" pitchFamily="18" charset="0"/>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304"/>
            <a:ext cx="10515600" cy="621846"/>
          </a:xfrm>
        </p:spPr>
        <p:txBody>
          <a:bodyPr>
            <a:noAutofit/>
          </a:bodyPr>
          <a:lstStyle/>
          <a:p>
            <a:pPr algn="ctr"/>
            <a:r>
              <a:rPr lang="en-US" sz="3200" b="1" dirty="0"/>
              <a:t>Types of analysis of </a:t>
            </a:r>
            <a:r>
              <a:rPr lang="en-US" sz="3200" b="1" dirty="0" err="1"/>
              <a:t>algo</a:t>
            </a:r>
            <a:r>
              <a:rPr lang="en-US" sz="3200" b="1" dirty="0"/>
              <a:t> - Best case, average case, and </a:t>
            </a:r>
            <a:r>
              <a:rPr lang="en-US" sz="2800" b="1" dirty="0"/>
              <a:t>worst-case</a:t>
            </a:r>
            <a:endParaRPr lang="en-US" sz="3200" b="1" dirty="0"/>
          </a:p>
        </p:txBody>
      </p:sp>
      <p:sp>
        <p:nvSpPr>
          <p:cNvPr id="3" name="Content Placeholder 2"/>
          <p:cNvSpPr>
            <a:spLocks noGrp="1"/>
          </p:cNvSpPr>
          <p:nvPr>
            <p:ph idx="1"/>
          </p:nvPr>
        </p:nvSpPr>
        <p:spPr>
          <a:xfrm>
            <a:off x="838200" y="783771"/>
            <a:ext cx="10932886" cy="5892800"/>
          </a:xfrm>
        </p:spPr>
        <p:txBody>
          <a:bodyPr>
            <a:noAutofit/>
          </a:bodyPr>
          <a:lstStyle/>
          <a:p>
            <a:pPr fontAlgn="base"/>
            <a:r>
              <a:rPr lang="en-US" sz="3200" b="1" dirty="0">
                <a:latin typeface="Times New Roman" pitchFamily="18" charset="0"/>
                <a:cs typeface="Times New Roman" pitchFamily="18" charset="0"/>
              </a:rPr>
              <a:t>Average Case Analysis</a:t>
            </a:r>
            <a:endParaRPr lang="en-US" sz="2400" b="1" dirty="0">
              <a:latin typeface="Times New Roman" pitchFamily="18" charset="0"/>
              <a:cs typeface="Times New Roman" pitchFamily="18" charset="0"/>
            </a:endParaRPr>
          </a:p>
          <a:p>
            <a:r>
              <a:rPr lang="en-US" sz="2400" dirty="0"/>
              <a:t>It tells us the </a:t>
            </a:r>
            <a:r>
              <a:rPr lang="en-US" sz="2400" b="1" dirty="0"/>
              <a:t>expected time</a:t>
            </a:r>
            <a:r>
              <a:rPr lang="en-US" sz="2400" dirty="0"/>
              <a:t> an algorithm takes for </a:t>
            </a:r>
            <a:r>
              <a:rPr lang="en-US" sz="2400" b="1" dirty="0"/>
              <a:t>typical (random) input</a:t>
            </a:r>
            <a:r>
              <a:rPr lang="en-US" sz="2400" dirty="0"/>
              <a:t>.</a:t>
            </a:r>
          </a:p>
          <a:p>
            <a:r>
              <a:rPr lang="en-US" sz="2400" dirty="0"/>
              <a:t>It lies </a:t>
            </a:r>
            <a:r>
              <a:rPr lang="en-US" sz="2400" b="1" dirty="0"/>
              <a:t>between best and worst case</a:t>
            </a:r>
            <a:r>
              <a:rPr lang="en-US" sz="2400" dirty="0"/>
              <a:t>.</a:t>
            </a:r>
          </a:p>
          <a:p>
            <a:r>
              <a:rPr lang="en-US" sz="2400" dirty="0"/>
              <a:t>We assume </a:t>
            </a:r>
            <a:r>
              <a:rPr lang="en-US" sz="2400" b="1" dirty="0"/>
              <a:t>all inputs are equally likely</a:t>
            </a:r>
            <a:r>
              <a:rPr lang="en-US" sz="2400" dirty="0"/>
              <a:t>.</a:t>
            </a:r>
          </a:p>
          <a:p>
            <a:endParaRPr lang="en-US" sz="2400" dirty="0"/>
          </a:p>
          <a:p>
            <a:endParaRPr lang="en-US" sz="2400" dirty="0"/>
          </a:p>
          <a:p>
            <a:pPr fontAlgn="base"/>
            <a:endParaRPr lang="en-US" sz="2400" dirty="0">
              <a:latin typeface="Times New Roman" pitchFamily="18" charset="0"/>
              <a:cs typeface="Times New Roman"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304"/>
            <a:ext cx="10515600" cy="621846"/>
          </a:xfrm>
        </p:spPr>
        <p:txBody>
          <a:bodyPr>
            <a:noAutofit/>
          </a:bodyPr>
          <a:lstStyle/>
          <a:p>
            <a:pPr algn="ctr"/>
            <a:r>
              <a:rPr lang="en-US" sz="3200" b="1" dirty="0"/>
              <a:t>Types of analysis of </a:t>
            </a:r>
            <a:r>
              <a:rPr lang="en-US" sz="3200" b="1" dirty="0" err="1"/>
              <a:t>algo</a:t>
            </a:r>
            <a:r>
              <a:rPr lang="en-US" sz="3200" b="1" dirty="0"/>
              <a:t> - Best case, average case, and </a:t>
            </a:r>
            <a:r>
              <a:rPr lang="en-US" sz="2800" b="1" dirty="0"/>
              <a:t>worst-case</a:t>
            </a:r>
            <a:endParaRPr lang="en-US" sz="3200" b="1" dirty="0"/>
          </a:p>
        </p:txBody>
      </p:sp>
      <p:sp>
        <p:nvSpPr>
          <p:cNvPr id="3" name="Content Placeholder 2"/>
          <p:cNvSpPr>
            <a:spLocks noGrp="1"/>
          </p:cNvSpPr>
          <p:nvPr>
            <p:ph idx="1"/>
          </p:nvPr>
        </p:nvSpPr>
        <p:spPr>
          <a:xfrm>
            <a:off x="838200" y="783771"/>
            <a:ext cx="10932886" cy="5892800"/>
          </a:xfrm>
        </p:spPr>
        <p:txBody>
          <a:bodyPr>
            <a:noAutofit/>
          </a:bodyPr>
          <a:lstStyle/>
          <a:p>
            <a:r>
              <a:rPr lang="en-US" sz="2400" b="1" dirty="0"/>
              <a:t>Why Is Average-Case Hard to Use?</a:t>
            </a:r>
          </a:p>
          <a:p>
            <a:r>
              <a:rPr lang="en-US" sz="2400" b="1" dirty="0"/>
              <a:t>We Don’t Know the Inputs</a:t>
            </a:r>
            <a:r>
              <a:rPr lang="en-US" sz="2400" dirty="0"/>
              <a:t>:</a:t>
            </a:r>
            <a:br>
              <a:rPr lang="en-US" sz="2400" dirty="0"/>
            </a:br>
            <a:r>
              <a:rPr lang="en-US" sz="2400" dirty="0"/>
              <a:t>To calculate the average, we need to know how often different types of inputs happen. This is hard to figure out.</a:t>
            </a:r>
          </a:p>
          <a:p>
            <a:r>
              <a:rPr lang="en-US" sz="2400" dirty="0"/>
              <a:t>imagine you run a shop.</a:t>
            </a:r>
            <a:br>
              <a:rPr lang="en-US" sz="2400" dirty="0"/>
            </a:br>
            <a:r>
              <a:rPr lang="en-US" sz="2400" dirty="0"/>
              <a:t>You want to know the </a:t>
            </a:r>
            <a:r>
              <a:rPr lang="en-US" sz="2400" b="1" dirty="0"/>
              <a:t>average number of customers per day</a:t>
            </a:r>
            <a:r>
              <a:rPr lang="en-US" sz="2400" dirty="0"/>
              <a:t>.</a:t>
            </a:r>
            <a:br>
              <a:rPr lang="en-US" sz="2400" dirty="0"/>
            </a:br>
            <a:r>
              <a:rPr lang="en-US" sz="2400" dirty="0"/>
              <a:t>But:</a:t>
            </a:r>
          </a:p>
          <a:p>
            <a:r>
              <a:rPr lang="en-US" sz="2400" dirty="0"/>
              <a:t>Some days are very busy (festivals),</a:t>
            </a:r>
          </a:p>
          <a:p>
            <a:r>
              <a:rPr lang="en-US" sz="2400" dirty="0"/>
              <a:t>Some are slow (rainy days),</a:t>
            </a:r>
          </a:p>
          <a:p>
            <a:r>
              <a:rPr lang="en-US" sz="2400" dirty="0"/>
              <a:t>And you don’t always know why.</a:t>
            </a:r>
          </a:p>
          <a:p>
            <a:r>
              <a:rPr lang="en-US" sz="2400" dirty="0"/>
              <a:t>So, finding the "average" is </a:t>
            </a:r>
            <a:r>
              <a:rPr lang="en-US" sz="2400" b="1" dirty="0"/>
              <a:t>not easy</a:t>
            </a:r>
            <a:r>
              <a:rPr lang="en-US" sz="2400" dirty="0"/>
              <a:t> unless you track everything carefully.</a:t>
            </a:r>
          </a:p>
          <a:p>
            <a:endParaRPr lang="en-US" sz="2400" dirty="0"/>
          </a:p>
          <a:p>
            <a:pPr fontAlgn="base"/>
            <a:endParaRPr lang="en-US" sz="2400" dirty="0">
              <a:latin typeface="Times New Roman" pitchFamily="18" charset="0"/>
              <a:cs typeface="Times New Roman"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304"/>
            <a:ext cx="10515600" cy="621846"/>
          </a:xfrm>
        </p:spPr>
        <p:txBody>
          <a:bodyPr>
            <a:noAutofit/>
          </a:bodyPr>
          <a:lstStyle/>
          <a:p>
            <a:pPr algn="ctr"/>
            <a:r>
              <a:rPr lang="en-US" sz="3200" b="1" dirty="0"/>
              <a:t>Types of analysis of </a:t>
            </a:r>
            <a:r>
              <a:rPr lang="en-US" sz="3200" b="1" dirty="0" err="1"/>
              <a:t>algo</a:t>
            </a:r>
            <a:r>
              <a:rPr lang="en-US" sz="3200" b="1" dirty="0"/>
              <a:t> - Best case, average case, and </a:t>
            </a:r>
            <a:r>
              <a:rPr lang="en-US" sz="2800" b="1" dirty="0"/>
              <a:t>worst-case</a:t>
            </a:r>
            <a:endParaRPr lang="en-US" sz="3200" b="1" dirty="0"/>
          </a:p>
        </p:txBody>
      </p:sp>
      <p:sp>
        <p:nvSpPr>
          <p:cNvPr id="3" name="Content Placeholder 2"/>
          <p:cNvSpPr>
            <a:spLocks noGrp="1"/>
          </p:cNvSpPr>
          <p:nvPr>
            <p:ph idx="1"/>
          </p:nvPr>
        </p:nvSpPr>
        <p:spPr>
          <a:xfrm>
            <a:off x="838200" y="783771"/>
            <a:ext cx="10932886" cy="5892800"/>
          </a:xfrm>
        </p:spPr>
        <p:txBody>
          <a:bodyPr>
            <a:noAutofit/>
          </a:bodyPr>
          <a:lstStyle/>
          <a:p>
            <a:r>
              <a:rPr lang="en-US" sz="2400" b="1" dirty="0"/>
              <a:t>Why Is Average-Case Hard to Use?</a:t>
            </a:r>
          </a:p>
          <a:p>
            <a:endParaRPr lang="en-US" sz="2400" dirty="0"/>
          </a:p>
          <a:p>
            <a:r>
              <a:rPr lang="en-US" sz="2400" b="1" dirty="0"/>
              <a:t>Complicated Math</a:t>
            </a:r>
            <a:r>
              <a:rPr lang="en-US" sz="2400" dirty="0"/>
              <a:t>:</a:t>
            </a:r>
            <a:br>
              <a:rPr lang="en-US" sz="2400" dirty="0"/>
            </a:br>
            <a:r>
              <a:rPr lang="en-US" sz="2400" dirty="0"/>
              <a:t>To find the average case, you have to </a:t>
            </a:r>
            <a:r>
              <a:rPr lang="en-US" sz="2400" b="1" dirty="0"/>
              <a:t>consider every possible input</a:t>
            </a:r>
            <a:r>
              <a:rPr lang="en-US" sz="2400" dirty="0"/>
              <a:t> and </a:t>
            </a:r>
            <a:r>
              <a:rPr lang="en-US" sz="2400" b="1" dirty="0"/>
              <a:t>how likely it is</a:t>
            </a:r>
            <a:r>
              <a:rPr lang="en-US" sz="2400" dirty="0"/>
              <a:t> — that can take a lot of </a:t>
            </a:r>
            <a:r>
              <a:rPr lang="en-US" sz="2400" b="1" dirty="0"/>
              <a:t>time and complex math</a:t>
            </a:r>
            <a:r>
              <a:rPr lang="en-US" sz="2400" dirty="0"/>
              <a:t>.</a:t>
            </a:r>
          </a:p>
          <a:p>
            <a:r>
              <a:rPr lang="en-US" sz="2400" b="1" dirty="0"/>
              <a:t>example:</a:t>
            </a:r>
            <a:br>
              <a:rPr lang="en-US" sz="2400" dirty="0"/>
            </a:br>
            <a:r>
              <a:rPr lang="en-US" sz="2400" dirty="0"/>
              <a:t>Suppose you're guessing </a:t>
            </a:r>
            <a:r>
              <a:rPr lang="en-US" sz="2400" b="1" dirty="0"/>
              <a:t>how long it takes people to find a book</a:t>
            </a:r>
            <a:r>
              <a:rPr lang="en-US" sz="2400" dirty="0"/>
              <a:t> in a messy library:</a:t>
            </a:r>
          </a:p>
          <a:p>
            <a:r>
              <a:rPr lang="en-US" sz="2400" dirty="0"/>
              <a:t>Some find it right away,</a:t>
            </a:r>
          </a:p>
          <a:p>
            <a:r>
              <a:rPr lang="en-US" sz="2400" dirty="0"/>
              <a:t>Some take a long time,</a:t>
            </a:r>
          </a:p>
          <a:p>
            <a:r>
              <a:rPr lang="en-US" sz="2400" dirty="0"/>
              <a:t>You’d have to </a:t>
            </a:r>
            <a:r>
              <a:rPr lang="en-US" sz="2400" b="1" dirty="0"/>
              <a:t>calculate every case</a:t>
            </a:r>
            <a:r>
              <a:rPr lang="en-US" sz="2400" dirty="0"/>
              <a:t> and their </a:t>
            </a:r>
            <a:r>
              <a:rPr lang="en-US" sz="2400" b="1" dirty="0"/>
              <a:t>probability</a:t>
            </a:r>
            <a:r>
              <a:rPr lang="en-US" sz="2400" dirty="0"/>
              <a:t> — it's tricky!</a:t>
            </a:r>
          </a:p>
          <a:p>
            <a:endParaRPr lang="en-US" sz="2400" dirty="0"/>
          </a:p>
          <a:p>
            <a:pPr fontAlgn="base"/>
            <a:endParaRPr lang="en-US" sz="2400" dirty="0">
              <a:latin typeface="Times New Roman" pitchFamily="18" charset="0"/>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7371"/>
            <a:ext cx="10932886" cy="6299200"/>
          </a:xfrm>
        </p:spPr>
        <p:txBody>
          <a:bodyPr>
            <a:noAutofit/>
          </a:bodyPr>
          <a:lstStyle/>
          <a:p>
            <a:pPr fontAlgn="base"/>
            <a:r>
              <a:rPr lang="en-US" sz="3200" b="1" dirty="0">
                <a:latin typeface="Times New Roman" pitchFamily="18" charset="0"/>
                <a:cs typeface="Times New Roman" pitchFamily="18" charset="0"/>
              </a:rPr>
              <a:t>Average Case Analysis:</a:t>
            </a:r>
          </a:p>
          <a:p>
            <a:pPr fontAlgn="base"/>
            <a:r>
              <a:rPr lang="en-US" sz="2400" b="1" dirty="0">
                <a:latin typeface="Times New Roman" pitchFamily="18" charset="0"/>
                <a:cs typeface="Times New Roman" pitchFamily="18" charset="0"/>
              </a:rPr>
              <a:t>Average-case</a:t>
            </a:r>
            <a:r>
              <a:rPr lang="en-US" sz="2400" dirty="0">
                <a:latin typeface="Times New Roman" pitchFamily="18" charset="0"/>
                <a:cs typeface="Times New Roman" pitchFamily="18" charset="0"/>
              </a:rPr>
              <a:t> can be applied in situations where inputs follow typical, predictable patterns, like web searches or social media.</a:t>
            </a:r>
          </a:p>
          <a:p>
            <a:r>
              <a:rPr lang="en-US" sz="2400" b="1" dirty="0">
                <a:latin typeface="Times New Roman" pitchFamily="18" charset="0"/>
                <a:cs typeface="Times New Roman" pitchFamily="18" charset="0"/>
              </a:rPr>
              <a:t>Web Search Engines</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In search engines, most search queries are typical, and data is usually organized in a way that allows fast retrieval. </a:t>
            </a:r>
            <a:r>
              <a:rPr lang="en-US" sz="2400" b="1" dirty="0">
                <a:latin typeface="Times New Roman" pitchFamily="18" charset="0"/>
                <a:cs typeface="Times New Roman" pitchFamily="18" charset="0"/>
              </a:rPr>
              <a:t>Average-case</a:t>
            </a:r>
            <a:r>
              <a:rPr lang="en-US" sz="2400" dirty="0">
                <a:latin typeface="Times New Roman" pitchFamily="18" charset="0"/>
                <a:cs typeface="Times New Roman" pitchFamily="18" charset="0"/>
              </a:rPr>
              <a:t> analysis helps optimize performance for the most common, normal searches.</a:t>
            </a:r>
          </a:p>
          <a:p>
            <a:r>
              <a:rPr lang="en-US" sz="2400" b="1" dirty="0">
                <a:latin typeface="Times New Roman" pitchFamily="18" charset="0"/>
                <a:cs typeface="Times New Roman" pitchFamily="18" charset="0"/>
              </a:rPr>
              <a:t>Social Media Feeds</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On platforms like </a:t>
            </a:r>
            <a:r>
              <a:rPr lang="en-US" sz="2400" dirty="0" err="1">
                <a:latin typeface="Times New Roman" pitchFamily="18" charset="0"/>
                <a:cs typeface="Times New Roman" pitchFamily="18" charset="0"/>
              </a:rPr>
              <a:t>Facebook</a:t>
            </a:r>
            <a:r>
              <a:rPr lang="en-US" sz="2400" dirty="0">
                <a:latin typeface="Times New Roman" pitchFamily="18" charset="0"/>
                <a:cs typeface="Times New Roman" pitchFamily="18" charset="0"/>
              </a:rPr>
              <a:t> or </a:t>
            </a:r>
            <a:r>
              <a:rPr lang="en-US" sz="2400" dirty="0" err="1">
                <a:latin typeface="Times New Roman" pitchFamily="18" charset="0"/>
                <a:cs typeface="Times New Roman" pitchFamily="18" charset="0"/>
              </a:rPr>
              <a:t>Instagram</a:t>
            </a:r>
            <a:r>
              <a:rPr lang="en-US" sz="2400" dirty="0">
                <a:latin typeface="Times New Roman" pitchFamily="18" charset="0"/>
                <a:cs typeface="Times New Roman" pitchFamily="18" charset="0"/>
              </a:rPr>
              <a:t>, users' activities are usually random, but they follow general patterns like liking posts or commenting. Average-case helps ensure a smooth user experience for typical activity.</a:t>
            </a:r>
          </a:p>
          <a:p>
            <a:pPr fontAlgn="base"/>
            <a:endParaRPr lang="en-US" sz="2400" dirty="0">
              <a:latin typeface="Times New Roman" pitchFamily="18" charset="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846"/>
          </a:xfrm>
        </p:spPr>
        <p:txBody>
          <a:bodyPr>
            <a:normAutofit fontScale="90000"/>
          </a:bodyPr>
          <a:lstStyle/>
          <a:p>
            <a:pPr algn="ctr"/>
            <a:r>
              <a:rPr lang="en-US" b="1" dirty="0"/>
              <a:t>Why We Need Best case, average case, and worst-case</a:t>
            </a:r>
          </a:p>
        </p:txBody>
      </p:sp>
      <p:sp>
        <p:nvSpPr>
          <p:cNvPr id="3" name="Content Placeholder 2"/>
          <p:cNvSpPr>
            <a:spLocks noGrp="1"/>
          </p:cNvSpPr>
          <p:nvPr>
            <p:ph idx="1"/>
          </p:nvPr>
        </p:nvSpPr>
        <p:spPr/>
        <p:txBody>
          <a:bodyPr>
            <a:normAutofit/>
          </a:bodyPr>
          <a:lstStyle/>
          <a:p>
            <a:r>
              <a:rPr lang="en-US" b="1" dirty="0"/>
              <a:t>Decision Making</a:t>
            </a:r>
            <a:r>
              <a:rPr lang="en-US" dirty="0"/>
              <a:t>: Developers must select the best algorithm for a given problem based on </a:t>
            </a:r>
            <a:r>
              <a:rPr lang="en-US" b="1" dirty="0"/>
              <a:t>time, memory, and input size</a:t>
            </a:r>
            <a:r>
              <a:rPr lang="en-US" dirty="0"/>
              <a:t>.</a:t>
            </a:r>
          </a:p>
          <a:p>
            <a:r>
              <a:rPr lang="en-US" b="1" dirty="0"/>
              <a:t>Scalability</a:t>
            </a:r>
            <a:r>
              <a:rPr lang="en-US" dirty="0"/>
              <a:t>: Helps us know if the algorithm will still work </a:t>
            </a:r>
            <a:r>
              <a:rPr lang="en-US" b="1" dirty="0"/>
              <a:t>well for large </a:t>
            </a:r>
            <a:r>
              <a:rPr lang="en-US" b="1" dirty="0" err="1"/>
              <a:t>input</a:t>
            </a:r>
            <a:r>
              <a:rPr lang="en-US" dirty="0" err="1"/>
              <a:t>.s</a:t>
            </a:r>
            <a:r>
              <a:rPr lang="en-US" dirty="0"/>
              <a:t> (worst-case analysis is especially important here).</a:t>
            </a:r>
          </a:p>
          <a:p>
            <a:r>
              <a:rPr lang="en-US" b="1" dirty="0"/>
              <a:t>Reliability</a:t>
            </a:r>
            <a:r>
              <a:rPr lang="en-US" dirty="0"/>
              <a:t>: Worst-case analysis shows how the algorithm behaves even in </a:t>
            </a:r>
            <a:r>
              <a:rPr lang="en-US" b="1" dirty="0"/>
              <a:t>the toughest situations</a:t>
            </a:r>
            <a:r>
              <a:rPr lang="en-US" dirty="0"/>
              <a:t>.</a:t>
            </a:r>
          </a:p>
          <a:p>
            <a:r>
              <a:rPr lang="en-US" b="1" dirty="0"/>
              <a:t>Optimization</a:t>
            </a:r>
            <a:r>
              <a:rPr lang="en-US" dirty="0"/>
              <a:t>: By knowing how fast or slow an algorithm is, we can identify inefficiencies, enabling developers to choose or design better alternatives.</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771"/>
            <a:ext cx="10515600" cy="6270172"/>
          </a:xfrm>
        </p:spPr>
        <p:txBody>
          <a:bodyPr>
            <a:normAutofit fontScale="92500" lnSpcReduction="20000"/>
          </a:bodyPr>
          <a:lstStyle/>
          <a:p>
            <a:r>
              <a:rPr lang="en-US" b="1" dirty="0">
                <a:latin typeface="Times New Roman" pitchFamily="18" charset="0"/>
                <a:cs typeface="Times New Roman" pitchFamily="18" charset="0"/>
              </a:rPr>
              <a:t>Real-Time Example: Searching in an Unsorted Array</a:t>
            </a:r>
          </a:p>
          <a:p>
            <a:r>
              <a:rPr lang="en-US" dirty="0">
                <a:latin typeface="Times New Roman" pitchFamily="18" charset="0"/>
                <a:cs typeface="Times New Roman" pitchFamily="18" charset="0"/>
              </a:rPr>
              <a:t>Let's analyze the time complexity of searching for an element in an unsorted array of size n.</a:t>
            </a:r>
          </a:p>
          <a:p>
            <a:r>
              <a:rPr lang="en-US" b="1" dirty="0">
                <a:latin typeface="Times New Roman" pitchFamily="18" charset="0"/>
                <a:cs typeface="Times New Roman" pitchFamily="18" charset="0"/>
              </a:rPr>
              <a:t>Algorithm</a:t>
            </a:r>
          </a:p>
          <a:p>
            <a:r>
              <a:rPr lang="en-US" dirty="0">
                <a:latin typeface="Times New Roman" pitchFamily="18" charset="0"/>
                <a:cs typeface="Times New Roman" pitchFamily="18" charset="0"/>
              </a:rPr>
              <a:t>Linear Search: Start at the first element and check each element until the target is found or the end of the array is reached.</a:t>
            </a:r>
          </a:p>
          <a:p>
            <a:r>
              <a:rPr lang="en-US" b="1" dirty="0">
                <a:latin typeface="Times New Roman" pitchFamily="18" charset="0"/>
                <a:cs typeface="Times New Roman" pitchFamily="18" charset="0"/>
              </a:rPr>
              <a:t>Cases</a:t>
            </a:r>
          </a:p>
          <a:p>
            <a:r>
              <a:rPr lang="en-US" b="1" dirty="0">
                <a:latin typeface="Times New Roman" pitchFamily="18" charset="0"/>
                <a:cs typeface="Times New Roman" pitchFamily="18" charset="0"/>
              </a:rPr>
              <a:t>Best Case</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The target element is the first element in the array.</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Time Complexity</a:t>
            </a:r>
            <a:r>
              <a:rPr lang="en-US" dirty="0">
                <a:latin typeface="Times New Roman" pitchFamily="18" charset="0"/>
                <a:cs typeface="Times New Roman" pitchFamily="18" charset="0"/>
              </a:rPr>
              <a:t>: O(1) (constant time).</a:t>
            </a:r>
          </a:p>
          <a:p>
            <a:r>
              <a:rPr lang="en-US" b="1" dirty="0">
                <a:latin typeface="Times New Roman" pitchFamily="18" charset="0"/>
                <a:cs typeface="Times New Roman" pitchFamily="18" charset="0"/>
              </a:rPr>
              <a:t>Average Case</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The target element is somewhere in the middle of the array on average.</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Time Complexity</a:t>
            </a:r>
            <a:r>
              <a:rPr lang="en-US" dirty="0">
                <a:latin typeface="Times New Roman" pitchFamily="18" charset="0"/>
                <a:cs typeface="Times New Roman" pitchFamily="18" charset="0"/>
              </a:rPr>
              <a:t>: O(n/2) (simplified as O(n) because constants are ignored in asymptotic analysis).</a:t>
            </a:r>
          </a:p>
          <a:p>
            <a:r>
              <a:rPr lang="en-US" b="1" dirty="0">
                <a:latin typeface="Times New Roman" pitchFamily="18" charset="0"/>
                <a:cs typeface="Times New Roman" pitchFamily="18" charset="0"/>
              </a:rPr>
              <a:t>Worst Case</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The target element is the last element, or it is not present in the array.</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Time Complexity</a:t>
            </a:r>
            <a:r>
              <a:rPr lang="en-US" dirty="0">
                <a:latin typeface="Times New Roman" pitchFamily="18" charset="0"/>
                <a:cs typeface="Times New Roman" pitchFamily="18" charset="0"/>
              </a:rPr>
              <a:t>: 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How to measure complexity?</a:t>
            </a:r>
          </a:p>
        </p:txBody>
      </p:sp>
      <p:sp>
        <p:nvSpPr>
          <p:cNvPr id="3" name="Content Placeholder 2"/>
          <p:cNvSpPr>
            <a:spLocks noGrp="1"/>
          </p:cNvSpPr>
          <p:nvPr>
            <p:ph idx="1"/>
          </p:nvPr>
        </p:nvSpPr>
        <p:spPr>
          <a:xfrm>
            <a:off x="838200" y="1407886"/>
            <a:ext cx="10515600" cy="5152571"/>
          </a:xfrm>
        </p:spPr>
        <p:txBody>
          <a:bodyPr>
            <a:noAutofit/>
          </a:bodyPr>
          <a:lstStyle/>
          <a:p>
            <a:pPr fontAlgn="base"/>
            <a:r>
              <a:rPr lang="en-US" dirty="0"/>
              <a:t>The complexity of an algorithm can be measured as:</a:t>
            </a:r>
          </a:p>
          <a:p>
            <a:pPr fontAlgn="base"/>
            <a:r>
              <a:rPr lang="en-US" dirty="0"/>
              <a:t>Time complexity</a:t>
            </a:r>
          </a:p>
          <a:p>
            <a:pPr fontAlgn="base"/>
            <a:r>
              <a:rPr lang="en-US" dirty="0"/>
              <a:t>Space complexity</a:t>
            </a:r>
          </a:p>
          <a:p>
            <a:pPr fontAlgn="base"/>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Time complexity</a:t>
            </a:r>
          </a:p>
        </p:txBody>
      </p:sp>
      <p:sp>
        <p:nvSpPr>
          <p:cNvPr id="3" name="Content Placeholder 2"/>
          <p:cNvSpPr>
            <a:spLocks noGrp="1"/>
          </p:cNvSpPr>
          <p:nvPr>
            <p:ph idx="1"/>
          </p:nvPr>
        </p:nvSpPr>
        <p:spPr>
          <a:xfrm>
            <a:off x="838200" y="1407886"/>
            <a:ext cx="10515600" cy="5152571"/>
          </a:xfrm>
        </p:spPr>
        <p:txBody>
          <a:bodyPr>
            <a:noAutofit/>
          </a:bodyPr>
          <a:lstStyle/>
          <a:p>
            <a:pPr fontAlgn="base"/>
            <a:r>
              <a:rPr lang="en-US" dirty="0"/>
              <a:t>Time complexity is defined in terms of how many times it takes to run a given algorithm, based on the length of the input. </a:t>
            </a:r>
          </a:p>
          <a:p>
            <a:pPr fontAlgn="base"/>
            <a:r>
              <a:rPr lang="en-US" b="1" u="sng" dirty="0"/>
              <a:t>How is Time complexity computed?</a:t>
            </a:r>
            <a:endParaRPr lang="en-US" dirty="0"/>
          </a:p>
          <a:p>
            <a:pPr fontAlgn="base"/>
            <a:r>
              <a:rPr lang="en-US" dirty="0"/>
              <a:t>To estimate the time complexity, we need to consider the cost of each fundamental instruction and the number of times the instruction is executed.</a:t>
            </a:r>
          </a:p>
          <a:p>
            <a:pPr fontAlgn="base"/>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996722" y="509701"/>
            <a:ext cx="5142821" cy="3133385"/>
          </a:xfrm>
          <a:prstGeom prst="rect">
            <a:avLst/>
          </a:prstGeom>
          <a:noFill/>
          <a:ln w="9525">
            <a:noFill/>
            <a:miter lim="800000"/>
            <a:headEnd/>
            <a:tailEnd/>
          </a:ln>
        </p:spPr>
      </p:pic>
      <p:sp>
        <p:nvSpPr>
          <p:cNvPr id="5" name="Rectangle 4"/>
          <p:cNvSpPr/>
          <p:nvPr/>
        </p:nvSpPr>
        <p:spPr>
          <a:xfrm>
            <a:off x="1107682" y="3113706"/>
            <a:ext cx="2231124" cy="369332"/>
          </a:xfrm>
          <a:prstGeom prst="rect">
            <a:avLst/>
          </a:prstGeom>
        </p:spPr>
        <p:txBody>
          <a:bodyPr wrap="none">
            <a:spAutoFit/>
          </a:bodyPr>
          <a:lstStyle/>
          <a:p>
            <a:r>
              <a:rPr lang="en-US" dirty="0"/>
              <a:t>Here we can skip n+1 </a:t>
            </a:r>
          </a:p>
        </p:txBody>
      </p:sp>
      <p:pic>
        <p:nvPicPr>
          <p:cNvPr id="1027" name="Picture 3"/>
          <p:cNvPicPr>
            <a:picLocks noChangeAspect="1" noChangeArrowheads="1"/>
          </p:cNvPicPr>
          <p:nvPr/>
        </p:nvPicPr>
        <p:blipFill>
          <a:blip r:embed="rId3" cstate="print"/>
          <a:srcRect/>
          <a:stretch>
            <a:fillRect/>
          </a:stretch>
        </p:blipFill>
        <p:spPr bwMode="auto">
          <a:xfrm>
            <a:off x="6828064" y="652010"/>
            <a:ext cx="4435022" cy="3165247"/>
          </a:xfrm>
          <a:prstGeom prst="rect">
            <a:avLst/>
          </a:prstGeom>
          <a:noFill/>
          <a:ln w="9525">
            <a:noFill/>
            <a:miter lim="800000"/>
            <a:headEnd/>
            <a:tailEnd/>
          </a:ln>
        </p:spPr>
      </p:pic>
      <p:sp>
        <p:nvSpPr>
          <p:cNvPr id="7" name="Rectangle 6"/>
          <p:cNvSpPr/>
          <p:nvPr/>
        </p:nvSpPr>
        <p:spPr>
          <a:xfrm>
            <a:off x="7036769" y="2671021"/>
            <a:ext cx="1613746" cy="923330"/>
          </a:xfrm>
          <a:prstGeom prst="rect">
            <a:avLst/>
          </a:prstGeom>
        </p:spPr>
        <p:txBody>
          <a:bodyPr wrap="square">
            <a:spAutoFit/>
          </a:bodyPr>
          <a:lstStyle/>
          <a:p>
            <a:r>
              <a:rPr lang="en-US" dirty="0"/>
              <a:t>Ascending or descending don’t matter</a:t>
            </a:r>
          </a:p>
        </p:txBody>
      </p:sp>
      <p:pic>
        <p:nvPicPr>
          <p:cNvPr id="1028" name="Picture 4"/>
          <p:cNvPicPr>
            <a:picLocks noChangeAspect="1" noChangeArrowheads="1"/>
          </p:cNvPicPr>
          <p:nvPr/>
        </p:nvPicPr>
        <p:blipFill>
          <a:blip r:embed="rId4" cstate="print"/>
          <a:srcRect/>
          <a:stretch>
            <a:fillRect/>
          </a:stretch>
        </p:blipFill>
        <p:spPr bwMode="auto">
          <a:xfrm>
            <a:off x="1055461" y="3915682"/>
            <a:ext cx="4866368" cy="2586718"/>
          </a:xfrm>
          <a:prstGeom prst="rect">
            <a:avLst/>
          </a:prstGeom>
          <a:noFill/>
          <a:ln w="9525">
            <a:noFill/>
            <a:miter lim="800000"/>
            <a:headEnd/>
            <a:tailEnd/>
          </a:ln>
        </p:spPr>
      </p:pic>
      <p:sp>
        <p:nvSpPr>
          <p:cNvPr id="9" name="Rectangle 8"/>
          <p:cNvSpPr/>
          <p:nvPr/>
        </p:nvSpPr>
        <p:spPr>
          <a:xfrm>
            <a:off x="1209283" y="5465021"/>
            <a:ext cx="1613746" cy="646331"/>
          </a:xfrm>
          <a:prstGeom prst="rect">
            <a:avLst/>
          </a:prstGeom>
        </p:spPr>
        <p:txBody>
          <a:bodyPr wrap="square">
            <a:spAutoFit/>
          </a:bodyPr>
          <a:lstStyle/>
          <a:p>
            <a:r>
              <a:rPr lang="en-US" dirty="0"/>
              <a:t>Ignore the constants </a:t>
            </a:r>
          </a:p>
        </p:txBody>
      </p:sp>
      <p:pic>
        <p:nvPicPr>
          <p:cNvPr id="1029" name="Picture 5"/>
          <p:cNvPicPr>
            <a:picLocks noChangeAspect="1" noChangeArrowheads="1"/>
          </p:cNvPicPr>
          <p:nvPr/>
        </p:nvPicPr>
        <p:blipFill>
          <a:blip r:embed="rId5" cstate="print"/>
          <a:srcRect/>
          <a:stretch>
            <a:fillRect/>
          </a:stretch>
        </p:blipFill>
        <p:spPr bwMode="auto">
          <a:xfrm>
            <a:off x="6763657" y="4045402"/>
            <a:ext cx="4513943" cy="244248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animEffect transition="in" filter="box(in)">
                                      <p:cBhvr>
                                        <p:cTn id="11" dur="500"/>
                                        <p:tgtEl>
                                          <p:spTgt spid="102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2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768349" y="352424"/>
            <a:ext cx="4993822" cy="4016375"/>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6168571" y="342899"/>
            <a:ext cx="5733143" cy="408395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44228" y="246743"/>
            <a:ext cx="4009571" cy="6284686"/>
          </a:xfrm>
        </p:spPr>
        <p:txBody>
          <a:bodyPr>
            <a:normAutofit fontScale="70000" lnSpcReduction="20000"/>
          </a:bodyPr>
          <a:lstStyle/>
          <a:p>
            <a:r>
              <a:rPr lang="en-US" dirty="0"/>
              <a:t>After the first iteration: p=0</a:t>
            </a:r>
          </a:p>
          <a:p>
            <a:r>
              <a:rPr lang="en-US" dirty="0"/>
              <a:t>After the second iteration: p=0+1=1</a:t>
            </a:r>
          </a:p>
          <a:p>
            <a:r>
              <a:rPr lang="en-US" dirty="0"/>
              <a:t>After the third iteration: p=1+2=3 </a:t>
            </a:r>
          </a:p>
          <a:p>
            <a:r>
              <a:rPr lang="en-US" dirty="0"/>
              <a:t>And so on. </a:t>
            </a:r>
          </a:p>
          <a:p>
            <a:r>
              <a:rPr lang="en-US" dirty="0"/>
              <a:t>The value of p grows as the sum of consecutive integers.</a:t>
            </a:r>
          </a:p>
          <a:p>
            <a:r>
              <a:rPr lang="en-US" dirty="0"/>
              <a:t>The sum of the first k integers is k(k+1)/2</a:t>
            </a:r>
          </a:p>
          <a:p>
            <a:r>
              <a:rPr lang="en-US" dirty="0"/>
              <a:t>Loop will stop at p &gt; n</a:t>
            </a:r>
          </a:p>
          <a:p>
            <a:r>
              <a:rPr lang="en-US" dirty="0"/>
              <a:t>So,</a:t>
            </a:r>
          </a:p>
          <a:p>
            <a:endParaRPr lang="en-US" dirty="0"/>
          </a:p>
          <a:p>
            <a:endParaRPr lang="en-US" dirty="0"/>
          </a:p>
          <a:p>
            <a:r>
              <a:rPr lang="en-US" dirty="0"/>
              <a:t>And </a:t>
            </a:r>
          </a:p>
          <a:p>
            <a:endParaRPr lang="en-US" dirty="0"/>
          </a:p>
          <a:p>
            <a:endParaRPr lang="en-US" dirty="0"/>
          </a:p>
          <a:p>
            <a:endParaRPr lang="en-US" dirty="0"/>
          </a:p>
          <a:p>
            <a:endParaRPr lang="en-US" dirty="0"/>
          </a:p>
          <a:p>
            <a:r>
              <a:rPr lang="en-US" dirty="0"/>
              <a:t> </a:t>
            </a:r>
          </a:p>
          <a:p>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624795" y="484867"/>
            <a:ext cx="6298519" cy="5785303"/>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8467045" y="3341462"/>
            <a:ext cx="1266825" cy="552450"/>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8519659" y="4027942"/>
            <a:ext cx="1190625" cy="485775"/>
          </a:xfrm>
          <a:prstGeom prst="rect">
            <a:avLst/>
          </a:prstGeom>
          <a:noFill/>
          <a:ln w="9525">
            <a:noFill/>
            <a:miter lim="800000"/>
            <a:headEnd/>
            <a:tailEnd/>
          </a:ln>
        </p:spPr>
      </p:pic>
      <p:pic>
        <p:nvPicPr>
          <p:cNvPr id="3078" name="Picture 6"/>
          <p:cNvPicPr>
            <a:picLocks noChangeAspect="1" noChangeArrowheads="1"/>
          </p:cNvPicPr>
          <p:nvPr/>
        </p:nvPicPr>
        <p:blipFill>
          <a:blip r:embed="rId5" cstate="print"/>
          <a:srcRect/>
          <a:stretch>
            <a:fillRect/>
          </a:stretch>
        </p:blipFill>
        <p:spPr bwMode="auto">
          <a:xfrm>
            <a:off x="8733745" y="4743903"/>
            <a:ext cx="733425" cy="476250"/>
          </a:xfrm>
          <a:prstGeom prst="rect">
            <a:avLst/>
          </a:prstGeom>
          <a:noFill/>
          <a:ln w="9525">
            <a:noFill/>
            <a:miter lim="800000"/>
            <a:headEnd/>
            <a:tailEnd/>
          </a:ln>
        </p:spPr>
      </p:pic>
      <p:pic>
        <p:nvPicPr>
          <p:cNvPr id="3079" name="Picture 7"/>
          <p:cNvPicPr>
            <a:picLocks noChangeAspect="1" noChangeArrowheads="1"/>
          </p:cNvPicPr>
          <p:nvPr/>
        </p:nvPicPr>
        <p:blipFill>
          <a:blip r:embed="rId6" cstate="print"/>
          <a:srcRect/>
          <a:stretch>
            <a:fillRect/>
          </a:stretch>
        </p:blipFill>
        <p:spPr bwMode="auto">
          <a:xfrm>
            <a:off x="8735107" y="5241699"/>
            <a:ext cx="904875" cy="409575"/>
          </a:xfrm>
          <a:prstGeom prst="rect">
            <a:avLst/>
          </a:prstGeom>
          <a:noFill/>
          <a:ln w="9525">
            <a:noFill/>
            <a:miter lim="800000"/>
            <a:headEnd/>
            <a:tailEnd/>
          </a:ln>
        </p:spPr>
      </p:pic>
      <p:pic>
        <p:nvPicPr>
          <p:cNvPr id="3080" name="Picture 8"/>
          <p:cNvPicPr>
            <a:picLocks noChangeAspect="1" noChangeArrowheads="1"/>
          </p:cNvPicPr>
          <p:nvPr/>
        </p:nvPicPr>
        <p:blipFill>
          <a:blip r:embed="rId7" cstate="print"/>
          <a:srcRect/>
          <a:stretch>
            <a:fillRect/>
          </a:stretch>
        </p:blipFill>
        <p:spPr bwMode="auto">
          <a:xfrm>
            <a:off x="7877627" y="5849257"/>
            <a:ext cx="3066143" cy="667657"/>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0857" y="391887"/>
            <a:ext cx="5849257" cy="5196114"/>
          </a:xfrm>
        </p:spPr>
        <p:txBody>
          <a:bodyPr>
            <a:normAutofit/>
          </a:bodyPr>
          <a:lstStyle/>
          <a:p>
            <a:r>
              <a:rPr lang="en-US" sz="2400" dirty="0"/>
              <a:t>i = 1 is the initialization step where i starts at 1. The loop runs as long as i&lt;n</a:t>
            </a:r>
          </a:p>
          <a:p>
            <a:r>
              <a:rPr lang="en-US" sz="2400" dirty="0"/>
              <a:t>i = i * 2.This means that at each iteration, i is multiplied by 2 (doubles each time).i.e.</a:t>
            </a:r>
          </a:p>
          <a:p>
            <a:r>
              <a:rPr lang="nn-NO" sz="2400" dirty="0"/>
              <a:t>Then, i=1 i=2, i=4, i=8, i=16 etc.</a:t>
            </a:r>
          </a:p>
          <a:p>
            <a:r>
              <a:rPr lang="nn-NO" sz="2400" dirty="0"/>
              <a:t>Each time, i grows exponentially.</a:t>
            </a:r>
          </a:p>
          <a:p>
            <a:r>
              <a:rPr lang="en-US" sz="2400" dirty="0"/>
              <a:t>After k iterations, i becomes 2</a:t>
            </a:r>
            <a:r>
              <a:rPr lang="en-US" sz="2400" baseline="30000" dirty="0"/>
              <a:t>k</a:t>
            </a:r>
            <a:r>
              <a:rPr lang="en-US" sz="2400" dirty="0"/>
              <a:t>.</a:t>
            </a:r>
          </a:p>
          <a:p>
            <a:r>
              <a:rPr lang="en-US" sz="2400" dirty="0"/>
              <a:t>The loop stops when i&gt;=n, solve it</a:t>
            </a:r>
          </a:p>
          <a:p>
            <a:endParaRPr lang="en-US" sz="2400" dirty="0"/>
          </a:p>
          <a:p>
            <a:r>
              <a:rPr lang="en-US" sz="2400" dirty="0"/>
              <a:t>Taking the logarithm (base 2) of both sides:</a:t>
            </a:r>
          </a:p>
          <a:p>
            <a:endParaRPr lang="en-US" sz="2400" dirty="0"/>
          </a:p>
          <a:p>
            <a:endParaRPr lang="nn-NO" sz="2400" dirty="0"/>
          </a:p>
          <a:p>
            <a:endParaRPr lang="en-US" sz="2400" dirty="0"/>
          </a:p>
        </p:txBody>
      </p:sp>
      <p:pic>
        <p:nvPicPr>
          <p:cNvPr id="4098" name="Picture 2"/>
          <p:cNvPicPr>
            <a:picLocks noChangeAspect="1" noChangeArrowheads="1"/>
          </p:cNvPicPr>
          <p:nvPr/>
        </p:nvPicPr>
        <p:blipFill>
          <a:blip r:embed="rId2" cstate="print"/>
          <a:srcRect/>
          <a:stretch>
            <a:fillRect/>
          </a:stretch>
        </p:blipFill>
        <p:spPr bwMode="auto">
          <a:xfrm>
            <a:off x="274638" y="222702"/>
            <a:ext cx="5458505" cy="6265183"/>
          </a:xfrm>
          <a:prstGeom prst="rect">
            <a:avLst/>
          </a:prstGeom>
          <a:noFill/>
          <a:ln w="9525">
            <a:noFill/>
            <a:miter lim="800000"/>
            <a:headEnd/>
            <a:tailEnd/>
          </a:ln>
        </p:spPr>
      </p:pic>
      <p:grpSp>
        <p:nvGrpSpPr>
          <p:cNvPr id="10" name="Group 9"/>
          <p:cNvGrpSpPr/>
          <p:nvPr/>
        </p:nvGrpSpPr>
        <p:grpSpPr>
          <a:xfrm>
            <a:off x="5772151" y="3607254"/>
            <a:ext cx="5940878" cy="3083441"/>
            <a:chOff x="5772151" y="3607254"/>
            <a:chExt cx="5940878" cy="3083441"/>
          </a:xfrm>
        </p:grpSpPr>
        <p:grpSp>
          <p:nvGrpSpPr>
            <p:cNvPr id="9" name="Group 8"/>
            <p:cNvGrpSpPr/>
            <p:nvPr/>
          </p:nvGrpSpPr>
          <p:grpSpPr>
            <a:xfrm>
              <a:off x="5772151" y="3607254"/>
              <a:ext cx="5940878" cy="2662917"/>
              <a:chOff x="5772151" y="3607254"/>
              <a:chExt cx="5940878" cy="2662917"/>
            </a:xfrm>
          </p:grpSpPr>
          <p:pic>
            <p:nvPicPr>
              <p:cNvPr id="4100" name="Picture 4"/>
              <p:cNvPicPr>
                <a:picLocks noChangeAspect="1" noChangeArrowheads="1"/>
              </p:cNvPicPr>
              <p:nvPr/>
            </p:nvPicPr>
            <p:blipFill>
              <a:blip r:embed="rId3" cstate="print"/>
              <a:srcRect/>
              <a:stretch>
                <a:fillRect/>
              </a:stretch>
            </p:blipFill>
            <p:spPr bwMode="auto">
              <a:xfrm>
                <a:off x="7616146" y="3607254"/>
                <a:ext cx="1295627" cy="587376"/>
              </a:xfrm>
              <a:prstGeom prst="rect">
                <a:avLst/>
              </a:prstGeom>
              <a:noFill/>
              <a:ln w="9525">
                <a:noFill/>
                <a:miter lim="800000"/>
                <a:headEnd/>
                <a:tailEnd/>
              </a:ln>
            </p:spPr>
          </p:pic>
          <p:pic>
            <p:nvPicPr>
              <p:cNvPr id="4101" name="Picture 5"/>
              <p:cNvPicPr>
                <a:picLocks noChangeAspect="1" noChangeArrowheads="1"/>
              </p:cNvPicPr>
              <p:nvPr/>
            </p:nvPicPr>
            <p:blipFill>
              <a:blip r:embed="rId4" cstate="print"/>
              <a:srcRect/>
              <a:stretch>
                <a:fillRect/>
              </a:stretch>
            </p:blipFill>
            <p:spPr bwMode="auto">
              <a:xfrm>
                <a:off x="5772151" y="4681763"/>
                <a:ext cx="5940878" cy="1588408"/>
              </a:xfrm>
              <a:prstGeom prst="rect">
                <a:avLst/>
              </a:prstGeom>
              <a:noFill/>
              <a:ln w="9525">
                <a:noFill/>
                <a:miter lim="800000"/>
                <a:headEnd/>
                <a:tailEnd/>
              </a:ln>
            </p:spPr>
          </p:pic>
        </p:grpSp>
        <p:sp>
          <p:nvSpPr>
            <p:cNvPr id="8" name="Rectangle 7"/>
            <p:cNvSpPr/>
            <p:nvPr/>
          </p:nvSpPr>
          <p:spPr>
            <a:xfrm>
              <a:off x="6076294" y="6321363"/>
              <a:ext cx="4800097" cy="369332"/>
            </a:xfrm>
            <a:prstGeom prst="rect">
              <a:avLst/>
            </a:prstGeom>
          </p:spPr>
          <p:txBody>
            <a:bodyPr wrap="none">
              <a:spAutoFit/>
            </a:bodyPr>
            <a:lstStyle/>
            <a:p>
              <a:r>
                <a:rPr lang="en-US" dirty="0"/>
                <a:t>The time complexity of the given loop is </a:t>
              </a:r>
              <a:r>
                <a:rPr lang="en-US" b="1" dirty="0"/>
                <a:t>O(log n)</a:t>
              </a:r>
              <a:r>
                <a:rPr lang="en-US" dirty="0"/>
                <a:t>.</a:t>
              </a: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1086" y="333829"/>
            <a:ext cx="4662714" cy="5843134"/>
          </a:xfrm>
        </p:spPr>
        <p:txBody>
          <a:bodyPr/>
          <a:lstStyle/>
          <a:p>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363085" y="190500"/>
            <a:ext cx="6037715" cy="6224814"/>
          </a:xfrm>
          <a:prstGeom prst="rect">
            <a:avLst/>
          </a:prstGeom>
          <a:noFill/>
          <a:ln w="9525">
            <a:noFill/>
            <a:miter lim="800000"/>
            <a:headEnd/>
            <a:tailEnd/>
          </a:ln>
        </p:spPr>
      </p:pic>
      <p:grpSp>
        <p:nvGrpSpPr>
          <p:cNvPr id="8" name="Group 7"/>
          <p:cNvGrpSpPr/>
          <p:nvPr/>
        </p:nvGrpSpPr>
        <p:grpSpPr>
          <a:xfrm>
            <a:off x="6531430" y="242661"/>
            <a:ext cx="5326741" cy="6296031"/>
            <a:chOff x="6531430" y="242661"/>
            <a:chExt cx="5326741" cy="6296031"/>
          </a:xfrm>
        </p:grpSpPr>
        <p:pic>
          <p:nvPicPr>
            <p:cNvPr id="5123" name="Picture 3"/>
            <p:cNvPicPr>
              <a:picLocks noChangeAspect="1" noChangeArrowheads="1"/>
            </p:cNvPicPr>
            <p:nvPr/>
          </p:nvPicPr>
          <p:blipFill>
            <a:blip r:embed="rId3" cstate="print"/>
            <a:srcRect/>
            <a:stretch>
              <a:fillRect/>
            </a:stretch>
          </p:blipFill>
          <p:spPr bwMode="auto">
            <a:xfrm>
              <a:off x="6533243" y="242661"/>
              <a:ext cx="5092700" cy="4256768"/>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6531430" y="4567017"/>
              <a:ext cx="4945062" cy="1971675"/>
            </a:xfrm>
            <a:prstGeom prst="rect">
              <a:avLst/>
            </a:prstGeom>
            <a:noFill/>
            <a:ln w="9525">
              <a:noFill/>
              <a:miter lim="800000"/>
              <a:headEnd/>
              <a:tailEnd/>
            </a:ln>
          </p:spPr>
        </p:pic>
        <p:pic>
          <p:nvPicPr>
            <p:cNvPr id="5125" name="Picture 5"/>
            <p:cNvPicPr>
              <a:picLocks noChangeAspect="1" noChangeArrowheads="1"/>
            </p:cNvPicPr>
            <p:nvPr/>
          </p:nvPicPr>
          <p:blipFill>
            <a:blip r:embed="rId5" cstate="print"/>
            <a:srcRect/>
            <a:stretch>
              <a:fillRect/>
            </a:stretch>
          </p:blipFill>
          <p:spPr bwMode="auto">
            <a:xfrm>
              <a:off x="10349593" y="5410654"/>
              <a:ext cx="1508578" cy="361950"/>
            </a:xfrm>
            <a:prstGeom prst="rect">
              <a:avLst/>
            </a:prstGeom>
            <a:noFill/>
            <a:ln w="9525">
              <a:noFill/>
              <a:miter lim="800000"/>
              <a:headEnd/>
              <a:tailEnd/>
            </a:ln>
          </p:spPr>
        </p:pic>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247197" y="209324"/>
            <a:ext cx="4861832" cy="5465762"/>
          </a:xfrm>
          <a:prstGeom prst="rect">
            <a:avLst/>
          </a:prstGeom>
          <a:noFill/>
          <a:ln w="9525">
            <a:noFill/>
            <a:miter lim="800000"/>
            <a:headEnd/>
            <a:tailEnd/>
          </a:ln>
        </p:spPr>
      </p:pic>
      <p:pic>
        <p:nvPicPr>
          <p:cNvPr id="6148" name="Picture 4"/>
          <p:cNvPicPr>
            <a:picLocks noChangeAspect="1" noChangeArrowheads="1"/>
          </p:cNvPicPr>
          <p:nvPr/>
        </p:nvPicPr>
        <p:blipFill>
          <a:blip r:embed="rId3" cstate="print"/>
          <a:srcRect/>
          <a:stretch>
            <a:fillRect/>
          </a:stretch>
        </p:blipFill>
        <p:spPr bwMode="auto">
          <a:xfrm>
            <a:off x="5949949" y="243567"/>
            <a:ext cx="5864679" cy="518477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1436914" y="741816"/>
            <a:ext cx="9898743" cy="5296127"/>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3370" y="940254"/>
            <a:ext cx="4183743" cy="1962604"/>
          </a:xfrm>
        </p:spPr>
        <p:txBody>
          <a:bodyPr/>
          <a:lstStyle/>
          <a:p>
            <a:r>
              <a:rPr lang="en-US" dirty="0"/>
              <a:t>With for loop ,we can write the same logic </a:t>
            </a:r>
            <a:br>
              <a:rPr lang="en-US" dirty="0"/>
            </a:br>
            <a:endParaRPr lang="en-US" dirty="0"/>
          </a:p>
        </p:txBody>
      </p:sp>
      <p:pic>
        <p:nvPicPr>
          <p:cNvPr id="8194" name="Picture 2"/>
          <p:cNvPicPr>
            <a:picLocks noChangeAspect="1" noChangeArrowheads="1"/>
          </p:cNvPicPr>
          <p:nvPr/>
        </p:nvPicPr>
        <p:blipFill>
          <a:blip r:embed="rId2" cstate="print"/>
          <a:srcRect/>
          <a:stretch>
            <a:fillRect/>
          </a:stretch>
        </p:blipFill>
        <p:spPr bwMode="auto">
          <a:xfrm>
            <a:off x="753835" y="640216"/>
            <a:ext cx="5313135" cy="5049384"/>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7039429" y="2099581"/>
            <a:ext cx="3860800" cy="2515961"/>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3370" y="940254"/>
            <a:ext cx="4183743" cy="1962604"/>
          </a:xfrm>
        </p:spPr>
        <p:txBody>
          <a:bodyPr/>
          <a:lstStyle/>
          <a:p>
            <a:r>
              <a:rPr lang="en-US" dirty="0"/>
              <a:t>using for loop ,we can write the same logic   </a:t>
            </a:r>
            <a:br>
              <a:rPr lang="en-US" dirty="0"/>
            </a:br>
            <a:endParaRPr lang="en-US" dirty="0"/>
          </a:p>
        </p:txBody>
      </p:sp>
      <p:grpSp>
        <p:nvGrpSpPr>
          <p:cNvPr id="7" name="Group 6"/>
          <p:cNvGrpSpPr/>
          <p:nvPr/>
        </p:nvGrpSpPr>
        <p:grpSpPr>
          <a:xfrm>
            <a:off x="553357" y="482145"/>
            <a:ext cx="4802413" cy="5468711"/>
            <a:chOff x="553357" y="482145"/>
            <a:chExt cx="4802413" cy="5468711"/>
          </a:xfrm>
        </p:grpSpPr>
        <p:pic>
          <p:nvPicPr>
            <p:cNvPr id="9218" name="Picture 2"/>
            <p:cNvPicPr>
              <a:picLocks noChangeAspect="1" noChangeArrowheads="1"/>
            </p:cNvPicPr>
            <p:nvPr/>
          </p:nvPicPr>
          <p:blipFill>
            <a:blip r:embed="rId2" cstate="print"/>
            <a:srcRect/>
            <a:stretch>
              <a:fillRect/>
            </a:stretch>
          </p:blipFill>
          <p:spPr bwMode="auto">
            <a:xfrm>
              <a:off x="553357" y="482145"/>
              <a:ext cx="4802413" cy="5468711"/>
            </a:xfrm>
            <a:prstGeom prst="rect">
              <a:avLst/>
            </a:prstGeom>
            <a:noFill/>
            <a:ln w="9525">
              <a:noFill/>
              <a:miter lim="800000"/>
              <a:headEnd/>
              <a:tailEnd/>
            </a:ln>
          </p:spPr>
        </p:pic>
        <p:sp>
          <p:nvSpPr>
            <p:cNvPr id="6" name="Rectangle 5"/>
            <p:cNvSpPr/>
            <p:nvPr/>
          </p:nvSpPr>
          <p:spPr>
            <a:xfrm>
              <a:off x="1854047" y="5116677"/>
              <a:ext cx="936475" cy="369332"/>
            </a:xfrm>
            <a:prstGeom prst="rect">
              <a:avLst/>
            </a:prstGeom>
          </p:spPr>
          <p:txBody>
            <a:bodyPr wrap="none">
              <a:spAutoFit/>
            </a:bodyPr>
            <a:lstStyle/>
            <a:p>
              <a:r>
                <a:rPr lang="en-US" dirty="0"/>
                <a:t>O(log n)</a:t>
              </a:r>
            </a:p>
          </p:txBody>
        </p:sp>
      </p:grpSp>
      <p:pic>
        <p:nvPicPr>
          <p:cNvPr id="9219" name="Picture 3"/>
          <p:cNvPicPr>
            <a:picLocks noChangeAspect="1" noChangeArrowheads="1"/>
          </p:cNvPicPr>
          <p:nvPr/>
        </p:nvPicPr>
        <p:blipFill>
          <a:blip r:embed="rId3" cstate="print"/>
          <a:srcRect/>
          <a:stretch>
            <a:fillRect/>
          </a:stretch>
        </p:blipFill>
        <p:spPr bwMode="auto">
          <a:xfrm>
            <a:off x="7229249" y="2314121"/>
            <a:ext cx="3496808" cy="2286907"/>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765158" y="478971"/>
            <a:ext cx="2804885" cy="5697992"/>
          </a:xfrm>
        </p:spPr>
        <p:txBody>
          <a:bodyPr/>
          <a:lstStyle/>
          <a:p>
            <a:r>
              <a:rPr lang="en-US" dirty="0"/>
              <a:t>For 6and 3 , It will executed one time only </a:t>
            </a:r>
          </a:p>
          <a:p>
            <a:r>
              <a:rPr lang="en-US" dirty="0"/>
              <a:t>For 5 ,5 it will not executed</a:t>
            </a:r>
          </a:p>
          <a:p>
            <a:r>
              <a:rPr lang="en-US" dirty="0"/>
              <a:t>For 16,2 it will executed nearly 7 ,i.e. 16/2 means n/2 </a:t>
            </a:r>
          </a:p>
        </p:txBody>
      </p:sp>
      <p:pic>
        <p:nvPicPr>
          <p:cNvPr id="10243" name="Picture 3"/>
          <p:cNvPicPr>
            <a:picLocks noChangeAspect="1" noChangeArrowheads="1"/>
          </p:cNvPicPr>
          <p:nvPr/>
        </p:nvPicPr>
        <p:blipFill>
          <a:blip r:embed="rId2" cstate="print"/>
          <a:srcRect/>
          <a:stretch>
            <a:fillRect/>
          </a:stretch>
        </p:blipFill>
        <p:spPr bwMode="auto">
          <a:xfrm>
            <a:off x="938893" y="393246"/>
            <a:ext cx="5998936" cy="5296354"/>
          </a:xfrm>
          <a:prstGeom prst="rect">
            <a:avLst/>
          </a:prstGeom>
          <a:noFill/>
          <a:ln w="9525">
            <a:noFill/>
            <a:miter lim="800000"/>
            <a:headEnd/>
            <a:tailEnd/>
          </a:ln>
        </p:spPr>
      </p:pic>
      <p:pic>
        <p:nvPicPr>
          <p:cNvPr id="10244" name="Picture 4"/>
          <p:cNvPicPr>
            <a:picLocks noChangeAspect="1" noChangeArrowheads="1"/>
          </p:cNvPicPr>
          <p:nvPr/>
        </p:nvPicPr>
        <p:blipFill>
          <a:blip r:embed="rId3" cstate="print"/>
          <a:srcRect/>
          <a:stretch>
            <a:fillRect/>
          </a:stretch>
        </p:blipFill>
        <p:spPr bwMode="auto">
          <a:xfrm>
            <a:off x="4938484" y="2412320"/>
            <a:ext cx="1680029" cy="954995"/>
          </a:xfrm>
          <a:prstGeom prst="rect">
            <a:avLst/>
          </a:prstGeom>
          <a:noFill/>
          <a:ln w="9525">
            <a:solidFill>
              <a:schemeClr val="tx1"/>
            </a:solidFill>
            <a:miter lim="800000"/>
            <a:headEnd/>
            <a:tailEnd/>
          </a:ln>
        </p:spPr>
      </p:pic>
      <p:pic>
        <p:nvPicPr>
          <p:cNvPr id="10245" name="Picture 5"/>
          <p:cNvPicPr>
            <a:picLocks noChangeAspect="1" noChangeArrowheads="1"/>
          </p:cNvPicPr>
          <p:nvPr/>
        </p:nvPicPr>
        <p:blipFill>
          <a:blip r:embed="rId4" cstate="print"/>
          <a:srcRect/>
          <a:stretch>
            <a:fillRect/>
          </a:stretch>
        </p:blipFill>
        <p:spPr bwMode="auto">
          <a:xfrm>
            <a:off x="4891307" y="3573684"/>
            <a:ext cx="2902857" cy="2798083"/>
          </a:xfrm>
          <a:prstGeom prst="rect">
            <a:avLst/>
          </a:prstGeom>
          <a:noFill/>
          <a:ln w="9525">
            <a:solidFill>
              <a:srgbClr val="FF0000"/>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76686" y="667657"/>
            <a:ext cx="5577114" cy="5509306"/>
          </a:xfrm>
        </p:spPr>
        <p:txBody>
          <a:bodyPr/>
          <a:lstStyle/>
          <a:p>
            <a:r>
              <a:rPr lang="en-US" dirty="0"/>
              <a:t>For conditional statements ,the condition will decide the no. of times loop will execute </a:t>
            </a:r>
          </a:p>
          <a:p>
            <a:r>
              <a:rPr lang="en-US" dirty="0"/>
              <a:t>Here ,If condition is true , so it execute one stmt, it takes O(1)</a:t>
            </a:r>
          </a:p>
          <a:p>
            <a:r>
              <a:rPr lang="en-US" dirty="0"/>
              <a:t>If condition false ,then it is for O(n) times</a:t>
            </a:r>
          </a:p>
        </p:txBody>
      </p:sp>
      <p:pic>
        <p:nvPicPr>
          <p:cNvPr id="11267" name="Picture 3"/>
          <p:cNvPicPr>
            <a:picLocks noChangeAspect="1" noChangeArrowheads="1"/>
          </p:cNvPicPr>
          <p:nvPr/>
        </p:nvPicPr>
        <p:blipFill>
          <a:blip r:embed="rId2" cstate="print"/>
          <a:srcRect/>
          <a:stretch>
            <a:fillRect/>
          </a:stretch>
        </p:blipFill>
        <p:spPr bwMode="auto">
          <a:xfrm>
            <a:off x="365805" y="437470"/>
            <a:ext cx="5367338" cy="5556930"/>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76686" y="667657"/>
            <a:ext cx="5577114" cy="5509306"/>
          </a:xfrm>
        </p:spPr>
        <p:txBody>
          <a:bodyPr/>
          <a:lstStyle/>
          <a:p>
            <a:r>
              <a:rPr lang="en-US" dirty="0"/>
              <a:t>it is for O(n) times</a:t>
            </a:r>
          </a:p>
        </p:txBody>
      </p:sp>
      <p:pic>
        <p:nvPicPr>
          <p:cNvPr id="12290" name="Picture 2"/>
          <p:cNvPicPr>
            <a:picLocks noChangeAspect="1" noChangeArrowheads="1"/>
          </p:cNvPicPr>
          <p:nvPr/>
        </p:nvPicPr>
        <p:blipFill>
          <a:blip r:embed="rId2" cstate="print"/>
          <a:srcRect/>
          <a:stretch>
            <a:fillRect/>
          </a:stretch>
        </p:blipFill>
        <p:spPr bwMode="auto">
          <a:xfrm>
            <a:off x="598488" y="533627"/>
            <a:ext cx="5149169" cy="5330143"/>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846"/>
          </a:xfrm>
        </p:spPr>
        <p:txBody>
          <a:bodyPr>
            <a:normAutofit fontScale="90000"/>
          </a:bodyPr>
          <a:lstStyle/>
          <a:p>
            <a:pPr algn="ctr"/>
            <a:r>
              <a:rPr lang="en-US" b="1" dirty="0"/>
              <a:t>Time and Space Complexity of Insertion Sort</a:t>
            </a:r>
            <a:br>
              <a:rPr lang="en-US" b="1" dirty="0"/>
            </a:br>
            <a:endParaRPr lang="en-US" b="1" dirty="0"/>
          </a:p>
        </p:txBody>
      </p:sp>
      <p:sp>
        <p:nvSpPr>
          <p:cNvPr id="3" name="Content Placeholder 2"/>
          <p:cNvSpPr>
            <a:spLocks noGrp="1"/>
          </p:cNvSpPr>
          <p:nvPr>
            <p:ph idx="1"/>
          </p:nvPr>
        </p:nvSpPr>
        <p:spPr>
          <a:xfrm>
            <a:off x="838199" y="1146629"/>
            <a:ext cx="10976429" cy="5030334"/>
          </a:xfrm>
        </p:spPr>
        <p:txBody>
          <a:bodyPr>
            <a:normAutofit fontScale="70000" lnSpcReduction="20000"/>
          </a:bodyPr>
          <a:lstStyle/>
          <a:p>
            <a:pPr algn="just"/>
            <a:r>
              <a:rPr lang="en-US" b="1" dirty="0"/>
              <a:t>Insertion sort</a:t>
            </a:r>
            <a:r>
              <a:rPr lang="en-US" dirty="0"/>
              <a:t> is a simple sorting algorithm that works similarly to the way you sort playing cards in your hands.</a:t>
            </a:r>
          </a:p>
          <a:p>
            <a:r>
              <a:rPr lang="en-US" b="1" dirty="0"/>
              <a:t>Key Operations in Insertion Sort:</a:t>
            </a:r>
          </a:p>
          <a:p>
            <a:r>
              <a:rPr lang="en-US" b="1" dirty="0"/>
              <a:t>Comparisons</a:t>
            </a:r>
            <a:r>
              <a:rPr lang="en-US" dirty="0"/>
              <a:t>: Comparing the current element with sorted elements to find its correct position.</a:t>
            </a:r>
          </a:p>
          <a:p>
            <a:r>
              <a:rPr lang="en-US" b="1" dirty="0"/>
              <a:t>Shifts</a:t>
            </a:r>
            <a:r>
              <a:rPr lang="en-US" dirty="0"/>
              <a:t>: Moving sorted elements to make room for the current element.</a:t>
            </a:r>
          </a:p>
          <a:p>
            <a:pPr algn="just"/>
            <a:endParaRPr lang="en-US" dirty="0"/>
          </a:p>
          <a:p>
            <a:pPr algn="just"/>
            <a:r>
              <a:rPr lang="en-US" dirty="0"/>
              <a:t>The array is virtually split into a sorted and an unsorted part.</a:t>
            </a:r>
          </a:p>
          <a:p>
            <a:pPr algn="just"/>
            <a:r>
              <a:rPr lang="en-US" dirty="0"/>
              <a:t> Values from the unsorted part are picked and placed in the correct position in the sorted part.</a:t>
            </a:r>
          </a:p>
          <a:p>
            <a:pPr marL="514350" indent="-514350" algn="just">
              <a:buFont typeface="+mj-lt"/>
              <a:buAutoNum type="arabicPeriod"/>
            </a:pPr>
            <a:r>
              <a:rPr lang="en-US" dirty="0"/>
              <a:t>Start with the second element in the array (since the first element is already "sorted").</a:t>
            </a:r>
          </a:p>
          <a:p>
            <a:pPr marL="514350" indent="-514350" algn="just">
              <a:buFont typeface="+mj-lt"/>
              <a:buAutoNum type="arabicPeriod"/>
            </a:pPr>
            <a:r>
              <a:rPr lang="en-US" dirty="0"/>
              <a:t>Take the current element (let's call it the </a:t>
            </a:r>
            <a:r>
              <a:rPr lang="en-US" b="1" dirty="0"/>
              <a:t>key</a:t>
            </a:r>
            <a:r>
              <a:rPr lang="en-US" dirty="0"/>
              <a:t>) and compare it with the elements before it.</a:t>
            </a:r>
          </a:p>
          <a:p>
            <a:pPr marL="514350" indent="-514350" algn="just">
              <a:buFont typeface="+mj-lt"/>
              <a:buAutoNum type="arabicPeriod"/>
            </a:pPr>
            <a:r>
              <a:rPr lang="en-US" dirty="0"/>
              <a:t>If the </a:t>
            </a:r>
            <a:r>
              <a:rPr lang="en-US" b="1" dirty="0"/>
              <a:t>key</a:t>
            </a:r>
            <a:r>
              <a:rPr lang="en-US" dirty="0"/>
              <a:t> is smaller than its predecessor (the element before it), move the larger element one step to the right.</a:t>
            </a:r>
          </a:p>
          <a:p>
            <a:pPr marL="514350" indent="-514350" algn="just">
              <a:buFont typeface="+mj-lt"/>
              <a:buAutoNum type="arabicPeriod"/>
            </a:pPr>
            <a:r>
              <a:rPr lang="en-US" dirty="0"/>
              <a:t>Continue comparing the </a:t>
            </a:r>
            <a:r>
              <a:rPr lang="en-US" b="1" dirty="0"/>
              <a:t>key</a:t>
            </a:r>
            <a:r>
              <a:rPr lang="en-US" dirty="0"/>
              <a:t> with earlier elements and shifting larger elements to the right until you find the correct position for the </a:t>
            </a:r>
            <a:r>
              <a:rPr lang="en-US" b="1" dirty="0"/>
              <a:t>key</a:t>
            </a:r>
            <a:r>
              <a:rPr lang="en-US" dirty="0"/>
              <a:t>.</a:t>
            </a:r>
          </a:p>
          <a:p>
            <a:pPr marL="514350" indent="-514350" algn="just">
              <a:buFont typeface="+mj-lt"/>
              <a:buAutoNum type="arabicPeriod"/>
            </a:pPr>
            <a:r>
              <a:rPr lang="en-US" dirty="0"/>
              <a:t>Place the </a:t>
            </a:r>
            <a:r>
              <a:rPr lang="en-US" b="1" dirty="0"/>
              <a:t>key</a:t>
            </a:r>
            <a:r>
              <a:rPr lang="en-US" dirty="0"/>
              <a:t> in its correct position.</a:t>
            </a:r>
          </a:p>
          <a:p>
            <a:pPr marL="514350" indent="-514350" algn="just">
              <a:buFont typeface="+mj-lt"/>
              <a:buAutoNum type="arabicPeriod"/>
            </a:pPr>
            <a:r>
              <a:rPr lang="en-US" dirty="0"/>
              <a:t>Repeat this process for all elements in the array until the array is fully sorted.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846"/>
          </a:xfrm>
        </p:spPr>
        <p:txBody>
          <a:bodyPr>
            <a:normAutofit fontScale="90000"/>
          </a:bodyPr>
          <a:lstStyle/>
          <a:p>
            <a:r>
              <a:rPr lang="en-US" b="1" dirty="0"/>
              <a:t>Time and Space Complexity of Insertion Sort</a:t>
            </a:r>
            <a:br>
              <a:rPr lang="en-US" b="1" dirty="0"/>
            </a:br>
            <a:endParaRPr lang="en-US" dirty="0"/>
          </a:p>
        </p:txBody>
      </p:sp>
      <p:sp>
        <p:nvSpPr>
          <p:cNvPr id="4" name="Content Placeholder 3"/>
          <p:cNvSpPr>
            <a:spLocks noGrp="1"/>
          </p:cNvSpPr>
          <p:nvPr>
            <p:ph idx="1"/>
          </p:nvPr>
        </p:nvSpPr>
        <p:spPr>
          <a:xfrm>
            <a:off x="838200" y="914400"/>
            <a:ext cx="10515600" cy="5704114"/>
          </a:xfrm>
        </p:spPr>
        <p:txBody>
          <a:bodyPr>
            <a:normAutofit fontScale="92500" lnSpcReduction="10000"/>
          </a:bodyPr>
          <a:lstStyle/>
          <a:p>
            <a:r>
              <a:rPr lang="en-US" b="1" dirty="0"/>
              <a:t>Example:</a:t>
            </a:r>
          </a:p>
          <a:p>
            <a:r>
              <a:rPr lang="en-US" dirty="0"/>
              <a:t>Let's sort the array [5, 3, 8, 6] using this method:</a:t>
            </a:r>
          </a:p>
          <a:p>
            <a:r>
              <a:rPr lang="en-US" dirty="0"/>
              <a:t>Start with the second element,(key) </a:t>
            </a:r>
            <a:r>
              <a:rPr lang="en-US" b="1" dirty="0"/>
              <a:t>3</a:t>
            </a:r>
            <a:r>
              <a:rPr lang="en-US" dirty="0"/>
              <a:t>.</a:t>
            </a:r>
          </a:p>
          <a:p>
            <a:pPr lvl="1"/>
            <a:r>
              <a:rPr lang="en-US" dirty="0"/>
              <a:t>Compare it with </a:t>
            </a:r>
            <a:r>
              <a:rPr lang="en-US" b="1" dirty="0"/>
              <a:t>5</a:t>
            </a:r>
            <a:r>
              <a:rPr lang="en-US" dirty="0"/>
              <a:t>.</a:t>
            </a:r>
          </a:p>
          <a:p>
            <a:pPr lvl="1"/>
            <a:r>
              <a:rPr lang="en-US" dirty="0"/>
              <a:t>Since </a:t>
            </a:r>
            <a:r>
              <a:rPr lang="en-US" b="1" dirty="0"/>
              <a:t>3</a:t>
            </a:r>
            <a:r>
              <a:rPr lang="en-US" dirty="0"/>
              <a:t> is smaller than </a:t>
            </a:r>
            <a:r>
              <a:rPr lang="en-US" b="1" dirty="0"/>
              <a:t>5</a:t>
            </a:r>
            <a:r>
              <a:rPr lang="en-US" dirty="0"/>
              <a:t>, shift </a:t>
            </a:r>
            <a:r>
              <a:rPr lang="en-US" b="1" dirty="0"/>
              <a:t>5</a:t>
            </a:r>
            <a:r>
              <a:rPr lang="en-US" dirty="0"/>
              <a:t> to the right.</a:t>
            </a:r>
          </a:p>
          <a:p>
            <a:pPr lvl="1"/>
            <a:r>
              <a:rPr lang="en-US" dirty="0"/>
              <a:t>Place </a:t>
            </a:r>
            <a:r>
              <a:rPr lang="en-US" b="1" dirty="0"/>
              <a:t>3</a:t>
            </a:r>
            <a:r>
              <a:rPr lang="en-US" dirty="0"/>
              <a:t> in its correct position: [3, 5, 8, 6].</a:t>
            </a:r>
          </a:p>
          <a:p>
            <a:r>
              <a:rPr lang="en-US" dirty="0"/>
              <a:t>Move to the third element, </a:t>
            </a:r>
            <a:r>
              <a:rPr lang="en-US" b="1" dirty="0"/>
              <a:t>8</a:t>
            </a:r>
            <a:r>
              <a:rPr lang="en-US" dirty="0"/>
              <a:t>.</a:t>
            </a:r>
          </a:p>
          <a:p>
            <a:pPr lvl="1"/>
            <a:r>
              <a:rPr lang="en-US" dirty="0"/>
              <a:t>Compare it with </a:t>
            </a:r>
            <a:r>
              <a:rPr lang="en-US" b="1" dirty="0"/>
              <a:t>5</a:t>
            </a:r>
            <a:r>
              <a:rPr lang="en-US" dirty="0"/>
              <a:t>.</a:t>
            </a:r>
          </a:p>
          <a:p>
            <a:pPr lvl="1"/>
            <a:r>
              <a:rPr lang="en-US" dirty="0"/>
              <a:t>Since </a:t>
            </a:r>
            <a:r>
              <a:rPr lang="en-US" b="1" dirty="0"/>
              <a:t>8</a:t>
            </a:r>
            <a:r>
              <a:rPr lang="en-US" dirty="0"/>
              <a:t> is larger, it remains in its position: [3, 5, 8, 6].</a:t>
            </a:r>
          </a:p>
          <a:p>
            <a:r>
              <a:rPr lang="en-US" dirty="0"/>
              <a:t>Move to the fourth element, </a:t>
            </a:r>
            <a:r>
              <a:rPr lang="en-US" b="1" dirty="0"/>
              <a:t>6</a:t>
            </a:r>
            <a:r>
              <a:rPr lang="en-US" dirty="0"/>
              <a:t>.</a:t>
            </a:r>
          </a:p>
          <a:p>
            <a:pPr lvl="1"/>
            <a:r>
              <a:rPr lang="en-US" dirty="0"/>
              <a:t>Compare it with </a:t>
            </a:r>
            <a:r>
              <a:rPr lang="en-US" b="1" dirty="0"/>
              <a:t>8</a:t>
            </a:r>
            <a:r>
              <a:rPr lang="en-US" dirty="0"/>
              <a:t>.</a:t>
            </a:r>
          </a:p>
          <a:p>
            <a:pPr lvl="1"/>
            <a:r>
              <a:rPr lang="en-US" dirty="0"/>
              <a:t>Since </a:t>
            </a:r>
            <a:r>
              <a:rPr lang="en-US" b="1" dirty="0"/>
              <a:t>6</a:t>
            </a:r>
            <a:r>
              <a:rPr lang="en-US" dirty="0"/>
              <a:t> is smaller, shift </a:t>
            </a:r>
            <a:r>
              <a:rPr lang="en-US" b="1" dirty="0"/>
              <a:t>8</a:t>
            </a:r>
            <a:r>
              <a:rPr lang="en-US" dirty="0"/>
              <a:t> to the right.</a:t>
            </a:r>
          </a:p>
          <a:p>
            <a:pPr lvl="1"/>
            <a:r>
              <a:rPr lang="en-US" dirty="0"/>
              <a:t>Compare </a:t>
            </a:r>
            <a:r>
              <a:rPr lang="en-US" b="1" dirty="0"/>
              <a:t>6</a:t>
            </a:r>
            <a:r>
              <a:rPr lang="en-US" dirty="0"/>
              <a:t> with </a:t>
            </a:r>
            <a:r>
              <a:rPr lang="en-US" b="1" dirty="0"/>
              <a:t>5</a:t>
            </a:r>
            <a:r>
              <a:rPr lang="en-US" dirty="0"/>
              <a:t>.</a:t>
            </a:r>
          </a:p>
          <a:p>
            <a:pPr lvl="1"/>
            <a:r>
              <a:rPr lang="en-US" dirty="0"/>
              <a:t>Since </a:t>
            </a:r>
            <a:r>
              <a:rPr lang="en-US" b="1" dirty="0"/>
              <a:t>6</a:t>
            </a:r>
            <a:r>
              <a:rPr lang="en-US" dirty="0"/>
              <a:t> is larger than </a:t>
            </a:r>
            <a:r>
              <a:rPr lang="en-US" b="1" dirty="0"/>
              <a:t>5</a:t>
            </a:r>
            <a:r>
              <a:rPr lang="en-US" dirty="0"/>
              <a:t>, place </a:t>
            </a:r>
            <a:r>
              <a:rPr lang="en-US" b="1" dirty="0"/>
              <a:t>6</a:t>
            </a:r>
            <a:r>
              <a:rPr lang="en-US" dirty="0"/>
              <a:t> after </a:t>
            </a:r>
            <a:r>
              <a:rPr lang="en-US" b="1" dirty="0"/>
              <a:t>5</a:t>
            </a:r>
            <a:r>
              <a:rPr lang="en-US" dirty="0"/>
              <a:t>: [3, 5, 6, 8].</a:t>
            </a:r>
          </a:p>
          <a:p>
            <a:r>
              <a:rPr lang="en-US" dirty="0"/>
              <a:t>Now the array is sorted in ascending order: [3, 5, 6, 8].</a:t>
            </a:r>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 Algorithm</a:t>
            </a:r>
          </a:p>
        </p:txBody>
      </p:sp>
      <p:sp>
        <p:nvSpPr>
          <p:cNvPr id="3" name="Content Placeholder 2"/>
          <p:cNvSpPr>
            <a:spLocks noGrp="1"/>
          </p:cNvSpPr>
          <p:nvPr>
            <p:ph idx="1"/>
          </p:nvPr>
        </p:nvSpPr>
        <p:spPr/>
        <p:txBody>
          <a:bodyPr/>
          <a:lstStyle/>
          <a:p>
            <a:pPr>
              <a:buNone/>
            </a:pPr>
            <a:r>
              <a:rPr lang="en-US" dirty="0" err="1"/>
              <a:t>InsertionSort</a:t>
            </a:r>
            <a:r>
              <a:rPr lang="en-US" dirty="0"/>
              <a:t>(</a:t>
            </a:r>
            <a:r>
              <a:rPr lang="en-US" dirty="0" err="1"/>
              <a:t>arr</a:t>
            </a:r>
            <a:r>
              <a:rPr lang="en-US" dirty="0"/>
              <a:t>):</a:t>
            </a:r>
          </a:p>
          <a:p>
            <a:pPr>
              <a:buNone/>
            </a:pPr>
            <a:r>
              <a:rPr lang="en-US" dirty="0"/>
              <a:t>    for i = 1 to length(</a:t>
            </a:r>
            <a:r>
              <a:rPr lang="en-US" dirty="0" err="1"/>
              <a:t>arr</a:t>
            </a:r>
            <a:r>
              <a:rPr lang="en-US" dirty="0"/>
              <a:t>) - 1:</a:t>
            </a:r>
          </a:p>
          <a:p>
            <a:pPr>
              <a:buNone/>
            </a:pPr>
            <a:r>
              <a:rPr lang="en-US" dirty="0"/>
              <a:t>        key = </a:t>
            </a:r>
            <a:r>
              <a:rPr lang="en-US" dirty="0" err="1"/>
              <a:t>arr</a:t>
            </a:r>
            <a:r>
              <a:rPr lang="en-US" dirty="0"/>
              <a:t>[i]</a:t>
            </a:r>
          </a:p>
          <a:p>
            <a:pPr>
              <a:buNone/>
            </a:pPr>
            <a:r>
              <a:rPr lang="en-US" dirty="0"/>
              <a:t>        j = i - 1</a:t>
            </a:r>
          </a:p>
          <a:p>
            <a:pPr>
              <a:buNone/>
            </a:pPr>
            <a:r>
              <a:rPr lang="en-US" dirty="0"/>
              <a:t>        while j &gt;= 0 and </a:t>
            </a:r>
            <a:r>
              <a:rPr lang="en-US" dirty="0" err="1"/>
              <a:t>arr</a:t>
            </a:r>
            <a:r>
              <a:rPr lang="en-US" dirty="0"/>
              <a:t>[j] &gt; key:</a:t>
            </a:r>
          </a:p>
          <a:p>
            <a:pPr>
              <a:buNone/>
            </a:pPr>
            <a:r>
              <a:rPr lang="en-US" dirty="0"/>
              <a:t>            </a:t>
            </a:r>
            <a:r>
              <a:rPr lang="en-US" dirty="0" err="1"/>
              <a:t>arr</a:t>
            </a:r>
            <a:r>
              <a:rPr lang="en-US" dirty="0"/>
              <a:t>[j + 1] = </a:t>
            </a:r>
            <a:r>
              <a:rPr lang="en-US" dirty="0" err="1"/>
              <a:t>arr</a:t>
            </a:r>
            <a:r>
              <a:rPr lang="en-US" dirty="0"/>
              <a:t>[j] 		 # Shift element to the right</a:t>
            </a:r>
          </a:p>
          <a:p>
            <a:pPr>
              <a:buNone/>
            </a:pPr>
            <a:r>
              <a:rPr lang="en-US" dirty="0"/>
              <a:t>            j = j - 1</a:t>
            </a:r>
          </a:p>
          <a:p>
            <a:pPr>
              <a:buNone/>
            </a:pPr>
            <a:r>
              <a:rPr lang="en-US" dirty="0"/>
              <a:t>        </a:t>
            </a:r>
            <a:r>
              <a:rPr lang="en-US" dirty="0" err="1"/>
              <a:t>arr</a:t>
            </a:r>
            <a:r>
              <a:rPr lang="en-US" dirty="0"/>
              <a:t>[j + 1] = key 		 # Insert key into correct position</a:t>
            </a:r>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629" y="0"/>
            <a:ext cx="3748314" cy="563788"/>
          </a:xfrm>
        </p:spPr>
        <p:txBody>
          <a:bodyPr>
            <a:normAutofit fontScale="90000"/>
          </a:bodyPr>
          <a:lstStyle/>
          <a:p>
            <a:r>
              <a:rPr lang="en-US" dirty="0"/>
              <a:t>5  4  10  1  6  2</a:t>
            </a:r>
          </a:p>
        </p:txBody>
      </p:sp>
      <p:sp>
        <p:nvSpPr>
          <p:cNvPr id="5" name="Rectangle 4"/>
          <p:cNvSpPr/>
          <p:nvPr/>
        </p:nvSpPr>
        <p:spPr>
          <a:xfrm>
            <a:off x="87088" y="500196"/>
            <a:ext cx="4136572"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t>Step 1: First Iteration (i=1)  Key</a:t>
            </a:r>
            <a:r>
              <a:rPr lang="en-US" dirty="0"/>
              <a:t>: 4</a:t>
            </a:r>
          </a:p>
          <a:p>
            <a:r>
              <a:rPr lang="en-US" b="1" dirty="0"/>
              <a:t>Initial j=0</a:t>
            </a:r>
            <a:r>
              <a:rPr lang="en-US" dirty="0"/>
              <a:t>(starts from i−1</a:t>
            </a:r>
          </a:p>
          <a:p>
            <a:r>
              <a:rPr lang="en-US" dirty="0"/>
              <a:t>Compare 4 with </a:t>
            </a:r>
            <a:r>
              <a:rPr lang="en-US" dirty="0" err="1"/>
              <a:t>arr</a:t>
            </a:r>
            <a:r>
              <a:rPr lang="en-US" dirty="0"/>
              <a:t>[j]=5:</a:t>
            </a:r>
          </a:p>
          <a:p>
            <a:pPr lvl="1"/>
            <a:r>
              <a:rPr lang="en-US" dirty="0"/>
              <a:t>4&lt;5, so shift 5 one position to the right.</a:t>
            </a:r>
          </a:p>
          <a:p>
            <a:pPr lvl="1"/>
            <a:r>
              <a:rPr lang="en-US" dirty="0"/>
              <a:t>j becomes −1 (end of while loop).</a:t>
            </a:r>
          </a:p>
          <a:p>
            <a:r>
              <a:rPr lang="en-US" dirty="0"/>
              <a:t>Insert 4 at position j+1=0.</a:t>
            </a:r>
          </a:p>
          <a:p>
            <a:r>
              <a:rPr lang="en-US" b="1" dirty="0"/>
              <a:t>Array after Step 1</a:t>
            </a:r>
            <a:r>
              <a:rPr lang="en-US" dirty="0"/>
              <a:t>: 4,5,10,1,6,2</a:t>
            </a:r>
          </a:p>
        </p:txBody>
      </p:sp>
      <p:sp>
        <p:nvSpPr>
          <p:cNvPr id="7" name="Rectangle 6"/>
          <p:cNvSpPr/>
          <p:nvPr/>
        </p:nvSpPr>
        <p:spPr>
          <a:xfrm>
            <a:off x="72578" y="2921341"/>
            <a:ext cx="4093029"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t>Step 2: Second Iteration (i=2)</a:t>
            </a:r>
          </a:p>
          <a:p>
            <a:r>
              <a:rPr lang="en-US" b="1" dirty="0"/>
              <a:t>Key</a:t>
            </a:r>
            <a:r>
              <a:rPr lang="en-US" dirty="0"/>
              <a:t>: 10</a:t>
            </a:r>
          </a:p>
          <a:p>
            <a:r>
              <a:rPr lang="en-US" b="1" dirty="0"/>
              <a:t>Initial j=1</a:t>
            </a:r>
            <a:r>
              <a:rPr lang="en-US" dirty="0"/>
              <a:t> (starts from i−1)</a:t>
            </a:r>
          </a:p>
          <a:p>
            <a:r>
              <a:rPr lang="en-US" dirty="0"/>
              <a:t>Compare 10with </a:t>
            </a:r>
            <a:r>
              <a:rPr lang="en-US" dirty="0" err="1"/>
              <a:t>arr</a:t>
            </a:r>
            <a:r>
              <a:rPr lang="en-US" dirty="0"/>
              <a:t>[j]=5:</a:t>
            </a:r>
          </a:p>
          <a:p>
            <a:pPr lvl="1"/>
            <a:r>
              <a:rPr lang="en-US" dirty="0"/>
              <a:t>10&gt;5, so no shifting is needed.</a:t>
            </a:r>
          </a:p>
          <a:p>
            <a:pPr lvl="1"/>
            <a:r>
              <a:rPr lang="en-US" dirty="0"/>
              <a:t>j remains 1 (inner loop does not execute).</a:t>
            </a:r>
          </a:p>
          <a:p>
            <a:r>
              <a:rPr lang="en-US" b="1" dirty="0"/>
              <a:t>Array after Step 2</a:t>
            </a:r>
            <a:r>
              <a:rPr lang="en-US" dirty="0"/>
              <a:t>: 4,5,10,1,6,2</a:t>
            </a:r>
          </a:p>
        </p:txBody>
      </p:sp>
      <p:sp>
        <p:nvSpPr>
          <p:cNvPr id="8" name="Rectangle 7"/>
          <p:cNvSpPr/>
          <p:nvPr/>
        </p:nvSpPr>
        <p:spPr>
          <a:xfrm>
            <a:off x="4281714" y="145145"/>
            <a:ext cx="4659086" cy="3970318"/>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Step 3: Third Iteration (i=3)</a:t>
            </a:r>
          </a:p>
          <a:p>
            <a:r>
              <a:rPr lang="en-US" b="1" dirty="0"/>
              <a:t>Key</a:t>
            </a:r>
            <a:r>
              <a:rPr lang="en-US" dirty="0"/>
              <a:t>: 1</a:t>
            </a:r>
          </a:p>
          <a:p>
            <a:r>
              <a:rPr lang="en-US" b="1" dirty="0"/>
              <a:t>Initial j=2</a:t>
            </a:r>
            <a:r>
              <a:rPr lang="en-US" dirty="0"/>
              <a:t> (starts from i−1)</a:t>
            </a:r>
          </a:p>
          <a:p>
            <a:r>
              <a:rPr lang="en-US" dirty="0"/>
              <a:t>Compare 1 with </a:t>
            </a:r>
            <a:r>
              <a:rPr lang="en-US" dirty="0" err="1"/>
              <a:t>arr</a:t>
            </a:r>
            <a:r>
              <a:rPr lang="en-US" dirty="0"/>
              <a:t>[j]=10:</a:t>
            </a:r>
          </a:p>
          <a:p>
            <a:pPr lvl="1"/>
            <a:r>
              <a:rPr lang="en-US" dirty="0"/>
              <a:t>1&lt;10, so shift 10 one position to the right.</a:t>
            </a:r>
          </a:p>
          <a:p>
            <a:pPr lvl="1"/>
            <a:r>
              <a:rPr lang="en-US" dirty="0"/>
              <a:t>j=1</a:t>
            </a:r>
          </a:p>
          <a:p>
            <a:r>
              <a:rPr lang="en-US" dirty="0"/>
              <a:t>Compare 1 with </a:t>
            </a:r>
            <a:r>
              <a:rPr lang="en-US" dirty="0" err="1"/>
              <a:t>arr</a:t>
            </a:r>
            <a:r>
              <a:rPr lang="en-US" dirty="0"/>
              <a:t>[j]=5:</a:t>
            </a:r>
          </a:p>
          <a:p>
            <a:pPr lvl="1"/>
            <a:r>
              <a:rPr lang="en-US" dirty="0"/>
              <a:t>1&lt;5, so shift 5 one position to the right.</a:t>
            </a:r>
          </a:p>
          <a:p>
            <a:pPr lvl="1"/>
            <a:r>
              <a:rPr lang="en-US" dirty="0"/>
              <a:t>j=0.</a:t>
            </a:r>
          </a:p>
          <a:p>
            <a:r>
              <a:rPr lang="en-US" dirty="0"/>
              <a:t>Compare 1 with </a:t>
            </a:r>
            <a:r>
              <a:rPr lang="en-US" dirty="0" err="1"/>
              <a:t>arr</a:t>
            </a:r>
            <a:r>
              <a:rPr lang="en-US" dirty="0"/>
              <a:t>[j]=4:</a:t>
            </a:r>
          </a:p>
          <a:p>
            <a:pPr lvl="1"/>
            <a:r>
              <a:rPr lang="en-US" dirty="0"/>
              <a:t>1&lt;4, so shift 4 one position to the right.</a:t>
            </a:r>
          </a:p>
          <a:p>
            <a:pPr lvl="1"/>
            <a:r>
              <a:rPr lang="en-US" dirty="0"/>
              <a:t>j=−1 (end of while loop).</a:t>
            </a:r>
          </a:p>
          <a:p>
            <a:r>
              <a:rPr lang="en-US" dirty="0"/>
              <a:t>Insert 1 at position j+1=0</a:t>
            </a:r>
          </a:p>
          <a:p>
            <a:r>
              <a:rPr lang="en-US" dirty="0"/>
              <a:t>a</a:t>
            </a:r>
            <a:r>
              <a:rPr lang="en-US" b="1" dirty="0"/>
              <a:t>rray after Step 3</a:t>
            </a:r>
            <a:r>
              <a:rPr lang="en-US" dirty="0"/>
              <a:t>: 1,4,5,10,6,2</a:t>
            </a:r>
          </a:p>
        </p:txBody>
      </p:sp>
      <p:sp>
        <p:nvSpPr>
          <p:cNvPr id="9" name="Rectangle 8"/>
          <p:cNvSpPr/>
          <p:nvPr/>
        </p:nvSpPr>
        <p:spPr>
          <a:xfrm>
            <a:off x="4267202" y="4180127"/>
            <a:ext cx="4702630" cy="2862322"/>
          </a:xfrm>
          <a:prstGeom prst="rect">
            <a:avLst/>
          </a:prstGeom>
          <a:ln w="38100">
            <a:solidFill>
              <a:srgbClr val="0070C0"/>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b="1" dirty="0"/>
              <a:t>Step 4: Fourth Iteration (i=4)</a:t>
            </a:r>
          </a:p>
          <a:p>
            <a:r>
              <a:rPr lang="en-US" b="1" dirty="0"/>
              <a:t>Key</a:t>
            </a:r>
            <a:r>
              <a:rPr lang="en-US" dirty="0"/>
              <a:t>: 6</a:t>
            </a:r>
          </a:p>
          <a:p>
            <a:r>
              <a:rPr lang="en-US" b="1" dirty="0"/>
              <a:t>Initial j=3</a:t>
            </a:r>
            <a:r>
              <a:rPr lang="en-US" dirty="0"/>
              <a:t> (starts from i−1)</a:t>
            </a:r>
          </a:p>
          <a:p>
            <a:r>
              <a:rPr lang="en-US" dirty="0"/>
              <a:t>Compare 6 with </a:t>
            </a:r>
            <a:r>
              <a:rPr lang="en-US" dirty="0" err="1"/>
              <a:t>arr</a:t>
            </a:r>
            <a:r>
              <a:rPr lang="en-US" dirty="0"/>
              <a:t>[j]=10:</a:t>
            </a:r>
          </a:p>
          <a:p>
            <a:pPr lvl="1"/>
            <a:r>
              <a:rPr lang="en-US" dirty="0"/>
              <a:t>6&lt;10, so shift 10 one position to the right.</a:t>
            </a:r>
          </a:p>
          <a:p>
            <a:pPr lvl="1"/>
            <a:r>
              <a:rPr lang="en-US" dirty="0"/>
              <a:t>j=2.</a:t>
            </a:r>
          </a:p>
          <a:p>
            <a:r>
              <a:rPr lang="en-US" dirty="0"/>
              <a:t>Compare 6 with </a:t>
            </a:r>
            <a:r>
              <a:rPr lang="en-US" dirty="0" err="1"/>
              <a:t>arr</a:t>
            </a:r>
            <a:r>
              <a:rPr lang="en-US" dirty="0"/>
              <a:t>[j]=5:</a:t>
            </a:r>
          </a:p>
          <a:p>
            <a:pPr lvl="1"/>
            <a:r>
              <a:rPr lang="en-US" dirty="0"/>
              <a:t>6&gt;5, so stop shifting.</a:t>
            </a:r>
          </a:p>
          <a:p>
            <a:pPr lvl="1"/>
            <a:r>
              <a:rPr lang="en-US" dirty="0"/>
              <a:t>j=2 (inner loop exits).</a:t>
            </a:r>
          </a:p>
          <a:p>
            <a:r>
              <a:rPr lang="en-US" dirty="0"/>
              <a:t>Insert 6 at position j+1=3. </a:t>
            </a:r>
            <a:r>
              <a:rPr lang="en-US" sz="1200" b="1" dirty="0"/>
              <a:t>Array after Step 4</a:t>
            </a:r>
            <a:r>
              <a:rPr lang="en-US" sz="1200" dirty="0"/>
              <a:t>: 1,4,5,6,10,2</a:t>
            </a:r>
            <a:endParaRPr lang="en-US" dirty="0"/>
          </a:p>
        </p:txBody>
      </p:sp>
      <p:sp>
        <p:nvSpPr>
          <p:cNvPr id="11" name="Rectangle 10"/>
          <p:cNvSpPr/>
          <p:nvPr/>
        </p:nvSpPr>
        <p:spPr>
          <a:xfrm>
            <a:off x="8969828" y="117693"/>
            <a:ext cx="3222172" cy="6740307"/>
          </a:xfrm>
          <a:prstGeom prst="rect">
            <a:avLst/>
          </a:prstGeom>
          <a:ln w="28575">
            <a:solidFill>
              <a:schemeClr val="tx1"/>
            </a:solidFill>
          </a:ln>
        </p:spPr>
        <p:txBody>
          <a:bodyPr wrap="square">
            <a:spAutoFit/>
          </a:bodyPr>
          <a:lstStyle/>
          <a:p>
            <a:r>
              <a:rPr lang="en-US" b="1" dirty="0"/>
              <a:t>Step 5: Fifth Iteration (i=5)</a:t>
            </a:r>
          </a:p>
          <a:p>
            <a:r>
              <a:rPr lang="en-US" b="1" dirty="0"/>
              <a:t>Key</a:t>
            </a:r>
            <a:r>
              <a:rPr lang="en-US" dirty="0"/>
              <a:t>: 2</a:t>
            </a:r>
          </a:p>
          <a:p>
            <a:r>
              <a:rPr lang="en-US" b="1" dirty="0"/>
              <a:t>Initial j=4</a:t>
            </a:r>
            <a:r>
              <a:rPr lang="en-US" dirty="0"/>
              <a:t> (starts from i−1)</a:t>
            </a:r>
          </a:p>
          <a:p>
            <a:r>
              <a:rPr lang="en-US" dirty="0"/>
              <a:t>Compare 2 with </a:t>
            </a:r>
            <a:r>
              <a:rPr lang="en-US" dirty="0" err="1"/>
              <a:t>arr</a:t>
            </a:r>
            <a:r>
              <a:rPr lang="en-US" dirty="0"/>
              <a:t>[j]=10a:</a:t>
            </a:r>
          </a:p>
          <a:p>
            <a:pPr lvl="1"/>
            <a:r>
              <a:rPr lang="en-US" dirty="0"/>
              <a:t>2&lt;10, so shift 10 one position to the right.</a:t>
            </a:r>
          </a:p>
          <a:p>
            <a:pPr lvl="1"/>
            <a:r>
              <a:rPr lang="en-US" dirty="0"/>
              <a:t>j=3.</a:t>
            </a:r>
          </a:p>
          <a:p>
            <a:r>
              <a:rPr lang="en-US" dirty="0"/>
              <a:t>Compare 2 with </a:t>
            </a:r>
            <a:r>
              <a:rPr lang="en-US" dirty="0" err="1"/>
              <a:t>arr</a:t>
            </a:r>
            <a:r>
              <a:rPr lang="en-US" dirty="0"/>
              <a:t>[j]=6:</a:t>
            </a:r>
          </a:p>
          <a:p>
            <a:pPr lvl="1"/>
            <a:r>
              <a:rPr lang="en-US" dirty="0"/>
              <a:t>2&lt;6, so shift 6 one position to the right.</a:t>
            </a:r>
          </a:p>
          <a:p>
            <a:pPr lvl="1"/>
            <a:r>
              <a:rPr lang="en-US" dirty="0"/>
              <a:t>j=2.</a:t>
            </a:r>
          </a:p>
          <a:p>
            <a:r>
              <a:rPr lang="en-US" dirty="0"/>
              <a:t>Compare 2 with </a:t>
            </a:r>
            <a:r>
              <a:rPr lang="en-US" dirty="0" err="1"/>
              <a:t>arr</a:t>
            </a:r>
            <a:r>
              <a:rPr lang="en-US" dirty="0"/>
              <a:t>[j]=5:</a:t>
            </a:r>
          </a:p>
          <a:p>
            <a:pPr lvl="1"/>
            <a:r>
              <a:rPr lang="en-US" dirty="0"/>
              <a:t>2&lt;5, so shift 5 one position to the right.</a:t>
            </a:r>
          </a:p>
          <a:p>
            <a:pPr lvl="1"/>
            <a:r>
              <a:rPr lang="en-US" dirty="0"/>
              <a:t>j=1.</a:t>
            </a:r>
          </a:p>
          <a:p>
            <a:r>
              <a:rPr lang="en-US" dirty="0"/>
              <a:t>Compare 2 with </a:t>
            </a:r>
            <a:r>
              <a:rPr lang="en-US" dirty="0" err="1"/>
              <a:t>arr</a:t>
            </a:r>
            <a:r>
              <a:rPr lang="en-US" dirty="0"/>
              <a:t>[j]=4:</a:t>
            </a:r>
          </a:p>
          <a:p>
            <a:pPr lvl="1"/>
            <a:r>
              <a:rPr lang="en-US" dirty="0"/>
              <a:t>2&lt;4, so shift 4 one position to the right.</a:t>
            </a:r>
          </a:p>
          <a:p>
            <a:pPr lvl="1"/>
            <a:r>
              <a:rPr lang="en-US" dirty="0"/>
              <a:t>j=0.</a:t>
            </a:r>
          </a:p>
          <a:p>
            <a:r>
              <a:rPr lang="en-US" dirty="0"/>
              <a:t>Compare 2 with </a:t>
            </a:r>
            <a:r>
              <a:rPr lang="en-US" dirty="0" err="1"/>
              <a:t>arr</a:t>
            </a:r>
            <a:r>
              <a:rPr lang="en-US" dirty="0"/>
              <a:t>[j]=1:</a:t>
            </a:r>
          </a:p>
          <a:p>
            <a:pPr lvl="1"/>
            <a:r>
              <a:rPr lang="en-US" dirty="0"/>
              <a:t>2&gt;1, so stop shifting.</a:t>
            </a:r>
          </a:p>
          <a:p>
            <a:pPr lvl="1"/>
            <a:r>
              <a:rPr lang="en-US" dirty="0"/>
              <a:t>j=0 (inner loop exits).</a:t>
            </a:r>
          </a:p>
          <a:p>
            <a:r>
              <a:rPr lang="en-US" dirty="0"/>
              <a:t>Insert 2 at position j+1=1</a:t>
            </a:r>
          </a:p>
          <a:p>
            <a:r>
              <a:rPr lang="en-US" b="1" dirty="0"/>
              <a:t>Array after Step 5</a:t>
            </a:r>
            <a:r>
              <a:rPr lang="en-US" dirty="0"/>
              <a:t>: 1,2,4,5,6,10</a:t>
            </a:r>
          </a:p>
        </p:txBody>
      </p:sp>
      <p:sp>
        <p:nvSpPr>
          <p:cNvPr id="12" name="Rectangle 11"/>
          <p:cNvSpPr/>
          <p:nvPr/>
        </p:nvSpPr>
        <p:spPr>
          <a:xfrm>
            <a:off x="340801" y="5769820"/>
            <a:ext cx="3381054" cy="523220"/>
          </a:xfrm>
          <a:prstGeom prst="rect">
            <a:avLst/>
          </a:prstGeom>
        </p:spPr>
        <p:txBody>
          <a:bodyPr wrap="none">
            <a:spAutoFit/>
          </a:bodyPr>
          <a:lstStyle/>
          <a:p>
            <a:r>
              <a:rPr lang="en-US" sz="2800" dirty="0"/>
              <a:t>Output:    1,2,4,5,6,10</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8971" y="0"/>
            <a:ext cx="11451771" cy="923330"/>
          </a:xfrm>
          <a:prstGeom prst="rect">
            <a:avLst/>
          </a:prstGeom>
        </p:spPr>
        <p:txBody>
          <a:bodyPr wrap="square">
            <a:spAutoFit/>
          </a:bodyPr>
          <a:lstStyle/>
          <a:p>
            <a:pPr algn="ctr"/>
            <a:r>
              <a:rPr lang="en-US" sz="3600" b="1" dirty="0"/>
              <a:t>Time Complexity of Insertion Sort:</a:t>
            </a:r>
          </a:p>
          <a:p>
            <a:pPr algn="ctr"/>
            <a:endParaRPr lang="en-US" dirty="0"/>
          </a:p>
        </p:txBody>
      </p:sp>
      <p:sp>
        <p:nvSpPr>
          <p:cNvPr id="5" name="Rectangle 4"/>
          <p:cNvSpPr/>
          <p:nvPr/>
        </p:nvSpPr>
        <p:spPr>
          <a:xfrm>
            <a:off x="522513" y="654670"/>
            <a:ext cx="7663544" cy="35394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800" b="1" dirty="0"/>
              <a:t>Best Case: O(n)</a:t>
            </a:r>
          </a:p>
          <a:p>
            <a:pPr algn="just"/>
            <a:r>
              <a:rPr lang="en-US" sz="2800" b="1" dirty="0"/>
              <a:t>Scenario</a:t>
            </a:r>
            <a:r>
              <a:rPr lang="en-US" sz="2800" dirty="0"/>
              <a:t>: The array is already sorted.</a:t>
            </a:r>
          </a:p>
          <a:p>
            <a:pPr algn="just"/>
            <a:r>
              <a:rPr lang="en-US" sz="2800" b="1" dirty="0"/>
              <a:t>Explanation</a:t>
            </a:r>
            <a:r>
              <a:rPr lang="en-US" sz="2800" dirty="0"/>
              <a:t>:</a:t>
            </a:r>
          </a:p>
          <a:p>
            <a:pPr lvl="1" algn="just">
              <a:buFont typeface="Arial" pitchFamily="34" charset="0"/>
              <a:buChar char="•"/>
            </a:pPr>
            <a:r>
              <a:rPr lang="en-US" sz="2800" dirty="0"/>
              <a:t>The algorithm performs n−1 comparisons and n shifts (1 shift per element, including placing it back in the same spot).</a:t>
            </a:r>
          </a:p>
          <a:p>
            <a:pPr algn="just"/>
            <a:r>
              <a:rPr lang="en-US" sz="2800" dirty="0"/>
              <a:t>Therefore, the total number of operations is proportional to the size of the array, i.e., O(n).</a:t>
            </a:r>
          </a:p>
        </p:txBody>
      </p:sp>
      <p:sp>
        <p:nvSpPr>
          <p:cNvPr id="6" name="Rectangle 5"/>
          <p:cNvSpPr/>
          <p:nvPr/>
        </p:nvSpPr>
        <p:spPr>
          <a:xfrm>
            <a:off x="8563430" y="903851"/>
            <a:ext cx="3265714" cy="415498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b="1" dirty="0"/>
              <a:t>Best Case Analysis:</a:t>
            </a:r>
          </a:p>
          <a:p>
            <a:r>
              <a:rPr lang="en-US" sz="2400" b="1" dirty="0"/>
              <a:t>Input</a:t>
            </a:r>
            <a:r>
              <a:rPr lang="en-US" sz="2400" dirty="0"/>
              <a:t>: Array is already sorted.</a:t>
            </a:r>
          </a:p>
          <a:p>
            <a:r>
              <a:rPr lang="en-US" sz="2400" b="1" dirty="0"/>
              <a:t>Inner Loop Execution</a:t>
            </a:r>
            <a:r>
              <a:rPr lang="en-US" sz="2400" dirty="0"/>
              <a:t>: 0 times for each i.</a:t>
            </a:r>
          </a:p>
          <a:p>
            <a:r>
              <a:rPr lang="en-US" sz="2400" b="1" dirty="0"/>
              <a:t>Total Frequency</a:t>
            </a:r>
            <a:r>
              <a:rPr lang="en-US" sz="2400" dirty="0"/>
              <a:t>:</a:t>
            </a:r>
          </a:p>
          <a:p>
            <a:pPr lvl="1"/>
            <a:r>
              <a:rPr lang="en-US" sz="2400" dirty="0"/>
              <a:t>Outer loop: (n−1) times.</a:t>
            </a:r>
          </a:p>
          <a:p>
            <a:pPr lvl="1"/>
            <a:r>
              <a:rPr lang="en-US" sz="2400" dirty="0"/>
              <a:t>Inner loop: 0 times.</a:t>
            </a:r>
          </a:p>
          <a:p>
            <a:pPr lvl="1"/>
            <a:r>
              <a:rPr lang="en-US" sz="2400" dirty="0"/>
              <a:t>Overall time complexity: O(n).</a:t>
            </a:r>
          </a:p>
        </p:txBody>
      </p:sp>
      <p:pic>
        <p:nvPicPr>
          <p:cNvPr id="1026" name="Picture 2"/>
          <p:cNvPicPr>
            <a:picLocks noChangeAspect="1" noChangeArrowheads="1"/>
          </p:cNvPicPr>
          <p:nvPr/>
        </p:nvPicPr>
        <p:blipFill>
          <a:blip r:embed="rId2" cstate="print"/>
          <a:srcRect/>
          <a:stretch>
            <a:fillRect/>
          </a:stretch>
        </p:blipFill>
        <p:spPr bwMode="auto">
          <a:xfrm>
            <a:off x="508681" y="4345442"/>
            <a:ext cx="6791325" cy="2085975"/>
          </a:xfrm>
          <a:prstGeom prst="rect">
            <a:avLst/>
          </a:prstGeom>
          <a:noFill/>
          <a:ln w="9525">
            <a:noFill/>
            <a:miter lim="800000"/>
            <a:headEnd/>
            <a:tailEnd/>
          </a:ln>
        </p:spPr>
      </p:pic>
      <p:sp>
        <p:nvSpPr>
          <p:cNvPr id="7" name="Rectangle 6"/>
          <p:cNvSpPr/>
          <p:nvPr/>
        </p:nvSpPr>
        <p:spPr>
          <a:xfrm>
            <a:off x="6963537" y="5552105"/>
            <a:ext cx="5113195" cy="369332"/>
          </a:xfrm>
          <a:prstGeom prst="rect">
            <a:avLst/>
          </a:prstGeom>
        </p:spPr>
        <p:txBody>
          <a:bodyPr wrap="none">
            <a:spAutoFit/>
          </a:bodyPr>
          <a:lstStyle/>
          <a:p>
            <a:r>
              <a:rPr lang="en-US" dirty="0"/>
              <a:t>n−1 comparisons for [ 1 2 3 4 5 ] means sorted array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7029"/>
            <a:ext cx="10515600" cy="5639934"/>
          </a:xfrm>
        </p:spPr>
        <p:txBody>
          <a:bodyPr/>
          <a:lstStyle/>
          <a:p>
            <a:r>
              <a:rPr lang="en-US" b="1" dirty="0"/>
              <a:t>Worst Case Analysis</a:t>
            </a:r>
          </a:p>
          <a:p>
            <a:r>
              <a:rPr lang="en-US" b="1" dirty="0"/>
              <a:t>Input</a:t>
            </a:r>
            <a:r>
              <a:rPr lang="en-US" dirty="0"/>
              <a:t>: Array is in reverse order.</a:t>
            </a:r>
          </a:p>
          <a:p>
            <a:r>
              <a:rPr lang="en-US" b="1" dirty="0"/>
              <a:t>Inner Loop Execution</a:t>
            </a:r>
            <a:r>
              <a:rPr lang="en-US" dirty="0"/>
              <a:t>: For each i, the inner loop executes i times.</a:t>
            </a:r>
          </a:p>
          <a:p>
            <a:r>
              <a:rPr lang="en-US" b="1" dirty="0"/>
              <a:t>Total Frequency</a:t>
            </a:r>
            <a:r>
              <a:rPr lang="en-US" dirty="0"/>
              <a:t>:</a:t>
            </a:r>
          </a:p>
          <a:p>
            <a:pPr lvl="1"/>
            <a:r>
              <a:rPr lang="en-US" dirty="0"/>
              <a:t>Outer loop: (n−1)times.</a:t>
            </a:r>
          </a:p>
          <a:p>
            <a:pPr lvl="1"/>
            <a:r>
              <a:rPr lang="pt-BR" dirty="0"/>
              <a:t>Inner loop: 1+2+⋯+(n−1)=n(n−1)/2​</a:t>
            </a:r>
          </a:p>
          <a:p>
            <a:pPr lvl="1"/>
            <a:r>
              <a:rPr lang="pt-BR" dirty="0"/>
              <a:t>Overall time complexity: </a:t>
            </a:r>
            <a:r>
              <a:rPr lang="pt-BR" b="1" dirty="0"/>
              <a:t>O(n</a:t>
            </a:r>
            <a:r>
              <a:rPr lang="pt-BR" b="1" baseline="30000" dirty="0"/>
              <a:t>2</a:t>
            </a:r>
            <a:r>
              <a:rPr lang="pt-BR" b="1" dirty="0"/>
              <a:t>).</a:t>
            </a:r>
            <a:endParaRPr lang="en-US" b="1" dirty="0"/>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771"/>
            <a:ext cx="10515600" cy="5901192"/>
          </a:xfrm>
        </p:spPr>
        <p:txBody>
          <a:bodyPr/>
          <a:lstStyle/>
          <a:p>
            <a:r>
              <a:rPr lang="en-US" dirty="0"/>
              <a:t>6 5 4 3 2 1</a:t>
            </a:r>
          </a:p>
        </p:txBody>
      </p:sp>
      <p:pic>
        <p:nvPicPr>
          <p:cNvPr id="3074" name="Picture 2"/>
          <p:cNvPicPr>
            <a:picLocks noChangeAspect="1" noChangeArrowheads="1"/>
          </p:cNvPicPr>
          <p:nvPr/>
        </p:nvPicPr>
        <p:blipFill>
          <a:blip r:embed="rId2" cstate="print"/>
          <a:srcRect/>
          <a:stretch>
            <a:fillRect/>
          </a:stretch>
        </p:blipFill>
        <p:spPr bwMode="auto">
          <a:xfrm>
            <a:off x="452664" y="1138917"/>
            <a:ext cx="3422649" cy="4173312"/>
          </a:xfrm>
          <a:prstGeom prst="rect">
            <a:avLst/>
          </a:prstGeom>
          <a:noFill/>
          <a:ln w="9525">
            <a:noFill/>
            <a:miter lim="800000"/>
            <a:headEnd/>
            <a:tailEnd/>
          </a:ln>
        </p:spPr>
      </p:pic>
      <p:grpSp>
        <p:nvGrpSpPr>
          <p:cNvPr id="8" name="Group 7"/>
          <p:cNvGrpSpPr/>
          <p:nvPr/>
        </p:nvGrpSpPr>
        <p:grpSpPr>
          <a:xfrm>
            <a:off x="5657397" y="392792"/>
            <a:ext cx="4180342" cy="3743328"/>
            <a:chOff x="5657397" y="392792"/>
            <a:chExt cx="4180342" cy="3743328"/>
          </a:xfrm>
        </p:grpSpPr>
        <p:pic>
          <p:nvPicPr>
            <p:cNvPr id="3075" name="Picture 3"/>
            <p:cNvPicPr>
              <a:picLocks noChangeAspect="1" noChangeArrowheads="1"/>
            </p:cNvPicPr>
            <p:nvPr/>
          </p:nvPicPr>
          <p:blipFill>
            <a:blip r:embed="rId3" cstate="print"/>
            <a:srcRect/>
            <a:stretch>
              <a:fillRect/>
            </a:stretch>
          </p:blipFill>
          <p:spPr bwMode="auto">
            <a:xfrm>
              <a:off x="5657397" y="392792"/>
              <a:ext cx="3867150" cy="2705100"/>
            </a:xfrm>
            <a:prstGeom prst="rect">
              <a:avLst/>
            </a:prstGeom>
            <a:noFill/>
            <a:ln w="9525">
              <a:noFill/>
              <a:miter lim="800000"/>
              <a:headEnd/>
              <a:tailEnd/>
            </a:ln>
          </p:spPr>
        </p:pic>
        <p:pic>
          <p:nvPicPr>
            <p:cNvPr id="3076" name="Picture 4"/>
            <p:cNvPicPr>
              <a:picLocks noChangeAspect="1" noChangeArrowheads="1"/>
            </p:cNvPicPr>
            <p:nvPr/>
          </p:nvPicPr>
          <p:blipFill>
            <a:blip r:embed="rId4" cstate="print"/>
            <a:srcRect/>
            <a:stretch>
              <a:fillRect/>
            </a:stretch>
          </p:blipFill>
          <p:spPr bwMode="auto">
            <a:xfrm>
              <a:off x="5808664" y="3012170"/>
              <a:ext cx="4029075" cy="1123950"/>
            </a:xfrm>
            <a:prstGeom prst="rect">
              <a:avLst/>
            </a:prstGeom>
            <a:noFill/>
            <a:ln w="9525">
              <a:noFill/>
              <a:miter lim="800000"/>
              <a:headEnd/>
              <a:tailEnd/>
            </a:ln>
          </p:spPr>
        </p:pic>
      </p:grpSp>
      <p:pic>
        <p:nvPicPr>
          <p:cNvPr id="3077" name="Picture 5"/>
          <p:cNvPicPr>
            <a:picLocks noChangeAspect="1" noChangeArrowheads="1"/>
          </p:cNvPicPr>
          <p:nvPr/>
        </p:nvPicPr>
        <p:blipFill>
          <a:blip r:embed="rId5" cstate="print"/>
          <a:srcRect/>
          <a:stretch>
            <a:fillRect/>
          </a:stretch>
        </p:blipFill>
        <p:spPr bwMode="auto">
          <a:xfrm>
            <a:off x="5212897" y="4330928"/>
            <a:ext cx="5162550" cy="2085975"/>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82171"/>
          </a:xfrm>
        </p:spPr>
        <p:txBody>
          <a:bodyPr>
            <a:normAutofit/>
          </a:bodyPr>
          <a:lstStyle/>
          <a:p>
            <a:pPr algn="ctr"/>
            <a:r>
              <a:rPr lang="en-US" sz="3200" b="1" dirty="0" err="1"/>
              <a:t>Avg</a:t>
            </a:r>
            <a:r>
              <a:rPr lang="en-US" sz="3200" b="1" dirty="0"/>
              <a:t> case: </a:t>
            </a:r>
          </a:p>
        </p:txBody>
      </p:sp>
      <p:sp>
        <p:nvSpPr>
          <p:cNvPr id="3" name="Content Placeholder 2"/>
          <p:cNvSpPr>
            <a:spLocks noGrp="1"/>
          </p:cNvSpPr>
          <p:nvPr>
            <p:ph idx="1"/>
          </p:nvPr>
        </p:nvSpPr>
        <p:spPr>
          <a:xfrm>
            <a:off x="838200" y="812800"/>
            <a:ext cx="10515600" cy="4238171"/>
          </a:xfrm>
        </p:spPr>
        <p:txBody>
          <a:bodyPr>
            <a:normAutofit/>
          </a:bodyPr>
          <a:lstStyle/>
          <a:p>
            <a:r>
              <a:rPr lang="en-US" dirty="0"/>
              <a:t>The average case happens when the input array is in a </a:t>
            </a:r>
            <a:r>
              <a:rPr lang="en-US" b="1" dirty="0"/>
              <a:t>random order</a:t>
            </a:r>
            <a:r>
              <a:rPr lang="en-US" dirty="0"/>
              <a:t>. </a:t>
            </a:r>
          </a:p>
          <a:p>
            <a:r>
              <a:rPr lang="en-US" dirty="0"/>
              <a:t>This requires analyzing the </a:t>
            </a:r>
            <a:r>
              <a:rPr lang="en-US" b="1" dirty="0"/>
              <a:t>expected number of comparisons</a:t>
            </a:r>
            <a:r>
              <a:rPr lang="en-US" dirty="0"/>
              <a:t> and </a:t>
            </a:r>
            <a:r>
              <a:rPr lang="en-US" b="1" dirty="0"/>
              <a:t>shifts</a:t>
            </a:r>
            <a:r>
              <a:rPr lang="en-US" dirty="0"/>
              <a:t> for all possible permutations of the array.</a:t>
            </a:r>
          </a:p>
          <a:p>
            <a:r>
              <a:rPr lang="en-US" dirty="0"/>
              <a:t>At each index i, the algorithm compares the key with up to i elements from the sorted portion.</a:t>
            </a:r>
          </a:p>
          <a:p>
            <a:r>
              <a:rPr lang="en-US" dirty="0"/>
              <a:t>For a random permutation, on average, the key is inserted somewhere </a:t>
            </a:r>
            <a:r>
              <a:rPr lang="en-US" b="1" dirty="0"/>
              <a:t>in the middle</a:t>
            </a:r>
            <a:r>
              <a:rPr lang="en-US" dirty="0"/>
              <a:t> of the sorted portion, leading </a:t>
            </a:r>
            <a:r>
              <a:rPr lang="en-US"/>
              <a:t>to i/2 comparisons</a:t>
            </a:r>
            <a:r>
              <a:rPr lang="en-US" dirty="0"/>
              <a:t>.</a:t>
            </a:r>
          </a:p>
          <a:p>
            <a:endParaRPr lang="en-US" dirty="0"/>
          </a:p>
        </p:txBody>
      </p:sp>
      <p:pic>
        <p:nvPicPr>
          <p:cNvPr id="6" name="Picture 2"/>
          <p:cNvPicPr>
            <a:picLocks noChangeAspect="1" noChangeArrowheads="1"/>
          </p:cNvPicPr>
          <p:nvPr/>
        </p:nvPicPr>
        <p:blipFill>
          <a:blip r:embed="rId2" cstate="print"/>
          <a:srcRect/>
          <a:stretch>
            <a:fillRect/>
          </a:stretch>
        </p:blipFill>
        <p:spPr bwMode="auto">
          <a:xfrm>
            <a:off x="1712686" y="4281714"/>
            <a:ext cx="7634514" cy="1436915"/>
          </a:xfrm>
          <a:prstGeom prst="rect">
            <a:avLst/>
          </a:prstGeom>
          <a:noFill/>
          <a:ln w="9525">
            <a:noFill/>
            <a:miter lim="800000"/>
            <a:headEnd/>
            <a:tailEnd/>
          </a:ln>
        </p:spPr>
      </p:pic>
      <p:sp>
        <p:nvSpPr>
          <p:cNvPr id="7" name="Rectangle 6"/>
          <p:cNvSpPr/>
          <p:nvPr/>
        </p:nvSpPr>
        <p:spPr>
          <a:xfrm>
            <a:off x="1756229" y="5428120"/>
            <a:ext cx="8868228" cy="523220"/>
          </a:xfrm>
          <a:prstGeom prst="rect">
            <a:avLst/>
          </a:prstGeom>
        </p:spPr>
        <p:txBody>
          <a:bodyPr wrap="square">
            <a:spAutoFit/>
          </a:bodyPr>
          <a:lstStyle/>
          <a:p>
            <a:r>
              <a:rPr lang="en-US" sz="2800" dirty="0"/>
              <a:t>This gives us O(n</a:t>
            </a:r>
            <a:r>
              <a:rPr lang="en-US" sz="2800" baseline="30000" dirty="0"/>
              <a:t>2</a:t>
            </a:r>
            <a:r>
              <a:rPr lang="en-US" sz="2800" dirty="0"/>
              <a:t>) total comparisons in the </a:t>
            </a:r>
            <a:r>
              <a:rPr lang="en-US" sz="2800" b="1" dirty="0"/>
              <a:t>average case</a:t>
            </a:r>
            <a:r>
              <a:rPr lang="en-US" sz="2800" dirty="0"/>
              <a:t>.</a:t>
            </a:r>
          </a:p>
        </p:txBody>
      </p:sp>
      <p:sp>
        <p:nvSpPr>
          <p:cNvPr id="8" name="Rectangle 7"/>
          <p:cNvSpPr/>
          <p:nvPr/>
        </p:nvSpPr>
        <p:spPr>
          <a:xfrm>
            <a:off x="569842" y="6060105"/>
            <a:ext cx="10804368" cy="461665"/>
          </a:xfrm>
          <a:prstGeom prst="rect">
            <a:avLst/>
          </a:prstGeom>
        </p:spPr>
        <p:txBody>
          <a:bodyPr wrap="none">
            <a:spAutoFit/>
          </a:bodyPr>
          <a:lstStyle/>
          <a:p>
            <a:r>
              <a:rPr lang="en-US" sz="2400" b="1" dirty="0"/>
              <a:t>space complexity</a:t>
            </a:r>
            <a:r>
              <a:rPr lang="en-US" sz="2400" dirty="0"/>
              <a:t> of the Insertion Sort algorithm  </a:t>
            </a:r>
            <a:r>
              <a:rPr lang="en-US" sz="2400" b="1" dirty="0"/>
              <a:t>constant space requirement</a:t>
            </a:r>
            <a:r>
              <a:rPr lang="en-US" sz="2400" dirty="0"/>
              <a:t>: O(1)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332"/>
          </a:xfrm>
        </p:spPr>
        <p:txBody>
          <a:bodyPr>
            <a:normAutofit/>
          </a:bodyPr>
          <a:lstStyle/>
          <a:p>
            <a:pPr algn="ctr" fontAlgn="base"/>
            <a:r>
              <a:rPr lang="en-US" sz="3200" b="1" dirty="0"/>
              <a:t>MCQ</a:t>
            </a:r>
          </a:p>
        </p:txBody>
      </p:sp>
      <p:sp>
        <p:nvSpPr>
          <p:cNvPr id="3" name="Content Placeholder 2"/>
          <p:cNvSpPr>
            <a:spLocks noGrp="1"/>
          </p:cNvSpPr>
          <p:nvPr>
            <p:ph idx="1"/>
          </p:nvPr>
        </p:nvSpPr>
        <p:spPr>
          <a:xfrm>
            <a:off x="838200" y="1407886"/>
            <a:ext cx="10515600" cy="5152571"/>
          </a:xfrm>
        </p:spPr>
        <p:txBody>
          <a:bodyPr>
            <a:noAutofit/>
          </a:bodyPr>
          <a:lstStyle/>
          <a:p>
            <a:pPr fontAlgn="base"/>
            <a:r>
              <a:rPr lang="en-US" dirty="0"/>
              <a:t>For the functions, </a:t>
            </a:r>
            <a:r>
              <a:rPr lang="en-US" dirty="0" err="1"/>
              <a:t>n</a:t>
            </a:r>
            <a:r>
              <a:rPr lang="en-US" sz="3200" baseline="32000" dirty="0" err="1"/>
              <a:t>k</a:t>
            </a:r>
            <a:r>
              <a:rPr lang="en-US" sz="3200" baseline="32000" dirty="0"/>
              <a:t>   </a:t>
            </a:r>
            <a:r>
              <a:rPr lang="en-US" dirty="0"/>
              <a:t>and  </a:t>
            </a:r>
            <a:r>
              <a:rPr lang="en-US" dirty="0" err="1"/>
              <a:t>c</a:t>
            </a:r>
            <a:r>
              <a:rPr lang="en-US" sz="3200" baseline="32000" dirty="0" err="1"/>
              <a:t>n</a:t>
            </a:r>
            <a:r>
              <a:rPr lang="en-US" dirty="0"/>
              <a:t>, what is the asymptotic relationship between these functions?</a:t>
            </a:r>
          </a:p>
          <a:p>
            <a:pPr fontAlgn="base"/>
            <a:r>
              <a:rPr lang="en-US" dirty="0"/>
              <a:t>Assume that k &gt;=1 and c &gt; 1 are constants.</a:t>
            </a:r>
          </a:p>
          <a:p>
            <a:pPr fontAlgn="base"/>
            <a:r>
              <a:rPr lang="en-US" b="1" dirty="0"/>
              <a:t>Choose all answers that apply:</a:t>
            </a:r>
          </a:p>
          <a:p>
            <a:pPr marL="514350" indent="-514350" fontAlgn="base">
              <a:buFont typeface="+mj-lt"/>
              <a:buAutoNum type="arabicPeriod"/>
            </a:pPr>
            <a:r>
              <a:rPr lang="en-US" dirty="0"/>
              <a:t> </a:t>
            </a:r>
            <a:r>
              <a:rPr lang="en-US" dirty="0" err="1"/>
              <a:t>n</a:t>
            </a:r>
            <a:r>
              <a:rPr lang="en-US" baseline="30000" dirty="0" err="1"/>
              <a:t>k</a:t>
            </a:r>
            <a:r>
              <a:rPr lang="en-US" dirty="0"/>
              <a:t>  is O(</a:t>
            </a:r>
            <a:r>
              <a:rPr lang="en-US" dirty="0" err="1"/>
              <a:t>c</a:t>
            </a:r>
            <a:r>
              <a:rPr lang="en-US" sz="3200" baseline="32000" dirty="0" err="1"/>
              <a:t>n</a:t>
            </a:r>
            <a:r>
              <a:rPr lang="en-US" dirty="0"/>
              <a:t>)</a:t>
            </a:r>
          </a:p>
          <a:p>
            <a:pPr marL="514350" indent="-514350" fontAlgn="base">
              <a:buFont typeface="+mj-lt"/>
              <a:buAutoNum type="arabicPeriod"/>
            </a:pPr>
            <a:r>
              <a:rPr lang="en-US" dirty="0" err="1"/>
              <a:t>n</a:t>
            </a:r>
            <a:r>
              <a:rPr lang="en-US" baseline="30000" dirty="0" err="1"/>
              <a:t>k</a:t>
            </a:r>
            <a:r>
              <a:rPr lang="en-US" dirty="0"/>
              <a:t>  is  </a:t>
            </a:r>
            <a:r>
              <a:rPr lang="el-GR" dirty="0"/>
              <a:t>ῼ</a:t>
            </a:r>
            <a:r>
              <a:rPr lang="en-US" dirty="0"/>
              <a:t>(</a:t>
            </a:r>
            <a:r>
              <a:rPr lang="en-US" dirty="0" err="1"/>
              <a:t>c</a:t>
            </a:r>
            <a:r>
              <a:rPr lang="en-US" sz="3200" baseline="32000" dirty="0" err="1"/>
              <a:t>n</a:t>
            </a:r>
            <a:r>
              <a:rPr lang="en-US" dirty="0"/>
              <a:t>)</a:t>
            </a:r>
          </a:p>
          <a:p>
            <a:pPr marL="514350" indent="-514350" fontAlgn="base">
              <a:buFont typeface="+mj-lt"/>
              <a:buAutoNum type="arabicPeriod"/>
            </a:pPr>
            <a:r>
              <a:rPr lang="en-US" dirty="0" err="1"/>
              <a:t>n</a:t>
            </a:r>
            <a:r>
              <a:rPr lang="en-US" baseline="30000" dirty="0" err="1"/>
              <a:t>k</a:t>
            </a:r>
            <a:r>
              <a:rPr lang="en-US" dirty="0"/>
              <a:t>  is  </a:t>
            </a:r>
            <a:r>
              <a:rPr lang="el-GR" dirty="0"/>
              <a:t>θ</a:t>
            </a:r>
            <a:r>
              <a:rPr lang="en-US" dirty="0"/>
              <a:t>(</a:t>
            </a:r>
            <a:r>
              <a:rPr lang="en-US" dirty="0" err="1"/>
              <a:t>c</a:t>
            </a:r>
            <a:r>
              <a:rPr lang="en-US" sz="3200" baseline="32000" dirty="0" err="1"/>
              <a:t>n</a:t>
            </a:r>
            <a:r>
              <a:rPr lang="en-US" dirty="0"/>
              <a:t>)                                     </a:t>
            </a:r>
          </a:p>
          <a:p>
            <a:pPr marL="514350" indent="-514350" fontAlgn="base">
              <a:buNone/>
            </a:pPr>
            <a:endParaRPr lang="en-US" dirty="0"/>
          </a:p>
          <a:p>
            <a:pPr marL="514350" indent="-514350" fontAlgn="base">
              <a:buNone/>
            </a:pPr>
            <a:r>
              <a:rPr lang="en-US" dirty="0"/>
              <a:t>                  Answer :  (1)</a:t>
            </a:r>
          </a:p>
          <a:p>
            <a:pPr>
              <a:buNone/>
            </a:pPr>
            <a:br>
              <a:rPr lang="en-US" dirty="0"/>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ox(in)">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07886"/>
            <a:ext cx="10515600" cy="5152571"/>
          </a:xfrm>
        </p:spPr>
        <p:txBody>
          <a:bodyPr>
            <a:noAutofit/>
          </a:bodyPr>
          <a:lstStyle/>
          <a:p>
            <a:r>
              <a:rPr lang="en-US" dirty="0"/>
              <a:t>Bubble Sort is a simple comparison-based sorting algorithm.</a:t>
            </a:r>
          </a:p>
          <a:p>
            <a:r>
              <a:rPr lang="en-US" dirty="0"/>
              <a:t> It repeatedly steps through the list, compares adjacent elements, and swaps them if they are in the wrong order. </a:t>
            </a:r>
          </a:p>
          <a:p>
            <a:r>
              <a:rPr lang="en-US" dirty="0"/>
              <a:t>This process continues until the list is sorted.</a:t>
            </a:r>
          </a:p>
          <a:p>
            <a:endParaRPr lang="en-US" dirty="0"/>
          </a:p>
        </p:txBody>
      </p:sp>
      <p:sp>
        <p:nvSpPr>
          <p:cNvPr id="4" name="Title 3"/>
          <p:cNvSpPr>
            <a:spLocks noGrp="1"/>
          </p:cNvSpPr>
          <p:nvPr>
            <p:ph type="title"/>
          </p:nvPr>
        </p:nvSpPr>
        <p:spPr>
          <a:xfrm>
            <a:off x="838200" y="89360"/>
            <a:ext cx="10515600" cy="694412"/>
          </a:xfrm>
        </p:spPr>
        <p:txBody>
          <a:bodyPr>
            <a:normAutofit fontScale="90000"/>
          </a:bodyPr>
          <a:lstStyle/>
          <a:p>
            <a:pPr algn="ctr"/>
            <a:r>
              <a:rPr lang="en-US" b="1" dirty="0"/>
              <a:t>Bubble Sort Algorithm</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8288"/>
            <a:ext cx="6709229" cy="5958114"/>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000" dirty="0"/>
              <a:t>procedure BUBBLE_SORT(array, n)</a:t>
            </a:r>
          </a:p>
          <a:p>
            <a:pPr>
              <a:buNone/>
            </a:pPr>
            <a:r>
              <a:rPr lang="en-US" sz="2000" dirty="0"/>
              <a:t>    // Outer loop for passes</a:t>
            </a:r>
          </a:p>
          <a:p>
            <a:pPr>
              <a:buNone/>
            </a:pPr>
            <a:r>
              <a:rPr lang="en-US" sz="2000" dirty="0"/>
              <a:t>    for (i = 0; i &lt; n - 1; i++) do</a:t>
            </a:r>
          </a:p>
          <a:p>
            <a:pPr>
              <a:buNone/>
            </a:pPr>
            <a:r>
              <a:rPr lang="en-US" sz="2000" dirty="0"/>
              <a:t>        swapped ← FALSE  // Initialize the swapped flag</a:t>
            </a:r>
          </a:p>
          <a:p>
            <a:pPr>
              <a:buNone/>
            </a:pPr>
            <a:r>
              <a:rPr lang="en-US" sz="2000" dirty="0"/>
              <a:t>        </a:t>
            </a:r>
          </a:p>
          <a:p>
            <a:pPr>
              <a:buNone/>
            </a:pPr>
            <a:r>
              <a:rPr lang="en-US" sz="2000" dirty="0"/>
              <a:t>        // Inner loop for comparisons</a:t>
            </a:r>
          </a:p>
          <a:p>
            <a:pPr>
              <a:buNone/>
            </a:pPr>
            <a:r>
              <a:rPr lang="en-US" sz="2000" dirty="0"/>
              <a:t>        for (j = 0; j &lt; n - i - 1; j++) do</a:t>
            </a:r>
          </a:p>
          <a:p>
            <a:pPr>
              <a:buNone/>
            </a:pPr>
            <a:r>
              <a:rPr lang="en-US" sz="2000" dirty="0"/>
              <a:t>            if (array[j] &gt; array[j + 1]) then</a:t>
            </a:r>
          </a:p>
          <a:p>
            <a:pPr>
              <a:buNone/>
            </a:pPr>
            <a:r>
              <a:rPr lang="en-US" sz="2000" dirty="0"/>
              <a:t>                // Swap array[j] and array[j + 1]</a:t>
            </a:r>
          </a:p>
          <a:p>
            <a:pPr>
              <a:buNone/>
            </a:pPr>
            <a:r>
              <a:rPr lang="en-US" sz="2000" dirty="0"/>
              <a:t>                temp ← array[j]</a:t>
            </a:r>
          </a:p>
          <a:p>
            <a:pPr>
              <a:buNone/>
            </a:pPr>
            <a:r>
              <a:rPr lang="en-US" sz="2000" dirty="0"/>
              <a:t>                array[j] ← array[j + 1]</a:t>
            </a:r>
          </a:p>
          <a:p>
            <a:pPr>
              <a:buNone/>
            </a:pPr>
            <a:r>
              <a:rPr lang="en-US" sz="2000" dirty="0"/>
              <a:t>                array[j + 1] ← temp</a:t>
            </a:r>
          </a:p>
          <a:p>
            <a:pPr>
              <a:buNone/>
            </a:pPr>
            <a:r>
              <a:rPr lang="en-US" sz="2000" dirty="0"/>
              <a:t>                swapped ← TRUE  // Mark that a swap occurred</a:t>
            </a:r>
          </a:p>
          <a:p>
            <a:pPr>
              <a:buNone/>
            </a:pPr>
            <a:r>
              <a:rPr lang="en-US" sz="2000" dirty="0"/>
              <a:t>            end if</a:t>
            </a:r>
          </a:p>
          <a:p>
            <a:pPr>
              <a:buNone/>
            </a:pPr>
            <a:r>
              <a:rPr lang="en-US" sz="2000" dirty="0"/>
              <a:t>        end for</a:t>
            </a:r>
          </a:p>
          <a:p>
            <a:pPr>
              <a:buNone/>
            </a:pPr>
            <a:endParaRPr lang="en-US" sz="5400" dirty="0"/>
          </a:p>
        </p:txBody>
      </p:sp>
      <p:sp>
        <p:nvSpPr>
          <p:cNvPr id="4" name="Title 3"/>
          <p:cNvSpPr>
            <a:spLocks noGrp="1"/>
          </p:cNvSpPr>
          <p:nvPr>
            <p:ph type="title"/>
          </p:nvPr>
        </p:nvSpPr>
        <p:spPr>
          <a:xfrm>
            <a:off x="838200" y="89360"/>
            <a:ext cx="10515600" cy="694412"/>
          </a:xfrm>
        </p:spPr>
        <p:txBody>
          <a:bodyPr>
            <a:normAutofit fontScale="90000"/>
          </a:bodyPr>
          <a:lstStyle/>
          <a:p>
            <a:pPr algn="ctr"/>
            <a:r>
              <a:rPr lang="en-US" b="1" dirty="0"/>
              <a:t>Bubble Sort Algorithm</a:t>
            </a:r>
          </a:p>
        </p:txBody>
      </p:sp>
      <p:sp>
        <p:nvSpPr>
          <p:cNvPr id="5" name="Rectangle 4"/>
          <p:cNvSpPr/>
          <p:nvPr/>
        </p:nvSpPr>
        <p:spPr>
          <a:xfrm>
            <a:off x="7634514" y="1223167"/>
            <a:ext cx="4194629"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t> </a:t>
            </a:r>
          </a:p>
          <a:p>
            <a:r>
              <a:rPr lang="en-US" sz="2000" dirty="0"/>
              <a:t>        // If no swaps occurred, array is sorted</a:t>
            </a:r>
          </a:p>
          <a:p>
            <a:r>
              <a:rPr lang="en-US" sz="2000" dirty="0"/>
              <a:t>        if (swapped = FALSE) then</a:t>
            </a:r>
          </a:p>
          <a:p>
            <a:r>
              <a:rPr lang="en-US" sz="2000" dirty="0"/>
              <a:t>            break</a:t>
            </a:r>
          </a:p>
          <a:p>
            <a:r>
              <a:rPr lang="en-US" sz="2000" dirty="0"/>
              <a:t>        end if</a:t>
            </a:r>
          </a:p>
          <a:p>
            <a:r>
              <a:rPr lang="en-US" sz="2000" dirty="0"/>
              <a:t>    end for</a:t>
            </a:r>
          </a:p>
          <a:p>
            <a:r>
              <a:rPr lang="en-US" sz="2000" dirty="0"/>
              <a:t>end procedure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6743"/>
            <a:ext cx="10515600" cy="5930220"/>
          </a:xfrm>
        </p:spPr>
        <p:txBody>
          <a:bodyPr>
            <a:normAutofit/>
          </a:bodyPr>
          <a:lstStyle/>
          <a:p>
            <a:r>
              <a:rPr lang="en-US" b="1" dirty="0"/>
              <a:t>Dry Run Example</a:t>
            </a:r>
          </a:p>
          <a:p>
            <a:r>
              <a:rPr lang="en-US" b="1" dirty="0"/>
              <a:t>Input: [4,3,2,1], n=4</a:t>
            </a:r>
          </a:p>
          <a:p>
            <a:r>
              <a:rPr lang="en-US" b="1" dirty="0"/>
              <a:t>Pass 1</a:t>
            </a:r>
            <a:r>
              <a:rPr lang="en-US" dirty="0"/>
              <a:t>:</a:t>
            </a:r>
          </a:p>
          <a:p>
            <a:pPr lvl="1"/>
            <a:r>
              <a:rPr lang="en-US" dirty="0"/>
              <a:t>Compare and swap: [4,3,2,1]→[3,4,2,1]→[3,2,4,1]→[3,2,1,4]</a:t>
            </a:r>
          </a:p>
          <a:p>
            <a:pPr lvl="1"/>
            <a:r>
              <a:rPr lang="en-US" dirty="0"/>
              <a:t>Swapped = TRUE.</a:t>
            </a:r>
          </a:p>
          <a:p>
            <a:r>
              <a:rPr lang="en-US" b="1" dirty="0"/>
              <a:t>Pass 2</a:t>
            </a:r>
            <a:r>
              <a:rPr lang="en-US" dirty="0"/>
              <a:t>:</a:t>
            </a:r>
          </a:p>
          <a:p>
            <a:pPr lvl="1"/>
            <a:r>
              <a:rPr lang="en-US" dirty="0"/>
              <a:t>Compare and swap: [3,2,1,4]→[2,3,1,4]→[2,1,3,4]</a:t>
            </a:r>
          </a:p>
          <a:p>
            <a:pPr lvl="1"/>
            <a:r>
              <a:rPr lang="en-US" dirty="0"/>
              <a:t>Swapped = TRUE.</a:t>
            </a:r>
          </a:p>
          <a:p>
            <a:r>
              <a:rPr lang="en-US" b="1" dirty="0"/>
              <a:t>Pass 3</a:t>
            </a:r>
            <a:r>
              <a:rPr lang="en-US" dirty="0"/>
              <a:t>:</a:t>
            </a:r>
          </a:p>
          <a:p>
            <a:pPr lvl="1"/>
            <a:r>
              <a:rPr lang="en-US" dirty="0"/>
              <a:t>Compare and swap: [2,1,3,4]→[1,2,3,4]</a:t>
            </a:r>
          </a:p>
          <a:p>
            <a:pPr lvl="1"/>
            <a:r>
              <a:rPr lang="en-US" dirty="0"/>
              <a:t>Swapped = TRUE.</a:t>
            </a:r>
          </a:p>
          <a:p>
            <a:r>
              <a:rPr lang="en-US" b="1" dirty="0"/>
              <a:t>Pass 4</a:t>
            </a:r>
            <a:r>
              <a:rPr lang="en-US" dirty="0"/>
              <a:t>:</a:t>
            </a:r>
          </a:p>
          <a:p>
            <a:pPr lvl="1"/>
            <a:r>
              <a:rPr lang="en-US" dirty="0"/>
              <a:t>No swaps occur; the array is sorted. Exit early.</a:t>
            </a:r>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771"/>
            <a:ext cx="10515600" cy="5901192"/>
          </a:xfrm>
        </p:spPr>
        <p:txBody>
          <a:bodyPr>
            <a:normAutofit fontScale="85000" lnSpcReduction="20000"/>
          </a:bodyPr>
          <a:lstStyle/>
          <a:p>
            <a:r>
              <a:rPr lang="en-US" b="1" dirty="0"/>
              <a:t>1. Best Case Analysis</a:t>
            </a:r>
          </a:p>
          <a:p>
            <a:r>
              <a:rPr lang="en-US" b="1" dirty="0"/>
              <a:t>Scenario:</a:t>
            </a:r>
          </a:p>
          <a:p>
            <a:r>
              <a:rPr lang="en-US" dirty="0"/>
              <a:t>The input array is already sorted.</a:t>
            </a:r>
          </a:p>
          <a:p>
            <a:r>
              <a:rPr lang="en-US" dirty="0"/>
              <a:t>Example: [1,2,3,4,5]</a:t>
            </a:r>
          </a:p>
          <a:p>
            <a:r>
              <a:rPr lang="en-US" b="1" dirty="0"/>
              <a:t>Step-by-Step Explanation:</a:t>
            </a:r>
          </a:p>
          <a:p>
            <a:r>
              <a:rPr lang="en-US" b="1" dirty="0"/>
              <a:t>Pass 1</a:t>
            </a:r>
            <a:r>
              <a:rPr lang="en-US" dirty="0"/>
              <a:t>:</a:t>
            </a:r>
          </a:p>
          <a:p>
            <a:pPr lvl="1"/>
            <a:r>
              <a:rPr lang="en-US" dirty="0"/>
              <a:t>Compare 1 and 2: No swap.</a:t>
            </a:r>
          </a:p>
          <a:p>
            <a:pPr lvl="1"/>
            <a:r>
              <a:rPr lang="en-US" dirty="0"/>
              <a:t>Compare 2 and 3: No swap.</a:t>
            </a:r>
          </a:p>
          <a:p>
            <a:pPr lvl="1"/>
            <a:r>
              <a:rPr lang="en-US" dirty="0"/>
              <a:t>Compare 3 and 4: No swap.</a:t>
            </a:r>
          </a:p>
          <a:p>
            <a:pPr lvl="1"/>
            <a:r>
              <a:rPr lang="en-US" dirty="0"/>
              <a:t>Compare 4 and 5: No swap.</a:t>
            </a:r>
          </a:p>
          <a:p>
            <a:pPr lvl="1"/>
            <a:r>
              <a:rPr lang="en-US" b="1" dirty="0"/>
              <a:t>No swaps</a:t>
            </a:r>
            <a:r>
              <a:rPr lang="en-US" dirty="0"/>
              <a:t> occurred; the algorithm terminates early.</a:t>
            </a:r>
          </a:p>
          <a:p>
            <a:r>
              <a:rPr lang="en-US" b="1" dirty="0"/>
              <a:t>Number of Comparisons:</a:t>
            </a:r>
          </a:p>
          <a:p>
            <a:r>
              <a:rPr lang="en-US" dirty="0"/>
              <a:t>n−1 comparisons in the first pass.</a:t>
            </a:r>
          </a:p>
          <a:p>
            <a:r>
              <a:rPr lang="en-US" dirty="0"/>
              <a:t>Early termination after one pass.</a:t>
            </a:r>
          </a:p>
          <a:p>
            <a:r>
              <a:rPr lang="en-US" b="1" dirty="0"/>
              <a:t>Time Complexity:</a:t>
            </a:r>
          </a:p>
          <a:p>
            <a:r>
              <a:rPr lang="en-US" b="1" dirty="0"/>
              <a:t>Best Case</a:t>
            </a:r>
            <a:r>
              <a:rPr lang="en-US" dirty="0"/>
              <a:t>: O(n) (single pass)</a:t>
            </a:r>
          </a:p>
          <a:p>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771"/>
            <a:ext cx="5301343" cy="6183086"/>
          </a:xfrm>
        </p:spPr>
        <p:style>
          <a:lnRef idx="2">
            <a:schemeClr val="accent2"/>
          </a:lnRef>
          <a:fillRef idx="1">
            <a:schemeClr val="lt1"/>
          </a:fillRef>
          <a:effectRef idx="0">
            <a:schemeClr val="accent2"/>
          </a:effectRef>
          <a:fontRef idx="minor">
            <a:schemeClr val="dk1"/>
          </a:fontRef>
        </p:style>
        <p:txBody>
          <a:bodyPr>
            <a:normAutofit fontScale="92500"/>
          </a:bodyPr>
          <a:lstStyle/>
          <a:p>
            <a:r>
              <a:rPr lang="en-US" b="1" dirty="0"/>
              <a:t>2. Average Case Analysis</a:t>
            </a:r>
          </a:p>
          <a:p>
            <a:r>
              <a:rPr lang="en-US" b="1" dirty="0"/>
              <a:t>Scenario:</a:t>
            </a:r>
          </a:p>
          <a:p>
            <a:r>
              <a:rPr lang="en-US" dirty="0"/>
              <a:t>The input array is in random order.</a:t>
            </a:r>
          </a:p>
          <a:p>
            <a:r>
              <a:rPr lang="en-US" dirty="0"/>
              <a:t>Example: [4,3,5,1,2]</a:t>
            </a:r>
          </a:p>
          <a:p>
            <a:r>
              <a:rPr lang="en-US" b="1" dirty="0"/>
              <a:t>Step-by-Step Explanation:</a:t>
            </a:r>
          </a:p>
          <a:p>
            <a:r>
              <a:rPr lang="en-US" b="1" dirty="0"/>
              <a:t>Pass 1</a:t>
            </a:r>
            <a:r>
              <a:rPr lang="en-US" dirty="0"/>
              <a:t>:</a:t>
            </a:r>
          </a:p>
          <a:p>
            <a:pPr lvl="1"/>
            <a:r>
              <a:rPr lang="en-US" dirty="0"/>
              <a:t>Compare 4 and 3: Swap → [3,4,5,1,2]</a:t>
            </a:r>
          </a:p>
          <a:p>
            <a:pPr lvl="1"/>
            <a:r>
              <a:rPr lang="en-US" dirty="0"/>
              <a:t>Compare 4 and 5: No swap.</a:t>
            </a:r>
          </a:p>
          <a:p>
            <a:pPr lvl="1"/>
            <a:r>
              <a:rPr lang="en-US" dirty="0"/>
              <a:t>Compare 5 and 1: Swap → [3,4,1,5,2].</a:t>
            </a:r>
          </a:p>
          <a:p>
            <a:pPr lvl="1"/>
            <a:r>
              <a:rPr lang="en-US" dirty="0"/>
              <a:t>Compare 5 and 2: Swap → [3,4,1,2,5]</a:t>
            </a:r>
          </a:p>
          <a:p>
            <a:r>
              <a:rPr lang="en-US" b="1" dirty="0"/>
              <a:t>Pass 2</a:t>
            </a:r>
            <a:r>
              <a:rPr lang="en-US" dirty="0"/>
              <a:t>:</a:t>
            </a:r>
          </a:p>
          <a:p>
            <a:pPr lvl="1"/>
            <a:r>
              <a:rPr lang="en-US" dirty="0"/>
              <a:t>Compare 3 and 4: No swap.</a:t>
            </a:r>
          </a:p>
          <a:p>
            <a:pPr lvl="1"/>
            <a:r>
              <a:rPr lang="en-US" dirty="0"/>
              <a:t>Compare 4 and 1: Swap → [3,1,4,2,5]</a:t>
            </a:r>
          </a:p>
          <a:p>
            <a:pPr lvl="1"/>
            <a:r>
              <a:rPr lang="en-US" dirty="0"/>
              <a:t>Compare 4 and 2: Swap → [3,1,2,4,5]</a:t>
            </a:r>
          </a:p>
          <a:p>
            <a:endParaRPr lang="en-US" dirty="0"/>
          </a:p>
        </p:txBody>
      </p:sp>
      <p:sp>
        <p:nvSpPr>
          <p:cNvPr id="4" name="Rectangle 3"/>
          <p:cNvSpPr/>
          <p:nvPr/>
        </p:nvSpPr>
        <p:spPr>
          <a:xfrm>
            <a:off x="6371771" y="500413"/>
            <a:ext cx="5617030" cy="5293757"/>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600" b="1" dirty="0"/>
              <a:t>Pass 3</a:t>
            </a:r>
            <a:r>
              <a:rPr lang="en-US" sz="2600" dirty="0"/>
              <a:t>:</a:t>
            </a:r>
          </a:p>
          <a:p>
            <a:pPr lvl="1"/>
            <a:r>
              <a:rPr lang="en-US" sz="2600" dirty="0"/>
              <a:t>Compare 3 and 1: Swap → [1,3,2,4,5]</a:t>
            </a:r>
          </a:p>
          <a:p>
            <a:pPr lvl="1"/>
            <a:r>
              <a:rPr lang="en-US" sz="2600" dirty="0"/>
              <a:t>Compare 3 and 2: Swap → [1,2,3,4,5]</a:t>
            </a:r>
          </a:p>
          <a:p>
            <a:r>
              <a:rPr lang="en-US" sz="2600" b="1" dirty="0"/>
              <a:t>Pass 4</a:t>
            </a:r>
            <a:r>
              <a:rPr lang="en-US" sz="2600" dirty="0"/>
              <a:t>:</a:t>
            </a:r>
          </a:p>
          <a:p>
            <a:pPr lvl="1"/>
            <a:r>
              <a:rPr lang="en-US" sz="2600" dirty="0"/>
              <a:t>Compare 1 and 2: No swap.</a:t>
            </a:r>
          </a:p>
          <a:p>
            <a:pPr lvl="1"/>
            <a:r>
              <a:rPr lang="en-US" sz="2600" dirty="0"/>
              <a:t>Array is sorted; algorithm terminates.</a:t>
            </a:r>
          </a:p>
          <a:p>
            <a:r>
              <a:rPr lang="en-US" sz="2600" b="1" dirty="0"/>
              <a:t>Number of Comparisons and Swaps:</a:t>
            </a:r>
          </a:p>
          <a:p>
            <a:r>
              <a:rPr lang="en-US" sz="2600" dirty="0"/>
              <a:t>Comparisons: Roughly n(n−1)/2.</a:t>
            </a:r>
          </a:p>
          <a:p>
            <a:r>
              <a:rPr lang="en-US" sz="2600" dirty="0"/>
              <a:t>Swaps: Fewer than the worst case but significant.</a:t>
            </a:r>
          </a:p>
          <a:p>
            <a:r>
              <a:rPr lang="en-US" sz="2600" b="1" dirty="0"/>
              <a:t>Time Complexity:</a:t>
            </a:r>
          </a:p>
          <a:p>
            <a:r>
              <a:rPr lang="en-US" sz="2600" b="1" dirty="0"/>
              <a:t>Average Case</a:t>
            </a:r>
            <a:r>
              <a:rPr lang="en-US" sz="2600" dirty="0"/>
              <a:t>: O(n</a:t>
            </a:r>
            <a:r>
              <a:rPr lang="en-US" sz="2600" baseline="30000" dirty="0"/>
              <a:t>2</a:t>
            </a:r>
            <a:r>
              <a:rPr lang="en-US" sz="2600" dirty="0"/>
              <a: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0286"/>
            <a:ext cx="5112658" cy="6299199"/>
          </a:xfrm>
        </p:spPr>
        <p:style>
          <a:lnRef idx="2">
            <a:schemeClr val="accent2"/>
          </a:lnRef>
          <a:fillRef idx="1">
            <a:schemeClr val="lt1"/>
          </a:fillRef>
          <a:effectRef idx="0">
            <a:schemeClr val="accent2"/>
          </a:effectRef>
          <a:fontRef idx="minor">
            <a:schemeClr val="dk1"/>
          </a:fontRef>
        </p:style>
        <p:txBody>
          <a:bodyPr>
            <a:normAutofit fontScale="85000" lnSpcReduction="20000"/>
          </a:bodyPr>
          <a:lstStyle/>
          <a:p>
            <a:r>
              <a:rPr lang="en-US" b="1" dirty="0"/>
              <a:t>3. Worst Case Analysis</a:t>
            </a:r>
          </a:p>
          <a:p>
            <a:r>
              <a:rPr lang="en-US" b="1" dirty="0"/>
              <a:t>Scenario:</a:t>
            </a:r>
          </a:p>
          <a:p>
            <a:r>
              <a:rPr lang="en-US" dirty="0"/>
              <a:t>The input array is sorted in reverse order.</a:t>
            </a:r>
          </a:p>
          <a:p>
            <a:r>
              <a:rPr lang="en-US" dirty="0"/>
              <a:t>Example: [5,4,3,2,1]</a:t>
            </a:r>
          </a:p>
          <a:p>
            <a:r>
              <a:rPr lang="en-US" b="1" dirty="0"/>
              <a:t>Step-by-Step Explanation:</a:t>
            </a:r>
          </a:p>
          <a:p>
            <a:r>
              <a:rPr lang="en-US" b="1" dirty="0"/>
              <a:t>Pass 1</a:t>
            </a:r>
            <a:r>
              <a:rPr lang="en-US" dirty="0"/>
              <a:t>:</a:t>
            </a:r>
          </a:p>
          <a:p>
            <a:pPr lvl="1"/>
            <a:r>
              <a:rPr lang="en-US" dirty="0"/>
              <a:t>Compare 5 and 4: Swap → [4,5,3,2,1].</a:t>
            </a:r>
          </a:p>
          <a:p>
            <a:pPr lvl="1"/>
            <a:r>
              <a:rPr lang="en-US" dirty="0"/>
              <a:t>Compare 5 and 3: Swap → [4,3,5,2,1]</a:t>
            </a:r>
          </a:p>
          <a:p>
            <a:pPr lvl="1"/>
            <a:r>
              <a:rPr lang="en-US" dirty="0"/>
              <a:t>Compare 5 and 2: Swap → [4,3,2,5,1].</a:t>
            </a:r>
          </a:p>
          <a:p>
            <a:pPr lvl="1"/>
            <a:r>
              <a:rPr lang="en-US" dirty="0"/>
              <a:t>Compare 5 and 1: Swap → [4,3,2,1,5]</a:t>
            </a:r>
          </a:p>
          <a:p>
            <a:r>
              <a:rPr lang="en-US" b="1" dirty="0"/>
              <a:t>Pass 2</a:t>
            </a:r>
            <a:r>
              <a:rPr lang="en-US" dirty="0"/>
              <a:t>:</a:t>
            </a:r>
          </a:p>
          <a:p>
            <a:pPr lvl="1"/>
            <a:r>
              <a:rPr lang="en-US" dirty="0"/>
              <a:t>Compare 4 and 3: Swap → [3,4,2,1,5][</a:t>
            </a:r>
          </a:p>
          <a:p>
            <a:pPr lvl="1"/>
            <a:r>
              <a:rPr lang="en-US" dirty="0"/>
              <a:t>Compare 4 and 2: Swap → [3,2,4,1,5]</a:t>
            </a:r>
          </a:p>
          <a:p>
            <a:pPr lvl="1"/>
            <a:r>
              <a:rPr lang="en-US" dirty="0"/>
              <a:t>Compare 4and 1: Swap → [3,2,1,4,5]</a:t>
            </a:r>
          </a:p>
          <a:p>
            <a:r>
              <a:rPr lang="en-US" b="1" dirty="0"/>
              <a:t>Pass 3</a:t>
            </a:r>
            <a:r>
              <a:rPr lang="en-US" dirty="0"/>
              <a:t>:</a:t>
            </a:r>
          </a:p>
          <a:p>
            <a:pPr lvl="1"/>
            <a:r>
              <a:rPr lang="en-US" dirty="0"/>
              <a:t>Compare 3 and 2: Swap → [2,3,1,4,5]</a:t>
            </a:r>
          </a:p>
          <a:p>
            <a:pPr lvl="1"/>
            <a:r>
              <a:rPr lang="en-US" dirty="0"/>
              <a:t>Compare 3 and 1: Swap → [2,1,3,4,5]</a:t>
            </a:r>
          </a:p>
        </p:txBody>
      </p:sp>
      <p:sp>
        <p:nvSpPr>
          <p:cNvPr id="4" name="Rectangle 3"/>
          <p:cNvSpPr/>
          <p:nvPr/>
        </p:nvSpPr>
        <p:spPr>
          <a:xfrm>
            <a:off x="6139544" y="451454"/>
            <a:ext cx="5747656"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Pass 4</a:t>
            </a:r>
            <a:r>
              <a:rPr lang="en-US" dirty="0"/>
              <a:t>:</a:t>
            </a:r>
          </a:p>
          <a:p>
            <a:pPr lvl="1"/>
            <a:r>
              <a:rPr lang="en-US" dirty="0"/>
              <a:t>Compare 2 and 1: Swap → [1,2,3,4,5]</a:t>
            </a:r>
          </a:p>
          <a:p>
            <a:r>
              <a:rPr lang="en-US" b="1" dirty="0"/>
              <a:t>Pass 5</a:t>
            </a:r>
            <a:r>
              <a:rPr lang="en-US" dirty="0"/>
              <a:t>:</a:t>
            </a:r>
          </a:p>
          <a:p>
            <a:pPr lvl="1"/>
            <a:r>
              <a:rPr lang="en-US" dirty="0"/>
              <a:t>No swaps; array is sorted.</a:t>
            </a:r>
          </a:p>
          <a:p>
            <a:r>
              <a:rPr lang="en-US" b="1" dirty="0"/>
              <a:t>Number of Comparisons and Swaps:</a:t>
            </a:r>
          </a:p>
          <a:p>
            <a:r>
              <a:rPr lang="en-US" dirty="0"/>
              <a:t>Comparisons: n(n−1)/2  (maximum possible swaps).</a:t>
            </a:r>
          </a:p>
          <a:p>
            <a:r>
              <a:rPr lang="en-US" b="1" dirty="0"/>
              <a:t>Time Complexity:</a:t>
            </a:r>
          </a:p>
          <a:p>
            <a:r>
              <a:rPr lang="en-US" b="1" dirty="0"/>
              <a:t>Worst Case</a:t>
            </a:r>
            <a:r>
              <a:rPr lang="en-US" dirty="0"/>
              <a:t>: O(n^2)</a:t>
            </a:r>
          </a:p>
        </p:txBody>
      </p:sp>
      <p:grpSp>
        <p:nvGrpSpPr>
          <p:cNvPr id="7" name="Group 6"/>
          <p:cNvGrpSpPr/>
          <p:nvPr/>
        </p:nvGrpSpPr>
        <p:grpSpPr>
          <a:xfrm>
            <a:off x="6053364" y="2871561"/>
            <a:ext cx="4365171" cy="3195410"/>
            <a:chOff x="6053364" y="2871561"/>
            <a:chExt cx="4365171" cy="2914650"/>
          </a:xfrm>
        </p:grpSpPr>
        <p:pic>
          <p:nvPicPr>
            <p:cNvPr id="1027" name="Picture 3"/>
            <p:cNvPicPr>
              <a:picLocks noChangeAspect="1" noChangeArrowheads="1"/>
            </p:cNvPicPr>
            <p:nvPr/>
          </p:nvPicPr>
          <p:blipFill>
            <a:blip r:embed="rId2" cstate="print"/>
            <a:srcRect/>
            <a:stretch>
              <a:fillRect/>
            </a:stretch>
          </p:blipFill>
          <p:spPr bwMode="auto">
            <a:xfrm>
              <a:off x="6053364" y="2871561"/>
              <a:ext cx="3771900" cy="291465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9466035" y="3327173"/>
              <a:ext cx="952500" cy="1190625"/>
            </a:xfrm>
            <a:prstGeom prst="rect">
              <a:avLst/>
            </a:prstGeom>
            <a:noFill/>
            <a:ln w="9525">
              <a:noFill/>
              <a:miter lim="800000"/>
              <a:headEnd/>
              <a:tailEnd/>
            </a:ln>
          </p:spPr>
        </p:pic>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p:nvPr/>
        </p:nvGrpSpPr>
        <p:grpSpPr>
          <a:xfrm>
            <a:off x="0" y="273503"/>
            <a:ext cx="4365171" cy="4066267"/>
            <a:chOff x="6053364" y="2871561"/>
            <a:chExt cx="4365171" cy="2914650"/>
          </a:xfrm>
        </p:grpSpPr>
        <p:pic>
          <p:nvPicPr>
            <p:cNvPr id="1027" name="Picture 3"/>
            <p:cNvPicPr>
              <a:picLocks noChangeAspect="1" noChangeArrowheads="1"/>
            </p:cNvPicPr>
            <p:nvPr/>
          </p:nvPicPr>
          <p:blipFill>
            <a:blip r:embed="rId2" cstate="print"/>
            <a:srcRect/>
            <a:stretch>
              <a:fillRect/>
            </a:stretch>
          </p:blipFill>
          <p:spPr bwMode="auto">
            <a:xfrm>
              <a:off x="6053364" y="2871561"/>
              <a:ext cx="3771900" cy="291465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9466035" y="3327173"/>
              <a:ext cx="952500" cy="1190625"/>
            </a:xfrm>
            <a:prstGeom prst="rect">
              <a:avLst/>
            </a:prstGeom>
            <a:noFill/>
            <a:ln w="9525">
              <a:noFill/>
              <a:miter lim="800000"/>
              <a:headEnd/>
              <a:tailEnd/>
            </a:ln>
          </p:spPr>
        </p:pic>
      </p:grpSp>
      <p:pic>
        <p:nvPicPr>
          <p:cNvPr id="2050" name="Picture 2"/>
          <p:cNvPicPr>
            <a:picLocks noChangeAspect="1" noChangeArrowheads="1"/>
          </p:cNvPicPr>
          <p:nvPr/>
        </p:nvPicPr>
        <p:blipFill>
          <a:blip r:embed="rId4" cstate="print"/>
          <a:srcRect/>
          <a:stretch>
            <a:fillRect/>
          </a:stretch>
        </p:blipFill>
        <p:spPr bwMode="auto">
          <a:xfrm>
            <a:off x="4701722" y="391884"/>
            <a:ext cx="5981700" cy="4093029"/>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9013"/>
            <a:ext cx="10515600" cy="636361"/>
          </a:xfrm>
        </p:spPr>
        <p:txBody>
          <a:bodyPr>
            <a:normAutofit fontScale="90000"/>
          </a:bodyPr>
          <a:lstStyle/>
          <a:p>
            <a:pPr algn="ctr"/>
            <a:r>
              <a:rPr lang="en-US" b="1" dirty="0"/>
              <a:t>Recurrence Relation</a:t>
            </a:r>
            <a:br>
              <a:rPr lang="en-US" b="1" dirty="0"/>
            </a:br>
            <a:endParaRPr lang="en-US" b="1" dirty="0"/>
          </a:p>
        </p:txBody>
      </p:sp>
      <p:sp>
        <p:nvSpPr>
          <p:cNvPr id="3" name="Content Placeholder 2"/>
          <p:cNvSpPr>
            <a:spLocks noGrp="1"/>
          </p:cNvSpPr>
          <p:nvPr>
            <p:ph idx="1"/>
          </p:nvPr>
        </p:nvSpPr>
        <p:spPr>
          <a:xfrm>
            <a:off x="838200" y="783771"/>
            <a:ext cx="10515600" cy="5892800"/>
          </a:xfrm>
        </p:spPr>
        <p:txBody>
          <a:bodyPr>
            <a:noAutofit/>
          </a:bodyPr>
          <a:lstStyle/>
          <a:p>
            <a:endParaRPr lang="en-US" sz="2200" dirty="0"/>
          </a:p>
          <a:p>
            <a:r>
              <a:rPr lang="en-US" sz="2400" dirty="0"/>
              <a:t>When we write code that </a:t>
            </a:r>
            <a:r>
              <a:rPr lang="en-US" sz="2400" b="1" dirty="0"/>
              <a:t>calls itself (recursion)</a:t>
            </a:r>
            <a:r>
              <a:rPr lang="en-US" sz="2400" dirty="0"/>
              <a:t>, we use recurrence to </a:t>
            </a:r>
            <a:r>
              <a:rPr lang="en-US" sz="2400" b="1" dirty="0"/>
              <a:t>find how much time it takes</a:t>
            </a:r>
            <a:r>
              <a:rPr lang="en-US" sz="2400" dirty="0"/>
              <a:t>.</a:t>
            </a:r>
          </a:p>
          <a:p>
            <a:r>
              <a:rPr lang="en-US" sz="2400" dirty="0"/>
              <a:t>A recurrence relation shows how the solution to a big problem depends on the solutions to smaller versions of the same problem.</a:t>
            </a:r>
          </a:p>
          <a:p>
            <a:r>
              <a:rPr lang="en-US" sz="2400" dirty="0"/>
              <a:t>A </a:t>
            </a:r>
            <a:r>
              <a:rPr lang="en-US" sz="2400" b="1" dirty="0"/>
              <a:t>recurrence relation</a:t>
            </a:r>
            <a:r>
              <a:rPr lang="en-US" sz="2400" dirty="0"/>
              <a:t> is a </a:t>
            </a:r>
            <a:r>
              <a:rPr lang="en-US" sz="2400" b="1" dirty="0"/>
              <a:t>mathematical equation</a:t>
            </a:r>
            <a:r>
              <a:rPr lang="en-US" sz="2400" dirty="0"/>
              <a:t> that </a:t>
            </a:r>
            <a:r>
              <a:rPr lang="en-US" sz="2400" b="1" dirty="0"/>
              <a:t>defines a sequence or a function</a:t>
            </a:r>
            <a:r>
              <a:rPr lang="en-US" sz="2400" dirty="0"/>
              <a:t> using </a:t>
            </a:r>
            <a:r>
              <a:rPr lang="en-US" sz="2400" b="1" dirty="0"/>
              <a:t>its own previous values</a:t>
            </a:r>
            <a:r>
              <a:rPr lang="en-US" sz="2400" dirty="0"/>
              <a:t>.</a:t>
            </a:r>
          </a:p>
          <a:p>
            <a:r>
              <a:rPr lang="en-US" sz="2400" b="1" dirty="0"/>
              <a:t>Used to analyze time complexity</a:t>
            </a:r>
            <a:r>
              <a:rPr lang="en-US" sz="2400" dirty="0"/>
              <a:t> of </a:t>
            </a:r>
            <a:r>
              <a:rPr lang="en-US" sz="2400" b="1" dirty="0"/>
              <a:t>recursive algorithms</a:t>
            </a:r>
            <a:endParaRPr lang="en-US" sz="2400" dirty="0"/>
          </a:p>
          <a:p>
            <a:r>
              <a:rPr lang="en-US" sz="2200" b="1" dirty="0"/>
              <a:t>2. Methods to Solve Recurrence Relations</a:t>
            </a:r>
          </a:p>
          <a:p>
            <a:r>
              <a:rPr lang="en-US" sz="2200" b="1" dirty="0"/>
              <a:t>a) Substitution Method : </a:t>
            </a:r>
            <a:r>
              <a:rPr lang="en-US" sz="2200" dirty="0"/>
              <a:t>Guess the solution and prove it using mathematical induction.</a:t>
            </a:r>
          </a:p>
          <a:p>
            <a:r>
              <a:rPr lang="en-US" sz="2200" b="1" dirty="0"/>
              <a:t>b) Recursion Tree Method :</a:t>
            </a:r>
            <a:r>
              <a:rPr lang="en-US" sz="2200" dirty="0"/>
              <a:t>Represent the recurrence as a tree to analyze the work at each level.</a:t>
            </a:r>
          </a:p>
          <a:p>
            <a:r>
              <a:rPr lang="en-US" sz="2200" b="1" dirty="0"/>
              <a:t>c) Master Theorem :</a:t>
            </a:r>
            <a:r>
              <a:rPr lang="en-US" sz="2200" dirty="0"/>
              <a:t>A shortcut to solve recurrences in the standard form </a:t>
            </a:r>
          </a:p>
          <a:p>
            <a:pPr>
              <a:buNone/>
            </a:pPr>
            <a:r>
              <a:rPr lang="en-US" sz="2200" dirty="0"/>
              <a:t>					T(n) = </a:t>
            </a:r>
            <a:r>
              <a:rPr lang="en-US" sz="2200" dirty="0" err="1"/>
              <a:t>aT</a:t>
            </a:r>
            <a:r>
              <a:rPr lang="en-US" sz="2200" dirty="0"/>
              <a:t>(n/b) + f(n)</a:t>
            </a:r>
          </a:p>
          <a:p>
            <a:endParaRPr lang="en-US" sz="2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2162629" y="1378857"/>
            <a:ext cx="8389257" cy="5050971"/>
          </a:xfrm>
          <a:prstGeom prst="rect">
            <a:avLst/>
          </a:prstGeom>
          <a:noFill/>
          <a:ln w="9525">
            <a:noFill/>
            <a:miter lim="800000"/>
            <a:headEnd/>
            <a:tailEnd/>
          </a:ln>
        </p:spPr>
      </p:pic>
      <p:sp>
        <p:nvSpPr>
          <p:cNvPr id="5" name="Title 1"/>
          <p:cNvSpPr>
            <a:spLocks noGrp="1"/>
          </p:cNvSpPr>
          <p:nvPr>
            <p:ph type="title"/>
          </p:nvPr>
        </p:nvSpPr>
        <p:spPr/>
        <p:txBody>
          <a:bodyPr>
            <a:normAutofit/>
          </a:bodyPr>
          <a:lstStyle/>
          <a:p>
            <a:pPr algn="ctr"/>
            <a:r>
              <a:rPr lang="en-US" b="1" dirty="0"/>
              <a:t>Recurrence Relation</a:t>
            </a:r>
            <a:br>
              <a:rPr lang="en-US" b="1" dirty="0"/>
            </a:br>
            <a:endParaRPr lang="en-US" b="1"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682171" y="885370"/>
            <a:ext cx="9216571" cy="3889829"/>
          </a:xfrm>
          <a:prstGeom prst="rect">
            <a:avLst/>
          </a:prstGeom>
          <a:noFill/>
          <a:ln w="9525">
            <a:noFill/>
            <a:miter lim="800000"/>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5124" name="Picture 4"/>
          <p:cNvPicPr>
            <a:picLocks noChangeAspect="1" noChangeArrowheads="1"/>
          </p:cNvPicPr>
          <p:nvPr/>
        </p:nvPicPr>
        <p:blipFill>
          <a:blip r:embed="rId2" cstate="print"/>
          <a:srcRect/>
          <a:stretch>
            <a:fillRect/>
          </a:stretch>
        </p:blipFill>
        <p:spPr bwMode="auto">
          <a:xfrm>
            <a:off x="624114" y="391886"/>
            <a:ext cx="10813143" cy="5602514"/>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Factorial recurrence relation </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899886" y="1538514"/>
            <a:ext cx="10014857" cy="4557486"/>
          </a:xfrm>
          <a:prstGeom prst="rect">
            <a:avLst/>
          </a:prstGeom>
          <a:noFill/>
          <a:ln w="9525">
            <a:noFill/>
            <a:miter lim="800000"/>
            <a:headEnd/>
            <a:tailEnd/>
          </a:ln>
        </p:spPr>
      </p:pic>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ctr"/>
            <a:r>
              <a:rPr lang="en-US" b="1" dirty="0"/>
              <a:t>recurrence relation </a:t>
            </a:r>
            <a:br>
              <a:rPr lang="en-US" b="1" dirty="0"/>
            </a:br>
            <a:endParaRPr lang="en-US" b="1" dirty="0"/>
          </a:p>
        </p:txBody>
      </p:sp>
      <p:sp>
        <p:nvSpPr>
          <p:cNvPr id="6" name="Content Placeholder 5"/>
          <p:cNvSpPr>
            <a:spLocks noGrp="1"/>
          </p:cNvSpPr>
          <p:nvPr>
            <p:ph idx="1"/>
          </p:nvPr>
        </p:nvSpPr>
        <p:spPr/>
        <p:txBody>
          <a:bodyPr/>
          <a:lstStyle/>
          <a:p>
            <a:endParaRPr lang="en-US"/>
          </a:p>
        </p:txBody>
      </p:sp>
      <p:pic>
        <p:nvPicPr>
          <p:cNvPr id="3075" name="Picture 3"/>
          <p:cNvPicPr>
            <a:picLocks noChangeAspect="1" noChangeArrowheads="1"/>
          </p:cNvPicPr>
          <p:nvPr/>
        </p:nvPicPr>
        <p:blipFill>
          <a:blip r:embed="rId2" cstate="print"/>
          <a:srcRect/>
          <a:stretch>
            <a:fillRect/>
          </a:stretch>
        </p:blipFill>
        <p:spPr bwMode="auto">
          <a:xfrm>
            <a:off x="1190171" y="1567544"/>
            <a:ext cx="8592458" cy="4426856"/>
          </a:xfrm>
          <a:prstGeom prst="rect">
            <a:avLst/>
          </a:prstGeom>
          <a:noFill/>
          <a:ln w="9525">
            <a:no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ctr"/>
            <a:r>
              <a:rPr lang="en-US" b="1" dirty="0"/>
              <a:t>Recurrence Relation</a:t>
            </a:r>
            <a:br>
              <a:rPr lang="en-US" b="1" dirty="0"/>
            </a:br>
            <a:endParaRPr lang="en-US" b="1" dirty="0"/>
          </a:p>
        </p:txBody>
      </p:sp>
      <p:sp>
        <p:nvSpPr>
          <p:cNvPr id="4" name="Content Placeholder 3"/>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740229" y="1436914"/>
            <a:ext cx="9956800" cy="4862286"/>
          </a:xfrm>
          <a:prstGeom prst="rect">
            <a:avLst/>
          </a:prstGeom>
          <a:noFill/>
          <a:ln w="9525">
            <a:noFill/>
            <a:miter lim="800000"/>
            <a:headEnd/>
            <a:tailEnd/>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6879771" y="4470400"/>
            <a:ext cx="4064000" cy="2162629"/>
          </a:xfrm>
          <a:prstGeom prst="rect">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itle 1"/>
          <p:cNvSpPr>
            <a:spLocks noGrp="1"/>
          </p:cNvSpPr>
          <p:nvPr>
            <p:ph type="title"/>
          </p:nvPr>
        </p:nvSpPr>
        <p:spPr/>
        <p:txBody>
          <a:bodyPr>
            <a:normAutofit/>
          </a:bodyPr>
          <a:lstStyle/>
          <a:p>
            <a:pPr algn="ctr"/>
            <a:r>
              <a:rPr lang="en-US" b="1" dirty="0"/>
              <a:t>Recurrence Relation</a:t>
            </a:r>
            <a:br>
              <a:rPr lang="en-US" b="1" dirty="0"/>
            </a:br>
            <a:endParaRPr lang="en-US" b="1" dirty="0"/>
          </a:p>
        </p:txBody>
      </p:sp>
      <p:grpSp>
        <p:nvGrpSpPr>
          <p:cNvPr id="17" name="Group 16"/>
          <p:cNvGrpSpPr/>
          <p:nvPr/>
        </p:nvGrpSpPr>
        <p:grpSpPr>
          <a:xfrm>
            <a:off x="798286" y="1364343"/>
            <a:ext cx="10072914" cy="5167082"/>
            <a:chOff x="798286" y="1364343"/>
            <a:chExt cx="10072914" cy="5167082"/>
          </a:xfrm>
        </p:grpSpPr>
        <p:pic>
          <p:nvPicPr>
            <p:cNvPr id="5122" name="Picture 2"/>
            <p:cNvPicPr>
              <a:picLocks noChangeAspect="1" noChangeArrowheads="1"/>
            </p:cNvPicPr>
            <p:nvPr/>
          </p:nvPicPr>
          <p:blipFill>
            <a:blip r:embed="rId2" cstate="print"/>
            <a:srcRect/>
            <a:stretch>
              <a:fillRect/>
            </a:stretch>
          </p:blipFill>
          <p:spPr bwMode="auto">
            <a:xfrm>
              <a:off x="798286" y="1364343"/>
              <a:ext cx="9579428" cy="4455885"/>
            </a:xfrm>
            <a:prstGeom prst="rect">
              <a:avLst/>
            </a:prstGeom>
            <a:noFill/>
            <a:ln w="9525">
              <a:noFill/>
              <a:miter lim="800000"/>
              <a:headEnd/>
              <a:tailEnd/>
            </a:ln>
          </p:spPr>
        </p:pic>
        <p:grpSp>
          <p:nvGrpSpPr>
            <p:cNvPr id="14" name="Group 13"/>
            <p:cNvGrpSpPr/>
            <p:nvPr/>
          </p:nvGrpSpPr>
          <p:grpSpPr>
            <a:xfrm>
              <a:off x="7561943" y="4833257"/>
              <a:ext cx="3309257" cy="1698168"/>
              <a:chOff x="7561943" y="4542971"/>
              <a:chExt cx="3309257" cy="1988454"/>
            </a:xfrm>
          </p:grpSpPr>
          <p:sp>
            <p:nvSpPr>
              <p:cNvPr id="7" name="Left Brace 6"/>
              <p:cNvSpPr/>
              <p:nvPr/>
            </p:nvSpPr>
            <p:spPr>
              <a:xfrm>
                <a:off x="8186056" y="4862286"/>
                <a:ext cx="885373" cy="1451428"/>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8" name="Rectangle 7"/>
              <p:cNvSpPr/>
              <p:nvPr/>
            </p:nvSpPr>
            <p:spPr>
              <a:xfrm>
                <a:off x="9202056" y="4542971"/>
                <a:ext cx="1335315" cy="63862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1     If n = 0     </a:t>
                </a:r>
              </a:p>
            </p:txBody>
          </p:sp>
          <p:sp>
            <p:nvSpPr>
              <p:cNvPr id="12" name="Rectangle 11"/>
              <p:cNvSpPr/>
              <p:nvPr/>
            </p:nvSpPr>
            <p:spPr>
              <a:xfrm>
                <a:off x="9173026" y="5892796"/>
                <a:ext cx="1698174" cy="63862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T(n-1)     If n &gt; 0     </a:t>
                </a:r>
              </a:p>
            </p:txBody>
          </p:sp>
          <p:sp>
            <p:nvSpPr>
              <p:cNvPr id="13" name="Rectangle 12"/>
              <p:cNvSpPr/>
              <p:nvPr/>
            </p:nvSpPr>
            <p:spPr>
              <a:xfrm>
                <a:off x="7561943" y="5225142"/>
                <a:ext cx="783774" cy="63862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r"/>
                <a:r>
                  <a:rPr lang="en-US" dirty="0"/>
                  <a:t>T(n)=</a:t>
                </a:r>
              </a:p>
            </p:txBody>
          </p:sp>
        </p:grpSp>
        <p:sp>
          <p:nvSpPr>
            <p:cNvPr id="16" name="Rectangle 15"/>
            <p:cNvSpPr/>
            <p:nvPr/>
          </p:nvSpPr>
          <p:spPr>
            <a:xfrm>
              <a:off x="7315200" y="4426861"/>
              <a:ext cx="3106057" cy="55154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t>Recurrence relation:</a:t>
              </a: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67657" y="1349829"/>
            <a:ext cx="11350172" cy="5215391"/>
            <a:chOff x="667657" y="1349829"/>
            <a:chExt cx="11350172" cy="5215391"/>
          </a:xfrm>
        </p:grpSpPr>
        <p:grpSp>
          <p:nvGrpSpPr>
            <p:cNvPr id="7" name="Group 6"/>
            <p:cNvGrpSpPr/>
            <p:nvPr/>
          </p:nvGrpSpPr>
          <p:grpSpPr>
            <a:xfrm>
              <a:off x="667657" y="1349829"/>
              <a:ext cx="11321143" cy="5215391"/>
              <a:chOff x="667657" y="1349829"/>
              <a:chExt cx="11321143" cy="5215391"/>
            </a:xfrm>
          </p:grpSpPr>
          <p:pic>
            <p:nvPicPr>
              <p:cNvPr id="6146" name="Picture 2"/>
              <p:cNvPicPr>
                <a:picLocks noChangeAspect="1" noChangeArrowheads="1"/>
              </p:cNvPicPr>
              <p:nvPr/>
            </p:nvPicPr>
            <p:blipFill>
              <a:blip r:embed="rId2" cstate="print"/>
              <a:srcRect/>
              <a:stretch>
                <a:fillRect/>
              </a:stretch>
            </p:blipFill>
            <p:spPr bwMode="auto">
              <a:xfrm>
                <a:off x="667657" y="1349829"/>
                <a:ext cx="11263085" cy="5065485"/>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11214100" y="6098495"/>
                <a:ext cx="774700" cy="466725"/>
              </a:xfrm>
              <a:prstGeom prst="rect">
                <a:avLst/>
              </a:prstGeom>
              <a:noFill/>
              <a:ln w="9525">
                <a:noFill/>
                <a:miter lim="800000"/>
                <a:headEnd/>
                <a:tailEnd/>
              </a:ln>
            </p:spPr>
          </p:pic>
        </p:grpSp>
        <p:pic>
          <p:nvPicPr>
            <p:cNvPr id="3075" name="Picture 3"/>
            <p:cNvPicPr>
              <a:picLocks noChangeAspect="1" noChangeArrowheads="1"/>
            </p:cNvPicPr>
            <p:nvPr/>
          </p:nvPicPr>
          <p:blipFill>
            <a:blip r:embed="rId4" cstate="print"/>
            <a:srcRect/>
            <a:stretch>
              <a:fillRect/>
            </a:stretch>
          </p:blipFill>
          <p:spPr bwMode="auto">
            <a:xfrm>
              <a:off x="6290810" y="2740477"/>
              <a:ext cx="5727019" cy="2063751"/>
            </a:xfrm>
            <a:prstGeom prst="rect">
              <a:avLst/>
            </a:prstGeom>
            <a:noFill/>
            <a:ln w="9525">
              <a:noFill/>
              <a:miter lim="800000"/>
              <a:headEnd/>
              <a:tailEnd/>
            </a:ln>
          </p:spPr>
        </p:pic>
      </p:grpSp>
      <p:sp>
        <p:nvSpPr>
          <p:cNvPr id="5" name="Title 1"/>
          <p:cNvSpPr>
            <a:spLocks noGrp="1"/>
          </p:cNvSpPr>
          <p:nvPr>
            <p:ph type="title"/>
          </p:nvPr>
        </p:nvSpPr>
        <p:spPr/>
        <p:txBody>
          <a:bodyPr>
            <a:normAutofit/>
          </a:bodyPr>
          <a:lstStyle/>
          <a:p>
            <a:pPr algn="ctr"/>
            <a:r>
              <a:rPr lang="en-US" b="1" dirty="0"/>
              <a:t>Recurrence Relation</a:t>
            </a:r>
            <a:br>
              <a:rPr lang="en-US" b="1" dirty="0"/>
            </a:br>
            <a:endParaRPr lang="en-US" b="1" dirty="0"/>
          </a:p>
        </p:txBody>
      </p:sp>
      <p:sp>
        <p:nvSpPr>
          <p:cNvPr id="11" name="Left Brace 10"/>
          <p:cNvSpPr/>
          <p:nvPr/>
        </p:nvSpPr>
        <p:spPr>
          <a:xfrm>
            <a:off x="9100456" y="3320700"/>
            <a:ext cx="885373" cy="123954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12" name="Rectangle 11"/>
          <p:cNvSpPr/>
          <p:nvPr/>
        </p:nvSpPr>
        <p:spPr>
          <a:xfrm>
            <a:off x="10116456" y="3048000"/>
            <a:ext cx="1335315" cy="54539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1     If n = 0     </a:t>
            </a:r>
          </a:p>
        </p:txBody>
      </p:sp>
      <p:sp>
        <p:nvSpPr>
          <p:cNvPr id="13" name="Rectangle 12"/>
          <p:cNvSpPr/>
          <p:nvPr/>
        </p:nvSpPr>
        <p:spPr>
          <a:xfrm>
            <a:off x="10087425" y="4200770"/>
            <a:ext cx="1930403" cy="54539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T(n-1) +n    If n &gt; 0     </a:t>
            </a:r>
          </a:p>
        </p:txBody>
      </p:sp>
      <p:sp>
        <p:nvSpPr>
          <p:cNvPr id="14" name="Rectangle 13"/>
          <p:cNvSpPr/>
          <p:nvPr/>
        </p:nvSpPr>
        <p:spPr>
          <a:xfrm>
            <a:off x="8476343" y="3630584"/>
            <a:ext cx="783774" cy="54539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r"/>
            <a:r>
              <a:rPr lang="en-US" dirty="0"/>
              <a:t>T(n)=</a:t>
            </a:r>
          </a:p>
        </p:txBody>
      </p:sp>
      <p:sp>
        <p:nvSpPr>
          <p:cNvPr id="15" name="Rectangle 14"/>
          <p:cNvSpPr/>
          <p:nvPr/>
        </p:nvSpPr>
        <p:spPr>
          <a:xfrm>
            <a:off x="8229600" y="2641604"/>
            <a:ext cx="3106057" cy="55154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t>Recurrence relation: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ctr"/>
            <a:r>
              <a:rPr lang="en-US" b="1" dirty="0"/>
              <a:t>Recurrence Relation</a:t>
            </a:r>
            <a:br>
              <a:rPr lang="en-US" b="1" dirty="0"/>
            </a:br>
            <a:endParaRPr lang="en-US" b="1" dirty="0"/>
          </a:p>
        </p:txBody>
      </p:sp>
      <p:sp>
        <p:nvSpPr>
          <p:cNvPr id="4" name="Content Placeholder 3"/>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391886" y="1117599"/>
            <a:ext cx="11379200" cy="5326743"/>
          </a:xfrm>
          <a:prstGeom prst="rect">
            <a:avLst/>
          </a:prstGeom>
          <a:noFill/>
          <a:ln w="9525">
            <a:noFill/>
            <a:miter lim="800000"/>
            <a:headEnd/>
            <a:tailEnd/>
          </a:ln>
        </p:spPr>
      </p:pic>
      <p:sp>
        <p:nvSpPr>
          <p:cNvPr id="7" name="Left Brace 6"/>
          <p:cNvSpPr/>
          <p:nvPr/>
        </p:nvSpPr>
        <p:spPr>
          <a:xfrm>
            <a:off x="9100456" y="3320700"/>
            <a:ext cx="885373" cy="123954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8" name="Rectangle 7"/>
          <p:cNvSpPr/>
          <p:nvPr/>
        </p:nvSpPr>
        <p:spPr>
          <a:xfrm>
            <a:off x="10043884" y="3541486"/>
            <a:ext cx="1654630" cy="54539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1     If n =1     </a:t>
            </a:r>
          </a:p>
        </p:txBody>
      </p:sp>
      <p:sp>
        <p:nvSpPr>
          <p:cNvPr id="9" name="Rectangle 8"/>
          <p:cNvSpPr/>
          <p:nvPr/>
        </p:nvSpPr>
        <p:spPr>
          <a:xfrm>
            <a:off x="9666515" y="4012088"/>
            <a:ext cx="2351314" cy="54539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T(n-1) +T(n-2)    If n &gt; 1     </a:t>
            </a:r>
          </a:p>
        </p:txBody>
      </p:sp>
      <p:sp>
        <p:nvSpPr>
          <p:cNvPr id="10" name="Rectangle 9"/>
          <p:cNvSpPr/>
          <p:nvPr/>
        </p:nvSpPr>
        <p:spPr>
          <a:xfrm>
            <a:off x="8476343" y="3630584"/>
            <a:ext cx="783774" cy="54539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r"/>
            <a:r>
              <a:rPr lang="en-US" dirty="0"/>
              <a:t>T(n)=</a:t>
            </a:r>
          </a:p>
        </p:txBody>
      </p:sp>
      <p:sp>
        <p:nvSpPr>
          <p:cNvPr id="11" name="Rectangle 10"/>
          <p:cNvSpPr/>
          <p:nvPr/>
        </p:nvSpPr>
        <p:spPr>
          <a:xfrm>
            <a:off x="8229600" y="2641604"/>
            <a:ext cx="3106057" cy="55154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t>Recurrence relation:</a:t>
            </a:r>
          </a:p>
        </p:txBody>
      </p:sp>
      <p:sp>
        <p:nvSpPr>
          <p:cNvPr id="12" name="Rectangle 11"/>
          <p:cNvSpPr/>
          <p:nvPr/>
        </p:nvSpPr>
        <p:spPr>
          <a:xfrm>
            <a:off x="10101941" y="3048000"/>
            <a:ext cx="1654630" cy="54539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dirty="0"/>
              <a:t>0     If n &lt;0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5046"/>
          </a:xfrm>
        </p:spPr>
        <p:txBody>
          <a:bodyPr/>
          <a:lstStyle/>
          <a:p>
            <a:pPr algn="ctr"/>
            <a:r>
              <a:rPr lang="en-US" b="1" dirty="0"/>
              <a:t>Recurrence</a:t>
            </a:r>
            <a:r>
              <a:rPr lang="en-US" dirty="0"/>
              <a:t> </a:t>
            </a:r>
            <a:r>
              <a:rPr lang="en-US" b="1" dirty="0"/>
              <a:t>Tree</a:t>
            </a:r>
          </a:p>
        </p:txBody>
      </p:sp>
      <p:pic>
        <p:nvPicPr>
          <p:cNvPr id="8194" name="Picture 2"/>
          <p:cNvPicPr>
            <a:picLocks noGrp="1" noChangeAspect="1" noChangeArrowheads="1"/>
          </p:cNvPicPr>
          <p:nvPr>
            <p:ph idx="1"/>
          </p:nvPr>
        </p:nvPicPr>
        <p:blipFill>
          <a:blip r:embed="rId2" cstate="print"/>
          <a:srcRect/>
          <a:stretch>
            <a:fillRect/>
          </a:stretch>
        </p:blipFill>
        <p:spPr bwMode="auto">
          <a:xfrm>
            <a:off x="740229" y="1393371"/>
            <a:ext cx="10072914" cy="5268686"/>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6762296" y="1337356"/>
            <a:ext cx="4123418" cy="351041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73504"/>
          </a:xfrm>
        </p:spPr>
        <p:txBody>
          <a:bodyPr>
            <a:normAutofit fontScale="90000"/>
          </a:bodyPr>
          <a:lstStyle/>
          <a:p>
            <a:pPr algn="ctr"/>
            <a:r>
              <a:rPr lang="en-US" dirty="0"/>
              <a:t>Solve recurrence relation –problem1 </a:t>
            </a:r>
          </a:p>
        </p:txBody>
      </p:sp>
      <p:pic>
        <p:nvPicPr>
          <p:cNvPr id="7171" name="Picture 3"/>
          <p:cNvPicPr>
            <a:picLocks noGrp="1" noChangeAspect="1" noChangeArrowheads="1"/>
          </p:cNvPicPr>
          <p:nvPr>
            <p:ph idx="1"/>
          </p:nvPr>
        </p:nvPicPr>
        <p:blipFill>
          <a:blip r:embed="rId2" cstate="print"/>
          <a:srcRect/>
          <a:stretch>
            <a:fillRect/>
          </a:stretch>
        </p:blipFill>
        <p:spPr bwMode="auto">
          <a:xfrm>
            <a:off x="435429" y="957943"/>
            <a:ext cx="4688114" cy="1190171"/>
          </a:xfrm>
          <a:prstGeom prst="rect">
            <a:avLst/>
          </a:prstGeom>
          <a:noFill/>
          <a:ln w="9525">
            <a:noFill/>
            <a:miter lim="800000"/>
            <a:headEnd/>
            <a:tailEnd/>
          </a:ln>
        </p:spPr>
      </p:pic>
      <p:sp>
        <p:nvSpPr>
          <p:cNvPr id="7" name="Rectangle 6"/>
          <p:cNvSpPr/>
          <p:nvPr/>
        </p:nvSpPr>
        <p:spPr>
          <a:xfrm>
            <a:off x="595084" y="2146665"/>
            <a:ext cx="11321143" cy="4524315"/>
          </a:xfrm>
          <a:prstGeom prst="rect">
            <a:avLst/>
          </a:prstGeom>
        </p:spPr>
        <p:txBody>
          <a:bodyPr wrap="square">
            <a:spAutoFit/>
          </a:bodyPr>
          <a:lstStyle/>
          <a:p>
            <a:r>
              <a:rPr lang="en-US" sz="2400" dirty="0"/>
              <a:t>T(n)=T(n−1)+1 This means:</a:t>
            </a:r>
          </a:p>
          <a:p>
            <a:r>
              <a:rPr lang="en-US" sz="2400" dirty="0"/>
              <a:t>To compute T(n), we first need to compute T(n−1), Then add 1 to it.</a:t>
            </a:r>
          </a:p>
          <a:p>
            <a:endParaRPr lang="en-US" sz="2400" dirty="0"/>
          </a:p>
          <a:p>
            <a:endParaRPr lang="en-US" sz="2400" dirty="0"/>
          </a:p>
          <a:p>
            <a:pPr>
              <a:buFont typeface="Arial" pitchFamily="34" charset="0"/>
              <a:buChar char="•"/>
            </a:pPr>
            <a:r>
              <a:rPr lang="en-US" sz="2400" dirty="0"/>
              <a:t>In recurrence relations, we </a:t>
            </a:r>
            <a:r>
              <a:rPr lang="en-US" sz="2400" b="1"/>
              <a:t>replace</a:t>
            </a:r>
            <a:r>
              <a:rPr lang="en-US" sz="2400"/>
              <a:t> (</a:t>
            </a:r>
            <a:r>
              <a:rPr lang="en-US" sz="2400" dirty="0"/>
              <a:t>n) </a:t>
            </a:r>
            <a:r>
              <a:rPr lang="en-US" sz="2400"/>
              <a:t>with (</a:t>
            </a:r>
            <a:r>
              <a:rPr lang="en-US" sz="2400" dirty="0"/>
              <a:t>n−1</a:t>
            </a:r>
            <a:r>
              <a:rPr lang="en-US" sz="2400"/>
              <a:t>), (</a:t>
            </a:r>
            <a:r>
              <a:rPr lang="en-US" sz="2400" dirty="0"/>
              <a:t>n−2), etc., to </a:t>
            </a:r>
            <a:r>
              <a:rPr lang="en-US" sz="2400" b="1" dirty="0"/>
              <a:t>simplify or solve</a:t>
            </a:r>
            <a:r>
              <a:rPr lang="en-US" sz="2400" dirty="0"/>
              <a:t> the recurrence step-by-step.</a:t>
            </a:r>
          </a:p>
          <a:p>
            <a:pPr>
              <a:buFont typeface="Arial" pitchFamily="34" charset="0"/>
              <a:buChar char="•"/>
            </a:pPr>
            <a:r>
              <a:rPr lang="en-US" sz="2400" dirty="0"/>
              <a:t>This method is called </a:t>
            </a:r>
            <a:r>
              <a:rPr lang="en-US" sz="2400" b="1" dirty="0"/>
              <a:t>recursion tree expansion</a:t>
            </a:r>
            <a:r>
              <a:rPr lang="en-US" sz="2400" dirty="0"/>
              <a:t> or </a:t>
            </a:r>
            <a:r>
              <a:rPr lang="en-US" sz="2400" b="1" dirty="0"/>
              <a:t>iterative method or back substitution method</a:t>
            </a:r>
            <a:r>
              <a:rPr lang="en-US" sz="2400" dirty="0"/>
              <a:t>.</a:t>
            </a:r>
          </a:p>
          <a:p>
            <a:pPr>
              <a:buFont typeface="Arial" pitchFamily="34" charset="0"/>
              <a:buChar char="•"/>
            </a:pPr>
            <a:r>
              <a:rPr lang="en-US" sz="2400" dirty="0"/>
              <a:t>It is a technique used to </a:t>
            </a:r>
            <a:r>
              <a:rPr lang="en-US" sz="2400" b="1" dirty="0"/>
              <a:t>solve recurrence relations</a:t>
            </a:r>
            <a:r>
              <a:rPr lang="en-US" sz="2400" dirty="0"/>
              <a:t> by </a:t>
            </a:r>
            <a:r>
              <a:rPr lang="en-US" sz="2400" b="1" dirty="0"/>
              <a:t>repeatedly substituting</a:t>
            </a:r>
            <a:r>
              <a:rPr lang="en-US" sz="2400" dirty="0"/>
              <a:t> the recurrence into itself until we reach the </a:t>
            </a:r>
            <a:r>
              <a:rPr lang="en-US" sz="2400" b="1" dirty="0"/>
              <a:t>base case</a:t>
            </a:r>
            <a:r>
              <a:rPr lang="en-US" sz="2400" dirty="0"/>
              <a:t>.</a:t>
            </a:r>
          </a:p>
          <a:p>
            <a:pPr>
              <a:buFont typeface="Arial" pitchFamily="34" charset="0"/>
              <a:buChar char="•"/>
            </a:pPr>
            <a:r>
              <a:rPr lang="en-US" sz="2400" dirty="0"/>
              <a:t> This helps us find the </a:t>
            </a:r>
            <a:r>
              <a:rPr lang="en-US" sz="2400" b="1" dirty="0"/>
              <a:t>time complexity</a:t>
            </a:r>
            <a:r>
              <a:rPr lang="en-US" sz="2400" dirty="0"/>
              <a:t> of a recursive algorithm</a:t>
            </a:r>
            <a:br>
              <a:rPr lang="en-US" sz="2400" dirty="0"/>
            </a:b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73504"/>
          </a:xfrm>
        </p:spPr>
        <p:txBody>
          <a:bodyPr>
            <a:normAutofit fontScale="90000"/>
          </a:bodyPr>
          <a:lstStyle/>
          <a:p>
            <a:pPr algn="ctr"/>
            <a:r>
              <a:rPr lang="en-US" dirty="0"/>
              <a:t>Solve recurrence relation –problem1 </a:t>
            </a:r>
          </a:p>
        </p:txBody>
      </p:sp>
      <p:pic>
        <p:nvPicPr>
          <p:cNvPr id="7170" name="Picture 2"/>
          <p:cNvPicPr>
            <a:picLocks noChangeAspect="1" noChangeArrowheads="1"/>
          </p:cNvPicPr>
          <p:nvPr/>
        </p:nvPicPr>
        <p:blipFill>
          <a:blip r:embed="rId2" cstate="print"/>
          <a:srcRect/>
          <a:stretch>
            <a:fillRect/>
          </a:stretch>
        </p:blipFill>
        <p:spPr bwMode="auto">
          <a:xfrm>
            <a:off x="481240" y="2104571"/>
            <a:ext cx="5382531" cy="4753429"/>
          </a:xfrm>
          <a:prstGeom prst="rect">
            <a:avLst/>
          </a:prstGeom>
          <a:noFill/>
          <a:ln w="9525">
            <a:noFill/>
            <a:miter lim="800000"/>
            <a:headEnd/>
            <a:tailEnd/>
          </a:ln>
        </p:spPr>
      </p:pic>
      <p:pic>
        <p:nvPicPr>
          <p:cNvPr id="7171" name="Picture 3"/>
          <p:cNvPicPr>
            <a:picLocks noGrp="1" noChangeAspect="1" noChangeArrowheads="1"/>
          </p:cNvPicPr>
          <p:nvPr>
            <p:ph idx="1"/>
          </p:nvPr>
        </p:nvPicPr>
        <p:blipFill>
          <a:blip r:embed="rId3" cstate="print"/>
          <a:srcRect/>
          <a:stretch>
            <a:fillRect/>
          </a:stretch>
        </p:blipFill>
        <p:spPr bwMode="auto">
          <a:xfrm>
            <a:off x="435429" y="957943"/>
            <a:ext cx="4688114" cy="1190171"/>
          </a:xfrm>
          <a:prstGeom prst="rect">
            <a:avLst/>
          </a:prstGeom>
          <a:noFill/>
          <a:ln w="9525">
            <a:noFill/>
            <a:miter lim="800000"/>
            <a:headEnd/>
            <a:tailEnd/>
          </a:ln>
        </p:spPr>
      </p:pic>
      <p:pic>
        <p:nvPicPr>
          <p:cNvPr id="7175" name="Picture 7"/>
          <p:cNvPicPr>
            <a:picLocks noChangeAspect="1" noChangeArrowheads="1"/>
          </p:cNvPicPr>
          <p:nvPr/>
        </p:nvPicPr>
        <p:blipFill>
          <a:blip r:embed="rId4" cstate="print"/>
          <a:srcRect/>
          <a:stretch>
            <a:fillRect/>
          </a:stretch>
        </p:blipFill>
        <p:spPr bwMode="auto">
          <a:xfrm>
            <a:off x="6183085" y="1272948"/>
            <a:ext cx="5210629" cy="4576309"/>
          </a:xfrm>
          <a:prstGeom prst="rect">
            <a:avLst/>
          </a:prstGeom>
          <a:noFill/>
          <a:ln w="9525">
            <a:noFill/>
            <a:miter lim="800000"/>
            <a:headEnd/>
            <a:tailEnd/>
          </a:ln>
        </p:spPr>
      </p:pic>
      <p:pic>
        <p:nvPicPr>
          <p:cNvPr id="1026" name="Picture 2"/>
          <p:cNvPicPr>
            <a:picLocks noChangeAspect="1" noChangeArrowheads="1"/>
          </p:cNvPicPr>
          <p:nvPr/>
        </p:nvPicPr>
        <p:blipFill>
          <a:blip r:embed="rId5" cstate="print"/>
          <a:srcRect/>
          <a:stretch>
            <a:fillRect/>
          </a:stretch>
        </p:blipFill>
        <p:spPr bwMode="auto">
          <a:xfrm>
            <a:off x="3178628" y="2162856"/>
            <a:ext cx="2598057" cy="262685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Title 1"/>
          <p:cNvSpPr>
            <a:spLocks noGrp="1"/>
          </p:cNvSpPr>
          <p:nvPr>
            <p:ph type="title"/>
          </p:nvPr>
        </p:nvSpPr>
        <p:spPr>
          <a:xfrm>
            <a:off x="838200" y="365125"/>
            <a:ext cx="10515600" cy="636361"/>
          </a:xfrm>
        </p:spPr>
        <p:txBody>
          <a:bodyPr>
            <a:normAutofit fontScale="90000"/>
          </a:bodyPr>
          <a:lstStyle/>
          <a:p>
            <a:pPr algn="ctr"/>
            <a:r>
              <a:rPr lang="en-US" dirty="0"/>
              <a:t>Solve recurrence relation –problem2 </a:t>
            </a:r>
          </a:p>
        </p:txBody>
      </p:sp>
      <p:pic>
        <p:nvPicPr>
          <p:cNvPr id="9218" name="Picture 2"/>
          <p:cNvPicPr>
            <a:picLocks noChangeAspect="1" noChangeArrowheads="1"/>
          </p:cNvPicPr>
          <p:nvPr/>
        </p:nvPicPr>
        <p:blipFill>
          <a:blip r:embed="rId2" cstate="print"/>
          <a:srcRect/>
          <a:stretch>
            <a:fillRect/>
          </a:stretch>
        </p:blipFill>
        <p:spPr bwMode="auto">
          <a:xfrm>
            <a:off x="581025" y="1125760"/>
            <a:ext cx="11044917" cy="5086349"/>
          </a:xfrm>
          <a:prstGeom prst="rect">
            <a:avLst/>
          </a:prstGeom>
          <a:noFill/>
          <a:ln w="9525">
            <a:noFill/>
            <a:miter lim="800000"/>
            <a:headEnd/>
            <a:tailEnd/>
          </a:ln>
        </p:spPr>
      </p:pic>
      <p:pic>
        <p:nvPicPr>
          <p:cNvPr id="2050" name="Picture 2"/>
          <p:cNvPicPr>
            <a:picLocks noChangeAspect="1" noChangeArrowheads="1"/>
          </p:cNvPicPr>
          <p:nvPr/>
        </p:nvPicPr>
        <p:blipFill>
          <a:blip r:embed="rId3" cstate="print"/>
          <a:srcRect/>
          <a:stretch>
            <a:fillRect/>
          </a:stretch>
        </p:blipFill>
        <p:spPr bwMode="auto">
          <a:xfrm>
            <a:off x="7997371" y="1835149"/>
            <a:ext cx="3672115" cy="411570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Title 1"/>
          <p:cNvSpPr>
            <a:spLocks noGrp="1"/>
          </p:cNvSpPr>
          <p:nvPr>
            <p:ph type="title"/>
          </p:nvPr>
        </p:nvSpPr>
        <p:spPr>
          <a:xfrm>
            <a:off x="838200" y="365125"/>
            <a:ext cx="10515600" cy="636361"/>
          </a:xfrm>
        </p:spPr>
        <p:txBody>
          <a:bodyPr>
            <a:normAutofit fontScale="90000"/>
          </a:bodyPr>
          <a:lstStyle/>
          <a:p>
            <a:pPr algn="ctr"/>
            <a:r>
              <a:rPr lang="en-US" dirty="0"/>
              <a:t>Solve recurrence relation –problem2 </a:t>
            </a:r>
          </a:p>
        </p:txBody>
      </p:sp>
      <p:pic>
        <p:nvPicPr>
          <p:cNvPr id="10242" name="Picture 2"/>
          <p:cNvPicPr>
            <a:picLocks noChangeAspect="1" noChangeArrowheads="1"/>
          </p:cNvPicPr>
          <p:nvPr/>
        </p:nvPicPr>
        <p:blipFill>
          <a:blip r:embed="rId2" cstate="print"/>
          <a:srcRect/>
          <a:stretch>
            <a:fillRect/>
          </a:stretch>
        </p:blipFill>
        <p:spPr bwMode="auto">
          <a:xfrm>
            <a:off x="711200" y="1320800"/>
            <a:ext cx="10856686" cy="5181600"/>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5"/>
            <a:ext cx="10515600" cy="636361"/>
          </a:xfrm>
        </p:spPr>
        <p:txBody>
          <a:bodyPr>
            <a:normAutofit fontScale="90000"/>
          </a:bodyPr>
          <a:lstStyle/>
          <a:p>
            <a:pPr algn="ctr"/>
            <a:r>
              <a:rPr lang="en-US" dirty="0"/>
              <a:t>Solve recurrence relation –problem3 </a:t>
            </a:r>
          </a:p>
        </p:txBody>
      </p:sp>
      <p:pic>
        <p:nvPicPr>
          <p:cNvPr id="11266" name="Picture 2"/>
          <p:cNvPicPr>
            <a:picLocks noChangeAspect="1" noChangeArrowheads="1"/>
          </p:cNvPicPr>
          <p:nvPr/>
        </p:nvPicPr>
        <p:blipFill>
          <a:blip r:embed="rId2" cstate="print"/>
          <a:srcRect/>
          <a:stretch>
            <a:fillRect/>
          </a:stretch>
        </p:blipFill>
        <p:spPr bwMode="auto">
          <a:xfrm>
            <a:off x="5283201" y="1258434"/>
            <a:ext cx="6345918" cy="5229452"/>
          </a:xfrm>
          <a:prstGeom prst="rect">
            <a:avLst/>
          </a:prstGeom>
          <a:noFill/>
          <a:ln w="3175">
            <a:solidFill>
              <a:schemeClr val="tx1"/>
            </a:solid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780824" y="1230313"/>
            <a:ext cx="4429805" cy="1251630"/>
          </a:xfrm>
          <a:prstGeom prst="rect">
            <a:avLst/>
          </a:prstGeom>
          <a:noFill/>
          <a:ln w="3175">
            <a:solidFill>
              <a:schemeClr val="tx1"/>
            </a:solidFill>
            <a:miter lim="800000"/>
            <a:headEnd/>
            <a:tailEnd/>
          </a:ln>
        </p:spPr>
      </p:pic>
      <p:pic>
        <p:nvPicPr>
          <p:cNvPr id="11268" name="Picture 4"/>
          <p:cNvPicPr>
            <a:picLocks noChangeAspect="1" noChangeArrowheads="1"/>
          </p:cNvPicPr>
          <p:nvPr/>
        </p:nvPicPr>
        <p:blipFill>
          <a:blip r:embed="rId4" cstate="print"/>
          <a:srcRect/>
          <a:stretch>
            <a:fillRect/>
          </a:stretch>
        </p:blipFill>
        <p:spPr bwMode="auto">
          <a:xfrm>
            <a:off x="188686" y="2467430"/>
            <a:ext cx="3099707" cy="4078514"/>
          </a:xfrm>
          <a:prstGeom prst="rect">
            <a:avLst/>
          </a:prstGeom>
          <a:noFill/>
          <a:ln w="9525">
            <a:noFill/>
            <a:miter lim="800000"/>
            <a:headEnd/>
            <a:tailEnd/>
          </a:ln>
        </p:spPr>
      </p:pic>
      <p:pic>
        <p:nvPicPr>
          <p:cNvPr id="11271" name="Picture 7"/>
          <p:cNvPicPr>
            <a:picLocks noChangeAspect="1" noChangeArrowheads="1"/>
          </p:cNvPicPr>
          <p:nvPr/>
        </p:nvPicPr>
        <p:blipFill>
          <a:blip r:embed="rId5" cstate="print"/>
          <a:srcRect/>
          <a:stretch>
            <a:fillRect/>
          </a:stretch>
        </p:blipFill>
        <p:spPr bwMode="auto">
          <a:xfrm>
            <a:off x="2239056" y="2623685"/>
            <a:ext cx="3102201" cy="1309686"/>
          </a:xfrm>
          <a:prstGeom prst="rect">
            <a:avLst/>
          </a:prstGeom>
          <a:noFill/>
          <a:ln w="3175">
            <a:solidFill>
              <a:schemeClr val="tx1"/>
            </a:solidFill>
            <a:miter lim="800000"/>
            <a:headEnd/>
            <a:tailEnd/>
          </a:ln>
        </p:spPr>
      </p:pic>
      <p:pic>
        <p:nvPicPr>
          <p:cNvPr id="11272" name="Picture 8"/>
          <p:cNvPicPr>
            <a:picLocks noGrp="1" noChangeAspect="1" noChangeArrowheads="1"/>
          </p:cNvPicPr>
          <p:nvPr>
            <p:ph idx="1"/>
          </p:nvPr>
        </p:nvPicPr>
        <p:blipFill>
          <a:blip r:embed="rId6" cstate="print"/>
          <a:srcRect/>
          <a:stretch>
            <a:fillRect/>
          </a:stretch>
        </p:blipFill>
        <p:spPr bwMode="auto">
          <a:xfrm>
            <a:off x="3306535" y="3947545"/>
            <a:ext cx="1309008" cy="542925"/>
          </a:xfrm>
          <a:prstGeom prst="rect">
            <a:avLst/>
          </a:prstGeom>
          <a:noFill/>
          <a:ln w="9525">
            <a:noFill/>
            <a:miter lim="800000"/>
            <a:headEnd/>
            <a:tailEnd/>
          </a:ln>
        </p:spPr>
      </p:pic>
      <p:pic>
        <p:nvPicPr>
          <p:cNvPr id="11273" name="Picture 9"/>
          <p:cNvPicPr>
            <a:picLocks noChangeAspect="1" noChangeArrowheads="1"/>
          </p:cNvPicPr>
          <p:nvPr/>
        </p:nvPicPr>
        <p:blipFill>
          <a:blip r:embed="rId7" cstate="print"/>
          <a:srcRect/>
          <a:stretch>
            <a:fillRect/>
          </a:stretch>
        </p:blipFill>
        <p:spPr bwMode="auto">
          <a:xfrm>
            <a:off x="3318103" y="4479699"/>
            <a:ext cx="1399040" cy="112281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566284" y="1260020"/>
            <a:ext cx="6240915" cy="5597980"/>
          </a:xfrm>
          <a:prstGeom prst="rect">
            <a:avLst/>
          </a:prstGeom>
          <a:noFill/>
          <a:ln w="3175">
            <a:solidFill>
              <a:schemeClr val="tx1"/>
            </a:solidFill>
            <a:miter lim="800000"/>
            <a:headEnd/>
            <a:tailEnd/>
          </a:ln>
        </p:spPr>
      </p:pic>
      <p:pic>
        <p:nvPicPr>
          <p:cNvPr id="12291" name="Picture 3"/>
          <p:cNvPicPr>
            <a:picLocks noGrp="1" noChangeAspect="1" noChangeArrowheads="1"/>
          </p:cNvPicPr>
          <p:nvPr>
            <p:ph idx="1"/>
          </p:nvPr>
        </p:nvPicPr>
        <p:blipFill>
          <a:blip r:embed="rId3" cstate="print"/>
          <a:srcRect/>
          <a:stretch>
            <a:fillRect/>
          </a:stretch>
        </p:blipFill>
        <p:spPr bwMode="auto">
          <a:xfrm>
            <a:off x="6865257" y="1482838"/>
            <a:ext cx="3860800" cy="5375162"/>
          </a:xfrm>
          <a:prstGeom prst="rect">
            <a:avLst/>
          </a:prstGeom>
          <a:noFill/>
          <a:ln w="3175">
            <a:solidFill>
              <a:schemeClr val="tx1"/>
            </a:solidFill>
            <a:miter lim="800000"/>
            <a:headEnd/>
            <a:tailEnd/>
          </a:ln>
        </p:spPr>
      </p:pic>
      <p:sp>
        <p:nvSpPr>
          <p:cNvPr id="6" name="Title 1"/>
          <p:cNvSpPr>
            <a:spLocks noGrp="1"/>
          </p:cNvSpPr>
          <p:nvPr>
            <p:ph type="title"/>
          </p:nvPr>
        </p:nvSpPr>
        <p:spPr>
          <a:xfrm>
            <a:off x="838200" y="365125"/>
            <a:ext cx="10515600" cy="650875"/>
          </a:xfrm>
        </p:spPr>
        <p:txBody>
          <a:bodyPr>
            <a:normAutofit fontScale="90000"/>
          </a:bodyPr>
          <a:lstStyle/>
          <a:p>
            <a:pPr algn="ctr"/>
            <a:r>
              <a:rPr lang="en-US" dirty="0"/>
              <a:t>Solve recurrence relation –problem3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7229" y="0"/>
            <a:ext cx="10515600" cy="1325563"/>
          </a:xfrm>
        </p:spPr>
        <p:txBody>
          <a:bodyPr/>
          <a:lstStyle/>
          <a:p>
            <a:pPr algn="ctr"/>
            <a:r>
              <a:rPr lang="en-US" b="1" dirty="0"/>
              <a:t>summery</a:t>
            </a:r>
          </a:p>
        </p:txBody>
      </p:sp>
      <p:sp>
        <p:nvSpPr>
          <p:cNvPr id="3" name="Content Placeholder 2"/>
          <p:cNvSpPr>
            <a:spLocks noGrp="1"/>
          </p:cNvSpPr>
          <p:nvPr>
            <p:ph idx="1"/>
          </p:nvPr>
        </p:nvSpPr>
        <p:spPr/>
        <p:txBody>
          <a:bodyPr/>
          <a:lstStyle/>
          <a:p>
            <a:endParaRPr lang="en-US" dirty="0"/>
          </a:p>
        </p:txBody>
      </p:sp>
      <p:pic>
        <p:nvPicPr>
          <p:cNvPr id="13314" name="Picture 2"/>
          <p:cNvPicPr>
            <a:picLocks noChangeAspect="1" noChangeArrowheads="1"/>
          </p:cNvPicPr>
          <p:nvPr/>
        </p:nvPicPr>
        <p:blipFill>
          <a:blip r:embed="rId2" cstate="print"/>
          <a:srcRect/>
          <a:stretch>
            <a:fillRect/>
          </a:stretch>
        </p:blipFill>
        <p:spPr bwMode="auto">
          <a:xfrm>
            <a:off x="1295174" y="1497692"/>
            <a:ext cx="10200140" cy="5033737"/>
          </a:xfrm>
          <a:prstGeom prst="rect">
            <a:avLst/>
          </a:prstGeom>
          <a:noFill/>
          <a:ln w="9525">
            <a:noFill/>
            <a:miter lim="800000"/>
            <a:headEnd/>
            <a:tailEnd/>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cstate="print"/>
          <a:srcRect/>
          <a:stretch>
            <a:fillRect/>
          </a:stretch>
        </p:blipFill>
        <p:spPr bwMode="auto">
          <a:xfrm>
            <a:off x="601208" y="1049224"/>
            <a:ext cx="4391706" cy="5467691"/>
          </a:xfrm>
          <a:prstGeom prst="rect">
            <a:avLst/>
          </a:prstGeom>
          <a:noFill/>
          <a:ln w="9525">
            <a:noFill/>
            <a:miter lim="800000"/>
            <a:headEnd/>
            <a:tailEnd/>
          </a:ln>
        </p:spPr>
      </p:pic>
      <p:pic>
        <p:nvPicPr>
          <p:cNvPr id="14339" name="Picture 3"/>
          <p:cNvPicPr>
            <a:picLocks noChangeAspect="1" noChangeArrowheads="1"/>
          </p:cNvPicPr>
          <p:nvPr/>
        </p:nvPicPr>
        <p:blipFill>
          <a:blip r:embed="rId3" cstate="print"/>
          <a:srcRect/>
          <a:stretch>
            <a:fillRect/>
          </a:stretch>
        </p:blipFill>
        <p:spPr bwMode="auto">
          <a:xfrm>
            <a:off x="6770234" y="493485"/>
            <a:ext cx="5087937" cy="5457371"/>
          </a:xfrm>
          <a:prstGeom prst="rect">
            <a:avLst/>
          </a:prstGeom>
          <a:noFill/>
          <a:ln w="9525">
            <a:noFill/>
            <a:miter lim="800000"/>
            <a:headEnd/>
            <a:tailEnd/>
          </a:ln>
        </p:spPr>
      </p:pic>
      <p:sp>
        <p:nvSpPr>
          <p:cNvPr id="6" name="Title 1"/>
          <p:cNvSpPr txBox="1">
            <a:spLocks/>
          </p:cNvSpPr>
          <p:nvPr/>
        </p:nvSpPr>
        <p:spPr>
          <a:xfrm>
            <a:off x="359229" y="292553"/>
            <a:ext cx="5722257" cy="636361"/>
          </a:xfrm>
          <a:prstGeom prst="rect">
            <a:avLst/>
          </a:prstGeom>
        </p:spPr>
        <p:txBody>
          <a:bodyPr vert="horz" lIns="91440" tIns="45720" rIns="91440" bIns="45720" rtlCol="0" anchor="ctr">
            <a:normAutofit fontScale="60000" lnSpcReduction="200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Solve recurrence relation –problem 4 </a:t>
            </a:r>
          </a:p>
        </p:txBody>
      </p:sp>
      <p:pic>
        <p:nvPicPr>
          <p:cNvPr id="14340" name="Picture 4"/>
          <p:cNvPicPr>
            <a:picLocks noChangeAspect="1" noChangeArrowheads="1"/>
          </p:cNvPicPr>
          <p:nvPr/>
        </p:nvPicPr>
        <p:blipFill>
          <a:blip r:embed="rId4" cstate="print"/>
          <a:srcRect/>
          <a:stretch>
            <a:fillRect/>
          </a:stretch>
        </p:blipFill>
        <p:spPr bwMode="auto">
          <a:xfrm>
            <a:off x="4426858" y="1335541"/>
            <a:ext cx="3077028" cy="1697945"/>
          </a:xfrm>
          <a:prstGeom prst="rect">
            <a:avLst/>
          </a:prstGeom>
          <a:noFill/>
          <a:ln w="6350">
            <a:solidFill>
              <a:schemeClr val="tx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xfrm>
            <a:off x="838200" y="365125"/>
            <a:ext cx="10515600" cy="650875"/>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Solve recurrence relation –problem 4 </a:t>
            </a:r>
          </a:p>
        </p:txBody>
      </p:sp>
      <p:pic>
        <p:nvPicPr>
          <p:cNvPr id="15362" name="Picture 2"/>
          <p:cNvPicPr>
            <a:picLocks noGrp="1" noChangeAspect="1" noChangeArrowheads="1"/>
          </p:cNvPicPr>
          <p:nvPr>
            <p:ph idx="1"/>
          </p:nvPr>
        </p:nvPicPr>
        <p:blipFill>
          <a:blip r:embed="rId2" cstate="print"/>
          <a:srcRect/>
          <a:stretch>
            <a:fillRect/>
          </a:stretch>
        </p:blipFill>
        <p:spPr bwMode="auto">
          <a:xfrm>
            <a:off x="183470" y="1310027"/>
            <a:ext cx="7073674" cy="5337516"/>
          </a:xfrm>
          <a:prstGeom prst="rect">
            <a:avLst/>
          </a:prstGeom>
          <a:noFill/>
          <a:ln w="6350">
            <a:solidFill>
              <a:schemeClr val="tx1"/>
            </a:solidFill>
            <a:miter lim="800000"/>
            <a:headEnd/>
            <a:tailEnd/>
          </a:ln>
        </p:spPr>
      </p:pic>
      <p:pic>
        <p:nvPicPr>
          <p:cNvPr id="15363" name="Picture 3"/>
          <p:cNvPicPr>
            <a:picLocks noChangeAspect="1" noChangeArrowheads="1"/>
          </p:cNvPicPr>
          <p:nvPr/>
        </p:nvPicPr>
        <p:blipFill>
          <a:blip r:embed="rId3" cstate="print"/>
          <a:srcRect/>
          <a:stretch>
            <a:fillRect/>
          </a:stretch>
        </p:blipFill>
        <p:spPr bwMode="auto">
          <a:xfrm>
            <a:off x="7495495" y="1299482"/>
            <a:ext cx="4464276" cy="5290004"/>
          </a:xfrm>
          <a:prstGeom prst="rect">
            <a:avLst/>
          </a:prstGeom>
          <a:noFill/>
          <a:ln w="6350">
            <a:solidFill>
              <a:schemeClr val="tx1"/>
            </a:solidFill>
            <a:miter lim="800000"/>
            <a:headEnd/>
            <a:tailEnd/>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xfrm>
            <a:off x="838200" y="365125"/>
            <a:ext cx="10515600" cy="650875"/>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Solve recurrence relation –problem 4 </a:t>
            </a:r>
          </a:p>
        </p:txBody>
      </p:sp>
      <p:sp>
        <p:nvSpPr>
          <p:cNvPr id="5" name="Content Placeholder 4"/>
          <p:cNvSpPr>
            <a:spLocks noGrp="1"/>
          </p:cNvSpPr>
          <p:nvPr>
            <p:ph idx="1"/>
          </p:nvPr>
        </p:nvSpPr>
        <p:spPr>
          <a:xfrm>
            <a:off x="838200" y="1262743"/>
            <a:ext cx="10515600" cy="4798106"/>
          </a:xfrm>
        </p:spPr>
        <p:txBody>
          <a:bodyPr/>
          <a:lstStyle/>
          <a:p>
            <a:r>
              <a:rPr lang="en-US" sz="2400" dirty="0"/>
              <a:t>According to GP -A </a:t>
            </a:r>
            <a:r>
              <a:rPr lang="en-US" sz="2400" b="1" dirty="0"/>
              <a:t>Geometric Progression (GP),(mathematical term)</a:t>
            </a:r>
            <a:r>
              <a:rPr lang="en-US" sz="2400" dirty="0"/>
              <a:t> is a sequence of numbers where each term after the first is found by multiplying the previous term by a fixed, non-zero number called the </a:t>
            </a:r>
            <a:r>
              <a:rPr lang="en-US" sz="2400" b="1" dirty="0"/>
              <a:t>common </a:t>
            </a:r>
            <a:r>
              <a:rPr lang="en-US" b="1" dirty="0"/>
              <a:t>ratio</a:t>
            </a:r>
            <a:r>
              <a:rPr lang="en-US" dirty="0"/>
              <a:t>(r).</a:t>
            </a:r>
          </a:p>
        </p:txBody>
      </p:sp>
      <p:pic>
        <p:nvPicPr>
          <p:cNvPr id="16386" name="Picture 2"/>
          <p:cNvPicPr>
            <a:picLocks noChangeAspect="1" noChangeArrowheads="1"/>
          </p:cNvPicPr>
          <p:nvPr/>
        </p:nvPicPr>
        <p:blipFill>
          <a:blip r:embed="rId2" cstate="print"/>
          <a:srcRect/>
          <a:stretch>
            <a:fillRect/>
          </a:stretch>
        </p:blipFill>
        <p:spPr bwMode="auto">
          <a:xfrm>
            <a:off x="816656" y="2583543"/>
            <a:ext cx="7717744" cy="4066041"/>
          </a:xfrm>
          <a:prstGeom prst="rect">
            <a:avLst/>
          </a:prstGeom>
          <a:noFill/>
          <a:ln w="9525">
            <a:noFill/>
            <a:miter lim="800000"/>
            <a:headEnd/>
            <a:tailEnd/>
          </a:ln>
        </p:spPr>
      </p:pic>
      <p:sp>
        <p:nvSpPr>
          <p:cNvPr id="6" name="Rectangle 5"/>
          <p:cNvSpPr/>
          <p:nvPr/>
        </p:nvSpPr>
        <p:spPr>
          <a:xfrm>
            <a:off x="9669972" y="3941019"/>
            <a:ext cx="1676741" cy="369332"/>
          </a:xfrm>
          <a:prstGeom prst="rect">
            <a:avLst/>
          </a:prstGeom>
        </p:spPr>
        <p:txBody>
          <a:bodyPr wrap="none">
            <a:spAutoFit/>
          </a:bodyPr>
          <a:lstStyle/>
          <a:p>
            <a:r>
              <a:rPr lang="en-US" b="1" dirty="0"/>
              <a:t>common ratio</a:t>
            </a:r>
            <a:r>
              <a:rPr lang="en-US" dirty="0"/>
              <a:t>(r</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46075"/>
          </a:xfrm>
        </p:spPr>
        <p:txBody>
          <a:bodyPr>
            <a:normAutofit fontScale="90000"/>
          </a:bodyPr>
          <a:lstStyle/>
          <a:p>
            <a:pPr algn="ctr"/>
            <a:r>
              <a:rPr lang="en-US" b="1" dirty="0"/>
              <a:t>recurrence relation for diving function</a:t>
            </a:r>
            <a:endParaRPr lang="en-US" dirty="0"/>
          </a:p>
        </p:txBody>
      </p:sp>
      <p:sp>
        <p:nvSpPr>
          <p:cNvPr id="3" name="Content Placeholder 2"/>
          <p:cNvSpPr>
            <a:spLocks noGrp="1"/>
          </p:cNvSpPr>
          <p:nvPr>
            <p:ph idx="1"/>
          </p:nvPr>
        </p:nvSpPr>
        <p:spPr>
          <a:xfrm>
            <a:off x="838200" y="1219199"/>
            <a:ext cx="10515600" cy="4957763"/>
          </a:xfrm>
        </p:spPr>
        <p:txBody>
          <a:bodyPr/>
          <a:lstStyle/>
          <a:p>
            <a:r>
              <a:rPr lang="en-US" dirty="0"/>
              <a:t>If any </a:t>
            </a:r>
            <a:r>
              <a:rPr lang="en-US" dirty="0" err="1"/>
              <a:t>algo</a:t>
            </a:r>
            <a:r>
              <a:rPr lang="en-US" dirty="0"/>
              <a:t> is taking any i/p then it can decrease it as n-1 ,diving as n/2 and root function as √n.</a:t>
            </a:r>
          </a:p>
          <a:p>
            <a:endParaRPr lang="en-US" dirty="0"/>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075" name="Picture 3"/>
          <p:cNvPicPr>
            <a:picLocks noChangeAspect="1" noChangeArrowheads="1"/>
          </p:cNvPicPr>
          <p:nvPr/>
        </p:nvPicPr>
        <p:blipFill>
          <a:blip r:embed="rId2" cstate="print"/>
          <a:srcRect/>
          <a:stretch>
            <a:fillRect/>
          </a:stretch>
        </p:blipFill>
        <p:spPr bwMode="auto">
          <a:xfrm>
            <a:off x="957943" y="2090057"/>
            <a:ext cx="3027135" cy="4325257"/>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4788128" y="2089377"/>
            <a:ext cx="3267301" cy="4340451"/>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8560934" y="2201409"/>
            <a:ext cx="3021466" cy="209482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a:t>recurrence relation for diving function- example1</a:t>
            </a:r>
            <a:endParaRPr lang="en-US" dirty="0"/>
          </a:p>
        </p:txBody>
      </p:sp>
      <p:pic>
        <p:nvPicPr>
          <p:cNvPr id="119811" name="Picture 3"/>
          <p:cNvPicPr>
            <a:picLocks noChangeAspect="1" noChangeArrowheads="1"/>
          </p:cNvPicPr>
          <p:nvPr/>
        </p:nvPicPr>
        <p:blipFill>
          <a:blip r:embed="rId2" cstate="print"/>
          <a:srcRect/>
          <a:stretch>
            <a:fillRect/>
          </a:stretch>
        </p:blipFill>
        <p:spPr bwMode="auto">
          <a:xfrm>
            <a:off x="318413" y="1277257"/>
            <a:ext cx="4181022" cy="5094514"/>
          </a:xfrm>
          <a:prstGeom prst="rect">
            <a:avLst/>
          </a:prstGeom>
          <a:noFill/>
          <a:ln w="9525">
            <a:noFill/>
            <a:miter lim="800000"/>
            <a:headEnd/>
            <a:tailEnd/>
          </a:ln>
        </p:spPr>
      </p:pic>
      <p:pic>
        <p:nvPicPr>
          <p:cNvPr id="119812" name="Picture 4"/>
          <p:cNvPicPr>
            <a:picLocks noChangeAspect="1" noChangeArrowheads="1"/>
          </p:cNvPicPr>
          <p:nvPr/>
        </p:nvPicPr>
        <p:blipFill>
          <a:blip r:embed="rId3" cstate="print"/>
          <a:srcRect/>
          <a:stretch>
            <a:fillRect/>
          </a:stretch>
        </p:blipFill>
        <p:spPr bwMode="auto">
          <a:xfrm>
            <a:off x="4627793" y="2220686"/>
            <a:ext cx="5024211" cy="4180114"/>
          </a:xfrm>
          <a:prstGeom prst="rect">
            <a:avLst/>
          </a:prstGeom>
          <a:noFill/>
          <a:ln w="9525">
            <a:noFill/>
            <a:miter lim="800000"/>
            <a:headEnd/>
            <a:tailEnd/>
          </a:ln>
        </p:spPr>
      </p:pic>
      <p:pic>
        <p:nvPicPr>
          <p:cNvPr id="119814" name="Picture 6"/>
          <p:cNvPicPr>
            <a:picLocks noChangeAspect="1" noChangeArrowheads="1"/>
          </p:cNvPicPr>
          <p:nvPr/>
        </p:nvPicPr>
        <p:blipFill>
          <a:blip r:embed="rId4" cstate="print"/>
          <a:srcRect/>
          <a:stretch>
            <a:fillRect/>
          </a:stretch>
        </p:blipFill>
        <p:spPr bwMode="auto">
          <a:xfrm>
            <a:off x="4651608" y="1320800"/>
            <a:ext cx="4942340" cy="908957"/>
          </a:xfrm>
          <a:prstGeom prst="rect">
            <a:avLst/>
          </a:prstGeom>
          <a:noFill/>
          <a:ln w="9525">
            <a:noFill/>
            <a:miter lim="800000"/>
            <a:headEnd/>
            <a:tailEnd/>
          </a:ln>
        </p:spPr>
      </p:pic>
      <p:pic>
        <p:nvPicPr>
          <p:cNvPr id="119815" name="Picture 7"/>
          <p:cNvPicPr>
            <a:picLocks noChangeAspect="1" noChangeArrowheads="1"/>
          </p:cNvPicPr>
          <p:nvPr/>
        </p:nvPicPr>
        <p:blipFill>
          <a:blip r:embed="rId5" cstate="print"/>
          <a:srcRect/>
          <a:stretch>
            <a:fillRect/>
          </a:stretch>
        </p:blipFill>
        <p:spPr bwMode="auto">
          <a:xfrm>
            <a:off x="9724571" y="2239056"/>
            <a:ext cx="2291217" cy="417625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8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8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a:t>recurrence relation for diving function- example2</a:t>
            </a:r>
            <a:endParaRPr lang="en-US" dirty="0"/>
          </a:p>
        </p:txBody>
      </p:sp>
      <p:pic>
        <p:nvPicPr>
          <p:cNvPr id="120834" name="Picture 2"/>
          <p:cNvPicPr>
            <a:picLocks noChangeAspect="1" noChangeArrowheads="1"/>
          </p:cNvPicPr>
          <p:nvPr/>
        </p:nvPicPr>
        <p:blipFill>
          <a:blip r:embed="rId2" cstate="print"/>
          <a:srcRect/>
          <a:stretch>
            <a:fillRect/>
          </a:stretch>
        </p:blipFill>
        <p:spPr bwMode="auto">
          <a:xfrm>
            <a:off x="620259" y="1074056"/>
            <a:ext cx="4169455" cy="1756229"/>
          </a:xfrm>
          <a:prstGeom prst="rect">
            <a:avLst/>
          </a:prstGeom>
          <a:noFill/>
          <a:ln w="9525">
            <a:noFill/>
            <a:miter lim="800000"/>
            <a:headEnd/>
            <a:tailEnd/>
          </a:ln>
        </p:spPr>
      </p:pic>
      <p:pic>
        <p:nvPicPr>
          <p:cNvPr id="120835" name="Picture 3"/>
          <p:cNvPicPr>
            <a:picLocks noChangeAspect="1" noChangeArrowheads="1"/>
          </p:cNvPicPr>
          <p:nvPr/>
        </p:nvPicPr>
        <p:blipFill>
          <a:blip r:embed="rId3" cstate="print"/>
          <a:srcRect/>
          <a:stretch>
            <a:fillRect/>
          </a:stretch>
        </p:blipFill>
        <p:spPr bwMode="auto">
          <a:xfrm>
            <a:off x="643392" y="3018971"/>
            <a:ext cx="4175351" cy="3512458"/>
          </a:xfrm>
          <a:prstGeom prst="rect">
            <a:avLst/>
          </a:prstGeom>
          <a:noFill/>
          <a:ln w="9525">
            <a:noFill/>
            <a:miter lim="800000"/>
            <a:headEnd/>
            <a:tailEnd/>
          </a:ln>
        </p:spPr>
      </p:pic>
      <p:pic>
        <p:nvPicPr>
          <p:cNvPr id="120837" name="Picture 5"/>
          <p:cNvPicPr>
            <a:picLocks noChangeAspect="1" noChangeArrowheads="1"/>
          </p:cNvPicPr>
          <p:nvPr/>
        </p:nvPicPr>
        <p:blipFill>
          <a:blip r:embed="rId4" cstate="print"/>
          <a:srcRect/>
          <a:stretch>
            <a:fillRect/>
          </a:stretch>
        </p:blipFill>
        <p:spPr bwMode="auto">
          <a:xfrm>
            <a:off x="5021943" y="1219200"/>
            <a:ext cx="5196114" cy="53993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08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a:t>recurrence relation for diving function- example2</a:t>
            </a:r>
            <a:endParaRPr lang="en-US" dirty="0"/>
          </a:p>
        </p:txBody>
      </p:sp>
      <p:pic>
        <p:nvPicPr>
          <p:cNvPr id="121858" name="Picture 2"/>
          <p:cNvPicPr>
            <a:picLocks noChangeAspect="1" noChangeArrowheads="1"/>
          </p:cNvPicPr>
          <p:nvPr/>
        </p:nvPicPr>
        <p:blipFill>
          <a:blip r:embed="rId2" cstate="print"/>
          <a:srcRect/>
          <a:stretch>
            <a:fillRect/>
          </a:stretch>
        </p:blipFill>
        <p:spPr bwMode="auto">
          <a:xfrm>
            <a:off x="846138" y="2046514"/>
            <a:ext cx="5395005" cy="4528457"/>
          </a:xfrm>
          <a:prstGeom prst="rect">
            <a:avLst/>
          </a:prstGeom>
          <a:noFill/>
          <a:ln w="9525">
            <a:noFill/>
            <a:miter lim="800000"/>
            <a:headEnd/>
            <a:tailEnd/>
          </a:ln>
        </p:spPr>
      </p:pic>
      <p:pic>
        <p:nvPicPr>
          <p:cNvPr id="121859" name="Picture 3"/>
          <p:cNvPicPr>
            <a:picLocks noChangeAspect="1" noChangeArrowheads="1"/>
          </p:cNvPicPr>
          <p:nvPr/>
        </p:nvPicPr>
        <p:blipFill>
          <a:blip r:embed="rId3" cstate="print"/>
          <a:srcRect/>
          <a:stretch>
            <a:fillRect/>
          </a:stretch>
        </p:blipFill>
        <p:spPr bwMode="auto">
          <a:xfrm>
            <a:off x="847953" y="1266825"/>
            <a:ext cx="5349647" cy="837746"/>
          </a:xfrm>
          <a:prstGeom prst="rect">
            <a:avLst/>
          </a:prstGeom>
          <a:noFill/>
          <a:ln w="9525">
            <a:noFill/>
            <a:miter lim="800000"/>
            <a:headEnd/>
            <a:tailEnd/>
          </a:ln>
        </p:spPr>
      </p:pic>
      <p:pic>
        <p:nvPicPr>
          <p:cNvPr id="121860" name="Picture 4"/>
          <p:cNvPicPr>
            <a:picLocks noChangeAspect="1" noChangeArrowheads="1"/>
          </p:cNvPicPr>
          <p:nvPr/>
        </p:nvPicPr>
        <p:blipFill>
          <a:blip r:embed="rId4" cstate="print"/>
          <a:srcRect/>
          <a:stretch>
            <a:fillRect/>
          </a:stretch>
        </p:blipFill>
        <p:spPr bwMode="auto">
          <a:xfrm>
            <a:off x="6892245" y="1295627"/>
            <a:ext cx="4733698" cy="517774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8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a:t>recurrence relation for diving function- example3</a:t>
            </a:r>
            <a:endParaRPr lang="en-US" dirty="0"/>
          </a:p>
        </p:txBody>
      </p:sp>
      <p:pic>
        <p:nvPicPr>
          <p:cNvPr id="122883" name="Picture 3"/>
          <p:cNvPicPr>
            <a:picLocks noChangeAspect="1" noChangeArrowheads="1"/>
          </p:cNvPicPr>
          <p:nvPr/>
        </p:nvPicPr>
        <p:blipFill>
          <a:blip r:embed="rId2" cstate="print"/>
          <a:srcRect/>
          <a:stretch>
            <a:fillRect/>
          </a:stretch>
        </p:blipFill>
        <p:spPr bwMode="auto">
          <a:xfrm>
            <a:off x="319314" y="1260474"/>
            <a:ext cx="3991429" cy="5256440"/>
          </a:xfrm>
          <a:prstGeom prst="rect">
            <a:avLst/>
          </a:prstGeom>
          <a:noFill/>
          <a:ln w="9525">
            <a:noFill/>
            <a:miter lim="800000"/>
            <a:headEnd/>
            <a:tailEnd/>
          </a:ln>
        </p:spPr>
      </p:pic>
      <p:pic>
        <p:nvPicPr>
          <p:cNvPr id="122884" name="Picture 4"/>
          <p:cNvPicPr>
            <a:picLocks noChangeAspect="1" noChangeArrowheads="1"/>
          </p:cNvPicPr>
          <p:nvPr/>
        </p:nvPicPr>
        <p:blipFill>
          <a:blip r:embed="rId3" cstate="print"/>
          <a:srcRect/>
          <a:stretch>
            <a:fillRect/>
          </a:stretch>
        </p:blipFill>
        <p:spPr bwMode="auto">
          <a:xfrm>
            <a:off x="4424592" y="1261609"/>
            <a:ext cx="4850039" cy="5139191"/>
          </a:xfrm>
          <a:prstGeom prst="rect">
            <a:avLst/>
          </a:prstGeom>
          <a:noFill/>
          <a:ln w="9525">
            <a:noFill/>
            <a:miter lim="800000"/>
            <a:headEnd/>
            <a:tailEnd/>
          </a:ln>
        </p:spPr>
      </p:pic>
      <p:pic>
        <p:nvPicPr>
          <p:cNvPr id="122885" name="Picture 5"/>
          <p:cNvPicPr>
            <a:picLocks noChangeAspect="1" noChangeArrowheads="1"/>
          </p:cNvPicPr>
          <p:nvPr/>
        </p:nvPicPr>
        <p:blipFill>
          <a:blip r:embed="rId4" cstate="print"/>
          <a:srcRect/>
          <a:stretch>
            <a:fillRect/>
          </a:stretch>
        </p:blipFill>
        <p:spPr bwMode="auto">
          <a:xfrm>
            <a:off x="9274629" y="1325564"/>
            <a:ext cx="2772231" cy="153375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8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8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8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a:t>recurrence relation for diving function- example3</a:t>
            </a:r>
            <a:endParaRPr lang="en-US" dirty="0"/>
          </a:p>
        </p:txBody>
      </p:sp>
      <p:grpSp>
        <p:nvGrpSpPr>
          <p:cNvPr id="13" name="Group 12"/>
          <p:cNvGrpSpPr/>
          <p:nvPr/>
        </p:nvGrpSpPr>
        <p:grpSpPr>
          <a:xfrm>
            <a:off x="466272" y="1255713"/>
            <a:ext cx="6021614" cy="5130573"/>
            <a:chOff x="466272" y="1255713"/>
            <a:chExt cx="6021614" cy="5130573"/>
          </a:xfrm>
        </p:grpSpPr>
        <p:pic>
          <p:nvPicPr>
            <p:cNvPr id="123906" name="Picture 2"/>
            <p:cNvPicPr>
              <a:picLocks noChangeAspect="1" noChangeArrowheads="1"/>
            </p:cNvPicPr>
            <p:nvPr/>
          </p:nvPicPr>
          <p:blipFill>
            <a:blip r:embed="rId2" cstate="print"/>
            <a:srcRect/>
            <a:stretch>
              <a:fillRect/>
            </a:stretch>
          </p:blipFill>
          <p:spPr bwMode="auto">
            <a:xfrm>
              <a:off x="466272" y="1255713"/>
              <a:ext cx="6021614" cy="5130573"/>
            </a:xfrm>
            <a:prstGeom prst="rect">
              <a:avLst/>
            </a:prstGeom>
            <a:noFill/>
            <a:ln w="9525">
              <a:noFill/>
              <a:miter lim="800000"/>
              <a:headEnd/>
              <a:tailEnd/>
            </a:ln>
          </p:spPr>
        </p:pic>
        <p:pic>
          <p:nvPicPr>
            <p:cNvPr id="123907" name="Picture 3"/>
            <p:cNvPicPr>
              <a:picLocks noChangeAspect="1" noChangeArrowheads="1"/>
            </p:cNvPicPr>
            <p:nvPr/>
          </p:nvPicPr>
          <p:blipFill>
            <a:blip r:embed="rId3" cstate="print"/>
            <a:srcRect/>
            <a:stretch>
              <a:fillRect/>
            </a:stretch>
          </p:blipFill>
          <p:spPr bwMode="auto">
            <a:xfrm>
              <a:off x="5848802" y="2120447"/>
              <a:ext cx="552450" cy="323850"/>
            </a:xfrm>
            <a:prstGeom prst="rect">
              <a:avLst/>
            </a:prstGeom>
            <a:noFill/>
            <a:ln w="9525">
              <a:noFill/>
              <a:miter lim="800000"/>
              <a:headEnd/>
              <a:tailEnd/>
            </a:ln>
          </p:spPr>
        </p:pic>
      </p:grpSp>
      <p:pic>
        <p:nvPicPr>
          <p:cNvPr id="123908" name="Picture 4"/>
          <p:cNvPicPr>
            <a:picLocks noChangeAspect="1" noChangeArrowheads="1"/>
          </p:cNvPicPr>
          <p:nvPr/>
        </p:nvPicPr>
        <p:blipFill>
          <a:blip r:embed="rId4" cstate="print"/>
          <a:srcRect/>
          <a:stretch>
            <a:fillRect/>
          </a:stretch>
        </p:blipFill>
        <p:spPr bwMode="auto">
          <a:xfrm>
            <a:off x="6774995" y="1348014"/>
            <a:ext cx="2717348" cy="1061357"/>
          </a:xfrm>
          <a:prstGeom prst="rect">
            <a:avLst/>
          </a:prstGeom>
          <a:noFill/>
          <a:ln w="9525">
            <a:noFill/>
            <a:miter lim="800000"/>
            <a:headEnd/>
            <a:tailEnd/>
          </a:ln>
        </p:spPr>
      </p:pic>
      <p:pic>
        <p:nvPicPr>
          <p:cNvPr id="123910" name="Picture 6"/>
          <p:cNvPicPr>
            <a:picLocks noChangeAspect="1" noChangeArrowheads="1"/>
          </p:cNvPicPr>
          <p:nvPr/>
        </p:nvPicPr>
        <p:blipFill>
          <a:blip r:embed="rId5" cstate="print"/>
          <a:srcRect/>
          <a:stretch>
            <a:fillRect/>
          </a:stretch>
        </p:blipFill>
        <p:spPr bwMode="auto">
          <a:xfrm>
            <a:off x="6828970" y="2565854"/>
            <a:ext cx="2735943" cy="888546"/>
          </a:xfrm>
          <a:prstGeom prst="rect">
            <a:avLst/>
          </a:prstGeom>
          <a:noFill/>
          <a:ln w="9525">
            <a:noFill/>
            <a:miter lim="800000"/>
            <a:headEnd/>
            <a:tailEnd/>
          </a:ln>
        </p:spPr>
      </p:pic>
      <p:pic>
        <p:nvPicPr>
          <p:cNvPr id="123911" name="Picture 7"/>
          <p:cNvPicPr>
            <a:picLocks noChangeAspect="1" noChangeArrowheads="1"/>
          </p:cNvPicPr>
          <p:nvPr/>
        </p:nvPicPr>
        <p:blipFill>
          <a:blip r:embed="rId6" cstate="print"/>
          <a:srcRect/>
          <a:stretch>
            <a:fillRect/>
          </a:stretch>
        </p:blipFill>
        <p:spPr bwMode="auto">
          <a:xfrm>
            <a:off x="6752545" y="3806824"/>
            <a:ext cx="1781855" cy="1171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9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9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9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a:t>recurrence relation for diving function- example3</a:t>
            </a:r>
            <a:endParaRPr lang="en-US" dirty="0"/>
          </a:p>
        </p:txBody>
      </p:sp>
      <p:pic>
        <p:nvPicPr>
          <p:cNvPr id="124930" name="Picture 2"/>
          <p:cNvPicPr>
            <a:picLocks noChangeAspect="1" noChangeArrowheads="1"/>
          </p:cNvPicPr>
          <p:nvPr/>
        </p:nvPicPr>
        <p:blipFill>
          <a:blip r:embed="rId2" cstate="print"/>
          <a:srcRect/>
          <a:stretch>
            <a:fillRect/>
          </a:stretch>
        </p:blipFill>
        <p:spPr bwMode="auto">
          <a:xfrm>
            <a:off x="305253" y="1227817"/>
            <a:ext cx="6139089" cy="5347153"/>
          </a:xfrm>
          <a:prstGeom prst="rect">
            <a:avLst/>
          </a:prstGeom>
          <a:noFill/>
          <a:ln w="9525">
            <a:noFill/>
            <a:miter lim="800000"/>
            <a:headEnd/>
            <a:tailEnd/>
          </a:ln>
        </p:spPr>
      </p:pic>
      <p:pic>
        <p:nvPicPr>
          <p:cNvPr id="124931" name="Picture 3"/>
          <p:cNvPicPr>
            <a:picLocks noChangeAspect="1" noChangeArrowheads="1"/>
          </p:cNvPicPr>
          <p:nvPr/>
        </p:nvPicPr>
        <p:blipFill>
          <a:blip r:embed="rId3" cstate="print"/>
          <a:srcRect/>
          <a:stretch>
            <a:fillRect/>
          </a:stretch>
        </p:blipFill>
        <p:spPr bwMode="auto">
          <a:xfrm>
            <a:off x="6598103" y="1236435"/>
            <a:ext cx="4534354" cy="528047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9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9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3789"/>
          </a:xfrm>
        </p:spPr>
        <p:txBody>
          <a:bodyPr>
            <a:normAutofit fontScale="90000"/>
          </a:bodyPr>
          <a:lstStyle/>
          <a:p>
            <a:r>
              <a:rPr lang="en-US"/>
              <a:t>Problem 3 </a:t>
            </a:r>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642710" y="1282927"/>
            <a:ext cx="10736489" cy="4072844"/>
          </a:xfrm>
          <a:prstGeom prst="rect">
            <a:avLst/>
          </a:prstGeom>
          <a:noFill/>
          <a:ln w="9525">
            <a:noFill/>
            <a:miter lim="800000"/>
            <a:headEnd/>
            <a:tailEnd/>
          </a:ln>
        </p:spPr>
      </p:pic>
      <p:pic>
        <p:nvPicPr>
          <p:cNvPr id="3076" name="Picture 4"/>
          <p:cNvPicPr>
            <a:picLocks noGrp="1" noChangeAspect="1" noChangeArrowheads="1"/>
          </p:cNvPicPr>
          <p:nvPr>
            <p:ph idx="1"/>
          </p:nvPr>
        </p:nvPicPr>
        <p:blipFill>
          <a:blip r:embed="rId3" cstate="print"/>
          <a:srcRect/>
          <a:stretch>
            <a:fillRect/>
          </a:stretch>
        </p:blipFill>
        <p:spPr bwMode="auto">
          <a:xfrm>
            <a:off x="2109107" y="5464969"/>
            <a:ext cx="3507922" cy="485888"/>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2124075" y="6068332"/>
            <a:ext cx="3420382" cy="535668"/>
          </a:xfrm>
          <a:prstGeom prst="rect">
            <a:avLst/>
          </a:prstGeom>
          <a:noFill/>
          <a:ln w="9525">
            <a:noFill/>
            <a:miter lim="800000"/>
            <a:headEnd/>
            <a:tailEnd/>
          </a:ln>
        </p:spPr>
      </p:pic>
      <p:pic>
        <p:nvPicPr>
          <p:cNvPr id="3078" name="Picture 6"/>
          <p:cNvPicPr>
            <a:picLocks noChangeAspect="1" noChangeArrowheads="1"/>
          </p:cNvPicPr>
          <p:nvPr/>
        </p:nvPicPr>
        <p:blipFill>
          <a:blip r:embed="rId5" cstate="print"/>
          <a:srcRect/>
          <a:stretch>
            <a:fillRect/>
          </a:stretch>
        </p:blipFill>
        <p:spPr bwMode="auto">
          <a:xfrm>
            <a:off x="8403771" y="5517016"/>
            <a:ext cx="2046513" cy="796698"/>
          </a:xfrm>
          <a:prstGeom prst="rect">
            <a:avLst/>
          </a:prstGeom>
          <a:noFill/>
          <a:ln w="9525">
            <a:noFill/>
            <a:miter lim="800000"/>
            <a:headEnd/>
            <a:tailEnd/>
          </a:ln>
        </p:spPr>
      </p:pic>
      <p:sp>
        <p:nvSpPr>
          <p:cNvPr id="10" name="Rectangle 9"/>
          <p:cNvSpPr/>
          <p:nvPr/>
        </p:nvSpPr>
        <p:spPr>
          <a:xfrm>
            <a:off x="529344" y="5537592"/>
            <a:ext cx="1067227" cy="1015663"/>
          </a:xfrm>
          <a:prstGeom prst="rect">
            <a:avLst/>
          </a:prstGeom>
        </p:spPr>
        <p:txBody>
          <a:bodyPr wrap="square">
            <a:spAutoFit/>
          </a:bodyPr>
          <a:lstStyle/>
          <a:p>
            <a:r>
              <a:rPr lang="en-US" sz="2000" dirty="0"/>
              <a:t>Replace  n, k and n/2</a:t>
            </a:r>
            <a:r>
              <a:rPr lang="en-US" sz="2000" baseline="30000" dirty="0"/>
              <a:t>k  </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pPr algn="ctr"/>
            <a:r>
              <a:rPr lang="en-US" b="1" dirty="0"/>
              <a:t>Master’s Theorem for Decreasing Functions</a:t>
            </a:r>
            <a:br>
              <a:rPr lang="en-US" b="1" dirty="0"/>
            </a:br>
            <a:endParaRPr lang="en-US" b="1" dirty="0"/>
          </a:p>
        </p:txBody>
      </p:sp>
      <p:sp>
        <p:nvSpPr>
          <p:cNvPr id="3" name="Content Placeholder 2"/>
          <p:cNvSpPr>
            <a:spLocks noGrp="1"/>
          </p:cNvSpPr>
          <p:nvPr>
            <p:ph idx="1"/>
          </p:nvPr>
        </p:nvSpPr>
        <p:spPr>
          <a:xfrm>
            <a:off x="838200" y="957943"/>
            <a:ext cx="10515600" cy="5219020"/>
          </a:xfrm>
        </p:spPr>
        <p:txBody>
          <a:bodyPr>
            <a:normAutofit lnSpcReduction="10000"/>
          </a:bodyPr>
          <a:lstStyle/>
          <a:p>
            <a:r>
              <a:rPr lang="en-US" dirty="0"/>
              <a:t>Master’s theorem can only be applied on decreasing and dividing recurring functions. If the relation is not decreasing or dividing, master’s theorem must not be applied.</a:t>
            </a:r>
          </a:p>
          <a:p>
            <a:r>
              <a:rPr lang="en-US" dirty="0"/>
              <a:t>General form:--  </a:t>
            </a:r>
            <a:r>
              <a:rPr lang="en-US" dirty="0">
                <a:solidFill>
                  <a:srgbClr val="FF0000"/>
                </a:solidFill>
              </a:rPr>
              <a:t>T(n) = </a:t>
            </a:r>
            <a:r>
              <a:rPr lang="en-US" dirty="0" err="1">
                <a:solidFill>
                  <a:srgbClr val="FF0000"/>
                </a:solidFill>
              </a:rPr>
              <a:t>aT</a:t>
            </a:r>
            <a:r>
              <a:rPr lang="en-US" dirty="0">
                <a:solidFill>
                  <a:srgbClr val="FF0000"/>
                </a:solidFill>
              </a:rPr>
              <a:t>(n-b) + f(n) </a:t>
            </a:r>
            <a:r>
              <a:rPr lang="en-US" dirty="0"/>
              <a:t>where, a &gt; 0 and b &gt; 0,and f(n)=O(</a:t>
            </a:r>
            <a:r>
              <a:rPr lang="en-US" dirty="0" err="1"/>
              <a:t>n</a:t>
            </a:r>
            <a:r>
              <a:rPr lang="en-US" baseline="30000" dirty="0" err="1"/>
              <a:t>k</a:t>
            </a:r>
            <a:r>
              <a:rPr lang="en-US" dirty="0"/>
              <a:t> ) where k&gt;=0 , f(n) is asymptotically positive</a:t>
            </a:r>
          </a:p>
          <a:p>
            <a:r>
              <a:rPr lang="en-US" dirty="0"/>
              <a:t>Here,</a:t>
            </a:r>
          </a:p>
          <a:p>
            <a:r>
              <a:rPr lang="en-US" b="1" dirty="0"/>
              <a:t>n</a:t>
            </a:r>
            <a:r>
              <a:rPr lang="en-US" dirty="0"/>
              <a:t> − size of the problem</a:t>
            </a:r>
          </a:p>
          <a:p>
            <a:r>
              <a:rPr lang="en-US" b="1" dirty="0"/>
              <a:t>a</a:t>
            </a:r>
            <a:r>
              <a:rPr lang="en-US" dirty="0"/>
              <a:t> − number of sub-problems in the recursion</a:t>
            </a:r>
          </a:p>
          <a:p>
            <a:r>
              <a:rPr lang="en-US" b="1" dirty="0"/>
              <a:t>n-b</a:t>
            </a:r>
            <a:r>
              <a:rPr lang="en-US" dirty="0"/>
              <a:t> − size of the sub problems based on the assumption that all sub-problems are of the same size.</a:t>
            </a:r>
          </a:p>
          <a:p>
            <a:r>
              <a:rPr lang="en-US" b="1" dirty="0"/>
              <a:t>f(n)</a:t>
            </a:r>
            <a:r>
              <a:rPr lang="en-US" dirty="0"/>
              <a:t> − represents the cost of work done outside the recursion -&gt; Θ(</a:t>
            </a:r>
            <a:r>
              <a:rPr lang="en-US" dirty="0" err="1"/>
              <a:t>n</a:t>
            </a:r>
            <a:r>
              <a:rPr lang="en-US" baseline="30000" dirty="0" err="1"/>
              <a:t>k</a:t>
            </a:r>
            <a:r>
              <a:rPr lang="en-US" dirty="0"/>
              <a:t>), where k &gt;= 0</a:t>
            </a:r>
          </a:p>
          <a:p>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pPr algn="ctr"/>
            <a:r>
              <a:rPr lang="en-US" b="1" dirty="0"/>
              <a:t>Master’s Theorem for Decreasing Functions</a:t>
            </a:r>
            <a:br>
              <a:rPr lang="en-US" b="1" dirty="0"/>
            </a:br>
            <a:endParaRPr lang="en-US" b="1" dirty="0"/>
          </a:p>
        </p:txBody>
      </p:sp>
      <p:sp>
        <p:nvSpPr>
          <p:cNvPr id="3" name="Content Placeholder 2"/>
          <p:cNvSpPr>
            <a:spLocks noGrp="1"/>
          </p:cNvSpPr>
          <p:nvPr>
            <p:ph idx="1"/>
          </p:nvPr>
        </p:nvSpPr>
        <p:spPr>
          <a:xfrm>
            <a:off x="838200" y="957943"/>
            <a:ext cx="10515600" cy="5219020"/>
          </a:xfrm>
        </p:spPr>
        <p:txBody>
          <a:bodyPr>
            <a:normAutofit/>
          </a:bodyPr>
          <a:lstStyle/>
          <a:p>
            <a:pPr algn="just"/>
            <a:r>
              <a:rPr lang="en-US" sz="2400" dirty="0"/>
              <a:t>If the recurrence relation is in the above given form, then there are three cases in the master theorem to determine the asymptotic notations −</a:t>
            </a:r>
            <a:endParaRPr lang="pt-BR" sz="2400" dirty="0"/>
          </a:p>
          <a:p>
            <a:r>
              <a:rPr lang="pt-BR" dirty="0"/>
              <a:t>if a = 1, T(n) = O (n</a:t>
            </a:r>
            <a:r>
              <a:rPr lang="pt-BR" baseline="30000" dirty="0"/>
              <a:t>k+1</a:t>
            </a:r>
            <a:r>
              <a:rPr lang="pt-BR" dirty="0"/>
              <a:t>) or </a:t>
            </a:r>
            <a:br>
              <a:rPr lang="pt-BR" dirty="0"/>
            </a:br>
            <a:r>
              <a:rPr lang="pt-BR" dirty="0"/>
              <a:t>		     O (n* f(n))</a:t>
            </a:r>
          </a:p>
          <a:p>
            <a:endParaRPr lang="pt-BR" dirty="0"/>
          </a:p>
          <a:p>
            <a:r>
              <a:rPr lang="en-US" dirty="0"/>
              <a:t>if a &gt; 1, T(n) = O (a</a:t>
            </a:r>
            <a:r>
              <a:rPr lang="en-US" baseline="30000" dirty="0"/>
              <a:t>n/b</a:t>
            </a:r>
            <a:r>
              <a:rPr lang="en-US" dirty="0"/>
              <a:t> * </a:t>
            </a:r>
            <a:r>
              <a:rPr lang="en-US" dirty="0" err="1"/>
              <a:t>n</a:t>
            </a:r>
            <a:r>
              <a:rPr lang="en-US" baseline="30000" dirty="0" err="1"/>
              <a:t>k</a:t>
            </a:r>
            <a:r>
              <a:rPr lang="en-US" dirty="0"/>
              <a:t>) or</a:t>
            </a:r>
          </a:p>
          <a:p>
            <a:pPr>
              <a:buNone/>
            </a:pPr>
            <a:r>
              <a:rPr lang="en-US" dirty="0"/>
              <a:t>			     O (a</a:t>
            </a:r>
            <a:r>
              <a:rPr lang="en-US" baseline="30000" dirty="0"/>
              <a:t>n/b</a:t>
            </a:r>
            <a:r>
              <a:rPr lang="en-US" dirty="0"/>
              <a:t> * f(n))</a:t>
            </a:r>
          </a:p>
          <a:p>
            <a:pPr>
              <a:buNone/>
            </a:pPr>
            <a:r>
              <a:rPr lang="en-US" dirty="0"/>
              <a:t>			</a:t>
            </a:r>
          </a:p>
          <a:p>
            <a:r>
              <a:rPr lang="pt-BR" dirty="0"/>
              <a:t>if a &lt; 1, T(n) = O (n</a:t>
            </a:r>
            <a:r>
              <a:rPr lang="pt-BR" baseline="30000" dirty="0"/>
              <a:t>k</a:t>
            </a:r>
            <a:r>
              <a:rPr lang="pt-BR" dirty="0"/>
              <a:t>) or O (f(n))</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6154057" y="1799771"/>
            <a:ext cx="5762172" cy="460102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pPr algn="ctr"/>
            <a:r>
              <a:rPr lang="en-US" b="1" dirty="0"/>
              <a:t>Master’s Theorem for Dividing Functions</a:t>
            </a:r>
          </a:p>
        </p:txBody>
      </p:sp>
      <p:sp>
        <p:nvSpPr>
          <p:cNvPr id="5" name="Content Placeholder 4"/>
          <p:cNvSpPr>
            <a:spLocks noGrp="1"/>
          </p:cNvSpPr>
          <p:nvPr>
            <p:ph idx="1"/>
          </p:nvPr>
        </p:nvSpPr>
        <p:spPr>
          <a:xfrm>
            <a:off x="838200" y="1219200"/>
            <a:ext cx="6506029" cy="4957763"/>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dirty="0"/>
              <a:t>General form:---     </a:t>
            </a:r>
            <a:r>
              <a:rPr lang="en-US" dirty="0">
                <a:solidFill>
                  <a:srgbClr val="FF0000"/>
                </a:solidFill>
              </a:rPr>
              <a:t>T(n) = </a:t>
            </a:r>
            <a:r>
              <a:rPr lang="en-US" dirty="0" err="1">
                <a:solidFill>
                  <a:srgbClr val="FF0000"/>
                </a:solidFill>
              </a:rPr>
              <a:t>aT</a:t>
            </a:r>
            <a:r>
              <a:rPr lang="en-US" dirty="0">
                <a:solidFill>
                  <a:srgbClr val="FF0000"/>
                </a:solidFill>
              </a:rPr>
              <a:t>(n/b) + f(n)         </a:t>
            </a:r>
            <a:r>
              <a:rPr lang="en-US" dirty="0"/>
              <a:t>where,</a:t>
            </a:r>
            <a:r>
              <a:rPr lang="en-US" b="1" dirty="0"/>
              <a:t> a &gt;= 1</a:t>
            </a:r>
            <a:r>
              <a:rPr lang="en-US" dirty="0"/>
              <a:t> and </a:t>
            </a:r>
            <a:r>
              <a:rPr lang="en-US" b="1" dirty="0"/>
              <a:t>b &gt; 1</a:t>
            </a:r>
            <a:r>
              <a:rPr lang="en-US" dirty="0"/>
              <a:t>,</a:t>
            </a:r>
          </a:p>
          <a:p>
            <a:pPr>
              <a:buNone/>
            </a:pPr>
            <a:r>
              <a:rPr lang="en-US" dirty="0"/>
              <a:t>   f(n)= </a:t>
            </a:r>
            <a:r>
              <a:rPr lang="el-GR" dirty="0"/>
              <a:t> Θ</a:t>
            </a:r>
            <a:r>
              <a:rPr lang="en-US" dirty="0"/>
              <a:t>(</a:t>
            </a:r>
            <a:r>
              <a:rPr lang="en-US" dirty="0" err="1"/>
              <a:t>n</a:t>
            </a:r>
            <a:r>
              <a:rPr lang="en-US" baseline="30000" dirty="0" err="1"/>
              <a:t>k</a:t>
            </a:r>
            <a:r>
              <a:rPr lang="en-US" dirty="0"/>
              <a:t> </a:t>
            </a:r>
            <a:r>
              <a:rPr lang="en-US" dirty="0" err="1"/>
              <a:t>log</a:t>
            </a:r>
            <a:r>
              <a:rPr lang="en-US" baseline="30000" dirty="0" err="1"/>
              <a:t>p</a:t>
            </a:r>
            <a:r>
              <a:rPr lang="en-US" dirty="0"/>
              <a:t> n)      ---  log n whole to the power p</a:t>
            </a:r>
          </a:p>
          <a:p>
            <a:r>
              <a:rPr lang="en-US" sz="2600" dirty="0"/>
              <a:t>If the recurrence relation is in the above given form, </a:t>
            </a:r>
          </a:p>
          <a:p>
            <a:r>
              <a:rPr lang="en-US" sz="2600" dirty="0"/>
              <a:t>We find out 2 values </a:t>
            </a:r>
          </a:p>
          <a:p>
            <a:pPr lvl="1">
              <a:buNone/>
            </a:pPr>
            <a:r>
              <a:rPr lang="en-US" dirty="0"/>
              <a:t>1.  </a:t>
            </a:r>
            <a:r>
              <a:rPr lang="en-US" dirty="0" err="1"/>
              <a:t>log</a:t>
            </a:r>
            <a:r>
              <a:rPr lang="en-US" baseline="-25000" dirty="0" err="1"/>
              <a:t>b</a:t>
            </a:r>
            <a:r>
              <a:rPr lang="en-US" dirty="0"/>
              <a:t> a</a:t>
            </a:r>
          </a:p>
          <a:p>
            <a:pPr lvl="1">
              <a:buNone/>
            </a:pPr>
            <a:r>
              <a:rPr lang="en-US" dirty="0"/>
              <a:t>2.  k</a:t>
            </a:r>
          </a:p>
          <a:p>
            <a:r>
              <a:rPr lang="en-US" sz="2600" dirty="0"/>
              <a:t>then there are three cases in the master theorem to determine the asymptotic notations </a:t>
            </a:r>
          </a:p>
        </p:txBody>
      </p:sp>
      <p:pic>
        <p:nvPicPr>
          <p:cNvPr id="2051" name="Picture 3"/>
          <p:cNvPicPr>
            <a:picLocks noChangeAspect="1" noChangeArrowheads="1"/>
          </p:cNvPicPr>
          <p:nvPr/>
        </p:nvPicPr>
        <p:blipFill>
          <a:blip r:embed="rId2" cstate="print"/>
          <a:srcRect/>
          <a:stretch>
            <a:fillRect/>
          </a:stretch>
        </p:blipFill>
        <p:spPr bwMode="auto">
          <a:xfrm>
            <a:off x="7126514" y="1143681"/>
            <a:ext cx="5065486" cy="1164090"/>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7120618" y="2433865"/>
            <a:ext cx="5071382" cy="2500992"/>
          </a:xfrm>
          <a:prstGeom prst="rect">
            <a:avLst/>
          </a:prstGeom>
          <a:noFill/>
          <a:ln w="9525">
            <a:noFill/>
            <a:miter lim="800000"/>
            <a:headEnd/>
            <a:tailEnd/>
          </a:ln>
        </p:spPr>
      </p:pic>
      <p:pic>
        <p:nvPicPr>
          <p:cNvPr id="2053" name="Picture 5"/>
          <p:cNvPicPr>
            <a:picLocks noChangeAspect="1" noChangeArrowheads="1"/>
          </p:cNvPicPr>
          <p:nvPr/>
        </p:nvPicPr>
        <p:blipFill>
          <a:blip r:embed="rId4" cstate="print"/>
          <a:srcRect/>
          <a:stretch>
            <a:fillRect/>
          </a:stretch>
        </p:blipFill>
        <p:spPr bwMode="auto">
          <a:xfrm>
            <a:off x="7114720" y="5158014"/>
            <a:ext cx="5077279" cy="134438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60589"/>
          </a:xfrm>
        </p:spPr>
        <p:txBody>
          <a:bodyPr>
            <a:normAutofit fontScale="90000"/>
          </a:bodyPr>
          <a:lstStyle/>
          <a:p>
            <a:r>
              <a:rPr lang="en-US" b="1" dirty="0"/>
              <a:t>Example </a:t>
            </a:r>
          </a:p>
        </p:txBody>
      </p:sp>
      <p:sp>
        <p:nvSpPr>
          <p:cNvPr id="3" name="Content Placeholder 2"/>
          <p:cNvSpPr>
            <a:spLocks noGrp="1"/>
          </p:cNvSpPr>
          <p:nvPr>
            <p:ph idx="1"/>
          </p:nvPr>
        </p:nvSpPr>
        <p:spPr>
          <a:xfrm>
            <a:off x="838200" y="986971"/>
            <a:ext cx="10515600" cy="5189992"/>
          </a:xfrm>
        </p:spPr>
        <p:txBody>
          <a:bodyPr/>
          <a:lstStyle/>
          <a:p>
            <a:r>
              <a:rPr lang="en-US" dirty="0"/>
              <a:t>Example 1</a:t>
            </a:r>
          </a:p>
          <a:p>
            <a:r>
              <a:rPr lang="en-US" dirty="0"/>
              <a:t>Consider a recurrence relation given as T(n) = 8T(n/2) + n</a:t>
            </a:r>
            <a:r>
              <a:rPr lang="en-US" baseline="30000" dirty="0"/>
              <a:t>2</a:t>
            </a:r>
            <a:endParaRPr lang="en-US" dirty="0"/>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56343" y="2235200"/>
            <a:ext cx="10638971" cy="4238171"/>
          </a:xfrm>
          <a:prstGeom prst="rect">
            <a:avLst/>
          </a:prstGeom>
          <a:noFill/>
          <a:ln w="9525">
            <a:noFill/>
            <a:miter lim="800000"/>
            <a:headEnd/>
            <a:tailEnd/>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a:t>
            </a:r>
          </a:p>
        </p:txBody>
      </p:sp>
      <p:pic>
        <p:nvPicPr>
          <p:cNvPr id="1026" name="Picture 2"/>
          <p:cNvPicPr>
            <a:picLocks noGrp="1" noChangeAspect="1" noChangeArrowheads="1"/>
          </p:cNvPicPr>
          <p:nvPr>
            <p:ph idx="1"/>
          </p:nvPr>
        </p:nvPicPr>
        <p:blipFill>
          <a:blip r:embed="rId2" cstate="print"/>
          <a:srcRect/>
          <a:stretch>
            <a:fillRect/>
          </a:stretch>
        </p:blipFill>
        <p:spPr bwMode="auto">
          <a:xfrm rot="16200000">
            <a:off x="3526970" y="-943431"/>
            <a:ext cx="4862286" cy="10116459"/>
          </a:xfrm>
          <a:prstGeom prst="rect">
            <a:avLst/>
          </a:prstGeom>
          <a:noFill/>
          <a:ln w="9525">
            <a:noFill/>
            <a:miter lim="800000"/>
            <a:headEnd/>
            <a:tailEnd/>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a:t>
            </a:r>
          </a:p>
        </p:txBody>
      </p:sp>
      <p:sp>
        <p:nvSpPr>
          <p:cNvPr id="4" name="Content Placeholder 3"/>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rot="16200000">
            <a:off x="4546599" y="1255991"/>
            <a:ext cx="3098801" cy="5810254"/>
          </a:xfrm>
          <a:prstGeom prst="rect">
            <a:avLst/>
          </a:prstGeom>
          <a:noFill/>
          <a:ln w="9525">
            <a:noFill/>
            <a:miter lim="800000"/>
            <a:headEnd/>
            <a:tailEnd/>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a:t>
            </a:r>
          </a:p>
        </p:txBody>
      </p:sp>
      <p:sp>
        <p:nvSpPr>
          <p:cNvPr id="4" name="Content Placeholder 3"/>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059543" y="1114425"/>
            <a:ext cx="10072914" cy="4629150"/>
          </a:xfrm>
          <a:prstGeom prst="rect">
            <a:avLst/>
          </a:prstGeom>
          <a:noFill/>
          <a:ln w="9525">
            <a:noFill/>
            <a:miter lim="800000"/>
            <a:headEnd/>
            <a:tailEnd/>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a:t>
            </a:r>
          </a:p>
        </p:txBody>
      </p:sp>
      <p:sp>
        <p:nvSpPr>
          <p:cNvPr id="4" name="Content Placeholder 3"/>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1233714" y="1436914"/>
            <a:ext cx="7938861" cy="4468586"/>
          </a:xfrm>
          <a:prstGeom prst="rect">
            <a:avLst/>
          </a:prstGeom>
          <a:noFill/>
          <a:ln w="9525">
            <a:noFill/>
            <a:miter lim="800000"/>
            <a:headEnd/>
            <a:tailEnd/>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a:t>
            </a:r>
          </a:p>
        </p:txBody>
      </p:sp>
      <p:sp>
        <p:nvSpPr>
          <p:cNvPr id="4" name="Content Placeholder 3"/>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391887" y="1845583"/>
            <a:ext cx="8492898" cy="470535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12325</TotalTime>
  <Words>8219</Words>
  <Application>Microsoft Office PowerPoint</Application>
  <PresentationFormat>Widescreen</PresentationFormat>
  <Paragraphs>910</Paragraphs>
  <Slides>145</Slides>
  <Notes>0</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145</vt:i4>
      </vt:variant>
    </vt:vector>
  </HeadingPairs>
  <TitlesOfParts>
    <vt:vector size="151" baseType="lpstr">
      <vt:lpstr>Arial</vt:lpstr>
      <vt:lpstr>Calibri</vt:lpstr>
      <vt:lpstr>Calibri Light</vt:lpstr>
      <vt:lpstr>Times New Roman</vt:lpstr>
      <vt:lpstr>Wingdings</vt:lpstr>
      <vt:lpstr>Office Theme</vt:lpstr>
      <vt:lpstr> DESIGN AND ANALYSIS OF ALGORITHMS</vt:lpstr>
      <vt:lpstr>Course Prerequisites: Basic programming Skills, Data structures, Discrete Structures.</vt:lpstr>
      <vt:lpstr>PowerPoint Presentation</vt:lpstr>
      <vt:lpstr>Unit 1</vt:lpstr>
      <vt:lpstr>Algorithm</vt:lpstr>
      <vt:lpstr>Algorithm</vt:lpstr>
      <vt:lpstr>Ways of writing Algorithm</vt:lpstr>
      <vt:lpstr>Ways of writing Algorithm</vt:lpstr>
      <vt:lpstr>Ways of writing Algorithm</vt:lpstr>
      <vt:lpstr>Ways of writing Algorithm</vt:lpstr>
      <vt:lpstr>Ways of writing Algorithm</vt:lpstr>
      <vt:lpstr>Ways of writing Algorithm</vt:lpstr>
      <vt:lpstr>Analysis of Algorithms</vt:lpstr>
      <vt:lpstr>Analysis of Algorithms</vt:lpstr>
      <vt:lpstr>Analysis of Algorithms</vt:lpstr>
      <vt:lpstr>Analysis of Algorithms</vt:lpstr>
      <vt:lpstr>Need of Analysis of Algorithms</vt:lpstr>
      <vt:lpstr>What is the need for Complexity Analysis? </vt:lpstr>
      <vt:lpstr>Orders of growth (time complexities) (classes of Time function)</vt:lpstr>
      <vt:lpstr>Orders of growth (time complexities)  (classes of Time function)</vt:lpstr>
      <vt:lpstr>PowerPoint Presentation</vt:lpstr>
      <vt:lpstr>PowerPoint Presentation</vt:lpstr>
      <vt:lpstr>Asymptotic Notations in Complexity Analysis:</vt:lpstr>
      <vt:lpstr>Asymptotic Notations in Complexity Analysis:</vt:lpstr>
      <vt:lpstr>Big-O    notation</vt:lpstr>
      <vt:lpstr>Big-O    notation</vt:lpstr>
      <vt:lpstr>algorithm grows” /growth rate</vt:lpstr>
      <vt:lpstr>algorithm grows” /growth rate</vt:lpstr>
      <vt:lpstr>algorithm grows” /growth rate</vt:lpstr>
      <vt:lpstr>f(n)</vt:lpstr>
      <vt:lpstr>PowerPoint Presentation</vt:lpstr>
      <vt:lpstr>PowerPoint Presentation</vt:lpstr>
      <vt:lpstr>PowerPoint Presentation</vt:lpstr>
      <vt:lpstr>Big-O    notation</vt:lpstr>
      <vt:lpstr>Big-O    notation</vt:lpstr>
      <vt:lpstr>Big-O    notation</vt:lpstr>
      <vt:lpstr>Big-O    notation</vt:lpstr>
      <vt:lpstr>Problem 1</vt:lpstr>
      <vt:lpstr>Problem 2</vt:lpstr>
      <vt:lpstr>Problem 3</vt:lpstr>
      <vt:lpstr>Problem 3 continued………………..</vt:lpstr>
      <vt:lpstr>Problem 4</vt:lpstr>
      <vt:lpstr>Problem 4 continued……………..</vt:lpstr>
      <vt:lpstr>Problem 5</vt:lpstr>
      <vt:lpstr>Problem 6                        </vt:lpstr>
      <vt:lpstr>Problem 7</vt:lpstr>
      <vt:lpstr>Problem 8</vt:lpstr>
      <vt:lpstr>Big-Omega (Ω)?</vt:lpstr>
      <vt:lpstr>Big-Omega (Ω)?</vt:lpstr>
      <vt:lpstr>Big Omega</vt:lpstr>
      <vt:lpstr>Problem 1</vt:lpstr>
      <vt:lpstr>Theta (Θ)</vt:lpstr>
      <vt:lpstr>Theta (Θ)</vt:lpstr>
      <vt:lpstr>Big Theta Notation</vt:lpstr>
      <vt:lpstr>Problem 1</vt:lpstr>
      <vt:lpstr>Problem 1 continued………..</vt:lpstr>
      <vt:lpstr>Little o Notation</vt:lpstr>
      <vt:lpstr>Example Slow Walker vs Fast Runner  </vt:lpstr>
      <vt:lpstr>Difference Between Big O (O) and Little o(o)</vt:lpstr>
      <vt:lpstr>Little omega  (ω)Notation</vt:lpstr>
      <vt:lpstr>Little omega  (ω)Notation</vt:lpstr>
      <vt:lpstr>PowerPoint Presentation</vt:lpstr>
      <vt:lpstr>PowerPoint Presentation</vt:lpstr>
      <vt:lpstr>Difference Between Big Omega (Ω) and Little Omega (ω)</vt:lpstr>
      <vt:lpstr>PowerPoint Presentation</vt:lpstr>
      <vt:lpstr>PowerPoint Presentation</vt:lpstr>
      <vt:lpstr>PowerPoint Presentation</vt:lpstr>
      <vt:lpstr>Types of analysis of algo - Best case, average case, and worst-case</vt:lpstr>
      <vt:lpstr>Types of analysis of algo - Best case, average case, and worst-case</vt:lpstr>
      <vt:lpstr>Types of analysis of algo - Best case, average case, and worst-case</vt:lpstr>
      <vt:lpstr>PowerPoint Presentation</vt:lpstr>
      <vt:lpstr>Types of analysis of algo - Best case, average case, and worst-case</vt:lpstr>
      <vt:lpstr>Types of analysis of algo - Best case, average case, and worst-case</vt:lpstr>
      <vt:lpstr>Types of analysis of algo - Best case, average case, and worst-case</vt:lpstr>
      <vt:lpstr>PowerPoint Presentation</vt:lpstr>
      <vt:lpstr>Why We Need Best case, average case, and worst-case</vt:lpstr>
      <vt:lpstr>PowerPoint Presentation</vt:lpstr>
      <vt:lpstr>How to measure complexity?</vt:lpstr>
      <vt:lpstr>Time complexity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 and Space Complexity of Insertion Sort </vt:lpstr>
      <vt:lpstr>Time and Space Complexity of Insertion Sort </vt:lpstr>
      <vt:lpstr>Insertion Sort Algorithm</vt:lpstr>
      <vt:lpstr>5  4  10  1  6  2</vt:lpstr>
      <vt:lpstr>PowerPoint Presentation</vt:lpstr>
      <vt:lpstr>PowerPoint Presentation</vt:lpstr>
      <vt:lpstr>PowerPoint Presentation</vt:lpstr>
      <vt:lpstr>Avg case: </vt:lpstr>
      <vt:lpstr>MCQ</vt:lpstr>
      <vt:lpstr>Bubble Sort Algorithm</vt:lpstr>
      <vt:lpstr>Bubble Sort Algorithm</vt:lpstr>
      <vt:lpstr>PowerPoint Presentation</vt:lpstr>
      <vt:lpstr>PowerPoint Presentation</vt:lpstr>
      <vt:lpstr>PowerPoint Presentation</vt:lpstr>
      <vt:lpstr>PowerPoint Presentation</vt:lpstr>
      <vt:lpstr>PowerPoint Presentation</vt:lpstr>
      <vt:lpstr>Recurrence Relation </vt:lpstr>
      <vt:lpstr>Recurrence Relation </vt:lpstr>
      <vt:lpstr>PowerPoint Presentation</vt:lpstr>
      <vt:lpstr>PowerPoint Presentation</vt:lpstr>
      <vt:lpstr>Factorial recurrence relation </vt:lpstr>
      <vt:lpstr>recurrence relation  </vt:lpstr>
      <vt:lpstr>Recurrence Relation </vt:lpstr>
      <vt:lpstr>Recurrence Relation </vt:lpstr>
      <vt:lpstr>Recurrence Relation </vt:lpstr>
      <vt:lpstr>Recurrence Relation </vt:lpstr>
      <vt:lpstr>Recurrence Tree</vt:lpstr>
      <vt:lpstr>Solve recurrence relation –problem1 </vt:lpstr>
      <vt:lpstr>Solve recurrence relation –problem1 </vt:lpstr>
      <vt:lpstr>Solve recurrence relation –problem2 </vt:lpstr>
      <vt:lpstr>Solve recurrence relation –problem2 </vt:lpstr>
      <vt:lpstr>Solve recurrence relation –problem3 </vt:lpstr>
      <vt:lpstr>Solve recurrence relation –problem3 </vt:lpstr>
      <vt:lpstr>summery</vt:lpstr>
      <vt:lpstr>PowerPoint Presentation</vt:lpstr>
      <vt:lpstr>Solve recurrence relation –problem 4 </vt:lpstr>
      <vt:lpstr>Solve recurrence relation –problem 4 </vt:lpstr>
      <vt:lpstr>recurrence relation for diving function</vt:lpstr>
      <vt:lpstr>recurrence relation for diving function- example1</vt:lpstr>
      <vt:lpstr>recurrence relation for diving function- example2</vt:lpstr>
      <vt:lpstr>recurrence relation for diving function- example2</vt:lpstr>
      <vt:lpstr>recurrence relation for diving function- example3</vt:lpstr>
      <vt:lpstr>recurrence relation for diving function- example3</vt:lpstr>
      <vt:lpstr>recurrence relation for diving function- example3</vt:lpstr>
      <vt:lpstr>Problem 3 </vt:lpstr>
      <vt:lpstr>Master’s Theorem for Decreasing Functions </vt:lpstr>
      <vt:lpstr>Master’s Theorem for Decreasing Functions </vt:lpstr>
      <vt:lpstr>Master’s Theorem for Dividing Functions</vt:lpstr>
      <vt:lpstr>Example </vt:lpstr>
      <vt:lpstr>Practice problems</vt:lpstr>
      <vt:lpstr>Practice problems</vt:lpstr>
      <vt:lpstr>Practice problems</vt:lpstr>
      <vt:lpstr>Practice problems</vt:lpstr>
      <vt:lpstr>Practice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Rahul Dange</dc:creator>
  <cp:lastModifiedBy>917038807447</cp:lastModifiedBy>
  <cp:revision>465</cp:revision>
  <dcterms:created xsi:type="dcterms:W3CDTF">2024-12-24T13:58:24Z</dcterms:created>
  <dcterms:modified xsi:type="dcterms:W3CDTF">2025-11-20T12:01:56Z</dcterms:modified>
</cp:coreProperties>
</file>