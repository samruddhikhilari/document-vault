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79.xml" ContentType="application/vnd.openxmlformats-officedocument.presentationml.slide+xml"/>
  <Override PartName="/ppt/slides/slide9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9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98.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61" r:id="rId4"/>
    <p:sldId id="262" r:id="rId5"/>
    <p:sldId id="360" r:id="rId6"/>
    <p:sldId id="359" r:id="rId7"/>
    <p:sldId id="264" r:id="rId8"/>
    <p:sldId id="272" r:id="rId9"/>
    <p:sldId id="265" r:id="rId10"/>
    <p:sldId id="266" r:id="rId11"/>
    <p:sldId id="267" r:id="rId12"/>
    <p:sldId id="269" r:id="rId13"/>
    <p:sldId id="270" r:id="rId14"/>
    <p:sldId id="271" r:id="rId15"/>
    <p:sldId id="286" r:id="rId16"/>
    <p:sldId id="273" r:id="rId17"/>
    <p:sldId id="274" r:id="rId18"/>
    <p:sldId id="277" r:id="rId19"/>
    <p:sldId id="278" r:id="rId20"/>
    <p:sldId id="279" r:id="rId21"/>
    <p:sldId id="284" r:id="rId22"/>
    <p:sldId id="280" r:id="rId23"/>
    <p:sldId id="281" r:id="rId24"/>
    <p:sldId id="362" r:id="rId25"/>
    <p:sldId id="275" r:id="rId26"/>
    <p:sldId id="276" r:id="rId27"/>
    <p:sldId id="282" r:id="rId28"/>
    <p:sldId id="283" r:id="rId29"/>
    <p:sldId id="287" r:id="rId30"/>
    <p:sldId id="288" r:id="rId31"/>
    <p:sldId id="294" r:id="rId32"/>
    <p:sldId id="310" r:id="rId33"/>
    <p:sldId id="295" r:id="rId34"/>
    <p:sldId id="296" r:id="rId35"/>
    <p:sldId id="297" r:id="rId36"/>
    <p:sldId id="369" r:id="rId37"/>
    <p:sldId id="298" r:id="rId38"/>
    <p:sldId id="299" r:id="rId39"/>
    <p:sldId id="303" r:id="rId40"/>
    <p:sldId id="304" r:id="rId41"/>
    <p:sldId id="305" r:id="rId42"/>
    <p:sldId id="306" r:id="rId43"/>
    <p:sldId id="308" r:id="rId44"/>
    <p:sldId id="307" r:id="rId45"/>
    <p:sldId id="363" r:id="rId46"/>
    <p:sldId id="364" r:id="rId47"/>
    <p:sldId id="309" r:id="rId48"/>
    <p:sldId id="300" r:id="rId49"/>
    <p:sldId id="365" r:id="rId50"/>
    <p:sldId id="366" r:id="rId51"/>
    <p:sldId id="367" r:id="rId52"/>
    <p:sldId id="290" r:id="rId53"/>
    <p:sldId id="358" r:id="rId54"/>
    <p:sldId id="368" r:id="rId55"/>
    <p:sldId id="311" r:id="rId56"/>
    <p:sldId id="312" r:id="rId57"/>
    <p:sldId id="313" r:id="rId58"/>
    <p:sldId id="314" r:id="rId59"/>
    <p:sldId id="316" r:id="rId60"/>
    <p:sldId id="315" r:id="rId61"/>
    <p:sldId id="317" r:id="rId62"/>
    <p:sldId id="318" r:id="rId63"/>
    <p:sldId id="319" r:id="rId64"/>
    <p:sldId id="320" r:id="rId65"/>
    <p:sldId id="322" r:id="rId66"/>
    <p:sldId id="323" r:id="rId67"/>
    <p:sldId id="321" r:id="rId68"/>
    <p:sldId id="324" r:id="rId69"/>
    <p:sldId id="325" r:id="rId70"/>
    <p:sldId id="326" r:id="rId71"/>
    <p:sldId id="327" r:id="rId72"/>
    <p:sldId id="328" r:id="rId73"/>
    <p:sldId id="329" r:id="rId74"/>
    <p:sldId id="330" r:id="rId75"/>
    <p:sldId id="331" r:id="rId76"/>
    <p:sldId id="333" r:id="rId77"/>
    <p:sldId id="332" r:id="rId78"/>
    <p:sldId id="334" r:id="rId79"/>
    <p:sldId id="335" r:id="rId80"/>
    <p:sldId id="336" r:id="rId81"/>
    <p:sldId id="337" r:id="rId82"/>
    <p:sldId id="338" r:id="rId83"/>
    <p:sldId id="339" r:id="rId84"/>
    <p:sldId id="341" r:id="rId85"/>
    <p:sldId id="342" r:id="rId86"/>
    <p:sldId id="343" r:id="rId87"/>
    <p:sldId id="344" r:id="rId88"/>
    <p:sldId id="345" r:id="rId89"/>
    <p:sldId id="346" r:id="rId90"/>
    <p:sldId id="347" r:id="rId91"/>
    <p:sldId id="348" r:id="rId92"/>
    <p:sldId id="349" r:id="rId93"/>
    <p:sldId id="350" r:id="rId94"/>
    <p:sldId id="351" r:id="rId95"/>
    <p:sldId id="352" r:id="rId96"/>
    <p:sldId id="353" r:id="rId97"/>
    <p:sldId id="354" r:id="rId98"/>
    <p:sldId id="355" r:id="rId99"/>
    <p:sldId id="356" r:id="rId100"/>
    <p:sldId id="357" r:id="rId10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0" d="100"/>
          <a:sy n="60" d="100"/>
        </p:scale>
        <p:origin x="-1560"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72F999C-A4AF-4BEF-880C-3452BDCAFB44}" type="datetimeFigureOut">
              <a:rPr lang="en-US" smtClean="0"/>
              <a:pPr/>
              <a:t>28/08/2025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83E23-78EC-4CD1-A46C-F111B52D1EC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72F999C-A4AF-4BEF-880C-3452BDCAFB44}" type="datetimeFigureOut">
              <a:rPr lang="en-US" smtClean="0"/>
              <a:pPr/>
              <a:t>28/08/2025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83E23-78EC-4CD1-A46C-F111B52D1EC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72F999C-A4AF-4BEF-880C-3452BDCAFB44}" type="datetimeFigureOut">
              <a:rPr lang="en-US" smtClean="0"/>
              <a:pPr/>
              <a:t>28/08/2025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83E23-78EC-4CD1-A46C-F111B52D1EC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72F999C-A4AF-4BEF-880C-3452BDCAFB44}" type="datetimeFigureOut">
              <a:rPr lang="en-US" smtClean="0"/>
              <a:pPr/>
              <a:t>28/08/2025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A83E23-78EC-4CD1-A46C-F111B52D1EC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72F999C-A4AF-4BEF-880C-3452BDCAFB44}" type="datetimeFigureOut">
              <a:rPr lang="en-US" smtClean="0"/>
              <a:pPr/>
              <a:t>28/08/2025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A83E23-78EC-4CD1-A46C-F111B52D1EC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72F999C-A4AF-4BEF-880C-3452BDCAFB44}" type="datetimeFigureOut">
              <a:rPr lang="en-US" smtClean="0"/>
              <a:pPr/>
              <a:t>28/08/2025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A83E23-78EC-4CD1-A46C-F111B52D1EC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2F999C-A4AF-4BEF-880C-3452BDCAFB44}" type="datetimeFigureOut">
              <a:rPr lang="en-US" smtClean="0"/>
              <a:pPr/>
              <a:t>28/08/2025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A83E23-78EC-4CD1-A46C-F111B52D1EC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72F999C-A4AF-4BEF-880C-3452BDCAFB44}" type="datetimeFigureOut">
              <a:rPr lang="en-US" smtClean="0"/>
              <a:pPr/>
              <a:t>28/08/2025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A83E23-78EC-4CD1-A46C-F111B52D1EC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72F999C-A4AF-4BEF-880C-3452BDCAFB44}" type="datetimeFigureOut">
              <a:rPr lang="en-US" smtClean="0"/>
              <a:pPr/>
              <a:t>28/08/2025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A83E23-78EC-4CD1-A46C-F111B52D1EC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72F999C-A4AF-4BEF-880C-3452BDCAFB44}" type="datetimeFigureOut">
              <a:rPr lang="en-US" smtClean="0"/>
              <a:pPr/>
              <a:t>28/08/2025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83E23-78EC-4CD1-A46C-F111B52D1EC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72F999C-A4AF-4BEF-880C-3452BDCAFB44}" type="datetimeFigureOut">
              <a:rPr lang="en-US" smtClean="0"/>
              <a:pPr/>
              <a:t>28/08/2025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A83E23-78EC-4CD1-A46C-F111B52D1EC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2F999C-A4AF-4BEF-880C-3452BDCAFB44}" type="datetimeFigureOut">
              <a:rPr lang="en-US" smtClean="0"/>
              <a:pPr/>
              <a:t>28/08/2025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A83E23-78EC-4CD1-A46C-F111B52D1EC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5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9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hyperlink" Target="https://www.programiz.com/dsa/spanning-tree-and-minimum-spanning-tree" TargetMode="Externa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hyperlink" Target="http://www.personal.kent.edu/~rmuhamma/Algorithms/MyAlgorithms/Greedy/greedyIntro.htm" TargetMode="Externa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71.png"/><Relationship Id="rId7" Type="http://schemas.openxmlformats.org/officeDocument/2006/relationships/image" Target="../media/image75.png"/><Relationship Id="rId2"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10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5400" b="1" smtClean="0"/>
              <a:t>Unit 3</a:t>
            </a:r>
            <a:r>
              <a:rPr lang="en-US" sz="5400" b="1" dirty="0" smtClean="0"/>
              <a:t/>
            </a:r>
            <a:br>
              <a:rPr lang="en-US" sz="5400" b="1" dirty="0" smtClean="0"/>
            </a:br>
            <a:r>
              <a:rPr lang="en-US" sz="5400" b="1" dirty="0" smtClean="0"/>
              <a:t>Greedy strategy</a:t>
            </a:r>
            <a:endParaRPr lang="en-US" sz="5400" b="1" dirty="0"/>
          </a:p>
        </p:txBody>
      </p:sp>
      <p:sp>
        <p:nvSpPr>
          <p:cNvPr id="3" name="Subtitle 2"/>
          <p:cNvSpPr>
            <a:spLocks noGrp="1"/>
          </p:cNvSpPr>
          <p:nvPr>
            <p:ph type="subTitle" idx="1"/>
          </p:nvPr>
        </p:nvSpPr>
        <p:spPr>
          <a:xfrm>
            <a:off x="1371600" y="4648200"/>
            <a:ext cx="6400800" cy="990600"/>
          </a:xfrm>
        </p:spPr>
        <p:txBody>
          <a:bodyPr/>
          <a:lstStyle/>
          <a:p>
            <a:pPr algn="r"/>
            <a:r>
              <a:rPr lang="en-US" b="1" dirty="0" smtClean="0"/>
              <a:t>- Dr. Varsha R.Dange</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Contents</a:t>
            </a:r>
            <a:endParaRPr lang="en-US" b="1" dirty="0"/>
          </a:p>
        </p:txBody>
      </p:sp>
      <p:sp>
        <p:nvSpPr>
          <p:cNvPr id="3" name="Content Placeholder 2"/>
          <p:cNvSpPr>
            <a:spLocks noGrp="1"/>
          </p:cNvSpPr>
          <p:nvPr>
            <p:ph idx="1"/>
          </p:nvPr>
        </p:nvSpPr>
        <p:spPr/>
        <p:txBody>
          <a:bodyPr/>
          <a:lstStyle/>
          <a:p>
            <a:r>
              <a:rPr lang="en-US" dirty="0" smtClean="0"/>
              <a:t>General approach, </a:t>
            </a:r>
          </a:p>
          <a:p>
            <a:r>
              <a:rPr lang="en-US" dirty="0" smtClean="0"/>
              <a:t>fractional knapsack problem using greedy method, </a:t>
            </a:r>
          </a:p>
          <a:p>
            <a:r>
              <a:rPr lang="en-US" dirty="0" smtClean="0"/>
              <a:t>Job scheduling/sequencing using greedy approach examples, </a:t>
            </a:r>
          </a:p>
          <a:p>
            <a:r>
              <a:rPr lang="en-US" dirty="0" smtClean="0"/>
              <a:t>Huffman coding, </a:t>
            </a:r>
          </a:p>
          <a:p>
            <a:r>
              <a:rPr lang="en-US" dirty="0" smtClean="0"/>
              <a:t>minimum spanning tree-</a:t>
            </a:r>
            <a:r>
              <a:rPr lang="en-US" dirty="0" err="1" smtClean="0"/>
              <a:t>Kruskal’s</a:t>
            </a:r>
            <a:r>
              <a:rPr lang="en-US" dirty="0" smtClean="0"/>
              <a:t> and Prim’s algorithm</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Greedy</a:t>
            </a:r>
            <a:r>
              <a:rPr lang="en-US" dirty="0" smtClean="0"/>
              <a:t> </a:t>
            </a:r>
            <a:r>
              <a:rPr lang="en-US" b="1" dirty="0" smtClean="0"/>
              <a:t>Approach</a:t>
            </a:r>
            <a:endParaRPr lang="en-US" b="1" dirty="0"/>
          </a:p>
        </p:txBody>
      </p:sp>
      <p:sp>
        <p:nvSpPr>
          <p:cNvPr id="3" name="Content Placeholder 2"/>
          <p:cNvSpPr>
            <a:spLocks noGrp="1"/>
          </p:cNvSpPr>
          <p:nvPr>
            <p:ph idx="1"/>
          </p:nvPr>
        </p:nvSpPr>
        <p:spPr/>
        <p:txBody>
          <a:bodyPr>
            <a:normAutofit fontScale="85000" lnSpcReduction="20000"/>
          </a:bodyPr>
          <a:lstStyle/>
          <a:p>
            <a:pPr algn="just"/>
            <a:r>
              <a:rPr lang="en-US" dirty="0" smtClean="0"/>
              <a:t>The greedy method is one of the strategies like Divide and conquer used to solve the problems. </a:t>
            </a:r>
          </a:p>
          <a:p>
            <a:pPr algn="just"/>
            <a:r>
              <a:rPr lang="en-US" dirty="0" smtClean="0"/>
              <a:t>This method is used for solving optimization problems. </a:t>
            </a:r>
          </a:p>
          <a:p>
            <a:pPr algn="just"/>
            <a:r>
              <a:rPr lang="en-US" dirty="0" smtClean="0"/>
              <a:t> An optimization problem is a problem that demands either </a:t>
            </a:r>
            <a:r>
              <a:rPr lang="en-US" dirty="0" smtClean="0">
                <a:solidFill>
                  <a:srgbClr val="FF0000"/>
                </a:solidFill>
              </a:rPr>
              <a:t>maximum or minimum results</a:t>
            </a:r>
          </a:p>
          <a:p>
            <a:pPr algn="just"/>
            <a:r>
              <a:rPr lang="en-US" dirty="0" smtClean="0"/>
              <a:t>The </a:t>
            </a:r>
            <a:r>
              <a:rPr lang="en-US" b="1" dirty="0" smtClean="0"/>
              <a:t>greedy approach/</a:t>
            </a:r>
            <a:r>
              <a:rPr lang="en-US" dirty="0" smtClean="0"/>
              <a:t>technique, is an algorithmic strategy used in optimization problems </a:t>
            </a:r>
          </a:p>
          <a:p>
            <a:pPr algn="just"/>
            <a:r>
              <a:rPr lang="en-US" b="1" dirty="0" smtClean="0"/>
              <a:t>The Greedy Method is a problem-solving technique where we build the solution step by step, choosing the option that looks best at the current moment (locally optimal choice), hoping it will lead to the overall best solution (globally optimal).</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Characteristics of Greedy method</a:t>
            </a:r>
            <a:endParaRPr lang="en-US" b="1" dirty="0"/>
          </a:p>
        </p:txBody>
      </p:sp>
      <p:sp>
        <p:nvSpPr>
          <p:cNvPr id="3" name="Content Placeholder 2"/>
          <p:cNvSpPr>
            <a:spLocks noGrp="1"/>
          </p:cNvSpPr>
          <p:nvPr>
            <p:ph idx="1"/>
          </p:nvPr>
        </p:nvSpPr>
        <p:spPr/>
        <p:txBody>
          <a:bodyPr>
            <a:normAutofit fontScale="32500" lnSpcReduction="20000"/>
          </a:bodyPr>
          <a:lstStyle/>
          <a:p>
            <a:pPr>
              <a:buNone/>
            </a:pPr>
            <a:r>
              <a:rPr lang="en-US" b="1" dirty="0" smtClean="0"/>
              <a:t>Greedy Choice Property</a:t>
            </a:r>
            <a:r>
              <a:rPr lang="en-US" dirty="0" smtClean="0"/>
              <a:t> – A locally optimal choice at each step leads to a globally optimal solution.</a:t>
            </a:r>
          </a:p>
          <a:p>
            <a:pPr>
              <a:buNone/>
            </a:pPr>
            <a:r>
              <a:rPr lang="en-US" b="1" dirty="0" smtClean="0"/>
              <a:t>Optimal Substructure</a:t>
            </a:r>
            <a:r>
              <a:rPr lang="en-US" dirty="0" smtClean="0"/>
              <a:t> – An optimal solution of the problem contains optimal solutions to its sub-problems.</a:t>
            </a:r>
          </a:p>
          <a:p>
            <a:pPr>
              <a:buNone/>
            </a:pPr>
            <a:r>
              <a:rPr lang="en-US" b="1" dirty="0" smtClean="0"/>
              <a:t>1. Local Optimal Choice</a:t>
            </a:r>
            <a:endParaRPr lang="en-US" dirty="0" smtClean="0"/>
          </a:p>
          <a:p>
            <a:pPr>
              <a:buNone/>
            </a:pPr>
            <a:r>
              <a:rPr lang="en-US" b="1" dirty="0" smtClean="0"/>
              <a:t> </a:t>
            </a:r>
            <a:endParaRPr lang="en-US" dirty="0" smtClean="0"/>
          </a:p>
          <a:p>
            <a:pPr>
              <a:buNone/>
            </a:pPr>
            <a:r>
              <a:rPr lang="en-US" b="1" dirty="0" smtClean="0"/>
              <a:t>    At each step, pick the choice that seems best right now.</a:t>
            </a:r>
            <a:endParaRPr lang="en-US" dirty="0" smtClean="0"/>
          </a:p>
          <a:p>
            <a:pPr>
              <a:buNone/>
            </a:pPr>
            <a:r>
              <a:rPr lang="en-US" b="1" dirty="0" smtClean="0"/>
              <a:t>    Example: always take the largest coin first while making change.</a:t>
            </a:r>
            <a:endParaRPr lang="en-US" dirty="0" smtClean="0"/>
          </a:p>
          <a:p>
            <a:pPr>
              <a:buNone/>
            </a:pPr>
            <a:r>
              <a:rPr lang="en-US" b="1" dirty="0" smtClean="0"/>
              <a:t> </a:t>
            </a:r>
            <a:endParaRPr lang="en-US" dirty="0" smtClean="0"/>
          </a:p>
          <a:p>
            <a:pPr>
              <a:buNone/>
            </a:pPr>
            <a:r>
              <a:rPr lang="en-US" b="1" dirty="0" smtClean="0"/>
              <a:t>2. Irrevocable Decisions</a:t>
            </a:r>
            <a:endParaRPr lang="en-US" dirty="0" smtClean="0"/>
          </a:p>
          <a:p>
            <a:pPr>
              <a:buNone/>
            </a:pPr>
            <a:r>
              <a:rPr lang="en-US" b="1" dirty="0" smtClean="0"/>
              <a:t> </a:t>
            </a:r>
            <a:endParaRPr lang="en-US" dirty="0" smtClean="0"/>
          </a:p>
          <a:p>
            <a:pPr>
              <a:buNone/>
            </a:pPr>
            <a:r>
              <a:rPr lang="en-US" b="1" dirty="0" smtClean="0"/>
              <a:t>    Once you make a choice, you don’t go back to change it later.</a:t>
            </a:r>
            <a:endParaRPr lang="en-US" dirty="0" smtClean="0"/>
          </a:p>
          <a:p>
            <a:pPr>
              <a:buNone/>
            </a:pPr>
            <a:r>
              <a:rPr lang="en-US" b="1" dirty="0" smtClean="0"/>
              <a:t>    No backtracking.</a:t>
            </a:r>
            <a:endParaRPr lang="en-US" dirty="0" smtClean="0"/>
          </a:p>
          <a:p>
            <a:pPr>
              <a:buNone/>
            </a:pPr>
            <a:r>
              <a:rPr lang="en-US" b="1" dirty="0" smtClean="0"/>
              <a:t> </a:t>
            </a:r>
            <a:endParaRPr lang="en-US" dirty="0" smtClean="0"/>
          </a:p>
          <a:p>
            <a:pPr>
              <a:buNone/>
            </a:pPr>
            <a:r>
              <a:rPr lang="en-US" b="1" dirty="0" smtClean="0"/>
              <a:t>3. Feasible Solution</a:t>
            </a:r>
            <a:endParaRPr lang="en-US" dirty="0" smtClean="0"/>
          </a:p>
          <a:p>
            <a:pPr>
              <a:buNone/>
            </a:pPr>
            <a:r>
              <a:rPr lang="en-US" b="1" dirty="0" smtClean="0"/>
              <a:t> </a:t>
            </a:r>
            <a:endParaRPr lang="en-US" dirty="0" smtClean="0"/>
          </a:p>
          <a:p>
            <a:pPr>
              <a:buNone/>
            </a:pPr>
            <a:r>
              <a:rPr lang="en-US" b="1" dirty="0" smtClean="0"/>
              <a:t>    Each choice should keep the solution valid (must satisfy problem constraints).</a:t>
            </a:r>
            <a:endParaRPr lang="en-US" dirty="0" smtClean="0"/>
          </a:p>
          <a:p>
            <a:pPr>
              <a:buNone/>
            </a:pPr>
            <a:r>
              <a:rPr lang="en-US" b="1" dirty="0" smtClean="0"/>
              <a:t>    Example: when scheduling jobs, pick only jobs that can fit into the timeline.</a:t>
            </a:r>
            <a:endParaRPr lang="en-US" dirty="0" smtClean="0"/>
          </a:p>
          <a:p>
            <a:pPr>
              <a:buNone/>
            </a:pPr>
            <a:r>
              <a:rPr lang="en-US" b="1" dirty="0" smtClean="0"/>
              <a:t> </a:t>
            </a:r>
            <a:endParaRPr lang="en-US" dirty="0" smtClean="0"/>
          </a:p>
          <a:p>
            <a:pPr>
              <a:buNone/>
            </a:pPr>
            <a:r>
              <a:rPr lang="en-US" b="1" dirty="0" smtClean="0"/>
              <a:t>4. Optimal Substructure Property</a:t>
            </a:r>
            <a:endParaRPr lang="en-US" dirty="0" smtClean="0"/>
          </a:p>
          <a:p>
            <a:pPr>
              <a:buNone/>
            </a:pPr>
            <a:r>
              <a:rPr lang="en-US" b="1" dirty="0" smtClean="0"/>
              <a:t> </a:t>
            </a:r>
            <a:endParaRPr lang="en-US" dirty="0" smtClean="0"/>
          </a:p>
          <a:p>
            <a:pPr>
              <a:buNone/>
            </a:pPr>
            <a:r>
              <a:rPr lang="en-US" b="1" dirty="0" smtClean="0"/>
              <a:t>    The global solution can be formed by combining solutions to smaller subproblems.</a:t>
            </a:r>
            <a:endParaRPr lang="en-US" dirty="0" smtClean="0"/>
          </a:p>
          <a:p>
            <a:pPr>
              <a:buNone/>
            </a:pPr>
            <a:r>
              <a:rPr lang="en-US" b="1" dirty="0" smtClean="0"/>
              <a:t>    Example: shortest path in a graph → shortest path from A to C via B is built from shortest path A→B and B→C.</a:t>
            </a:r>
            <a:endParaRPr lang="en-US" dirty="0" smtClean="0"/>
          </a:p>
          <a:p>
            <a:pPr>
              <a:buNone/>
            </a:pPr>
            <a:r>
              <a:rPr lang="en-US" b="1" dirty="0" smtClean="0"/>
              <a:t> </a:t>
            </a:r>
            <a:endParaRPr lang="en-US" dirty="0" smtClean="0"/>
          </a:p>
          <a:p>
            <a:pPr>
              <a:buNone/>
            </a:pPr>
            <a:r>
              <a:rPr lang="en-US" b="1" dirty="0" smtClean="0"/>
              <a:t>5. Greedy-Choice Property</a:t>
            </a:r>
            <a:endParaRPr lang="en-US" dirty="0" smtClean="0"/>
          </a:p>
          <a:p>
            <a:pPr>
              <a:buNone/>
            </a:pPr>
            <a:r>
              <a:rPr lang="en-US" b="1" dirty="0" smtClean="0"/>
              <a:t> </a:t>
            </a:r>
            <a:endParaRPr lang="en-US" dirty="0" smtClean="0"/>
          </a:p>
          <a:p>
            <a:pPr>
              <a:buNone/>
            </a:pPr>
            <a:r>
              <a:rPr lang="en-US" b="1" dirty="0" smtClean="0"/>
              <a:t>    There exists a way to reach an optimal solution by making greedy choices at each step.</a:t>
            </a:r>
            <a:endParaRPr lang="en-US" dirty="0" smtClean="0"/>
          </a:p>
          <a:p>
            <a:pPr>
              <a:buNone/>
            </a:pPr>
            <a:r>
              <a:rPr lang="en-US" b="1" dirty="0" smtClean="0"/>
              <a:t>    If this property doesn’t hold, greedy method may fail.</a:t>
            </a:r>
            <a:endParaRPr lang="en-US" dirty="0" smtClean="0"/>
          </a:p>
          <a:p>
            <a:pPr>
              <a:buNone/>
            </a:pPr>
            <a:r>
              <a:rPr lang="en-US" b="1" dirty="0" smtClean="0"/>
              <a:t> </a:t>
            </a:r>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Characteristics of Greedy method</a:t>
            </a:r>
            <a:endParaRPr lang="en-US" b="1" dirty="0"/>
          </a:p>
        </p:txBody>
      </p:sp>
      <p:sp>
        <p:nvSpPr>
          <p:cNvPr id="3" name="Content Placeholder 2"/>
          <p:cNvSpPr>
            <a:spLocks noGrp="1"/>
          </p:cNvSpPr>
          <p:nvPr>
            <p:ph idx="1"/>
          </p:nvPr>
        </p:nvSpPr>
        <p:spPr>
          <a:xfrm>
            <a:off x="457200" y="1295400"/>
            <a:ext cx="8229600" cy="5029200"/>
          </a:xfrm>
        </p:spPr>
        <p:txBody>
          <a:bodyPr>
            <a:normAutofit fontScale="47500" lnSpcReduction="20000"/>
          </a:bodyPr>
          <a:lstStyle/>
          <a:p>
            <a:pPr>
              <a:buNone/>
            </a:pPr>
            <a:r>
              <a:rPr lang="en-US" dirty="0" smtClean="0"/>
              <a:t>1</a:t>
            </a:r>
            <a:r>
              <a:rPr lang="en-US" sz="5100" dirty="0" smtClean="0"/>
              <a:t>. </a:t>
            </a:r>
            <a:r>
              <a:rPr lang="en-US" sz="5100" b="1" dirty="0" smtClean="0"/>
              <a:t>Local Optimal Choice</a:t>
            </a:r>
          </a:p>
          <a:p>
            <a:pPr>
              <a:buNone/>
            </a:pPr>
            <a:r>
              <a:rPr lang="en-US" sz="5100" dirty="0" smtClean="0"/>
              <a:t>     At each step, pick the choice that seems best right now.</a:t>
            </a:r>
          </a:p>
          <a:p>
            <a:pPr>
              <a:buNone/>
            </a:pPr>
            <a:r>
              <a:rPr lang="en-US" sz="5100" dirty="0" smtClean="0"/>
              <a:t>    Example: always take the largest coin first while making change.</a:t>
            </a:r>
          </a:p>
          <a:p>
            <a:pPr>
              <a:buNone/>
            </a:pPr>
            <a:endParaRPr lang="en-US" sz="5100" dirty="0" smtClean="0"/>
          </a:p>
          <a:p>
            <a:pPr>
              <a:buNone/>
            </a:pPr>
            <a:r>
              <a:rPr lang="en-US" sz="5100" dirty="0" smtClean="0"/>
              <a:t> 2. </a:t>
            </a:r>
            <a:r>
              <a:rPr lang="en-US" sz="5100" b="1" dirty="0" smtClean="0"/>
              <a:t>Irreversible Decisions</a:t>
            </a:r>
          </a:p>
          <a:p>
            <a:pPr>
              <a:buNone/>
            </a:pPr>
            <a:r>
              <a:rPr lang="en-US" sz="5100" dirty="0" smtClean="0"/>
              <a:t>     Once you make a choice, you don’t go back to change it later.</a:t>
            </a:r>
          </a:p>
          <a:p>
            <a:pPr>
              <a:buNone/>
            </a:pPr>
            <a:r>
              <a:rPr lang="en-US" sz="5100" dirty="0" smtClean="0"/>
              <a:t>    No backtracking.</a:t>
            </a:r>
          </a:p>
          <a:p>
            <a:pPr>
              <a:buNone/>
            </a:pPr>
            <a:r>
              <a:rPr lang="en-US" sz="5100" dirty="0" smtClean="0"/>
              <a:t> </a:t>
            </a:r>
          </a:p>
          <a:p>
            <a:pPr>
              <a:buNone/>
            </a:pPr>
            <a:r>
              <a:rPr lang="en-US" sz="5100" dirty="0" smtClean="0"/>
              <a:t>3. </a:t>
            </a:r>
            <a:r>
              <a:rPr lang="en-US" sz="5100" b="1" dirty="0" smtClean="0"/>
              <a:t>Feasible Solution</a:t>
            </a:r>
          </a:p>
          <a:p>
            <a:pPr>
              <a:buNone/>
            </a:pPr>
            <a:r>
              <a:rPr lang="en-US" sz="5100" dirty="0" smtClean="0"/>
              <a:t>     Each choice should keep the solution valid (must satisfy problem constraints / rules).</a:t>
            </a:r>
          </a:p>
          <a:p>
            <a:pPr>
              <a:buNone/>
            </a:pPr>
            <a:r>
              <a:rPr lang="en-US" sz="5100" dirty="0" smtClean="0"/>
              <a:t>    Example: when scheduling jobs, pick only jobs that can fit into the timeline.</a:t>
            </a:r>
          </a:p>
          <a:p>
            <a:pPr>
              <a:buNone/>
            </a:pPr>
            <a:endParaRPr lang="en-US" dirty="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Characteristics of Greedy method</a:t>
            </a:r>
            <a:endParaRPr lang="en-US" b="1" dirty="0"/>
          </a:p>
        </p:txBody>
      </p:sp>
      <p:sp>
        <p:nvSpPr>
          <p:cNvPr id="3" name="Content Placeholder 2"/>
          <p:cNvSpPr>
            <a:spLocks noGrp="1"/>
          </p:cNvSpPr>
          <p:nvPr>
            <p:ph idx="1"/>
          </p:nvPr>
        </p:nvSpPr>
        <p:spPr/>
        <p:txBody>
          <a:bodyPr>
            <a:normAutofit fontScale="92500" lnSpcReduction="20000"/>
          </a:bodyPr>
          <a:lstStyle/>
          <a:p>
            <a:pPr>
              <a:buNone/>
            </a:pPr>
            <a:r>
              <a:rPr lang="en-US" dirty="0" smtClean="0"/>
              <a:t>4. . </a:t>
            </a:r>
            <a:r>
              <a:rPr lang="en-US" b="1" dirty="0" smtClean="0"/>
              <a:t>Optimal Substructure Property</a:t>
            </a:r>
          </a:p>
          <a:p>
            <a:pPr>
              <a:buNone/>
            </a:pPr>
            <a:r>
              <a:rPr lang="en-US" dirty="0" smtClean="0"/>
              <a:t>     The global solution can be formed by combining solutions to smaller subproblems.</a:t>
            </a:r>
          </a:p>
          <a:p>
            <a:pPr>
              <a:buNone/>
            </a:pPr>
            <a:r>
              <a:rPr lang="en-US" dirty="0" smtClean="0"/>
              <a:t>    Example: shortest path in a graph → shortest path from A to C via B is built from shortest path A→B and B→C.</a:t>
            </a:r>
          </a:p>
          <a:p>
            <a:pPr>
              <a:buNone/>
            </a:pPr>
            <a:r>
              <a:rPr lang="en-US" dirty="0" smtClean="0"/>
              <a:t> </a:t>
            </a:r>
          </a:p>
          <a:p>
            <a:pPr>
              <a:buNone/>
            </a:pPr>
            <a:r>
              <a:rPr lang="en-US" dirty="0" smtClean="0"/>
              <a:t>5. </a:t>
            </a:r>
            <a:r>
              <a:rPr lang="en-US" b="1" dirty="0" smtClean="0"/>
              <a:t>Greedy-Choice Property</a:t>
            </a:r>
          </a:p>
          <a:p>
            <a:pPr>
              <a:buNone/>
            </a:pPr>
            <a:r>
              <a:rPr lang="en-US" dirty="0" smtClean="0"/>
              <a:t>     There exists a way to reach an optimal solution by making greedy choices at each step.</a:t>
            </a:r>
          </a:p>
          <a:p>
            <a:pPr>
              <a:buNone/>
            </a:pP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Will greedy always give optimal solution-no</a:t>
            </a:r>
            <a:endParaRPr lang="en-US" b="1" dirty="0"/>
          </a:p>
        </p:txBody>
      </p:sp>
      <p:sp>
        <p:nvSpPr>
          <p:cNvPr id="3" name="Content Placeholder 2"/>
          <p:cNvSpPr>
            <a:spLocks noGrp="1"/>
          </p:cNvSpPr>
          <p:nvPr>
            <p:ph idx="1"/>
          </p:nvPr>
        </p:nvSpPr>
        <p:spPr>
          <a:xfrm>
            <a:off x="457200" y="1524000"/>
            <a:ext cx="8229600" cy="4602163"/>
          </a:xfrm>
        </p:spPr>
        <p:txBody>
          <a:bodyPr/>
          <a:lstStyle/>
          <a:p>
            <a:r>
              <a:rPr lang="en-US" dirty="0" smtClean="0"/>
              <a:t>Here we have to find largest path</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0" y="2057401"/>
            <a:ext cx="3930869" cy="2286000"/>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4953000" y="2209800"/>
            <a:ext cx="2990850" cy="2466975"/>
          </a:xfrm>
          <a:prstGeom prst="rect">
            <a:avLst/>
          </a:prstGeom>
          <a:noFill/>
          <a:ln w="9525">
            <a:noFill/>
            <a:miter lim="800000"/>
            <a:headEnd/>
            <a:tailEnd/>
          </a:ln>
        </p:spPr>
      </p:pic>
      <p:pic>
        <p:nvPicPr>
          <p:cNvPr id="2052" name="Picture 4"/>
          <p:cNvPicPr>
            <a:picLocks noChangeAspect="1" noChangeArrowheads="1"/>
          </p:cNvPicPr>
          <p:nvPr/>
        </p:nvPicPr>
        <p:blipFill>
          <a:blip r:embed="rId4" cstate="print"/>
          <a:srcRect/>
          <a:stretch>
            <a:fillRect/>
          </a:stretch>
        </p:blipFill>
        <p:spPr bwMode="auto">
          <a:xfrm>
            <a:off x="2667000" y="4419600"/>
            <a:ext cx="3119438" cy="2438400"/>
          </a:xfrm>
          <a:prstGeom prst="rect">
            <a:avLst/>
          </a:prstGeom>
          <a:noFill/>
          <a:ln w="9525">
            <a:noFill/>
            <a:miter lim="800000"/>
            <a:headEnd/>
            <a:tailEnd/>
          </a:ln>
        </p:spPr>
      </p:pic>
      <p:pic>
        <p:nvPicPr>
          <p:cNvPr id="2053" name="Picture 5"/>
          <p:cNvPicPr>
            <a:picLocks noChangeAspect="1" noChangeArrowheads="1"/>
          </p:cNvPicPr>
          <p:nvPr/>
        </p:nvPicPr>
        <p:blipFill>
          <a:blip r:embed="rId5" cstate="print"/>
          <a:srcRect/>
          <a:stretch>
            <a:fillRect/>
          </a:stretch>
        </p:blipFill>
        <p:spPr bwMode="auto">
          <a:xfrm>
            <a:off x="5715000" y="5486400"/>
            <a:ext cx="3048000" cy="762000"/>
          </a:xfrm>
          <a:prstGeom prst="rect">
            <a:avLst/>
          </a:prstGeom>
          <a:noFill/>
          <a:ln w="9525">
            <a:noFill/>
            <a:miter lim="800000"/>
            <a:headEnd/>
            <a:tailEnd/>
          </a:ln>
        </p:spPr>
      </p:pic>
      <p:pic>
        <p:nvPicPr>
          <p:cNvPr id="2054" name="Picture 6"/>
          <p:cNvPicPr>
            <a:picLocks noChangeAspect="1" noChangeArrowheads="1"/>
          </p:cNvPicPr>
          <p:nvPr/>
        </p:nvPicPr>
        <p:blipFill>
          <a:blip r:embed="rId6" cstate="print"/>
          <a:srcRect/>
          <a:stretch>
            <a:fillRect/>
          </a:stretch>
        </p:blipFill>
        <p:spPr bwMode="auto">
          <a:xfrm>
            <a:off x="6705600" y="1981200"/>
            <a:ext cx="2228850" cy="3429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Will greedy always give optimal solution</a:t>
            </a:r>
            <a:endParaRPr lang="en-US" b="1" dirty="0"/>
          </a:p>
        </p:txBody>
      </p:sp>
      <p:sp>
        <p:nvSpPr>
          <p:cNvPr id="3" name="Content Placeholder 2"/>
          <p:cNvSpPr>
            <a:spLocks noGrp="1"/>
          </p:cNvSpPr>
          <p:nvPr>
            <p:ph idx="1"/>
          </p:nvPr>
        </p:nvSpPr>
        <p:spPr>
          <a:xfrm>
            <a:off x="457200" y="1524000"/>
            <a:ext cx="8229600" cy="4953000"/>
          </a:xfrm>
        </p:spPr>
        <p:txBody>
          <a:bodyPr>
            <a:normAutofit fontScale="70000" lnSpcReduction="20000"/>
          </a:bodyPr>
          <a:lstStyle/>
          <a:p>
            <a:pPr fontAlgn="base"/>
            <a:r>
              <a:rPr lang="en-US" dirty="0" smtClean="0"/>
              <a:t>The </a:t>
            </a:r>
            <a:r>
              <a:rPr lang="en-US" b="1" dirty="0" smtClean="0"/>
              <a:t>greedy algorithm is not always the optimal solution</a:t>
            </a:r>
            <a:r>
              <a:rPr lang="en-US" dirty="0" smtClean="0"/>
              <a:t> for every optimization problem, as shown in the example below.</a:t>
            </a:r>
          </a:p>
          <a:p>
            <a:pPr fontAlgn="base"/>
            <a:r>
              <a:rPr lang="en-US" dirty="0" smtClean="0"/>
              <a:t>the greedy approach to make change for the</a:t>
            </a:r>
            <a:r>
              <a:rPr lang="en-US" b="1" dirty="0" smtClean="0"/>
              <a:t> amount 20 </a:t>
            </a:r>
            <a:r>
              <a:rPr lang="en-US" dirty="0" smtClean="0"/>
              <a:t>with the</a:t>
            </a:r>
            <a:r>
              <a:rPr lang="en-US" b="1" dirty="0" smtClean="0"/>
              <a:t> coin denominations [18, 1, 10</a:t>
            </a:r>
            <a:r>
              <a:rPr lang="en-US" dirty="0" smtClean="0"/>
              <a:t>], </a:t>
            </a:r>
          </a:p>
          <a:p>
            <a:pPr fontAlgn="base"/>
            <a:r>
              <a:rPr lang="en-US" dirty="0" smtClean="0"/>
              <a:t>the algorithm starts by selecting the </a:t>
            </a:r>
            <a:r>
              <a:rPr lang="en-US" b="1" dirty="0" smtClean="0"/>
              <a:t>largest coin</a:t>
            </a:r>
            <a:r>
              <a:rPr lang="en-US" dirty="0" smtClean="0"/>
              <a:t> value that is</a:t>
            </a:r>
            <a:r>
              <a:rPr lang="en-US" b="1" dirty="0" smtClean="0"/>
              <a:t> less than or equal</a:t>
            </a:r>
            <a:r>
              <a:rPr lang="en-US" dirty="0" smtClean="0"/>
              <a:t> to the target amount. In this case, the</a:t>
            </a:r>
            <a:r>
              <a:rPr lang="en-US" b="1" dirty="0" smtClean="0"/>
              <a:t> largest coin is 18, </a:t>
            </a:r>
          </a:p>
          <a:p>
            <a:pPr fontAlgn="base"/>
            <a:r>
              <a:rPr lang="en-US" dirty="0" smtClean="0"/>
              <a:t>so the algorithm selects </a:t>
            </a:r>
            <a:r>
              <a:rPr lang="en-US" b="1" dirty="0" smtClean="0"/>
              <a:t>one 18 coin</a:t>
            </a:r>
            <a:r>
              <a:rPr lang="en-US" dirty="0" smtClean="0"/>
              <a:t>. After </a:t>
            </a:r>
            <a:r>
              <a:rPr lang="en-US" b="1" dirty="0" smtClean="0"/>
              <a:t>subtracting 18 from 20</a:t>
            </a:r>
            <a:r>
              <a:rPr lang="en-US" dirty="0" smtClean="0"/>
              <a:t>, the </a:t>
            </a:r>
            <a:r>
              <a:rPr lang="en-US" b="1" dirty="0" smtClean="0"/>
              <a:t>remaining amount is 2.</a:t>
            </a:r>
            <a:endParaRPr lang="en-US" dirty="0" smtClean="0"/>
          </a:p>
          <a:p>
            <a:pPr fontAlgn="base"/>
            <a:r>
              <a:rPr lang="en-US" dirty="0" smtClean="0"/>
              <a:t>At this point, the greedy algorithm chooses the </a:t>
            </a:r>
            <a:r>
              <a:rPr lang="en-US" b="1" dirty="0" smtClean="0"/>
              <a:t>next largest coin less than or equal to 2,</a:t>
            </a:r>
            <a:r>
              <a:rPr lang="en-US" dirty="0" smtClean="0"/>
              <a:t> which is 1.</a:t>
            </a:r>
          </a:p>
          <a:p>
            <a:pPr fontAlgn="base"/>
            <a:r>
              <a:rPr lang="en-US" dirty="0" smtClean="0"/>
              <a:t> It then selects </a:t>
            </a:r>
            <a:r>
              <a:rPr lang="en-US" b="1" dirty="0" smtClean="0"/>
              <a:t>two 1 coins </a:t>
            </a:r>
            <a:r>
              <a:rPr lang="en-US" dirty="0" smtClean="0"/>
              <a:t>to make up the remaining amount. So, the greedy approach results in using</a:t>
            </a:r>
            <a:r>
              <a:rPr lang="en-US" b="1" dirty="0" smtClean="0"/>
              <a:t> one 18 coin and two 1 coins.</a:t>
            </a:r>
          </a:p>
          <a:p>
            <a:pPr fontAlgn="base"/>
            <a:r>
              <a:rPr lang="en-US" dirty="0" smtClean="0"/>
              <a:t>Although it uses</a:t>
            </a:r>
            <a:r>
              <a:rPr lang="en-US" b="1" dirty="0" smtClean="0"/>
              <a:t> three coins</a:t>
            </a:r>
            <a:r>
              <a:rPr lang="en-US" dirty="0" smtClean="0"/>
              <a:t>, a better solution would have been to use</a:t>
            </a:r>
            <a:r>
              <a:rPr lang="en-US" b="1" dirty="0" smtClean="0"/>
              <a:t> two 10 coins</a:t>
            </a:r>
            <a:r>
              <a:rPr lang="en-US" dirty="0" smtClean="0"/>
              <a:t>, resulting in a total of only two coins</a:t>
            </a:r>
            <a:r>
              <a:rPr lang="en-US" b="1" dirty="0" smtClean="0"/>
              <a:t> (10 + 10 = 20).</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92162"/>
          </a:xfrm>
        </p:spPr>
        <p:txBody>
          <a:bodyPr/>
          <a:lstStyle/>
          <a:p>
            <a:r>
              <a:rPr lang="en-US" b="1" dirty="0" smtClean="0"/>
              <a:t>Example</a:t>
            </a:r>
            <a:endParaRPr lang="en-US" b="1" dirty="0"/>
          </a:p>
        </p:txBody>
      </p:sp>
      <p:sp>
        <p:nvSpPr>
          <p:cNvPr id="3" name="Content Placeholder 2"/>
          <p:cNvSpPr>
            <a:spLocks noGrp="1"/>
          </p:cNvSpPr>
          <p:nvPr>
            <p:ph idx="1"/>
          </p:nvPr>
        </p:nvSpPr>
        <p:spPr>
          <a:xfrm>
            <a:off x="457200" y="1143000"/>
            <a:ext cx="8229600" cy="4983163"/>
          </a:xfrm>
        </p:spPr>
        <p:txBody>
          <a:bodyPr/>
          <a:lstStyle/>
          <a:p>
            <a:r>
              <a:rPr lang="en-US" b="1" dirty="0" smtClean="0"/>
              <a:t>Problem:</a:t>
            </a:r>
            <a:r>
              <a:rPr lang="en-US" dirty="0" smtClean="0"/>
              <a:t> A trader wants to maximize profit by buying and selling stocks.</a:t>
            </a:r>
          </a:p>
          <a:p>
            <a:r>
              <a:rPr lang="en-US" dirty="0" smtClean="0"/>
              <a:t>Trader, buy at the </a:t>
            </a:r>
            <a:r>
              <a:rPr lang="en-US" b="1" dirty="0" smtClean="0"/>
              <a:t>lowest</a:t>
            </a:r>
            <a:r>
              <a:rPr lang="en-US" dirty="0" smtClean="0"/>
              <a:t> price seen so far and sell at the </a:t>
            </a:r>
            <a:r>
              <a:rPr lang="en-US" b="1" dirty="0" smtClean="0"/>
              <a:t>highest</a:t>
            </a:r>
            <a:r>
              <a:rPr lang="en-US" dirty="0" smtClean="0"/>
              <a:t> price seen later.</a:t>
            </a:r>
          </a:p>
          <a:p>
            <a:endParaRPr lang="en-US" dirty="0" smtClean="0"/>
          </a:p>
          <a:p>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457200" y="3810000"/>
            <a:ext cx="8286750" cy="26670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a:t>
            </a:r>
            <a:endParaRPr lang="en-US" b="1" dirty="0"/>
          </a:p>
        </p:txBody>
      </p:sp>
      <p:sp>
        <p:nvSpPr>
          <p:cNvPr id="3" name="Content Placeholder 2"/>
          <p:cNvSpPr>
            <a:spLocks noGrp="1"/>
          </p:cNvSpPr>
          <p:nvPr>
            <p:ph idx="1"/>
          </p:nvPr>
        </p:nvSpPr>
        <p:spPr/>
        <p:txBody>
          <a:bodyPr/>
          <a:lstStyle/>
          <a:p>
            <a:endParaRPr lang="en-US"/>
          </a:p>
        </p:txBody>
      </p:sp>
      <p:pic>
        <p:nvPicPr>
          <p:cNvPr id="5122" name="Picture 2"/>
          <p:cNvPicPr>
            <a:picLocks noChangeAspect="1" noChangeArrowheads="1"/>
          </p:cNvPicPr>
          <p:nvPr/>
        </p:nvPicPr>
        <p:blipFill>
          <a:blip r:embed="rId2" cstate="print"/>
          <a:srcRect/>
          <a:stretch>
            <a:fillRect/>
          </a:stretch>
        </p:blipFill>
        <p:spPr bwMode="auto">
          <a:xfrm>
            <a:off x="457200" y="1443038"/>
            <a:ext cx="8305800" cy="48815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lstStyle/>
          <a:p>
            <a:r>
              <a:rPr lang="en-US" dirty="0" smtClean="0"/>
              <a:t>The </a:t>
            </a:r>
            <a:r>
              <a:rPr lang="en-US" b="1" dirty="0" smtClean="0"/>
              <a:t>Greedy Algorithm</a:t>
            </a:r>
            <a:r>
              <a:rPr lang="en-US" dirty="0" smtClean="0"/>
              <a:t> works well in problems where:</a:t>
            </a:r>
            <a:br>
              <a:rPr lang="en-US" dirty="0" smtClean="0"/>
            </a:br>
            <a:r>
              <a:rPr lang="en-US" dirty="0" smtClean="0"/>
              <a:t>✅ Making the best choice </a:t>
            </a:r>
            <a:r>
              <a:rPr lang="en-US" b="1" dirty="0" smtClean="0"/>
              <a:t>locally</a:t>
            </a:r>
            <a:r>
              <a:rPr lang="en-US" dirty="0" smtClean="0"/>
              <a:t> leads to the best </a:t>
            </a:r>
            <a:r>
              <a:rPr lang="en-US" b="1" dirty="0" smtClean="0"/>
              <a:t>global</a:t>
            </a:r>
            <a:r>
              <a:rPr lang="en-US" dirty="0" smtClean="0"/>
              <a:t> solution.</a:t>
            </a:r>
            <a:br>
              <a:rPr lang="en-US" dirty="0" smtClean="0"/>
            </a:br>
            <a:r>
              <a:rPr lang="en-US" dirty="0" smtClean="0"/>
              <a:t>✅ There are </a:t>
            </a:r>
            <a:r>
              <a:rPr lang="en-US" b="1" dirty="0" smtClean="0"/>
              <a:t>sorting or priority-based</a:t>
            </a:r>
            <a:r>
              <a:rPr lang="en-US" dirty="0" smtClean="0"/>
              <a:t> conditions (e.g., selecting the highest, lowest, or shortest).</a:t>
            </a:r>
            <a:br>
              <a:rPr lang="en-US" dirty="0" smtClean="0"/>
            </a:br>
            <a:r>
              <a:rPr lang="en-US" dirty="0" smtClean="0"/>
              <a:t>✅ The </a:t>
            </a:r>
            <a:r>
              <a:rPr lang="en-US" b="1" dirty="0" smtClean="0"/>
              <a:t>decisions are final</a:t>
            </a:r>
            <a:r>
              <a:rPr lang="en-US" dirty="0" smtClean="0"/>
              <a:t> (once taken, they are not changed later).</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smtClean="0"/>
              <a:t>Feasible-optimal ?</a:t>
            </a:r>
            <a:endParaRPr lang="en-US" b="1" dirty="0"/>
          </a:p>
        </p:txBody>
      </p:sp>
      <p:sp>
        <p:nvSpPr>
          <p:cNvPr id="3" name="Content Placeholder 2"/>
          <p:cNvSpPr>
            <a:spLocks noGrp="1"/>
          </p:cNvSpPr>
          <p:nvPr>
            <p:ph idx="1"/>
          </p:nvPr>
        </p:nvSpPr>
        <p:spPr>
          <a:xfrm>
            <a:off x="457200" y="1066800"/>
            <a:ext cx="8382000" cy="2819401"/>
          </a:xfrm>
        </p:spPr>
        <p:txBody>
          <a:bodyPr>
            <a:normAutofit/>
          </a:bodyPr>
          <a:lstStyle/>
          <a:p>
            <a:r>
              <a:rPr lang="en-US" dirty="0" smtClean="0"/>
              <a:t>Suppose there is a problem 'P'. I want to travel from A to B shown as below : </a:t>
            </a:r>
            <a:r>
              <a:rPr lang="en-US" b="1" dirty="0" smtClean="0"/>
              <a:t>P : A → B</a:t>
            </a:r>
          </a:p>
          <a:p>
            <a:r>
              <a:rPr lang="en-US" b="1" dirty="0" smtClean="0"/>
              <a:t>constraint - 6hr and min cost</a:t>
            </a:r>
            <a:endParaRPr lang="en-US" dirty="0" smtClean="0"/>
          </a:p>
          <a:p>
            <a:endParaRPr lang="en-US" dirty="0"/>
          </a:p>
        </p:txBody>
      </p:sp>
      <p:pic>
        <p:nvPicPr>
          <p:cNvPr id="6147" name="Picture 3"/>
          <p:cNvPicPr>
            <a:picLocks noChangeAspect="1" noChangeArrowheads="1"/>
          </p:cNvPicPr>
          <p:nvPr/>
        </p:nvPicPr>
        <p:blipFill>
          <a:blip r:embed="rId2" cstate="print"/>
          <a:srcRect/>
          <a:stretch>
            <a:fillRect/>
          </a:stretch>
        </p:blipFill>
        <p:spPr bwMode="auto">
          <a:xfrm>
            <a:off x="685800" y="2743200"/>
            <a:ext cx="7472363" cy="3352800"/>
          </a:xfrm>
          <a:prstGeom prst="rect">
            <a:avLst/>
          </a:prstGeom>
          <a:noFill/>
          <a:ln w="9525">
            <a:noFill/>
            <a:miter lim="800000"/>
            <a:headEnd/>
            <a:tailEnd/>
          </a:ln>
        </p:spPr>
      </p:pic>
      <p:pic>
        <p:nvPicPr>
          <p:cNvPr id="6148" name="Picture 4"/>
          <p:cNvPicPr>
            <a:picLocks noChangeAspect="1" noChangeArrowheads="1"/>
          </p:cNvPicPr>
          <p:nvPr/>
        </p:nvPicPr>
        <p:blipFill>
          <a:blip r:embed="rId3" cstate="print"/>
          <a:srcRect/>
          <a:stretch>
            <a:fillRect/>
          </a:stretch>
        </p:blipFill>
        <p:spPr bwMode="auto">
          <a:xfrm>
            <a:off x="3352800" y="4572000"/>
            <a:ext cx="619125" cy="314325"/>
          </a:xfrm>
          <a:prstGeom prst="rect">
            <a:avLst/>
          </a:prstGeom>
          <a:noFill/>
          <a:ln w="9525">
            <a:noFill/>
            <a:miter lim="800000"/>
            <a:headEnd/>
            <a:tailEnd/>
          </a:ln>
        </p:spPr>
      </p:pic>
      <p:sp>
        <p:nvSpPr>
          <p:cNvPr id="8" name="Rectangle 7"/>
          <p:cNvSpPr/>
          <p:nvPr/>
        </p:nvSpPr>
        <p:spPr>
          <a:xfrm>
            <a:off x="5257800" y="4648200"/>
            <a:ext cx="1151469" cy="369332"/>
          </a:xfrm>
          <a:prstGeom prst="rect">
            <a:avLst/>
          </a:prstGeom>
        </p:spPr>
        <p:txBody>
          <a:bodyPr wrap="none">
            <a:spAutoFit/>
          </a:bodyPr>
          <a:lstStyle/>
          <a:p>
            <a:r>
              <a:rPr lang="en-US" dirty="0" smtClean="0">
                <a:solidFill>
                  <a:schemeClr val="bg1"/>
                </a:solidFill>
              </a:rPr>
              <a:t>Constraint</a:t>
            </a:r>
            <a:endParaRPr lang="en-US" dirty="0">
              <a:solidFill>
                <a:schemeClr val="bg1"/>
              </a:solidFill>
            </a:endParaRPr>
          </a:p>
        </p:txBody>
      </p:sp>
      <p:pic>
        <p:nvPicPr>
          <p:cNvPr id="6150" name="Picture 6"/>
          <p:cNvPicPr>
            <a:picLocks noChangeAspect="1" noChangeArrowheads="1"/>
          </p:cNvPicPr>
          <p:nvPr/>
        </p:nvPicPr>
        <p:blipFill>
          <a:blip r:embed="rId4" cstate="print"/>
          <a:srcRect/>
          <a:stretch>
            <a:fillRect/>
          </a:stretch>
        </p:blipFill>
        <p:spPr bwMode="auto">
          <a:xfrm>
            <a:off x="2667000" y="5715000"/>
            <a:ext cx="400050" cy="323850"/>
          </a:xfrm>
          <a:prstGeom prst="rect">
            <a:avLst/>
          </a:prstGeom>
          <a:noFill/>
          <a:ln w="9525">
            <a:noFill/>
            <a:miter lim="800000"/>
            <a:headEnd/>
            <a:tailEnd/>
          </a:ln>
        </p:spPr>
      </p:pic>
      <p:pic>
        <p:nvPicPr>
          <p:cNvPr id="10" name="Picture 6"/>
          <p:cNvPicPr>
            <a:picLocks noChangeAspect="1" noChangeArrowheads="1"/>
          </p:cNvPicPr>
          <p:nvPr/>
        </p:nvPicPr>
        <p:blipFill>
          <a:blip r:embed="rId4" cstate="print"/>
          <a:srcRect/>
          <a:stretch>
            <a:fillRect/>
          </a:stretch>
        </p:blipFill>
        <p:spPr bwMode="auto">
          <a:xfrm>
            <a:off x="3505200" y="5791200"/>
            <a:ext cx="400050" cy="323850"/>
          </a:xfrm>
          <a:prstGeom prst="rect">
            <a:avLst/>
          </a:prstGeom>
          <a:noFill/>
          <a:ln w="9525">
            <a:noFill/>
            <a:miter lim="800000"/>
            <a:headEnd/>
            <a:tailEnd/>
          </a:ln>
        </p:spPr>
      </p:pic>
      <p:grpSp>
        <p:nvGrpSpPr>
          <p:cNvPr id="19" name="Group 18"/>
          <p:cNvGrpSpPr/>
          <p:nvPr/>
        </p:nvGrpSpPr>
        <p:grpSpPr>
          <a:xfrm>
            <a:off x="4800600" y="5791200"/>
            <a:ext cx="2895600" cy="914400"/>
            <a:chOff x="4800600" y="5791200"/>
            <a:chExt cx="2895600" cy="914400"/>
          </a:xfrm>
        </p:grpSpPr>
        <p:cxnSp>
          <p:nvCxnSpPr>
            <p:cNvPr id="13" name="Straight Connector 12"/>
            <p:cNvCxnSpPr/>
            <p:nvPr/>
          </p:nvCxnSpPr>
          <p:spPr>
            <a:xfrm>
              <a:off x="4800600" y="5791200"/>
              <a:ext cx="1143000" cy="609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867400" y="5791200"/>
              <a:ext cx="76200" cy="609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5943600" y="5791200"/>
              <a:ext cx="1143000" cy="609600"/>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5562600" y="6324600"/>
              <a:ext cx="2133600" cy="381000"/>
            </a:xfrm>
            <a:prstGeom prst="rect">
              <a:avLst/>
            </a:prstGeom>
            <a:noFill/>
          </p:spPr>
          <p:txBody>
            <a:bodyPr wrap="square" rtlCol="0">
              <a:spAutoFit/>
            </a:bodyPr>
            <a:lstStyle/>
            <a:p>
              <a:r>
                <a:rPr lang="en-US" dirty="0" smtClean="0"/>
                <a:t>Feasible solutions</a:t>
              </a:r>
              <a:endParaRPr lang="en-US" dirty="0"/>
            </a:p>
          </p:txBody>
        </p:sp>
      </p:grpSp>
      <p:pic>
        <p:nvPicPr>
          <p:cNvPr id="6152" name="Picture 8"/>
          <p:cNvPicPr>
            <a:picLocks noChangeAspect="1" noChangeArrowheads="1"/>
          </p:cNvPicPr>
          <p:nvPr/>
        </p:nvPicPr>
        <p:blipFill>
          <a:blip r:embed="rId5" cstate="print"/>
          <a:srcRect/>
          <a:stretch>
            <a:fillRect/>
          </a:stretch>
        </p:blipFill>
        <p:spPr bwMode="auto">
          <a:xfrm>
            <a:off x="3505200" y="4953000"/>
            <a:ext cx="742950" cy="304800"/>
          </a:xfrm>
          <a:prstGeom prst="rect">
            <a:avLst/>
          </a:prstGeom>
          <a:noFill/>
          <a:ln w="9525">
            <a:noFill/>
            <a:miter lim="800000"/>
            <a:headEnd/>
            <a:tailEnd/>
          </a:ln>
        </p:spPr>
      </p:pic>
      <p:sp>
        <p:nvSpPr>
          <p:cNvPr id="21" name="TextBox 20"/>
          <p:cNvSpPr txBox="1"/>
          <p:nvPr/>
        </p:nvSpPr>
        <p:spPr>
          <a:xfrm>
            <a:off x="457200" y="6324600"/>
            <a:ext cx="4953000" cy="369332"/>
          </a:xfrm>
          <a:prstGeom prst="rect">
            <a:avLst/>
          </a:prstGeom>
          <a:noFill/>
        </p:spPr>
        <p:txBody>
          <a:bodyPr wrap="square" rtlCol="0">
            <a:spAutoFit/>
          </a:bodyPr>
          <a:lstStyle/>
          <a:p>
            <a:r>
              <a:rPr lang="en-US" dirty="0" smtClean="0"/>
              <a:t>Train is the optimal sol which take 6 hrs n min cost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4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15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15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Feasible-optimal ?</a:t>
            </a:r>
            <a:endParaRPr lang="en-US" b="1" dirty="0"/>
          </a:p>
        </p:txBody>
      </p:sp>
      <p:sp>
        <p:nvSpPr>
          <p:cNvPr id="3" name="Content Placeholder 2"/>
          <p:cNvSpPr>
            <a:spLocks noGrp="1"/>
          </p:cNvSpPr>
          <p:nvPr>
            <p:ph idx="1"/>
          </p:nvPr>
        </p:nvSpPr>
        <p:spPr>
          <a:xfrm>
            <a:off x="457200" y="1600200"/>
            <a:ext cx="8458200" cy="4525963"/>
          </a:xfrm>
        </p:spPr>
        <p:txBody>
          <a:bodyPr>
            <a:normAutofit fontScale="77500" lnSpcReduction="20000"/>
          </a:bodyPr>
          <a:lstStyle/>
          <a:p>
            <a:r>
              <a:rPr lang="en-US" dirty="0" smtClean="0"/>
              <a:t>If we say that we have to cover the journey at the </a:t>
            </a:r>
            <a:r>
              <a:rPr lang="en-US" b="1" dirty="0" smtClean="0"/>
              <a:t>minimum cost.</a:t>
            </a:r>
          </a:p>
          <a:p>
            <a:r>
              <a:rPr lang="en-US" dirty="0" smtClean="0"/>
              <a:t> This means that we have to travel this distance as minimum as possible, so this problem is known as a minimization problem. </a:t>
            </a:r>
          </a:p>
          <a:p>
            <a:r>
              <a:rPr lang="en-US" dirty="0" smtClean="0"/>
              <a:t>Till now, we have two feasible solutions, i.e., one by train and another one by air.</a:t>
            </a:r>
          </a:p>
          <a:p>
            <a:r>
              <a:rPr lang="en-US" dirty="0" smtClean="0"/>
              <a:t> Since travelling by train will lead to the minimum cost so it is an optimal solution. </a:t>
            </a:r>
          </a:p>
          <a:p>
            <a:r>
              <a:rPr lang="en-US" dirty="0" smtClean="0"/>
              <a:t>An optimal solution is also the feasible solution, but providing the best result so that solution is the optimal solution with the minimum cost. </a:t>
            </a:r>
          </a:p>
          <a:p>
            <a:r>
              <a:rPr lang="en-US" dirty="0" smtClean="0"/>
              <a:t>There would be only one optimal solution.</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General approach</a:t>
            </a:r>
            <a:endParaRPr lang="en-US" b="1" dirty="0"/>
          </a:p>
        </p:txBody>
      </p:sp>
      <p:sp>
        <p:nvSpPr>
          <p:cNvPr id="5" name="Content Placeholder 4"/>
          <p:cNvSpPr>
            <a:spLocks noGrp="1"/>
          </p:cNvSpPr>
          <p:nvPr>
            <p:ph idx="1"/>
          </p:nvPr>
        </p:nvSpPr>
        <p:spPr/>
        <p:txBody>
          <a:bodyPr/>
          <a:lstStyle/>
          <a:p>
            <a:endParaRPr lang="en-US"/>
          </a:p>
        </p:txBody>
      </p:sp>
      <p:pic>
        <p:nvPicPr>
          <p:cNvPr id="7171" name="Picture 3"/>
          <p:cNvPicPr>
            <a:picLocks noChangeAspect="1" noChangeArrowheads="1"/>
          </p:cNvPicPr>
          <p:nvPr/>
        </p:nvPicPr>
        <p:blipFill>
          <a:blip r:embed="rId2" cstate="print"/>
          <a:srcRect/>
          <a:stretch>
            <a:fillRect/>
          </a:stretch>
        </p:blipFill>
        <p:spPr bwMode="auto">
          <a:xfrm>
            <a:off x="304800" y="1295400"/>
            <a:ext cx="8229600" cy="5181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 of Greedy method</a:t>
            </a:r>
            <a:endParaRPr lang="en-US" b="1" dirty="0"/>
          </a:p>
        </p:txBody>
      </p:sp>
      <p:sp>
        <p:nvSpPr>
          <p:cNvPr id="5" name="Content Placeholder 4"/>
          <p:cNvSpPr>
            <a:spLocks noGrp="1"/>
          </p:cNvSpPr>
          <p:nvPr>
            <p:ph idx="1"/>
          </p:nvPr>
        </p:nvSpPr>
        <p:spPr/>
        <p:txBody>
          <a:bodyPr/>
          <a:lstStyle/>
          <a:p>
            <a:endParaRPr lang="en-US"/>
          </a:p>
        </p:txBody>
      </p:sp>
      <p:pic>
        <p:nvPicPr>
          <p:cNvPr id="1027" name="Picture 3"/>
          <p:cNvPicPr>
            <a:picLocks noChangeAspect="1" noChangeArrowheads="1"/>
          </p:cNvPicPr>
          <p:nvPr/>
        </p:nvPicPr>
        <p:blipFill>
          <a:blip r:embed="rId2" cstate="print"/>
          <a:srcRect/>
          <a:stretch>
            <a:fillRect/>
          </a:stretch>
        </p:blipFill>
        <p:spPr bwMode="auto">
          <a:xfrm>
            <a:off x="381000" y="1447800"/>
            <a:ext cx="8458199" cy="502919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fractional knapsack problem using greedy method</a:t>
            </a:r>
            <a:endParaRPr lang="en-US" b="1" dirty="0"/>
          </a:p>
        </p:txBody>
      </p:sp>
      <p:sp>
        <p:nvSpPr>
          <p:cNvPr id="3" name="Content Placeholder 2"/>
          <p:cNvSpPr>
            <a:spLocks noGrp="1"/>
          </p:cNvSpPr>
          <p:nvPr>
            <p:ph idx="1"/>
          </p:nvPr>
        </p:nvSpPr>
        <p:spPr>
          <a:xfrm>
            <a:off x="457200" y="1600200"/>
            <a:ext cx="4800600" cy="4953000"/>
          </a:xfrm>
        </p:spPr>
        <p:style>
          <a:lnRef idx="2">
            <a:schemeClr val="dk1"/>
          </a:lnRef>
          <a:fillRef idx="1">
            <a:schemeClr val="lt1"/>
          </a:fillRef>
          <a:effectRef idx="0">
            <a:schemeClr val="dk1"/>
          </a:effectRef>
          <a:fontRef idx="minor">
            <a:schemeClr val="dk1"/>
          </a:fontRef>
        </p:style>
        <p:txBody>
          <a:bodyPr>
            <a:normAutofit fontScale="77500" lnSpcReduction="20000"/>
          </a:bodyPr>
          <a:lstStyle/>
          <a:p>
            <a:r>
              <a:rPr lang="en-US" b="1" dirty="0" smtClean="0"/>
              <a:t>Problem Statement: </a:t>
            </a:r>
            <a:r>
              <a:rPr lang="en-US" dirty="0" smtClean="0"/>
              <a:t>The weight of </a:t>
            </a:r>
            <a:r>
              <a:rPr lang="en-US" b="1" dirty="0" smtClean="0"/>
              <a:t>N</a:t>
            </a:r>
            <a:r>
              <a:rPr lang="en-US" dirty="0" smtClean="0"/>
              <a:t> items and their corresponding profits are given. </a:t>
            </a:r>
          </a:p>
          <a:p>
            <a:r>
              <a:rPr lang="en-US" dirty="0" smtClean="0"/>
              <a:t>We have to put these items in a knapsack of weight</a:t>
            </a:r>
            <a:r>
              <a:rPr lang="en-US" b="1" dirty="0" smtClean="0"/>
              <a:t> W</a:t>
            </a:r>
            <a:r>
              <a:rPr lang="en-US" dirty="0" smtClean="0"/>
              <a:t> such that the </a:t>
            </a:r>
            <a:r>
              <a:rPr lang="en-US" b="1" dirty="0" smtClean="0"/>
              <a:t>total profit</a:t>
            </a:r>
            <a:r>
              <a:rPr lang="en-US" dirty="0" smtClean="0"/>
              <a:t> obtained is</a:t>
            </a:r>
            <a:r>
              <a:rPr lang="en-US" b="1" dirty="0" smtClean="0"/>
              <a:t> maximized.</a:t>
            </a:r>
          </a:p>
          <a:p>
            <a:r>
              <a:rPr lang="en-US" dirty="0" smtClean="0"/>
              <a:t>Fill in the knapsack with a subset of items such that the </a:t>
            </a:r>
            <a:r>
              <a:rPr lang="en-US" b="1" dirty="0" smtClean="0"/>
              <a:t>selected weight is less than or equal to the capacity of the knapsack</a:t>
            </a:r>
            <a:r>
              <a:rPr lang="en-US" dirty="0" smtClean="0"/>
              <a:t> and the profit of items is maximum.</a:t>
            </a:r>
          </a:p>
          <a:p>
            <a:r>
              <a:rPr lang="en-US" dirty="0" smtClean="0"/>
              <a:t>we can take </a:t>
            </a:r>
            <a:r>
              <a:rPr lang="en-US" b="1" dirty="0" smtClean="0"/>
              <a:t>fractions of items</a:t>
            </a:r>
            <a:r>
              <a:rPr lang="en-US" dirty="0" smtClean="0"/>
              <a:t>.</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5334000" y="1676400"/>
            <a:ext cx="3419475" cy="4419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fractional knapsack problem using greedy method</a:t>
            </a:r>
            <a:endParaRPr lang="en-US" b="1" dirty="0"/>
          </a:p>
        </p:txBody>
      </p:sp>
      <p:sp>
        <p:nvSpPr>
          <p:cNvPr id="3" name="Content Placeholder 2"/>
          <p:cNvSpPr>
            <a:spLocks noGrp="1"/>
          </p:cNvSpPr>
          <p:nvPr>
            <p:ph idx="1"/>
          </p:nvPr>
        </p:nvSpPr>
        <p:spPr/>
        <p:txBody>
          <a:bodyPr>
            <a:normAutofit fontScale="92500" lnSpcReduction="20000"/>
          </a:bodyPr>
          <a:lstStyle/>
          <a:p>
            <a:r>
              <a:rPr lang="en-US" b="1" dirty="0" smtClean="0"/>
              <a:t>There are basically three approaches to solve the problem:</a:t>
            </a:r>
            <a:endParaRPr lang="en-US" dirty="0" smtClean="0"/>
          </a:p>
          <a:p>
            <a:r>
              <a:rPr lang="en-US" dirty="0" smtClean="0"/>
              <a:t>The first approach is to select the item based on the maximum profit.</a:t>
            </a:r>
          </a:p>
          <a:p>
            <a:r>
              <a:rPr lang="en-US" dirty="0" smtClean="0"/>
              <a:t>The second approach is to select the item based on the minimum weight.</a:t>
            </a:r>
          </a:p>
          <a:p>
            <a:r>
              <a:rPr lang="en-US" dirty="0" smtClean="0"/>
              <a:t>The third approach is to calculate the ratio of profit/weight.</a:t>
            </a:r>
          </a:p>
          <a:p>
            <a:r>
              <a:rPr lang="en-US" dirty="0" smtClean="0"/>
              <a:t>Among these we have to choose optimal one </a:t>
            </a:r>
            <a:r>
              <a:rPr lang="en-US" dirty="0" err="1" smtClean="0"/>
              <a:t>i.e</a:t>
            </a:r>
            <a:r>
              <a:rPr lang="en-US" dirty="0" smtClean="0"/>
              <a:t> last one.</a:t>
            </a:r>
          </a:p>
          <a:p>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rmAutofit fontScale="90000"/>
          </a:bodyPr>
          <a:lstStyle/>
          <a:p>
            <a:r>
              <a:rPr lang="en-US" dirty="0" smtClean="0"/>
              <a:t>Example </a:t>
            </a:r>
            <a:endParaRPr lang="en-US" dirty="0"/>
          </a:p>
        </p:txBody>
      </p:sp>
      <p:graphicFrame>
        <p:nvGraphicFramePr>
          <p:cNvPr id="7" name="Table 6"/>
          <p:cNvGraphicFramePr>
            <a:graphicFrameLocks noGrp="1"/>
          </p:cNvGraphicFramePr>
          <p:nvPr/>
        </p:nvGraphicFramePr>
        <p:xfrm>
          <a:off x="457200" y="762000"/>
          <a:ext cx="6096000" cy="1755207"/>
        </p:xfrm>
        <a:graphic>
          <a:graphicData uri="http://schemas.openxmlformats.org/drawingml/2006/table">
            <a:tbl>
              <a:tblPr firstRow="1" bandRow="1">
                <a:tableStyleId>{5C22544A-7EE6-4342-B048-85BDC9FD1C3A}</a:tableStyleId>
              </a:tblPr>
              <a:tblGrid>
                <a:gridCol w="1524000"/>
                <a:gridCol w="1524000"/>
                <a:gridCol w="1524000"/>
                <a:gridCol w="1524000"/>
              </a:tblGrid>
              <a:tr h="392029">
                <a:tc>
                  <a:txBody>
                    <a:bodyPr/>
                    <a:lstStyle/>
                    <a:p>
                      <a:r>
                        <a:rPr lang="en-US" sz="1800" dirty="0" smtClean="0"/>
                        <a:t>Object</a:t>
                      </a:r>
                      <a:endParaRPr lang="en-US" sz="1800" dirty="0"/>
                    </a:p>
                  </a:txBody>
                  <a:tcPr/>
                </a:tc>
                <a:tc>
                  <a:txBody>
                    <a:bodyPr/>
                    <a:lstStyle/>
                    <a:p>
                      <a:r>
                        <a:rPr lang="en-US" sz="1800" dirty="0" smtClean="0"/>
                        <a:t>1</a:t>
                      </a:r>
                      <a:endParaRPr lang="en-US" sz="1800" dirty="0"/>
                    </a:p>
                  </a:txBody>
                  <a:tcPr/>
                </a:tc>
                <a:tc>
                  <a:txBody>
                    <a:bodyPr/>
                    <a:lstStyle/>
                    <a:p>
                      <a:r>
                        <a:rPr lang="en-US" sz="1800" dirty="0" smtClean="0"/>
                        <a:t>2</a:t>
                      </a:r>
                      <a:endParaRPr lang="en-US" sz="1800" dirty="0"/>
                    </a:p>
                  </a:txBody>
                  <a:tcPr/>
                </a:tc>
                <a:tc>
                  <a:txBody>
                    <a:bodyPr/>
                    <a:lstStyle/>
                    <a:p>
                      <a:r>
                        <a:rPr lang="en-US" sz="1800" dirty="0" smtClean="0"/>
                        <a:t>3</a:t>
                      </a:r>
                      <a:endParaRPr lang="en-US" sz="1800" dirty="0"/>
                    </a:p>
                  </a:txBody>
                  <a:tcPr/>
                </a:tc>
              </a:tr>
              <a:tr h="392029">
                <a:tc>
                  <a:txBody>
                    <a:bodyPr/>
                    <a:lstStyle/>
                    <a:p>
                      <a:r>
                        <a:rPr lang="en-US" sz="1800" dirty="0" smtClean="0"/>
                        <a:t>Profit</a:t>
                      </a:r>
                      <a:endParaRPr lang="en-US" sz="1800" dirty="0"/>
                    </a:p>
                  </a:txBody>
                  <a:tcPr/>
                </a:tc>
                <a:tc>
                  <a:txBody>
                    <a:bodyPr/>
                    <a:lstStyle/>
                    <a:p>
                      <a:r>
                        <a:rPr lang="en-US" sz="1800" dirty="0" smtClean="0"/>
                        <a:t>25</a:t>
                      </a:r>
                      <a:endParaRPr lang="en-US" sz="1800" dirty="0"/>
                    </a:p>
                  </a:txBody>
                  <a:tcPr/>
                </a:tc>
                <a:tc>
                  <a:txBody>
                    <a:bodyPr/>
                    <a:lstStyle/>
                    <a:p>
                      <a:r>
                        <a:rPr lang="en-US" sz="1800" dirty="0" smtClean="0"/>
                        <a:t>24</a:t>
                      </a:r>
                      <a:endParaRPr lang="en-US" sz="1800" dirty="0"/>
                    </a:p>
                  </a:txBody>
                  <a:tcPr/>
                </a:tc>
                <a:tc>
                  <a:txBody>
                    <a:bodyPr/>
                    <a:lstStyle/>
                    <a:p>
                      <a:r>
                        <a:rPr lang="en-US" sz="1800" dirty="0" smtClean="0"/>
                        <a:t>15</a:t>
                      </a:r>
                      <a:endParaRPr lang="en-US" sz="1800" dirty="0"/>
                    </a:p>
                  </a:txBody>
                  <a:tcPr/>
                </a:tc>
              </a:tr>
              <a:tr h="392029">
                <a:tc>
                  <a:txBody>
                    <a:bodyPr/>
                    <a:lstStyle/>
                    <a:p>
                      <a:r>
                        <a:rPr lang="en-US" sz="1800" dirty="0" smtClean="0"/>
                        <a:t>Weight</a:t>
                      </a:r>
                      <a:endParaRPr lang="en-US" sz="1800" dirty="0"/>
                    </a:p>
                  </a:txBody>
                  <a:tcPr/>
                </a:tc>
                <a:tc>
                  <a:txBody>
                    <a:bodyPr/>
                    <a:lstStyle/>
                    <a:p>
                      <a:r>
                        <a:rPr lang="en-US" sz="1800" dirty="0" smtClean="0"/>
                        <a:t>18</a:t>
                      </a:r>
                      <a:endParaRPr lang="en-US" sz="1800" dirty="0"/>
                    </a:p>
                  </a:txBody>
                  <a:tcPr/>
                </a:tc>
                <a:tc>
                  <a:txBody>
                    <a:bodyPr/>
                    <a:lstStyle/>
                    <a:p>
                      <a:r>
                        <a:rPr lang="en-US" sz="1800" dirty="0" smtClean="0"/>
                        <a:t>15</a:t>
                      </a:r>
                      <a:endParaRPr lang="en-US" sz="1800" dirty="0"/>
                    </a:p>
                  </a:txBody>
                  <a:tcPr/>
                </a:tc>
                <a:tc>
                  <a:txBody>
                    <a:bodyPr/>
                    <a:lstStyle/>
                    <a:p>
                      <a:r>
                        <a:rPr lang="en-US" sz="1800" dirty="0" smtClean="0"/>
                        <a:t>10</a:t>
                      </a:r>
                      <a:endParaRPr lang="en-US" sz="1800" dirty="0"/>
                    </a:p>
                  </a:txBody>
                  <a:tcPr/>
                </a:tc>
              </a:tr>
              <a:tr h="576513">
                <a:tc gridSpan="4">
                  <a:txBody>
                    <a:bodyPr/>
                    <a:lstStyle/>
                    <a:p>
                      <a:r>
                        <a:rPr lang="en-US" sz="3200" dirty="0" smtClean="0"/>
                        <a:t>M=20  maximum</a:t>
                      </a:r>
                      <a:r>
                        <a:rPr lang="en-US" sz="3200" baseline="0" dirty="0" smtClean="0"/>
                        <a:t> weight </a:t>
                      </a:r>
                      <a:endParaRPr lang="en-US" sz="3200"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r>
            </a:tbl>
          </a:graphicData>
        </a:graphic>
      </p:graphicFrame>
      <p:sp>
        <p:nvSpPr>
          <p:cNvPr id="8" name="Content Placeholder 7"/>
          <p:cNvSpPr>
            <a:spLocks noGrp="1"/>
          </p:cNvSpPr>
          <p:nvPr>
            <p:ph idx="1"/>
          </p:nvPr>
        </p:nvSpPr>
        <p:spPr>
          <a:xfrm>
            <a:off x="457200" y="2667000"/>
            <a:ext cx="8229600" cy="3733800"/>
          </a:xfrm>
        </p:spPr>
        <p:txBody>
          <a:bodyPr>
            <a:normAutofit fontScale="85000" lnSpcReduction="20000"/>
          </a:bodyPr>
          <a:lstStyle/>
          <a:p>
            <a:r>
              <a:rPr lang="en-US" dirty="0" smtClean="0"/>
              <a:t>1. We will greedy about profit ,so we choose that object which gives max profit</a:t>
            </a:r>
          </a:p>
          <a:p>
            <a:endParaRPr lang="en-US" dirty="0" smtClean="0"/>
          </a:p>
          <a:p>
            <a:endParaRPr lang="en-US" dirty="0" smtClean="0"/>
          </a:p>
          <a:p>
            <a:endParaRPr lang="en-US" dirty="0" smtClean="0"/>
          </a:p>
          <a:p>
            <a:endParaRPr lang="en-US" dirty="0" smtClean="0"/>
          </a:p>
          <a:p>
            <a:endParaRPr lang="en-US" dirty="0" smtClean="0"/>
          </a:p>
          <a:p>
            <a:r>
              <a:rPr lang="en-US" dirty="0" smtClean="0"/>
              <a:t> Here fraction Xi = remaining bag </a:t>
            </a:r>
          </a:p>
          <a:p>
            <a:pPr>
              <a:buNone/>
            </a:pPr>
            <a:r>
              <a:rPr lang="en-US" dirty="0" smtClean="0"/>
              <a:t>capacity/total weight  :--2/15</a:t>
            </a:r>
            <a:endParaRPr lang="en-US" dirty="0"/>
          </a:p>
        </p:txBody>
      </p:sp>
      <p:graphicFrame>
        <p:nvGraphicFramePr>
          <p:cNvPr id="9" name="Table 8"/>
          <p:cNvGraphicFramePr>
            <a:graphicFrameLocks noGrp="1"/>
          </p:cNvGraphicFramePr>
          <p:nvPr/>
        </p:nvGraphicFramePr>
        <p:xfrm>
          <a:off x="533400" y="3505200"/>
          <a:ext cx="4876800" cy="1569720"/>
        </p:xfrm>
        <a:graphic>
          <a:graphicData uri="http://schemas.openxmlformats.org/drawingml/2006/table">
            <a:tbl>
              <a:tblPr firstRow="1" bandRow="1">
                <a:tableStyleId>{5C22544A-7EE6-4342-B048-85BDC9FD1C3A}</a:tableStyleId>
              </a:tblPr>
              <a:tblGrid>
                <a:gridCol w="1219200"/>
                <a:gridCol w="1219200"/>
                <a:gridCol w="1219200"/>
                <a:gridCol w="1219200"/>
              </a:tblGrid>
              <a:tr h="370840">
                <a:tc>
                  <a:txBody>
                    <a:bodyPr/>
                    <a:lstStyle/>
                    <a:p>
                      <a:r>
                        <a:rPr lang="en-US" sz="1800" dirty="0" smtClean="0"/>
                        <a:t>Object</a:t>
                      </a:r>
                      <a:endParaRPr lang="en-US" sz="1800" dirty="0"/>
                    </a:p>
                  </a:txBody>
                  <a:tcPr/>
                </a:tc>
                <a:tc>
                  <a:txBody>
                    <a:bodyPr/>
                    <a:lstStyle/>
                    <a:p>
                      <a:r>
                        <a:rPr lang="en-US" sz="1800" dirty="0" smtClean="0"/>
                        <a:t>1</a:t>
                      </a:r>
                      <a:endParaRPr lang="en-US" sz="1800" dirty="0"/>
                    </a:p>
                  </a:txBody>
                  <a:tcPr/>
                </a:tc>
                <a:tc>
                  <a:txBody>
                    <a:bodyPr/>
                    <a:lstStyle/>
                    <a:p>
                      <a:r>
                        <a:rPr lang="en-US" sz="1800" dirty="0" smtClean="0"/>
                        <a:t>2</a:t>
                      </a:r>
                      <a:endParaRPr lang="en-US" sz="1800" dirty="0"/>
                    </a:p>
                  </a:txBody>
                  <a:tcPr/>
                </a:tc>
                <a:tc>
                  <a:txBody>
                    <a:bodyPr/>
                    <a:lstStyle/>
                    <a:p>
                      <a:r>
                        <a:rPr lang="en-US" sz="1800" dirty="0" smtClean="0"/>
                        <a:t>3</a:t>
                      </a:r>
                      <a:endParaRPr lang="en-US" sz="1800" dirty="0"/>
                    </a:p>
                  </a:txBody>
                  <a:tcPr/>
                </a:tc>
              </a:tr>
              <a:tr h="370840">
                <a:tc>
                  <a:txBody>
                    <a:bodyPr/>
                    <a:lstStyle/>
                    <a:p>
                      <a:r>
                        <a:rPr lang="en-US" sz="1800" dirty="0" smtClean="0"/>
                        <a:t>Profit</a:t>
                      </a:r>
                      <a:endParaRPr lang="en-US" sz="1800" dirty="0"/>
                    </a:p>
                  </a:txBody>
                  <a:tcPr/>
                </a:tc>
                <a:tc>
                  <a:txBody>
                    <a:bodyPr/>
                    <a:lstStyle/>
                    <a:p>
                      <a:r>
                        <a:rPr lang="en-US" sz="1800" dirty="0" smtClean="0"/>
                        <a:t>25</a:t>
                      </a:r>
                      <a:endParaRPr lang="en-US" sz="1800" dirty="0"/>
                    </a:p>
                  </a:txBody>
                  <a:tcPr/>
                </a:tc>
                <a:tc>
                  <a:txBody>
                    <a:bodyPr/>
                    <a:lstStyle/>
                    <a:p>
                      <a:r>
                        <a:rPr lang="en-US" sz="1800" dirty="0" smtClean="0"/>
                        <a:t>24</a:t>
                      </a:r>
                      <a:endParaRPr lang="en-US" sz="1800" dirty="0"/>
                    </a:p>
                  </a:txBody>
                  <a:tcPr/>
                </a:tc>
                <a:tc>
                  <a:txBody>
                    <a:bodyPr/>
                    <a:lstStyle/>
                    <a:p>
                      <a:r>
                        <a:rPr lang="en-US" sz="1800" dirty="0" smtClean="0"/>
                        <a:t>15</a:t>
                      </a:r>
                      <a:endParaRPr lang="en-US" sz="1800" dirty="0"/>
                    </a:p>
                  </a:txBody>
                  <a:tcPr/>
                </a:tc>
              </a:tr>
              <a:tr h="370840">
                <a:tc>
                  <a:txBody>
                    <a:bodyPr/>
                    <a:lstStyle/>
                    <a:p>
                      <a:r>
                        <a:rPr lang="en-US" sz="1800" dirty="0" smtClean="0"/>
                        <a:t>Weight</a:t>
                      </a:r>
                      <a:endParaRPr lang="en-US" sz="1800" dirty="0"/>
                    </a:p>
                  </a:txBody>
                  <a:tcPr/>
                </a:tc>
                <a:tc>
                  <a:txBody>
                    <a:bodyPr/>
                    <a:lstStyle/>
                    <a:p>
                      <a:r>
                        <a:rPr lang="en-US" sz="1800" dirty="0" smtClean="0"/>
                        <a:t>18</a:t>
                      </a:r>
                      <a:endParaRPr lang="en-US" sz="1800" dirty="0"/>
                    </a:p>
                  </a:txBody>
                  <a:tcPr/>
                </a:tc>
                <a:tc>
                  <a:txBody>
                    <a:bodyPr/>
                    <a:lstStyle/>
                    <a:p>
                      <a:r>
                        <a:rPr lang="en-US" sz="1800" dirty="0" smtClean="0"/>
                        <a:t>15</a:t>
                      </a:r>
                      <a:endParaRPr lang="en-US" sz="1800" dirty="0"/>
                    </a:p>
                  </a:txBody>
                  <a:tcPr/>
                </a:tc>
                <a:tc>
                  <a:txBody>
                    <a:bodyPr/>
                    <a:lstStyle/>
                    <a:p>
                      <a:r>
                        <a:rPr lang="en-US" sz="1800" dirty="0" smtClean="0"/>
                        <a:t>10</a:t>
                      </a:r>
                      <a:endParaRPr lang="en-US" sz="1800" dirty="0"/>
                    </a:p>
                  </a:txBody>
                  <a:tcPr/>
                </a:tc>
              </a:tr>
              <a:tr h="370840">
                <a:tc>
                  <a:txBody>
                    <a:bodyPr/>
                    <a:lstStyle/>
                    <a:p>
                      <a:r>
                        <a:rPr lang="en-US" sz="2400" b="1" dirty="0" smtClean="0"/>
                        <a:t>   Xi</a:t>
                      </a:r>
                      <a:endParaRPr lang="en-US" sz="2400" b="1" dirty="0"/>
                    </a:p>
                  </a:txBody>
                  <a:tcPr/>
                </a:tc>
                <a:tc>
                  <a:txBody>
                    <a:bodyPr/>
                    <a:lstStyle/>
                    <a:p>
                      <a:r>
                        <a:rPr lang="en-US" sz="2400" b="1" dirty="0" smtClean="0"/>
                        <a:t> 1</a:t>
                      </a:r>
                      <a:endParaRPr lang="en-US" sz="2400" b="1" dirty="0"/>
                    </a:p>
                  </a:txBody>
                  <a:tcPr/>
                </a:tc>
                <a:tc>
                  <a:txBody>
                    <a:bodyPr/>
                    <a:lstStyle/>
                    <a:p>
                      <a:r>
                        <a:rPr lang="en-US" sz="2400" b="1" dirty="0" smtClean="0"/>
                        <a:t>2/15</a:t>
                      </a:r>
                      <a:endParaRPr lang="en-US" sz="2400" b="1" dirty="0"/>
                    </a:p>
                  </a:txBody>
                  <a:tcPr/>
                </a:tc>
                <a:tc>
                  <a:txBody>
                    <a:bodyPr/>
                    <a:lstStyle/>
                    <a:p>
                      <a:r>
                        <a:rPr lang="en-US" sz="2400" b="1" dirty="0" smtClean="0"/>
                        <a:t>0</a:t>
                      </a:r>
                      <a:endParaRPr lang="en-US" sz="2400" b="1" dirty="0"/>
                    </a:p>
                  </a:txBody>
                  <a:tcPr/>
                </a:tc>
              </a:tr>
            </a:tbl>
          </a:graphicData>
        </a:graphic>
      </p:graphicFrame>
      <p:sp>
        <p:nvSpPr>
          <p:cNvPr id="10" name="Flowchart: Magnetic Disk 9"/>
          <p:cNvSpPr/>
          <p:nvPr/>
        </p:nvSpPr>
        <p:spPr>
          <a:xfrm>
            <a:off x="5867400" y="3886200"/>
            <a:ext cx="2057400" cy="2286000"/>
          </a:xfrm>
          <a:prstGeom prst="flowChartMagneticDisk">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Rectangle 10"/>
          <p:cNvSpPr/>
          <p:nvPr/>
        </p:nvSpPr>
        <p:spPr>
          <a:xfrm>
            <a:off x="5943600" y="5257800"/>
            <a:ext cx="1869423" cy="584775"/>
          </a:xfrm>
          <a:prstGeom prst="rect">
            <a:avLst/>
          </a:prstGeom>
        </p:spPr>
        <p:txBody>
          <a:bodyPr wrap="none">
            <a:spAutoFit/>
          </a:bodyPr>
          <a:lstStyle/>
          <a:p>
            <a:r>
              <a:rPr lang="en-US" sz="3200" dirty="0" smtClean="0"/>
              <a:t>18   (obj1)</a:t>
            </a:r>
            <a:endParaRPr lang="en-US" sz="3200" dirty="0"/>
          </a:p>
        </p:txBody>
      </p:sp>
      <p:sp>
        <p:nvSpPr>
          <p:cNvPr id="14" name="Rectangle 13"/>
          <p:cNvSpPr/>
          <p:nvPr/>
        </p:nvSpPr>
        <p:spPr>
          <a:xfrm>
            <a:off x="5943600" y="4505980"/>
            <a:ext cx="2057400" cy="523220"/>
          </a:xfrm>
          <a:prstGeom prst="rect">
            <a:avLst/>
          </a:prstGeom>
        </p:spPr>
        <p:txBody>
          <a:bodyPr wrap="square">
            <a:spAutoFit/>
          </a:bodyPr>
          <a:lstStyle/>
          <a:p>
            <a:r>
              <a:rPr lang="en-US" sz="2800" dirty="0" smtClean="0"/>
              <a:t>2/15   (obj2)</a:t>
            </a:r>
            <a:endParaRPr lang="en-US" sz="2800" dirty="0"/>
          </a:p>
        </p:txBody>
      </p:sp>
      <p:sp>
        <p:nvSpPr>
          <p:cNvPr id="17" name="Right Brace 16"/>
          <p:cNvSpPr/>
          <p:nvPr/>
        </p:nvSpPr>
        <p:spPr>
          <a:xfrm>
            <a:off x="8237753" y="4267200"/>
            <a:ext cx="304800" cy="16002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Rectangle 17"/>
          <p:cNvSpPr/>
          <p:nvPr/>
        </p:nvSpPr>
        <p:spPr>
          <a:xfrm>
            <a:off x="8542553" y="4800600"/>
            <a:ext cx="601447" cy="584775"/>
          </a:xfrm>
          <a:prstGeom prst="rect">
            <a:avLst/>
          </a:prstGeom>
        </p:spPr>
        <p:txBody>
          <a:bodyPr wrap="none">
            <a:spAutoFit/>
          </a:bodyPr>
          <a:lstStyle/>
          <a:p>
            <a:r>
              <a:rPr lang="en-US" sz="3200" dirty="0" smtClean="0"/>
              <a:t>20</a:t>
            </a:r>
            <a:endParaRPr lang="en-US" sz="3200" dirty="0"/>
          </a:p>
        </p:txBody>
      </p:sp>
      <p:cxnSp>
        <p:nvCxnSpPr>
          <p:cNvPr id="13" name="Straight Connector 12"/>
          <p:cNvCxnSpPr>
            <a:stCxn id="10" idx="2"/>
            <a:endCxn id="10" idx="4"/>
          </p:cNvCxnSpPr>
          <p:nvPr/>
        </p:nvCxnSpPr>
        <p:spPr>
          <a:xfrm>
            <a:off x="5867400" y="5029200"/>
            <a:ext cx="2057400" cy="0"/>
          </a:xfrm>
          <a:prstGeom prst="line">
            <a:avLst/>
          </a:prstGeom>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7848600" y="5410200"/>
            <a:ext cx="548548" cy="461665"/>
          </a:xfrm>
          <a:prstGeom prst="rect">
            <a:avLst/>
          </a:prstGeom>
        </p:spPr>
        <p:txBody>
          <a:bodyPr wrap="none">
            <a:spAutoFit/>
          </a:bodyPr>
          <a:lstStyle/>
          <a:p>
            <a:r>
              <a:rPr lang="en-US" sz="2400" dirty="0" smtClean="0"/>
              <a:t>18</a:t>
            </a:r>
            <a:r>
              <a:rPr lang="en-US" dirty="0" smtClean="0"/>
              <a:t> </a:t>
            </a:r>
            <a:endParaRPr lang="en-US" dirty="0"/>
          </a:p>
        </p:txBody>
      </p:sp>
      <p:sp>
        <p:nvSpPr>
          <p:cNvPr id="24" name="Rectangle 23"/>
          <p:cNvSpPr/>
          <p:nvPr/>
        </p:nvSpPr>
        <p:spPr>
          <a:xfrm>
            <a:off x="8001000" y="4572000"/>
            <a:ext cx="340158" cy="461665"/>
          </a:xfrm>
          <a:prstGeom prst="rect">
            <a:avLst/>
          </a:prstGeom>
        </p:spPr>
        <p:txBody>
          <a:bodyPr wrap="none">
            <a:spAutoFit/>
          </a:bodyPr>
          <a:lstStyle/>
          <a:p>
            <a:r>
              <a:rPr lang="en-US" sz="2400" b="1" dirty="0" smtClean="0"/>
              <a:t>2</a:t>
            </a:r>
            <a:endParaRPr lang="en-US" sz="2400" dirty="0"/>
          </a:p>
        </p:txBody>
      </p:sp>
      <p:sp>
        <p:nvSpPr>
          <p:cNvPr id="25" name="Rectangle 24"/>
          <p:cNvSpPr/>
          <p:nvPr/>
        </p:nvSpPr>
        <p:spPr>
          <a:xfrm>
            <a:off x="6553200" y="4038600"/>
            <a:ext cx="732508" cy="461665"/>
          </a:xfrm>
          <a:prstGeom prst="rect">
            <a:avLst/>
          </a:prstGeom>
        </p:spPr>
        <p:txBody>
          <a:bodyPr wrap="none">
            <a:spAutoFit/>
          </a:bodyPr>
          <a:lstStyle/>
          <a:p>
            <a:r>
              <a:rPr lang="en-US" sz="2400" b="1" dirty="0" smtClean="0">
                <a:solidFill>
                  <a:srgbClr val="FF0000"/>
                </a:solidFill>
              </a:rPr>
              <a:t>BAG</a:t>
            </a:r>
            <a:endParaRPr lang="en-US" sz="24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4" grpId="0"/>
      <p:bldP spid="17" grpId="0" animBg="1"/>
      <p:bldP spid="18" grpId="0"/>
      <p:bldP spid="23" grpId="0"/>
      <p:bldP spid="24" grpId="0"/>
      <p:bldP spid="2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r>
              <a:rPr lang="en-US" dirty="0" smtClean="0"/>
              <a:t>Calculate profit   = ∑ Xi*profit</a:t>
            </a:r>
          </a:p>
          <a:p>
            <a:r>
              <a:rPr lang="en-US" dirty="0" smtClean="0"/>
              <a:t> = 1*25 + (2/15)*24 + 0*15</a:t>
            </a:r>
          </a:p>
          <a:p>
            <a:r>
              <a:rPr lang="en-US" dirty="0" smtClean="0"/>
              <a:t>= 25 +  48/15 = 25+3.2=</a:t>
            </a:r>
            <a:r>
              <a:rPr lang="en-US" b="1" dirty="0" smtClean="0"/>
              <a:t>28.2</a:t>
            </a:r>
          </a:p>
          <a:p>
            <a:pPr>
              <a:buNone/>
            </a:pPr>
            <a:r>
              <a:rPr lang="en-US" dirty="0" smtClean="0"/>
              <a:t> </a:t>
            </a:r>
          </a:p>
          <a:p>
            <a:r>
              <a:rPr lang="en-US" dirty="0" smtClean="0"/>
              <a:t>2) we will greedy about min weight</a:t>
            </a:r>
            <a:endParaRPr lang="en-US" dirty="0"/>
          </a:p>
        </p:txBody>
      </p:sp>
      <p:sp>
        <p:nvSpPr>
          <p:cNvPr id="4" name="Flowchart: Magnetic Disk 3"/>
          <p:cNvSpPr/>
          <p:nvPr/>
        </p:nvSpPr>
        <p:spPr>
          <a:xfrm>
            <a:off x="152400" y="3886200"/>
            <a:ext cx="2438400" cy="2362200"/>
          </a:xfrm>
          <a:prstGeom prst="flowChartMagneticDisk">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aphicFrame>
        <p:nvGraphicFramePr>
          <p:cNvPr id="5" name="Table 4"/>
          <p:cNvGraphicFramePr>
            <a:graphicFrameLocks noGrp="1"/>
          </p:cNvGraphicFramePr>
          <p:nvPr/>
        </p:nvGraphicFramePr>
        <p:xfrm>
          <a:off x="5943600" y="533400"/>
          <a:ext cx="2971800" cy="1569720"/>
        </p:xfrm>
        <a:graphic>
          <a:graphicData uri="http://schemas.openxmlformats.org/drawingml/2006/table">
            <a:tbl>
              <a:tblPr firstRow="1" bandRow="1">
                <a:tableStyleId>{5C22544A-7EE6-4342-B048-85BDC9FD1C3A}</a:tableStyleId>
              </a:tblPr>
              <a:tblGrid>
                <a:gridCol w="990600"/>
                <a:gridCol w="495300"/>
                <a:gridCol w="952500"/>
                <a:gridCol w="533400"/>
              </a:tblGrid>
              <a:tr h="370840">
                <a:tc>
                  <a:txBody>
                    <a:bodyPr/>
                    <a:lstStyle/>
                    <a:p>
                      <a:r>
                        <a:rPr lang="en-US" sz="1800" dirty="0" smtClean="0"/>
                        <a:t>Object</a:t>
                      </a:r>
                      <a:endParaRPr lang="en-US" sz="1800" dirty="0"/>
                    </a:p>
                  </a:txBody>
                  <a:tcPr/>
                </a:tc>
                <a:tc>
                  <a:txBody>
                    <a:bodyPr/>
                    <a:lstStyle/>
                    <a:p>
                      <a:r>
                        <a:rPr lang="en-US" sz="1800" dirty="0" smtClean="0"/>
                        <a:t>1</a:t>
                      </a:r>
                      <a:endParaRPr lang="en-US" sz="1800" dirty="0"/>
                    </a:p>
                  </a:txBody>
                  <a:tcPr/>
                </a:tc>
                <a:tc>
                  <a:txBody>
                    <a:bodyPr/>
                    <a:lstStyle/>
                    <a:p>
                      <a:r>
                        <a:rPr lang="en-US" sz="1800" dirty="0" smtClean="0"/>
                        <a:t>2</a:t>
                      </a:r>
                      <a:endParaRPr lang="en-US" sz="1800" dirty="0"/>
                    </a:p>
                  </a:txBody>
                  <a:tcPr/>
                </a:tc>
                <a:tc>
                  <a:txBody>
                    <a:bodyPr/>
                    <a:lstStyle/>
                    <a:p>
                      <a:r>
                        <a:rPr lang="en-US" sz="1800" dirty="0" smtClean="0"/>
                        <a:t>3</a:t>
                      </a:r>
                      <a:endParaRPr lang="en-US" sz="1800" dirty="0"/>
                    </a:p>
                  </a:txBody>
                  <a:tcPr/>
                </a:tc>
              </a:tr>
              <a:tr h="370840">
                <a:tc>
                  <a:txBody>
                    <a:bodyPr/>
                    <a:lstStyle/>
                    <a:p>
                      <a:r>
                        <a:rPr lang="en-US" sz="1800" dirty="0" smtClean="0"/>
                        <a:t>Profit</a:t>
                      </a:r>
                      <a:endParaRPr lang="en-US" sz="1800" dirty="0"/>
                    </a:p>
                  </a:txBody>
                  <a:tcPr/>
                </a:tc>
                <a:tc>
                  <a:txBody>
                    <a:bodyPr/>
                    <a:lstStyle/>
                    <a:p>
                      <a:r>
                        <a:rPr lang="en-US" sz="1800" dirty="0" smtClean="0"/>
                        <a:t>25</a:t>
                      </a:r>
                      <a:endParaRPr lang="en-US" sz="1800" dirty="0"/>
                    </a:p>
                  </a:txBody>
                  <a:tcPr/>
                </a:tc>
                <a:tc>
                  <a:txBody>
                    <a:bodyPr/>
                    <a:lstStyle/>
                    <a:p>
                      <a:r>
                        <a:rPr lang="en-US" sz="1800" dirty="0" smtClean="0"/>
                        <a:t>24</a:t>
                      </a:r>
                      <a:endParaRPr lang="en-US" sz="1800" dirty="0"/>
                    </a:p>
                  </a:txBody>
                  <a:tcPr/>
                </a:tc>
                <a:tc>
                  <a:txBody>
                    <a:bodyPr/>
                    <a:lstStyle/>
                    <a:p>
                      <a:r>
                        <a:rPr lang="en-US" sz="1800" dirty="0" smtClean="0"/>
                        <a:t>15</a:t>
                      </a:r>
                      <a:endParaRPr lang="en-US" sz="1800" dirty="0"/>
                    </a:p>
                  </a:txBody>
                  <a:tcPr/>
                </a:tc>
              </a:tr>
              <a:tr h="370840">
                <a:tc>
                  <a:txBody>
                    <a:bodyPr/>
                    <a:lstStyle/>
                    <a:p>
                      <a:r>
                        <a:rPr lang="en-US" sz="1800" dirty="0" smtClean="0"/>
                        <a:t>Weight</a:t>
                      </a:r>
                      <a:endParaRPr lang="en-US" sz="1800" dirty="0"/>
                    </a:p>
                  </a:txBody>
                  <a:tcPr/>
                </a:tc>
                <a:tc>
                  <a:txBody>
                    <a:bodyPr/>
                    <a:lstStyle/>
                    <a:p>
                      <a:r>
                        <a:rPr lang="en-US" sz="1800" dirty="0" smtClean="0"/>
                        <a:t>18</a:t>
                      </a:r>
                      <a:endParaRPr lang="en-US" sz="1800" dirty="0"/>
                    </a:p>
                  </a:txBody>
                  <a:tcPr/>
                </a:tc>
                <a:tc>
                  <a:txBody>
                    <a:bodyPr/>
                    <a:lstStyle/>
                    <a:p>
                      <a:r>
                        <a:rPr lang="en-US" sz="1800" dirty="0" smtClean="0"/>
                        <a:t>15</a:t>
                      </a:r>
                      <a:endParaRPr lang="en-US" sz="1800" dirty="0"/>
                    </a:p>
                  </a:txBody>
                  <a:tcPr/>
                </a:tc>
                <a:tc>
                  <a:txBody>
                    <a:bodyPr/>
                    <a:lstStyle/>
                    <a:p>
                      <a:r>
                        <a:rPr lang="en-US" sz="1800" dirty="0" smtClean="0"/>
                        <a:t>10</a:t>
                      </a:r>
                      <a:endParaRPr lang="en-US" sz="1800" dirty="0"/>
                    </a:p>
                  </a:txBody>
                  <a:tcPr/>
                </a:tc>
              </a:tr>
              <a:tr h="370840">
                <a:tc>
                  <a:txBody>
                    <a:bodyPr/>
                    <a:lstStyle/>
                    <a:p>
                      <a:r>
                        <a:rPr lang="en-US" sz="2400" b="1" dirty="0" smtClean="0"/>
                        <a:t>   Xi</a:t>
                      </a:r>
                      <a:endParaRPr lang="en-US" sz="2400" b="1" dirty="0"/>
                    </a:p>
                  </a:txBody>
                  <a:tcPr/>
                </a:tc>
                <a:tc>
                  <a:txBody>
                    <a:bodyPr/>
                    <a:lstStyle/>
                    <a:p>
                      <a:r>
                        <a:rPr lang="en-US" sz="2400" b="1" dirty="0" smtClean="0"/>
                        <a:t> 0</a:t>
                      </a:r>
                      <a:endParaRPr lang="en-US" sz="2400" b="1" dirty="0"/>
                    </a:p>
                  </a:txBody>
                  <a:tcPr/>
                </a:tc>
                <a:tc>
                  <a:txBody>
                    <a:bodyPr/>
                    <a:lstStyle/>
                    <a:p>
                      <a:r>
                        <a:rPr lang="en-US" sz="2400" b="1" dirty="0" smtClean="0"/>
                        <a:t>10/15</a:t>
                      </a:r>
                      <a:endParaRPr lang="en-US" sz="2400" b="1" dirty="0"/>
                    </a:p>
                  </a:txBody>
                  <a:tcPr/>
                </a:tc>
                <a:tc>
                  <a:txBody>
                    <a:bodyPr/>
                    <a:lstStyle/>
                    <a:p>
                      <a:r>
                        <a:rPr lang="en-US" sz="2400" b="1" dirty="0" smtClean="0"/>
                        <a:t>1</a:t>
                      </a:r>
                      <a:endParaRPr lang="en-US" sz="2400" b="1" dirty="0"/>
                    </a:p>
                  </a:txBody>
                  <a:tcPr/>
                </a:tc>
              </a:tr>
            </a:tbl>
          </a:graphicData>
        </a:graphic>
      </p:graphicFrame>
      <p:cxnSp>
        <p:nvCxnSpPr>
          <p:cNvPr id="7" name="Straight Connector 6"/>
          <p:cNvCxnSpPr/>
          <p:nvPr/>
        </p:nvCxnSpPr>
        <p:spPr>
          <a:xfrm>
            <a:off x="152400" y="5257800"/>
            <a:ext cx="24384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381000" y="5486400"/>
            <a:ext cx="2297998" cy="523220"/>
          </a:xfrm>
          <a:prstGeom prst="rect">
            <a:avLst/>
          </a:prstGeom>
        </p:spPr>
        <p:txBody>
          <a:bodyPr wrap="square">
            <a:spAutoFit/>
          </a:bodyPr>
          <a:lstStyle/>
          <a:p>
            <a:r>
              <a:rPr lang="en-US" sz="2800" b="1" dirty="0" smtClean="0"/>
              <a:t>10    (obj3)</a:t>
            </a:r>
            <a:endParaRPr lang="en-US" sz="2800" b="1" dirty="0"/>
          </a:p>
        </p:txBody>
      </p:sp>
      <p:sp>
        <p:nvSpPr>
          <p:cNvPr id="12" name="Rectangle 11"/>
          <p:cNvSpPr/>
          <p:nvPr/>
        </p:nvSpPr>
        <p:spPr>
          <a:xfrm>
            <a:off x="2667000" y="5334000"/>
            <a:ext cx="550151" cy="523220"/>
          </a:xfrm>
          <a:prstGeom prst="rect">
            <a:avLst/>
          </a:prstGeom>
        </p:spPr>
        <p:txBody>
          <a:bodyPr wrap="none">
            <a:spAutoFit/>
          </a:bodyPr>
          <a:lstStyle/>
          <a:p>
            <a:r>
              <a:rPr lang="en-US" sz="2800" b="1" dirty="0" smtClean="0"/>
              <a:t>10</a:t>
            </a:r>
            <a:endParaRPr lang="en-US" sz="2800" b="1" dirty="0"/>
          </a:p>
        </p:txBody>
      </p:sp>
      <p:sp>
        <p:nvSpPr>
          <p:cNvPr id="13" name="Rectangle 12"/>
          <p:cNvSpPr/>
          <p:nvPr/>
        </p:nvSpPr>
        <p:spPr>
          <a:xfrm>
            <a:off x="2590800" y="4495800"/>
            <a:ext cx="550151" cy="523220"/>
          </a:xfrm>
          <a:prstGeom prst="rect">
            <a:avLst/>
          </a:prstGeom>
        </p:spPr>
        <p:txBody>
          <a:bodyPr wrap="none">
            <a:spAutoFit/>
          </a:bodyPr>
          <a:lstStyle/>
          <a:p>
            <a:r>
              <a:rPr lang="en-US" sz="2800" b="1" dirty="0" smtClean="0"/>
              <a:t>10</a:t>
            </a:r>
            <a:endParaRPr lang="en-US" sz="2800" b="1" dirty="0"/>
          </a:p>
        </p:txBody>
      </p:sp>
      <p:sp>
        <p:nvSpPr>
          <p:cNvPr id="14" name="Right Brace 13"/>
          <p:cNvSpPr/>
          <p:nvPr/>
        </p:nvSpPr>
        <p:spPr>
          <a:xfrm>
            <a:off x="3200400" y="4343400"/>
            <a:ext cx="457200" cy="16002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Rectangle 14"/>
          <p:cNvSpPr/>
          <p:nvPr/>
        </p:nvSpPr>
        <p:spPr>
          <a:xfrm>
            <a:off x="3810000" y="4876800"/>
            <a:ext cx="550151" cy="523220"/>
          </a:xfrm>
          <a:prstGeom prst="rect">
            <a:avLst/>
          </a:prstGeom>
        </p:spPr>
        <p:txBody>
          <a:bodyPr wrap="none">
            <a:spAutoFit/>
          </a:bodyPr>
          <a:lstStyle/>
          <a:p>
            <a:r>
              <a:rPr lang="en-US" sz="2800" b="1" dirty="0" smtClean="0"/>
              <a:t>20</a:t>
            </a:r>
            <a:endParaRPr lang="en-US" sz="2800" b="1" dirty="0"/>
          </a:p>
        </p:txBody>
      </p:sp>
      <p:sp>
        <p:nvSpPr>
          <p:cNvPr id="17" name="Rectangle 16"/>
          <p:cNvSpPr/>
          <p:nvPr/>
        </p:nvSpPr>
        <p:spPr>
          <a:xfrm>
            <a:off x="228600" y="4724400"/>
            <a:ext cx="2362200" cy="523220"/>
          </a:xfrm>
          <a:prstGeom prst="rect">
            <a:avLst/>
          </a:prstGeom>
        </p:spPr>
        <p:txBody>
          <a:bodyPr wrap="square">
            <a:spAutoFit/>
          </a:bodyPr>
          <a:lstStyle/>
          <a:p>
            <a:r>
              <a:rPr lang="en-US" sz="2800" b="1" dirty="0" smtClean="0"/>
              <a:t>10/15    (</a:t>
            </a:r>
            <a:r>
              <a:rPr lang="en-US" sz="2800" b="1" dirty="0" err="1" smtClean="0"/>
              <a:t>obj</a:t>
            </a:r>
            <a:r>
              <a:rPr lang="en-US" sz="2800" b="1" dirty="0" smtClean="0"/>
              <a:t> 2)</a:t>
            </a:r>
            <a:endParaRPr lang="en-US" sz="2800" b="1" dirty="0"/>
          </a:p>
        </p:txBody>
      </p:sp>
      <p:sp>
        <p:nvSpPr>
          <p:cNvPr id="18" name="Rectangle 17"/>
          <p:cNvSpPr/>
          <p:nvPr/>
        </p:nvSpPr>
        <p:spPr>
          <a:xfrm>
            <a:off x="4572000" y="3657600"/>
            <a:ext cx="4572000" cy="267765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Font typeface="Arial" pitchFamily="34" charset="0"/>
              <a:buChar char="•"/>
            </a:pPr>
            <a:endParaRPr lang="en-US" sz="2800" dirty="0" smtClean="0"/>
          </a:p>
          <a:p>
            <a:pPr>
              <a:buFont typeface="Arial" pitchFamily="34" charset="0"/>
              <a:buChar char="•"/>
            </a:pPr>
            <a:r>
              <a:rPr lang="en-US" sz="2800" dirty="0" smtClean="0"/>
              <a:t>Calculate fraction profit =           		Xi * profit</a:t>
            </a:r>
          </a:p>
          <a:p>
            <a:pPr>
              <a:buFont typeface="Arial" pitchFamily="34" charset="0"/>
              <a:buChar char="•"/>
            </a:pPr>
            <a:endParaRPr lang="en-US" sz="2800" dirty="0" smtClean="0"/>
          </a:p>
          <a:p>
            <a:pPr>
              <a:buFont typeface="Arial" pitchFamily="34" charset="0"/>
              <a:buChar char="•"/>
            </a:pPr>
            <a:r>
              <a:rPr lang="en-US" sz="2800" dirty="0" smtClean="0"/>
              <a:t>  15 + (10/15)*24</a:t>
            </a:r>
          </a:p>
          <a:p>
            <a:pPr>
              <a:buFont typeface="Arial" pitchFamily="34" charset="0"/>
              <a:buChar char="•"/>
            </a:pPr>
            <a:r>
              <a:rPr lang="en-US" sz="2800" dirty="0" smtClean="0"/>
              <a:t>=  15+16 </a:t>
            </a:r>
            <a:r>
              <a:rPr lang="en-US" sz="2800" b="1" dirty="0" smtClean="0"/>
              <a:t>=31</a:t>
            </a:r>
            <a:endParaRPr lang="en-US" sz="2800" dirty="0" smtClean="0"/>
          </a:p>
        </p:txBody>
      </p:sp>
      <p:sp>
        <p:nvSpPr>
          <p:cNvPr id="19" name="Rectangle 18"/>
          <p:cNvSpPr/>
          <p:nvPr/>
        </p:nvSpPr>
        <p:spPr>
          <a:xfrm>
            <a:off x="1066800" y="4038600"/>
            <a:ext cx="732508" cy="461665"/>
          </a:xfrm>
          <a:prstGeom prst="rect">
            <a:avLst/>
          </a:prstGeom>
        </p:spPr>
        <p:txBody>
          <a:bodyPr wrap="none">
            <a:spAutoFit/>
          </a:bodyPr>
          <a:lstStyle/>
          <a:p>
            <a:r>
              <a:rPr lang="en-US" sz="2400" b="1" dirty="0" smtClean="0">
                <a:solidFill>
                  <a:srgbClr val="FF0000"/>
                </a:solidFill>
              </a:rPr>
              <a:t>BAG</a:t>
            </a:r>
            <a:endParaRPr lang="en-US" sz="2400" b="1" dirty="0">
              <a:solidFill>
                <a:srgbClr val="FF0000"/>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r>
              <a:rPr lang="en-US" dirty="0" smtClean="0"/>
              <a:t>3. We greedy about item :</a:t>
            </a:r>
            <a:br>
              <a:rPr lang="en-US" dirty="0" smtClean="0"/>
            </a:br>
            <a:r>
              <a:rPr lang="en-US" dirty="0" smtClean="0"/>
              <a:t>calculate the ratio of profit/weight.</a:t>
            </a:r>
          </a:p>
          <a:p>
            <a:endParaRPr lang="en-US" dirty="0"/>
          </a:p>
        </p:txBody>
      </p:sp>
      <p:graphicFrame>
        <p:nvGraphicFramePr>
          <p:cNvPr id="4" name="Table 3"/>
          <p:cNvGraphicFramePr>
            <a:graphicFrameLocks noGrp="1"/>
          </p:cNvGraphicFramePr>
          <p:nvPr/>
        </p:nvGraphicFramePr>
        <p:xfrm>
          <a:off x="533400" y="1676400"/>
          <a:ext cx="5638800" cy="2164080"/>
        </p:xfrm>
        <a:graphic>
          <a:graphicData uri="http://schemas.openxmlformats.org/drawingml/2006/table">
            <a:tbl>
              <a:tblPr firstRow="1" bandRow="1">
                <a:tableStyleId>{5C22544A-7EE6-4342-B048-85BDC9FD1C3A}</a:tableStyleId>
              </a:tblPr>
              <a:tblGrid>
                <a:gridCol w="1409700"/>
                <a:gridCol w="1409700"/>
                <a:gridCol w="1409700"/>
                <a:gridCol w="1409700"/>
              </a:tblGrid>
              <a:tr h="426720">
                <a:tc>
                  <a:txBody>
                    <a:bodyPr/>
                    <a:lstStyle/>
                    <a:p>
                      <a:r>
                        <a:rPr lang="en-US" sz="2000" dirty="0" smtClean="0"/>
                        <a:t>Object</a:t>
                      </a:r>
                      <a:endParaRPr lang="en-US" sz="2000" dirty="0"/>
                    </a:p>
                  </a:txBody>
                  <a:tcPr/>
                </a:tc>
                <a:tc>
                  <a:txBody>
                    <a:bodyPr/>
                    <a:lstStyle/>
                    <a:p>
                      <a:r>
                        <a:rPr lang="en-US" sz="2400" dirty="0" smtClean="0"/>
                        <a:t>1</a:t>
                      </a:r>
                      <a:endParaRPr lang="en-US" sz="2400" dirty="0"/>
                    </a:p>
                  </a:txBody>
                  <a:tcPr/>
                </a:tc>
                <a:tc>
                  <a:txBody>
                    <a:bodyPr/>
                    <a:lstStyle/>
                    <a:p>
                      <a:r>
                        <a:rPr lang="en-US" sz="2400" dirty="0" smtClean="0"/>
                        <a:t>2</a:t>
                      </a:r>
                      <a:endParaRPr lang="en-US" sz="2400" dirty="0"/>
                    </a:p>
                  </a:txBody>
                  <a:tcPr/>
                </a:tc>
                <a:tc>
                  <a:txBody>
                    <a:bodyPr/>
                    <a:lstStyle/>
                    <a:p>
                      <a:r>
                        <a:rPr lang="en-US" sz="2400" dirty="0" smtClean="0"/>
                        <a:t>3</a:t>
                      </a:r>
                      <a:endParaRPr lang="en-US" sz="2400" dirty="0"/>
                    </a:p>
                  </a:txBody>
                  <a:tcPr/>
                </a:tc>
              </a:tr>
              <a:tr h="376518">
                <a:tc>
                  <a:txBody>
                    <a:bodyPr/>
                    <a:lstStyle/>
                    <a:p>
                      <a:r>
                        <a:rPr lang="en-US" sz="1800" dirty="0" smtClean="0"/>
                        <a:t>Profit</a:t>
                      </a:r>
                      <a:endParaRPr lang="en-US" sz="1800" dirty="0"/>
                    </a:p>
                  </a:txBody>
                  <a:tcPr/>
                </a:tc>
                <a:tc>
                  <a:txBody>
                    <a:bodyPr/>
                    <a:lstStyle/>
                    <a:p>
                      <a:r>
                        <a:rPr lang="en-US" sz="1800" dirty="0" smtClean="0"/>
                        <a:t>25</a:t>
                      </a:r>
                      <a:endParaRPr lang="en-US" sz="1800" dirty="0"/>
                    </a:p>
                  </a:txBody>
                  <a:tcPr/>
                </a:tc>
                <a:tc>
                  <a:txBody>
                    <a:bodyPr/>
                    <a:lstStyle/>
                    <a:p>
                      <a:r>
                        <a:rPr lang="en-US" sz="1800" dirty="0" smtClean="0"/>
                        <a:t>24</a:t>
                      </a:r>
                      <a:endParaRPr lang="en-US" sz="1800" dirty="0"/>
                    </a:p>
                  </a:txBody>
                  <a:tcPr/>
                </a:tc>
                <a:tc>
                  <a:txBody>
                    <a:bodyPr/>
                    <a:lstStyle/>
                    <a:p>
                      <a:r>
                        <a:rPr lang="en-US" sz="1800" dirty="0" smtClean="0"/>
                        <a:t>15</a:t>
                      </a:r>
                      <a:endParaRPr lang="en-US" sz="1800" dirty="0"/>
                    </a:p>
                  </a:txBody>
                  <a:tcPr/>
                </a:tc>
              </a:tr>
              <a:tr h="376518">
                <a:tc>
                  <a:txBody>
                    <a:bodyPr/>
                    <a:lstStyle/>
                    <a:p>
                      <a:r>
                        <a:rPr lang="en-US" sz="1800" dirty="0" smtClean="0"/>
                        <a:t>Weight</a:t>
                      </a:r>
                      <a:endParaRPr lang="en-US" sz="1800" dirty="0"/>
                    </a:p>
                  </a:txBody>
                  <a:tcPr/>
                </a:tc>
                <a:tc>
                  <a:txBody>
                    <a:bodyPr/>
                    <a:lstStyle/>
                    <a:p>
                      <a:r>
                        <a:rPr lang="en-US" sz="1800" dirty="0" smtClean="0"/>
                        <a:t>18</a:t>
                      </a:r>
                      <a:endParaRPr lang="en-US" sz="1800" dirty="0"/>
                    </a:p>
                  </a:txBody>
                  <a:tcPr/>
                </a:tc>
                <a:tc>
                  <a:txBody>
                    <a:bodyPr/>
                    <a:lstStyle/>
                    <a:p>
                      <a:r>
                        <a:rPr lang="en-US" sz="1800" dirty="0" smtClean="0"/>
                        <a:t>15</a:t>
                      </a:r>
                      <a:endParaRPr lang="en-US" sz="1800" dirty="0"/>
                    </a:p>
                  </a:txBody>
                  <a:tcPr/>
                </a:tc>
                <a:tc>
                  <a:txBody>
                    <a:bodyPr/>
                    <a:lstStyle/>
                    <a:p>
                      <a:r>
                        <a:rPr lang="en-US" sz="1800" dirty="0" smtClean="0"/>
                        <a:t>10</a:t>
                      </a:r>
                      <a:endParaRPr lang="en-US" sz="1800" dirty="0"/>
                    </a:p>
                  </a:txBody>
                  <a:tcPr/>
                </a:tc>
              </a:tr>
              <a:tr h="476922">
                <a:tc>
                  <a:txBody>
                    <a:bodyPr/>
                    <a:lstStyle/>
                    <a:p>
                      <a:r>
                        <a:rPr lang="en-US" sz="2400" b="1" dirty="0" smtClean="0"/>
                        <a:t>P/W</a:t>
                      </a:r>
                      <a:endParaRPr lang="en-US" sz="2400" b="1" dirty="0"/>
                    </a:p>
                  </a:txBody>
                  <a:tcPr/>
                </a:tc>
                <a:tc>
                  <a:txBody>
                    <a:bodyPr/>
                    <a:lstStyle/>
                    <a:p>
                      <a:r>
                        <a:rPr lang="en-US" sz="2400" b="1" dirty="0" smtClean="0"/>
                        <a:t> 1.4</a:t>
                      </a:r>
                      <a:endParaRPr lang="en-US" sz="2400" b="1" dirty="0"/>
                    </a:p>
                  </a:txBody>
                  <a:tcPr/>
                </a:tc>
                <a:tc>
                  <a:txBody>
                    <a:bodyPr/>
                    <a:lstStyle/>
                    <a:p>
                      <a:r>
                        <a:rPr lang="en-US" sz="2400" b="1" dirty="0" smtClean="0"/>
                        <a:t>1.6</a:t>
                      </a:r>
                      <a:endParaRPr lang="en-US" sz="2400" b="1" dirty="0"/>
                    </a:p>
                  </a:txBody>
                  <a:tcPr/>
                </a:tc>
                <a:tc>
                  <a:txBody>
                    <a:bodyPr/>
                    <a:lstStyle/>
                    <a:p>
                      <a:r>
                        <a:rPr lang="en-US" sz="2400" b="1" dirty="0" smtClean="0"/>
                        <a:t>1.5</a:t>
                      </a:r>
                      <a:endParaRPr lang="en-US" sz="2400" b="1" dirty="0"/>
                    </a:p>
                  </a:txBody>
                  <a:tcPr/>
                </a:tc>
              </a:tr>
              <a:tr h="476922">
                <a:tc>
                  <a:txBody>
                    <a:bodyPr/>
                    <a:lstStyle/>
                    <a:p>
                      <a:r>
                        <a:rPr lang="en-US" sz="2400" b="1" dirty="0" smtClean="0"/>
                        <a:t>Xi</a:t>
                      </a:r>
                      <a:endParaRPr lang="en-US" sz="2400" b="1" dirty="0"/>
                    </a:p>
                  </a:txBody>
                  <a:tcPr/>
                </a:tc>
                <a:tc>
                  <a:txBody>
                    <a:bodyPr/>
                    <a:lstStyle/>
                    <a:p>
                      <a:r>
                        <a:rPr lang="en-US" sz="2400" b="1" dirty="0" smtClean="0"/>
                        <a:t>0</a:t>
                      </a:r>
                      <a:endParaRPr lang="en-US" sz="2400" b="1" dirty="0"/>
                    </a:p>
                  </a:txBody>
                  <a:tcPr/>
                </a:tc>
                <a:tc>
                  <a:txBody>
                    <a:bodyPr/>
                    <a:lstStyle/>
                    <a:p>
                      <a:r>
                        <a:rPr lang="en-US" sz="2400" b="1" dirty="0" smtClean="0"/>
                        <a:t>1</a:t>
                      </a:r>
                      <a:endParaRPr lang="en-US" sz="2400" b="1" dirty="0"/>
                    </a:p>
                  </a:txBody>
                  <a:tcPr/>
                </a:tc>
                <a:tc>
                  <a:txBody>
                    <a:bodyPr/>
                    <a:lstStyle/>
                    <a:p>
                      <a:r>
                        <a:rPr lang="en-US" sz="2400" b="1" dirty="0" smtClean="0"/>
                        <a:t>5/15</a:t>
                      </a:r>
                      <a:endParaRPr lang="en-US" sz="2400" b="1" dirty="0"/>
                    </a:p>
                  </a:txBody>
                  <a:tcPr/>
                </a:tc>
              </a:tr>
            </a:tbl>
          </a:graphicData>
        </a:graphic>
      </p:graphicFrame>
      <p:sp>
        <p:nvSpPr>
          <p:cNvPr id="5" name="Rectangle 4"/>
          <p:cNvSpPr/>
          <p:nvPr/>
        </p:nvSpPr>
        <p:spPr>
          <a:xfrm>
            <a:off x="990600" y="4038600"/>
            <a:ext cx="7848600" cy="255454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Font typeface="Arial" pitchFamily="34" charset="0"/>
              <a:buChar char="•"/>
            </a:pPr>
            <a:r>
              <a:rPr lang="en-US" sz="3200" dirty="0" smtClean="0"/>
              <a:t> Calculate fraction profit   =  Xi * profit</a:t>
            </a:r>
          </a:p>
          <a:p>
            <a:pPr>
              <a:buFont typeface="Arial" pitchFamily="34" charset="0"/>
              <a:buChar char="•"/>
            </a:pPr>
            <a:r>
              <a:rPr lang="en-US" sz="3200" dirty="0" smtClean="0"/>
              <a:t> = 24 + (5/10) * 15</a:t>
            </a:r>
          </a:p>
          <a:p>
            <a:pPr>
              <a:buFont typeface="Arial" pitchFamily="34" charset="0"/>
              <a:buChar char="•"/>
            </a:pPr>
            <a:r>
              <a:rPr lang="en-US" sz="3200" dirty="0" smtClean="0"/>
              <a:t>= 24 + 7.5</a:t>
            </a:r>
          </a:p>
          <a:p>
            <a:pPr>
              <a:buFont typeface="Arial" pitchFamily="34" charset="0"/>
              <a:buChar char="•"/>
            </a:pPr>
            <a:r>
              <a:rPr lang="en-US" sz="3200" b="1" dirty="0" smtClean="0"/>
              <a:t>= 31.5 </a:t>
            </a:r>
          </a:p>
          <a:p>
            <a:endParaRPr lang="en-US" sz="3200" dirty="0" smtClean="0"/>
          </a:p>
        </p:txBody>
      </p:sp>
      <p:sp>
        <p:nvSpPr>
          <p:cNvPr id="6" name="Flowchart: Magnetic Disk 5"/>
          <p:cNvSpPr/>
          <p:nvPr/>
        </p:nvSpPr>
        <p:spPr>
          <a:xfrm>
            <a:off x="6400800" y="1219200"/>
            <a:ext cx="1752600" cy="2438400"/>
          </a:xfrm>
          <a:prstGeom prst="flowChartMagneticDisk">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Right Brace 6"/>
          <p:cNvSpPr/>
          <p:nvPr/>
        </p:nvSpPr>
        <p:spPr>
          <a:xfrm>
            <a:off x="8534400" y="1600200"/>
            <a:ext cx="304800" cy="19050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Rectangle 7"/>
          <p:cNvSpPr/>
          <p:nvPr/>
        </p:nvSpPr>
        <p:spPr>
          <a:xfrm>
            <a:off x="8649096" y="2514600"/>
            <a:ext cx="418704" cy="369332"/>
          </a:xfrm>
          <a:prstGeom prst="rect">
            <a:avLst/>
          </a:prstGeom>
        </p:spPr>
        <p:txBody>
          <a:bodyPr wrap="none">
            <a:spAutoFit/>
          </a:bodyPr>
          <a:lstStyle/>
          <a:p>
            <a:r>
              <a:rPr lang="en-US" b="1" dirty="0" smtClean="0"/>
              <a:t>20</a:t>
            </a:r>
            <a:endParaRPr lang="en-US" dirty="0"/>
          </a:p>
        </p:txBody>
      </p:sp>
      <p:sp>
        <p:nvSpPr>
          <p:cNvPr id="9" name="Rectangle 8"/>
          <p:cNvSpPr/>
          <p:nvPr/>
        </p:nvSpPr>
        <p:spPr>
          <a:xfrm>
            <a:off x="8153400" y="2895600"/>
            <a:ext cx="418704" cy="369332"/>
          </a:xfrm>
          <a:prstGeom prst="rect">
            <a:avLst/>
          </a:prstGeom>
        </p:spPr>
        <p:txBody>
          <a:bodyPr wrap="none">
            <a:spAutoFit/>
          </a:bodyPr>
          <a:lstStyle/>
          <a:p>
            <a:r>
              <a:rPr lang="en-US" b="1" dirty="0" smtClean="0"/>
              <a:t>15</a:t>
            </a:r>
            <a:endParaRPr lang="en-US" dirty="0"/>
          </a:p>
        </p:txBody>
      </p:sp>
      <p:sp>
        <p:nvSpPr>
          <p:cNvPr id="10" name="Rectangle 9"/>
          <p:cNvSpPr/>
          <p:nvPr/>
        </p:nvSpPr>
        <p:spPr>
          <a:xfrm>
            <a:off x="6553200" y="2895600"/>
            <a:ext cx="1524000" cy="523220"/>
          </a:xfrm>
          <a:prstGeom prst="rect">
            <a:avLst/>
          </a:prstGeom>
        </p:spPr>
        <p:txBody>
          <a:bodyPr wrap="square">
            <a:spAutoFit/>
          </a:bodyPr>
          <a:lstStyle/>
          <a:p>
            <a:r>
              <a:rPr lang="en-US" sz="2800" b="1" dirty="0" smtClean="0"/>
              <a:t>15   </a:t>
            </a:r>
            <a:r>
              <a:rPr lang="en-US" sz="2000" b="1" dirty="0" smtClean="0"/>
              <a:t>(obj2)</a:t>
            </a:r>
            <a:endParaRPr lang="en-US" sz="2800" dirty="0"/>
          </a:p>
        </p:txBody>
      </p:sp>
      <p:sp>
        <p:nvSpPr>
          <p:cNvPr id="11" name="Rectangle 10"/>
          <p:cNvSpPr/>
          <p:nvPr/>
        </p:nvSpPr>
        <p:spPr>
          <a:xfrm>
            <a:off x="6553200" y="2133600"/>
            <a:ext cx="1361270" cy="369332"/>
          </a:xfrm>
          <a:prstGeom prst="rect">
            <a:avLst/>
          </a:prstGeom>
        </p:spPr>
        <p:txBody>
          <a:bodyPr wrap="none">
            <a:spAutoFit/>
          </a:bodyPr>
          <a:lstStyle/>
          <a:p>
            <a:r>
              <a:rPr lang="en-US" b="1" dirty="0" smtClean="0"/>
              <a:t>5/10   (obj3)</a:t>
            </a:r>
            <a:endParaRPr lang="en-US" dirty="0"/>
          </a:p>
        </p:txBody>
      </p:sp>
      <p:sp>
        <p:nvSpPr>
          <p:cNvPr id="12" name="Rectangle 11"/>
          <p:cNvSpPr/>
          <p:nvPr/>
        </p:nvSpPr>
        <p:spPr>
          <a:xfrm>
            <a:off x="8156514" y="1981200"/>
            <a:ext cx="301686" cy="369332"/>
          </a:xfrm>
          <a:prstGeom prst="rect">
            <a:avLst/>
          </a:prstGeom>
        </p:spPr>
        <p:txBody>
          <a:bodyPr wrap="none">
            <a:spAutoFit/>
          </a:bodyPr>
          <a:lstStyle/>
          <a:p>
            <a:r>
              <a:rPr lang="en-US" b="1" dirty="0" smtClean="0"/>
              <a:t>5</a:t>
            </a:r>
            <a:endParaRPr lang="en-US" dirty="0"/>
          </a:p>
        </p:txBody>
      </p:sp>
      <p:cxnSp>
        <p:nvCxnSpPr>
          <p:cNvPr id="14" name="Straight Connector 13"/>
          <p:cNvCxnSpPr/>
          <p:nvPr/>
        </p:nvCxnSpPr>
        <p:spPr>
          <a:xfrm>
            <a:off x="6400800" y="2514600"/>
            <a:ext cx="1752600"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6934200" y="1371600"/>
            <a:ext cx="732508" cy="461665"/>
          </a:xfrm>
          <a:prstGeom prst="rect">
            <a:avLst/>
          </a:prstGeom>
        </p:spPr>
        <p:txBody>
          <a:bodyPr wrap="none">
            <a:spAutoFit/>
          </a:bodyPr>
          <a:lstStyle/>
          <a:p>
            <a:r>
              <a:rPr lang="en-US" sz="2400" b="1" dirty="0" smtClean="0">
                <a:solidFill>
                  <a:srgbClr val="FF0000"/>
                </a:solidFill>
              </a:rPr>
              <a:t>BAG</a:t>
            </a:r>
            <a:endParaRPr lang="en-US" sz="2400" b="1" dirty="0">
              <a:solidFill>
                <a:srgbClr val="FF0000"/>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cstate="print"/>
          <a:srcRect/>
          <a:stretch>
            <a:fillRect/>
          </a:stretch>
        </p:blipFill>
        <p:spPr bwMode="auto">
          <a:xfrm>
            <a:off x="762000" y="3733800"/>
            <a:ext cx="7010400" cy="2438400"/>
          </a:xfrm>
          <a:prstGeom prst="rect">
            <a:avLst/>
          </a:prstGeom>
          <a:noFill/>
          <a:ln w="9525">
            <a:noFill/>
            <a:miter lim="800000"/>
            <a:headEnd/>
            <a:tailEnd/>
          </a:ln>
        </p:spPr>
      </p:pic>
      <p:pic>
        <p:nvPicPr>
          <p:cNvPr id="7171" name="Picture 3"/>
          <p:cNvPicPr>
            <a:picLocks noChangeAspect="1" noChangeArrowheads="1"/>
          </p:cNvPicPr>
          <p:nvPr/>
        </p:nvPicPr>
        <p:blipFill>
          <a:blip r:embed="rId3" cstate="print"/>
          <a:srcRect/>
          <a:stretch>
            <a:fillRect/>
          </a:stretch>
        </p:blipFill>
        <p:spPr bwMode="auto">
          <a:xfrm>
            <a:off x="457200" y="457200"/>
            <a:ext cx="8077200" cy="1752600"/>
          </a:xfrm>
          <a:prstGeom prst="rect">
            <a:avLst/>
          </a:prstGeom>
          <a:noFill/>
          <a:ln w="9525">
            <a:noFill/>
            <a:miter lim="800000"/>
            <a:headEnd/>
            <a:tailEnd/>
          </a:ln>
        </p:spPr>
      </p:pic>
      <p:pic>
        <p:nvPicPr>
          <p:cNvPr id="7172" name="Picture 4"/>
          <p:cNvPicPr>
            <a:picLocks noChangeAspect="1" noChangeArrowheads="1"/>
          </p:cNvPicPr>
          <p:nvPr/>
        </p:nvPicPr>
        <p:blipFill>
          <a:blip r:embed="rId4" cstate="print"/>
          <a:srcRect/>
          <a:stretch>
            <a:fillRect/>
          </a:stretch>
        </p:blipFill>
        <p:spPr bwMode="auto">
          <a:xfrm>
            <a:off x="381000" y="2209800"/>
            <a:ext cx="3581400" cy="15049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r>
              <a:rPr lang="en-US" b="1" dirty="0" smtClean="0"/>
              <a:t>Greedy Approach</a:t>
            </a:r>
          </a:p>
          <a:p>
            <a:r>
              <a:rPr lang="en-US" b="1" dirty="0" smtClean="0"/>
              <a:t>Calculate profit-to-Weight Ratio</a:t>
            </a:r>
            <a:r>
              <a:rPr lang="en-US" dirty="0" smtClean="0"/>
              <a:t>: Compute p/w for each item.</a:t>
            </a:r>
          </a:p>
          <a:p>
            <a:r>
              <a:rPr lang="en-US" b="1" dirty="0" smtClean="0"/>
              <a:t>Sort Items</a:t>
            </a:r>
            <a:r>
              <a:rPr lang="en-US" dirty="0" smtClean="0"/>
              <a:t>: Sort items in </a:t>
            </a:r>
            <a:r>
              <a:rPr lang="en-US" b="1" dirty="0" smtClean="0"/>
              <a:t>decreasing</a:t>
            </a:r>
            <a:r>
              <a:rPr lang="en-US" dirty="0" smtClean="0"/>
              <a:t> order of p/w.</a:t>
            </a:r>
          </a:p>
          <a:p>
            <a:r>
              <a:rPr lang="en-US" b="1" dirty="0" smtClean="0"/>
              <a:t>Pick Items Greedily</a:t>
            </a:r>
            <a:r>
              <a:rPr lang="en-US" dirty="0" smtClean="0"/>
              <a:t>:</a:t>
            </a:r>
          </a:p>
          <a:p>
            <a:pPr lvl="1"/>
            <a:r>
              <a:rPr lang="en-US" dirty="0" smtClean="0"/>
              <a:t>Add the highest p/w item fully if possible.</a:t>
            </a:r>
          </a:p>
          <a:p>
            <a:pPr lvl="1"/>
            <a:r>
              <a:rPr lang="en-US" dirty="0" smtClean="0"/>
              <a:t>If not, take the fraction that fits in the remaining weight , </a:t>
            </a:r>
            <a:r>
              <a:rPr lang="en-US" b="1" dirty="0" err="1" smtClean="0"/>
              <a:t>remainingweight</a:t>
            </a:r>
            <a:r>
              <a:rPr lang="en-US" b="1" dirty="0" smtClean="0"/>
              <a:t> / </a:t>
            </a:r>
            <a:r>
              <a:rPr lang="en-US" b="1" dirty="0" err="1" smtClean="0"/>
              <a:t>totalweight</a:t>
            </a:r>
            <a:r>
              <a:rPr lang="en-US" b="1" dirty="0" smtClean="0"/>
              <a:t>     </a:t>
            </a:r>
          </a:p>
          <a:p>
            <a:r>
              <a:rPr lang="en-US" b="1" dirty="0" smtClean="0"/>
              <a:t>Continue Until Knapsack is Full</a:t>
            </a:r>
            <a:r>
              <a:rPr lang="en-US" dirty="0" smtClean="0"/>
              <a:t>.</a:t>
            </a:r>
          </a:p>
          <a:p>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15962"/>
          </a:xfrm>
        </p:spPr>
        <p:txBody>
          <a:bodyPr>
            <a:normAutofit fontScale="90000"/>
          </a:bodyPr>
          <a:lstStyle/>
          <a:p>
            <a:r>
              <a:rPr lang="en-US" dirty="0" smtClean="0"/>
              <a:t>Algorithm</a:t>
            </a:r>
            <a:endParaRPr lang="en-US" dirty="0"/>
          </a:p>
        </p:txBody>
      </p:sp>
      <p:sp>
        <p:nvSpPr>
          <p:cNvPr id="3" name="Content Placeholder 2"/>
          <p:cNvSpPr>
            <a:spLocks noGrp="1"/>
          </p:cNvSpPr>
          <p:nvPr>
            <p:ph idx="1"/>
          </p:nvPr>
        </p:nvSpPr>
        <p:spPr>
          <a:xfrm>
            <a:off x="152400" y="914400"/>
            <a:ext cx="8458200" cy="5638800"/>
          </a:xfrm>
        </p:spPr>
        <p:style>
          <a:lnRef idx="2">
            <a:schemeClr val="accent2"/>
          </a:lnRef>
          <a:fillRef idx="1">
            <a:schemeClr val="lt1"/>
          </a:fillRef>
          <a:effectRef idx="0">
            <a:schemeClr val="accent2"/>
          </a:effectRef>
          <a:fontRef idx="minor">
            <a:schemeClr val="dk1"/>
          </a:fontRef>
        </p:style>
        <p:txBody>
          <a:bodyPr>
            <a:normAutofit fontScale="77500" lnSpcReduction="20000"/>
          </a:bodyPr>
          <a:lstStyle/>
          <a:p>
            <a:pPr>
              <a:buNone/>
            </a:pPr>
            <a:r>
              <a:rPr lang="en-US" dirty="0" smtClean="0"/>
              <a:t>Greedy Knapsack Algorithm:</a:t>
            </a:r>
            <a:endParaRPr lang="en-US" b="1" dirty="0" smtClean="0"/>
          </a:p>
          <a:p>
            <a:pPr>
              <a:buNone/>
            </a:pPr>
            <a:r>
              <a:rPr lang="en-US" dirty="0" smtClean="0"/>
              <a:t>1. </a:t>
            </a:r>
            <a:r>
              <a:rPr lang="en-US" dirty="0" err="1" smtClean="0"/>
              <a:t>GreedyFractionalKnapsack</a:t>
            </a:r>
            <a:r>
              <a:rPr lang="en-US" dirty="0" smtClean="0"/>
              <a:t>(items, n, capacity):</a:t>
            </a:r>
          </a:p>
          <a:p>
            <a:pPr>
              <a:buNone/>
            </a:pPr>
            <a:endParaRPr lang="en-US" dirty="0" smtClean="0"/>
          </a:p>
          <a:p>
            <a:pPr>
              <a:buNone/>
            </a:pPr>
            <a:r>
              <a:rPr lang="en-US" dirty="0" smtClean="0"/>
              <a:t>    // Each item has: value[i], weight[i]</a:t>
            </a:r>
          </a:p>
          <a:p>
            <a:pPr>
              <a:buNone/>
            </a:pPr>
            <a:endParaRPr lang="en-US" dirty="0" smtClean="0"/>
          </a:p>
          <a:p>
            <a:pPr>
              <a:buNone/>
            </a:pPr>
            <a:r>
              <a:rPr lang="en-US" dirty="0" smtClean="0"/>
              <a:t>    // Step 1: Compute value/weight ratio for each item</a:t>
            </a:r>
          </a:p>
          <a:p>
            <a:pPr>
              <a:buNone/>
            </a:pPr>
            <a:r>
              <a:rPr lang="en-US" dirty="0" smtClean="0"/>
              <a:t>     </a:t>
            </a:r>
            <a:r>
              <a:rPr lang="en-US" dirty="0" smtClean="0">
                <a:solidFill>
                  <a:srgbClr val="C00000"/>
                </a:solidFill>
              </a:rPr>
              <a:t> for i = 1 to n: 			</a:t>
            </a:r>
            <a:r>
              <a:rPr lang="en-US" b="1" dirty="0" smtClean="0">
                <a:solidFill>
                  <a:srgbClr val="FF0000"/>
                </a:solidFill>
              </a:rPr>
              <a:t>---Time : O(n)</a:t>
            </a:r>
            <a:endParaRPr lang="en-US" dirty="0" smtClean="0">
              <a:solidFill>
                <a:srgbClr val="C00000"/>
              </a:solidFill>
            </a:endParaRPr>
          </a:p>
          <a:p>
            <a:pPr>
              <a:buNone/>
            </a:pPr>
            <a:r>
              <a:rPr lang="en-US" dirty="0" smtClean="0">
                <a:solidFill>
                  <a:srgbClr val="C00000"/>
                </a:solidFill>
              </a:rPr>
              <a:t>     Compute P[i] / W[i]</a:t>
            </a:r>
          </a:p>
          <a:p>
            <a:pPr>
              <a:buNone/>
            </a:pPr>
            <a:endParaRPr lang="en-US" dirty="0" smtClean="0"/>
          </a:p>
          <a:p>
            <a:pPr>
              <a:buNone/>
            </a:pPr>
            <a:r>
              <a:rPr lang="en-US" dirty="0" smtClean="0"/>
              <a:t>    // Step 2: Sort items in descending order of ratio</a:t>
            </a:r>
          </a:p>
          <a:p>
            <a:pPr>
              <a:buNone/>
            </a:pPr>
            <a:r>
              <a:rPr lang="en-US" dirty="0" smtClean="0"/>
              <a:t>    </a:t>
            </a:r>
            <a:r>
              <a:rPr lang="en-US" dirty="0" smtClean="0">
                <a:solidFill>
                  <a:srgbClr val="C00000"/>
                </a:solidFill>
              </a:rPr>
              <a:t>sort items by ratio[i] in decreasing order </a:t>
            </a:r>
            <a:r>
              <a:rPr lang="en-US" dirty="0" smtClean="0"/>
              <a:t>      </a:t>
            </a:r>
            <a:r>
              <a:rPr lang="en-US" b="1" dirty="0" smtClean="0">
                <a:solidFill>
                  <a:srgbClr val="FF0000"/>
                </a:solidFill>
              </a:rPr>
              <a:t>--O(</a:t>
            </a:r>
            <a:r>
              <a:rPr lang="en-US" b="1" dirty="0" err="1" smtClean="0">
                <a:solidFill>
                  <a:srgbClr val="FF0000"/>
                </a:solidFill>
              </a:rPr>
              <a:t>nlogn</a:t>
            </a:r>
            <a:r>
              <a:rPr lang="en-US" b="1" dirty="0" smtClean="0">
                <a:solidFill>
                  <a:srgbClr val="FF0000"/>
                </a:solidFill>
              </a:rPr>
              <a:t>)</a:t>
            </a:r>
            <a:endParaRPr lang="en-US" dirty="0" smtClean="0">
              <a:solidFill>
                <a:srgbClr val="C00000"/>
              </a:solidFill>
            </a:endParaRPr>
          </a:p>
          <a:p>
            <a:pPr>
              <a:buNone/>
            </a:pPr>
            <a:endParaRPr lang="en-US" dirty="0" smtClean="0"/>
          </a:p>
          <a:p>
            <a:pPr>
              <a:buNone/>
            </a:pPr>
            <a:r>
              <a:rPr lang="en-US" dirty="0" smtClean="0"/>
              <a:t>    </a:t>
            </a:r>
            <a:r>
              <a:rPr lang="en-US" dirty="0" err="1" smtClean="0"/>
              <a:t>totalProfit</a:t>
            </a:r>
            <a:r>
              <a:rPr lang="en-US" dirty="0" smtClean="0"/>
              <a:t> = 0   // maximum profit</a:t>
            </a:r>
          </a:p>
          <a:p>
            <a:pPr>
              <a:buNone/>
            </a:pPr>
            <a:r>
              <a:rPr lang="en-US" dirty="0" smtClean="0"/>
              <a:t>    </a:t>
            </a:r>
            <a:r>
              <a:rPr lang="en-US" dirty="0" err="1" smtClean="0"/>
              <a:t>remainingCapacity</a:t>
            </a:r>
            <a:r>
              <a:rPr lang="en-US" dirty="0" smtClean="0"/>
              <a:t> = capacity</a:t>
            </a:r>
          </a:p>
          <a:p>
            <a:pPr>
              <a:buNone/>
            </a:pPr>
            <a:endParaRPr lang="en-US" dirty="0" smtClean="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4800600" cy="715962"/>
          </a:xfrm>
        </p:spPr>
        <p:txBody>
          <a:bodyPr>
            <a:normAutofit fontScale="90000"/>
          </a:bodyPr>
          <a:lstStyle/>
          <a:p>
            <a:r>
              <a:rPr lang="en-US" dirty="0" smtClean="0"/>
              <a:t>Algorithm</a:t>
            </a:r>
            <a:endParaRPr lang="en-US" dirty="0"/>
          </a:p>
        </p:txBody>
      </p:sp>
      <p:sp>
        <p:nvSpPr>
          <p:cNvPr id="4" name="Rectangle 3"/>
          <p:cNvSpPr/>
          <p:nvPr/>
        </p:nvSpPr>
        <p:spPr>
          <a:xfrm>
            <a:off x="304800" y="838200"/>
            <a:ext cx="8458200" cy="537070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None/>
            </a:pPr>
            <a:r>
              <a:rPr lang="en-US" sz="2400" dirty="0" smtClean="0"/>
              <a:t> </a:t>
            </a:r>
            <a:r>
              <a:rPr lang="en-US" sz="2400" dirty="0" smtClean="0">
                <a:solidFill>
                  <a:srgbClr val="C00000"/>
                </a:solidFill>
              </a:rPr>
              <a:t>// Step 3: Pick items one by one</a:t>
            </a:r>
          </a:p>
          <a:p>
            <a:pPr>
              <a:buNone/>
            </a:pPr>
            <a:r>
              <a:rPr lang="en-US" sz="2400" dirty="0" smtClean="0"/>
              <a:t>    for i = 1 to n: 				</a:t>
            </a:r>
            <a:r>
              <a:rPr lang="en-US" sz="2400" b="1" dirty="0" smtClean="0">
                <a:solidFill>
                  <a:srgbClr val="FF0000"/>
                </a:solidFill>
              </a:rPr>
              <a:t>----- O(n)</a:t>
            </a:r>
            <a:endParaRPr lang="en-US" sz="2400" dirty="0" smtClean="0"/>
          </a:p>
          <a:p>
            <a:pPr>
              <a:buNone/>
            </a:pPr>
            <a:r>
              <a:rPr lang="en-US" sz="2400" dirty="0" smtClean="0"/>
              <a:t>        if weight[i] &lt;= </a:t>
            </a:r>
            <a:r>
              <a:rPr lang="en-US" sz="2400" dirty="0" err="1" smtClean="0"/>
              <a:t>remainingCapacity</a:t>
            </a:r>
            <a:r>
              <a:rPr lang="en-US" sz="2400" dirty="0" smtClean="0"/>
              <a:t>:</a:t>
            </a:r>
          </a:p>
          <a:p>
            <a:pPr>
              <a:buNone/>
            </a:pPr>
            <a:r>
              <a:rPr lang="en-US" sz="2400" dirty="0" smtClean="0"/>
              <a:t>            // Take the whole item</a:t>
            </a:r>
          </a:p>
          <a:p>
            <a:pPr>
              <a:buNone/>
            </a:pPr>
            <a:r>
              <a:rPr lang="en-US" sz="2400" dirty="0" smtClean="0"/>
              <a:t>            </a:t>
            </a:r>
            <a:r>
              <a:rPr lang="en-US" sz="2400" dirty="0" err="1" smtClean="0"/>
              <a:t>totalProfit</a:t>
            </a:r>
            <a:r>
              <a:rPr lang="en-US" sz="2400" dirty="0" smtClean="0"/>
              <a:t> = </a:t>
            </a:r>
            <a:r>
              <a:rPr lang="en-US" sz="2400" dirty="0" err="1" smtClean="0"/>
              <a:t>totalProfit</a:t>
            </a:r>
            <a:r>
              <a:rPr lang="en-US" sz="2400" dirty="0" smtClean="0"/>
              <a:t> + Profit[i] 		</a:t>
            </a:r>
          </a:p>
          <a:p>
            <a:pPr>
              <a:buNone/>
            </a:pPr>
            <a:r>
              <a:rPr lang="en-US" sz="2400" dirty="0" smtClean="0"/>
              <a:t>            </a:t>
            </a:r>
            <a:r>
              <a:rPr lang="en-US" sz="2400" dirty="0" err="1" smtClean="0"/>
              <a:t>remainingCapacity</a:t>
            </a:r>
            <a:r>
              <a:rPr lang="en-US" sz="2400" dirty="0" smtClean="0"/>
              <a:t> = </a:t>
            </a:r>
            <a:r>
              <a:rPr lang="en-US" sz="2400" dirty="0" err="1" smtClean="0"/>
              <a:t>remainingCapacity</a:t>
            </a:r>
            <a:r>
              <a:rPr lang="en-US" sz="2400" dirty="0" smtClean="0"/>
              <a:t> - weight[i]</a:t>
            </a:r>
          </a:p>
          <a:p>
            <a:pPr>
              <a:buNone/>
            </a:pPr>
            <a:r>
              <a:rPr lang="en-US" sz="2400" dirty="0" smtClean="0"/>
              <a:t>        else:</a:t>
            </a:r>
          </a:p>
          <a:p>
            <a:pPr>
              <a:buNone/>
            </a:pPr>
            <a:r>
              <a:rPr lang="en-US" sz="2400" dirty="0" smtClean="0"/>
              <a:t>            // Take fraction of the item</a:t>
            </a:r>
          </a:p>
          <a:p>
            <a:pPr>
              <a:buNone/>
            </a:pPr>
            <a:r>
              <a:rPr lang="en-US" sz="2400" dirty="0" smtClean="0"/>
              <a:t>            fraction = </a:t>
            </a:r>
            <a:r>
              <a:rPr lang="en-US" sz="2400" dirty="0" err="1" smtClean="0"/>
              <a:t>remainingCapacity</a:t>
            </a:r>
            <a:r>
              <a:rPr lang="en-US" sz="2400" dirty="0" smtClean="0"/>
              <a:t> / weight[i]</a:t>
            </a:r>
          </a:p>
          <a:p>
            <a:pPr>
              <a:buNone/>
            </a:pPr>
            <a:r>
              <a:rPr lang="en-US" sz="2400" dirty="0" smtClean="0"/>
              <a:t>	</a:t>
            </a:r>
            <a:r>
              <a:rPr lang="en-US" sz="2400" dirty="0" err="1" smtClean="0"/>
              <a:t>totalProfit</a:t>
            </a:r>
            <a:r>
              <a:rPr lang="en-US" sz="2400" dirty="0" smtClean="0"/>
              <a:t> = </a:t>
            </a:r>
            <a:r>
              <a:rPr lang="en-US" sz="2400" dirty="0" err="1" smtClean="0"/>
              <a:t>totalProfit</a:t>
            </a:r>
            <a:r>
              <a:rPr lang="en-US" sz="2400" dirty="0" smtClean="0"/>
              <a:t> + (value[i] * fraction)      </a:t>
            </a:r>
          </a:p>
          <a:p>
            <a:pPr>
              <a:buNone/>
            </a:pPr>
            <a:r>
              <a:rPr lang="en-US" sz="2400" dirty="0" smtClean="0"/>
              <a:t>            </a:t>
            </a:r>
            <a:r>
              <a:rPr lang="en-US" sz="2400" dirty="0" err="1" smtClean="0"/>
              <a:t>remainingCapacity</a:t>
            </a:r>
            <a:r>
              <a:rPr lang="en-US" sz="2400" dirty="0" smtClean="0"/>
              <a:t> = 0</a:t>
            </a:r>
          </a:p>
          <a:p>
            <a:pPr>
              <a:buNone/>
            </a:pPr>
            <a:r>
              <a:rPr lang="en-US" sz="2400" dirty="0" smtClean="0"/>
              <a:t>            break   // knapsack is full</a:t>
            </a:r>
          </a:p>
          <a:p>
            <a:pPr>
              <a:buNone/>
            </a:pPr>
            <a:endParaRPr lang="en-US" sz="2400" dirty="0" smtClean="0"/>
          </a:p>
          <a:p>
            <a:pPr>
              <a:buNone/>
            </a:pPr>
            <a:r>
              <a:rPr lang="en-US" sz="2400" dirty="0" smtClean="0"/>
              <a:t>    return </a:t>
            </a:r>
            <a:r>
              <a:rPr lang="en-US" sz="2400" dirty="0" err="1" smtClean="0"/>
              <a:t>totalProfit</a:t>
            </a:r>
            <a:endParaRPr lang="en-US" sz="2400" dirty="0" smtClean="0"/>
          </a:p>
        </p:txBody>
      </p:sp>
      <p:sp>
        <p:nvSpPr>
          <p:cNvPr id="6" name="Rectangle 5"/>
          <p:cNvSpPr/>
          <p:nvPr/>
        </p:nvSpPr>
        <p:spPr>
          <a:xfrm>
            <a:off x="3810000" y="5486400"/>
            <a:ext cx="4289957" cy="1200329"/>
          </a:xfrm>
          <a:prstGeom prst="rect">
            <a:avLst/>
          </a:prstGeom>
        </p:spPr>
        <p:style>
          <a:lnRef idx="2">
            <a:schemeClr val="dk1"/>
          </a:lnRef>
          <a:fillRef idx="1">
            <a:schemeClr val="lt1"/>
          </a:fillRef>
          <a:effectRef idx="0">
            <a:schemeClr val="dk1"/>
          </a:effectRef>
          <a:fontRef idx="minor">
            <a:schemeClr val="dk1"/>
          </a:fontRef>
        </p:style>
        <p:txBody>
          <a:bodyPr wrap="none">
            <a:spAutoFit/>
          </a:bodyPr>
          <a:lstStyle/>
          <a:p>
            <a:r>
              <a:rPr lang="en-US" sz="2400" b="1" dirty="0" smtClean="0"/>
              <a:t>Adding up the dominant terms:</a:t>
            </a:r>
          </a:p>
          <a:p>
            <a:r>
              <a:rPr lang="en-US" sz="2400" dirty="0" smtClean="0"/>
              <a:t>O(n)+O(</a:t>
            </a:r>
            <a:r>
              <a:rPr lang="en-US" sz="2400" dirty="0" err="1" smtClean="0"/>
              <a:t>nlogn</a:t>
            </a:r>
            <a:r>
              <a:rPr lang="en-US" sz="2400" dirty="0" smtClean="0"/>
              <a:t>)+O(n)  = O(</a:t>
            </a:r>
            <a:r>
              <a:rPr lang="en-US" sz="2400" dirty="0" err="1" smtClean="0"/>
              <a:t>nlogn</a:t>
            </a:r>
            <a:r>
              <a:rPr lang="en-US" sz="2400" dirty="0" smtClean="0"/>
              <a:t>)</a:t>
            </a:r>
          </a:p>
          <a:p>
            <a:r>
              <a:rPr lang="pt-BR" sz="2400" b="1" dirty="0" smtClean="0"/>
              <a:t>Final Time Complexity: O(nlog⁡n)</a:t>
            </a:r>
            <a:endParaRPr lang="en-US" sz="2400" b="1" dirty="0"/>
          </a:p>
        </p:txBody>
      </p:sp>
      <p:pic>
        <p:nvPicPr>
          <p:cNvPr id="1027" name="Picture 3"/>
          <p:cNvPicPr>
            <a:picLocks noChangeAspect="1" noChangeArrowheads="1"/>
          </p:cNvPicPr>
          <p:nvPr/>
        </p:nvPicPr>
        <p:blipFill>
          <a:blip r:embed="rId2" cstate="print"/>
          <a:srcRect/>
          <a:stretch>
            <a:fillRect/>
          </a:stretch>
        </p:blipFill>
        <p:spPr bwMode="auto">
          <a:xfrm>
            <a:off x="5105400" y="228600"/>
            <a:ext cx="3733800" cy="91440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r>
              <a:rPr lang="en-US" dirty="0" smtClean="0"/>
              <a:t>Objects:       1      2     3      4     5     6      7 </a:t>
            </a:r>
          </a:p>
          <a:p>
            <a:r>
              <a:rPr lang="en-US" dirty="0" smtClean="0"/>
              <a:t>Profit (P):     10   5    15     7     6     18    3</a:t>
            </a:r>
          </a:p>
          <a:p>
            <a:r>
              <a:rPr lang="en-US" dirty="0" smtClean="0"/>
              <a:t>Weight(w):   2     3     5      7     1      4     1</a:t>
            </a:r>
          </a:p>
          <a:p>
            <a:r>
              <a:rPr lang="en-US" dirty="0" smtClean="0"/>
              <a:t>M</a:t>
            </a:r>
            <a:r>
              <a:rPr lang="en-US" smtClean="0"/>
              <a:t> </a:t>
            </a:r>
            <a:r>
              <a:rPr lang="en-US" dirty="0" smtClean="0"/>
              <a:t>(Weight of the knapsack): 15</a:t>
            </a:r>
          </a:p>
          <a:p>
            <a:r>
              <a:rPr lang="en-US" dirty="0" smtClean="0"/>
              <a:t>n (no of items): 7</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Step 1: Calculate P/W and Sort in Non-Increasing Order</a:t>
            </a:r>
            <a:endParaRPr lang="en-US" dirty="0"/>
          </a:p>
        </p:txBody>
      </p:sp>
      <p:pic>
        <p:nvPicPr>
          <p:cNvPr id="4098" name="Picture 2"/>
          <p:cNvPicPr>
            <a:picLocks noChangeAspect="1" noChangeArrowheads="1"/>
          </p:cNvPicPr>
          <p:nvPr/>
        </p:nvPicPr>
        <p:blipFill>
          <a:blip r:embed="rId2" cstate="print"/>
          <a:srcRect/>
          <a:stretch>
            <a:fillRect/>
          </a:stretch>
        </p:blipFill>
        <p:spPr bwMode="auto">
          <a:xfrm>
            <a:off x="609600" y="1828800"/>
            <a:ext cx="8153400" cy="4038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After sorting based on </a:t>
            </a:r>
            <a:r>
              <a:rPr lang="en-US" b="1" dirty="0" smtClean="0"/>
              <a:t>P/W ratio</a:t>
            </a:r>
            <a:r>
              <a:rPr lang="en-US" dirty="0" smtClean="0"/>
              <a:t>:</a:t>
            </a:r>
            <a:endParaRPr lang="en-US" dirty="0"/>
          </a:p>
        </p:txBody>
      </p:sp>
      <p:sp>
        <p:nvSpPr>
          <p:cNvPr id="3" name="Content Placeholder 2"/>
          <p:cNvSpPr>
            <a:spLocks noGrp="1"/>
          </p:cNvSpPr>
          <p:nvPr>
            <p:ph idx="1"/>
          </p:nvPr>
        </p:nvSpPr>
        <p:spPr/>
        <p:txBody>
          <a:bodyPr/>
          <a:lstStyle/>
          <a:p>
            <a:endParaRPr lang="en-US" dirty="0"/>
          </a:p>
        </p:txBody>
      </p:sp>
      <p:pic>
        <p:nvPicPr>
          <p:cNvPr id="5122" name="Picture 2"/>
          <p:cNvPicPr>
            <a:picLocks noChangeAspect="1" noChangeArrowheads="1"/>
          </p:cNvPicPr>
          <p:nvPr/>
        </p:nvPicPr>
        <p:blipFill>
          <a:blip r:embed="rId2" cstate="print"/>
          <a:srcRect/>
          <a:stretch>
            <a:fillRect/>
          </a:stretch>
        </p:blipFill>
        <p:spPr bwMode="auto">
          <a:xfrm>
            <a:off x="457200" y="1524000"/>
            <a:ext cx="8305800" cy="4724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67400" cy="533400"/>
          </a:xfrm>
        </p:spPr>
        <p:txBody>
          <a:bodyPr>
            <a:normAutofit fontScale="90000"/>
          </a:bodyPr>
          <a:lstStyle/>
          <a:p>
            <a:pPr algn="l"/>
            <a:r>
              <a:rPr lang="en-US" sz="3200" dirty="0" smtClean="0"/>
              <a:t>Step 2: Greedy Selection</a:t>
            </a:r>
            <a:endParaRPr lang="en-US" sz="3200" dirty="0"/>
          </a:p>
        </p:txBody>
      </p:sp>
      <p:sp>
        <p:nvSpPr>
          <p:cNvPr id="3" name="Content Placeholder 2"/>
          <p:cNvSpPr>
            <a:spLocks noGrp="1"/>
          </p:cNvSpPr>
          <p:nvPr>
            <p:ph idx="1"/>
          </p:nvPr>
        </p:nvSpPr>
        <p:spPr>
          <a:xfrm>
            <a:off x="457200" y="990600"/>
            <a:ext cx="8229600" cy="5135563"/>
          </a:xfrm>
        </p:spPr>
        <p:txBody>
          <a:bodyPr/>
          <a:lstStyle/>
          <a:p>
            <a:r>
              <a:rPr lang="en-US" b="1" dirty="0" smtClean="0"/>
              <a:t>Knapsack Capacity = 15</a:t>
            </a:r>
            <a:endParaRPr lang="en-US" dirty="0"/>
          </a:p>
        </p:txBody>
      </p:sp>
      <p:pic>
        <p:nvPicPr>
          <p:cNvPr id="6146" name="Picture 2"/>
          <p:cNvPicPr>
            <a:picLocks noChangeAspect="1" noChangeArrowheads="1"/>
          </p:cNvPicPr>
          <p:nvPr/>
        </p:nvPicPr>
        <p:blipFill>
          <a:blip r:embed="rId2" cstate="print"/>
          <a:srcRect/>
          <a:stretch>
            <a:fillRect/>
          </a:stretch>
        </p:blipFill>
        <p:spPr bwMode="auto">
          <a:xfrm>
            <a:off x="609600" y="2209800"/>
            <a:ext cx="8077200" cy="3505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endParaRPr lang="en-US" sz="6000" dirty="0" smtClean="0"/>
          </a:p>
          <a:p>
            <a:pPr algn="ctr">
              <a:buNone/>
            </a:pPr>
            <a:r>
              <a:rPr lang="en-US" sz="6000" dirty="0" smtClean="0"/>
              <a:t>Huffman Coding</a:t>
            </a:r>
            <a:endParaRPr lang="en-US" sz="6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Huffman Coding</a:t>
            </a:r>
            <a:endParaRPr lang="en-US" dirty="0"/>
          </a:p>
        </p:txBody>
      </p:sp>
      <p:sp>
        <p:nvSpPr>
          <p:cNvPr id="3" name="Content Placeholder 2"/>
          <p:cNvSpPr>
            <a:spLocks noGrp="1"/>
          </p:cNvSpPr>
          <p:nvPr>
            <p:ph idx="1"/>
          </p:nvPr>
        </p:nvSpPr>
        <p:spPr/>
        <p:txBody>
          <a:bodyPr>
            <a:normAutofit/>
          </a:bodyPr>
          <a:lstStyle/>
          <a:p>
            <a:pPr algn="just"/>
            <a:r>
              <a:rPr lang="en-US" dirty="0" smtClean="0"/>
              <a:t>Huffman Coding is a </a:t>
            </a:r>
            <a:r>
              <a:rPr lang="en-US" b="1" dirty="0" smtClean="0"/>
              <a:t>greedy algorithm</a:t>
            </a:r>
            <a:r>
              <a:rPr lang="en-US" dirty="0" smtClean="0"/>
              <a:t> used for </a:t>
            </a:r>
            <a:r>
              <a:rPr lang="en-US" b="1" dirty="0" smtClean="0"/>
              <a:t>lossless data compression</a:t>
            </a:r>
            <a:r>
              <a:rPr lang="en-US" dirty="0" smtClean="0"/>
              <a:t>.</a:t>
            </a:r>
          </a:p>
          <a:p>
            <a:r>
              <a:rPr lang="en-US" dirty="0" smtClean="0"/>
              <a:t>It is used to reduce the number of bits needed to store or transmit data.</a:t>
            </a:r>
          </a:p>
          <a:p>
            <a:pPr algn="just"/>
            <a:r>
              <a:rPr lang="en-US" dirty="0" smtClean="0"/>
              <a:t>It was first developed by David Huffman.</a:t>
            </a:r>
          </a:p>
          <a:p>
            <a:pPr algn="just"/>
            <a:r>
              <a:rPr lang="en-US" dirty="0" smtClean="0"/>
              <a:t>Data can be encoded efficiently using Huffman Codes.</a:t>
            </a:r>
          </a:p>
          <a:p>
            <a:pPr algn="just"/>
            <a:endParaRPr lang="en-US" dirty="0" smtClean="0"/>
          </a:p>
          <a:p>
            <a:pPr algn="just"/>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Huffman Coding</a:t>
            </a:r>
            <a:endParaRPr lang="en-US" dirty="0"/>
          </a:p>
        </p:txBody>
      </p:sp>
      <p:sp>
        <p:nvSpPr>
          <p:cNvPr id="3" name="Content Placeholder 2"/>
          <p:cNvSpPr>
            <a:spLocks noGrp="1"/>
          </p:cNvSpPr>
          <p:nvPr>
            <p:ph idx="1"/>
          </p:nvPr>
        </p:nvSpPr>
        <p:spPr>
          <a:xfrm>
            <a:off x="457200" y="1600200"/>
            <a:ext cx="8229600" cy="5029200"/>
          </a:xfrm>
        </p:spPr>
        <p:txBody>
          <a:bodyPr>
            <a:normAutofit/>
          </a:bodyPr>
          <a:lstStyle/>
          <a:p>
            <a:pPr algn="just"/>
            <a:r>
              <a:rPr lang="en-US" dirty="0" smtClean="0"/>
              <a:t>It is a widely used and beneficial technique for compressing data , in which there are frequently occurring characters.</a:t>
            </a:r>
          </a:p>
          <a:p>
            <a:pPr algn="just"/>
            <a:r>
              <a:rPr lang="en-US" dirty="0" smtClean="0"/>
              <a:t> It assigns </a:t>
            </a:r>
            <a:r>
              <a:rPr lang="en-US" b="1" dirty="0" smtClean="0"/>
              <a:t>variable-length codes</a:t>
            </a:r>
            <a:r>
              <a:rPr lang="en-US" dirty="0" smtClean="0"/>
              <a:t> to input characters based on their frequency, </a:t>
            </a:r>
          </a:p>
          <a:p>
            <a:pPr algn="just"/>
            <a:r>
              <a:rPr lang="en-US" dirty="0" smtClean="0"/>
              <a:t>It assigns shorter codes to more frequent characters and longer codes to less frequent characters.</a:t>
            </a:r>
          </a:p>
          <a:p>
            <a:pPr algn="just"/>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r>
              <a:rPr lang="en-US" dirty="0" smtClean="0"/>
              <a:t>Suppose we have 15 characters in a data file.</a:t>
            </a:r>
          </a:p>
          <a:p>
            <a:r>
              <a:rPr lang="en-US" dirty="0" smtClean="0"/>
              <a:t> Normal Storage: 8 bits per character (ASCII) - </a:t>
            </a:r>
            <a:r>
              <a:rPr lang="en-US" b="1" dirty="0" smtClean="0"/>
              <a:t>8 x 15 =120 </a:t>
            </a:r>
            <a:r>
              <a:rPr lang="en-US" dirty="0" smtClean="0"/>
              <a:t>bits are required to send this string.</a:t>
            </a:r>
          </a:p>
          <a:p>
            <a:r>
              <a:rPr lang="en-US" dirty="0" smtClean="0"/>
              <a:t> </a:t>
            </a:r>
          </a:p>
        </p:txBody>
      </p:sp>
      <p:graphicFrame>
        <p:nvGraphicFramePr>
          <p:cNvPr id="5" name="Table 4"/>
          <p:cNvGraphicFramePr>
            <a:graphicFrameLocks noGrp="1"/>
          </p:cNvGraphicFramePr>
          <p:nvPr/>
        </p:nvGraphicFramePr>
        <p:xfrm>
          <a:off x="1219200" y="2743199"/>
          <a:ext cx="6096000" cy="3220721"/>
        </p:xfrm>
        <a:graphic>
          <a:graphicData uri="http://schemas.openxmlformats.org/drawingml/2006/table">
            <a:tbl>
              <a:tblPr firstRow="1" bandRow="1">
                <a:tableStyleId>{5C22544A-7EE6-4342-B048-85BDC9FD1C3A}</a:tableStyleId>
              </a:tblPr>
              <a:tblGrid>
                <a:gridCol w="2032000"/>
                <a:gridCol w="2032000"/>
                <a:gridCol w="2032000"/>
              </a:tblGrid>
              <a:tr h="637065">
                <a:tc>
                  <a:txBody>
                    <a:bodyPr/>
                    <a:lstStyle/>
                    <a:p>
                      <a:pPr algn="ctr"/>
                      <a:r>
                        <a:rPr lang="en-US" sz="2800" dirty="0" smtClean="0"/>
                        <a:t>Char</a:t>
                      </a:r>
                      <a:endParaRPr lang="en-US" sz="2800" dirty="0"/>
                    </a:p>
                  </a:txBody>
                  <a:tcPr/>
                </a:tc>
                <a:tc>
                  <a:txBody>
                    <a:bodyPr/>
                    <a:lstStyle/>
                    <a:p>
                      <a:pPr algn="ctr"/>
                      <a:r>
                        <a:rPr lang="en-US" sz="2800" dirty="0" smtClean="0"/>
                        <a:t>ASCII</a:t>
                      </a:r>
                      <a:endParaRPr lang="en-US" sz="2800" dirty="0"/>
                    </a:p>
                  </a:txBody>
                  <a:tcPr/>
                </a:tc>
                <a:tc>
                  <a:txBody>
                    <a:bodyPr/>
                    <a:lstStyle/>
                    <a:p>
                      <a:pPr algn="ctr"/>
                      <a:r>
                        <a:rPr lang="en-US" sz="2800" dirty="0" smtClean="0"/>
                        <a:t>Binary</a:t>
                      </a:r>
                      <a:endParaRPr lang="en-US" sz="2800" dirty="0"/>
                    </a:p>
                  </a:txBody>
                  <a:tcPr/>
                </a:tc>
              </a:tr>
              <a:tr h="645914">
                <a:tc>
                  <a:txBody>
                    <a:bodyPr/>
                    <a:lstStyle/>
                    <a:p>
                      <a:pPr algn="ctr"/>
                      <a:r>
                        <a:rPr lang="en-US" dirty="0" smtClean="0"/>
                        <a:t>  A</a:t>
                      </a:r>
                      <a:endParaRPr lang="en-US" dirty="0"/>
                    </a:p>
                  </a:txBody>
                  <a:tcPr/>
                </a:tc>
                <a:tc>
                  <a:txBody>
                    <a:bodyPr/>
                    <a:lstStyle/>
                    <a:p>
                      <a:pPr algn="ctr"/>
                      <a:r>
                        <a:rPr lang="en-US" dirty="0" smtClean="0"/>
                        <a:t>65</a:t>
                      </a:r>
                      <a:endParaRPr lang="en-US" dirty="0"/>
                    </a:p>
                  </a:txBody>
                  <a:tcPr/>
                </a:tc>
                <a:tc>
                  <a:txBody>
                    <a:bodyPr/>
                    <a:lstStyle/>
                    <a:p>
                      <a:pPr algn="ctr"/>
                      <a:r>
                        <a:rPr lang="en-US" dirty="0" smtClean="0"/>
                        <a:t>01000001</a:t>
                      </a:r>
                      <a:endParaRPr lang="en-US" dirty="0"/>
                    </a:p>
                  </a:txBody>
                  <a:tcPr/>
                </a:tc>
              </a:tr>
              <a:tr h="645914">
                <a:tc>
                  <a:txBody>
                    <a:bodyPr/>
                    <a:lstStyle/>
                    <a:p>
                      <a:pPr algn="ctr"/>
                      <a:r>
                        <a:rPr lang="en-US" dirty="0" smtClean="0"/>
                        <a:t>B</a:t>
                      </a:r>
                      <a:endParaRPr lang="en-US" dirty="0"/>
                    </a:p>
                  </a:txBody>
                  <a:tcPr/>
                </a:tc>
                <a:tc>
                  <a:txBody>
                    <a:bodyPr/>
                    <a:lstStyle/>
                    <a:p>
                      <a:pPr algn="ctr"/>
                      <a:r>
                        <a:rPr lang="en-US" dirty="0" smtClean="0"/>
                        <a:t>66</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01000010</a:t>
                      </a:r>
                    </a:p>
                  </a:txBody>
                  <a:tcPr/>
                </a:tc>
              </a:tr>
              <a:tr h="645914">
                <a:tc>
                  <a:txBody>
                    <a:bodyPr/>
                    <a:lstStyle/>
                    <a:p>
                      <a:pPr algn="ctr"/>
                      <a:r>
                        <a:rPr lang="en-US" dirty="0" smtClean="0"/>
                        <a:t>C</a:t>
                      </a:r>
                      <a:endParaRPr lang="en-US" dirty="0"/>
                    </a:p>
                  </a:txBody>
                  <a:tcPr/>
                </a:tc>
                <a:tc>
                  <a:txBody>
                    <a:bodyPr/>
                    <a:lstStyle/>
                    <a:p>
                      <a:pPr algn="ctr"/>
                      <a:r>
                        <a:rPr lang="en-US" dirty="0" smtClean="0"/>
                        <a:t>67</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01000011</a:t>
                      </a:r>
                    </a:p>
                  </a:txBody>
                  <a:tcPr/>
                </a:tc>
              </a:tr>
              <a:tr h="645914">
                <a:tc>
                  <a:txBody>
                    <a:bodyPr/>
                    <a:lstStyle/>
                    <a:p>
                      <a:pPr algn="ctr"/>
                      <a:r>
                        <a:rPr lang="en-US" dirty="0" smtClean="0"/>
                        <a:t>D</a:t>
                      </a:r>
                      <a:endParaRPr lang="en-US" dirty="0"/>
                    </a:p>
                  </a:txBody>
                  <a:tcPr/>
                </a:tc>
                <a:tc>
                  <a:txBody>
                    <a:bodyPr/>
                    <a:lstStyle/>
                    <a:p>
                      <a:pPr algn="ctr"/>
                      <a:r>
                        <a:rPr lang="en-US" dirty="0" smtClean="0"/>
                        <a:t>68</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01000100</a:t>
                      </a:r>
                    </a:p>
                  </a:txBody>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r>
              <a:rPr lang="en-US" dirty="0" smtClean="0"/>
              <a:t>But we want to compress the file and save it compactly. </a:t>
            </a:r>
          </a:p>
          <a:p>
            <a:endParaRPr lang="en-US" dirty="0" smtClean="0"/>
          </a:p>
          <a:p>
            <a:endParaRPr lang="en-US" dirty="0" smtClean="0"/>
          </a:p>
          <a:p>
            <a:endParaRPr lang="en-US" dirty="0" smtClean="0"/>
          </a:p>
          <a:p>
            <a:endParaRPr lang="en-US" dirty="0" smtClean="0"/>
          </a:p>
          <a:p>
            <a:r>
              <a:rPr lang="en-US" dirty="0" smtClean="0"/>
              <a:t>We can use----</a:t>
            </a:r>
          </a:p>
          <a:p>
            <a:r>
              <a:rPr lang="en-US" dirty="0" smtClean="0"/>
              <a:t>Fixed length coding</a:t>
            </a:r>
          </a:p>
          <a:p>
            <a:r>
              <a:rPr lang="en-US" dirty="0" smtClean="0"/>
              <a:t>Variable length coding</a:t>
            </a:r>
          </a:p>
        </p:txBody>
      </p:sp>
      <p:pic>
        <p:nvPicPr>
          <p:cNvPr id="1027" name="Picture 3"/>
          <p:cNvPicPr>
            <a:picLocks noChangeAspect="1" noChangeArrowheads="1"/>
          </p:cNvPicPr>
          <p:nvPr/>
        </p:nvPicPr>
        <p:blipFill>
          <a:blip r:embed="rId2" cstate="print"/>
          <a:srcRect/>
          <a:stretch>
            <a:fillRect/>
          </a:stretch>
        </p:blipFill>
        <p:spPr bwMode="auto">
          <a:xfrm>
            <a:off x="762000" y="1981200"/>
            <a:ext cx="7924800" cy="1447800"/>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943600"/>
          </a:xfrm>
        </p:spPr>
        <p:txBody>
          <a:bodyPr>
            <a:normAutofit fontScale="77500" lnSpcReduction="20000"/>
          </a:bodyPr>
          <a:lstStyle/>
          <a:p>
            <a:pPr algn="just"/>
            <a:r>
              <a:rPr lang="en-US" b="1" dirty="0" smtClean="0"/>
              <a:t>(i) Fixed length Code:</a:t>
            </a:r>
            <a:r>
              <a:rPr lang="en-US" dirty="0" smtClean="0"/>
              <a:t> Each letter represented by an equal number of bits. With a fixed length code, 2 bits per character:</a:t>
            </a:r>
          </a:p>
          <a:p>
            <a:pPr algn="just"/>
            <a:r>
              <a:rPr lang="pt-BR" dirty="0" smtClean="0"/>
              <a:t>A---- 00 </a:t>
            </a:r>
          </a:p>
          <a:p>
            <a:pPr algn="just"/>
            <a:r>
              <a:rPr lang="pt-BR" dirty="0" smtClean="0"/>
              <a:t>B ---- 01 </a:t>
            </a:r>
          </a:p>
          <a:p>
            <a:pPr algn="just"/>
            <a:r>
              <a:rPr lang="pt-BR" dirty="0" smtClean="0"/>
              <a:t>C ---- 10 </a:t>
            </a:r>
          </a:p>
          <a:p>
            <a:pPr algn="just"/>
            <a:r>
              <a:rPr lang="pt-BR" dirty="0" smtClean="0"/>
              <a:t>D ---- 11</a:t>
            </a:r>
          </a:p>
          <a:p>
            <a:pPr algn="just">
              <a:buNone/>
            </a:pPr>
            <a:r>
              <a:rPr lang="en-US" dirty="0" smtClean="0"/>
              <a:t>1. Data Encoding:</a:t>
            </a:r>
          </a:p>
          <a:p>
            <a:pPr algn="just"/>
            <a:r>
              <a:rPr lang="en-US" dirty="0" smtClean="0"/>
              <a:t>With 4 characters (A, B, C, D), a fixed-length code requires 2 bits –2*4=8</a:t>
            </a:r>
          </a:p>
          <a:p>
            <a:pPr algn="just"/>
            <a:r>
              <a:rPr lang="en-US" dirty="0" smtClean="0"/>
              <a:t>For 15 characters, the encoded data uses:</a:t>
            </a:r>
            <a:br>
              <a:rPr lang="en-US" dirty="0" smtClean="0"/>
            </a:br>
            <a:r>
              <a:rPr lang="en-US" dirty="0" smtClean="0"/>
              <a:t>15 characters × 2 bits = </a:t>
            </a:r>
            <a:r>
              <a:rPr lang="en-US" b="1" dirty="0" smtClean="0"/>
              <a:t>30 bits</a:t>
            </a:r>
          </a:p>
          <a:p>
            <a:pPr algn="just"/>
            <a:r>
              <a:rPr lang="en-US" b="1" dirty="0" smtClean="0"/>
              <a:t>For character : 4*8=32 bits</a:t>
            </a:r>
          </a:p>
          <a:p>
            <a:pPr algn="just"/>
            <a:r>
              <a:rPr lang="en-US" b="1" dirty="0" smtClean="0"/>
              <a:t>Total = 8+ 30+32=70bits</a:t>
            </a:r>
          </a:p>
          <a:p>
            <a:pPr algn="just"/>
            <a:r>
              <a:rPr lang="en-US" dirty="0" smtClean="0"/>
              <a:t>Problem: If one character occurs very often (say `a` occurs 50% of the time), we are still wasting 3 bits every time.</a:t>
            </a:r>
          </a:p>
          <a:p>
            <a:pPr algn="just"/>
            <a:endParaRPr lang="en-US" b="1" dirty="0" smtClean="0"/>
          </a:p>
          <a:p>
            <a:pPr algn="just"/>
            <a:endParaRPr lang="en-US" dirty="0" smtClean="0"/>
          </a:p>
          <a:p>
            <a:pPr algn="just"/>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lnSpcReduction="10000"/>
          </a:bodyPr>
          <a:lstStyle/>
          <a:p>
            <a:r>
              <a:rPr lang="en-US" b="1" dirty="0" smtClean="0"/>
              <a:t>ii) Huffman coding (variable length Code ):</a:t>
            </a:r>
          </a:p>
          <a:p>
            <a:pPr marL="514350" indent="-514350">
              <a:buFont typeface="+mj-lt"/>
              <a:buAutoNum type="arabicPeriod"/>
            </a:pPr>
            <a:r>
              <a:rPr lang="en-US" dirty="0" smtClean="0"/>
              <a:t> Count frequency of characters.</a:t>
            </a:r>
          </a:p>
          <a:p>
            <a:pPr marL="514350" indent="-514350">
              <a:buFont typeface="+mj-lt"/>
              <a:buAutoNum type="arabicPeriod"/>
            </a:pPr>
            <a:r>
              <a:rPr lang="en-US" dirty="0" smtClean="0"/>
              <a:t> Build a binary tree where low-frequency characters are deeper and high-frequency characters are closer to the root.</a:t>
            </a:r>
          </a:p>
          <a:p>
            <a:pPr marL="514350" indent="-514350">
              <a:buFont typeface="+mj-lt"/>
              <a:buAutoNum type="arabicPeriod"/>
            </a:pPr>
            <a:r>
              <a:rPr lang="en-US" dirty="0" smtClean="0"/>
              <a:t> Assign `0` to left edge and `1` to right edge.</a:t>
            </a:r>
          </a:p>
          <a:p>
            <a:pPr marL="514350" indent="-514350">
              <a:buFont typeface="+mj-lt"/>
              <a:buAutoNum type="arabicPeriod"/>
            </a:pPr>
            <a:r>
              <a:rPr lang="en-US" dirty="0" smtClean="0"/>
              <a:t> Traverse tree to generate variable-length codes</a:t>
            </a:r>
          </a:p>
          <a:p>
            <a:pPr marL="514350" indent="-514350"/>
            <a:r>
              <a:rPr lang="en-US" dirty="0" smtClean="0"/>
              <a:t>Once the data is encoded, it has to be decoded. Decoding is done using the same tree. </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77500" lnSpcReduction="20000"/>
          </a:bodyPr>
          <a:lstStyle/>
          <a:p>
            <a:r>
              <a:rPr lang="en-US" b="1" dirty="0" smtClean="0"/>
              <a:t> </a:t>
            </a:r>
            <a:r>
              <a:rPr lang="en-US" b="1" dirty="0" smtClean="0"/>
              <a:t>Huffman </a:t>
            </a:r>
            <a:r>
              <a:rPr lang="en-US" b="1" dirty="0" smtClean="0"/>
              <a:t>coding follows </a:t>
            </a:r>
            <a:r>
              <a:rPr lang="en-US" b="1" dirty="0" smtClean="0"/>
              <a:t>Greedy approach</a:t>
            </a:r>
            <a:r>
              <a:rPr lang="en-US" b="1" dirty="0" smtClean="0"/>
              <a:t>:</a:t>
            </a:r>
          </a:p>
          <a:p>
            <a:endParaRPr lang="en-US" b="1" dirty="0" smtClean="0"/>
          </a:p>
          <a:p>
            <a:r>
              <a:rPr lang="en-US" dirty="0" smtClean="0"/>
              <a:t> </a:t>
            </a:r>
            <a:r>
              <a:rPr lang="en-US" dirty="0" smtClean="0"/>
              <a:t>The greedy method works by making the locally optimal choice at each step, with the hope of reaching the global optimum.</a:t>
            </a:r>
          </a:p>
          <a:p>
            <a:pPr>
              <a:buNone/>
            </a:pPr>
            <a:r>
              <a:rPr lang="en-US" dirty="0" smtClean="0"/>
              <a:t> </a:t>
            </a:r>
          </a:p>
          <a:p>
            <a:pPr>
              <a:buNone/>
            </a:pPr>
            <a:r>
              <a:rPr lang="en-US" dirty="0" smtClean="0"/>
              <a:t>In Huffman coding:</a:t>
            </a:r>
          </a:p>
          <a:p>
            <a:endParaRPr lang="en-US" dirty="0" smtClean="0"/>
          </a:p>
          <a:p>
            <a:r>
              <a:rPr lang="en-US" dirty="0" smtClean="0"/>
              <a:t> At every step, we pick the two smallest frequency nodes </a:t>
            </a:r>
            <a:r>
              <a:rPr lang="en-US" b="1" dirty="0" smtClean="0">
                <a:solidFill>
                  <a:srgbClr val="C00000"/>
                </a:solidFill>
              </a:rPr>
              <a:t>(locally optimal choice).</a:t>
            </a:r>
          </a:p>
          <a:p>
            <a:r>
              <a:rPr lang="en-US" dirty="0" smtClean="0"/>
              <a:t> Combine them into a new node whose frequency is the sum.</a:t>
            </a:r>
          </a:p>
          <a:p>
            <a:r>
              <a:rPr lang="en-US" dirty="0" smtClean="0"/>
              <a:t> Repeat until only one tree remains (global optimum).</a:t>
            </a:r>
          </a:p>
          <a:p>
            <a:endParaRPr lang="en-US" dirty="0" smtClean="0"/>
          </a:p>
          <a:p>
            <a:r>
              <a:rPr lang="en-US" dirty="0" smtClean="0"/>
              <a:t>This greedy choice ensures that characters with higher frequency get shorter codes.</a:t>
            </a:r>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lstStyle/>
          <a:p>
            <a:r>
              <a:rPr lang="en-US" dirty="0" smtClean="0"/>
              <a:t>Steps for Huffman coding---</a:t>
            </a:r>
          </a:p>
          <a:p>
            <a:pPr marL="514350" indent="-514350">
              <a:buFont typeface="+mj-lt"/>
              <a:buAutoNum type="arabicPeriod"/>
            </a:pPr>
            <a:r>
              <a:rPr lang="en-US" dirty="0" smtClean="0"/>
              <a:t>Count frequency of characters.</a:t>
            </a:r>
            <a:endParaRPr lang="en-US" dirty="0"/>
          </a:p>
        </p:txBody>
      </p:sp>
      <p:pic>
        <p:nvPicPr>
          <p:cNvPr id="2051" name="Picture 3"/>
          <p:cNvPicPr>
            <a:picLocks noChangeAspect="1" noChangeArrowheads="1"/>
          </p:cNvPicPr>
          <p:nvPr/>
        </p:nvPicPr>
        <p:blipFill>
          <a:blip r:embed="rId2" cstate="print"/>
          <a:srcRect/>
          <a:stretch>
            <a:fillRect/>
          </a:stretch>
        </p:blipFill>
        <p:spPr bwMode="auto">
          <a:xfrm>
            <a:off x="1676400" y="3810000"/>
            <a:ext cx="4953000" cy="1238250"/>
          </a:xfrm>
          <a:prstGeom prst="rect">
            <a:avLst/>
          </a:prstGeom>
          <a:noFill/>
          <a:ln w="9525">
            <a:noFill/>
            <a:miter lim="800000"/>
            <a:headEnd/>
            <a:tailEnd/>
          </a:ln>
        </p:spPr>
      </p:pic>
      <p:pic>
        <p:nvPicPr>
          <p:cNvPr id="6" name="Picture 3"/>
          <p:cNvPicPr>
            <a:picLocks noChangeAspect="1" noChangeArrowheads="1"/>
          </p:cNvPicPr>
          <p:nvPr/>
        </p:nvPicPr>
        <p:blipFill>
          <a:blip r:embed="rId3" cstate="print"/>
          <a:srcRect/>
          <a:stretch>
            <a:fillRect/>
          </a:stretch>
        </p:blipFill>
        <p:spPr bwMode="auto">
          <a:xfrm>
            <a:off x="533400" y="2209800"/>
            <a:ext cx="7924800" cy="1447800"/>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382000" cy="5745163"/>
          </a:xfrm>
        </p:spPr>
        <p:txBody>
          <a:bodyPr/>
          <a:lstStyle/>
          <a:p>
            <a:pPr>
              <a:buNone/>
            </a:pPr>
            <a:r>
              <a:rPr lang="en-US" dirty="0" smtClean="0"/>
              <a:t>2. Insert the characters  and their frequencies in in a priority queue Q(min-heap), which keeps them ordered automatically</a:t>
            </a:r>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lgn="just">
              <a:buNone/>
            </a:pPr>
            <a:r>
              <a:rPr lang="en-US" dirty="0" smtClean="0"/>
              <a:t>3. Construct the Huffman Tree</a:t>
            </a:r>
          </a:p>
          <a:p>
            <a:pPr algn="just"/>
            <a:r>
              <a:rPr lang="en-US" dirty="0" smtClean="0"/>
              <a:t>Make each unique character as a leaf node.</a:t>
            </a:r>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1219200" y="2286000"/>
            <a:ext cx="5562600" cy="1905000"/>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algn="just">
              <a:buNone/>
            </a:pPr>
            <a:r>
              <a:rPr lang="en-US" dirty="0" smtClean="0"/>
              <a:t>4. Create a new node `z` with frequency = sum of those two. </a:t>
            </a:r>
          </a:p>
          <a:p>
            <a:r>
              <a:rPr lang="en-US" dirty="0" smtClean="0"/>
              <a:t>Set the value of the z as the sum of the above two minimum frequencies.</a:t>
            </a:r>
          </a:p>
          <a:p>
            <a:pPr>
              <a:buNone/>
            </a:pPr>
            <a:r>
              <a:rPr lang="en-US" dirty="0" smtClean="0"/>
              <a:t>    </a:t>
            </a:r>
            <a:r>
              <a:rPr lang="en-US" dirty="0" smtClean="0">
                <a:solidFill>
                  <a:srgbClr val="C00000"/>
                </a:solidFill>
              </a:rPr>
              <a:t>(EXTRACT-MIN twice(get 2 smallest),create a new node and insert back)</a:t>
            </a:r>
          </a:p>
          <a:p>
            <a:pPr>
              <a:buNone/>
            </a:pPr>
            <a:endParaRPr lang="en-US" dirty="0"/>
          </a:p>
        </p:txBody>
      </p:sp>
      <p:pic>
        <p:nvPicPr>
          <p:cNvPr id="4099" name="Picture 3"/>
          <p:cNvPicPr>
            <a:picLocks noChangeAspect="1" noChangeArrowheads="1"/>
          </p:cNvPicPr>
          <p:nvPr/>
        </p:nvPicPr>
        <p:blipFill>
          <a:blip r:embed="rId2" cstate="print"/>
          <a:srcRect/>
          <a:stretch>
            <a:fillRect/>
          </a:stretch>
        </p:blipFill>
        <p:spPr bwMode="auto">
          <a:xfrm>
            <a:off x="1066800" y="4800600"/>
            <a:ext cx="1885950" cy="1409700"/>
          </a:xfrm>
          <a:prstGeom prst="rect">
            <a:avLst/>
          </a:prstGeom>
          <a:noFill/>
          <a:ln w="9525">
            <a:noFill/>
            <a:miter lim="800000"/>
            <a:headEnd/>
            <a:tailEnd/>
          </a:ln>
        </p:spPr>
      </p:pic>
      <p:pic>
        <p:nvPicPr>
          <p:cNvPr id="4100" name="Picture 4"/>
          <p:cNvPicPr>
            <a:picLocks noChangeAspect="1" noChangeArrowheads="1"/>
          </p:cNvPicPr>
          <p:nvPr/>
        </p:nvPicPr>
        <p:blipFill>
          <a:blip r:embed="rId3" cstate="print"/>
          <a:srcRect/>
          <a:stretch>
            <a:fillRect/>
          </a:stretch>
        </p:blipFill>
        <p:spPr bwMode="auto">
          <a:xfrm>
            <a:off x="914400" y="3505200"/>
            <a:ext cx="2819400" cy="1066800"/>
          </a:xfrm>
          <a:prstGeom prst="rect">
            <a:avLst/>
          </a:prstGeom>
          <a:noFill/>
          <a:ln w="9525">
            <a:noFill/>
            <a:miter lim="800000"/>
            <a:headEnd/>
            <a:tailEnd/>
          </a:ln>
        </p:spPr>
      </p:pic>
      <p:sp>
        <p:nvSpPr>
          <p:cNvPr id="9" name="Rectangle 8"/>
          <p:cNvSpPr/>
          <p:nvPr/>
        </p:nvSpPr>
        <p:spPr>
          <a:xfrm>
            <a:off x="2667000" y="4953000"/>
            <a:ext cx="3687420" cy="369332"/>
          </a:xfrm>
          <a:prstGeom prst="rect">
            <a:avLst/>
          </a:prstGeom>
        </p:spPr>
        <p:txBody>
          <a:bodyPr wrap="none">
            <a:spAutoFit/>
          </a:bodyPr>
          <a:lstStyle/>
          <a:p>
            <a:r>
              <a:rPr lang="en-US" dirty="0" smtClean="0"/>
              <a:t>Getting the sum of the least numbers</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lstStyle/>
          <a:p>
            <a:pPr>
              <a:buNone/>
            </a:pPr>
            <a:r>
              <a:rPr lang="en-US" dirty="0" smtClean="0"/>
              <a:t>5. Remove these two minimum frequencies from Q and add the sum into the list of frequencies (* denote the internal nodes in the figure).</a:t>
            </a:r>
          </a:p>
          <a:p>
            <a:pPr>
              <a:buNone/>
            </a:pPr>
            <a:endParaRPr lang="en-US" dirty="0" smtClean="0"/>
          </a:p>
          <a:p>
            <a:pPr>
              <a:buNone/>
            </a:pPr>
            <a:r>
              <a:rPr lang="en-US" dirty="0" smtClean="0"/>
              <a:t>6.Insert node z into the tree.</a:t>
            </a:r>
          </a:p>
          <a:p>
            <a:endParaRPr lang="en-US" dirty="0"/>
          </a:p>
        </p:txBody>
      </p:sp>
      <p:pic>
        <p:nvPicPr>
          <p:cNvPr id="4" name="Picture 5"/>
          <p:cNvPicPr>
            <a:picLocks noChangeAspect="1" noChangeArrowheads="1"/>
          </p:cNvPicPr>
          <p:nvPr/>
        </p:nvPicPr>
        <p:blipFill>
          <a:blip r:embed="rId2" cstate="print"/>
          <a:srcRect/>
          <a:stretch>
            <a:fillRect/>
          </a:stretch>
        </p:blipFill>
        <p:spPr bwMode="auto">
          <a:xfrm>
            <a:off x="2514600" y="4572000"/>
            <a:ext cx="2971800" cy="1219200"/>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lstStyle/>
          <a:p>
            <a:pPr>
              <a:buNone/>
            </a:pPr>
            <a:r>
              <a:rPr lang="en-US" dirty="0" smtClean="0"/>
              <a:t>7. Repeat steps 3 to 5 for all the characters</a:t>
            </a:r>
            <a:endParaRPr lang="en-US" dirty="0"/>
          </a:p>
        </p:txBody>
      </p:sp>
      <p:pic>
        <p:nvPicPr>
          <p:cNvPr id="5122" name="Picture 2"/>
          <p:cNvPicPr>
            <a:picLocks noChangeAspect="1" noChangeArrowheads="1"/>
          </p:cNvPicPr>
          <p:nvPr/>
        </p:nvPicPr>
        <p:blipFill>
          <a:blip r:embed="rId2" cstate="print"/>
          <a:srcRect/>
          <a:stretch>
            <a:fillRect/>
          </a:stretch>
        </p:blipFill>
        <p:spPr bwMode="auto">
          <a:xfrm>
            <a:off x="914400" y="1371600"/>
            <a:ext cx="4419600" cy="2209800"/>
          </a:xfrm>
          <a:prstGeom prst="rect">
            <a:avLst/>
          </a:prstGeom>
          <a:noFill/>
          <a:ln w="9525">
            <a:noFill/>
            <a:miter lim="800000"/>
            <a:headEnd/>
            <a:tailEnd/>
          </a:ln>
        </p:spPr>
      </p:pic>
      <p:pic>
        <p:nvPicPr>
          <p:cNvPr id="5123" name="Picture 3"/>
          <p:cNvPicPr>
            <a:picLocks noChangeAspect="1" noChangeArrowheads="1"/>
          </p:cNvPicPr>
          <p:nvPr/>
        </p:nvPicPr>
        <p:blipFill>
          <a:blip r:embed="rId3" cstate="print"/>
          <a:srcRect/>
          <a:stretch>
            <a:fillRect/>
          </a:stretch>
        </p:blipFill>
        <p:spPr bwMode="auto">
          <a:xfrm>
            <a:off x="5638800" y="1219200"/>
            <a:ext cx="3505200" cy="1371600"/>
          </a:xfrm>
          <a:prstGeom prst="rect">
            <a:avLst/>
          </a:prstGeom>
          <a:noFill/>
          <a:ln w="9525">
            <a:noFill/>
            <a:miter lim="800000"/>
            <a:headEnd/>
            <a:tailEnd/>
          </a:ln>
        </p:spPr>
      </p:pic>
      <p:pic>
        <p:nvPicPr>
          <p:cNvPr id="5124" name="Picture 4"/>
          <p:cNvPicPr>
            <a:picLocks noChangeAspect="1" noChangeArrowheads="1"/>
          </p:cNvPicPr>
          <p:nvPr/>
        </p:nvPicPr>
        <p:blipFill>
          <a:blip r:embed="rId4" cstate="print"/>
          <a:srcRect/>
          <a:stretch>
            <a:fillRect/>
          </a:stretch>
        </p:blipFill>
        <p:spPr bwMode="auto">
          <a:xfrm>
            <a:off x="838200" y="3733800"/>
            <a:ext cx="4419600" cy="3124200"/>
          </a:xfrm>
          <a:prstGeom prst="rect">
            <a:avLst/>
          </a:prstGeom>
          <a:noFill/>
          <a:ln w="9525">
            <a:noFill/>
            <a:miter lim="800000"/>
            <a:headEnd/>
            <a:tailEnd/>
          </a:ln>
        </p:spPr>
      </p:pic>
      <p:pic>
        <p:nvPicPr>
          <p:cNvPr id="5126" name="Picture 6"/>
          <p:cNvPicPr>
            <a:picLocks noChangeAspect="1" noChangeArrowheads="1"/>
          </p:cNvPicPr>
          <p:nvPr/>
        </p:nvPicPr>
        <p:blipFill>
          <a:blip r:embed="rId5" cstate="print"/>
          <a:srcRect/>
          <a:stretch>
            <a:fillRect/>
          </a:stretch>
        </p:blipFill>
        <p:spPr bwMode="auto">
          <a:xfrm>
            <a:off x="7010400" y="4038600"/>
            <a:ext cx="1143000" cy="1371600"/>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pPr>
              <a:buNone/>
            </a:pPr>
            <a:r>
              <a:rPr lang="en-US" dirty="0" smtClean="0"/>
              <a:t>8. For each non-leaf node, assign 0 to the left edge and 1 to the right edge.</a:t>
            </a:r>
            <a:br>
              <a:rPr lang="en-US" dirty="0" smtClean="0"/>
            </a:br>
            <a:endParaRPr lang="en-US" dirty="0"/>
          </a:p>
        </p:txBody>
      </p:sp>
      <p:pic>
        <p:nvPicPr>
          <p:cNvPr id="6146" name="Picture 2"/>
          <p:cNvPicPr>
            <a:picLocks noChangeAspect="1" noChangeArrowheads="1"/>
          </p:cNvPicPr>
          <p:nvPr/>
        </p:nvPicPr>
        <p:blipFill>
          <a:blip r:embed="rId2" cstate="print"/>
          <a:srcRect/>
          <a:stretch>
            <a:fillRect/>
          </a:stretch>
        </p:blipFill>
        <p:spPr bwMode="auto">
          <a:xfrm>
            <a:off x="914401" y="1828800"/>
            <a:ext cx="7238999" cy="4572000"/>
          </a:xfrm>
          <a:prstGeom prst="rect">
            <a:avLst/>
          </a:prstGeom>
          <a:noFill/>
          <a:ln w="9525">
            <a:noFill/>
            <a:miter lim="800000"/>
            <a:headEnd/>
            <a:tailEnd/>
          </a:ln>
        </p:spPr>
      </p:pic>
      <p:pic>
        <p:nvPicPr>
          <p:cNvPr id="1026" name="Picture 2"/>
          <p:cNvPicPr>
            <a:picLocks noChangeAspect="1" noChangeArrowheads="1"/>
          </p:cNvPicPr>
          <p:nvPr/>
        </p:nvPicPr>
        <p:blipFill>
          <a:blip r:embed="rId3" cstate="print"/>
          <a:srcRect/>
          <a:stretch>
            <a:fillRect/>
          </a:stretch>
        </p:blipFill>
        <p:spPr bwMode="auto">
          <a:xfrm>
            <a:off x="6629400" y="1600200"/>
            <a:ext cx="1771650" cy="1533525"/>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r>
              <a:rPr lang="en-US" dirty="0" smtClean="0"/>
              <a:t>Encode each char as </a:t>
            </a:r>
          </a:p>
          <a:p>
            <a:r>
              <a:rPr lang="en-US" dirty="0" smtClean="0"/>
              <a:t>A– 11</a:t>
            </a:r>
          </a:p>
          <a:p>
            <a:r>
              <a:rPr lang="en-US" dirty="0" smtClean="0"/>
              <a:t>B– 100</a:t>
            </a:r>
          </a:p>
          <a:p>
            <a:r>
              <a:rPr lang="en-US" dirty="0" smtClean="0"/>
              <a:t>C– 0</a:t>
            </a:r>
          </a:p>
          <a:p>
            <a:r>
              <a:rPr lang="en-US" dirty="0" smtClean="0"/>
              <a:t>D– 101</a:t>
            </a:r>
          </a:p>
          <a:p>
            <a:endParaRPr lang="en-US" dirty="0" smtClean="0"/>
          </a:p>
          <a:p>
            <a:endParaRPr lang="en-US" dirty="0" smtClean="0"/>
          </a:p>
          <a:p>
            <a:endParaRPr lang="en-US" dirty="0" smtClean="0"/>
          </a:p>
          <a:p>
            <a:endParaRPr lang="en-US" dirty="0" smtClean="0"/>
          </a:p>
          <a:p>
            <a:endParaRPr lang="en-US" dirty="0" smtClean="0"/>
          </a:p>
          <a:p>
            <a:endParaRPr lang="en-US" dirty="0"/>
          </a:p>
        </p:txBody>
      </p:sp>
      <p:pic>
        <p:nvPicPr>
          <p:cNvPr id="4" name="Picture 3"/>
          <p:cNvPicPr>
            <a:picLocks noChangeAspect="1" noChangeArrowheads="1"/>
          </p:cNvPicPr>
          <p:nvPr/>
        </p:nvPicPr>
        <p:blipFill>
          <a:blip r:embed="rId2" cstate="print"/>
          <a:srcRect/>
          <a:stretch>
            <a:fillRect/>
          </a:stretch>
        </p:blipFill>
        <p:spPr bwMode="auto">
          <a:xfrm>
            <a:off x="762000" y="3581400"/>
            <a:ext cx="7772400" cy="1447800"/>
          </a:xfrm>
          <a:prstGeom prst="rect">
            <a:avLst/>
          </a:prstGeom>
          <a:noFill/>
          <a:ln w="9525">
            <a:noFill/>
            <a:miter lim="800000"/>
            <a:headEnd/>
            <a:tailEnd/>
          </a:ln>
        </p:spPr>
      </p:pic>
      <p:pic>
        <p:nvPicPr>
          <p:cNvPr id="5" name="Picture 4"/>
          <p:cNvPicPr>
            <a:picLocks noChangeAspect="1" noChangeArrowheads="1"/>
          </p:cNvPicPr>
          <p:nvPr/>
        </p:nvPicPr>
        <p:blipFill>
          <a:blip r:embed="rId3" cstate="print"/>
          <a:srcRect/>
          <a:stretch>
            <a:fillRect/>
          </a:stretch>
        </p:blipFill>
        <p:spPr bwMode="auto">
          <a:xfrm>
            <a:off x="4038600" y="1447800"/>
            <a:ext cx="4114800" cy="1371600"/>
          </a:xfrm>
          <a:prstGeom prst="rect">
            <a:avLst/>
          </a:prstGeom>
          <a:noFill/>
          <a:ln w="9525">
            <a:noFill/>
            <a:miter lim="800000"/>
            <a:headEnd/>
            <a:tailEnd/>
          </a:ln>
        </p:spPr>
      </p:pic>
      <p:pic>
        <p:nvPicPr>
          <p:cNvPr id="3075" name="Picture 3"/>
          <p:cNvPicPr>
            <a:picLocks noChangeAspect="1" noChangeArrowheads="1"/>
          </p:cNvPicPr>
          <p:nvPr/>
        </p:nvPicPr>
        <p:blipFill>
          <a:blip r:embed="rId4" cstate="print"/>
          <a:srcRect/>
          <a:stretch>
            <a:fillRect/>
          </a:stretch>
        </p:blipFill>
        <p:spPr bwMode="auto">
          <a:xfrm>
            <a:off x="762000" y="5105400"/>
            <a:ext cx="7924800" cy="838200"/>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457200" y="685800"/>
            <a:ext cx="8229600" cy="4832092"/>
          </a:xfrm>
          <a:prstGeom prst="rect">
            <a:avLst/>
          </a:prstGeom>
        </p:spPr>
        <p:txBody>
          <a:bodyPr wrap="square">
            <a:spAutoFit/>
          </a:bodyPr>
          <a:lstStyle/>
          <a:p>
            <a:r>
              <a:rPr lang="en-US" sz="2800" dirty="0" smtClean="0"/>
              <a:t>For sending the above string over a network, we need to send:</a:t>
            </a:r>
          </a:p>
          <a:p>
            <a:r>
              <a:rPr lang="en-US" sz="2800" dirty="0" smtClean="0"/>
              <a:t> </a:t>
            </a:r>
          </a:p>
          <a:p>
            <a:r>
              <a:rPr lang="en-US" sz="2800" dirty="0" smtClean="0"/>
              <a:t>1. The </a:t>
            </a:r>
            <a:r>
              <a:rPr lang="en-US" sz="2800" b="1" dirty="0" smtClean="0">
                <a:solidFill>
                  <a:srgbClr val="C00000"/>
                </a:solidFill>
              </a:rPr>
              <a:t>compressed message bits </a:t>
            </a:r>
            <a:r>
              <a:rPr lang="en-US" sz="2800" dirty="0" smtClean="0"/>
              <a:t>(encoded string).</a:t>
            </a:r>
          </a:p>
          <a:p>
            <a:pPr algn="just"/>
            <a:r>
              <a:rPr lang="en-US" sz="2800" dirty="0" smtClean="0"/>
              <a:t>2. The </a:t>
            </a:r>
            <a:r>
              <a:rPr lang="en-US" sz="2800" b="1" dirty="0" smtClean="0">
                <a:solidFill>
                  <a:srgbClr val="C00000"/>
                </a:solidFill>
              </a:rPr>
              <a:t>codebook</a:t>
            </a:r>
            <a:r>
              <a:rPr lang="en-US" sz="2800" dirty="0" smtClean="0"/>
              <a:t> (mapping of characters to Huffman codes), so the receiver can decode.</a:t>
            </a:r>
          </a:p>
          <a:p>
            <a:pPr algn="just"/>
            <a:endParaRPr lang="en-US" sz="2800" dirty="0" smtClean="0"/>
          </a:p>
          <a:p>
            <a:pPr algn="just">
              <a:buFont typeface="Arial" pitchFamily="34" charset="0"/>
              <a:buChar char="•"/>
            </a:pPr>
            <a:r>
              <a:rPr lang="en-US" sz="2800" dirty="0" smtClean="0"/>
              <a:t> Here We do not need to send frequencies.</a:t>
            </a:r>
          </a:p>
          <a:p>
            <a:pPr algn="just"/>
            <a:endParaRPr lang="en-US" sz="2800" dirty="0" smtClean="0"/>
          </a:p>
          <a:p>
            <a:pPr algn="just">
              <a:buFont typeface="Arial" pitchFamily="34" charset="0"/>
              <a:buChar char="•"/>
            </a:pPr>
            <a:r>
              <a:rPr lang="en-US" sz="2800" dirty="0" smtClean="0"/>
              <a:t>The total size is given by the table below:</a:t>
            </a:r>
          </a:p>
          <a:p>
            <a:pPr algn="just">
              <a:buFont typeface="Arial" pitchFamily="34" charset="0"/>
              <a:buChar char="•"/>
            </a:pPr>
            <a:endParaRPr lang="en-US" sz="2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1"/>
          </p:nvPr>
        </p:nvPicPr>
        <p:blipFill>
          <a:blip r:embed="rId2" cstate="print"/>
          <a:srcRect/>
          <a:stretch>
            <a:fillRect/>
          </a:stretch>
        </p:blipFill>
        <p:spPr bwMode="auto">
          <a:xfrm>
            <a:off x="304800" y="152400"/>
            <a:ext cx="8382000" cy="4419600"/>
          </a:xfrm>
          <a:prstGeom prst="rect">
            <a:avLst/>
          </a:prstGeom>
          <a:noFill/>
          <a:ln w="9525">
            <a:noFill/>
            <a:miter lim="800000"/>
            <a:headEnd/>
            <a:tailEnd/>
          </a:ln>
        </p:spPr>
      </p:pic>
      <p:pic>
        <p:nvPicPr>
          <p:cNvPr id="2050" name="Picture 2"/>
          <p:cNvPicPr>
            <a:picLocks noChangeAspect="1" noChangeArrowheads="1"/>
          </p:cNvPicPr>
          <p:nvPr/>
        </p:nvPicPr>
        <p:blipFill>
          <a:blip r:embed="rId3" cstate="print"/>
          <a:srcRect/>
          <a:stretch>
            <a:fillRect/>
          </a:stretch>
        </p:blipFill>
        <p:spPr bwMode="auto">
          <a:xfrm>
            <a:off x="5791200" y="4038600"/>
            <a:ext cx="495300" cy="290286"/>
          </a:xfrm>
          <a:prstGeom prst="rect">
            <a:avLst/>
          </a:prstGeom>
          <a:noFill/>
          <a:ln w="9525">
            <a:noFill/>
            <a:miter lim="800000"/>
            <a:headEnd/>
            <a:tailEnd/>
          </a:ln>
        </p:spPr>
      </p:pic>
      <p:pic>
        <p:nvPicPr>
          <p:cNvPr id="4100" name="Picture 4"/>
          <p:cNvPicPr>
            <a:picLocks noChangeAspect="1" noChangeArrowheads="1"/>
          </p:cNvPicPr>
          <p:nvPr/>
        </p:nvPicPr>
        <p:blipFill>
          <a:blip r:embed="rId4" cstate="print"/>
          <a:srcRect/>
          <a:stretch>
            <a:fillRect/>
          </a:stretch>
        </p:blipFill>
        <p:spPr bwMode="auto">
          <a:xfrm>
            <a:off x="3048000" y="4191000"/>
            <a:ext cx="1152525" cy="362857"/>
          </a:xfrm>
          <a:prstGeom prst="rect">
            <a:avLst/>
          </a:prstGeom>
          <a:noFill/>
          <a:ln w="9525">
            <a:noFill/>
            <a:miter lim="800000"/>
            <a:headEnd/>
            <a:tailEnd/>
          </a:ln>
        </p:spPr>
      </p:pic>
      <p:sp>
        <p:nvSpPr>
          <p:cNvPr id="9" name="Rectangle 4"/>
          <p:cNvSpPr>
            <a:spLocks noChangeArrowheads="1"/>
          </p:cNvSpPr>
          <p:nvPr/>
        </p:nvSpPr>
        <p:spPr bwMode="auto">
          <a:xfrm>
            <a:off x="304800" y="4703564"/>
            <a:ext cx="8534400" cy="2154436"/>
          </a:xfrm>
          <a:prstGeom prst="rect">
            <a:avLst/>
          </a:prstGeom>
          <a:solidFill>
            <a:srgbClr val="F9FAFC"/>
          </a:solidFill>
          <a:ln w="9525">
            <a:noFill/>
            <a:miter lim="800000"/>
            <a:headEnd/>
            <a:tailEnd/>
          </a:ln>
          <a:effectLst/>
        </p:spPr>
        <p:txBody>
          <a:bodyPr vert="horz" wrap="square" lIns="12696" tIns="0" rIns="12696" bIns="0" numCol="1" anchor="ctr" anchorCtr="0" compatLnSpc="1">
            <a:prstTxWarp prst="textNoShape">
              <a:avLst/>
            </a:prstTxWarp>
            <a:spAutoFit/>
          </a:bodyPr>
          <a:lstStyle/>
          <a:p>
            <a:pPr>
              <a:buFont typeface="Arial" pitchFamily="34" charset="0"/>
              <a:buChar char="•"/>
            </a:pPr>
            <a:r>
              <a:rPr lang="en-US" sz="2800" dirty="0" smtClean="0"/>
              <a:t>  4 characters need to be identified → assume 8 bits each → `4 × 8 = 32 bits`.</a:t>
            </a:r>
          </a:p>
          <a:p>
            <a:pPr>
              <a:buFont typeface="Arial" pitchFamily="34" charset="0"/>
              <a:buChar char="•"/>
            </a:pPr>
            <a:r>
              <a:rPr lang="en-US" sz="2800" dirty="0" smtClean="0"/>
              <a:t> Codes themselves (to tell receiver how many bits/code) → 9 bits (as per given). </a:t>
            </a:r>
          </a:p>
          <a:p>
            <a:r>
              <a:rPr lang="en-US" sz="2800" dirty="0" smtClean="0"/>
              <a:t>So, codebook size = 32 + 9 = 41 bits.</a:t>
            </a:r>
            <a:endParaRPr lang="en-US" sz="2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srcRect/>
          <a:stretch>
            <a:fillRect/>
          </a:stretch>
        </p:blipFill>
        <p:spPr bwMode="auto">
          <a:xfrm>
            <a:off x="457200" y="304800"/>
            <a:ext cx="8001000" cy="335280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5123" name="Picture 3"/>
          <p:cNvPicPr>
            <a:picLocks noChangeAspect="1" noChangeArrowheads="1"/>
          </p:cNvPicPr>
          <p:nvPr/>
        </p:nvPicPr>
        <p:blipFill>
          <a:blip r:embed="rId3" cstate="print"/>
          <a:srcRect/>
          <a:stretch>
            <a:fillRect/>
          </a:stretch>
        </p:blipFill>
        <p:spPr bwMode="auto">
          <a:xfrm>
            <a:off x="381000" y="4114800"/>
            <a:ext cx="8229600" cy="228600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9" name="Rectangle 8"/>
          <p:cNvSpPr/>
          <p:nvPr/>
        </p:nvSpPr>
        <p:spPr>
          <a:xfrm>
            <a:off x="6172200" y="5105400"/>
            <a:ext cx="2590800"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smtClean="0"/>
              <a:t>% Savings = (Savings ÷ Original size) × 100</a:t>
            </a:r>
          </a:p>
          <a:p>
            <a:r>
              <a:rPr lang="en-US" dirty="0" smtClean="0"/>
              <a:t>          = (51 ÷ 120) × 100</a:t>
            </a:r>
          </a:p>
          <a:p>
            <a:r>
              <a:rPr lang="en-US" dirty="0" smtClean="0"/>
              <a:t>          ≈ 42.5 %</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Decoding the code</a:t>
            </a:r>
            <a:br>
              <a:rPr lang="en-US" b="1" dirty="0" smtClean="0"/>
            </a:br>
            <a:endParaRPr lang="en-US" dirty="0"/>
          </a:p>
        </p:txBody>
      </p:sp>
      <p:sp>
        <p:nvSpPr>
          <p:cNvPr id="3" name="Content Placeholder 2"/>
          <p:cNvSpPr>
            <a:spLocks noGrp="1"/>
          </p:cNvSpPr>
          <p:nvPr>
            <p:ph idx="1"/>
          </p:nvPr>
        </p:nvSpPr>
        <p:spPr>
          <a:xfrm>
            <a:off x="457200" y="990600"/>
            <a:ext cx="8229600" cy="5135563"/>
          </a:xfrm>
        </p:spPr>
        <p:txBody>
          <a:bodyPr/>
          <a:lstStyle/>
          <a:p>
            <a:r>
              <a:rPr lang="en-US" dirty="0" smtClean="0"/>
              <a:t>For decoding the code, we can take the code and traverse through the tree to find the character.</a:t>
            </a:r>
          </a:p>
          <a:p>
            <a:r>
              <a:rPr lang="en-US" dirty="0" smtClean="0"/>
              <a:t>Let 101 is to be decoded, we can traverse from the root as in the figure below.</a:t>
            </a:r>
          </a:p>
          <a:p>
            <a:endParaRPr lang="en-US" dirty="0"/>
          </a:p>
        </p:txBody>
      </p:sp>
      <p:pic>
        <p:nvPicPr>
          <p:cNvPr id="62467" name="Picture 3"/>
          <p:cNvPicPr>
            <a:picLocks noChangeAspect="1" noChangeArrowheads="1"/>
          </p:cNvPicPr>
          <p:nvPr/>
        </p:nvPicPr>
        <p:blipFill>
          <a:blip r:embed="rId2" cstate="print"/>
          <a:srcRect/>
          <a:stretch>
            <a:fillRect/>
          </a:stretch>
        </p:blipFill>
        <p:spPr bwMode="auto">
          <a:xfrm>
            <a:off x="2362200" y="3733800"/>
            <a:ext cx="4572000" cy="2876550"/>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Huffman Coding Algorithm</a:t>
            </a:r>
            <a:br>
              <a:rPr lang="en-US" b="1" dirty="0" smtClean="0"/>
            </a:br>
            <a:endParaRPr lang="en-US" dirty="0"/>
          </a:p>
        </p:txBody>
      </p:sp>
      <p:sp>
        <p:nvSpPr>
          <p:cNvPr id="3" name="Content Placeholder 2"/>
          <p:cNvSpPr>
            <a:spLocks noGrp="1"/>
          </p:cNvSpPr>
          <p:nvPr>
            <p:ph idx="1"/>
          </p:nvPr>
        </p:nvSpPr>
        <p:spPr>
          <a:xfrm>
            <a:off x="457200" y="838200"/>
            <a:ext cx="8305800" cy="5562600"/>
          </a:xfrm>
        </p:spPr>
        <p:txBody>
          <a:bodyPr>
            <a:noAutofit/>
          </a:bodyPr>
          <a:lstStyle/>
          <a:p>
            <a:pPr>
              <a:buNone/>
            </a:pPr>
            <a:r>
              <a:rPr lang="en-US" sz="2800" dirty="0" err="1" smtClean="0"/>
              <a:t>Huffman_Coding</a:t>
            </a:r>
            <a:r>
              <a:rPr lang="en-US" sz="2800" dirty="0" smtClean="0"/>
              <a:t>(characters, frequencies):</a:t>
            </a:r>
          </a:p>
          <a:p>
            <a:pPr>
              <a:buNone/>
            </a:pPr>
            <a:r>
              <a:rPr lang="en-US" sz="2800" dirty="0" smtClean="0"/>
              <a:t>    Input: </a:t>
            </a:r>
          </a:p>
          <a:p>
            <a:pPr>
              <a:buNone/>
            </a:pPr>
            <a:r>
              <a:rPr lang="en-US" sz="2800" dirty="0" smtClean="0"/>
              <a:t>        characters[]  → array of characters</a:t>
            </a:r>
          </a:p>
          <a:p>
            <a:pPr>
              <a:buNone/>
            </a:pPr>
            <a:r>
              <a:rPr lang="en-US" sz="2800" dirty="0" smtClean="0"/>
              <a:t>        frequencies[] → array of corresponding frequencies</a:t>
            </a:r>
          </a:p>
          <a:p>
            <a:pPr>
              <a:buNone/>
            </a:pPr>
            <a:r>
              <a:rPr lang="en-US" sz="2800" dirty="0" smtClean="0"/>
              <a:t>    Output:</a:t>
            </a:r>
          </a:p>
          <a:p>
            <a:pPr>
              <a:buNone/>
            </a:pPr>
            <a:r>
              <a:rPr lang="en-US" sz="2800" dirty="0" smtClean="0"/>
              <a:t>        Huffman tree and codes for characters</a:t>
            </a:r>
          </a:p>
          <a:p>
            <a:pPr>
              <a:buNone/>
            </a:pPr>
            <a:endParaRPr lang="en-US" sz="2800" dirty="0" smtClean="0"/>
          </a:p>
          <a:p>
            <a:pPr>
              <a:buNone/>
            </a:pPr>
            <a:r>
              <a:rPr lang="en-US" sz="2800" dirty="0" smtClean="0"/>
              <a:t>    1. Create a priority queue Q (min-heap) of nodes</a:t>
            </a:r>
          </a:p>
          <a:p>
            <a:pPr>
              <a:buNone/>
            </a:pPr>
            <a:r>
              <a:rPr lang="en-US" sz="2800" dirty="0" smtClean="0"/>
              <a:t>    2. For each character c in characters:</a:t>
            </a:r>
          </a:p>
          <a:p>
            <a:pPr>
              <a:buNone/>
            </a:pPr>
            <a:r>
              <a:rPr lang="en-US" sz="2800" dirty="0" smtClean="0"/>
              <a:t>           create a node n with frequency = freq(c)</a:t>
            </a:r>
          </a:p>
          <a:p>
            <a:pPr>
              <a:buNone/>
            </a:pPr>
            <a:r>
              <a:rPr lang="en-US" sz="2800" dirty="0" smtClean="0"/>
              <a:t>           insert n into Q</a:t>
            </a:r>
          </a:p>
          <a:p>
            <a:pPr>
              <a:buNone/>
            </a:pPr>
            <a:r>
              <a:rPr lang="en-US" sz="1600" dirty="0" smtClean="0"/>
              <a:t>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Huffman Coding Algorithm</a:t>
            </a:r>
            <a:br>
              <a:rPr lang="en-US" b="1" dirty="0" smtClean="0"/>
            </a:br>
            <a:endParaRPr lang="en-US" dirty="0"/>
          </a:p>
        </p:txBody>
      </p:sp>
      <p:sp>
        <p:nvSpPr>
          <p:cNvPr id="3" name="Content Placeholder 2"/>
          <p:cNvSpPr>
            <a:spLocks noGrp="1"/>
          </p:cNvSpPr>
          <p:nvPr>
            <p:ph idx="1"/>
          </p:nvPr>
        </p:nvSpPr>
        <p:spPr>
          <a:xfrm>
            <a:off x="381000" y="838200"/>
            <a:ext cx="8305800" cy="5410200"/>
          </a:xfrm>
        </p:spPr>
        <p:txBody>
          <a:bodyPr>
            <a:noAutofit/>
          </a:bodyPr>
          <a:lstStyle/>
          <a:p>
            <a:pPr>
              <a:buNone/>
            </a:pPr>
            <a:r>
              <a:rPr lang="en-US" sz="1600" dirty="0" smtClean="0"/>
              <a:t>    </a:t>
            </a:r>
          </a:p>
          <a:p>
            <a:pPr>
              <a:buNone/>
            </a:pPr>
            <a:r>
              <a:rPr lang="en-US" sz="2800" dirty="0" smtClean="0"/>
              <a:t>    3. while size(Q) &gt; 1:</a:t>
            </a:r>
          </a:p>
          <a:p>
            <a:pPr>
              <a:buNone/>
            </a:pPr>
            <a:r>
              <a:rPr lang="en-US" sz="2800" dirty="0" smtClean="0"/>
              <a:t>           left  = </a:t>
            </a:r>
            <a:r>
              <a:rPr lang="en-US" sz="2800" dirty="0" err="1" smtClean="0"/>
              <a:t>extract_min</a:t>
            </a:r>
            <a:r>
              <a:rPr lang="en-US" sz="2800" dirty="0" smtClean="0"/>
              <a:t>(Q)   // least frequency node</a:t>
            </a:r>
          </a:p>
          <a:p>
            <a:pPr>
              <a:buNone/>
            </a:pPr>
            <a:r>
              <a:rPr lang="en-US" sz="2800" dirty="0" smtClean="0"/>
              <a:t>           right = </a:t>
            </a:r>
            <a:r>
              <a:rPr lang="en-US" sz="2800" dirty="0" err="1" smtClean="0"/>
              <a:t>extract_min</a:t>
            </a:r>
            <a:r>
              <a:rPr lang="en-US" sz="2800" dirty="0" smtClean="0"/>
              <a:t>(Q)   // second least frequency node</a:t>
            </a:r>
          </a:p>
          <a:p>
            <a:pPr>
              <a:buNone/>
            </a:pPr>
            <a:r>
              <a:rPr lang="en-US" sz="2800" dirty="0" smtClean="0"/>
              <a:t>           create a new node parent</a:t>
            </a:r>
          </a:p>
          <a:p>
            <a:pPr>
              <a:buNone/>
            </a:pPr>
            <a:r>
              <a:rPr lang="en-US" sz="2800" dirty="0" smtClean="0"/>
              <a:t>           </a:t>
            </a:r>
            <a:r>
              <a:rPr lang="en-US" sz="2800" dirty="0" err="1" smtClean="0"/>
              <a:t>parent.freq</a:t>
            </a:r>
            <a:r>
              <a:rPr lang="en-US" sz="2800" dirty="0" smtClean="0"/>
              <a:t> = </a:t>
            </a:r>
            <a:r>
              <a:rPr lang="en-US" sz="2800" dirty="0" err="1" smtClean="0"/>
              <a:t>left.freq</a:t>
            </a:r>
            <a:r>
              <a:rPr lang="en-US" sz="2800" dirty="0" smtClean="0"/>
              <a:t> + </a:t>
            </a:r>
            <a:r>
              <a:rPr lang="en-US" sz="2800" dirty="0" err="1" smtClean="0"/>
              <a:t>right.freq</a:t>
            </a:r>
            <a:endParaRPr lang="en-US" sz="2800" dirty="0" smtClean="0"/>
          </a:p>
          <a:p>
            <a:pPr>
              <a:buNone/>
            </a:pPr>
            <a:r>
              <a:rPr lang="en-US" sz="2800" dirty="0" smtClean="0"/>
              <a:t>           </a:t>
            </a:r>
            <a:r>
              <a:rPr lang="en-US" sz="2800" dirty="0" err="1" smtClean="0"/>
              <a:t>parent.left</a:t>
            </a:r>
            <a:r>
              <a:rPr lang="en-US" sz="2800" dirty="0" smtClean="0"/>
              <a:t> = left</a:t>
            </a:r>
          </a:p>
          <a:p>
            <a:pPr>
              <a:buNone/>
            </a:pPr>
            <a:r>
              <a:rPr lang="en-US" sz="2800" dirty="0" smtClean="0"/>
              <a:t>           </a:t>
            </a:r>
            <a:r>
              <a:rPr lang="en-US" sz="2800" dirty="0" err="1" smtClean="0"/>
              <a:t>parent.right</a:t>
            </a:r>
            <a:r>
              <a:rPr lang="en-US" sz="2800" dirty="0" smtClean="0"/>
              <a:t> = right</a:t>
            </a:r>
          </a:p>
          <a:p>
            <a:pPr>
              <a:buNone/>
            </a:pPr>
            <a:endParaRPr lang="en-US" sz="2800" dirty="0" smtClean="0"/>
          </a:p>
          <a:p>
            <a:pPr>
              <a:buNone/>
            </a:pPr>
            <a:r>
              <a:rPr lang="en-US" sz="2800" dirty="0" smtClean="0"/>
              <a:t>           insert parent into Q</a:t>
            </a:r>
          </a:p>
          <a:p>
            <a:pPr>
              <a:buNone/>
            </a:pPr>
            <a:r>
              <a:rPr lang="en-US" sz="1000" dirty="0" smtClean="0"/>
              <a:t>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Huffman Coding Algorithm</a:t>
            </a:r>
            <a:br>
              <a:rPr lang="en-US" b="1" dirty="0" smtClean="0"/>
            </a:br>
            <a:endParaRPr lang="en-US" dirty="0"/>
          </a:p>
        </p:txBody>
      </p:sp>
      <p:sp>
        <p:nvSpPr>
          <p:cNvPr id="3" name="Content Placeholder 2"/>
          <p:cNvSpPr>
            <a:spLocks noGrp="1"/>
          </p:cNvSpPr>
          <p:nvPr>
            <p:ph idx="1"/>
          </p:nvPr>
        </p:nvSpPr>
        <p:spPr>
          <a:xfrm>
            <a:off x="457200" y="838200"/>
            <a:ext cx="8305800" cy="5486400"/>
          </a:xfrm>
        </p:spPr>
        <p:txBody>
          <a:bodyPr>
            <a:noAutofit/>
          </a:bodyPr>
          <a:lstStyle/>
          <a:p>
            <a:pPr>
              <a:buNone/>
            </a:pPr>
            <a:endParaRPr lang="en-US" sz="1800" dirty="0" smtClean="0"/>
          </a:p>
          <a:p>
            <a:pPr>
              <a:buNone/>
            </a:pPr>
            <a:r>
              <a:rPr lang="en-US" sz="1800" dirty="0" smtClean="0"/>
              <a:t>   </a:t>
            </a:r>
            <a:r>
              <a:rPr lang="en-US" sz="2800" dirty="0" smtClean="0"/>
              <a:t> 4. root = </a:t>
            </a:r>
            <a:r>
              <a:rPr lang="en-US" sz="2800" dirty="0" err="1" smtClean="0"/>
              <a:t>extract_min</a:t>
            </a:r>
            <a:r>
              <a:rPr lang="en-US" sz="2800" dirty="0" smtClean="0"/>
              <a:t>(Q)   // final node is the root of Huffman tree</a:t>
            </a:r>
          </a:p>
          <a:p>
            <a:pPr>
              <a:buNone/>
            </a:pPr>
            <a:endParaRPr lang="en-US" sz="2800" dirty="0" smtClean="0"/>
          </a:p>
          <a:p>
            <a:pPr>
              <a:buNone/>
            </a:pPr>
            <a:r>
              <a:rPr lang="en-US" sz="2800" dirty="0" smtClean="0"/>
              <a:t>    5. Traverse the Huffman tree:</a:t>
            </a:r>
          </a:p>
          <a:p>
            <a:pPr>
              <a:buNone/>
            </a:pPr>
            <a:r>
              <a:rPr lang="en-US" sz="2800" dirty="0" smtClean="0"/>
              <a:t>           assign '0' to left edge, '1' to right edge</a:t>
            </a:r>
          </a:p>
          <a:p>
            <a:pPr>
              <a:buNone/>
            </a:pPr>
            <a:r>
              <a:rPr lang="en-US" sz="2800" dirty="0" smtClean="0"/>
              <a:t>           store the code for each character</a:t>
            </a:r>
          </a:p>
          <a:p>
            <a:pPr>
              <a:buNone/>
            </a:pPr>
            <a:endParaRPr lang="en-US" sz="2800" dirty="0" smtClean="0"/>
          </a:p>
          <a:p>
            <a:pPr>
              <a:buNone/>
            </a:pPr>
            <a:r>
              <a:rPr lang="en-US" sz="2800" dirty="0" smtClean="0"/>
              <a:t>    6. return codes for all characters</a:t>
            </a:r>
          </a:p>
          <a:p>
            <a:pPr>
              <a:buNone/>
            </a:pPr>
            <a:endParaRPr lang="en-US" sz="2800" dirty="0" smtClean="0"/>
          </a:p>
          <a:p>
            <a:pPr>
              <a:buNone/>
            </a:pPr>
            <a:r>
              <a:rPr lang="en-US" sz="1400" dirty="0" smtClean="0"/>
              <a:t>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Huffman Coding complexity analysis</a:t>
            </a:r>
            <a:br>
              <a:rPr lang="en-US" b="1" dirty="0" smtClean="0"/>
            </a:br>
            <a:endParaRPr lang="en-US" dirty="0"/>
          </a:p>
        </p:txBody>
      </p:sp>
      <p:grpSp>
        <p:nvGrpSpPr>
          <p:cNvPr id="7" name="Group 6"/>
          <p:cNvGrpSpPr/>
          <p:nvPr/>
        </p:nvGrpSpPr>
        <p:grpSpPr>
          <a:xfrm>
            <a:off x="685800" y="1219201"/>
            <a:ext cx="8077200" cy="5486399"/>
            <a:chOff x="685800" y="1219201"/>
            <a:chExt cx="8077200" cy="5486399"/>
          </a:xfrm>
        </p:grpSpPr>
        <p:pic>
          <p:nvPicPr>
            <p:cNvPr id="6146" name="Picture 2"/>
            <p:cNvPicPr>
              <a:picLocks noChangeAspect="1" noChangeArrowheads="1"/>
            </p:cNvPicPr>
            <p:nvPr/>
          </p:nvPicPr>
          <p:blipFill>
            <a:blip r:embed="rId2" cstate="print"/>
            <a:srcRect/>
            <a:stretch>
              <a:fillRect/>
            </a:stretch>
          </p:blipFill>
          <p:spPr bwMode="auto">
            <a:xfrm>
              <a:off x="685800" y="1219201"/>
              <a:ext cx="8077200" cy="5334000"/>
            </a:xfrm>
            <a:prstGeom prst="rect">
              <a:avLst/>
            </a:prstGeom>
            <a:noFill/>
            <a:ln w="9525">
              <a:noFill/>
              <a:miter lim="800000"/>
              <a:headEnd/>
              <a:tailEnd/>
            </a:ln>
          </p:spPr>
        </p:pic>
        <p:pic>
          <p:nvPicPr>
            <p:cNvPr id="6147" name="Picture 3"/>
            <p:cNvPicPr>
              <a:picLocks noChangeAspect="1" noChangeArrowheads="1"/>
            </p:cNvPicPr>
            <p:nvPr/>
          </p:nvPicPr>
          <p:blipFill>
            <a:blip r:embed="rId3" cstate="print"/>
            <a:srcRect/>
            <a:stretch>
              <a:fillRect/>
            </a:stretch>
          </p:blipFill>
          <p:spPr bwMode="auto">
            <a:xfrm>
              <a:off x="5562600" y="5562600"/>
              <a:ext cx="1066800" cy="1143000"/>
            </a:xfrm>
            <a:prstGeom prst="rect">
              <a:avLst/>
            </a:prstGeom>
            <a:noFill/>
            <a:ln w="9525">
              <a:noFill/>
              <a:miter lim="800000"/>
              <a:headEnd/>
              <a:tailEnd/>
            </a:ln>
          </p:spPr>
        </p:pic>
      </p:grpSp>
      <p:pic>
        <p:nvPicPr>
          <p:cNvPr id="6148" name="Picture 4"/>
          <p:cNvPicPr>
            <a:picLocks noChangeAspect="1" noChangeArrowheads="1"/>
          </p:cNvPicPr>
          <p:nvPr/>
        </p:nvPicPr>
        <p:blipFill>
          <a:blip r:embed="rId4" cstate="print"/>
          <a:srcRect/>
          <a:stretch>
            <a:fillRect/>
          </a:stretch>
        </p:blipFill>
        <p:spPr bwMode="auto">
          <a:xfrm>
            <a:off x="5867400" y="2667000"/>
            <a:ext cx="3048000" cy="1371600"/>
          </a:xfrm>
          <a:prstGeom prst="rect">
            <a:avLst/>
          </a:prstGeom>
          <a:noFill/>
          <a:ln w="9525">
            <a:noFill/>
            <a:miter lim="800000"/>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334962"/>
          </a:xfrm>
        </p:spPr>
        <p:txBody>
          <a:bodyPr>
            <a:normAutofit fontScale="90000"/>
          </a:bodyPr>
          <a:lstStyle/>
          <a:p>
            <a:r>
              <a:rPr lang="en-US" dirty="0" smtClean="0"/>
              <a:t>Example</a:t>
            </a:r>
            <a:endParaRPr lang="en-US" dirty="0"/>
          </a:p>
        </p:txBody>
      </p:sp>
      <p:graphicFrame>
        <p:nvGraphicFramePr>
          <p:cNvPr id="4" name="Content Placeholder 3"/>
          <p:cNvGraphicFramePr>
            <a:graphicFrameLocks noGrp="1"/>
          </p:cNvGraphicFramePr>
          <p:nvPr>
            <p:ph idx="1"/>
          </p:nvPr>
        </p:nvGraphicFramePr>
        <p:xfrm>
          <a:off x="228600" y="609600"/>
          <a:ext cx="4800600" cy="2560320"/>
        </p:xfrm>
        <a:graphic>
          <a:graphicData uri="http://schemas.openxmlformats.org/drawingml/2006/table">
            <a:tbl>
              <a:tblPr firstRow="1" bandRow="1">
                <a:tableStyleId>{5C22544A-7EE6-4342-B048-85BDC9FD1C3A}</a:tableStyleId>
              </a:tblPr>
              <a:tblGrid>
                <a:gridCol w="2400300"/>
                <a:gridCol w="2400300"/>
              </a:tblGrid>
              <a:tr h="348343">
                <a:tc>
                  <a:txBody>
                    <a:bodyPr/>
                    <a:lstStyle/>
                    <a:p>
                      <a:pPr algn="ctr"/>
                      <a:r>
                        <a:rPr lang="en-US" dirty="0" smtClean="0"/>
                        <a:t>Char</a:t>
                      </a:r>
                      <a:endParaRPr lang="en-US" dirty="0"/>
                    </a:p>
                  </a:txBody>
                  <a:tcPr/>
                </a:tc>
                <a:tc>
                  <a:txBody>
                    <a:bodyPr/>
                    <a:lstStyle/>
                    <a:p>
                      <a:pPr algn="ctr"/>
                      <a:r>
                        <a:rPr lang="en-US" dirty="0" smtClean="0"/>
                        <a:t>Frequency</a:t>
                      </a:r>
                      <a:endParaRPr lang="en-US" dirty="0"/>
                    </a:p>
                  </a:txBody>
                  <a:tcPr/>
                </a:tc>
              </a:tr>
              <a:tr h="348343">
                <a:tc>
                  <a:txBody>
                    <a:bodyPr/>
                    <a:lstStyle/>
                    <a:p>
                      <a:pPr algn="ctr"/>
                      <a:r>
                        <a:rPr lang="en-US" dirty="0" smtClean="0"/>
                        <a:t>A</a:t>
                      </a:r>
                      <a:endParaRPr lang="en-US" dirty="0"/>
                    </a:p>
                  </a:txBody>
                  <a:tcPr/>
                </a:tc>
                <a:tc>
                  <a:txBody>
                    <a:bodyPr/>
                    <a:lstStyle/>
                    <a:p>
                      <a:pPr algn="ctr"/>
                      <a:r>
                        <a:rPr lang="en-US" dirty="0" smtClean="0"/>
                        <a:t>5</a:t>
                      </a:r>
                      <a:endParaRPr lang="en-US" dirty="0"/>
                    </a:p>
                  </a:txBody>
                  <a:tcPr/>
                </a:tc>
              </a:tr>
              <a:tr h="348343">
                <a:tc>
                  <a:txBody>
                    <a:bodyPr/>
                    <a:lstStyle/>
                    <a:p>
                      <a:pPr algn="ctr"/>
                      <a:r>
                        <a:rPr lang="en-US" dirty="0" smtClean="0"/>
                        <a:t>B</a:t>
                      </a:r>
                      <a:endParaRPr lang="en-US" dirty="0"/>
                    </a:p>
                  </a:txBody>
                  <a:tcPr/>
                </a:tc>
                <a:tc>
                  <a:txBody>
                    <a:bodyPr/>
                    <a:lstStyle/>
                    <a:p>
                      <a:pPr algn="ctr"/>
                      <a:r>
                        <a:rPr lang="en-US" dirty="0" smtClean="0"/>
                        <a:t>9</a:t>
                      </a:r>
                      <a:endParaRPr lang="en-US" dirty="0"/>
                    </a:p>
                  </a:txBody>
                  <a:tcPr/>
                </a:tc>
              </a:tr>
              <a:tr h="348343">
                <a:tc>
                  <a:txBody>
                    <a:bodyPr/>
                    <a:lstStyle/>
                    <a:p>
                      <a:pPr algn="ctr"/>
                      <a:r>
                        <a:rPr lang="en-US" dirty="0" smtClean="0"/>
                        <a:t>C</a:t>
                      </a:r>
                      <a:endParaRPr lang="en-US" dirty="0"/>
                    </a:p>
                  </a:txBody>
                  <a:tcPr/>
                </a:tc>
                <a:tc>
                  <a:txBody>
                    <a:bodyPr/>
                    <a:lstStyle/>
                    <a:p>
                      <a:pPr algn="ctr"/>
                      <a:r>
                        <a:rPr lang="en-US" dirty="0" smtClean="0"/>
                        <a:t>12</a:t>
                      </a:r>
                      <a:endParaRPr lang="en-US" dirty="0"/>
                    </a:p>
                  </a:txBody>
                  <a:tcPr/>
                </a:tc>
              </a:tr>
              <a:tr h="348343">
                <a:tc>
                  <a:txBody>
                    <a:bodyPr/>
                    <a:lstStyle/>
                    <a:p>
                      <a:pPr algn="ctr"/>
                      <a:r>
                        <a:rPr lang="en-US" dirty="0" smtClean="0"/>
                        <a:t>D</a:t>
                      </a:r>
                      <a:endParaRPr lang="en-US" dirty="0"/>
                    </a:p>
                  </a:txBody>
                  <a:tcPr/>
                </a:tc>
                <a:tc>
                  <a:txBody>
                    <a:bodyPr/>
                    <a:lstStyle/>
                    <a:p>
                      <a:pPr algn="ctr"/>
                      <a:r>
                        <a:rPr lang="en-US" dirty="0" smtClean="0"/>
                        <a:t>13</a:t>
                      </a:r>
                      <a:endParaRPr lang="en-US" dirty="0"/>
                    </a:p>
                  </a:txBody>
                  <a:tcPr/>
                </a:tc>
              </a:tr>
              <a:tr h="348343">
                <a:tc>
                  <a:txBody>
                    <a:bodyPr/>
                    <a:lstStyle/>
                    <a:p>
                      <a:pPr algn="ctr"/>
                      <a:r>
                        <a:rPr lang="en-US" dirty="0" smtClean="0"/>
                        <a:t>E</a:t>
                      </a:r>
                      <a:endParaRPr lang="en-US" dirty="0"/>
                    </a:p>
                  </a:txBody>
                  <a:tcPr/>
                </a:tc>
                <a:tc>
                  <a:txBody>
                    <a:bodyPr/>
                    <a:lstStyle/>
                    <a:p>
                      <a:pPr algn="ctr"/>
                      <a:r>
                        <a:rPr lang="en-US" dirty="0" smtClean="0"/>
                        <a:t>16</a:t>
                      </a:r>
                      <a:endParaRPr lang="en-US" dirty="0"/>
                    </a:p>
                  </a:txBody>
                  <a:tcPr/>
                </a:tc>
              </a:tr>
              <a:tr h="348343">
                <a:tc>
                  <a:txBody>
                    <a:bodyPr/>
                    <a:lstStyle/>
                    <a:p>
                      <a:pPr algn="ctr"/>
                      <a:r>
                        <a:rPr lang="en-US" dirty="0" smtClean="0"/>
                        <a:t>F</a:t>
                      </a:r>
                      <a:endParaRPr lang="en-US" dirty="0"/>
                    </a:p>
                  </a:txBody>
                  <a:tcPr/>
                </a:tc>
                <a:tc>
                  <a:txBody>
                    <a:bodyPr/>
                    <a:lstStyle/>
                    <a:p>
                      <a:pPr algn="ctr"/>
                      <a:r>
                        <a:rPr lang="en-US" dirty="0" smtClean="0"/>
                        <a:t>45</a:t>
                      </a:r>
                      <a:endParaRPr lang="en-US" dirty="0"/>
                    </a:p>
                  </a:txBody>
                  <a:tcPr/>
                </a:tc>
              </a:tr>
            </a:tbl>
          </a:graphicData>
        </a:graphic>
      </p:graphicFrame>
      <p:pic>
        <p:nvPicPr>
          <p:cNvPr id="1026" name="Picture 2"/>
          <p:cNvPicPr>
            <a:picLocks noChangeAspect="1" noChangeArrowheads="1"/>
          </p:cNvPicPr>
          <p:nvPr/>
        </p:nvPicPr>
        <p:blipFill>
          <a:blip r:embed="rId2" cstate="print"/>
          <a:srcRect/>
          <a:stretch>
            <a:fillRect/>
          </a:stretch>
        </p:blipFill>
        <p:spPr bwMode="auto">
          <a:xfrm>
            <a:off x="838200" y="3352800"/>
            <a:ext cx="3048000" cy="3505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Rectangle 5"/>
          <p:cNvSpPr/>
          <p:nvPr/>
        </p:nvSpPr>
        <p:spPr>
          <a:xfrm>
            <a:off x="5029200" y="4038600"/>
            <a:ext cx="3352800" cy="2308324"/>
          </a:xfrm>
          <a:prstGeom prst="rect">
            <a:avLst/>
          </a:prstGeom>
        </p:spPr>
        <p:txBody>
          <a:bodyPr wrap="square">
            <a:spAutoFit/>
          </a:bodyPr>
          <a:lstStyle/>
          <a:p>
            <a:r>
              <a:rPr lang="en-US" dirty="0" smtClean="0"/>
              <a:t>Encoded String for "ABCD“</a:t>
            </a:r>
          </a:p>
          <a:p>
            <a:r>
              <a:rPr lang="en-US" dirty="0" smtClean="0"/>
              <a:t>A -&gt; 1100</a:t>
            </a:r>
          </a:p>
          <a:p>
            <a:r>
              <a:rPr lang="en-US" dirty="0" smtClean="0"/>
              <a:t>B -&gt; 1101</a:t>
            </a:r>
          </a:p>
          <a:p>
            <a:r>
              <a:rPr lang="en-US" dirty="0" smtClean="0"/>
              <a:t>C -&gt; 100</a:t>
            </a:r>
          </a:p>
          <a:p>
            <a:r>
              <a:rPr lang="en-US" dirty="0" smtClean="0"/>
              <a:t>D -&gt; 101</a:t>
            </a:r>
          </a:p>
          <a:p>
            <a:r>
              <a:rPr lang="en-US" dirty="0" smtClean="0"/>
              <a:t>Encoded Output: 11001101100101</a:t>
            </a:r>
          </a:p>
          <a:p>
            <a:endParaRPr lang="en-US"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the Huffman Code Prefix-Free</a:t>
            </a:r>
            <a:br>
              <a:rPr lang="en-US" b="1" dirty="0" smtClean="0"/>
            </a:br>
            <a:endParaRPr lang="en-US" dirty="0"/>
          </a:p>
        </p:txBody>
      </p:sp>
      <p:sp>
        <p:nvSpPr>
          <p:cNvPr id="3" name="Content Placeholder 2"/>
          <p:cNvSpPr>
            <a:spLocks noGrp="1"/>
          </p:cNvSpPr>
          <p:nvPr>
            <p:ph idx="1"/>
          </p:nvPr>
        </p:nvSpPr>
        <p:spPr>
          <a:xfrm>
            <a:off x="457200" y="1066800"/>
            <a:ext cx="8229600" cy="5059363"/>
          </a:xfrm>
        </p:spPr>
        <p:txBody>
          <a:bodyPr>
            <a:normAutofit/>
          </a:bodyPr>
          <a:lstStyle/>
          <a:p>
            <a:r>
              <a:rPr lang="en-US" sz="2800" dirty="0" smtClean="0"/>
              <a:t>Huffman codes are always </a:t>
            </a:r>
            <a:r>
              <a:rPr lang="en-US" sz="2800" b="1" dirty="0" smtClean="0"/>
              <a:t>prefix-free</a:t>
            </a:r>
            <a:r>
              <a:rPr lang="en-US" sz="2800" dirty="0" smtClean="0"/>
              <a:t> by design. </a:t>
            </a:r>
          </a:p>
          <a:p>
            <a:r>
              <a:rPr lang="en-US" sz="2800" dirty="0" smtClean="0"/>
              <a:t>Prefix-free means: no code is the starting part of another code.</a:t>
            </a:r>
          </a:p>
          <a:p>
            <a:r>
              <a:rPr lang="en-US" sz="2800" dirty="0" smtClean="0"/>
              <a:t>This property ensures that an encoded message can be uniquely decoded without ambiguity.</a:t>
            </a:r>
          </a:p>
          <a:p>
            <a:r>
              <a:rPr lang="en-US" sz="2800" dirty="0" smtClean="0"/>
              <a:t>This ensures that the encoded message is </a:t>
            </a:r>
            <a:r>
              <a:rPr lang="en-US" sz="2800" b="1" dirty="0" smtClean="0"/>
              <a:t>uniquely decodable</a:t>
            </a:r>
            <a:r>
              <a:rPr lang="en-US" sz="2800" dirty="0" smtClean="0"/>
              <a:t>.</a:t>
            </a:r>
          </a:p>
          <a:p>
            <a:endParaRPr lang="en-US" sz="2800" dirty="0"/>
          </a:p>
        </p:txBody>
      </p:sp>
      <p:grpSp>
        <p:nvGrpSpPr>
          <p:cNvPr id="7" name="Group 6"/>
          <p:cNvGrpSpPr/>
          <p:nvPr/>
        </p:nvGrpSpPr>
        <p:grpSpPr>
          <a:xfrm>
            <a:off x="1371600" y="4572000"/>
            <a:ext cx="2133600" cy="1981200"/>
            <a:chOff x="685800" y="4572000"/>
            <a:chExt cx="2133600" cy="1981200"/>
          </a:xfrm>
        </p:grpSpPr>
        <p:pic>
          <p:nvPicPr>
            <p:cNvPr id="7170" name="Picture 2"/>
            <p:cNvPicPr>
              <a:picLocks noChangeAspect="1" noChangeArrowheads="1"/>
            </p:cNvPicPr>
            <p:nvPr/>
          </p:nvPicPr>
          <p:blipFill>
            <a:blip r:embed="rId2" cstate="print"/>
            <a:srcRect/>
            <a:stretch>
              <a:fillRect/>
            </a:stretch>
          </p:blipFill>
          <p:spPr bwMode="auto">
            <a:xfrm>
              <a:off x="685800" y="5029200"/>
              <a:ext cx="2133600" cy="1524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172" name="Picture 4"/>
            <p:cNvPicPr>
              <a:picLocks noChangeAspect="1" noChangeArrowheads="1"/>
            </p:cNvPicPr>
            <p:nvPr/>
          </p:nvPicPr>
          <p:blipFill>
            <a:blip r:embed="rId3" cstate="print"/>
            <a:srcRect/>
            <a:stretch>
              <a:fillRect/>
            </a:stretch>
          </p:blipFill>
          <p:spPr bwMode="auto">
            <a:xfrm>
              <a:off x="685800" y="4572000"/>
              <a:ext cx="2133600" cy="590550"/>
            </a:xfrm>
            <a:prstGeom prst="rect">
              <a:avLst/>
            </a:prstGeom>
            <a:noFill/>
            <a:ln w="9525">
              <a:noFill/>
              <a:miter lim="800000"/>
              <a:headEnd/>
              <a:tailEnd/>
            </a:ln>
          </p:spPr>
        </p:pic>
      </p:grpSp>
      <p:grpSp>
        <p:nvGrpSpPr>
          <p:cNvPr id="10" name="Group 9"/>
          <p:cNvGrpSpPr/>
          <p:nvPr/>
        </p:nvGrpSpPr>
        <p:grpSpPr>
          <a:xfrm>
            <a:off x="5257800" y="4572000"/>
            <a:ext cx="2438400" cy="1981200"/>
            <a:chOff x="5257800" y="4572000"/>
            <a:chExt cx="2438400" cy="1981200"/>
          </a:xfrm>
        </p:grpSpPr>
        <p:pic>
          <p:nvPicPr>
            <p:cNvPr id="7173" name="Picture 5"/>
            <p:cNvPicPr>
              <a:picLocks noChangeAspect="1" noChangeArrowheads="1"/>
            </p:cNvPicPr>
            <p:nvPr/>
          </p:nvPicPr>
          <p:blipFill>
            <a:blip r:embed="rId4" cstate="print"/>
            <a:srcRect/>
            <a:stretch>
              <a:fillRect/>
            </a:stretch>
          </p:blipFill>
          <p:spPr bwMode="auto">
            <a:xfrm>
              <a:off x="5562600" y="5105400"/>
              <a:ext cx="2057400" cy="14478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174" name="Picture 6"/>
            <p:cNvPicPr>
              <a:picLocks noChangeAspect="1" noChangeArrowheads="1"/>
            </p:cNvPicPr>
            <p:nvPr/>
          </p:nvPicPr>
          <p:blipFill>
            <a:blip r:embed="rId5" cstate="print"/>
            <a:srcRect/>
            <a:stretch>
              <a:fillRect/>
            </a:stretch>
          </p:blipFill>
          <p:spPr bwMode="auto">
            <a:xfrm>
              <a:off x="5257800" y="4572000"/>
              <a:ext cx="2438400" cy="504825"/>
            </a:xfrm>
            <a:prstGeom prst="rect">
              <a:avLst/>
            </a:prstGeom>
            <a:noFill/>
            <a:ln w="9525">
              <a:noFill/>
              <a:miter lim="800000"/>
              <a:headEnd/>
              <a:tailEnd/>
            </a:ln>
          </p:spPr>
        </p:pic>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the Huffman Code Prefix-Free</a:t>
            </a:r>
            <a:br>
              <a:rPr lang="en-US" b="1" dirty="0" smtClean="0"/>
            </a:br>
            <a:endParaRPr lang="en-US" dirty="0"/>
          </a:p>
        </p:txBody>
      </p:sp>
      <p:sp>
        <p:nvSpPr>
          <p:cNvPr id="3" name="Content Placeholder 2"/>
          <p:cNvSpPr>
            <a:spLocks noGrp="1"/>
          </p:cNvSpPr>
          <p:nvPr>
            <p:ph idx="1"/>
          </p:nvPr>
        </p:nvSpPr>
        <p:spPr>
          <a:xfrm>
            <a:off x="457200" y="1066800"/>
            <a:ext cx="8229600" cy="5059363"/>
          </a:xfrm>
        </p:spPr>
        <p:txBody>
          <a:bodyPr>
            <a:normAutofit/>
          </a:bodyPr>
          <a:lstStyle/>
          <a:p>
            <a:r>
              <a:rPr lang="en-US" b="1" dirty="0" smtClean="0"/>
              <a:t>Justification---</a:t>
            </a:r>
          </a:p>
          <a:p>
            <a:r>
              <a:rPr lang="en-US" dirty="0" smtClean="0"/>
              <a:t> In Huffman coding, every symbol is stored at a leaf node of the tree.</a:t>
            </a:r>
          </a:p>
          <a:p>
            <a:r>
              <a:rPr lang="en-US" dirty="0" smtClean="0"/>
              <a:t> When we assign codes by moving left (0) or right (1), we only stop at the leaves.</a:t>
            </a:r>
          </a:p>
          <a:p>
            <a:r>
              <a:rPr lang="en-US" dirty="0" smtClean="0"/>
              <a:t> Since all symbols are at leaves, no symbol’s code can ever be the beginning of another’s code.</a:t>
            </a:r>
          </a:p>
          <a:p>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ctr">
              <a:buNone/>
            </a:pPr>
            <a:endParaRPr lang="en-US" sz="4400" dirty="0" smtClean="0"/>
          </a:p>
          <a:p>
            <a:pPr algn="ctr">
              <a:buNone/>
            </a:pPr>
            <a:r>
              <a:rPr lang="en-US" sz="4400" dirty="0" smtClean="0"/>
              <a:t>Job scheduling/sequencing using greedy approach</a:t>
            </a:r>
          </a:p>
          <a:p>
            <a:pPr algn="ctr"/>
            <a:endParaRPr lang="en-US" sz="4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Job Sequencing Problem</a:t>
            </a:r>
            <a:endParaRPr lang="en-US" dirty="0"/>
          </a:p>
        </p:txBody>
      </p:sp>
      <p:sp>
        <p:nvSpPr>
          <p:cNvPr id="3" name="Content Placeholder 2"/>
          <p:cNvSpPr>
            <a:spLocks noGrp="1"/>
          </p:cNvSpPr>
          <p:nvPr>
            <p:ph idx="1"/>
          </p:nvPr>
        </p:nvSpPr>
        <p:spPr/>
        <p:txBody>
          <a:bodyPr/>
          <a:lstStyle/>
          <a:p>
            <a:r>
              <a:rPr lang="en-US" dirty="0" smtClean="0"/>
              <a:t>The </a:t>
            </a:r>
            <a:r>
              <a:rPr lang="en-US" b="1" dirty="0" smtClean="0"/>
              <a:t>Job Sequencing Problem</a:t>
            </a:r>
            <a:r>
              <a:rPr lang="en-US" dirty="0" smtClean="0"/>
              <a:t> is a classic optimization problem in </a:t>
            </a:r>
            <a:r>
              <a:rPr lang="en-US" b="1" dirty="0" smtClean="0"/>
              <a:t>Greedy Algorithm</a:t>
            </a:r>
            <a:r>
              <a:rPr lang="en-US" dirty="0" smtClean="0"/>
              <a:t> </a:t>
            </a:r>
          </a:p>
          <a:p>
            <a:r>
              <a:rPr lang="en-US" dirty="0" smtClean="0"/>
              <a:t>where we aim to schedule a set of jobs in such a way that we </a:t>
            </a:r>
            <a:r>
              <a:rPr lang="en-US" b="1" dirty="0" smtClean="0"/>
              <a:t>maximize the total profit</a:t>
            </a:r>
          </a:p>
          <a:p>
            <a:r>
              <a:rPr lang="en-US" dirty="0" smtClean="0"/>
              <a:t> while ensuring that each job is completed within its deadline.</a:t>
            </a:r>
          </a:p>
          <a:p>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lnSpcReduction="10000"/>
          </a:bodyPr>
          <a:lstStyle/>
          <a:p>
            <a:r>
              <a:rPr lang="en-US" b="1" dirty="0" smtClean="0"/>
              <a:t>Problem Statement</a:t>
            </a:r>
          </a:p>
          <a:p>
            <a:r>
              <a:rPr lang="en-US" dirty="0" smtClean="0"/>
              <a:t>Given </a:t>
            </a:r>
            <a:r>
              <a:rPr lang="en-US" b="1" dirty="0" smtClean="0"/>
              <a:t>N jobs</a:t>
            </a:r>
            <a:r>
              <a:rPr lang="en-US" dirty="0" smtClean="0"/>
              <a:t>, where each job has:</a:t>
            </a:r>
          </a:p>
          <a:p>
            <a:r>
              <a:rPr lang="en-US" b="1" dirty="0" smtClean="0"/>
              <a:t>Job ID</a:t>
            </a:r>
            <a:r>
              <a:rPr lang="en-US" dirty="0" smtClean="0"/>
              <a:t> – Unique identifier for each job.</a:t>
            </a:r>
          </a:p>
          <a:p>
            <a:r>
              <a:rPr lang="en-US" b="1" dirty="0" smtClean="0"/>
              <a:t>Deadline</a:t>
            </a:r>
            <a:r>
              <a:rPr lang="en-US" dirty="0" smtClean="0"/>
              <a:t> – The latest time by which the job must be completed.</a:t>
            </a:r>
          </a:p>
          <a:p>
            <a:r>
              <a:rPr lang="en-US" b="1" dirty="0" smtClean="0"/>
              <a:t>Profit</a:t>
            </a:r>
            <a:r>
              <a:rPr lang="en-US" dirty="0" smtClean="0"/>
              <a:t> – The profit earned if the job is completed within its deadline.</a:t>
            </a:r>
          </a:p>
          <a:p>
            <a:r>
              <a:rPr lang="en-US" dirty="0" smtClean="0"/>
              <a:t>Each job </a:t>
            </a:r>
            <a:r>
              <a:rPr lang="en-US" b="1" dirty="0" smtClean="0"/>
              <a:t>takes exactly 1 unit of time</a:t>
            </a:r>
            <a:r>
              <a:rPr lang="en-US" dirty="0" smtClean="0"/>
              <a:t> to complete. </a:t>
            </a:r>
          </a:p>
          <a:p>
            <a:r>
              <a:rPr lang="en-US" dirty="0" smtClean="0"/>
              <a:t>The objective is to </a:t>
            </a:r>
            <a:r>
              <a:rPr lang="en-US" b="1" dirty="0" smtClean="0"/>
              <a:t>schedule the jobs in a way that maximizes the total profit</a:t>
            </a:r>
            <a:r>
              <a:rPr lang="en-US" dirty="0" smtClean="0"/>
              <a:t>.</a:t>
            </a:r>
          </a:p>
          <a:p>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Constraints</a:t>
            </a:r>
            <a:endParaRPr lang="en-US" dirty="0"/>
          </a:p>
        </p:txBody>
      </p:sp>
      <p:sp>
        <p:nvSpPr>
          <p:cNvPr id="3" name="Content Placeholder 2"/>
          <p:cNvSpPr>
            <a:spLocks noGrp="1"/>
          </p:cNvSpPr>
          <p:nvPr>
            <p:ph idx="1"/>
          </p:nvPr>
        </p:nvSpPr>
        <p:spPr>
          <a:xfrm>
            <a:off x="457200" y="1143000"/>
            <a:ext cx="8229600" cy="4983163"/>
          </a:xfrm>
        </p:spPr>
        <p:txBody>
          <a:bodyPr>
            <a:normAutofit fontScale="92500" lnSpcReduction="10000"/>
          </a:bodyPr>
          <a:lstStyle/>
          <a:p>
            <a:r>
              <a:rPr lang="en-US" dirty="0" smtClean="0"/>
              <a:t>Each job </a:t>
            </a:r>
            <a:r>
              <a:rPr lang="en-US" b="1" dirty="0" smtClean="0"/>
              <a:t>takes exactly 1 unit of time</a:t>
            </a:r>
            <a:r>
              <a:rPr lang="en-US" dirty="0" smtClean="0"/>
              <a:t> to complete.</a:t>
            </a:r>
          </a:p>
          <a:p>
            <a:r>
              <a:rPr lang="en-US" dirty="0" smtClean="0"/>
              <a:t>Each job has a </a:t>
            </a:r>
            <a:r>
              <a:rPr lang="en-US" b="1" dirty="0" smtClean="0"/>
              <a:t>fixed deadline</a:t>
            </a:r>
            <a:r>
              <a:rPr lang="en-US" dirty="0" smtClean="0"/>
              <a:t>, meaning it must be completed before or on its deadline.</a:t>
            </a:r>
          </a:p>
          <a:p>
            <a:r>
              <a:rPr lang="en-US" dirty="0" smtClean="0"/>
              <a:t>Each job has a </a:t>
            </a:r>
            <a:r>
              <a:rPr lang="en-US" b="1" dirty="0" smtClean="0"/>
              <a:t>profit</a:t>
            </a:r>
            <a:r>
              <a:rPr lang="en-US" dirty="0" smtClean="0"/>
              <a:t>, which is earned only if the job is completed on time.</a:t>
            </a:r>
          </a:p>
          <a:p>
            <a:r>
              <a:rPr lang="en-US" dirty="0" smtClean="0"/>
              <a:t>Jobs </a:t>
            </a:r>
            <a:r>
              <a:rPr lang="en-US" b="1" dirty="0" smtClean="0"/>
              <a:t>cannot be preempted</a:t>
            </a:r>
            <a:r>
              <a:rPr lang="en-US" dirty="0" smtClean="0"/>
              <a:t>, meaning once a job starts, it must complete before another job can begin.</a:t>
            </a:r>
          </a:p>
          <a:p>
            <a:r>
              <a:rPr lang="en-US" b="1" dirty="0" smtClean="0"/>
              <a:t>A single job can be scheduled per time slot</a:t>
            </a:r>
            <a:r>
              <a:rPr lang="en-US" dirty="0" smtClean="0"/>
              <a:t>.</a:t>
            </a:r>
          </a:p>
          <a:p>
            <a:r>
              <a:rPr lang="en-US" dirty="0" err="1" smtClean="0"/>
              <a:t>Uni</a:t>
            </a:r>
            <a:r>
              <a:rPr lang="en-US" dirty="0" smtClean="0"/>
              <a:t>-processor is there for job execution .</a:t>
            </a:r>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162"/>
            <a:ext cx="8229600" cy="411162"/>
          </a:xfrm>
        </p:spPr>
        <p:txBody>
          <a:bodyPr>
            <a:normAutofit fontScale="90000"/>
          </a:bodyPr>
          <a:lstStyle/>
          <a:p>
            <a:r>
              <a:rPr lang="en-US" b="1" dirty="0" smtClean="0"/>
              <a:t>Algorithm </a:t>
            </a:r>
            <a:endParaRPr lang="en-US" dirty="0"/>
          </a:p>
        </p:txBody>
      </p:sp>
      <p:sp>
        <p:nvSpPr>
          <p:cNvPr id="3" name="Content Placeholder 2"/>
          <p:cNvSpPr>
            <a:spLocks noGrp="1"/>
          </p:cNvSpPr>
          <p:nvPr>
            <p:ph idx="1"/>
          </p:nvPr>
        </p:nvSpPr>
        <p:spPr>
          <a:xfrm>
            <a:off x="457200" y="609600"/>
            <a:ext cx="8229600" cy="6019800"/>
          </a:xfrm>
        </p:spPr>
        <p:txBody>
          <a:bodyPr>
            <a:noAutofit/>
          </a:bodyPr>
          <a:lstStyle/>
          <a:p>
            <a:r>
              <a:rPr lang="en-US" sz="2200" b="1" dirty="0" smtClean="0">
                <a:latin typeface="Times New Roman" pitchFamily="18" charset="0"/>
                <a:cs typeface="Times New Roman" pitchFamily="18" charset="0"/>
              </a:rPr>
              <a:t>Input:</a:t>
            </a:r>
          </a:p>
          <a:p>
            <a:r>
              <a:rPr lang="en-US" sz="2200" dirty="0" smtClean="0">
                <a:latin typeface="Times New Roman" pitchFamily="18" charset="0"/>
                <a:cs typeface="Times New Roman" pitchFamily="18" charset="0"/>
              </a:rPr>
              <a:t>An array of </a:t>
            </a:r>
            <a:r>
              <a:rPr lang="en-US" sz="2200" b="1" dirty="0" smtClean="0">
                <a:latin typeface="Times New Roman" pitchFamily="18" charset="0"/>
                <a:cs typeface="Times New Roman" pitchFamily="18" charset="0"/>
              </a:rPr>
              <a:t>N jobs</a:t>
            </a:r>
            <a:r>
              <a:rPr lang="en-US" sz="2200" dirty="0" smtClean="0">
                <a:latin typeface="Times New Roman" pitchFamily="18" charset="0"/>
                <a:cs typeface="Times New Roman" pitchFamily="18" charset="0"/>
              </a:rPr>
              <a:t>, each with a </a:t>
            </a:r>
            <a:r>
              <a:rPr lang="en-US" sz="2200" b="1" dirty="0" smtClean="0">
                <a:latin typeface="Times New Roman" pitchFamily="18" charset="0"/>
                <a:cs typeface="Times New Roman" pitchFamily="18" charset="0"/>
              </a:rPr>
              <a:t>Job ID, Deadline, and Profit</a:t>
            </a:r>
            <a:r>
              <a:rPr lang="en-US" sz="2200" dirty="0" smtClean="0">
                <a:latin typeface="Times New Roman" pitchFamily="18" charset="0"/>
                <a:cs typeface="Times New Roman" pitchFamily="18" charset="0"/>
              </a:rPr>
              <a:t>.</a:t>
            </a:r>
          </a:p>
          <a:p>
            <a:r>
              <a:rPr lang="en-US" sz="2200" b="1" dirty="0" smtClean="0">
                <a:latin typeface="Times New Roman" pitchFamily="18" charset="0"/>
                <a:cs typeface="Times New Roman" pitchFamily="18" charset="0"/>
              </a:rPr>
              <a:t>Output:</a:t>
            </a:r>
          </a:p>
          <a:p>
            <a:pPr marL="693738" indent="-300038">
              <a:buNone/>
            </a:pPr>
            <a:r>
              <a:rPr lang="en-US" sz="2200" dirty="0" smtClean="0">
                <a:latin typeface="Times New Roman" pitchFamily="18" charset="0"/>
                <a:cs typeface="Times New Roman" pitchFamily="18" charset="0"/>
              </a:rPr>
              <a:t>The </a:t>
            </a:r>
            <a:r>
              <a:rPr lang="en-US" sz="2200" b="1" dirty="0" smtClean="0">
                <a:latin typeface="Times New Roman" pitchFamily="18" charset="0"/>
                <a:cs typeface="Times New Roman" pitchFamily="18" charset="0"/>
              </a:rPr>
              <a:t>sequence of scheduled jobs</a:t>
            </a:r>
            <a:r>
              <a:rPr lang="en-US" sz="2200" dirty="0" smtClean="0">
                <a:latin typeface="Times New Roman" pitchFamily="18" charset="0"/>
                <a:cs typeface="Times New Roman" pitchFamily="18" charset="0"/>
              </a:rPr>
              <a:t>.</a:t>
            </a:r>
          </a:p>
          <a:p>
            <a:pPr marL="693738" indent="-300038">
              <a:buNone/>
            </a:pPr>
            <a:r>
              <a:rPr lang="en-US" sz="2200" dirty="0" smtClean="0">
                <a:latin typeface="Times New Roman" pitchFamily="18" charset="0"/>
                <a:cs typeface="Times New Roman" pitchFamily="18" charset="0"/>
              </a:rPr>
              <a:t>The </a:t>
            </a:r>
            <a:r>
              <a:rPr lang="en-US" sz="2200" b="1" dirty="0" smtClean="0">
                <a:latin typeface="Times New Roman" pitchFamily="18" charset="0"/>
                <a:cs typeface="Times New Roman" pitchFamily="18" charset="0"/>
              </a:rPr>
              <a:t>maximum profit obtained</a:t>
            </a:r>
            <a:r>
              <a:rPr lang="en-US" sz="2200" dirty="0" smtClean="0">
                <a:latin typeface="Times New Roman" pitchFamily="18" charset="0"/>
                <a:cs typeface="Times New Roman" pitchFamily="18" charset="0"/>
              </a:rPr>
              <a:t>.</a:t>
            </a:r>
          </a:p>
          <a:p>
            <a:pPr marL="393700" indent="-393700"/>
            <a:r>
              <a:rPr lang="en-US" sz="2200" b="1" dirty="0" smtClean="0">
                <a:latin typeface="Times New Roman" pitchFamily="18" charset="0"/>
                <a:cs typeface="Times New Roman" pitchFamily="18" charset="0"/>
              </a:rPr>
              <a:t>Steps:</a:t>
            </a:r>
          </a:p>
          <a:p>
            <a:pPr marL="850900" indent="-457200">
              <a:buFont typeface="+mj-lt"/>
              <a:buAutoNum type="arabicPeriod"/>
            </a:pPr>
            <a:r>
              <a:rPr lang="en-US" sz="2200" b="1" dirty="0" smtClean="0">
                <a:latin typeface="Times New Roman" pitchFamily="18" charset="0"/>
                <a:cs typeface="Times New Roman" pitchFamily="18" charset="0"/>
              </a:rPr>
              <a:t> Sort all jobs in descending order of profit</a:t>
            </a:r>
            <a:r>
              <a:rPr lang="en-US" sz="2200" dirty="0" smtClean="0">
                <a:latin typeface="Times New Roman" pitchFamily="18" charset="0"/>
                <a:cs typeface="Times New Roman" pitchFamily="18" charset="0"/>
              </a:rPr>
              <a:t>.    </a:t>
            </a:r>
          </a:p>
          <a:p>
            <a:pPr marL="850900" indent="-457200">
              <a:buFont typeface="+mj-lt"/>
              <a:buAutoNum type="arabicPeriod"/>
            </a:pPr>
            <a:r>
              <a:rPr lang="en-US" sz="2200" b="1" dirty="0" smtClean="0">
                <a:latin typeface="Times New Roman" pitchFamily="18" charset="0"/>
                <a:cs typeface="Times New Roman" pitchFamily="18" charset="0"/>
              </a:rPr>
              <a:t>Find the maximum deadline</a:t>
            </a:r>
            <a:r>
              <a:rPr lang="en-US" sz="2200" dirty="0" smtClean="0">
                <a:latin typeface="Times New Roman" pitchFamily="18" charset="0"/>
                <a:cs typeface="Times New Roman" pitchFamily="18" charset="0"/>
              </a:rPr>
              <a:t> among all jobs.</a:t>
            </a:r>
          </a:p>
          <a:p>
            <a:pPr marL="850900" indent="-457200">
              <a:buFont typeface="+mj-lt"/>
              <a:buAutoNum type="arabicPeriod"/>
            </a:pPr>
            <a:r>
              <a:rPr lang="en-US" sz="2200" b="1" dirty="0" smtClean="0">
                <a:latin typeface="Times New Roman" pitchFamily="18" charset="0"/>
                <a:cs typeface="Times New Roman" pitchFamily="18" charset="0"/>
              </a:rPr>
              <a:t>Create an array of time slots</a:t>
            </a:r>
            <a:r>
              <a:rPr lang="en-US" sz="2200" dirty="0" smtClean="0">
                <a:latin typeface="Times New Roman" pitchFamily="18" charset="0"/>
                <a:cs typeface="Times New Roman" pitchFamily="18" charset="0"/>
              </a:rPr>
              <a:t> (size = maximum deadline).</a:t>
            </a:r>
          </a:p>
          <a:p>
            <a:pPr marL="850900" indent="-457200">
              <a:buFont typeface="+mj-lt"/>
              <a:buAutoNum type="arabicPeriod"/>
            </a:pPr>
            <a:r>
              <a:rPr lang="en-US" sz="2200" b="1" dirty="0" smtClean="0">
                <a:latin typeface="Times New Roman" pitchFamily="18" charset="0"/>
                <a:cs typeface="Times New Roman" pitchFamily="18" charset="0"/>
              </a:rPr>
              <a:t>Selects the jobs with highest profits and place it in the latest available slot before its deadline</a:t>
            </a:r>
          </a:p>
          <a:p>
            <a:pPr marL="850900" indent="-457200">
              <a:buFont typeface="+mj-lt"/>
              <a:buAutoNum type="arabicPeriod"/>
            </a:pPr>
            <a:r>
              <a:rPr lang="en-US" sz="2200" dirty="0" smtClean="0">
                <a:latin typeface="Times New Roman" pitchFamily="18" charset="0"/>
                <a:cs typeface="Times New Roman" pitchFamily="18" charset="0"/>
              </a:rPr>
              <a:t>If a free slot is found, schedule the job.</a:t>
            </a:r>
          </a:p>
          <a:p>
            <a:pPr marL="850900" indent="-457200">
              <a:buFont typeface="+mj-lt"/>
              <a:buAutoNum type="arabicPeriod"/>
            </a:pPr>
            <a:r>
              <a:rPr lang="en-US" sz="2200" dirty="0" smtClean="0">
                <a:latin typeface="Times New Roman" pitchFamily="18" charset="0"/>
                <a:cs typeface="Times New Roman" pitchFamily="18" charset="0"/>
              </a:rPr>
              <a:t>If no slot is available, skip the job.</a:t>
            </a:r>
          </a:p>
          <a:p>
            <a:pPr marL="850900" indent="-457200">
              <a:buFont typeface="+mj-lt"/>
              <a:buAutoNum type="arabicPeriod"/>
            </a:pPr>
            <a:r>
              <a:rPr lang="en-US" sz="2200" b="1" dirty="0" smtClean="0">
                <a:latin typeface="Times New Roman" pitchFamily="18" charset="0"/>
                <a:cs typeface="Times New Roman" pitchFamily="18" charset="0"/>
              </a:rPr>
              <a:t>Compute the total profit</a:t>
            </a:r>
            <a:r>
              <a:rPr lang="en-US" sz="2200" dirty="0" smtClean="0">
                <a:latin typeface="Times New Roman" pitchFamily="18" charset="0"/>
                <a:cs typeface="Times New Roman" pitchFamily="18" charset="0"/>
              </a:rPr>
              <a:t> from the scheduled jobs.</a:t>
            </a:r>
          </a:p>
          <a:p>
            <a:endParaRPr lang="en-US" sz="2200" dirty="0">
              <a:latin typeface="Times New Roman" pitchFamily="18" charset="0"/>
              <a:cs typeface="Times New Roman"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Examples</a:t>
            </a:r>
            <a:br>
              <a:rPr lang="en-US" dirty="0" smtClean="0"/>
            </a:br>
            <a:endParaRPr lang="en-US" dirty="0"/>
          </a:p>
        </p:txBody>
      </p:sp>
      <p:sp>
        <p:nvSpPr>
          <p:cNvPr id="3" name="Content Placeholder 2"/>
          <p:cNvSpPr>
            <a:spLocks noGrp="1"/>
          </p:cNvSpPr>
          <p:nvPr>
            <p:ph idx="1"/>
          </p:nvPr>
        </p:nvSpPr>
        <p:spPr>
          <a:xfrm>
            <a:off x="457200" y="1066800"/>
            <a:ext cx="8229600" cy="5059363"/>
          </a:xfrm>
        </p:spPr>
        <p:txBody>
          <a:bodyPr/>
          <a:lstStyle/>
          <a:p>
            <a:r>
              <a:rPr lang="en-US" dirty="0" smtClean="0"/>
              <a:t>Consider the following tasks with their deadlines and profits. Schedule the tasks in such a way that they produce maximum profit after being executed −</a:t>
            </a:r>
          </a:p>
          <a:p>
            <a:endParaRPr lang="en-US" dirty="0"/>
          </a:p>
        </p:txBody>
      </p:sp>
      <p:graphicFrame>
        <p:nvGraphicFramePr>
          <p:cNvPr id="4" name="Table 3"/>
          <p:cNvGraphicFramePr>
            <a:graphicFrameLocks noGrp="1"/>
          </p:cNvGraphicFramePr>
          <p:nvPr/>
        </p:nvGraphicFramePr>
        <p:xfrm>
          <a:off x="685800" y="3200400"/>
          <a:ext cx="8077200" cy="2072640"/>
        </p:xfrm>
        <a:graphic>
          <a:graphicData uri="http://schemas.openxmlformats.org/drawingml/2006/table">
            <a:tbl>
              <a:tblPr firstRow="1" bandRow="1">
                <a:tableStyleId>{5C22544A-7EE6-4342-B048-85BDC9FD1C3A}</a:tableStyleId>
              </a:tblPr>
              <a:tblGrid>
                <a:gridCol w="1828800"/>
                <a:gridCol w="863600"/>
                <a:gridCol w="1346200"/>
                <a:gridCol w="1346200"/>
                <a:gridCol w="1346200"/>
                <a:gridCol w="1346200"/>
              </a:tblGrid>
              <a:tr h="0">
                <a:tc>
                  <a:txBody>
                    <a:bodyPr/>
                    <a:lstStyle/>
                    <a:p>
                      <a:pPr algn="ctr"/>
                      <a:r>
                        <a:rPr lang="en-US" sz="2400" b="1" dirty="0">
                          <a:latin typeface="inherit"/>
                        </a:rPr>
                        <a:t>S. No.</a:t>
                      </a:r>
                    </a:p>
                  </a:txBody>
                  <a:tcPr marL="76200" marR="76200" marT="76200" marB="76200" anchor="ctr"/>
                </a:tc>
                <a:tc>
                  <a:txBody>
                    <a:bodyPr/>
                    <a:lstStyle/>
                    <a:p>
                      <a:pPr algn="ctr"/>
                      <a:r>
                        <a:rPr lang="en-US" sz="2400"/>
                        <a:t>1</a:t>
                      </a:r>
                    </a:p>
                  </a:txBody>
                  <a:tcPr marL="76200" marR="76200" marT="76200" marB="76200" anchor="ctr"/>
                </a:tc>
                <a:tc>
                  <a:txBody>
                    <a:bodyPr/>
                    <a:lstStyle/>
                    <a:p>
                      <a:pPr algn="ctr"/>
                      <a:r>
                        <a:rPr lang="en-US" sz="2400"/>
                        <a:t>2</a:t>
                      </a:r>
                    </a:p>
                  </a:txBody>
                  <a:tcPr marL="76200" marR="76200" marT="76200" marB="76200" anchor="ctr"/>
                </a:tc>
                <a:tc>
                  <a:txBody>
                    <a:bodyPr/>
                    <a:lstStyle/>
                    <a:p>
                      <a:pPr algn="ctr"/>
                      <a:r>
                        <a:rPr lang="en-US" sz="2400"/>
                        <a:t>3</a:t>
                      </a:r>
                    </a:p>
                  </a:txBody>
                  <a:tcPr marL="76200" marR="76200" marT="76200" marB="76200" anchor="ctr"/>
                </a:tc>
                <a:tc>
                  <a:txBody>
                    <a:bodyPr/>
                    <a:lstStyle/>
                    <a:p>
                      <a:pPr algn="ctr"/>
                      <a:r>
                        <a:rPr lang="en-US" sz="2400"/>
                        <a:t>4</a:t>
                      </a:r>
                    </a:p>
                  </a:txBody>
                  <a:tcPr marL="76200" marR="76200" marT="76200" marB="76200" anchor="ctr"/>
                </a:tc>
                <a:tc>
                  <a:txBody>
                    <a:bodyPr/>
                    <a:lstStyle/>
                    <a:p>
                      <a:pPr algn="ctr"/>
                      <a:r>
                        <a:rPr lang="en-US" sz="2400"/>
                        <a:t>5</a:t>
                      </a:r>
                    </a:p>
                  </a:txBody>
                  <a:tcPr marL="76200" marR="76200" marT="76200" marB="76200" anchor="ctr"/>
                </a:tc>
              </a:tr>
              <a:tr h="370840">
                <a:tc>
                  <a:txBody>
                    <a:bodyPr/>
                    <a:lstStyle/>
                    <a:p>
                      <a:pPr algn="ctr"/>
                      <a:r>
                        <a:rPr lang="en-US" sz="2400" b="1" dirty="0">
                          <a:latin typeface="inherit"/>
                        </a:rPr>
                        <a:t>Jobs</a:t>
                      </a:r>
                    </a:p>
                  </a:txBody>
                  <a:tcPr marL="76200" marR="76200" marT="76200" marB="76200" anchor="ctr"/>
                </a:tc>
                <a:tc>
                  <a:txBody>
                    <a:bodyPr/>
                    <a:lstStyle/>
                    <a:p>
                      <a:pPr algn="ctr"/>
                      <a:r>
                        <a:rPr lang="en-US" sz="2400" dirty="0"/>
                        <a:t>J1</a:t>
                      </a:r>
                    </a:p>
                  </a:txBody>
                  <a:tcPr marL="76200" marR="76200" marT="76200" marB="76200" anchor="ctr"/>
                </a:tc>
                <a:tc>
                  <a:txBody>
                    <a:bodyPr/>
                    <a:lstStyle/>
                    <a:p>
                      <a:pPr algn="ctr"/>
                      <a:r>
                        <a:rPr lang="en-US" sz="2400"/>
                        <a:t>J2</a:t>
                      </a:r>
                    </a:p>
                  </a:txBody>
                  <a:tcPr marL="76200" marR="76200" marT="76200" marB="76200" anchor="ctr"/>
                </a:tc>
                <a:tc>
                  <a:txBody>
                    <a:bodyPr/>
                    <a:lstStyle/>
                    <a:p>
                      <a:pPr algn="ctr"/>
                      <a:r>
                        <a:rPr lang="en-US" sz="2400"/>
                        <a:t>J3</a:t>
                      </a:r>
                    </a:p>
                  </a:txBody>
                  <a:tcPr marL="76200" marR="76200" marT="76200" marB="76200" anchor="ctr"/>
                </a:tc>
                <a:tc>
                  <a:txBody>
                    <a:bodyPr/>
                    <a:lstStyle/>
                    <a:p>
                      <a:pPr algn="ctr"/>
                      <a:r>
                        <a:rPr lang="en-US" sz="2400"/>
                        <a:t>J4</a:t>
                      </a:r>
                    </a:p>
                  </a:txBody>
                  <a:tcPr marL="76200" marR="76200" marT="76200" marB="76200" anchor="ctr"/>
                </a:tc>
                <a:tc>
                  <a:txBody>
                    <a:bodyPr/>
                    <a:lstStyle/>
                    <a:p>
                      <a:pPr algn="ctr"/>
                      <a:r>
                        <a:rPr lang="en-US" sz="2400"/>
                        <a:t>J5</a:t>
                      </a:r>
                    </a:p>
                  </a:txBody>
                  <a:tcPr marL="76200" marR="76200" marT="76200" marB="76200" anchor="ctr"/>
                </a:tc>
              </a:tr>
              <a:tr h="370840">
                <a:tc>
                  <a:txBody>
                    <a:bodyPr/>
                    <a:lstStyle/>
                    <a:p>
                      <a:pPr algn="ctr"/>
                      <a:r>
                        <a:rPr lang="en-US" sz="2400" b="1">
                          <a:latin typeface="inherit"/>
                        </a:rPr>
                        <a:t>Deadlines</a:t>
                      </a:r>
                    </a:p>
                  </a:txBody>
                  <a:tcPr marL="76200" marR="76200" marT="76200" marB="76200" anchor="ctr"/>
                </a:tc>
                <a:tc>
                  <a:txBody>
                    <a:bodyPr/>
                    <a:lstStyle/>
                    <a:p>
                      <a:pPr algn="ctr"/>
                      <a:r>
                        <a:rPr lang="en-US" sz="2400"/>
                        <a:t>2</a:t>
                      </a:r>
                    </a:p>
                  </a:txBody>
                  <a:tcPr marL="76200" marR="76200" marT="76200" marB="76200" anchor="ctr"/>
                </a:tc>
                <a:tc>
                  <a:txBody>
                    <a:bodyPr/>
                    <a:lstStyle/>
                    <a:p>
                      <a:pPr algn="ctr"/>
                      <a:r>
                        <a:rPr lang="en-US" sz="2400" dirty="0"/>
                        <a:t>2</a:t>
                      </a:r>
                    </a:p>
                  </a:txBody>
                  <a:tcPr marL="76200" marR="76200" marT="76200" marB="76200" anchor="ctr"/>
                </a:tc>
                <a:tc>
                  <a:txBody>
                    <a:bodyPr/>
                    <a:lstStyle/>
                    <a:p>
                      <a:pPr algn="ctr"/>
                      <a:r>
                        <a:rPr lang="en-US" sz="2400" dirty="0"/>
                        <a:t>1</a:t>
                      </a:r>
                    </a:p>
                  </a:txBody>
                  <a:tcPr marL="76200" marR="76200" marT="76200" marB="76200" anchor="ctr"/>
                </a:tc>
                <a:tc>
                  <a:txBody>
                    <a:bodyPr/>
                    <a:lstStyle/>
                    <a:p>
                      <a:pPr algn="ctr"/>
                      <a:r>
                        <a:rPr lang="en-US" sz="2400" dirty="0"/>
                        <a:t>3</a:t>
                      </a:r>
                    </a:p>
                  </a:txBody>
                  <a:tcPr marL="76200" marR="76200" marT="76200" marB="76200" anchor="ctr"/>
                </a:tc>
                <a:tc>
                  <a:txBody>
                    <a:bodyPr/>
                    <a:lstStyle/>
                    <a:p>
                      <a:pPr algn="ctr"/>
                      <a:r>
                        <a:rPr lang="en-US" sz="2400"/>
                        <a:t>4</a:t>
                      </a:r>
                    </a:p>
                  </a:txBody>
                  <a:tcPr marL="76200" marR="76200" marT="76200" marB="76200" anchor="ctr"/>
                </a:tc>
              </a:tr>
              <a:tr h="370840">
                <a:tc>
                  <a:txBody>
                    <a:bodyPr/>
                    <a:lstStyle/>
                    <a:p>
                      <a:pPr algn="ctr"/>
                      <a:r>
                        <a:rPr lang="en-US" sz="2400" b="1" dirty="0">
                          <a:latin typeface="inherit"/>
                        </a:rPr>
                        <a:t>Profits</a:t>
                      </a:r>
                    </a:p>
                  </a:txBody>
                  <a:tcPr marL="76200" marR="76200" marT="76200" marB="76200" anchor="ctr"/>
                </a:tc>
                <a:tc>
                  <a:txBody>
                    <a:bodyPr/>
                    <a:lstStyle/>
                    <a:p>
                      <a:pPr algn="ctr"/>
                      <a:r>
                        <a:rPr lang="en-US" sz="2400"/>
                        <a:t>20</a:t>
                      </a:r>
                    </a:p>
                  </a:txBody>
                  <a:tcPr marL="76200" marR="76200" marT="76200" marB="76200" anchor="ctr"/>
                </a:tc>
                <a:tc>
                  <a:txBody>
                    <a:bodyPr/>
                    <a:lstStyle/>
                    <a:p>
                      <a:pPr algn="ctr"/>
                      <a:r>
                        <a:rPr lang="en-US" sz="2400" dirty="0"/>
                        <a:t>60</a:t>
                      </a:r>
                    </a:p>
                  </a:txBody>
                  <a:tcPr marL="76200" marR="76200" marT="76200" marB="76200" anchor="ctr"/>
                </a:tc>
                <a:tc>
                  <a:txBody>
                    <a:bodyPr/>
                    <a:lstStyle/>
                    <a:p>
                      <a:pPr algn="ctr"/>
                      <a:r>
                        <a:rPr lang="en-US" sz="2400" dirty="0"/>
                        <a:t>40</a:t>
                      </a:r>
                    </a:p>
                  </a:txBody>
                  <a:tcPr marL="76200" marR="76200" marT="76200" marB="76200" anchor="ctr"/>
                </a:tc>
                <a:tc>
                  <a:txBody>
                    <a:bodyPr/>
                    <a:lstStyle/>
                    <a:p>
                      <a:pPr algn="ctr"/>
                      <a:r>
                        <a:rPr lang="en-US" sz="2400" dirty="0"/>
                        <a:t>100</a:t>
                      </a:r>
                    </a:p>
                  </a:txBody>
                  <a:tcPr marL="76200" marR="76200" marT="76200" marB="76200" anchor="ctr"/>
                </a:tc>
                <a:tc>
                  <a:txBody>
                    <a:bodyPr/>
                    <a:lstStyle/>
                    <a:p>
                      <a:pPr algn="ctr"/>
                      <a:r>
                        <a:rPr lang="en-US" sz="2400" dirty="0"/>
                        <a:t>80</a:t>
                      </a:r>
                    </a:p>
                  </a:txBody>
                  <a:tcPr marL="76200" marR="76200" marT="76200" marB="76200" anchor="ctr"/>
                </a:tc>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92500" lnSpcReduction="20000"/>
          </a:bodyPr>
          <a:lstStyle/>
          <a:p>
            <a:r>
              <a:rPr lang="en-US" b="1" dirty="0" smtClean="0"/>
              <a:t>Step 1 : </a:t>
            </a:r>
            <a:r>
              <a:rPr lang="en-US" dirty="0" smtClean="0"/>
              <a:t>Arrange the jobs in descending order of their profits.</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b="1" dirty="0" smtClean="0"/>
          </a:p>
          <a:p>
            <a:r>
              <a:rPr lang="en-US" b="1" dirty="0" smtClean="0"/>
              <a:t>Step2 : </a:t>
            </a:r>
            <a:r>
              <a:rPr lang="en-US" dirty="0" smtClean="0"/>
              <a:t>Find the maximum deadline value, dm, from the deadlines given.   </a:t>
            </a:r>
          </a:p>
          <a:p>
            <a:pPr lvl="1"/>
            <a:r>
              <a:rPr lang="en-US" b="1" dirty="0" smtClean="0"/>
              <a:t>max deadline  = 4   </a:t>
            </a:r>
          </a:p>
          <a:p>
            <a:pPr lvl="1">
              <a:buNone/>
            </a:pPr>
            <a:r>
              <a:rPr lang="en-US" dirty="0" smtClean="0"/>
              <a:t>we create a </a:t>
            </a:r>
            <a:r>
              <a:rPr lang="en-US" b="1" dirty="0" smtClean="0"/>
              <a:t>time slot array of size 4</a:t>
            </a:r>
            <a:r>
              <a:rPr lang="en-US" dirty="0" smtClean="0"/>
              <a:t>.</a:t>
            </a:r>
            <a:endParaRPr lang="en-US" b="1" dirty="0" smtClean="0"/>
          </a:p>
          <a:p>
            <a:pPr lvl="1">
              <a:buNone/>
            </a:pPr>
            <a:endParaRPr lang="en-US" b="1" dirty="0" smtClean="0"/>
          </a:p>
          <a:p>
            <a:endParaRPr lang="en-US" dirty="0" smtClean="0"/>
          </a:p>
          <a:p>
            <a:endParaRPr lang="en-US" dirty="0"/>
          </a:p>
        </p:txBody>
      </p:sp>
      <p:graphicFrame>
        <p:nvGraphicFramePr>
          <p:cNvPr id="4" name="Table 3"/>
          <p:cNvGraphicFramePr>
            <a:graphicFrameLocks noGrp="1"/>
          </p:cNvGraphicFramePr>
          <p:nvPr/>
        </p:nvGraphicFramePr>
        <p:xfrm>
          <a:off x="381000" y="1524000"/>
          <a:ext cx="8382000" cy="2316480"/>
        </p:xfrm>
        <a:graphic>
          <a:graphicData uri="http://schemas.openxmlformats.org/drawingml/2006/table">
            <a:tbl>
              <a:tblPr firstRow="1" bandRow="1">
                <a:tableStyleId>{5C22544A-7EE6-4342-B048-85BDC9FD1C3A}</a:tableStyleId>
              </a:tblPr>
              <a:tblGrid>
                <a:gridCol w="1897811"/>
                <a:gridCol w="896189"/>
                <a:gridCol w="1397000"/>
                <a:gridCol w="1397000"/>
                <a:gridCol w="1397000"/>
                <a:gridCol w="1397000"/>
              </a:tblGrid>
              <a:tr h="0">
                <a:tc>
                  <a:txBody>
                    <a:bodyPr/>
                    <a:lstStyle/>
                    <a:p>
                      <a:pPr algn="ctr"/>
                      <a:r>
                        <a:rPr lang="en-US" sz="2800" b="1" dirty="0">
                          <a:latin typeface="inherit"/>
                        </a:rPr>
                        <a:t>S. No.</a:t>
                      </a:r>
                    </a:p>
                  </a:txBody>
                  <a:tcPr marL="76200" marR="76200" marT="76200" marB="76200" anchor="ctr"/>
                </a:tc>
                <a:tc>
                  <a:txBody>
                    <a:bodyPr/>
                    <a:lstStyle/>
                    <a:p>
                      <a:pPr algn="ctr"/>
                      <a:r>
                        <a:rPr lang="en-US" sz="2800"/>
                        <a:t>1</a:t>
                      </a:r>
                    </a:p>
                  </a:txBody>
                  <a:tcPr marL="76200" marR="76200" marT="76200" marB="76200" anchor="ctr"/>
                </a:tc>
                <a:tc>
                  <a:txBody>
                    <a:bodyPr/>
                    <a:lstStyle/>
                    <a:p>
                      <a:pPr algn="ctr"/>
                      <a:r>
                        <a:rPr lang="en-US" sz="2800"/>
                        <a:t>2</a:t>
                      </a:r>
                    </a:p>
                  </a:txBody>
                  <a:tcPr marL="76200" marR="76200" marT="76200" marB="76200" anchor="ctr"/>
                </a:tc>
                <a:tc>
                  <a:txBody>
                    <a:bodyPr/>
                    <a:lstStyle/>
                    <a:p>
                      <a:pPr algn="ctr"/>
                      <a:r>
                        <a:rPr lang="en-US" sz="2800"/>
                        <a:t>3</a:t>
                      </a:r>
                    </a:p>
                  </a:txBody>
                  <a:tcPr marL="76200" marR="76200" marT="76200" marB="76200" anchor="ctr"/>
                </a:tc>
                <a:tc>
                  <a:txBody>
                    <a:bodyPr/>
                    <a:lstStyle/>
                    <a:p>
                      <a:pPr algn="ctr"/>
                      <a:r>
                        <a:rPr lang="en-US" sz="2800"/>
                        <a:t>4</a:t>
                      </a:r>
                    </a:p>
                  </a:txBody>
                  <a:tcPr marL="76200" marR="76200" marT="76200" marB="76200" anchor="ctr"/>
                </a:tc>
                <a:tc>
                  <a:txBody>
                    <a:bodyPr/>
                    <a:lstStyle/>
                    <a:p>
                      <a:pPr algn="ctr"/>
                      <a:r>
                        <a:rPr lang="en-US" sz="2800"/>
                        <a:t>5</a:t>
                      </a:r>
                    </a:p>
                  </a:txBody>
                  <a:tcPr marL="76200" marR="76200" marT="76200" marB="76200" anchor="ctr"/>
                </a:tc>
              </a:tr>
              <a:tr h="370840">
                <a:tc>
                  <a:txBody>
                    <a:bodyPr/>
                    <a:lstStyle/>
                    <a:p>
                      <a:pPr algn="ctr"/>
                      <a:r>
                        <a:rPr lang="en-US" sz="2800" b="1">
                          <a:latin typeface="inherit"/>
                        </a:rPr>
                        <a:t>Jobs</a:t>
                      </a:r>
                    </a:p>
                  </a:txBody>
                  <a:tcPr marL="76200" marR="76200" marT="76200" marB="76200" anchor="ctr"/>
                </a:tc>
                <a:tc>
                  <a:txBody>
                    <a:bodyPr/>
                    <a:lstStyle/>
                    <a:p>
                      <a:pPr algn="ctr"/>
                      <a:r>
                        <a:rPr lang="en-US" sz="2800"/>
                        <a:t>J4</a:t>
                      </a:r>
                    </a:p>
                  </a:txBody>
                  <a:tcPr marL="76200" marR="76200" marT="76200" marB="76200" anchor="ctr"/>
                </a:tc>
                <a:tc>
                  <a:txBody>
                    <a:bodyPr/>
                    <a:lstStyle/>
                    <a:p>
                      <a:pPr algn="ctr"/>
                      <a:r>
                        <a:rPr lang="en-US" sz="2800"/>
                        <a:t>J5</a:t>
                      </a:r>
                    </a:p>
                  </a:txBody>
                  <a:tcPr marL="76200" marR="76200" marT="76200" marB="76200" anchor="ctr"/>
                </a:tc>
                <a:tc>
                  <a:txBody>
                    <a:bodyPr/>
                    <a:lstStyle/>
                    <a:p>
                      <a:pPr algn="ctr"/>
                      <a:r>
                        <a:rPr lang="en-US" sz="2800"/>
                        <a:t>J2</a:t>
                      </a:r>
                    </a:p>
                  </a:txBody>
                  <a:tcPr marL="76200" marR="76200" marT="76200" marB="76200" anchor="ctr"/>
                </a:tc>
                <a:tc>
                  <a:txBody>
                    <a:bodyPr/>
                    <a:lstStyle/>
                    <a:p>
                      <a:pPr algn="ctr"/>
                      <a:r>
                        <a:rPr lang="en-US" sz="2800"/>
                        <a:t>J3</a:t>
                      </a:r>
                    </a:p>
                  </a:txBody>
                  <a:tcPr marL="76200" marR="76200" marT="76200" marB="76200" anchor="ctr"/>
                </a:tc>
                <a:tc>
                  <a:txBody>
                    <a:bodyPr/>
                    <a:lstStyle/>
                    <a:p>
                      <a:pPr algn="ctr"/>
                      <a:r>
                        <a:rPr lang="en-US" sz="2800"/>
                        <a:t>J1</a:t>
                      </a:r>
                    </a:p>
                  </a:txBody>
                  <a:tcPr marL="76200" marR="76200" marT="76200" marB="76200" anchor="ctr"/>
                </a:tc>
              </a:tr>
              <a:tr h="370840">
                <a:tc>
                  <a:txBody>
                    <a:bodyPr/>
                    <a:lstStyle/>
                    <a:p>
                      <a:pPr algn="ctr"/>
                      <a:r>
                        <a:rPr lang="en-US" sz="2800" b="1">
                          <a:latin typeface="inherit"/>
                        </a:rPr>
                        <a:t>Deadlines</a:t>
                      </a:r>
                    </a:p>
                  </a:txBody>
                  <a:tcPr marL="76200" marR="76200" marT="76200" marB="76200" anchor="ctr"/>
                </a:tc>
                <a:tc>
                  <a:txBody>
                    <a:bodyPr/>
                    <a:lstStyle/>
                    <a:p>
                      <a:pPr algn="ctr"/>
                      <a:r>
                        <a:rPr lang="en-US" sz="2800"/>
                        <a:t>3</a:t>
                      </a:r>
                    </a:p>
                  </a:txBody>
                  <a:tcPr marL="76200" marR="76200" marT="76200" marB="76200" anchor="ctr"/>
                </a:tc>
                <a:tc>
                  <a:txBody>
                    <a:bodyPr/>
                    <a:lstStyle/>
                    <a:p>
                      <a:pPr algn="ctr"/>
                      <a:r>
                        <a:rPr lang="en-US" sz="2800" dirty="0"/>
                        <a:t>4</a:t>
                      </a:r>
                    </a:p>
                  </a:txBody>
                  <a:tcPr marL="76200" marR="76200" marT="76200" marB="76200" anchor="ctr"/>
                </a:tc>
                <a:tc>
                  <a:txBody>
                    <a:bodyPr/>
                    <a:lstStyle/>
                    <a:p>
                      <a:pPr algn="ctr"/>
                      <a:r>
                        <a:rPr lang="en-US" sz="2800"/>
                        <a:t>2</a:t>
                      </a:r>
                    </a:p>
                  </a:txBody>
                  <a:tcPr marL="76200" marR="76200" marT="76200" marB="76200" anchor="ctr"/>
                </a:tc>
                <a:tc>
                  <a:txBody>
                    <a:bodyPr/>
                    <a:lstStyle/>
                    <a:p>
                      <a:pPr algn="ctr"/>
                      <a:r>
                        <a:rPr lang="en-US" sz="2800"/>
                        <a:t>1</a:t>
                      </a:r>
                    </a:p>
                  </a:txBody>
                  <a:tcPr marL="76200" marR="76200" marT="76200" marB="76200" anchor="ctr"/>
                </a:tc>
                <a:tc>
                  <a:txBody>
                    <a:bodyPr/>
                    <a:lstStyle/>
                    <a:p>
                      <a:pPr algn="ctr"/>
                      <a:r>
                        <a:rPr lang="en-US" sz="2800"/>
                        <a:t>2</a:t>
                      </a:r>
                    </a:p>
                  </a:txBody>
                  <a:tcPr marL="76200" marR="76200" marT="76200" marB="76200" anchor="ctr"/>
                </a:tc>
              </a:tr>
              <a:tr h="370840">
                <a:tc>
                  <a:txBody>
                    <a:bodyPr/>
                    <a:lstStyle/>
                    <a:p>
                      <a:pPr algn="ctr"/>
                      <a:r>
                        <a:rPr lang="en-US" sz="2800" b="1" dirty="0">
                          <a:latin typeface="inherit"/>
                        </a:rPr>
                        <a:t>Profits</a:t>
                      </a:r>
                    </a:p>
                  </a:txBody>
                  <a:tcPr marL="76200" marR="76200" marT="76200" marB="76200" anchor="ctr"/>
                </a:tc>
                <a:tc>
                  <a:txBody>
                    <a:bodyPr/>
                    <a:lstStyle/>
                    <a:p>
                      <a:pPr algn="ctr"/>
                      <a:r>
                        <a:rPr lang="en-US" sz="2800"/>
                        <a:t>100</a:t>
                      </a:r>
                    </a:p>
                  </a:txBody>
                  <a:tcPr marL="76200" marR="76200" marT="76200" marB="76200" anchor="ctr"/>
                </a:tc>
                <a:tc>
                  <a:txBody>
                    <a:bodyPr/>
                    <a:lstStyle/>
                    <a:p>
                      <a:pPr algn="ctr"/>
                      <a:r>
                        <a:rPr lang="en-US" sz="2800"/>
                        <a:t>80</a:t>
                      </a:r>
                    </a:p>
                  </a:txBody>
                  <a:tcPr marL="76200" marR="76200" marT="76200" marB="76200" anchor="ctr"/>
                </a:tc>
                <a:tc>
                  <a:txBody>
                    <a:bodyPr/>
                    <a:lstStyle/>
                    <a:p>
                      <a:pPr algn="ctr"/>
                      <a:r>
                        <a:rPr lang="en-US" sz="2800" dirty="0"/>
                        <a:t>60</a:t>
                      </a:r>
                    </a:p>
                  </a:txBody>
                  <a:tcPr marL="76200" marR="76200" marT="76200" marB="76200" anchor="ctr"/>
                </a:tc>
                <a:tc>
                  <a:txBody>
                    <a:bodyPr/>
                    <a:lstStyle/>
                    <a:p>
                      <a:pPr algn="ctr"/>
                      <a:r>
                        <a:rPr lang="en-US" sz="2800" dirty="0"/>
                        <a:t>40</a:t>
                      </a:r>
                    </a:p>
                  </a:txBody>
                  <a:tcPr marL="76200" marR="76200" marT="76200" marB="76200" anchor="ctr"/>
                </a:tc>
                <a:tc>
                  <a:txBody>
                    <a:bodyPr/>
                    <a:lstStyle/>
                    <a:p>
                      <a:pPr algn="ctr"/>
                      <a:r>
                        <a:rPr lang="en-US" sz="2800" dirty="0"/>
                        <a:t>20</a:t>
                      </a:r>
                    </a:p>
                  </a:txBody>
                  <a:tcPr marL="76200" marR="76200" marT="76200" marB="76200" anchor="ctr"/>
                </a:tc>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1"/>
            <a:ext cx="4648200" cy="2971800"/>
          </a:xfrm>
        </p:spPr>
        <p:txBody>
          <a:bodyPr>
            <a:normAutofit/>
          </a:bodyPr>
          <a:lstStyle/>
          <a:p>
            <a:r>
              <a:rPr lang="en-US" b="1" dirty="0" smtClean="0"/>
              <a:t>Step 3: Schedule Jobs</a:t>
            </a:r>
          </a:p>
          <a:p>
            <a:r>
              <a:rPr lang="en-US" dirty="0" smtClean="0"/>
              <a:t>Choose the job with highest profit, J4.</a:t>
            </a:r>
          </a:p>
          <a:p>
            <a:r>
              <a:rPr lang="en-US" dirty="0" smtClean="0"/>
              <a:t>Deadline 3</a:t>
            </a:r>
          </a:p>
          <a:p>
            <a:r>
              <a:rPr lang="en-US" dirty="0" smtClean="0"/>
              <a:t>Total Profit = 100.</a:t>
            </a:r>
          </a:p>
          <a:p>
            <a:endParaRPr lang="en-US" dirty="0"/>
          </a:p>
        </p:txBody>
      </p:sp>
      <p:graphicFrame>
        <p:nvGraphicFramePr>
          <p:cNvPr id="4" name="Table 3"/>
          <p:cNvGraphicFramePr>
            <a:graphicFrameLocks noGrp="1"/>
          </p:cNvGraphicFramePr>
          <p:nvPr/>
        </p:nvGraphicFramePr>
        <p:xfrm>
          <a:off x="1524000" y="3794760"/>
          <a:ext cx="6096000" cy="2225040"/>
        </p:xfrm>
        <a:graphic>
          <a:graphicData uri="http://schemas.openxmlformats.org/drawingml/2006/table">
            <a:tbl>
              <a:tblPr firstRow="1" bandRow="1">
                <a:tableStyleId>{BC89EF96-8CEA-46FF-86C4-4CE0E7609802}</a:tableStyleId>
              </a:tblPr>
              <a:tblGrid>
                <a:gridCol w="1524000"/>
                <a:gridCol w="1524000"/>
                <a:gridCol w="1524000"/>
                <a:gridCol w="1524000"/>
              </a:tblGrid>
              <a:tr h="370840">
                <a:tc>
                  <a:txBody>
                    <a:bodyPr/>
                    <a:lstStyle/>
                    <a:p>
                      <a:pPr algn="ctr"/>
                      <a:r>
                        <a:rPr lang="en-US" b="1" dirty="0" smtClean="0"/>
                        <a:t>Job  consider</a:t>
                      </a:r>
                      <a:endParaRPr lang="en-US" b="1" dirty="0"/>
                    </a:p>
                  </a:txBody>
                  <a:tcPr/>
                </a:tc>
                <a:tc>
                  <a:txBody>
                    <a:bodyPr/>
                    <a:lstStyle/>
                    <a:p>
                      <a:pPr algn="ctr"/>
                      <a:r>
                        <a:rPr lang="en-US" b="1" dirty="0" smtClean="0"/>
                        <a:t>Slot assign</a:t>
                      </a:r>
                      <a:endParaRPr lang="en-US" b="1" dirty="0"/>
                    </a:p>
                  </a:txBody>
                  <a:tcPr/>
                </a:tc>
                <a:tc>
                  <a:txBody>
                    <a:bodyPr/>
                    <a:lstStyle/>
                    <a:p>
                      <a:pPr algn="ctr"/>
                      <a:r>
                        <a:rPr lang="en-US" b="1" dirty="0" smtClean="0"/>
                        <a:t>Solution</a:t>
                      </a:r>
                      <a:endParaRPr lang="en-US" b="1" dirty="0"/>
                    </a:p>
                  </a:txBody>
                  <a:tcPr/>
                </a:tc>
                <a:tc>
                  <a:txBody>
                    <a:bodyPr/>
                    <a:lstStyle/>
                    <a:p>
                      <a:pPr algn="ctr"/>
                      <a:r>
                        <a:rPr lang="en-US" b="1" dirty="0" smtClean="0"/>
                        <a:t>Profit</a:t>
                      </a:r>
                      <a:endParaRPr lang="en-US" b="1" dirty="0"/>
                    </a:p>
                  </a:txBody>
                  <a:tcPr/>
                </a:tc>
              </a:tr>
              <a:tr h="370840">
                <a:tc>
                  <a:txBody>
                    <a:bodyPr/>
                    <a:lstStyle/>
                    <a:p>
                      <a:pPr algn="ctr"/>
                      <a:r>
                        <a:rPr lang="en-US" b="1" dirty="0" smtClean="0"/>
                        <a:t>J4</a:t>
                      </a:r>
                      <a:endParaRPr lang="en-US" b="1" dirty="0"/>
                    </a:p>
                  </a:txBody>
                  <a:tcPr/>
                </a:tc>
                <a:tc>
                  <a:txBody>
                    <a:bodyPr/>
                    <a:lstStyle/>
                    <a:p>
                      <a:pPr algn="ctr"/>
                      <a:r>
                        <a:rPr lang="en-US" b="1" dirty="0" smtClean="0"/>
                        <a:t>[2,3] </a:t>
                      </a:r>
                      <a:r>
                        <a:rPr lang="en-US" b="1" dirty="0" smtClean="0">
                          <a:sym typeface="Wingdings" pitchFamily="2" charset="2"/>
                        </a:rPr>
                        <a:t></a:t>
                      </a:r>
                      <a:r>
                        <a:rPr lang="en-US" b="1" dirty="0" smtClean="0"/>
                        <a:t>slot3</a:t>
                      </a:r>
                      <a:endParaRPr lang="en-US" b="1" dirty="0"/>
                    </a:p>
                  </a:txBody>
                  <a:tcPr/>
                </a:tc>
                <a:tc>
                  <a:txBody>
                    <a:bodyPr/>
                    <a:lstStyle/>
                    <a:p>
                      <a:pPr algn="ctr"/>
                      <a:r>
                        <a:rPr lang="en-US" b="1" dirty="0" smtClean="0"/>
                        <a:t>J4</a:t>
                      </a:r>
                      <a:endParaRPr lang="en-US" b="1" dirty="0"/>
                    </a:p>
                  </a:txBody>
                  <a:tcPr/>
                </a:tc>
                <a:tc>
                  <a:txBody>
                    <a:bodyPr/>
                    <a:lstStyle/>
                    <a:p>
                      <a:pPr algn="ctr"/>
                      <a:r>
                        <a:rPr lang="en-US" b="1" dirty="0" smtClean="0"/>
                        <a:t>100</a:t>
                      </a:r>
                      <a:endParaRPr lang="en-US" b="1" dirty="0"/>
                    </a:p>
                  </a:txBody>
                  <a:tcPr/>
                </a:tc>
              </a:tr>
              <a:tr h="370840">
                <a:tc>
                  <a:txBody>
                    <a:bodyPr/>
                    <a:lstStyle/>
                    <a:p>
                      <a:pPr algn="ctr"/>
                      <a:r>
                        <a:rPr lang="en-US" b="1" dirty="0" smtClean="0"/>
                        <a:t>J5</a:t>
                      </a:r>
                      <a:endParaRPr lang="en-US" b="1" dirty="0"/>
                    </a:p>
                  </a:txBody>
                  <a:tcPr/>
                </a:tc>
                <a:tc>
                  <a:txBody>
                    <a:bodyPr/>
                    <a:lstStyle/>
                    <a:p>
                      <a:pPr algn="ctr"/>
                      <a:r>
                        <a:rPr lang="en-US" b="1" dirty="0" smtClean="0"/>
                        <a:t>[3,4]</a:t>
                      </a:r>
                      <a:r>
                        <a:rPr lang="en-US" b="1" dirty="0" smtClean="0">
                          <a:sym typeface="Wingdings" pitchFamily="2" charset="2"/>
                        </a:rPr>
                        <a:t>slot4</a:t>
                      </a:r>
                      <a:endParaRPr lang="en-US" b="1" dirty="0"/>
                    </a:p>
                  </a:txBody>
                  <a:tcPr/>
                </a:tc>
                <a:tc>
                  <a:txBody>
                    <a:bodyPr/>
                    <a:lstStyle/>
                    <a:p>
                      <a:pPr algn="ctr"/>
                      <a:r>
                        <a:rPr lang="en-US" b="1" dirty="0" smtClean="0"/>
                        <a:t>J4,J5</a:t>
                      </a:r>
                      <a:endParaRPr lang="en-US" b="1" dirty="0"/>
                    </a:p>
                  </a:txBody>
                  <a:tcPr/>
                </a:tc>
                <a:tc>
                  <a:txBody>
                    <a:bodyPr/>
                    <a:lstStyle/>
                    <a:p>
                      <a:pPr algn="ctr"/>
                      <a:r>
                        <a:rPr lang="en-US" b="1" dirty="0" smtClean="0"/>
                        <a:t>100+80=180</a:t>
                      </a:r>
                      <a:endParaRPr lang="en-US" b="1" dirty="0"/>
                    </a:p>
                  </a:txBody>
                  <a:tcPr/>
                </a:tc>
              </a:tr>
              <a:tr h="370840">
                <a:tc>
                  <a:txBody>
                    <a:bodyPr/>
                    <a:lstStyle/>
                    <a:p>
                      <a:pPr algn="ctr"/>
                      <a:r>
                        <a:rPr lang="en-US" b="1" dirty="0" smtClean="0"/>
                        <a:t>J2</a:t>
                      </a:r>
                      <a:endParaRPr lang="en-US" b="1" dirty="0"/>
                    </a:p>
                  </a:txBody>
                  <a:tcPr/>
                </a:tc>
                <a:tc>
                  <a:txBody>
                    <a:bodyPr/>
                    <a:lstStyle/>
                    <a:p>
                      <a:pPr algn="ctr"/>
                      <a:r>
                        <a:rPr lang="en-US" b="1" dirty="0" smtClean="0"/>
                        <a:t>[1,2]</a:t>
                      </a:r>
                      <a:r>
                        <a:rPr lang="en-US" b="1" dirty="0" smtClean="0">
                          <a:sym typeface="Wingdings" pitchFamily="2" charset="2"/>
                        </a:rPr>
                        <a:t> slot2</a:t>
                      </a:r>
                      <a:endParaRPr lang="en-US" b="1" dirty="0"/>
                    </a:p>
                  </a:txBody>
                  <a:tcPr/>
                </a:tc>
                <a:tc>
                  <a:txBody>
                    <a:bodyPr/>
                    <a:lstStyle/>
                    <a:p>
                      <a:pPr algn="ctr"/>
                      <a:r>
                        <a:rPr lang="en-US" b="1" dirty="0" smtClean="0"/>
                        <a:t>J2,J4,J5</a:t>
                      </a:r>
                      <a:endParaRPr lang="en-US" b="1" dirty="0"/>
                    </a:p>
                  </a:txBody>
                  <a:tcPr/>
                </a:tc>
                <a:tc>
                  <a:txBody>
                    <a:bodyPr/>
                    <a:lstStyle/>
                    <a:p>
                      <a:pPr algn="ctr"/>
                      <a:r>
                        <a:rPr lang="en-US" b="1" dirty="0" smtClean="0"/>
                        <a:t>180+60=240</a:t>
                      </a:r>
                      <a:endParaRPr lang="en-US" b="1" dirty="0"/>
                    </a:p>
                  </a:txBody>
                  <a:tcPr/>
                </a:tc>
              </a:tr>
              <a:tr h="370840">
                <a:tc>
                  <a:txBody>
                    <a:bodyPr/>
                    <a:lstStyle/>
                    <a:p>
                      <a:pPr algn="ctr"/>
                      <a:r>
                        <a:rPr lang="en-US" b="1" dirty="0" smtClean="0"/>
                        <a:t>J3</a:t>
                      </a:r>
                      <a:endParaRPr lang="en-US" b="1" dirty="0"/>
                    </a:p>
                  </a:txBody>
                  <a:tcPr/>
                </a:tc>
                <a:tc>
                  <a:txBody>
                    <a:bodyPr/>
                    <a:lstStyle/>
                    <a:p>
                      <a:pPr algn="ctr"/>
                      <a:r>
                        <a:rPr lang="en-US" b="1" dirty="0" smtClean="0"/>
                        <a:t>[0,1]</a:t>
                      </a:r>
                      <a:r>
                        <a:rPr lang="en-US" b="1" dirty="0" smtClean="0">
                          <a:sym typeface="Wingdings" pitchFamily="2" charset="2"/>
                        </a:rPr>
                        <a:t>slot1</a:t>
                      </a:r>
                      <a:endParaRPr lang="en-US"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dirty="0" smtClean="0"/>
                        <a:t>J3, J2,J4,J5</a:t>
                      </a:r>
                    </a:p>
                  </a:txBody>
                  <a:tcPr/>
                </a:tc>
                <a:tc>
                  <a:txBody>
                    <a:bodyPr/>
                    <a:lstStyle/>
                    <a:p>
                      <a:pPr algn="ctr"/>
                      <a:r>
                        <a:rPr lang="en-US" b="1" dirty="0" smtClean="0"/>
                        <a:t>240+40=280</a:t>
                      </a:r>
                      <a:endParaRPr lang="en-US" b="1" dirty="0"/>
                    </a:p>
                  </a:txBody>
                  <a:tcPr/>
                </a:tc>
              </a:tr>
              <a:tr h="370840">
                <a:tc>
                  <a:txBody>
                    <a:bodyPr/>
                    <a:lstStyle/>
                    <a:p>
                      <a:pPr algn="ctr"/>
                      <a:r>
                        <a:rPr lang="en-US" b="1" dirty="0" smtClean="0"/>
                        <a:t>J1</a:t>
                      </a:r>
                      <a:endParaRPr lang="en-US" b="1" dirty="0"/>
                    </a:p>
                  </a:txBody>
                  <a:tcPr/>
                </a:tc>
                <a:tc>
                  <a:txBody>
                    <a:bodyPr/>
                    <a:lstStyle/>
                    <a:p>
                      <a:pPr algn="ctr"/>
                      <a:r>
                        <a:rPr lang="en-US" b="1" dirty="0" smtClean="0"/>
                        <a:t>Rejected</a:t>
                      </a:r>
                      <a:endParaRPr lang="en-US"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b="1" dirty="0" smtClean="0"/>
                    </a:p>
                  </a:txBody>
                  <a:tcPr/>
                </a:tc>
                <a:tc>
                  <a:txBody>
                    <a:bodyPr/>
                    <a:lstStyle/>
                    <a:p>
                      <a:pPr algn="ctr"/>
                      <a:endParaRPr lang="en-US" b="1" dirty="0"/>
                    </a:p>
                  </a:txBody>
                  <a:tcPr/>
                </a:tc>
              </a:tr>
            </a:tbl>
          </a:graphicData>
        </a:graphic>
      </p:graphicFrame>
      <p:graphicFrame>
        <p:nvGraphicFramePr>
          <p:cNvPr id="10" name="Table 9"/>
          <p:cNvGraphicFramePr>
            <a:graphicFrameLocks noGrp="1"/>
          </p:cNvGraphicFramePr>
          <p:nvPr/>
        </p:nvGraphicFramePr>
        <p:xfrm>
          <a:off x="1828800" y="3276600"/>
          <a:ext cx="4145280" cy="370840"/>
        </p:xfrm>
        <a:graphic>
          <a:graphicData uri="http://schemas.openxmlformats.org/drawingml/2006/table">
            <a:tbl>
              <a:tblPr firstRow="1" bandRow="1">
                <a:tableStyleId>{8799B23B-EC83-4686-B30A-512413B5E67A}</a:tableStyleId>
              </a:tblPr>
              <a:tblGrid>
                <a:gridCol w="1036320"/>
                <a:gridCol w="1036320"/>
                <a:gridCol w="1036320"/>
                <a:gridCol w="1036320"/>
              </a:tblGrid>
              <a:tr h="370840">
                <a:tc>
                  <a:txBody>
                    <a:bodyPr/>
                    <a:lstStyle/>
                    <a:p>
                      <a:pPr algn="ctr"/>
                      <a:r>
                        <a:rPr lang="en-US" b="1" dirty="0" smtClean="0"/>
                        <a:t>J3</a:t>
                      </a:r>
                      <a:endParaRPr lang="en-US" b="1" dirty="0"/>
                    </a:p>
                  </a:txBody>
                  <a:tcPr/>
                </a:tc>
                <a:tc>
                  <a:txBody>
                    <a:bodyPr/>
                    <a:lstStyle/>
                    <a:p>
                      <a:pPr algn="ctr"/>
                      <a:r>
                        <a:rPr lang="en-US" b="1" dirty="0" smtClean="0"/>
                        <a:t>J2</a:t>
                      </a:r>
                      <a:endParaRPr lang="en-US" b="1" dirty="0"/>
                    </a:p>
                  </a:txBody>
                  <a:tcPr/>
                </a:tc>
                <a:tc>
                  <a:txBody>
                    <a:bodyPr/>
                    <a:lstStyle/>
                    <a:p>
                      <a:pPr algn="ctr"/>
                      <a:r>
                        <a:rPr lang="en-US" b="1" dirty="0" smtClean="0"/>
                        <a:t> J4</a:t>
                      </a:r>
                      <a:endParaRPr lang="en-US" b="1" dirty="0"/>
                    </a:p>
                  </a:txBody>
                  <a:tcPr/>
                </a:tc>
                <a:tc>
                  <a:txBody>
                    <a:bodyPr/>
                    <a:lstStyle/>
                    <a:p>
                      <a:pPr algn="ctr"/>
                      <a:r>
                        <a:rPr lang="en-US" b="1" dirty="0" smtClean="0"/>
                        <a:t> J5</a:t>
                      </a:r>
                      <a:endParaRPr lang="en-US" b="1" dirty="0"/>
                    </a:p>
                  </a:txBody>
                  <a:tcPr/>
                </a:tc>
              </a:tr>
            </a:tbl>
          </a:graphicData>
        </a:graphic>
      </p:graphicFrame>
      <p:grpSp>
        <p:nvGrpSpPr>
          <p:cNvPr id="19" name="Group 18"/>
          <p:cNvGrpSpPr/>
          <p:nvPr/>
        </p:nvGrpSpPr>
        <p:grpSpPr>
          <a:xfrm>
            <a:off x="1752600" y="2895600"/>
            <a:ext cx="4419600" cy="381000"/>
            <a:chOff x="1752600" y="3124200"/>
            <a:chExt cx="4419600" cy="381000"/>
          </a:xfrm>
        </p:grpSpPr>
        <p:sp>
          <p:nvSpPr>
            <p:cNvPr id="11" name="TextBox 10"/>
            <p:cNvSpPr txBox="1"/>
            <p:nvPr/>
          </p:nvSpPr>
          <p:spPr>
            <a:xfrm>
              <a:off x="1752600" y="3124200"/>
              <a:ext cx="381000" cy="369332"/>
            </a:xfrm>
            <a:prstGeom prst="rect">
              <a:avLst/>
            </a:prstGeom>
            <a:noFill/>
          </p:spPr>
          <p:txBody>
            <a:bodyPr wrap="square" rtlCol="0">
              <a:spAutoFit/>
            </a:bodyPr>
            <a:lstStyle/>
            <a:p>
              <a:r>
                <a:rPr lang="en-US" dirty="0" smtClean="0"/>
                <a:t>0</a:t>
              </a:r>
              <a:endParaRPr lang="en-US" dirty="0"/>
            </a:p>
          </p:txBody>
        </p:sp>
        <p:sp>
          <p:nvSpPr>
            <p:cNvPr id="12" name="TextBox 11"/>
            <p:cNvSpPr txBox="1"/>
            <p:nvPr/>
          </p:nvSpPr>
          <p:spPr>
            <a:xfrm>
              <a:off x="2667000" y="3135868"/>
              <a:ext cx="381000" cy="369332"/>
            </a:xfrm>
            <a:prstGeom prst="rect">
              <a:avLst/>
            </a:prstGeom>
            <a:noFill/>
          </p:spPr>
          <p:txBody>
            <a:bodyPr wrap="square" rtlCol="0">
              <a:spAutoFit/>
            </a:bodyPr>
            <a:lstStyle/>
            <a:p>
              <a:r>
                <a:rPr lang="en-US" dirty="0" smtClean="0"/>
                <a:t>1</a:t>
              </a:r>
              <a:endParaRPr lang="en-US" dirty="0"/>
            </a:p>
          </p:txBody>
        </p:sp>
        <p:sp>
          <p:nvSpPr>
            <p:cNvPr id="13" name="TextBox 12"/>
            <p:cNvSpPr txBox="1"/>
            <p:nvPr/>
          </p:nvSpPr>
          <p:spPr>
            <a:xfrm>
              <a:off x="3657600" y="3135868"/>
              <a:ext cx="381000" cy="369332"/>
            </a:xfrm>
            <a:prstGeom prst="rect">
              <a:avLst/>
            </a:prstGeom>
            <a:noFill/>
          </p:spPr>
          <p:txBody>
            <a:bodyPr wrap="square" rtlCol="0">
              <a:spAutoFit/>
            </a:bodyPr>
            <a:lstStyle/>
            <a:p>
              <a:r>
                <a:rPr lang="en-US" dirty="0" smtClean="0"/>
                <a:t>2</a:t>
              </a:r>
              <a:endParaRPr lang="en-US" dirty="0"/>
            </a:p>
          </p:txBody>
        </p:sp>
        <p:sp>
          <p:nvSpPr>
            <p:cNvPr id="14" name="TextBox 13"/>
            <p:cNvSpPr txBox="1"/>
            <p:nvPr/>
          </p:nvSpPr>
          <p:spPr>
            <a:xfrm>
              <a:off x="4800600" y="3135868"/>
              <a:ext cx="381000" cy="369332"/>
            </a:xfrm>
            <a:prstGeom prst="rect">
              <a:avLst/>
            </a:prstGeom>
            <a:noFill/>
          </p:spPr>
          <p:txBody>
            <a:bodyPr wrap="square" rtlCol="0">
              <a:spAutoFit/>
            </a:bodyPr>
            <a:lstStyle/>
            <a:p>
              <a:r>
                <a:rPr lang="en-US" dirty="0" smtClean="0"/>
                <a:t>3</a:t>
              </a:r>
              <a:endParaRPr lang="en-US" dirty="0"/>
            </a:p>
          </p:txBody>
        </p:sp>
        <p:sp>
          <p:nvSpPr>
            <p:cNvPr id="15" name="TextBox 14"/>
            <p:cNvSpPr txBox="1"/>
            <p:nvPr/>
          </p:nvSpPr>
          <p:spPr>
            <a:xfrm>
              <a:off x="5791200" y="3135868"/>
              <a:ext cx="381000" cy="369332"/>
            </a:xfrm>
            <a:prstGeom prst="rect">
              <a:avLst/>
            </a:prstGeom>
            <a:noFill/>
          </p:spPr>
          <p:txBody>
            <a:bodyPr wrap="square" rtlCol="0">
              <a:spAutoFit/>
            </a:bodyPr>
            <a:lstStyle/>
            <a:p>
              <a:r>
                <a:rPr lang="en-US" dirty="0" smtClean="0"/>
                <a:t>4</a:t>
              </a:r>
              <a:endParaRPr lang="en-US" dirty="0"/>
            </a:p>
          </p:txBody>
        </p:sp>
      </p:grpSp>
      <p:graphicFrame>
        <p:nvGraphicFramePr>
          <p:cNvPr id="17" name="Table 16"/>
          <p:cNvGraphicFramePr>
            <a:graphicFrameLocks noGrp="1"/>
          </p:cNvGraphicFramePr>
          <p:nvPr/>
        </p:nvGraphicFramePr>
        <p:xfrm>
          <a:off x="4876800" y="152400"/>
          <a:ext cx="4038600" cy="1686560"/>
        </p:xfrm>
        <a:graphic>
          <a:graphicData uri="http://schemas.openxmlformats.org/drawingml/2006/table">
            <a:tbl>
              <a:tblPr firstRow="1" bandRow="1">
                <a:tableStyleId>{5C22544A-7EE6-4342-B048-85BDC9FD1C3A}</a:tableStyleId>
              </a:tblPr>
              <a:tblGrid>
                <a:gridCol w="914400"/>
                <a:gridCol w="431800"/>
                <a:gridCol w="673100"/>
                <a:gridCol w="673100"/>
                <a:gridCol w="673100"/>
                <a:gridCol w="673100"/>
              </a:tblGrid>
              <a:tr h="0">
                <a:tc>
                  <a:txBody>
                    <a:bodyPr/>
                    <a:lstStyle/>
                    <a:p>
                      <a:pPr algn="ctr"/>
                      <a:r>
                        <a:rPr lang="en-US" sz="1400" b="1" dirty="0">
                          <a:latin typeface="inherit"/>
                        </a:rPr>
                        <a:t>S. No.</a:t>
                      </a:r>
                    </a:p>
                  </a:txBody>
                  <a:tcPr marL="76200" marR="76200" marT="76200" marB="76200" anchor="ctr"/>
                </a:tc>
                <a:tc>
                  <a:txBody>
                    <a:bodyPr/>
                    <a:lstStyle/>
                    <a:p>
                      <a:pPr algn="ctr"/>
                      <a:r>
                        <a:rPr lang="en-US" sz="1400"/>
                        <a:t>1</a:t>
                      </a:r>
                    </a:p>
                  </a:txBody>
                  <a:tcPr marL="76200" marR="76200" marT="76200" marB="76200" anchor="ctr"/>
                </a:tc>
                <a:tc>
                  <a:txBody>
                    <a:bodyPr/>
                    <a:lstStyle/>
                    <a:p>
                      <a:pPr algn="ctr"/>
                      <a:r>
                        <a:rPr lang="en-US" sz="1400" dirty="0"/>
                        <a:t>2</a:t>
                      </a:r>
                    </a:p>
                  </a:txBody>
                  <a:tcPr marL="76200" marR="76200" marT="76200" marB="76200" anchor="ctr"/>
                </a:tc>
                <a:tc>
                  <a:txBody>
                    <a:bodyPr/>
                    <a:lstStyle/>
                    <a:p>
                      <a:pPr algn="ctr"/>
                      <a:r>
                        <a:rPr lang="en-US" sz="1400"/>
                        <a:t>3</a:t>
                      </a:r>
                    </a:p>
                  </a:txBody>
                  <a:tcPr marL="76200" marR="76200" marT="76200" marB="76200" anchor="ctr"/>
                </a:tc>
                <a:tc>
                  <a:txBody>
                    <a:bodyPr/>
                    <a:lstStyle/>
                    <a:p>
                      <a:pPr algn="ctr"/>
                      <a:r>
                        <a:rPr lang="en-US" sz="1400"/>
                        <a:t>4</a:t>
                      </a:r>
                    </a:p>
                  </a:txBody>
                  <a:tcPr marL="76200" marR="76200" marT="76200" marB="76200" anchor="ctr"/>
                </a:tc>
                <a:tc>
                  <a:txBody>
                    <a:bodyPr/>
                    <a:lstStyle/>
                    <a:p>
                      <a:pPr algn="ctr"/>
                      <a:r>
                        <a:rPr lang="en-US" sz="1400"/>
                        <a:t>5</a:t>
                      </a:r>
                    </a:p>
                  </a:txBody>
                  <a:tcPr marL="76200" marR="76200" marT="76200" marB="76200" anchor="ctr"/>
                </a:tc>
              </a:tr>
              <a:tr h="370840">
                <a:tc>
                  <a:txBody>
                    <a:bodyPr/>
                    <a:lstStyle/>
                    <a:p>
                      <a:pPr algn="ctr"/>
                      <a:r>
                        <a:rPr lang="en-US" sz="1400" b="1" dirty="0">
                          <a:latin typeface="inherit"/>
                        </a:rPr>
                        <a:t>Jobs</a:t>
                      </a:r>
                    </a:p>
                  </a:txBody>
                  <a:tcPr marL="76200" marR="76200" marT="76200" marB="76200" anchor="ctr"/>
                </a:tc>
                <a:tc>
                  <a:txBody>
                    <a:bodyPr/>
                    <a:lstStyle/>
                    <a:p>
                      <a:pPr algn="ctr"/>
                      <a:r>
                        <a:rPr lang="en-US" sz="1400" dirty="0"/>
                        <a:t>J4</a:t>
                      </a:r>
                    </a:p>
                  </a:txBody>
                  <a:tcPr marL="76200" marR="76200" marT="76200" marB="76200" anchor="ctr"/>
                </a:tc>
                <a:tc>
                  <a:txBody>
                    <a:bodyPr/>
                    <a:lstStyle/>
                    <a:p>
                      <a:pPr algn="ctr"/>
                      <a:r>
                        <a:rPr lang="en-US" sz="1400" dirty="0"/>
                        <a:t>J5</a:t>
                      </a:r>
                    </a:p>
                  </a:txBody>
                  <a:tcPr marL="76200" marR="76200" marT="76200" marB="76200" anchor="ctr"/>
                </a:tc>
                <a:tc>
                  <a:txBody>
                    <a:bodyPr/>
                    <a:lstStyle/>
                    <a:p>
                      <a:pPr algn="ctr"/>
                      <a:r>
                        <a:rPr lang="en-US" sz="1400"/>
                        <a:t>J2</a:t>
                      </a:r>
                    </a:p>
                  </a:txBody>
                  <a:tcPr marL="76200" marR="76200" marT="76200" marB="76200" anchor="ctr"/>
                </a:tc>
                <a:tc>
                  <a:txBody>
                    <a:bodyPr/>
                    <a:lstStyle/>
                    <a:p>
                      <a:pPr algn="ctr"/>
                      <a:r>
                        <a:rPr lang="en-US" sz="1400"/>
                        <a:t>J3</a:t>
                      </a:r>
                    </a:p>
                  </a:txBody>
                  <a:tcPr marL="76200" marR="76200" marT="76200" marB="76200" anchor="ctr"/>
                </a:tc>
                <a:tc>
                  <a:txBody>
                    <a:bodyPr/>
                    <a:lstStyle/>
                    <a:p>
                      <a:pPr algn="ctr"/>
                      <a:r>
                        <a:rPr lang="en-US" sz="1400"/>
                        <a:t>J1</a:t>
                      </a:r>
                    </a:p>
                  </a:txBody>
                  <a:tcPr marL="76200" marR="76200" marT="76200" marB="76200" anchor="ctr"/>
                </a:tc>
              </a:tr>
              <a:tr h="370840">
                <a:tc>
                  <a:txBody>
                    <a:bodyPr/>
                    <a:lstStyle/>
                    <a:p>
                      <a:pPr algn="ctr"/>
                      <a:r>
                        <a:rPr lang="en-US" sz="1400" b="1" dirty="0">
                          <a:latin typeface="inherit"/>
                        </a:rPr>
                        <a:t>Deadlines</a:t>
                      </a:r>
                    </a:p>
                  </a:txBody>
                  <a:tcPr marL="76200" marR="76200" marT="76200" marB="76200" anchor="ctr"/>
                </a:tc>
                <a:tc>
                  <a:txBody>
                    <a:bodyPr/>
                    <a:lstStyle/>
                    <a:p>
                      <a:pPr algn="ctr"/>
                      <a:r>
                        <a:rPr lang="en-US" sz="1400" dirty="0"/>
                        <a:t>3</a:t>
                      </a:r>
                    </a:p>
                  </a:txBody>
                  <a:tcPr marL="76200" marR="76200" marT="76200" marB="76200" anchor="ctr"/>
                </a:tc>
                <a:tc>
                  <a:txBody>
                    <a:bodyPr/>
                    <a:lstStyle/>
                    <a:p>
                      <a:pPr algn="ctr"/>
                      <a:r>
                        <a:rPr lang="en-US" sz="1400" dirty="0"/>
                        <a:t>4</a:t>
                      </a:r>
                    </a:p>
                  </a:txBody>
                  <a:tcPr marL="76200" marR="76200" marT="76200" marB="76200" anchor="ctr"/>
                </a:tc>
                <a:tc>
                  <a:txBody>
                    <a:bodyPr/>
                    <a:lstStyle/>
                    <a:p>
                      <a:pPr algn="ctr"/>
                      <a:r>
                        <a:rPr lang="en-US" sz="1400" dirty="0"/>
                        <a:t>2</a:t>
                      </a:r>
                    </a:p>
                  </a:txBody>
                  <a:tcPr marL="76200" marR="76200" marT="76200" marB="76200" anchor="ctr"/>
                </a:tc>
                <a:tc>
                  <a:txBody>
                    <a:bodyPr/>
                    <a:lstStyle/>
                    <a:p>
                      <a:pPr algn="ctr"/>
                      <a:r>
                        <a:rPr lang="en-US" sz="1400" dirty="0"/>
                        <a:t>1</a:t>
                      </a:r>
                    </a:p>
                  </a:txBody>
                  <a:tcPr marL="76200" marR="76200" marT="76200" marB="76200" anchor="ctr"/>
                </a:tc>
                <a:tc>
                  <a:txBody>
                    <a:bodyPr/>
                    <a:lstStyle/>
                    <a:p>
                      <a:pPr algn="ctr"/>
                      <a:r>
                        <a:rPr lang="en-US" sz="1400"/>
                        <a:t>2</a:t>
                      </a:r>
                    </a:p>
                  </a:txBody>
                  <a:tcPr marL="76200" marR="76200" marT="76200" marB="76200" anchor="ctr"/>
                </a:tc>
              </a:tr>
              <a:tr h="370840">
                <a:tc>
                  <a:txBody>
                    <a:bodyPr/>
                    <a:lstStyle/>
                    <a:p>
                      <a:pPr algn="ctr"/>
                      <a:r>
                        <a:rPr lang="en-US" sz="1400" b="1" dirty="0">
                          <a:latin typeface="inherit"/>
                        </a:rPr>
                        <a:t>Profits</a:t>
                      </a:r>
                    </a:p>
                  </a:txBody>
                  <a:tcPr marL="76200" marR="76200" marT="76200" marB="76200" anchor="ctr"/>
                </a:tc>
                <a:tc>
                  <a:txBody>
                    <a:bodyPr/>
                    <a:lstStyle/>
                    <a:p>
                      <a:pPr algn="ctr"/>
                      <a:r>
                        <a:rPr lang="en-US" sz="1400"/>
                        <a:t>100</a:t>
                      </a:r>
                    </a:p>
                  </a:txBody>
                  <a:tcPr marL="76200" marR="76200" marT="76200" marB="76200" anchor="ctr"/>
                </a:tc>
                <a:tc>
                  <a:txBody>
                    <a:bodyPr/>
                    <a:lstStyle/>
                    <a:p>
                      <a:pPr algn="ctr"/>
                      <a:r>
                        <a:rPr lang="en-US" sz="1400" dirty="0"/>
                        <a:t>80</a:t>
                      </a:r>
                    </a:p>
                  </a:txBody>
                  <a:tcPr marL="76200" marR="76200" marT="76200" marB="76200" anchor="ctr"/>
                </a:tc>
                <a:tc>
                  <a:txBody>
                    <a:bodyPr/>
                    <a:lstStyle/>
                    <a:p>
                      <a:pPr algn="ctr"/>
                      <a:r>
                        <a:rPr lang="en-US" sz="1400" dirty="0"/>
                        <a:t>60</a:t>
                      </a:r>
                    </a:p>
                  </a:txBody>
                  <a:tcPr marL="76200" marR="76200" marT="76200" marB="76200" anchor="ctr"/>
                </a:tc>
                <a:tc>
                  <a:txBody>
                    <a:bodyPr/>
                    <a:lstStyle/>
                    <a:p>
                      <a:pPr algn="ctr"/>
                      <a:r>
                        <a:rPr lang="en-US" sz="1400" dirty="0"/>
                        <a:t>40</a:t>
                      </a:r>
                    </a:p>
                  </a:txBody>
                  <a:tcPr marL="76200" marR="76200" marT="76200" marB="76200" anchor="ctr"/>
                </a:tc>
                <a:tc>
                  <a:txBody>
                    <a:bodyPr/>
                    <a:lstStyle/>
                    <a:p>
                      <a:pPr algn="ctr"/>
                      <a:r>
                        <a:rPr lang="en-US" sz="1400" dirty="0"/>
                        <a:t>20</a:t>
                      </a:r>
                    </a:p>
                  </a:txBody>
                  <a:tcPr marL="76200" marR="76200" marT="76200" marB="76200" anchor="ctr"/>
                </a:tc>
              </a:tr>
            </a:tbl>
          </a:graphicData>
        </a:graphic>
      </p:graphicFrame>
      <p:sp>
        <p:nvSpPr>
          <p:cNvPr id="18" name="Rectangle 17"/>
          <p:cNvSpPr/>
          <p:nvPr/>
        </p:nvSpPr>
        <p:spPr>
          <a:xfrm>
            <a:off x="2286000" y="6211669"/>
            <a:ext cx="4572000" cy="646331"/>
          </a:xfrm>
          <a:prstGeom prst="rect">
            <a:avLst/>
          </a:prstGeom>
        </p:spPr>
        <p:txBody>
          <a:bodyPr>
            <a:spAutoFit/>
          </a:bodyPr>
          <a:lstStyle/>
          <a:p>
            <a:r>
              <a:rPr lang="en-US" b="1" dirty="0" smtClean="0"/>
              <a:t>Final Job Order:</a:t>
            </a:r>
            <a:r>
              <a:rPr lang="en-US" dirty="0" smtClean="0"/>
              <a:t> </a:t>
            </a:r>
            <a:r>
              <a:rPr lang="en-US" b="1" dirty="0" smtClean="0"/>
              <a:t>J3 → J2 → J4 → J5</a:t>
            </a:r>
            <a:endParaRPr lang="en-US" dirty="0" smtClean="0"/>
          </a:p>
          <a:p>
            <a:r>
              <a:rPr lang="en-US" b="1" dirty="0" smtClean="0"/>
              <a:t>Total Profit:</a:t>
            </a:r>
            <a:r>
              <a:rPr lang="en-US" dirty="0" smtClean="0"/>
              <a:t> </a:t>
            </a:r>
            <a:r>
              <a:rPr lang="en-US" b="1" dirty="0" smtClean="0"/>
              <a:t>40 + 60 + 100 + 80 = 280</a:t>
            </a:r>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2</a:t>
            </a:r>
            <a:endParaRPr lang="en-US" dirty="0"/>
          </a:p>
        </p:txBody>
      </p:sp>
      <p:graphicFrame>
        <p:nvGraphicFramePr>
          <p:cNvPr id="4" name="Content Placeholder 3"/>
          <p:cNvGraphicFramePr>
            <a:graphicFrameLocks noGrp="1"/>
          </p:cNvGraphicFramePr>
          <p:nvPr>
            <p:ph idx="1"/>
          </p:nvPr>
        </p:nvGraphicFramePr>
        <p:xfrm>
          <a:off x="457200" y="1600200"/>
          <a:ext cx="8077200" cy="2072640"/>
        </p:xfrm>
        <a:graphic>
          <a:graphicData uri="http://schemas.openxmlformats.org/drawingml/2006/table">
            <a:tbl>
              <a:tblPr firstRow="1" bandRow="1">
                <a:tableStyleId>{5C22544A-7EE6-4342-B048-85BDC9FD1C3A}</a:tableStyleId>
              </a:tblPr>
              <a:tblGrid>
                <a:gridCol w="1828800"/>
                <a:gridCol w="863600"/>
                <a:gridCol w="1346200"/>
                <a:gridCol w="1346200"/>
                <a:gridCol w="1346200"/>
                <a:gridCol w="1346200"/>
              </a:tblGrid>
              <a:tr h="0">
                <a:tc>
                  <a:txBody>
                    <a:bodyPr/>
                    <a:lstStyle/>
                    <a:p>
                      <a:pPr algn="ctr"/>
                      <a:r>
                        <a:rPr lang="en-US" sz="2400" b="1" dirty="0">
                          <a:latin typeface="inherit"/>
                        </a:rPr>
                        <a:t>S. No.</a:t>
                      </a:r>
                    </a:p>
                  </a:txBody>
                  <a:tcPr marL="76200" marR="76200" marT="76200" marB="76200" anchor="ctr"/>
                </a:tc>
                <a:tc>
                  <a:txBody>
                    <a:bodyPr/>
                    <a:lstStyle/>
                    <a:p>
                      <a:pPr algn="ctr"/>
                      <a:r>
                        <a:rPr lang="en-US" sz="2400"/>
                        <a:t>1</a:t>
                      </a:r>
                    </a:p>
                  </a:txBody>
                  <a:tcPr marL="76200" marR="76200" marT="76200" marB="76200" anchor="ctr"/>
                </a:tc>
                <a:tc>
                  <a:txBody>
                    <a:bodyPr/>
                    <a:lstStyle/>
                    <a:p>
                      <a:pPr algn="ctr"/>
                      <a:r>
                        <a:rPr lang="en-US" sz="2400"/>
                        <a:t>2</a:t>
                      </a:r>
                    </a:p>
                  </a:txBody>
                  <a:tcPr marL="76200" marR="76200" marT="76200" marB="76200" anchor="ctr"/>
                </a:tc>
                <a:tc>
                  <a:txBody>
                    <a:bodyPr/>
                    <a:lstStyle/>
                    <a:p>
                      <a:pPr algn="ctr"/>
                      <a:r>
                        <a:rPr lang="en-US" sz="2400"/>
                        <a:t>3</a:t>
                      </a:r>
                    </a:p>
                  </a:txBody>
                  <a:tcPr marL="76200" marR="76200" marT="76200" marB="76200" anchor="ctr"/>
                </a:tc>
                <a:tc>
                  <a:txBody>
                    <a:bodyPr/>
                    <a:lstStyle/>
                    <a:p>
                      <a:pPr algn="ctr"/>
                      <a:r>
                        <a:rPr lang="en-US" sz="2400"/>
                        <a:t>4</a:t>
                      </a:r>
                    </a:p>
                  </a:txBody>
                  <a:tcPr marL="76200" marR="76200" marT="76200" marB="76200" anchor="ctr"/>
                </a:tc>
                <a:tc>
                  <a:txBody>
                    <a:bodyPr/>
                    <a:lstStyle/>
                    <a:p>
                      <a:pPr algn="ctr"/>
                      <a:r>
                        <a:rPr lang="en-US" sz="2400"/>
                        <a:t>5</a:t>
                      </a:r>
                    </a:p>
                  </a:txBody>
                  <a:tcPr marL="76200" marR="76200" marT="76200" marB="76200" anchor="ctr"/>
                </a:tc>
              </a:tr>
              <a:tr h="370840">
                <a:tc>
                  <a:txBody>
                    <a:bodyPr/>
                    <a:lstStyle/>
                    <a:p>
                      <a:pPr algn="ctr"/>
                      <a:r>
                        <a:rPr lang="en-US" sz="2400" b="1">
                          <a:latin typeface="inherit"/>
                        </a:rPr>
                        <a:t>Jobs</a:t>
                      </a:r>
                    </a:p>
                  </a:txBody>
                  <a:tcPr marL="76200" marR="76200" marT="76200" marB="76200" anchor="ctr"/>
                </a:tc>
                <a:tc>
                  <a:txBody>
                    <a:bodyPr/>
                    <a:lstStyle/>
                    <a:p>
                      <a:pPr algn="ctr"/>
                      <a:r>
                        <a:rPr lang="en-US" sz="2400"/>
                        <a:t>J1</a:t>
                      </a:r>
                    </a:p>
                  </a:txBody>
                  <a:tcPr marL="76200" marR="76200" marT="76200" marB="76200" anchor="ctr"/>
                </a:tc>
                <a:tc>
                  <a:txBody>
                    <a:bodyPr/>
                    <a:lstStyle/>
                    <a:p>
                      <a:pPr algn="ctr"/>
                      <a:r>
                        <a:rPr lang="en-US" sz="2400"/>
                        <a:t>J2</a:t>
                      </a:r>
                    </a:p>
                  </a:txBody>
                  <a:tcPr marL="76200" marR="76200" marT="76200" marB="76200" anchor="ctr"/>
                </a:tc>
                <a:tc>
                  <a:txBody>
                    <a:bodyPr/>
                    <a:lstStyle/>
                    <a:p>
                      <a:pPr algn="ctr"/>
                      <a:r>
                        <a:rPr lang="en-US" sz="2400"/>
                        <a:t>J3</a:t>
                      </a:r>
                    </a:p>
                  </a:txBody>
                  <a:tcPr marL="76200" marR="76200" marT="76200" marB="76200" anchor="ctr"/>
                </a:tc>
                <a:tc>
                  <a:txBody>
                    <a:bodyPr/>
                    <a:lstStyle/>
                    <a:p>
                      <a:pPr algn="ctr"/>
                      <a:r>
                        <a:rPr lang="en-US" sz="2400"/>
                        <a:t>J4</a:t>
                      </a:r>
                    </a:p>
                  </a:txBody>
                  <a:tcPr marL="76200" marR="76200" marT="76200" marB="76200" anchor="ctr"/>
                </a:tc>
                <a:tc>
                  <a:txBody>
                    <a:bodyPr/>
                    <a:lstStyle/>
                    <a:p>
                      <a:pPr algn="ctr"/>
                      <a:r>
                        <a:rPr lang="en-US" sz="2400"/>
                        <a:t>J5</a:t>
                      </a:r>
                    </a:p>
                  </a:txBody>
                  <a:tcPr marL="76200" marR="76200" marT="76200" marB="76200" anchor="ctr"/>
                </a:tc>
              </a:tr>
              <a:tr h="370840">
                <a:tc>
                  <a:txBody>
                    <a:bodyPr/>
                    <a:lstStyle/>
                    <a:p>
                      <a:pPr algn="ctr"/>
                      <a:r>
                        <a:rPr lang="en-US" sz="2400" b="1">
                          <a:latin typeface="inherit"/>
                        </a:rPr>
                        <a:t>Deadlines</a:t>
                      </a:r>
                    </a:p>
                  </a:txBody>
                  <a:tcPr marL="76200" marR="76200" marT="76200" marB="76200" anchor="ctr"/>
                </a:tc>
                <a:tc>
                  <a:txBody>
                    <a:bodyPr/>
                    <a:lstStyle/>
                    <a:p>
                      <a:pPr algn="ctr"/>
                      <a:r>
                        <a:rPr lang="en-US" sz="2400" dirty="0" smtClean="0"/>
                        <a:t>2</a:t>
                      </a:r>
                      <a:endParaRPr lang="en-US" sz="2400" dirty="0"/>
                    </a:p>
                  </a:txBody>
                  <a:tcPr marL="76200" marR="76200" marT="76200" marB="76200" anchor="ctr"/>
                </a:tc>
                <a:tc>
                  <a:txBody>
                    <a:bodyPr/>
                    <a:lstStyle/>
                    <a:p>
                      <a:pPr algn="ctr"/>
                      <a:r>
                        <a:rPr lang="en-US" sz="2400"/>
                        <a:t>2</a:t>
                      </a:r>
                    </a:p>
                  </a:txBody>
                  <a:tcPr marL="76200" marR="76200" marT="76200" marB="76200" anchor="ctr"/>
                </a:tc>
                <a:tc>
                  <a:txBody>
                    <a:bodyPr/>
                    <a:lstStyle/>
                    <a:p>
                      <a:pPr algn="ctr"/>
                      <a:r>
                        <a:rPr lang="en-US" sz="2400"/>
                        <a:t>1</a:t>
                      </a:r>
                    </a:p>
                  </a:txBody>
                  <a:tcPr marL="76200" marR="76200" marT="76200" marB="76200" anchor="ctr"/>
                </a:tc>
                <a:tc>
                  <a:txBody>
                    <a:bodyPr/>
                    <a:lstStyle/>
                    <a:p>
                      <a:pPr algn="ctr"/>
                      <a:r>
                        <a:rPr lang="en-US" sz="2400"/>
                        <a:t>3</a:t>
                      </a:r>
                    </a:p>
                  </a:txBody>
                  <a:tcPr marL="76200" marR="76200" marT="76200" marB="76200" anchor="ctr"/>
                </a:tc>
                <a:tc>
                  <a:txBody>
                    <a:bodyPr/>
                    <a:lstStyle/>
                    <a:p>
                      <a:pPr algn="ctr"/>
                      <a:r>
                        <a:rPr lang="en-US" sz="2400" dirty="0" smtClean="0"/>
                        <a:t>3</a:t>
                      </a:r>
                      <a:endParaRPr lang="en-US" sz="2400" dirty="0"/>
                    </a:p>
                  </a:txBody>
                  <a:tcPr marL="76200" marR="76200" marT="76200" marB="76200" anchor="ctr"/>
                </a:tc>
              </a:tr>
              <a:tr h="370840">
                <a:tc>
                  <a:txBody>
                    <a:bodyPr/>
                    <a:lstStyle/>
                    <a:p>
                      <a:pPr algn="ctr"/>
                      <a:r>
                        <a:rPr lang="en-US" sz="2400" b="1" dirty="0">
                          <a:latin typeface="inherit"/>
                        </a:rPr>
                        <a:t>Profits</a:t>
                      </a:r>
                    </a:p>
                  </a:txBody>
                  <a:tcPr marL="76200" marR="76200" marT="76200" marB="76200" anchor="ctr"/>
                </a:tc>
                <a:tc>
                  <a:txBody>
                    <a:bodyPr/>
                    <a:lstStyle/>
                    <a:p>
                      <a:pPr algn="ctr"/>
                      <a:r>
                        <a:rPr lang="en-US" sz="2400"/>
                        <a:t>20</a:t>
                      </a:r>
                    </a:p>
                  </a:txBody>
                  <a:tcPr marL="76200" marR="76200" marT="76200" marB="76200" anchor="ctr"/>
                </a:tc>
                <a:tc>
                  <a:txBody>
                    <a:bodyPr/>
                    <a:lstStyle/>
                    <a:p>
                      <a:pPr algn="ctr"/>
                      <a:r>
                        <a:rPr lang="en-US" sz="2400" dirty="0" smtClean="0"/>
                        <a:t>15</a:t>
                      </a:r>
                      <a:endParaRPr lang="en-US" sz="2400" dirty="0"/>
                    </a:p>
                  </a:txBody>
                  <a:tcPr marL="76200" marR="76200" marT="76200" marB="76200" anchor="ctr"/>
                </a:tc>
                <a:tc>
                  <a:txBody>
                    <a:bodyPr/>
                    <a:lstStyle/>
                    <a:p>
                      <a:pPr algn="ctr"/>
                      <a:r>
                        <a:rPr lang="en-US" sz="2400" dirty="0" smtClean="0"/>
                        <a:t>10</a:t>
                      </a:r>
                      <a:endParaRPr lang="en-US" sz="2400" dirty="0"/>
                    </a:p>
                  </a:txBody>
                  <a:tcPr marL="76200" marR="76200" marT="76200" marB="76200" anchor="ctr"/>
                </a:tc>
                <a:tc>
                  <a:txBody>
                    <a:bodyPr/>
                    <a:lstStyle/>
                    <a:p>
                      <a:pPr algn="ctr"/>
                      <a:r>
                        <a:rPr lang="en-US" sz="2400" dirty="0" smtClean="0"/>
                        <a:t>5</a:t>
                      </a:r>
                      <a:endParaRPr lang="en-US" sz="2400" dirty="0"/>
                    </a:p>
                  </a:txBody>
                  <a:tcPr marL="76200" marR="76200" marT="76200" marB="76200" anchor="ctr"/>
                </a:tc>
                <a:tc>
                  <a:txBody>
                    <a:bodyPr/>
                    <a:lstStyle/>
                    <a:p>
                      <a:pPr algn="ctr"/>
                      <a:r>
                        <a:rPr lang="en-US" sz="2400" dirty="0" smtClean="0"/>
                        <a:t>1</a:t>
                      </a:r>
                      <a:endParaRPr lang="en-US" sz="2400" dirty="0"/>
                    </a:p>
                  </a:txBody>
                  <a:tcPr marL="76200" marR="76200" marT="76200" marB="76200" anchor="ctr"/>
                </a:tc>
              </a:tr>
            </a:tbl>
          </a:graphicData>
        </a:graphic>
      </p:graphicFrame>
      <p:graphicFrame>
        <p:nvGraphicFramePr>
          <p:cNvPr id="5" name="Content Placeholder 3"/>
          <p:cNvGraphicFramePr>
            <a:graphicFrameLocks noGrp="1"/>
          </p:cNvGraphicFramePr>
          <p:nvPr>
            <p:ph idx="1"/>
          </p:nvPr>
        </p:nvGraphicFramePr>
        <p:xfrm>
          <a:off x="381000" y="4267200"/>
          <a:ext cx="8077200" cy="2072640"/>
        </p:xfrm>
        <a:graphic>
          <a:graphicData uri="http://schemas.openxmlformats.org/drawingml/2006/table">
            <a:tbl>
              <a:tblPr firstRow="1" bandRow="1">
                <a:tableStyleId>{5C22544A-7EE6-4342-B048-85BDC9FD1C3A}</a:tableStyleId>
              </a:tblPr>
              <a:tblGrid>
                <a:gridCol w="1828800"/>
                <a:gridCol w="863600"/>
                <a:gridCol w="1346200"/>
                <a:gridCol w="1346200"/>
                <a:gridCol w="1346200"/>
                <a:gridCol w="1346200"/>
              </a:tblGrid>
              <a:tr h="0">
                <a:tc>
                  <a:txBody>
                    <a:bodyPr/>
                    <a:lstStyle/>
                    <a:p>
                      <a:pPr algn="ctr"/>
                      <a:r>
                        <a:rPr lang="en-US" sz="2400" b="1" dirty="0" smtClean="0">
                          <a:latin typeface="inherit"/>
                        </a:rPr>
                        <a:t>S. No.</a:t>
                      </a:r>
                      <a:endParaRPr lang="en-US" sz="2400" b="1" dirty="0">
                        <a:latin typeface="inherit"/>
                      </a:endParaRPr>
                    </a:p>
                  </a:txBody>
                  <a:tcPr marL="76200" marR="76200" marT="76200" marB="76200" anchor="ctr"/>
                </a:tc>
                <a:tc>
                  <a:txBody>
                    <a:bodyPr/>
                    <a:lstStyle/>
                    <a:p>
                      <a:pPr algn="ctr"/>
                      <a:r>
                        <a:rPr lang="en-US" sz="2400"/>
                        <a:t>1</a:t>
                      </a:r>
                    </a:p>
                  </a:txBody>
                  <a:tcPr marL="76200" marR="76200" marT="76200" marB="76200" anchor="ctr"/>
                </a:tc>
                <a:tc>
                  <a:txBody>
                    <a:bodyPr/>
                    <a:lstStyle/>
                    <a:p>
                      <a:pPr algn="ctr"/>
                      <a:r>
                        <a:rPr lang="en-US" sz="2400"/>
                        <a:t>2</a:t>
                      </a:r>
                    </a:p>
                  </a:txBody>
                  <a:tcPr marL="76200" marR="76200" marT="76200" marB="76200" anchor="ctr"/>
                </a:tc>
                <a:tc>
                  <a:txBody>
                    <a:bodyPr/>
                    <a:lstStyle/>
                    <a:p>
                      <a:pPr algn="ctr"/>
                      <a:r>
                        <a:rPr lang="en-US" sz="2400"/>
                        <a:t>3</a:t>
                      </a:r>
                    </a:p>
                  </a:txBody>
                  <a:tcPr marL="76200" marR="76200" marT="76200" marB="76200" anchor="ctr"/>
                </a:tc>
                <a:tc>
                  <a:txBody>
                    <a:bodyPr/>
                    <a:lstStyle/>
                    <a:p>
                      <a:pPr algn="ctr"/>
                      <a:r>
                        <a:rPr lang="en-US" sz="2400"/>
                        <a:t>4</a:t>
                      </a:r>
                    </a:p>
                  </a:txBody>
                  <a:tcPr marL="76200" marR="76200" marT="76200" marB="76200" anchor="ctr"/>
                </a:tc>
                <a:tc>
                  <a:txBody>
                    <a:bodyPr/>
                    <a:lstStyle/>
                    <a:p>
                      <a:pPr algn="ctr"/>
                      <a:r>
                        <a:rPr lang="en-US" sz="2400"/>
                        <a:t>5</a:t>
                      </a:r>
                    </a:p>
                  </a:txBody>
                  <a:tcPr marL="76200" marR="76200" marT="76200" marB="76200" anchor="ctr"/>
                </a:tc>
              </a:tr>
              <a:tr h="370840">
                <a:tc>
                  <a:txBody>
                    <a:bodyPr/>
                    <a:lstStyle/>
                    <a:p>
                      <a:pPr algn="ctr"/>
                      <a:r>
                        <a:rPr lang="en-US" sz="2400" b="1" smtClean="0">
                          <a:latin typeface="inherit"/>
                        </a:rPr>
                        <a:t>Jobs</a:t>
                      </a:r>
                      <a:endParaRPr lang="en-US" sz="2400" b="1">
                        <a:latin typeface="inherit"/>
                      </a:endParaRPr>
                    </a:p>
                  </a:txBody>
                  <a:tcPr marL="76200" marR="76200" marT="76200" marB="76200" anchor="ctr"/>
                </a:tc>
                <a:tc>
                  <a:txBody>
                    <a:bodyPr/>
                    <a:lstStyle/>
                    <a:p>
                      <a:pPr algn="ctr"/>
                      <a:r>
                        <a:rPr lang="en-US" sz="2400"/>
                        <a:t>J1</a:t>
                      </a:r>
                    </a:p>
                  </a:txBody>
                  <a:tcPr marL="76200" marR="76200" marT="76200" marB="76200" anchor="ctr"/>
                </a:tc>
                <a:tc>
                  <a:txBody>
                    <a:bodyPr/>
                    <a:lstStyle/>
                    <a:p>
                      <a:pPr algn="ctr"/>
                      <a:r>
                        <a:rPr lang="en-US" sz="2400"/>
                        <a:t>J2</a:t>
                      </a:r>
                    </a:p>
                  </a:txBody>
                  <a:tcPr marL="76200" marR="76200" marT="76200" marB="76200" anchor="ctr"/>
                </a:tc>
                <a:tc>
                  <a:txBody>
                    <a:bodyPr/>
                    <a:lstStyle/>
                    <a:p>
                      <a:pPr algn="ctr"/>
                      <a:r>
                        <a:rPr lang="en-US" sz="2400"/>
                        <a:t>J3</a:t>
                      </a:r>
                    </a:p>
                  </a:txBody>
                  <a:tcPr marL="76200" marR="76200" marT="76200" marB="76200" anchor="ctr"/>
                </a:tc>
                <a:tc>
                  <a:txBody>
                    <a:bodyPr/>
                    <a:lstStyle/>
                    <a:p>
                      <a:pPr algn="ctr"/>
                      <a:r>
                        <a:rPr lang="en-US" sz="2400"/>
                        <a:t>J4</a:t>
                      </a:r>
                    </a:p>
                  </a:txBody>
                  <a:tcPr marL="76200" marR="76200" marT="76200" marB="76200" anchor="ctr"/>
                </a:tc>
                <a:tc>
                  <a:txBody>
                    <a:bodyPr/>
                    <a:lstStyle/>
                    <a:p>
                      <a:pPr algn="ctr"/>
                      <a:r>
                        <a:rPr lang="en-US" sz="2400"/>
                        <a:t>J5</a:t>
                      </a:r>
                    </a:p>
                  </a:txBody>
                  <a:tcPr marL="76200" marR="76200" marT="76200" marB="76200" anchor="ctr"/>
                </a:tc>
              </a:tr>
              <a:tr h="370840">
                <a:tc>
                  <a:txBody>
                    <a:bodyPr/>
                    <a:lstStyle/>
                    <a:p>
                      <a:pPr algn="ctr"/>
                      <a:r>
                        <a:rPr lang="en-US" sz="2400" b="1" smtClean="0">
                          <a:latin typeface="inherit"/>
                        </a:rPr>
                        <a:t>Deadlines</a:t>
                      </a:r>
                      <a:endParaRPr lang="en-US" sz="2400" b="1">
                        <a:latin typeface="inherit"/>
                      </a:endParaRPr>
                    </a:p>
                  </a:txBody>
                  <a:tcPr marL="76200" marR="76200" marT="76200" marB="76200" anchor="ctr"/>
                </a:tc>
                <a:tc>
                  <a:txBody>
                    <a:bodyPr/>
                    <a:lstStyle/>
                    <a:p>
                      <a:pPr algn="ctr"/>
                      <a:r>
                        <a:rPr lang="en-US" sz="2400" dirty="0" smtClean="0"/>
                        <a:t>2</a:t>
                      </a:r>
                      <a:endParaRPr lang="en-US" sz="2400" dirty="0"/>
                    </a:p>
                  </a:txBody>
                  <a:tcPr marL="76200" marR="76200" marT="76200" marB="76200" anchor="ctr"/>
                </a:tc>
                <a:tc>
                  <a:txBody>
                    <a:bodyPr/>
                    <a:lstStyle/>
                    <a:p>
                      <a:pPr algn="ctr"/>
                      <a:r>
                        <a:rPr lang="en-US" sz="2400"/>
                        <a:t>2</a:t>
                      </a:r>
                    </a:p>
                  </a:txBody>
                  <a:tcPr marL="76200" marR="76200" marT="76200" marB="76200" anchor="ctr"/>
                </a:tc>
                <a:tc>
                  <a:txBody>
                    <a:bodyPr/>
                    <a:lstStyle/>
                    <a:p>
                      <a:pPr algn="ctr"/>
                      <a:r>
                        <a:rPr lang="en-US" sz="2400"/>
                        <a:t>1</a:t>
                      </a:r>
                    </a:p>
                  </a:txBody>
                  <a:tcPr marL="76200" marR="76200" marT="76200" marB="76200" anchor="ctr"/>
                </a:tc>
                <a:tc>
                  <a:txBody>
                    <a:bodyPr/>
                    <a:lstStyle/>
                    <a:p>
                      <a:pPr algn="ctr"/>
                      <a:r>
                        <a:rPr lang="en-US" sz="2400"/>
                        <a:t>3</a:t>
                      </a:r>
                    </a:p>
                  </a:txBody>
                  <a:tcPr marL="76200" marR="76200" marT="76200" marB="76200" anchor="ctr"/>
                </a:tc>
                <a:tc>
                  <a:txBody>
                    <a:bodyPr/>
                    <a:lstStyle/>
                    <a:p>
                      <a:pPr algn="ctr"/>
                      <a:r>
                        <a:rPr lang="en-US" sz="2400" dirty="0" smtClean="0"/>
                        <a:t>3</a:t>
                      </a:r>
                      <a:endParaRPr lang="en-US" sz="2400" dirty="0"/>
                    </a:p>
                  </a:txBody>
                  <a:tcPr marL="76200" marR="76200" marT="76200" marB="76200" anchor="ctr"/>
                </a:tc>
              </a:tr>
              <a:tr h="370840">
                <a:tc>
                  <a:txBody>
                    <a:bodyPr/>
                    <a:lstStyle/>
                    <a:p>
                      <a:pPr algn="ctr"/>
                      <a:r>
                        <a:rPr lang="en-US" sz="2400" b="1" dirty="0" smtClean="0">
                          <a:latin typeface="inherit"/>
                        </a:rPr>
                        <a:t>Profits</a:t>
                      </a:r>
                      <a:endParaRPr lang="en-US" sz="2400" b="1" dirty="0">
                        <a:latin typeface="inherit"/>
                      </a:endParaRPr>
                    </a:p>
                  </a:txBody>
                  <a:tcPr marL="76200" marR="76200" marT="76200" marB="76200" anchor="ctr"/>
                </a:tc>
                <a:tc>
                  <a:txBody>
                    <a:bodyPr/>
                    <a:lstStyle/>
                    <a:p>
                      <a:pPr algn="ctr"/>
                      <a:r>
                        <a:rPr lang="en-US" sz="2400" dirty="0"/>
                        <a:t>20</a:t>
                      </a:r>
                    </a:p>
                  </a:txBody>
                  <a:tcPr marL="76200" marR="76200" marT="76200" marB="76200" anchor="ctr"/>
                </a:tc>
                <a:tc>
                  <a:txBody>
                    <a:bodyPr/>
                    <a:lstStyle/>
                    <a:p>
                      <a:pPr algn="ctr"/>
                      <a:r>
                        <a:rPr lang="en-US" sz="2400" dirty="0" smtClean="0"/>
                        <a:t>15</a:t>
                      </a:r>
                      <a:endParaRPr lang="en-US" sz="2400" dirty="0"/>
                    </a:p>
                  </a:txBody>
                  <a:tcPr marL="76200" marR="76200" marT="76200" marB="76200" anchor="ctr"/>
                </a:tc>
                <a:tc>
                  <a:txBody>
                    <a:bodyPr/>
                    <a:lstStyle/>
                    <a:p>
                      <a:pPr algn="ctr"/>
                      <a:r>
                        <a:rPr lang="en-US" sz="2400" dirty="0" smtClean="0"/>
                        <a:t>10</a:t>
                      </a:r>
                      <a:endParaRPr lang="en-US" sz="2400" dirty="0"/>
                    </a:p>
                  </a:txBody>
                  <a:tcPr marL="76200" marR="76200" marT="76200" marB="76200" anchor="ctr"/>
                </a:tc>
                <a:tc>
                  <a:txBody>
                    <a:bodyPr/>
                    <a:lstStyle/>
                    <a:p>
                      <a:pPr algn="ctr"/>
                      <a:r>
                        <a:rPr lang="en-US" sz="2400" dirty="0" smtClean="0"/>
                        <a:t>5</a:t>
                      </a:r>
                      <a:endParaRPr lang="en-US" sz="2400" dirty="0"/>
                    </a:p>
                  </a:txBody>
                  <a:tcPr marL="76200" marR="76200" marT="76200" marB="76200" anchor="ctr"/>
                </a:tc>
                <a:tc>
                  <a:txBody>
                    <a:bodyPr/>
                    <a:lstStyle/>
                    <a:p>
                      <a:pPr algn="ctr"/>
                      <a:r>
                        <a:rPr lang="en-US" sz="2400" dirty="0" smtClean="0"/>
                        <a:t>1</a:t>
                      </a:r>
                      <a:endParaRPr lang="en-US" sz="2400" dirty="0"/>
                    </a:p>
                  </a:txBody>
                  <a:tcPr marL="76200" marR="76200" marT="76200" marB="76200" anchor="ctr"/>
                </a:tc>
              </a:tr>
            </a:tbl>
          </a:graphicData>
        </a:graphic>
      </p:graphicFrame>
      <p:sp>
        <p:nvSpPr>
          <p:cNvPr id="6" name="Rectangle 5"/>
          <p:cNvSpPr/>
          <p:nvPr/>
        </p:nvSpPr>
        <p:spPr>
          <a:xfrm>
            <a:off x="533400" y="3810000"/>
            <a:ext cx="8162556" cy="461665"/>
          </a:xfrm>
          <a:prstGeom prst="rect">
            <a:avLst/>
          </a:prstGeom>
        </p:spPr>
        <p:txBody>
          <a:bodyPr wrap="none">
            <a:spAutoFit/>
          </a:bodyPr>
          <a:lstStyle/>
          <a:p>
            <a:r>
              <a:rPr lang="en-US" sz="2400" b="1" dirty="0" smtClean="0"/>
              <a:t>After sorting        :                                                   Max Deadline =3 </a:t>
            </a:r>
            <a:endParaRPr lang="en-US" sz="2400" b="1"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381000" y="2590800"/>
          <a:ext cx="8153400" cy="3657600"/>
        </p:xfrm>
        <a:graphic>
          <a:graphicData uri="http://schemas.openxmlformats.org/drawingml/2006/table">
            <a:tbl>
              <a:tblPr firstRow="1" bandRow="1">
                <a:tableStyleId>{BC89EF96-8CEA-46FF-86C4-4CE0E7609802}</a:tableStyleId>
              </a:tblPr>
              <a:tblGrid>
                <a:gridCol w="2038350"/>
                <a:gridCol w="2038350"/>
                <a:gridCol w="2038350"/>
                <a:gridCol w="2038350"/>
              </a:tblGrid>
              <a:tr h="609600">
                <a:tc>
                  <a:txBody>
                    <a:bodyPr/>
                    <a:lstStyle/>
                    <a:p>
                      <a:pPr algn="ctr"/>
                      <a:r>
                        <a:rPr lang="en-US" sz="2400" b="1" dirty="0" smtClean="0"/>
                        <a:t>Job  consider</a:t>
                      </a:r>
                      <a:endParaRPr lang="en-US" sz="2400" b="1" dirty="0"/>
                    </a:p>
                  </a:txBody>
                  <a:tcPr/>
                </a:tc>
                <a:tc>
                  <a:txBody>
                    <a:bodyPr/>
                    <a:lstStyle/>
                    <a:p>
                      <a:pPr algn="ctr"/>
                      <a:r>
                        <a:rPr lang="en-US" sz="2400" b="1" dirty="0" smtClean="0"/>
                        <a:t>Slot assigned</a:t>
                      </a:r>
                      <a:endParaRPr lang="en-US" sz="2400" b="1" dirty="0"/>
                    </a:p>
                  </a:txBody>
                  <a:tcPr/>
                </a:tc>
                <a:tc>
                  <a:txBody>
                    <a:bodyPr/>
                    <a:lstStyle/>
                    <a:p>
                      <a:pPr algn="ctr"/>
                      <a:r>
                        <a:rPr lang="en-US" sz="2400" b="1" dirty="0" smtClean="0"/>
                        <a:t>Solution</a:t>
                      </a:r>
                      <a:endParaRPr lang="en-US" sz="2400" b="1" dirty="0"/>
                    </a:p>
                  </a:txBody>
                  <a:tcPr/>
                </a:tc>
                <a:tc>
                  <a:txBody>
                    <a:bodyPr/>
                    <a:lstStyle/>
                    <a:p>
                      <a:pPr algn="ctr"/>
                      <a:r>
                        <a:rPr lang="en-US" sz="2400" b="1" dirty="0" smtClean="0"/>
                        <a:t>Profit</a:t>
                      </a:r>
                      <a:endParaRPr lang="en-US" sz="2400" b="1" dirty="0"/>
                    </a:p>
                  </a:txBody>
                  <a:tcPr/>
                </a:tc>
              </a:tr>
              <a:tr h="609600">
                <a:tc>
                  <a:txBody>
                    <a:bodyPr/>
                    <a:lstStyle/>
                    <a:p>
                      <a:pPr algn="ctr"/>
                      <a:r>
                        <a:rPr lang="en-US" sz="2400" b="0" dirty="0" smtClean="0"/>
                        <a:t>J1</a:t>
                      </a:r>
                      <a:endParaRPr lang="en-US" sz="2400" b="0" dirty="0"/>
                    </a:p>
                  </a:txBody>
                  <a:tcPr/>
                </a:tc>
                <a:tc>
                  <a:txBody>
                    <a:bodyPr/>
                    <a:lstStyle/>
                    <a:p>
                      <a:pPr algn="ctr"/>
                      <a:r>
                        <a:rPr lang="en-US" sz="2400" b="0" dirty="0" smtClean="0"/>
                        <a:t>[1,2]</a:t>
                      </a:r>
                      <a:endParaRPr lang="en-US" sz="2400" b="0" dirty="0"/>
                    </a:p>
                  </a:txBody>
                  <a:tcPr/>
                </a:tc>
                <a:tc>
                  <a:txBody>
                    <a:bodyPr/>
                    <a:lstStyle/>
                    <a:p>
                      <a:pPr algn="ctr"/>
                      <a:r>
                        <a:rPr lang="en-US" sz="2400" b="0" dirty="0" smtClean="0"/>
                        <a:t>J1</a:t>
                      </a:r>
                      <a:endParaRPr lang="en-US" sz="2400" b="0" dirty="0"/>
                    </a:p>
                  </a:txBody>
                  <a:tcPr/>
                </a:tc>
                <a:tc>
                  <a:txBody>
                    <a:bodyPr/>
                    <a:lstStyle/>
                    <a:p>
                      <a:pPr algn="ctr"/>
                      <a:r>
                        <a:rPr lang="en-US" sz="2400" b="0" dirty="0" smtClean="0"/>
                        <a:t>20</a:t>
                      </a:r>
                      <a:endParaRPr lang="en-US" sz="2400" b="0" dirty="0"/>
                    </a:p>
                  </a:txBody>
                  <a:tcPr/>
                </a:tc>
              </a:tr>
              <a:tr h="609600">
                <a:tc>
                  <a:txBody>
                    <a:bodyPr/>
                    <a:lstStyle/>
                    <a:p>
                      <a:pPr algn="ctr"/>
                      <a:r>
                        <a:rPr lang="en-US" sz="2400" b="0" dirty="0" smtClean="0"/>
                        <a:t>J2</a:t>
                      </a:r>
                      <a:endParaRPr lang="en-US" sz="2400" b="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0" dirty="0" smtClean="0"/>
                        <a:t>[0,1]</a:t>
                      </a:r>
                      <a:endParaRPr lang="en-US" sz="2400" b="0" dirty="0"/>
                    </a:p>
                  </a:txBody>
                  <a:tcPr/>
                </a:tc>
                <a:tc>
                  <a:txBody>
                    <a:bodyPr/>
                    <a:lstStyle/>
                    <a:p>
                      <a:pPr algn="ctr"/>
                      <a:r>
                        <a:rPr lang="en-US" sz="2400" b="0" dirty="0" smtClean="0"/>
                        <a:t>J2,J1</a:t>
                      </a:r>
                      <a:endParaRPr lang="en-US" sz="2400" b="0" dirty="0"/>
                    </a:p>
                  </a:txBody>
                  <a:tcPr/>
                </a:tc>
                <a:tc>
                  <a:txBody>
                    <a:bodyPr/>
                    <a:lstStyle/>
                    <a:p>
                      <a:pPr algn="ctr"/>
                      <a:r>
                        <a:rPr lang="en-US" sz="2400" b="0" dirty="0" smtClean="0"/>
                        <a:t>20+15 =35</a:t>
                      </a:r>
                      <a:endParaRPr lang="en-US" sz="2400" b="0" dirty="0"/>
                    </a:p>
                  </a:txBody>
                  <a:tcPr/>
                </a:tc>
              </a:tr>
              <a:tr h="609600">
                <a:tc>
                  <a:txBody>
                    <a:bodyPr/>
                    <a:lstStyle/>
                    <a:p>
                      <a:pPr algn="ctr"/>
                      <a:r>
                        <a:rPr lang="en-US" sz="2400" b="0" dirty="0" smtClean="0"/>
                        <a:t>J3</a:t>
                      </a:r>
                      <a:endParaRPr lang="en-US" sz="2400" b="0" dirty="0"/>
                    </a:p>
                  </a:txBody>
                  <a:tcPr/>
                </a:tc>
                <a:tc>
                  <a:txBody>
                    <a:bodyPr/>
                    <a:lstStyle/>
                    <a:p>
                      <a:pPr algn="ctr"/>
                      <a:r>
                        <a:rPr lang="en-US" sz="2400" b="0" dirty="0" smtClean="0"/>
                        <a:t>Rejected</a:t>
                      </a:r>
                      <a:endParaRPr lang="en-US" sz="2400" b="0" dirty="0"/>
                    </a:p>
                  </a:txBody>
                  <a:tcPr/>
                </a:tc>
                <a:tc>
                  <a:txBody>
                    <a:bodyPr/>
                    <a:lstStyle/>
                    <a:p>
                      <a:pPr algn="ctr"/>
                      <a:endParaRPr lang="en-US" sz="2400" b="0" dirty="0"/>
                    </a:p>
                  </a:txBody>
                  <a:tcPr/>
                </a:tc>
                <a:tc>
                  <a:txBody>
                    <a:bodyPr/>
                    <a:lstStyle/>
                    <a:p>
                      <a:pPr algn="ctr"/>
                      <a:endParaRPr lang="en-US" sz="2400" b="0" dirty="0"/>
                    </a:p>
                  </a:txBody>
                  <a:tcPr/>
                </a:tc>
              </a:tr>
              <a:tr h="609600">
                <a:tc>
                  <a:txBody>
                    <a:bodyPr/>
                    <a:lstStyle/>
                    <a:p>
                      <a:pPr algn="ctr"/>
                      <a:r>
                        <a:rPr lang="en-US" sz="2400" b="0" dirty="0" smtClean="0"/>
                        <a:t>J4</a:t>
                      </a:r>
                      <a:endParaRPr lang="en-US" sz="2400" b="0" dirty="0"/>
                    </a:p>
                  </a:txBody>
                  <a:tcPr/>
                </a:tc>
                <a:tc>
                  <a:txBody>
                    <a:bodyPr/>
                    <a:lstStyle/>
                    <a:p>
                      <a:pPr algn="ctr"/>
                      <a:r>
                        <a:rPr lang="en-US" sz="2400" b="0" dirty="0" smtClean="0"/>
                        <a:t>[2,3]</a:t>
                      </a:r>
                      <a:endParaRPr lang="en-US" sz="2400" b="0" dirty="0"/>
                    </a:p>
                  </a:txBody>
                  <a:tcPr/>
                </a:tc>
                <a:tc>
                  <a:txBody>
                    <a:bodyPr/>
                    <a:lstStyle/>
                    <a:p>
                      <a:pPr algn="ctr"/>
                      <a:r>
                        <a:rPr lang="en-US" sz="2400" b="0" dirty="0" smtClean="0"/>
                        <a:t>J3,J2,J1</a:t>
                      </a:r>
                      <a:endParaRPr lang="en-US" sz="2400" b="0" dirty="0"/>
                    </a:p>
                  </a:txBody>
                  <a:tcPr/>
                </a:tc>
                <a:tc>
                  <a:txBody>
                    <a:bodyPr/>
                    <a:lstStyle/>
                    <a:p>
                      <a:pPr algn="ctr"/>
                      <a:r>
                        <a:rPr lang="en-US" sz="2400" b="0" dirty="0" smtClean="0"/>
                        <a:t>35+5=40</a:t>
                      </a:r>
                      <a:endParaRPr lang="en-US" sz="2400" b="0" dirty="0"/>
                    </a:p>
                  </a:txBody>
                  <a:tcPr/>
                </a:tc>
              </a:tr>
              <a:tr h="609600">
                <a:tc>
                  <a:txBody>
                    <a:bodyPr/>
                    <a:lstStyle/>
                    <a:p>
                      <a:pPr algn="ctr"/>
                      <a:r>
                        <a:rPr lang="en-US" sz="2400" b="0" dirty="0" smtClean="0"/>
                        <a:t>J5</a:t>
                      </a:r>
                      <a:endParaRPr lang="en-US" sz="2400" b="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0" dirty="0" smtClean="0"/>
                        <a:t>Rejected</a:t>
                      </a:r>
                    </a:p>
                  </a:txBody>
                  <a:tcPr/>
                </a:tc>
                <a:tc>
                  <a:txBody>
                    <a:bodyPr/>
                    <a:lstStyle/>
                    <a:p>
                      <a:pPr algn="ctr"/>
                      <a:endParaRPr lang="en-US" sz="2400" b="0" dirty="0"/>
                    </a:p>
                  </a:txBody>
                  <a:tcPr/>
                </a:tc>
                <a:tc>
                  <a:txBody>
                    <a:bodyPr/>
                    <a:lstStyle/>
                    <a:p>
                      <a:pPr algn="ctr"/>
                      <a:endParaRPr lang="en-US" sz="2400" b="0" dirty="0"/>
                    </a:p>
                  </a:txBody>
                  <a:tcPr/>
                </a:tc>
              </a:tr>
            </a:tbl>
          </a:graphicData>
        </a:graphic>
      </p:graphicFrame>
      <p:graphicFrame>
        <p:nvGraphicFramePr>
          <p:cNvPr id="5" name="Content Placeholder 3"/>
          <p:cNvGraphicFramePr>
            <a:graphicFrameLocks noGrp="1"/>
          </p:cNvGraphicFramePr>
          <p:nvPr>
            <p:ph idx="1"/>
          </p:nvPr>
        </p:nvGraphicFramePr>
        <p:xfrm>
          <a:off x="533400" y="182880"/>
          <a:ext cx="8077200" cy="1432560"/>
        </p:xfrm>
        <a:graphic>
          <a:graphicData uri="http://schemas.openxmlformats.org/drawingml/2006/table">
            <a:tbl>
              <a:tblPr firstRow="1" bandRow="1">
                <a:tableStyleId>{5C22544A-7EE6-4342-B048-85BDC9FD1C3A}</a:tableStyleId>
              </a:tblPr>
              <a:tblGrid>
                <a:gridCol w="1828799"/>
                <a:gridCol w="863601"/>
                <a:gridCol w="1346200"/>
                <a:gridCol w="1346200"/>
                <a:gridCol w="1346200"/>
                <a:gridCol w="1346200"/>
              </a:tblGrid>
              <a:tr h="290346">
                <a:tc>
                  <a:txBody>
                    <a:bodyPr/>
                    <a:lstStyle/>
                    <a:p>
                      <a:pPr algn="ctr"/>
                      <a:r>
                        <a:rPr lang="en-US" sz="1200" b="1" dirty="0" smtClean="0">
                          <a:latin typeface="inherit"/>
                        </a:rPr>
                        <a:t>S. No.</a:t>
                      </a:r>
                      <a:endParaRPr lang="en-US" sz="1200" b="1" dirty="0">
                        <a:latin typeface="inherit"/>
                      </a:endParaRPr>
                    </a:p>
                  </a:txBody>
                  <a:tcPr marL="76200" marR="76200" marT="76200" marB="76200" anchor="ctr"/>
                </a:tc>
                <a:tc>
                  <a:txBody>
                    <a:bodyPr/>
                    <a:lstStyle/>
                    <a:p>
                      <a:pPr algn="ctr"/>
                      <a:r>
                        <a:rPr lang="en-US" sz="1200"/>
                        <a:t>1</a:t>
                      </a:r>
                    </a:p>
                  </a:txBody>
                  <a:tcPr marL="76200" marR="76200" marT="76200" marB="76200" anchor="ctr"/>
                </a:tc>
                <a:tc>
                  <a:txBody>
                    <a:bodyPr/>
                    <a:lstStyle/>
                    <a:p>
                      <a:pPr algn="ctr"/>
                      <a:r>
                        <a:rPr lang="en-US" sz="1200"/>
                        <a:t>2</a:t>
                      </a:r>
                    </a:p>
                  </a:txBody>
                  <a:tcPr marL="76200" marR="76200" marT="76200" marB="76200" anchor="ctr"/>
                </a:tc>
                <a:tc>
                  <a:txBody>
                    <a:bodyPr/>
                    <a:lstStyle/>
                    <a:p>
                      <a:pPr algn="ctr"/>
                      <a:r>
                        <a:rPr lang="en-US" sz="1200"/>
                        <a:t>3</a:t>
                      </a:r>
                    </a:p>
                  </a:txBody>
                  <a:tcPr marL="76200" marR="76200" marT="76200" marB="76200" anchor="ctr"/>
                </a:tc>
                <a:tc>
                  <a:txBody>
                    <a:bodyPr/>
                    <a:lstStyle/>
                    <a:p>
                      <a:pPr algn="ctr"/>
                      <a:r>
                        <a:rPr lang="en-US" sz="1200"/>
                        <a:t>4</a:t>
                      </a:r>
                    </a:p>
                  </a:txBody>
                  <a:tcPr marL="76200" marR="76200" marT="76200" marB="76200" anchor="ctr"/>
                </a:tc>
                <a:tc>
                  <a:txBody>
                    <a:bodyPr/>
                    <a:lstStyle/>
                    <a:p>
                      <a:pPr algn="ctr"/>
                      <a:r>
                        <a:rPr lang="en-US" sz="1200"/>
                        <a:t>5</a:t>
                      </a:r>
                    </a:p>
                  </a:txBody>
                  <a:tcPr marL="76200" marR="76200" marT="76200" marB="76200" anchor="ctr"/>
                </a:tc>
              </a:tr>
              <a:tr h="294378">
                <a:tc>
                  <a:txBody>
                    <a:bodyPr/>
                    <a:lstStyle/>
                    <a:p>
                      <a:pPr algn="ctr"/>
                      <a:r>
                        <a:rPr lang="en-US" sz="1200" b="1" dirty="0" smtClean="0">
                          <a:latin typeface="inherit"/>
                        </a:rPr>
                        <a:t>Jobs</a:t>
                      </a:r>
                      <a:endParaRPr lang="en-US" sz="1200" b="1" dirty="0">
                        <a:latin typeface="inherit"/>
                      </a:endParaRPr>
                    </a:p>
                  </a:txBody>
                  <a:tcPr marL="76200" marR="76200" marT="76200" marB="76200" anchor="ctr"/>
                </a:tc>
                <a:tc>
                  <a:txBody>
                    <a:bodyPr/>
                    <a:lstStyle/>
                    <a:p>
                      <a:pPr algn="ctr"/>
                      <a:r>
                        <a:rPr lang="en-US" sz="1400" dirty="0"/>
                        <a:t>J1</a:t>
                      </a:r>
                    </a:p>
                  </a:txBody>
                  <a:tcPr marL="76200" marR="76200" marT="76200" marB="76200" anchor="ctr"/>
                </a:tc>
                <a:tc>
                  <a:txBody>
                    <a:bodyPr/>
                    <a:lstStyle/>
                    <a:p>
                      <a:pPr algn="ctr"/>
                      <a:r>
                        <a:rPr lang="en-US" sz="1400"/>
                        <a:t>J2</a:t>
                      </a:r>
                    </a:p>
                  </a:txBody>
                  <a:tcPr marL="76200" marR="76200" marT="76200" marB="76200" anchor="ctr"/>
                </a:tc>
                <a:tc>
                  <a:txBody>
                    <a:bodyPr/>
                    <a:lstStyle/>
                    <a:p>
                      <a:pPr algn="ctr"/>
                      <a:r>
                        <a:rPr lang="en-US" sz="1400"/>
                        <a:t>J3</a:t>
                      </a:r>
                    </a:p>
                  </a:txBody>
                  <a:tcPr marL="76200" marR="76200" marT="76200" marB="76200" anchor="ctr"/>
                </a:tc>
                <a:tc>
                  <a:txBody>
                    <a:bodyPr/>
                    <a:lstStyle/>
                    <a:p>
                      <a:pPr algn="ctr"/>
                      <a:r>
                        <a:rPr lang="en-US" sz="1400"/>
                        <a:t>J4</a:t>
                      </a:r>
                    </a:p>
                  </a:txBody>
                  <a:tcPr marL="76200" marR="76200" marT="76200" marB="76200" anchor="ctr"/>
                </a:tc>
                <a:tc>
                  <a:txBody>
                    <a:bodyPr/>
                    <a:lstStyle/>
                    <a:p>
                      <a:pPr algn="ctr"/>
                      <a:r>
                        <a:rPr lang="en-US" sz="1400"/>
                        <a:t>J5</a:t>
                      </a:r>
                    </a:p>
                  </a:txBody>
                  <a:tcPr marL="76200" marR="76200" marT="76200" marB="76200" anchor="ctr"/>
                </a:tc>
              </a:tr>
              <a:tr h="294378">
                <a:tc>
                  <a:txBody>
                    <a:bodyPr/>
                    <a:lstStyle/>
                    <a:p>
                      <a:pPr algn="ctr"/>
                      <a:r>
                        <a:rPr lang="en-US" sz="1200" b="1" smtClean="0">
                          <a:latin typeface="inherit"/>
                        </a:rPr>
                        <a:t>Deadlines</a:t>
                      </a:r>
                      <a:endParaRPr lang="en-US" sz="1200" b="1">
                        <a:latin typeface="inherit"/>
                      </a:endParaRPr>
                    </a:p>
                  </a:txBody>
                  <a:tcPr marL="76200" marR="76200" marT="76200" marB="76200" anchor="ctr"/>
                </a:tc>
                <a:tc>
                  <a:txBody>
                    <a:bodyPr/>
                    <a:lstStyle/>
                    <a:p>
                      <a:pPr algn="ctr"/>
                      <a:r>
                        <a:rPr lang="en-US" sz="1400" dirty="0" smtClean="0"/>
                        <a:t>2</a:t>
                      </a:r>
                      <a:endParaRPr lang="en-US" sz="1400" dirty="0"/>
                    </a:p>
                  </a:txBody>
                  <a:tcPr marL="76200" marR="76200" marT="76200" marB="76200" anchor="ctr"/>
                </a:tc>
                <a:tc>
                  <a:txBody>
                    <a:bodyPr/>
                    <a:lstStyle/>
                    <a:p>
                      <a:pPr algn="ctr"/>
                      <a:r>
                        <a:rPr lang="en-US" sz="1400" dirty="0"/>
                        <a:t>2</a:t>
                      </a:r>
                    </a:p>
                  </a:txBody>
                  <a:tcPr marL="76200" marR="76200" marT="76200" marB="76200" anchor="ctr"/>
                </a:tc>
                <a:tc>
                  <a:txBody>
                    <a:bodyPr/>
                    <a:lstStyle/>
                    <a:p>
                      <a:pPr algn="ctr"/>
                      <a:r>
                        <a:rPr lang="en-US" sz="1400" dirty="0"/>
                        <a:t>1</a:t>
                      </a:r>
                    </a:p>
                  </a:txBody>
                  <a:tcPr marL="76200" marR="76200" marT="76200" marB="76200" anchor="ctr"/>
                </a:tc>
                <a:tc>
                  <a:txBody>
                    <a:bodyPr/>
                    <a:lstStyle/>
                    <a:p>
                      <a:pPr algn="ctr"/>
                      <a:r>
                        <a:rPr lang="en-US" sz="1400"/>
                        <a:t>3</a:t>
                      </a:r>
                    </a:p>
                  </a:txBody>
                  <a:tcPr marL="76200" marR="76200" marT="76200" marB="76200" anchor="ctr"/>
                </a:tc>
                <a:tc>
                  <a:txBody>
                    <a:bodyPr/>
                    <a:lstStyle/>
                    <a:p>
                      <a:pPr algn="ctr"/>
                      <a:r>
                        <a:rPr lang="en-US" sz="1400" dirty="0" smtClean="0"/>
                        <a:t>3</a:t>
                      </a:r>
                      <a:endParaRPr lang="en-US" sz="1400" dirty="0"/>
                    </a:p>
                  </a:txBody>
                  <a:tcPr marL="76200" marR="76200" marT="76200" marB="76200" anchor="ctr"/>
                </a:tc>
              </a:tr>
              <a:tr h="294378">
                <a:tc>
                  <a:txBody>
                    <a:bodyPr/>
                    <a:lstStyle/>
                    <a:p>
                      <a:pPr algn="ctr"/>
                      <a:r>
                        <a:rPr lang="en-US" sz="1200" b="1" dirty="0" smtClean="0">
                          <a:latin typeface="inherit"/>
                        </a:rPr>
                        <a:t>Profits</a:t>
                      </a:r>
                      <a:endParaRPr lang="en-US" sz="1200" b="1" dirty="0">
                        <a:latin typeface="inherit"/>
                      </a:endParaRPr>
                    </a:p>
                  </a:txBody>
                  <a:tcPr marL="76200" marR="76200" marT="76200" marB="76200" anchor="ctr"/>
                </a:tc>
                <a:tc>
                  <a:txBody>
                    <a:bodyPr/>
                    <a:lstStyle/>
                    <a:p>
                      <a:pPr algn="ctr"/>
                      <a:r>
                        <a:rPr lang="en-US" sz="1400" dirty="0"/>
                        <a:t>20</a:t>
                      </a:r>
                    </a:p>
                  </a:txBody>
                  <a:tcPr marL="76200" marR="76200" marT="76200" marB="76200" anchor="ctr"/>
                </a:tc>
                <a:tc>
                  <a:txBody>
                    <a:bodyPr/>
                    <a:lstStyle/>
                    <a:p>
                      <a:pPr algn="ctr"/>
                      <a:r>
                        <a:rPr lang="en-US" sz="1400" dirty="0" smtClean="0"/>
                        <a:t>15</a:t>
                      </a:r>
                      <a:endParaRPr lang="en-US" sz="1400" dirty="0"/>
                    </a:p>
                  </a:txBody>
                  <a:tcPr marL="76200" marR="76200" marT="76200" marB="76200" anchor="ctr"/>
                </a:tc>
                <a:tc>
                  <a:txBody>
                    <a:bodyPr/>
                    <a:lstStyle/>
                    <a:p>
                      <a:pPr algn="ctr"/>
                      <a:r>
                        <a:rPr lang="en-US" sz="1400" dirty="0" smtClean="0"/>
                        <a:t>10</a:t>
                      </a:r>
                      <a:endParaRPr lang="en-US" sz="1400" dirty="0"/>
                    </a:p>
                  </a:txBody>
                  <a:tcPr marL="76200" marR="76200" marT="76200" marB="76200" anchor="ctr"/>
                </a:tc>
                <a:tc>
                  <a:txBody>
                    <a:bodyPr/>
                    <a:lstStyle/>
                    <a:p>
                      <a:pPr algn="ctr"/>
                      <a:r>
                        <a:rPr lang="en-US" sz="1400" dirty="0" smtClean="0"/>
                        <a:t>5</a:t>
                      </a:r>
                      <a:endParaRPr lang="en-US" sz="1400" dirty="0"/>
                    </a:p>
                  </a:txBody>
                  <a:tcPr marL="76200" marR="76200" marT="76200" marB="76200" anchor="ctr"/>
                </a:tc>
                <a:tc>
                  <a:txBody>
                    <a:bodyPr/>
                    <a:lstStyle/>
                    <a:p>
                      <a:pPr algn="ctr"/>
                      <a:r>
                        <a:rPr lang="en-US" sz="1400" dirty="0" smtClean="0"/>
                        <a:t>1</a:t>
                      </a:r>
                      <a:endParaRPr lang="en-US" sz="1400" dirty="0"/>
                    </a:p>
                  </a:txBody>
                  <a:tcPr marL="76200" marR="76200" marT="76200" marB="76200" anchor="ctr"/>
                </a:tc>
              </a:tr>
            </a:tbl>
          </a:graphicData>
        </a:graphic>
      </p:graphicFrame>
      <p:graphicFrame>
        <p:nvGraphicFramePr>
          <p:cNvPr id="6" name="Table 5"/>
          <p:cNvGraphicFramePr>
            <a:graphicFrameLocks noGrp="1"/>
          </p:cNvGraphicFramePr>
          <p:nvPr/>
        </p:nvGraphicFramePr>
        <p:xfrm>
          <a:off x="1447800" y="1981200"/>
          <a:ext cx="4572000" cy="370840"/>
        </p:xfrm>
        <a:graphic>
          <a:graphicData uri="http://schemas.openxmlformats.org/drawingml/2006/table">
            <a:tbl>
              <a:tblPr firstRow="1" bandRow="1">
                <a:tableStyleId>{E8B1032C-EA38-4F05-BA0D-38AFFFC7BED3}</a:tableStyleId>
              </a:tblPr>
              <a:tblGrid>
                <a:gridCol w="1524000"/>
                <a:gridCol w="1524000"/>
                <a:gridCol w="1524000"/>
              </a:tblGrid>
              <a:tr h="370840">
                <a:tc>
                  <a:txBody>
                    <a:bodyPr/>
                    <a:lstStyle/>
                    <a:p>
                      <a:pPr algn="ctr"/>
                      <a:r>
                        <a:rPr lang="en-US" dirty="0" smtClean="0"/>
                        <a:t>J2</a:t>
                      </a:r>
                      <a:endParaRPr lang="en-US" dirty="0"/>
                    </a:p>
                  </a:txBody>
                  <a:tcPr/>
                </a:tc>
                <a:tc>
                  <a:txBody>
                    <a:bodyPr/>
                    <a:lstStyle/>
                    <a:p>
                      <a:pPr algn="ctr"/>
                      <a:r>
                        <a:rPr lang="en-US" dirty="0" smtClean="0"/>
                        <a:t>   J1</a:t>
                      </a:r>
                      <a:endParaRPr lang="en-US" dirty="0"/>
                    </a:p>
                  </a:txBody>
                  <a:tcPr/>
                </a:tc>
                <a:tc>
                  <a:txBody>
                    <a:bodyPr/>
                    <a:lstStyle/>
                    <a:p>
                      <a:pPr algn="ctr"/>
                      <a:r>
                        <a:rPr lang="en-US" dirty="0" smtClean="0"/>
                        <a:t>J4</a:t>
                      </a:r>
                      <a:endParaRPr lang="en-US" dirty="0"/>
                    </a:p>
                  </a:txBody>
                  <a:tcPr/>
                </a:tc>
              </a:tr>
            </a:tbl>
          </a:graphicData>
        </a:graphic>
      </p:graphicFrame>
      <p:sp>
        <p:nvSpPr>
          <p:cNvPr id="7" name="TextBox 6"/>
          <p:cNvSpPr txBox="1"/>
          <p:nvPr/>
        </p:nvSpPr>
        <p:spPr>
          <a:xfrm>
            <a:off x="1447800" y="1676400"/>
            <a:ext cx="304800" cy="369332"/>
          </a:xfrm>
          <a:prstGeom prst="rect">
            <a:avLst/>
          </a:prstGeom>
          <a:noFill/>
        </p:spPr>
        <p:txBody>
          <a:bodyPr wrap="square" rtlCol="0">
            <a:spAutoFit/>
          </a:bodyPr>
          <a:lstStyle/>
          <a:p>
            <a:r>
              <a:rPr lang="en-US" dirty="0" smtClean="0"/>
              <a:t>0</a:t>
            </a:r>
            <a:endParaRPr lang="en-US" dirty="0"/>
          </a:p>
        </p:txBody>
      </p:sp>
      <p:sp>
        <p:nvSpPr>
          <p:cNvPr id="8" name="TextBox 7"/>
          <p:cNvSpPr txBox="1"/>
          <p:nvPr/>
        </p:nvSpPr>
        <p:spPr>
          <a:xfrm>
            <a:off x="2819400" y="1600200"/>
            <a:ext cx="304800" cy="369332"/>
          </a:xfrm>
          <a:prstGeom prst="rect">
            <a:avLst/>
          </a:prstGeom>
          <a:noFill/>
        </p:spPr>
        <p:txBody>
          <a:bodyPr wrap="square" rtlCol="0">
            <a:spAutoFit/>
          </a:bodyPr>
          <a:lstStyle/>
          <a:p>
            <a:r>
              <a:rPr lang="en-US" dirty="0" smtClean="0"/>
              <a:t>1</a:t>
            </a:r>
            <a:endParaRPr lang="en-US" dirty="0"/>
          </a:p>
        </p:txBody>
      </p:sp>
      <p:sp>
        <p:nvSpPr>
          <p:cNvPr id="9" name="TextBox 8"/>
          <p:cNvSpPr txBox="1"/>
          <p:nvPr/>
        </p:nvSpPr>
        <p:spPr>
          <a:xfrm>
            <a:off x="4343400" y="1600200"/>
            <a:ext cx="304800" cy="369332"/>
          </a:xfrm>
          <a:prstGeom prst="rect">
            <a:avLst/>
          </a:prstGeom>
          <a:noFill/>
        </p:spPr>
        <p:txBody>
          <a:bodyPr wrap="square" rtlCol="0">
            <a:spAutoFit/>
          </a:bodyPr>
          <a:lstStyle/>
          <a:p>
            <a:r>
              <a:rPr lang="en-US" dirty="0" smtClean="0"/>
              <a:t>2</a:t>
            </a:r>
            <a:endParaRPr lang="en-US" dirty="0"/>
          </a:p>
        </p:txBody>
      </p:sp>
      <p:sp>
        <p:nvSpPr>
          <p:cNvPr id="10" name="TextBox 9"/>
          <p:cNvSpPr txBox="1"/>
          <p:nvPr/>
        </p:nvSpPr>
        <p:spPr>
          <a:xfrm>
            <a:off x="5867400" y="1611868"/>
            <a:ext cx="304800" cy="369332"/>
          </a:xfrm>
          <a:prstGeom prst="rect">
            <a:avLst/>
          </a:prstGeom>
          <a:noFill/>
        </p:spPr>
        <p:txBody>
          <a:bodyPr wrap="square" rtlCol="0">
            <a:spAutoFit/>
          </a:bodyPr>
          <a:lstStyle/>
          <a:p>
            <a:r>
              <a:rPr lang="en-US" dirty="0" smtClean="0"/>
              <a:t>3</a:t>
            </a:r>
            <a:endParaRPr lang="en-US" dirty="0"/>
          </a:p>
        </p:txBody>
      </p:sp>
      <p:sp>
        <p:nvSpPr>
          <p:cNvPr id="11" name="Rectangle 10"/>
          <p:cNvSpPr/>
          <p:nvPr/>
        </p:nvSpPr>
        <p:spPr>
          <a:xfrm>
            <a:off x="1903597" y="6248400"/>
            <a:ext cx="4380879" cy="369332"/>
          </a:xfrm>
          <a:prstGeom prst="rect">
            <a:avLst/>
          </a:prstGeom>
        </p:spPr>
        <p:txBody>
          <a:bodyPr wrap="none">
            <a:spAutoFit/>
          </a:bodyPr>
          <a:lstStyle/>
          <a:p>
            <a:pPr algn="ctr"/>
            <a:r>
              <a:rPr lang="en-US" b="1" dirty="0" smtClean="0"/>
              <a:t>Total Profit =40  and Job sequence -  J3,J2,J1</a:t>
            </a:r>
            <a:endParaRPr lang="en-US" b="1"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3</a:t>
            </a:r>
            <a:endParaRPr lang="en-US" dirty="0"/>
          </a:p>
        </p:txBody>
      </p:sp>
      <p:graphicFrame>
        <p:nvGraphicFramePr>
          <p:cNvPr id="4" name="Content Placeholder 3"/>
          <p:cNvGraphicFramePr>
            <a:graphicFrameLocks noGrp="1"/>
          </p:cNvGraphicFramePr>
          <p:nvPr>
            <p:ph idx="1"/>
          </p:nvPr>
        </p:nvGraphicFramePr>
        <p:xfrm>
          <a:off x="381000" y="1524000"/>
          <a:ext cx="8077200" cy="1554480"/>
        </p:xfrm>
        <a:graphic>
          <a:graphicData uri="http://schemas.openxmlformats.org/drawingml/2006/table">
            <a:tbl>
              <a:tblPr firstRow="1" bandRow="1">
                <a:tableStyleId>{5C22544A-7EE6-4342-B048-85BDC9FD1C3A}</a:tableStyleId>
              </a:tblPr>
              <a:tblGrid>
                <a:gridCol w="1371600"/>
                <a:gridCol w="647700"/>
                <a:gridCol w="1009650"/>
                <a:gridCol w="1009650"/>
                <a:gridCol w="1009650"/>
                <a:gridCol w="1009650"/>
                <a:gridCol w="1009650"/>
                <a:gridCol w="1009650"/>
              </a:tblGrid>
              <a:tr h="370840">
                <a:tc>
                  <a:txBody>
                    <a:bodyPr/>
                    <a:lstStyle/>
                    <a:p>
                      <a:pPr algn="ctr"/>
                      <a:r>
                        <a:rPr lang="en-US" sz="2400" b="1" dirty="0">
                          <a:latin typeface="inherit"/>
                        </a:rPr>
                        <a:t>Jobs</a:t>
                      </a:r>
                    </a:p>
                  </a:txBody>
                  <a:tcPr marL="76200" marR="76200" marT="76200" marB="76200" anchor="ctr"/>
                </a:tc>
                <a:tc>
                  <a:txBody>
                    <a:bodyPr/>
                    <a:lstStyle/>
                    <a:p>
                      <a:pPr algn="ctr"/>
                      <a:r>
                        <a:rPr lang="en-US" sz="2400"/>
                        <a:t>J1</a:t>
                      </a:r>
                    </a:p>
                  </a:txBody>
                  <a:tcPr marL="76200" marR="76200" marT="76200" marB="76200" anchor="ctr"/>
                </a:tc>
                <a:tc>
                  <a:txBody>
                    <a:bodyPr/>
                    <a:lstStyle/>
                    <a:p>
                      <a:pPr algn="ctr"/>
                      <a:r>
                        <a:rPr lang="en-US" sz="2400"/>
                        <a:t>J2</a:t>
                      </a:r>
                    </a:p>
                  </a:txBody>
                  <a:tcPr marL="76200" marR="76200" marT="76200" marB="76200" anchor="ctr"/>
                </a:tc>
                <a:tc>
                  <a:txBody>
                    <a:bodyPr/>
                    <a:lstStyle/>
                    <a:p>
                      <a:pPr algn="ctr"/>
                      <a:r>
                        <a:rPr lang="en-US" sz="2400"/>
                        <a:t>J3</a:t>
                      </a:r>
                    </a:p>
                  </a:txBody>
                  <a:tcPr marL="76200" marR="76200" marT="76200" marB="76200" anchor="ctr"/>
                </a:tc>
                <a:tc>
                  <a:txBody>
                    <a:bodyPr/>
                    <a:lstStyle/>
                    <a:p>
                      <a:pPr algn="ctr"/>
                      <a:r>
                        <a:rPr lang="en-US" sz="2400"/>
                        <a:t>J4</a:t>
                      </a:r>
                    </a:p>
                  </a:txBody>
                  <a:tcPr marL="76200" marR="76200" marT="76200" marB="76200" anchor="ctr"/>
                </a:tc>
                <a:tc>
                  <a:txBody>
                    <a:bodyPr/>
                    <a:lstStyle/>
                    <a:p>
                      <a:pPr algn="ctr"/>
                      <a:r>
                        <a:rPr lang="en-US" sz="2400" dirty="0"/>
                        <a:t>J5</a:t>
                      </a:r>
                    </a:p>
                  </a:txBody>
                  <a:tcPr marL="76200" marR="76200" marT="76200" marB="76200" anchor="ctr"/>
                </a:tc>
                <a:tc>
                  <a:txBody>
                    <a:bodyPr/>
                    <a:lstStyle/>
                    <a:p>
                      <a:pPr algn="ctr"/>
                      <a:r>
                        <a:rPr lang="en-US" sz="2400" dirty="0" smtClean="0"/>
                        <a:t>J6</a:t>
                      </a:r>
                      <a:endParaRPr lang="en-US" sz="2400" dirty="0"/>
                    </a:p>
                  </a:txBody>
                  <a:tcPr marL="76200" marR="76200" marT="76200" marB="76200" anchor="ctr"/>
                </a:tc>
                <a:tc>
                  <a:txBody>
                    <a:bodyPr/>
                    <a:lstStyle/>
                    <a:p>
                      <a:pPr algn="ctr"/>
                      <a:r>
                        <a:rPr lang="en-US" sz="2400" dirty="0" smtClean="0"/>
                        <a:t>J7</a:t>
                      </a:r>
                      <a:endParaRPr lang="en-US" sz="2400" dirty="0"/>
                    </a:p>
                  </a:txBody>
                  <a:tcPr marL="76200" marR="76200" marT="76200" marB="76200" anchor="ctr"/>
                </a:tc>
              </a:tr>
              <a:tr h="370840">
                <a:tc>
                  <a:txBody>
                    <a:bodyPr/>
                    <a:lstStyle/>
                    <a:p>
                      <a:pPr algn="ctr"/>
                      <a:r>
                        <a:rPr lang="en-US" sz="2000" b="1" dirty="0">
                          <a:latin typeface="inherit"/>
                        </a:rPr>
                        <a:t>Deadlines</a:t>
                      </a:r>
                    </a:p>
                  </a:txBody>
                  <a:tcPr marL="76200" marR="76200" marT="76200" marB="76200" anchor="ctr"/>
                </a:tc>
                <a:tc>
                  <a:txBody>
                    <a:bodyPr/>
                    <a:lstStyle/>
                    <a:p>
                      <a:pPr algn="ctr"/>
                      <a:r>
                        <a:rPr lang="en-US" sz="2400" dirty="0" smtClean="0"/>
                        <a:t>3</a:t>
                      </a:r>
                      <a:endParaRPr lang="en-US" sz="2400" dirty="0"/>
                    </a:p>
                  </a:txBody>
                  <a:tcPr marL="76200" marR="76200" marT="76200" marB="76200" anchor="ctr"/>
                </a:tc>
                <a:tc>
                  <a:txBody>
                    <a:bodyPr/>
                    <a:lstStyle/>
                    <a:p>
                      <a:pPr algn="ctr"/>
                      <a:r>
                        <a:rPr lang="en-US" sz="2400" dirty="0" smtClean="0"/>
                        <a:t>4</a:t>
                      </a:r>
                      <a:endParaRPr lang="en-US" sz="2400" dirty="0"/>
                    </a:p>
                  </a:txBody>
                  <a:tcPr marL="76200" marR="76200" marT="76200" marB="76200" anchor="ctr"/>
                </a:tc>
                <a:tc>
                  <a:txBody>
                    <a:bodyPr/>
                    <a:lstStyle/>
                    <a:p>
                      <a:pPr algn="ctr"/>
                      <a:r>
                        <a:rPr lang="en-US" sz="2400" dirty="0" smtClean="0"/>
                        <a:t>4</a:t>
                      </a:r>
                      <a:endParaRPr lang="en-US" sz="2400" dirty="0"/>
                    </a:p>
                  </a:txBody>
                  <a:tcPr marL="76200" marR="76200" marT="76200" marB="76200" anchor="ctr"/>
                </a:tc>
                <a:tc>
                  <a:txBody>
                    <a:bodyPr/>
                    <a:lstStyle/>
                    <a:p>
                      <a:pPr algn="ctr"/>
                      <a:r>
                        <a:rPr lang="en-US" sz="2400" dirty="0" smtClean="0"/>
                        <a:t>2</a:t>
                      </a:r>
                      <a:endParaRPr lang="en-US" sz="2400" dirty="0"/>
                    </a:p>
                  </a:txBody>
                  <a:tcPr marL="76200" marR="76200" marT="76200" marB="76200" anchor="ctr"/>
                </a:tc>
                <a:tc>
                  <a:txBody>
                    <a:bodyPr/>
                    <a:lstStyle/>
                    <a:p>
                      <a:pPr algn="ctr"/>
                      <a:r>
                        <a:rPr lang="en-US" sz="2400" dirty="0" smtClean="0"/>
                        <a:t>3</a:t>
                      </a:r>
                      <a:endParaRPr lang="en-US" sz="2400" dirty="0"/>
                    </a:p>
                  </a:txBody>
                  <a:tcPr marL="76200" marR="76200" marT="76200" marB="76200" anchor="ctr"/>
                </a:tc>
                <a:tc>
                  <a:txBody>
                    <a:bodyPr/>
                    <a:lstStyle/>
                    <a:p>
                      <a:pPr algn="ctr"/>
                      <a:r>
                        <a:rPr lang="en-US" sz="2400" dirty="0" smtClean="0"/>
                        <a:t>1</a:t>
                      </a:r>
                      <a:endParaRPr lang="en-US" sz="2400" dirty="0"/>
                    </a:p>
                  </a:txBody>
                  <a:tcPr marL="76200" marR="76200" marT="76200" marB="76200" anchor="ctr"/>
                </a:tc>
                <a:tc>
                  <a:txBody>
                    <a:bodyPr/>
                    <a:lstStyle/>
                    <a:p>
                      <a:pPr algn="ctr"/>
                      <a:r>
                        <a:rPr lang="en-US" sz="2400" dirty="0" smtClean="0"/>
                        <a:t>2</a:t>
                      </a:r>
                      <a:endParaRPr lang="en-US" sz="2400" dirty="0"/>
                    </a:p>
                  </a:txBody>
                  <a:tcPr marL="76200" marR="76200" marT="76200" marB="76200" anchor="ctr"/>
                </a:tc>
              </a:tr>
              <a:tr h="370840">
                <a:tc>
                  <a:txBody>
                    <a:bodyPr/>
                    <a:lstStyle/>
                    <a:p>
                      <a:pPr algn="ctr"/>
                      <a:r>
                        <a:rPr lang="en-US" sz="2400" b="1" dirty="0">
                          <a:latin typeface="inherit"/>
                        </a:rPr>
                        <a:t>Profits</a:t>
                      </a:r>
                    </a:p>
                  </a:txBody>
                  <a:tcPr marL="76200" marR="76200" marT="76200" marB="76200" anchor="ctr"/>
                </a:tc>
                <a:tc>
                  <a:txBody>
                    <a:bodyPr/>
                    <a:lstStyle/>
                    <a:p>
                      <a:pPr algn="ctr"/>
                      <a:r>
                        <a:rPr lang="en-US" sz="2400" dirty="0" smtClean="0"/>
                        <a:t>35</a:t>
                      </a:r>
                      <a:endParaRPr lang="en-US" sz="2400" dirty="0"/>
                    </a:p>
                  </a:txBody>
                  <a:tcPr marL="76200" marR="76200" marT="76200" marB="76200" anchor="ctr"/>
                </a:tc>
                <a:tc>
                  <a:txBody>
                    <a:bodyPr/>
                    <a:lstStyle/>
                    <a:p>
                      <a:pPr algn="ctr"/>
                      <a:r>
                        <a:rPr lang="en-US" sz="2400" dirty="0" smtClean="0"/>
                        <a:t>30</a:t>
                      </a:r>
                      <a:endParaRPr lang="en-US" sz="2400" dirty="0"/>
                    </a:p>
                  </a:txBody>
                  <a:tcPr marL="76200" marR="76200" marT="76200" marB="76200" anchor="ctr"/>
                </a:tc>
                <a:tc>
                  <a:txBody>
                    <a:bodyPr/>
                    <a:lstStyle/>
                    <a:p>
                      <a:pPr algn="ctr"/>
                      <a:r>
                        <a:rPr lang="en-US" sz="2400" dirty="0" smtClean="0"/>
                        <a:t>25</a:t>
                      </a:r>
                      <a:endParaRPr lang="en-US" sz="2400" dirty="0"/>
                    </a:p>
                  </a:txBody>
                  <a:tcPr marL="76200" marR="76200" marT="76200" marB="76200" anchor="ctr"/>
                </a:tc>
                <a:tc>
                  <a:txBody>
                    <a:bodyPr/>
                    <a:lstStyle/>
                    <a:p>
                      <a:pPr algn="ctr"/>
                      <a:r>
                        <a:rPr lang="en-US" sz="2400" dirty="0" smtClean="0"/>
                        <a:t>20</a:t>
                      </a:r>
                      <a:endParaRPr lang="en-US" sz="2400" dirty="0"/>
                    </a:p>
                  </a:txBody>
                  <a:tcPr marL="76200" marR="76200" marT="76200" marB="76200" anchor="ctr"/>
                </a:tc>
                <a:tc>
                  <a:txBody>
                    <a:bodyPr/>
                    <a:lstStyle/>
                    <a:p>
                      <a:pPr algn="ctr"/>
                      <a:r>
                        <a:rPr lang="en-US" sz="2400" dirty="0" smtClean="0"/>
                        <a:t>15</a:t>
                      </a:r>
                      <a:endParaRPr lang="en-US" sz="2400" dirty="0"/>
                    </a:p>
                  </a:txBody>
                  <a:tcPr marL="76200" marR="76200" marT="76200" marB="76200" anchor="ctr"/>
                </a:tc>
                <a:tc>
                  <a:txBody>
                    <a:bodyPr/>
                    <a:lstStyle/>
                    <a:p>
                      <a:pPr algn="ctr"/>
                      <a:r>
                        <a:rPr lang="en-US" sz="2400" dirty="0" smtClean="0"/>
                        <a:t>12</a:t>
                      </a:r>
                      <a:endParaRPr lang="en-US" sz="2400" dirty="0"/>
                    </a:p>
                  </a:txBody>
                  <a:tcPr marL="76200" marR="76200" marT="76200" marB="76200" anchor="ctr"/>
                </a:tc>
                <a:tc>
                  <a:txBody>
                    <a:bodyPr/>
                    <a:lstStyle/>
                    <a:p>
                      <a:pPr algn="ctr"/>
                      <a:r>
                        <a:rPr lang="en-US" sz="2400" dirty="0" smtClean="0"/>
                        <a:t>5</a:t>
                      </a:r>
                      <a:endParaRPr lang="en-US" sz="2400" dirty="0"/>
                    </a:p>
                  </a:txBody>
                  <a:tcPr marL="76200" marR="76200" marT="76200" marB="76200" anchor="ctr"/>
                </a:tc>
              </a:tr>
            </a:tbl>
          </a:graphicData>
        </a:graphic>
      </p:graphicFrame>
      <p:sp>
        <p:nvSpPr>
          <p:cNvPr id="6" name="Rectangle 5"/>
          <p:cNvSpPr/>
          <p:nvPr/>
        </p:nvSpPr>
        <p:spPr>
          <a:xfrm>
            <a:off x="304800" y="3352800"/>
            <a:ext cx="8162556" cy="461665"/>
          </a:xfrm>
          <a:prstGeom prst="rect">
            <a:avLst/>
          </a:prstGeom>
        </p:spPr>
        <p:txBody>
          <a:bodyPr wrap="none">
            <a:spAutoFit/>
          </a:bodyPr>
          <a:lstStyle/>
          <a:p>
            <a:r>
              <a:rPr lang="en-US" sz="2400" b="1" dirty="0" smtClean="0"/>
              <a:t>After sorting        :                                                   Max Deadline =4 </a:t>
            </a:r>
            <a:endParaRPr lang="en-US" sz="2400" b="1" dirty="0"/>
          </a:p>
        </p:txBody>
      </p:sp>
      <p:graphicFrame>
        <p:nvGraphicFramePr>
          <p:cNvPr id="9" name="Content Placeholder 3"/>
          <p:cNvGraphicFramePr>
            <a:graphicFrameLocks/>
          </p:cNvGraphicFramePr>
          <p:nvPr/>
        </p:nvGraphicFramePr>
        <p:xfrm>
          <a:off x="457200" y="4419600"/>
          <a:ext cx="8077200" cy="1554480"/>
        </p:xfrm>
        <a:graphic>
          <a:graphicData uri="http://schemas.openxmlformats.org/drawingml/2006/table">
            <a:tbl>
              <a:tblPr firstRow="1" bandRow="1">
                <a:tableStyleId>{5C22544A-7EE6-4342-B048-85BDC9FD1C3A}</a:tableStyleId>
              </a:tblPr>
              <a:tblGrid>
                <a:gridCol w="1371600"/>
                <a:gridCol w="647700"/>
                <a:gridCol w="1009650"/>
                <a:gridCol w="1009650"/>
                <a:gridCol w="1009650"/>
                <a:gridCol w="1009650"/>
                <a:gridCol w="1009650"/>
                <a:gridCol w="1009650"/>
              </a:tblGrid>
              <a:tr h="370840">
                <a:tc>
                  <a:txBody>
                    <a:bodyPr/>
                    <a:lstStyle/>
                    <a:p>
                      <a:pPr algn="ctr"/>
                      <a:r>
                        <a:rPr lang="en-US" sz="2400" b="1" dirty="0">
                          <a:latin typeface="inherit"/>
                        </a:rPr>
                        <a:t>Jobs</a:t>
                      </a:r>
                    </a:p>
                  </a:txBody>
                  <a:tcPr marL="76200" marR="76200" marT="76200" marB="76200" anchor="ctr"/>
                </a:tc>
                <a:tc>
                  <a:txBody>
                    <a:bodyPr/>
                    <a:lstStyle/>
                    <a:p>
                      <a:pPr algn="ctr"/>
                      <a:r>
                        <a:rPr lang="en-US" sz="2400"/>
                        <a:t>J1</a:t>
                      </a:r>
                    </a:p>
                  </a:txBody>
                  <a:tcPr marL="76200" marR="76200" marT="76200" marB="76200" anchor="ctr"/>
                </a:tc>
                <a:tc>
                  <a:txBody>
                    <a:bodyPr/>
                    <a:lstStyle/>
                    <a:p>
                      <a:pPr algn="ctr"/>
                      <a:r>
                        <a:rPr lang="en-US" sz="2400"/>
                        <a:t>J2</a:t>
                      </a:r>
                    </a:p>
                  </a:txBody>
                  <a:tcPr marL="76200" marR="76200" marT="76200" marB="76200" anchor="ctr"/>
                </a:tc>
                <a:tc>
                  <a:txBody>
                    <a:bodyPr/>
                    <a:lstStyle/>
                    <a:p>
                      <a:pPr algn="ctr"/>
                      <a:r>
                        <a:rPr lang="en-US" sz="2400"/>
                        <a:t>J3</a:t>
                      </a:r>
                    </a:p>
                  </a:txBody>
                  <a:tcPr marL="76200" marR="76200" marT="76200" marB="76200" anchor="ctr"/>
                </a:tc>
                <a:tc>
                  <a:txBody>
                    <a:bodyPr/>
                    <a:lstStyle/>
                    <a:p>
                      <a:pPr algn="ctr"/>
                      <a:r>
                        <a:rPr lang="en-US" sz="2400"/>
                        <a:t>J4</a:t>
                      </a:r>
                    </a:p>
                  </a:txBody>
                  <a:tcPr marL="76200" marR="76200" marT="76200" marB="76200" anchor="ctr"/>
                </a:tc>
                <a:tc>
                  <a:txBody>
                    <a:bodyPr/>
                    <a:lstStyle/>
                    <a:p>
                      <a:pPr algn="ctr"/>
                      <a:r>
                        <a:rPr lang="en-US" sz="2400" dirty="0"/>
                        <a:t>J5</a:t>
                      </a:r>
                    </a:p>
                  </a:txBody>
                  <a:tcPr marL="76200" marR="76200" marT="76200" marB="76200" anchor="ctr"/>
                </a:tc>
                <a:tc>
                  <a:txBody>
                    <a:bodyPr/>
                    <a:lstStyle/>
                    <a:p>
                      <a:pPr algn="ctr"/>
                      <a:r>
                        <a:rPr lang="en-US" sz="2400" dirty="0" smtClean="0"/>
                        <a:t>J6</a:t>
                      </a:r>
                      <a:endParaRPr lang="en-US" sz="2400" dirty="0"/>
                    </a:p>
                  </a:txBody>
                  <a:tcPr marL="76200" marR="76200" marT="76200" marB="76200" anchor="ctr"/>
                </a:tc>
                <a:tc>
                  <a:txBody>
                    <a:bodyPr/>
                    <a:lstStyle/>
                    <a:p>
                      <a:pPr algn="ctr"/>
                      <a:r>
                        <a:rPr lang="en-US" sz="2400" dirty="0" smtClean="0"/>
                        <a:t>J7</a:t>
                      </a:r>
                      <a:endParaRPr lang="en-US" sz="2400" dirty="0"/>
                    </a:p>
                  </a:txBody>
                  <a:tcPr marL="76200" marR="76200" marT="76200" marB="76200" anchor="ctr"/>
                </a:tc>
              </a:tr>
              <a:tr h="370840">
                <a:tc>
                  <a:txBody>
                    <a:bodyPr/>
                    <a:lstStyle/>
                    <a:p>
                      <a:pPr algn="ctr"/>
                      <a:r>
                        <a:rPr lang="en-US" sz="2000" b="1" dirty="0">
                          <a:latin typeface="inherit"/>
                        </a:rPr>
                        <a:t>Deadlines</a:t>
                      </a:r>
                    </a:p>
                  </a:txBody>
                  <a:tcPr marL="76200" marR="76200" marT="76200" marB="76200" anchor="ctr"/>
                </a:tc>
                <a:tc>
                  <a:txBody>
                    <a:bodyPr/>
                    <a:lstStyle/>
                    <a:p>
                      <a:pPr algn="ctr"/>
                      <a:r>
                        <a:rPr lang="en-US" sz="2400" dirty="0" smtClean="0"/>
                        <a:t>3</a:t>
                      </a:r>
                      <a:endParaRPr lang="en-US" sz="2400" dirty="0"/>
                    </a:p>
                  </a:txBody>
                  <a:tcPr marL="76200" marR="76200" marT="76200" marB="76200" anchor="ctr"/>
                </a:tc>
                <a:tc>
                  <a:txBody>
                    <a:bodyPr/>
                    <a:lstStyle/>
                    <a:p>
                      <a:pPr algn="ctr"/>
                      <a:r>
                        <a:rPr lang="en-US" sz="2400" dirty="0" smtClean="0"/>
                        <a:t>4</a:t>
                      </a:r>
                      <a:endParaRPr lang="en-US" sz="2400" dirty="0"/>
                    </a:p>
                  </a:txBody>
                  <a:tcPr marL="76200" marR="76200" marT="76200" marB="76200" anchor="ctr"/>
                </a:tc>
                <a:tc>
                  <a:txBody>
                    <a:bodyPr/>
                    <a:lstStyle/>
                    <a:p>
                      <a:pPr algn="ctr"/>
                      <a:r>
                        <a:rPr lang="en-US" sz="2400" dirty="0" smtClean="0"/>
                        <a:t>4</a:t>
                      </a:r>
                      <a:endParaRPr lang="en-US" sz="2400" dirty="0"/>
                    </a:p>
                  </a:txBody>
                  <a:tcPr marL="76200" marR="76200" marT="76200" marB="76200" anchor="ctr"/>
                </a:tc>
                <a:tc>
                  <a:txBody>
                    <a:bodyPr/>
                    <a:lstStyle/>
                    <a:p>
                      <a:pPr algn="ctr"/>
                      <a:r>
                        <a:rPr lang="en-US" sz="2400" dirty="0" smtClean="0"/>
                        <a:t>2</a:t>
                      </a:r>
                      <a:endParaRPr lang="en-US" sz="2400" dirty="0"/>
                    </a:p>
                  </a:txBody>
                  <a:tcPr marL="76200" marR="76200" marT="76200" marB="76200" anchor="ctr"/>
                </a:tc>
                <a:tc>
                  <a:txBody>
                    <a:bodyPr/>
                    <a:lstStyle/>
                    <a:p>
                      <a:pPr algn="ctr"/>
                      <a:r>
                        <a:rPr lang="en-US" sz="2400" dirty="0" smtClean="0"/>
                        <a:t>3</a:t>
                      </a:r>
                      <a:endParaRPr lang="en-US" sz="2400" dirty="0"/>
                    </a:p>
                  </a:txBody>
                  <a:tcPr marL="76200" marR="76200" marT="76200" marB="76200" anchor="ctr"/>
                </a:tc>
                <a:tc>
                  <a:txBody>
                    <a:bodyPr/>
                    <a:lstStyle/>
                    <a:p>
                      <a:pPr algn="ctr"/>
                      <a:r>
                        <a:rPr lang="en-US" sz="2400" dirty="0" smtClean="0"/>
                        <a:t>1</a:t>
                      </a:r>
                      <a:endParaRPr lang="en-US" sz="2400" dirty="0"/>
                    </a:p>
                  </a:txBody>
                  <a:tcPr marL="76200" marR="76200" marT="76200" marB="76200" anchor="ctr"/>
                </a:tc>
                <a:tc>
                  <a:txBody>
                    <a:bodyPr/>
                    <a:lstStyle/>
                    <a:p>
                      <a:pPr algn="ctr"/>
                      <a:r>
                        <a:rPr lang="en-US" sz="2400" dirty="0" smtClean="0"/>
                        <a:t>2</a:t>
                      </a:r>
                      <a:endParaRPr lang="en-US" sz="2400" dirty="0"/>
                    </a:p>
                  </a:txBody>
                  <a:tcPr marL="76200" marR="76200" marT="76200" marB="76200" anchor="ctr"/>
                </a:tc>
              </a:tr>
              <a:tr h="370840">
                <a:tc>
                  <a:txBody>
                    <a:bodyPr/>
                    <a:lstStyle/>
                    <a:p>
                      <a:pPr algn="ctr"/>
                      <a:r>
                        <a:rPr lang="en-US" sz="2400" b="1" dirty="0">
                          <a:latin typeface="inherit"/>
                        </a:rPr>
                        <a:t>Profits</a:t>
                      </a:r>
                    </a:p>
                  </a:txBody>
                  <a:tcPr marL="76200" marR="76200" marT="76200" marB="76200" anchor="ctr"/>
                </a:tc>
                <a:tc>
                  <a:txBody>
                    <a:bodyPr/>
                    <a:lstStyle/>
                    <a:p>
                      <a:pPr algn="ctr"/>
                      <a:r>
                        <a:rPr lang="en-US" sz="2400" dirty="0" smtClean="0"/>
                        <a:t>35</a:t>
                      </a:r>
                      <a:endParaRPr lang="en-US" sz="2400" dirty="0"/>
                    </a:p>
                  </a:txBody>
                  <a:tcPr marL="76200" marR="76200" marT="76200" marB="76200" anchor="ctr"/>
                </a:tc>
                <a:tc>
                  <a:txBody>
                    <a:bodyPr/>
                    <a:lstStyle/>
                    <a:p>
                      <a:pPr algn="ctr"/>
                      <a:r>
                        <a:rPr lang="en-US" sz="2400" dirty="0" smtClean="0"/>
                        <a:t>30</a:t>
                      </a:r>
                      <a:endParaRPr lang="en-US" sz="2400" dirty="0"/>
                    </a:p>
                  </a:txBody>
                  <a:tcPr marL="76200" marR="76200" marT="76200" marB="76200" anchor="ctr"/>
                </a:tc>
                <a:tc>
                  <a:txBody>
                    <a:bodyPr/>
                    <a:lstStyle/>
                    <a:p>
                      <a:pPr algn="ctr"/>
                      <a:r>
                        <a:rPr lang="en-US" sz="2400" dirty="0" smtClean="0"/>
                        <a:t>25</a:t>
                      </a:r>
                      <a:endParaRPr lang="en-US" sz="2400" dirty="0"/>
                    </a:p>
                  </a:txBody>
                  <a:tcPr marL="76200" marR="76200" marT="76200" marB="76200" anchor="ctr"/>
                </a:tc>
                <a:tc>
                  <a:txBody>
                    <a:bodyPr/>
                    <a:lstStyle/>
                    <a:p>
                      <a:pPr algn="ctr"/>
                      <a:r>
                        <a:rPr lang="en-US" sz="2400" dirty="0" smtClean="0"/>
                        <a:t>20</a:t>
                      </a:r>
                      <a:endParaRPr lang="en-US" sz="2400" dirty="0"/>
                    </a:p>
                  </a:txBody>
                  <a:tcPr marL="76200" marR="76200" marT="76200" marB="76200" anchor="ctr"/>
                </a:tc>
                <a:tc>
                  <a:txBody>
                    <a:bodyPr/>
                    <a:lstStyle/>
                    <a:p>
                      <a:pPr algn="ctr"/>
                      <a:r>
                        <a:rPr lang="en-US" sz="2400" dirty="0" smtClean="0"/>
                        <a:t>15</a:t>
                      </a:r>
                      <a:endParaRPr lang="en-US" sz="2400" dirty="0"/>
                    </a:p>
                  </a:txBody>
                  <a:tcPr marL="76200" marR="76200" marT="76200" marB="76200" anchor="ctr"/>
                </a:tc>
                <a:tc>
                  <a:txBody>
                    <a:bodyPr/>
                    <a:lstStyle/>
                    <a:p>
                      <a:pPr algn="ctr"/>
                      <a:r>
                        <a:rPr lang="en-US" sz="2400" dirty="0" smtClean="0"/>
                        <a:t>12</a:t>
                      </a:r>
                      <a:endParaRPr lang="en-US" sz="2400" dirty="0"/>
                    </a:p>
                  </a:txBody>
                  <a:tcPr marL="76200" marR="76200" marT="76200" marB="76200" anchor="ctr"/>
                </a:tc>
                <a:tc>
                  <a:txBody>
                    <a:bodyPr/>
                    <a:lstStyle/>
                    <a:p>
                      <a:pPr algn="ctr"/>
                      <a:r>
                        <a:rPr lang="en-US" sz="2400" dirty="0" smtClean="0"/>
                        <a:t>5</a:t>
                      </a:r>
                      <a:endParaRPr lang="en-US" sz="2400" dirty="0"/>
                    </a:p>
                  </a:txBody>
                  <a:tcPr marL="76200" marR="76200" marT="76200" marB="76200" anchor="ctr"/>
                </a:tc>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381000" y="2590800"/>
          <a:ext cx="8153400" cy="3566160"/>
        </p:xfrm>
        <a:graphic>
          <a:graphicData uri="http://schemas.openxmlformats.org/drawingml/2006/table">
            <a:tbl>
              <a:tblPr firstRow="1" bandRow="1">
                <a:tableStyleId>{BC89EF96-8CEA-46FF-86C4-4CE0E7609802}</a:tableStyleId>
              </a:tblPr>
              <a:tblGrid>
                <a:gridCol w="2038350"/>
                <a:gridCol w="2038350"/>
                <a:gridCol w="2038350"/>
                <a:gridCol w="2038350"/>
              </a:tblGrid>
              <a:tr h="274820">
                <a:tc>
                  <a:txBody>
                    <a:bodyPr/>
                    <a:lstStyle/>
                    <a:p>
                      <a:pPr algn="ctr"/>
                      <a:r>
                        <a:rPr lang="en-US" sz="1800" b="1" dirty="0" smtClean="0"/>
                        <a:t>Job  consider</a:t>
                      </a:r>
                      <a:endParaRPr lang="en-US" sz="1800" b="1" dirty="0"/>
                    </a:p>
                  </a:txBody>
                  <a:tcPr/>
                </a:tc>
                <a:tc>
                  <a:txBody>
                    <a:bodyPr/>
                    <a:lstStyle/>
                    <a:p>
                      <a:pPr algn="ctr"/>
                      <a:r>
                        <a:rPr lang="en-US" sz="1800" b="1" dirty="0" smtClean="0"/>
                        <a:t>Slot assigned</a:t>
                      </a:r>
                      <a:endParaRPr lang="en-US" sz="1800" b="1" dirty="0"/>
                    </a:p>
                  </a:txBody>
                  <a:tcPr/>
                </a:tc>
                <a:tc>
                  <a:txBody>
                    <a:bodyPr/>
                    <a:lstStyle/>
                    <a:p>
                      <a:pPr algn="ctr"/>
                      <a:r>
                        <a:rPr lang="en-US" sz="1800" b="1" dirty="0" smtClean="0"/>
                        <a:t>Solution</a:t>
                      </a:r>
                      <a:endParaRPr lang="en-US" sz="1800" b="1" dirty="0"/>
                    </a:p>
                  </a:txBody>
                  <a:tcPr/>
                </a:tc>
                <a:tc>
                  <a:txBody>
                    <a:bodyPr/>
                    <a:lstStyle/>
                    <a:p>
                      <a:pPr algn="ctr"/>
                      <a:r>
                        <a:rPr lang="en-US" sz="1800" b="1" dirty="0" smtClean="0"/>
                        <a:t>Profit</a:t>
                      </a:r>
                      <a:endParaRPr lang="en-US" sz="1800" b="1" dirty="0"/>
                    </a:p>
                  </a:txBody>
                  <a:tcPr/>
                </a:tc>
              </a:tr>
              <a:tr h="439711">
                <a:tc>
                  <a:txBody>
                    <a:bodyPr/>
                    <a:lstStyle/>
                    <a:p>
                      <a:pPr algn="ctr"/>
                      <a:r>
                        <a:rPr lang="en-US" sz="2400" b="0" dirty="0" smtClean="0"/>
                        <a:t>J1</a:t>
                      </a:r>
                      <a:endParaRPr lang="en-US" sz="2400" b="0" dirty="0"/>
                    </a:p>
                  </a:txBody>
                  <a:tcPr/>
                </a:tc>
                <a:tc>
                  <a:txBody>
                    <a:bodyPr/>
                    <a:lstStyle/>
                    <a:p>
                      <a:pPr algn="ctr"/>
                      <a:r>
                        <a:rPr lang="en-US" sz="2400" b="0" dirty="0" smtClean="0"/>
                        <a:t>[2,3]</a:t>
                      </a:r>
                      <a:endParaRPr lang="en-US" sz="2400" b="0" dirty="0"/>
                    </a:p>
                  </a:txBody>
                  <a:tcPr/>
                </a:tc>
                <a:tc>
                  <a:txBody>
                    <a:bodyPr/>
                    <a:lstStyle/>
                    <a:p>
                      <a:pPr algn="ctr"/>
                      <a:r>
                        <a:rPr lang="en-US" sz="2400" b="0" dirty="0" smtClean="0"/>
                        <a:t>J1</a:t>
                      </a:r>
                      <a:endParaRPr lang="en-US" sz="2400" b="0" dirty="0"/>
                    </a:p>
                  </a:txBody>
                  <a:tcPr/>
                </a:tc>
                <a:tc>
                  <a:txBody>
                    <a:bodyPr/>
                    <a:lstStyle/>
                    <a:p>
                      <a:pPr algn="ctr"/>
                      <a:r>
                        <a:rPr lang="en-US" sz="2400" b="0" dirty="0" smtClean="0"/>
                        <a:t>35</a:t>
                      </a:r>
                      <a:endParaRPr lang="en-US" sz="2400" b="0" dirty="0"/>
                    </a:p>
                  </a:txBody>
                  <a:tcPr/>
                </a:tc>
              </a:tr>
              <a:tr h="439711">
                <a:tc>
                  <a:txBody>
                    <a:bodyPr/>
                    <a:lstStyle/>
                    <a:p>
                      <a:pPr algn="ctr"/>
                      <a:r>
                        <a:rPr lang="en-US" sz="2400" b="0" dirty="0" smtClean="0"/>
                        <a:t>J2</a:t>
                      </a:r>
                      <a:endParaRPr lang="en-US" sz="2400" b="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0" dirty="0" smtClean="0"/>
                        <a:t>[3,4]</a:t>
                      </a:r>
                      <a:endParaRPr lang="en-US" sz="2400" b="0" dirty="0"/>
                    </a:p>
                  </a:txBody>
                  <a:tcPr/>
                </a:tc>
                <a:tc>
                  <a:txBody>
                    <a:bodyPr/>
                    <a:lstStyle/>
                    <a:p>
                      <a:pPr algn="ctr"/>
                      <a:r>
                        <a:rPr lang="en-US" sz="2400" b="0" dirty="0" smtClean="0"/>
                        <a:t>J1,J2</a:t>
                      </a:r>
                      <a:endParaRPr lang="en-US" sz="2400" b="0" dirty="0"/>
                    </a:p>
                  </a:txBody>
                  <a:tcPr/>
                </a:tc>
                <a:tc>
                  <a:txBody>
                    <a:bodyPr/>
                    <a:lstStyle/>
                    <a:p>
                      <a:pPr algn="ctr"/>
                      <a:r>
                        <a:rPr lang="en-US" sz="2400" b="0" dirty="0" smtClean="0"/>
                        <a:t>35+30=65</a:t>
                      </a:r>
                      <a:endParaRPr lang="en-US" sz="2400" b="0" dirty="0"/>
                    </a:p>
                  </a:txBody>
                  <a:tcPr/>
                </a:tc>
              </a:tr>
              <a:tr h="439711">
                <a:tc>
                  <a:txBody>
                    <a:bodyPr/>
                    <a:lstStyle/>
                    <a:p>
                      <a:pPr algn="ctr"/>
                      <a:r>
                        <a:rPr lang="en-US" sz="2400" b="0" dirty="0" smtClean="0"/>
                        <a:t>J3</a:t>
                      </a:r>
                      <a:endParaRPr lang="en-US" sz="2400" b="0" dirty="0"/>
                    </a:p>
                  </a:txBody>
                  <a:tcPr/>
                </a:tc>
                <a:tc>
                  <a:txBody>
                    <a:bodyPr/>
                    <a:lstStyle/>
                    <a:p>
                      <a:pPr algn="ctr"/>
                      <a:r>
                        <a:rPr lang="en-US" sz="2400" b="0" dirty="0" smtClean="0"/>
                        <a:t>[1,2]</a:t>
                      </a:r>
                      <a:endParaRPr lang="en-US" sz="2400" b="0" dirty="0"/>
                    </a:p>
                  </a:txBody>
                  <a:tcPr/>
                </a:tc>
                <a:tc>
                  <a:txBody>
                    <a:bodyPr/>
                    <a:lstStyle/>
                    <a:p>
                      <a:pPr algn="ctr"/>
                      <a:r>
                        <a:rPr lang="en-US" sz="2400" b="0" dirty="0" smtClean="0"/>
                        <a:t>J3,J1,J2</a:t>
                      </a:r>
                      <a:endParaRPr lang="en-US" sz="2400" b="0" dirty="0"/>
                    </a:p>
                  </a:txBody>
                  <a:tcPr/>
                </a:tc>
                <a:tc>
                  <a:txBody>
                    <a:bodyPr/>
                    <a:lstStyle/>
                    <a:p>
                      <a:pPr algn="ctr"/>
                      <a:r>
                        <a:rPr lang="en-US" sz="2400" b="0" dirty="0" smtClean="0"/>
                        <a:t>65+25=90</a:t>
                      </a:r>
                      <a:endParaRPr lang="en-US" sz="2400" b="0" dirty="0"/>
                    </a:p>
                  </a:txBody>
                  <a:tcPr/>
                </a:tc>
              </a:tr>
              <a:tr h="439711">
                <a:tc>
                  <a:txBody>
                    <a:bodyPr/>
                    <a:lstStyle/>
                    <a:p>
                      <a:pPr algn="ctr"/>
                      <a:r>
                        <a:rPr lang="en-US" sz="2400" b="0" dirty="0" smtClean="0"/>
                        <a:t>J4</a:t>
                      </a:r>
                      <a:endParaRPr lang="en-US" sz="2400" b="0" dirty="0"/>
                    </a:p>
                  </a:txBody>
                  <a:tcPr/>
                </a:tc>
                <a:tc>
                  <a:txBody>
                    <a:bodyPr/>
                    <a:lstStyle/>
                    <a:p>
                      <a:pPr algn="ctr"/>
                      <a:r>
                        <a:rPr lang="en-US" sz="2400" b="0" dirty="0" smtClean="0"/>
                        <a:t>[0,1]</a:t>
                      </a:r>
                      <a:endParaRPr lang="en-US" sz="2400" b="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0" dirty="0" smtClean="0"/>
                        <a:t>J4, J3,J1,J2</a:t>
                      </a:r>
                    </a:p>
                  </a:txBody>
                  <a:tcPr/>
                </a:tc>
                <a:tc>
                  <a:txBody>
                    <a:bodyPr/>
                    <a:lstStyle/>
                    <a:p>
                      <a:pPr algn="ctr"/>
                      <a:r>
                        <a:rPr lang="en-US" sz="2400" b="0" dirty="0" smtClean="0"/>
                        <a:t>90+20=110</a:t>
                      </a:r>
                      <a:endParaRPr lang="en-US" sz="2400" b="0" dirty="0"/>
                    </a:p>
                  </a:txBody>
                  <a:tcPr/>
                </a:tc>
              </a:tr>
              <a:tr h="439711">
                <a:tc>
                  <a:txBody>
                    <a:bodyPr/>
                    <a:lstStyle/>
                    <a:p>
                      <a:pPr algn="ctr"/>
                      <a:r>
                        <a:rPr lang="en-US" sz="2400" b="0" dirty="0" smtClean="0"/>
                        <a:t>J5</a:t>
                      </a:r>
                      <a:endParaRPr lang="en-US" sz="2400" b="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0" dirty="0" smtClean="0"/>
                        <a:t>Rejected</a:t>
                      </a:r>
                    </a:p>
                  </a:txBody>
                  <a:tcPr/>
                </a:tc>
                <a:tc>
                  <a:txBody>
                    <a:bodyPr/>
                    <a:lstStyle/>
                    <a:p>
                      <a:pPr algn="ctr"/>
                      <a:endParaRPr lang="en-US" sz="2400" b="0" dirty="0"/>
                    </a:p>
                  </a:txBody>
                  <a:tcPr/>
                </a:tc>
                <a:tc>
                  <a:txBody>
                    <a:bodyPr/>
                    <a:lstStyle/>
                    <a:p>
                      <a:pPr algn="ctr"/>
                      <a:endParaRPr lang="en-US" sz="2400" b="0" dirty="0"/>
                    </a:p>
                  </a:txBody>
                  <a:tcPr/>
                </a:tc>
              </a:tr>
              <a:tr h="439711">
                <a:tc>
                  <a:txBody>
                    <a:bodyPr/>
                    <a:lstStyle/>
                    <a:p>
                      <a:pPr algn="ctr"/>
                      <a:r>
                        <a:rPr lang="en-US" sz="2400" b="0" dirty="0" smtClean="0"/>
                        <a:t>J6</a:t>
                      </a:r>
                      <a:endParaRPr lang="en-US" sz="2400" b="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0" dirty="0" smtClean="0"/>
                        <a:t>Rejected</a:t>
                      </a:r>
                    </a:p>
                  </a:txBody>
                  <a:tcPr/>
                </a:tc>
                <a:tc>
                  <a:txBody>
                    <a:bodyPr/>
                    <a:lstStyle/>
                    <a:p>
                      <a:pPr algn="ctr"/>
                      <a:endParaRPr lang="en-US" sz="2400" b="0" dirty="0"/>
                    </a:p>
                  </a:txBody>
                  <a:tcPr/>
                </a:tc>
                <a:tc>
                  <a:txBody>
                    <a:bodyPr/>
                    <a:lstStyle/>
                    <a:p>
                      <a:pPr algn="ctr"/>
                      <a:endParaRPr lang="en-US" sz="2400" b="0" dirty="0"/>
                    </a:p>
                  </a:txBody>
                  <a:tcPr/>
                </a:tc>
              </a:tr>
              <a:tr h="439711">
                <a:tc>
                  <a:txBody>
                    <a:bodyPr/>
                    <a:lstStyle/>
                    <a:p>
                      <a:pPr algn="ctr"/>
                      <a:r>
                        <a:rPr lang="en-US" sz="2400" b="0" dirty="0" smtClean="0"/>
                        <a:t>J7</a:t>
                      </a:r>
                      <a:endParaRPr lang="en-US" sz="2400" b="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0" dirty="0" smtClean="0"/>
                        <a:t>Rejected</a:t>
                      </a:r>
                    </a:p>
                  </a:txBody>
                  <a:tcPr/>
                </a:tc>
                <a:tc>
                  <a:txBody>
                    <a:bodyPr/>
                    <a:lstStyle/>
                    <a:p>
                      <a:pPr algn="ctr"/>
                      <a:endParaRPr lang="en-US" sz="2400" b="0" dirty="0"/>
                    </a:p>
                  </a:txBody>
                  <a:tcPr/>
                </a:tc>
                <a:tc>
                  <a:txBody>
                    <a:bodyPr/>
                    <a:lstStyle/>
                    <a:p>
                      <a:pPr algn="ctr"/>
                      <a:endParaRPr lang="en-US" sz="2400" b="0" dirty="0"/>
                    </a:p>
                  </a:txBody>
                  <a:tcPr/>
                </a:tc>
              </a:tr>
            </a:tbl>
          </a:graphicData>
        </a:graphic>
      </p:graphicFrame>
      <p:graphicFrame>
        <p:nvGraphicFramePr>
          <p:cNvPr id="6" name="Table 5"/>
          <p:cNvGraphicFramePr>
            <a:graphicFrameLocks noGrp="1"/>
          </p:cNvGraphicFramePr>
          <p:nvPr/>
        </p:nvGraphicFramePr>
        <p:xfrm>
          <a:off x="1447800" y="1981200"/>
          <a:ext cx="4572000" cy="370840"/>
        </p:xfrm>
        <a:graphic>
          <a:graphicData uri="http://schemas.openxmlformats.org/drawingml/2006/table">
            <a:tbl>
              <a:tblPr firstRow="1" bandRow="1">
                <a:tableStyleId>{E8B1032C-EA38-4F05-BA0D-38AFFFC7BED3}</a:tableStyleId>
              </a:tblPr>
              <a:tblGrid>
                <a:gridCol w="1143000"/>
                <a:gridCol w="1143000"/>
                <a:gridCol w="1143000"/>
                <a:gridCol w="1143000"/>
              </a:tblGrid>
              <a:tr h="370840">
                <a:tc>
                  <a:txBody>
                    <a:bodyPr/>
                    <a:lstStyle/>
                    <a:p>
                      <a:pPr algn="ctr"/>
                      <a:r>
                        <a:rPr lang="en-US" dirty="0" smtClean="0"/>
                        <a:t>J4</a:t>
                      </a:r>
                      <a:endParaRPr lang="en-US" dirty="0"/>
                    </a:p>
                  </a:txBody>
                  <a:tcPr/>
                </a:tc>
                <a:tc>
                  <a:txBody>
                    <a:bodyPr/>
                    <a:lstStyle/>
                    <a:p>
                      <a:pPr algn="ctr"/>
                      <a:r>
                        <a:rPr lang="en-US" dirty="0" smtClean="0"/>
                        <a:t>J3</a:t>
                      </a:r>
                      <a:endParaRPr lang="en-US" dirty="0"/>
                    </a:p>
                  </a:txBody>
                  <a:tcPr/>
                </a:tc>
                <a:tc>
                  <a:txBody>
                    <a:bodyPr/>
                    <a:lstStyle/>
                    <a:p>
                      <a:pPr algn="ctr"/>
                      <a:r>
                        <a:rPr lang="en-US" dirty="0" smtClean="0"/>
                        <a:t>J1</a:t>
                      </a:r>
                      <a:endParaRPr lang="en-US" dirty="0"/>
                    </a:p>
                  </a:txBody>
                  <a:tcPr/>
                </a:tc>
                <a:tc>
                  <a:txBody>
                    <a:bodyPr/>
                    <a:lstStyle/>
                    <a:p>
                      <a:pPr algn="ctr"/>
                      <a:r>
                        <a:rPr lang="en-US" dirty="0" smtClean="0"/>
                        <a:t>J2</a:t>
                      </a:r>
                      <a:endParaRPr lang="en-US" dirty="0"/>
                    </a:p>
                  </a:txBody>
                  <a:tcPr/>
                </a:tc>
              </a:tr>
            </a:tbl>
          </a:graphicData>
        </a:graphic>
      </p:graphicFrame>
      <p:sp>
        <p:nvSpPr>
          <p:cNvPr id="7" name="TextBox 6"/>
          <p:cNvSpPr txBox="1"/>
          <p:nvPr/>
        </p:nvSpPr>
        <p:spPr>
          <a:xfrm>
            <a:off x="1447800" y="1676400"/>
            <a:ext cx="304800" cy="369332"/>
          </a:xfrm>
          <a:prstGeom prst="rect">
            <a:avLst/>
          </a:prstGeom>
          <a:noFill/>
        </p:spPr>
        <p:txBody>
          <a:bodyPr wrap="square" rtlCol="0">
            <a:spAutoFit/>
          </a:bodyPr>
          <a:lstStyle/>
          <a:p>
            <a:r>
              <a:rPr lang="en-US" dirty="0" smtClean="0"/>
              <a:t>0</a:t>
            </a:r>
            <a:endParaRPr lang="en-US" dirty="0"/>
          </a:p>
        </p:txBody>
      </p:sp>
      <p:sp>
        <p:nvSpPr>
          <p:cNvPr id="8" name="TextBox 7"/>
          <p:cNvSpPr txBox="1"/>
          <p:nvPr/>
        </p:nvSpPr>
        <p:spPr>
          <a:xfrm>
            <a:off x="2514600" y="1600200"/>
            <a:ext cx="304800" cy="369332"/>
          </a:xfrm>
          <a:prstGeom prst="rect">
            <a:avLst/>
          </a:prstGeom>
          <a:noFill/>
        </p:spPr>
        <p:txBody>
          <a:bodyPr wrap="square" rtlCol="0">
            <a:spAutoFit/>
          </a:bodyPr>
          <a:lstStyle/>
          <a:p>
            <a:r>
              <a:rPr lang="en-US" dirty="0" smtClean="0"/>
              <a:t>1</a:t>
            </a:r>
            <a:endParaRPr lang="en-US" dirty="0"/>
          </a:p>
        </p:txBody>
      </p:sp>
      <p:sp>
        <p:nvSpPr>
          <p:cNvPr id="9" name="TextBox 8"/>
          <p:cNvSpPr txBox="1"/>
          <p:nvPr/>
        </p:nvSpPr>
        <p:spPr>
          <a:xfrm>
            <a:off x="3581400" y="1600200"/>
            <a:ext cx="304800" cy="369332"/>
          </a:xfrm>
          <a:prstGeom prst="rect">
            <a:avLst/>
          </a:prstGeom>
          <a:noFill/>
        </p:spPr>
        <p:txBody>
          <a:bodyPr wrap="square" rtlCol="0">
            <a:spAutoFit/>
          </a:bodyPr>
          <a:lstStyle/>
          <a:p>
            <a:r>
              <a:rPr lang="en-US" dirty="0" smtClean="0"/>
              <a:t>2</a:t>
            </a:r>
            <a:endParaRPr lang="en-US" dirty="0"/>
          </a:p>
        </p:txBody>
      </p:sp>
      <p:sp>
        <p:nvSpPr>
          <p:cNvPr id="10" name="TextBox 9"/>
          <p:cNvSpPr txBox="1"/>
          <p:nvPr/>
        </p:nvSpPr>
        <p:spPr>
          <a:xfrm>
            <a:off x="5867400" y="1611868"/>
            <a:ext cx="304800" cy="369332"/>
          </a:xfrm>
          <a:prstGeom prst="rect">
            <a:avLst/>
          </a:prstGeom>
          <a:noFill/>
        </p:spPr>
        <p:txBody>
          <a:bodyPr wrap="square" rtlCol="0">
            <a:spAutoFit/>
          </a:bodyPr>
          <a:lstStyle/>
          <a:p>
            <a:r>
              <a:rPr lang="en-US" dirty="0" smtClean="0"/>
              <a:t>4</a:t>
            </a:r>
            <a:endParaRPr lang="en-US" dirty="0"/>
          </a:p>
        </p:txBody>
      </p:sp>
      <p:sp>
        <p:nvSpPr>
          <p:cNvPr id="11" name="Rectangle 10"/>
          <p:cNvSpPr/>
          <p:nvPr/>
        </p:nvSpPr>
        <p:spPr>
          <a:xfrm>
            <a:off x="1703382" y="6248400"/>
            <a:ext cx="4781310" cy="646331"/>
          </a:xfrm>
          <a:prstGeom prst="rect">
            <a:avLst/>
          </a:prstGeom>
        </p:spPr>
        <p:txBody>
          <a:bodyPr wrap="none">
            <a:spAutoFit/>
          </a:bodyPr>
          <a:lstStyle/>
          <a:p>
            <a:pPr algn="ctr"/>
            <a:r>
              <a:rPr lang="en-US" b="1" dirty="0" smtClean="0"/>
              <a:t>Total Profit =110  and Job sequence -  </a:t>
            </a:r>
            <a:r>
              <a:rPr lang="en-US" dirty="0" smtClean="0"/>
              <a:t>J4, J3,J1,J2</a:t>
            </a:r>
          </a:p>
          <a:p>
            <a:pPr algn="ctr"/>
            <a:endParaRPr lang="en-US" b="1" dirty="0"/>
          </a:p>
        </p:txBody>
      </p:sp>
      <p:graphicFrame>
        <p:nvGraphicFramePr>
          <p:cNvPr id="15" name="Content Placeholder 3"/>
          <p:cNvGraphicFramePr>
            <a:graphicFrameLocks/>
          </p:cNvGraphicFramePr>
          <p:nvPr/>
        </p:nvGraphicFramePr>
        <p:xfrm>
          <a:off x="457200" y="304800"/>
          <a:ext cx="8077200" cy="1280160"/>
        </p:xfrm>
        <a:graphic>
          <a:graphicData uri="http://schemas.openxmlformats.org/drawingml/2006/table">
            <a:tbl>
              <a:tblPr firstRow="1" bandRow="1">
                <a:tableStyleId>{5C22544A-7EE6-4342-B048-85BDC9FD1C3A}</a:tableStyleId>
              </a:tblPr>
              <a:tblGrid>
                <a:gridCol w="1371600"/>
                <a:gridCol w="647700"/>
                <a:gridCol w="1009650"/>
                <a:gridCol w="1009650"/>
                <a:gridCol w="1009650"/>
                <a:gridCol w="1009650"/>
                <a:gridCol w="1009650"/>
                <a:gridCol w="1009650"/>
              </a:tblGrid>
              <a:tr h="370840">
                <a:tc>
                  <a:txBody>
                    <a:bodyPr/>
                    <a:lstStyle/>
                    <a:p>
                      <a:pPr algn="ctr"/>
                      <a:r>
                        <a:rPr lang="en-US" sz="1800" b="1" dirty="0">
                          <a:latin typeface="inherit"/>
                        </a:rPr>
                        <a:t>Jobs</a:t>
                      </a:r>
                    </a:p>
                  </a:txBody>
                  <a:tcPr marL="76200" marR="76200" marT="76200" marB="76200" anchor="ctr"/>
                </a:tc>
                <a:tc>
                  <a:txBody>
                    <a:bodyPr/>
                    <a:lstStyle/>
                    <a:p>
                      <a:pPr algn="ctr"/>
                      <a:r>
                        <a:rPr lang="en-US" sz="1800"/>
                        <a:t>J1</a:t>
                      </a:r>
                    </a:p>
                  </a:txBody>
                  <a:tcPr marL="76200" marR="76200" marT="76200" marB="76200" anchor="ctr"/>
                </a:tc>
                <a:tc>
                  <a:txBody>
                    <a:bodyPr/>
                    <a:lstStyle/>
                    <a:p>
                      <a:pPr algn="ctr"/>
                      <a:r>
                        <a:rPr lang="en-US" sz="1800"/>
                        <a:t>J2</a:t>
                      </a:r>
                    </a:p>
                  </a:txBody>
                  <a:tcPr marL="76200" marR="76200" marT="76200" marB="76200" anchor="ctr"/>
                </a:tc>
                <a:tc>
                  <a:txBody>
                    <a:bodyPr/>
                    <a:lstStyle/>
                    <a:p>
                      <a:pPr algn="ctr"/>
                      <a:r>
                        <a:rPr lang="en-US" sz="1800"/>
                        <a:t>J3</a:t>
                      </a:r>
                    </a:p>
                  </a:txBody>
                  <a:tcPr marL="76200" marR="76200" marT="76200" marB="76200" anchor="ctr"/>
                </a:tc>
                <a:tc>
                  <a:txBody>
                    <a:bodyPr/>
                    <a:lstStyle/>
                    <a:p>
                      <a:pPr algn="ctr"/>
                      <a:r>
                        <a:rPr lang="en-US" sz="1800"/>
                        <a:t>J4</a:t>
                      </a:r>
                    </a:p>
                  </a:txBody>
                  <a:tcPr marL="76200" marR="76200" marT="76200" marB="76200" anchor="ctr"/>
                </a:tc>
                <a:tc>
                  <a:txBody>
                    <a:bodyPr/>
                    <a:lstStyle/>
                    <a:p>
                      <a:pPr algn="ctr"/>
                      <a:r>
                        <a:rPr lang="en-US" sz="1800" dirty="0"/>
                        <a:t>J5</a:t>
                      </a:r>
                    </a:p>
                  </a:txBody>
                  <a:tcPr marL="76200" marR="76200" marT="76200" marB="76200" anchor="ctr"/>
                </a:tc>
                <a:tc>
                  <a:txBody>
                    <a:bodyPr/>
                    <a:lstStyle/>
                    <a:p>
                      <a:pPr algn="ctr"/>
                      <a:r>
                        <a:rPr lang="en-US" sz="1800" dirty="0" smtClean="0"/>
                        <a:t>J6</a:t>
                      </a:r>
                      <a:endParaRPr lang="en-US" sz="1800" dirty="0"/>
                    </a:p>
                  </a:txBody>
                  <a:tcPr marL="76200" marR="76200" marT="76200" marB="76200" anchor="ctr"/>
                </a:tc>
                <a:tc>
                  <a:txBody>
                    <a:bodyPr/>
                    <a:lstStyle/>
                    <a:p>
                      <a:pPr algn="ctr"/>
                      <a:r>
                        <a:rPr lang="en-US" sz="1800" dirty="0" smtClean="0"/>
                        <a:t>J7</a:t>
                      </a:r>
                      <a:endParaRPr lang="en-US" sz="1800" dirty="0"/>
                    </a:p>
                  </a:txBody>
                  <a:tcPr marL="76200" marR="76200" marT="76200" marB="76200" anchor="ctr"/>
                </a:tc>
              </a:tr>
              <a:tr h="370840">
                <a:tc>
                  <a:txBody>
                    <a:bodyPr/>
                    <a:lstStyle/>
                    <a:p>
                      <a:pPr algn="ctr"/>
                      <a:r>
                        <a:rPr lang="en-US" sz="1600" b="1" dirty="0">
                          <a:latin typeface="inherit"/>
                        </a:rPr>
                        <a:t>Deadlines</a:t>
                      </a:r>
                    </a:p>
                  </a:txBody>
                  <a:tcPr marL="76200" marR="76200" marT="76200" marB="76200" anchor="ctr"/>
                </a:tc>
                <a:tc>
                  <a:txBody>
                    <a:bodyPr/>
                    <a:lstStyle/>
                    <a:p>
                      <a:pPr algn="ctr"/>
                      <a:r>
                        <a:rPr lang="en-US" sz="1800" dirty="0" smtClean="0"/>
                        <a:t>3</a:t>
                      </a:r>
                      <a:endParaRPr lang="en-US" sz="1800" dirty="0"/>
                    </a:p>
                  </a:txBody>
                  <a:tcPr marL="76200" marR="76200" marT="76200" marB="76200" anchor="ctr"/>
                </a:tc>
                <a:tc>
                  <a:txBody>
                    <a:bodyPr/>
                    <a:lstStyle/>
                    <a:p>
                      <a:pPr algn="ctr"/>
                      <a:r>
                        <a:rPr lang="en-US" sz="1800" dirty="0" smtClean="0"/>
                        <a:t>4</a:t>
                      </a:r>
                      <a:endParaRPr lang="en-US" sz="1800" dirty="0"/>
                    </a:p>
                  </a:txBody>
                  <a:tcPr marL="76200" marR="76200" marT="76200" marB="76200" anchor="ctr"/>
                </a:tc>
                <a:tc>
                  <a:txBody>
                    <a:bodyPr/>
                    <a:lstStyle/>
                    <a:p>
                      <a:pPr algn="ctr"/>
                      <a:r>
                        <a:rPr lang="en-US" sz="1800" dirty="0" smtClean="0"/>
                        <a:t>4</a:t>
                      </a:r>
                      <a:endParaRPr lang="en-US" sz="1800" dirty="0"/>
                    </a:p>
                  </a:txBody>
                  <a:tcPr marL="76200" marR="76200" marT="76200" marB="76200" anchor="ctr"/>
                </a:tc>
                <a:tc>
                  <a:txBody>
                    <a:bodyPr/>
                    <a:lstStyle/>
                    <a:p>
                      <a:pPr algn="ctr"/>
                      <a:r>
                        <a:rPr lang="en-US" sz="1800" dirty="0" smtClean="0"/>
                        <a:t>2</a:t>
                      </a:r>
                      <a:endParaRPr lang="en-US" sz="1800" dirty="0"/>
                    </a:p>
                  </a:txBody>
                  <a:tcPr marL="76200" marR="76200" marT="76200" marB="76200" anchor="ctr"/>
                </a:tc>
                <a:tc>
                  <a:txBody>
                    <a:bodyPr/>
                    <a:lstStyle/>
                    <a:p>
                      <a:pPr algn="ctr"/>
                      <a:r>
                        <a:rPr lang="en-US" sz="1800" dirty="0" smtClean="0"/>
                        <a:t>3</a:t>
                      </a:r>
                      <a:endParaRPr lang="en-US" sz="1800" dirty="0"/>
                    </a:p>
                  </a:txBody>
                  <a:tcPr marL="76200" marR="76200" marT="76200" marB="76200" anchor="ctr"/>
                </a:tc>
                <a:tc>
                  <a:txBody>
                    <a:bodyPr/>
                    <a:lstStyle/>
                    <a:p>
                      <a:pPr algn="ctr"/>
                      <a:r>
                        <a:rPr lang="en-US" sz="1800" dirty="0" smtClean="0"/>
                        <a:t>1</a:t>
                      </a:r>
                      <a:endParaRPr lang="en-US" sz="1800" dirty="0"/>
                    </a:p>
                  </a:txBody>
                  <a:tcPr marL="76200" marR="76200" marT="76200" marB="76200" anchor="ctr"/>
                </a:tc>
                <a:tc>
                  <a:txBody>
                    <a:bodyPr/>
                    <a:lstStyle/>
                    <a:p>
                      <a:pPr algn="ctr"/>
                      <a:r>
                        <a:rPr lang="en-US" sz="1800" dirty="0" smtClean="0"/>
                        <a:t>2</a:t>
                      </a:r>
                      <a:endParaRPr lang="en-US" sz="1800" dirty="0"/>
                    </a:p>
                  </a:txBody>
                  <a:tcPr marL="76200" marR="76200" marT="76200" marB="76200" anchor="ctr"/>
                </a:tc>
              </a:tr>
              <a:tr h="370840">
                <a:tc>
                  <a:txBody>
                    <a:bodyPr/>
                    <a:lstStyle/>
                    <a:p>
                      <a:pPr algn="ctr"/>
                      <a:r>
                        <a:rPr lang="en-US" sz="1800" b="1" dirty="0">
                          <a:latin typeface="inherit"/>
                        </a:rPr>
                        <a:t>Profits</a:t>
                      </a:r>
                    </a:p>
                  </a:txBody>
                  <a:tcPr marL="76200" marR="76200" marT="76200" marB="76200" anchor="ctr"/>
                </a:tc>
                <a:tc>
                  <a:txBody>
                    <a:bodyPr/>
                    <a:lstStyle/>
                    <a:p>
                      <a:pPr algn="ctr"/>
                      <a:r>
                        <a:rPr lang="en-US" sz="1800" dirty="0" smtClean="0"/>
                        <a:t>35</a:t>
                      </a:r>
                      <a:endParaRPr lang="en-US" sz="1800" dirty="0"/>
                    </a:p>
                  </a:txBody>
                  <a:tcPr marL="76200" marR="76200" marT="76200" marB="76200" anchor="ctr"/>
                </a:tc>
                <a:tc>
                  <a:txBody>
                    <a:bodyPr/>
                    <a:lstStyle/>
                    <a:p>
                      <a:pPr algn="ctr"/>
                      <a:r>
                        <a:rPr lang="en-US" sz="1800" dirty="0" smtClean="0"/>
                        <a:t>30</a:t>
                      </a:r>
                      <a:endParaRPr lang="en-US" sz="1800" dirty="0"/>
                    </a:p>
                  </a:txBody>
                  <a:tcPr marL="76200" marR="76200" marT="76200" marB="76200" anchor="ctr"/>
                </a:tc>
                <a:tc>
                  <a:txBody>
                    <a:bodyPr/>
                    <a:lstStyle/>
                    <a:p>
                      <a:pPr algn="ctr"/>
                      <a:r>
                        <a:rPr lang="en-US" sz="1800" dirty="0" smtClean="0"/>
                        <a:t>25</a:t>
                      </a:r>
                      <a:endParaRPr lang="en-US" sz="1800" dirty="0"/>
                    </a:p>
                  </a:txBody>
                  <a:tcPr marL="76200" marR="76200" marT="76200" marB="76200" anchor="ctr"/>
                </a:tc>
                <a:tc>
                  <a:txBody>
                    <a:bodyPr/>
                    <a:lstStyle/>
                    <a:p>
                      <a:pPr algn="ctr"/>
                      <a:r>
                        <a:rPr lang="en-US" sz="1800" dirty="0" smtClean="0"/>
                        <a:t>20</a:t>
                      </a:r>
                      <a:endParaRPr lang="en-US" sz="1800" dirty="0"/>
                    </a:p>
                  </a:txBody>
                  <a:tcPr marL="76200" marR="76200" marT="76200" marB="76200" anchor="ctr"/>
                </a:tc>
                <a:tc>
                  <a:txBody>
                    <a:bodyPr/>
                    <a:lstStyle/>
                    <a:p>
                      <a:pPr algn="ctr"/>
                      <a:r>
                        <a:rPr lang="en-US" sz="1800" dirty="0" smtClean="0"/>
                        <a:t>15</a:t>
                      </a:r>
                      <a:endParaRPr lang="en-US" sz="1800" dirty="0"/>
                    </a:p>
                  </a:txBody>
                  <a:tcPr marL="76200" marR="76200" marT="76200" marB="76200" anchor="ctr"/>
                </a:tc>
                <a:tc>
                  <a:txBody>
                    <a:bodyPr/>
                    <a:lstStyle/>
                    <a:p>
                      <a:pPr algn="ctr"/>
                      <a:r>
                        <a:rPr lang="en-US" sz="1800" dirty="0" smtClean="0"/>
                        <a:t>12</a:t>
                      </a:r>
                      <a:endParaRPr lang="en-US" sz="1800" dirty="0"/>
                    </a:p>
                  </a:txBody>
                  <a:tcPr marL="76200" marR="76200" marT="76200" marB="76200" anchor="ctr"/>
                </a:tc>
                <a:tc>
                  <a:txBody>
                    <a:bodyPr/>
                    <a:lstStyle/>
                    <a:p>
                      <a:pPr algn="ctr"/>
                      <a:r>
                        <a:rPr lang="en-US" sz="1800" dirty="0" smtClean="0"/>
                        <a:t>5</a:t>
                      </a:r>
                      <a:endParaRPr lang="en-US" sz="1800" dirty="0"/>
                    </a:p>
                  </a:txBody>
                  <a:tcPr marL="76200" marR="76200" marT="76200" marB="76200" anchor="ctr"/>
                </a:tc>
              </a:tr>
            </a:tbl>
          </a:graphicData>
        </a:graphic>
      </p:graphicFrame>
      <p:sp>
        <p:nvSpPr>
          <p:cNvPr id="16" name="TextBox 15"/>
          <p:cNvSpPr txBox="1"/>
          <p:nvPr/>
        </p:nvSpPr>
        <p:spPr>
          <a:xfrm>
            <a:off x="4724400" y="1600200"/>
            <a:ext cx="304800" cy="369332"/>
          </a:xfrm>
          <a:prstGeom prst="rect">
            <a:avLst/>
          </a:prstGeom>
          <a:noFill/>
        </p:spPr>
        <p:txBody>
          <a:bodyPr wrap="square" rtlCol="0">
            <a:spAutoFit/>
          </a:bodyPr>
          <a:lstStyle/>
          <a:p>
            <a:r>
              <a:rPr lang="en-US" dirty="0" smtClean="0"/>
              <a:t>3</a:t>
            </a:r>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smtClean="0"/>
              <a:t>Time Complexity</a:t>
            </a:r>
            <a:endParaRPr lang="en-US" b="1" dirty="0"/>
          </a:p>
        </p:txBody>
      </p:sp>
      <p:sp>
        <p:nvSpPr>
          <p:cNvPr id="4" name="Content Placeholder 3"/>
          <p:cNvSpPr>
            <a:spLocks noGrp="1"/>
          </p:cNvSpPr>
          <p:nvPr>
            <p:ph idx="1"/>
          </p:nvPr>
        </p:nvSpPr>
        <p:spPr>
          <a:xfrm>
            <a:off x="457200" y="1219200"/>
            <a:ext cx="8458200" cy="4906963"/>
          </a:xfrm>
        </p:spPr>
        <p:txBody>
          <a:bodyPr>
            <a:normAutofit/>
          </a:bodyPr>
          <a:lstStyle/>
          <a:p>
            <a:r>
              <a:rPr lang="en-US" sz="2400" dirty="0" smtClean="0"/>
              <a:t>Step 1: Sort Jobs by Profit in Descending Order-</a:t>
            </a:r>
            <a:r>
              <a:rPr lang="pt-BR" sz="2400" b="1" dirty="0" smtClean="0"/>
              <a:t>Time Complexity:</a:t>
            </a:r>
            <a:r>
              <a:rPr lang="pt-BR" sz="2400" dirty="0" smtClean="0"/>
              <a:t> </a:t>
            </a:r>
            <a:r>
              <a:rPr lang="pt-BR" sz="2400" b="1" dirty="0" smtClean="0"/>
              <a:t>O(N log N)</a:t>
            </a:r>
          </a:p>
          <a:p>
            <a:r>
              <a:rPr lang="en-US" sz="2400" dirty="0" smtClean="0"/>
              <a:t>Step 2: Find Maximum Deadline-</a:t>
            </a:r>
            <a:r>
              <a:rPr lang="en-US" sz="2400" b="1" dirty="0" smtClean="0"/>
              <a:t>Time Complexity:</a:t>
            </a:r>
            <a:r>
              <a:rPr lang="en-US" sz="2400" dirty="0" smtClean="0"/>
              <a:t> </a:t>
            </a:r>
            <a:r>
              <a:rPr lang="en-US" sz="2400" b="1" dirty="0" smtClean="0"/>
              <a:t>O(N)</a:t>
            </a:r>
          </a:p>
          <a:p>
            <a:r>
              <a:rPr lang="en-US" sz="2400" dirty="0" smtClean="0"/>
              <a:t>Step 3: Create an Array for Time Slots-</a:t>
            </a:r>
            <a:r>
              <a:rPr lang="en-US" sz="2400" b="1" dirty="0" smtClean="0"/>
              <a:t>Time Complexity:</a:t>
            </a:r>
            <a:r>
              <a:rPr lang="en-US" sz="2400" dirty="0" smtClean="0"/>
              <a:t> </a:t>
            </a:r>
            <a:r>
              <a:rPr lang="en-US" sz="2400" b="1" dirty="0" smtClean="0"/>
              <a:t>O(N)</a:t>
            </a:r>
          </a:p>
          <a:p>
            <a:r>
              <a:rPr lang="en-US" sz="2400" dirty="0" smtClean="0"/>
              <a:t>Step 4: Place Jobs in Latest Available Slot Before Deadline- Slots-</a:t>
            </a:r>
            <a:r>
              <a:rPr lang="en-US" sz="2400" b="1" dirty="0" smtClean="0"/>
              <a:t>Time Complexity:</a:t>
            </a:r>
            <a:r>
              <a:rPr lang="en-US" sz="2400" dirty="0" smtClean="0"/>
              <a:t> </a:t>
            </a:r>
            <a:r>
              <a:rPr lang="en-US" sz="2400" b="1" dirty="0" smtClean="0"/>
              <a:t>O(N</a:t>
            </a:r>
            <a:r>
              <a:rPr lang="en-US" sz="2400" b="1" baseline="30000" dirty="0" smtClean="0"/>
              <a:t>2</a:t>
            </a:r>
            <a:r>
              <a:rPr lang="en-US" sz="2400" b="1" dirty="0" smtClean="0"/>
              <a:t>)</a:t>
            </a:r>
          </a:p>
          <a:p>
            <a:r>
              <a:rPr lang="en-US" sz="2400" b="1" dirty="0" smtClean="0"/>
              <a:t>Final Time Complexity:</a:t>
            </a:r>
            <a:r>
              <a:rPr lang="en-US" sz="2400" dirty="0" smtClean="0"/>
              <a:t> </a:t>
            </a:r>
            <a:r>
              <a:rPr lang="en-US" sz="2400" b="1" dirty="0" smtClean="0"/>
              <a:t>O(N</a:t>
            </a:r>
            <a:r>
              <a:rPr lang="en-US" sz="2400" b="1" baseline="30000" dirty="0" smtClean="0"/>
              <a:t>2</a:t>
            </a:r>
            <a:r>
              <a:rPr lang="en-US" sz="2400" b="1" dirty="0" smtClean="0"/>
              <a:t>) in worst case </a:t>
            </a:r>
            <a:br>
              <a:rPr lang="en-US" sz="2400" b="1" dirty="0" smtClean="0"/>
            </a:br>
            <a:r>
              <a:rPr lang="en-US" sz="2400" b="1" dirty="0" smtClean="0"/>
              <a:t>in Best case O(N </a:t>
            </a:r>
            <a:r>
              <a:rPr lang="en-US" sz="2400" b="1" dirty="0" err="1" smtClean="0"/>
              <a:t>logN</a:t>
            </a:r>
            <a:r>
              <a:rPr lang="en-US" sz="2400" b="1" dirty="0" smtClean="0"/>
              <a:t>)</a:t>
            </a:r>
            <a:endParaRPr lang="en-US" sz="2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3810000" cy="6019800"/>
          </a:xfrm>
        </p:spPr>
        <p:style>
          <a:lnRef idx="2">
            <a:schemeClr val="dk1"/>
          </a:lnRef>
          <a:fillRef idx="1">
            <a:schemeClr val="lt1"/>
          </a:fillRef>
          <a:effectRef idx="0">
            <a:schemeClr val="dk1"/>
          </a:effectRef>
          <a:fontRef idx="minor">
            <a:schemeClr val="dk1"/>
          </a:fontRef>
        </p:style>
        <p:txBody>
          <a:bodyPr>
            <a:noAutofit/>
          </a:bodyPr>
          <a:lstStyle/>
          <a:p>
            <a:pPr>
              <a:buNone/>
            </a:pPr>
            <a:r>
              <a:rPr lang="en-US" sz="1800" dirty="0" smtClean="0"/>
              <a:t>import </a:t>
            </a:r>
            <a:r>
              <a:rPr lang="en-US" sz="1800" dirty="0" err="1" smtClean="0"/>
              <a:t>java.util.Arrays</a:t>
            </a:r>
            <a:r>
              <a:rPr lang="en-US" sz="1800" dirty="0" smtClean="0"/>
              <a:t>;</a:t>
            </a:r>
          </a:p>
          <a:p>
            <a:pPr>
              <a:buNone/>
            </a:pPr>
            <a:r>
              <a:rPr lang="en-US" sz="1800" dirty="0" smtClean="0"/>
              <a:t>class Job {</a:t>
            </a:r>
          </a:p>
          <a:p>
            <a:pPr>
              <a:buNone/>
            </a:pPr>
            <a:r>
              <a:rPr lang="en-US" sz="1800" dirty="0" smtClean="0"/>
              <a:t>    int id, profit, deadline;</a:t>
            </a:r>
          </a:p>
          <a:p>
            <a:pPr>
              <a:buNone/>
            </a:pPr>
            <a:r>
              <a:rPr lang="en-US" sz="1800" dirty="0" smtClean="0"/>
              <a:t>    Job(int id, int profit, int deadline) {</a:t>
            </a:r>
          </a:p>
          <a:p>
            <a:pPr>
              <a:buNone/>
            </a:pPr>
            <a:r>
              <a:rPr lang="en-US" sz="1800" dirty="0" smtClean="0"/>
              <a:t>        this.id = id;</a:t>
            </a:r>
          </a:p>
          <a:p>
            <a:pPr>
              <a:buNone/>
            </a:pPr>
            <a:r>
              <a:rPr lang="en-US" sz="1800" dirty="0" smtClean="0"/>
              <a:t>        </a:t>
            </a:r>
            <a:r>
              <a:rPr lang="en-US" sz="1800" dirty="0" err="1" smtClean="0"/>
              <a:t>this.profit</a:t>
            </a:r>
            <a:r>
              <a:rPr lang="en-US" sz="1800" dirty="0" smtClean="0"/>
              <a:t> = profit;</a:t>
            </a:r>
          </a:p>
          <a:p>
            <a:pPr>
              <a:buNone/>
            </a:pPr>
            <a:r>
              <a:rPr lang="en-US" sz="1800" dirty="0" smtClean="0"/>
              <a:t>        </a:t>
            </a:r>
            <a:r>
              <a:rPr lang="en-US" sz="1800" dirty="0" err="1" smtClean="0"/>
              <a:t>this.deadline</a:t>
            </a:r>
            <a:r>
              <a:rPr lang="en-US" sz="1800" dirty="0" smtClean="0"/>
              <a:t> = deadline;</a:t>
            </a:r>
          </a:p>
          <a:p>
            <a:pPr>
              <a:buNone/>
            </a:pPr>
            <a:r>
              <a:rPr lang="en-US" sz="1800" dirty="0" smtClean="0"/>
              <a:t>    }}</a:t>
            </a:r>
          </a:p>
          <a:p>
            <a:pPr>
              <a:buNone/>
            </a:pPr>
            <a:r>
              <a:rPr lang="en-US" sz="1800" dirty="0" smtClean="0"/>
              <a:t>public class </a:t>
            </a:r>
            <a:r>
              <a:rPr lang="en-US" sz="1800" dirty="0" err="1" smtClean="0"/>
              <a:t>JobSequencingWorstCase</a:t>
            </a:r>
            <a:r>
              <a:rPr lang="en-US" sz="1800" dirty="0" smtClean="0"/>
              <a:t> {</a:t>
            </a:r>
          </a:p>
          <a:p>
            <a:pPr>
              <a:buNone/>
            </a:pPr>
            <a:r>
              <a:rPr lang="en-US" sz="1800" b="1" dirty="0" smtClean="0"/>
              <a:t>    // Function to sort jobs by profit in descending order</a:t>
            </a:r>
          </a:p>
          <a:p>
            <a:pPr>
              <a:buNone/>
            </a:pPr>
            <a:r>
              <a:rPr lang="en-US" sz="1800" dirty="0" smtClean="0"/>
              <a:t>    static void </a:t>
            </a:r>
            <a:r>
              <a:rPr lang="en-US" sz="1800" dirty="0" err="1" smtClean="0"/>
              <a:t>sortJobsByProfit</a:t>
            </a:r>
            <a:r>
              <a:rPr lang="en-US" sz="1800" dirty="0" smtClean="0"/>
              <a:t>(Job[] jobs) {</a:t>
            </a:r>
          </a:p>
          <a:p>
            <a:pPr>
              <a:buNone/>
            </a:pPr>
            <a:r>
              <a:rPr lang="en-US" sz="1800" dirty="0" smtClean="0"/>
              <a:t>        </a:t>
            </a:r>
            <a:r>
              <a:rPr lang="en-US" sz="1800" dirty="0" err="1" smtClean="0"/>
              <a:t>Arrays.sort</a:t>
            </a:r>
            <a:r>
              <a:rPr lang="en-US" sz="1800" dirty="0" smtClean="0"/>
              <a:t>(jobs, (a, b) -&gt; </a:t>
            </a:r>
            <a:r>
              <a:rPr lang="en-US" sz="1800" dirty="0" err="1" smtClean="0"/>
              <a:t>b.profit</a:t>
            </a:r>
            <a:r>
              <a:rPr lang="en-US" sz="1800" dirty="0" smtClean="0"/>
              <a:t> - </a:t>
            </a:r>
            <a:r>
              <a:rPr lang="en-US" sz="1800" dirty="0" err="1" smtClean="0"/>
              <a:t>a.profit</a:t>
            </a:r>
            <a:r>
              <a:rPr lang="en-US" sz="1800" dirty="0" smtClean="0"/>
              <a:t>);    }</a:t>
            </a:r>
          </a:p>
          <a:p>
            <a:pPr>
              <a:buNone/>
            </a:pPr>
            <a:r>
              <a:rPr lang="en-US" sz="1800" dirty="0" smtClean="0"/>
              <a:t>    </a:t>
            </a:r>
            <a:r>
              <a:rPr lang="en-US" sz="1800" b="1" dirty="0" smtClean="0"/>
              <a:t>// Function to find the maximum deadline among all jobs</a:t>
            </a:r>
          </a:p>
          <a:p>
            <a:pPr>
              <a:buNone/>
            </a:pPr>
            <a:r>
              <a:rPr lang="en-US" sz="1800" dirty="0" smtClean="0"/>
              <a:t>    static int </a:t>
            </a:r>
            <a:r>
              <a:rPr lang="en-US" sz="1800" dirty="0" err="1" smtClean="0"/>
              <a:t>getMaxDeadline</a:t>
            </a:r>
            <a:r>
              <a:rPr lang="en-US" sz="1800" dirty="0" smtClean="0"/>
              <a:t>(Job[] jobs) {        int </a:t>
            </a:r>
            <a:r>
              <a:rPr lang="en-US" sz="1800" dirty="0" err="1" smtClean="0"/>
              <a:t>maxDeadline</a:t>
            </a:r>
            <a:r>
              <a:rPr lang="en-US" sz="1800" dirty="0" smtClean="0"/>
              <a:t> = 0;</a:t>
            </a:r>
          </a:p>
          <a:p>
            <a:pPr>
              <a:buNone/>
            </a:pPr>
            <a:endParaRPr lang="en-US" sz="900" dirty="0" smtClean="0"/>
          </a:p>
          <a:p>
            <a:pPr>
              <a:buNone/>
            </a:pPr>
            <a:r>
              <a:rPr lang="en-US" sz="900" dirty="0" smtClean="0"/>
              <a:t>    </a:t>
            </a:r>
          </a:p>
          <a:p>
            <a:pPr>
              <a:buNone/>
            </a:pPr>
            <a:r>
              <a:rPr lang="en-US" sz="900" dirty="0" smtClean="0"/>
              <a:t>      </a:t>
            </a:r>
            <a:endParaRPr lang="en-US" sz="900" dirty="0"/>
          </a:p>
        </p:txBody>
      </p:sp>
      <p:sp>
        <p:nvSpPr>
          <p:cNvPr id="5" name="Rectangle 4"/>
          <p:cNvSpPr/>
          <p:nvPr/>
        </p:nvSpPr>
        <p:spPr>
          <a:xfrm>
            <a:off x="4572000" y="643890"/>
            <a:ext cx="4572000" cy="5909310"/>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buNone/>
            </a:pPr>
            <a:r>
              <a:rPr lang="en-US" dirty="0" smtClean="0"/>
              <a:t>  for (Job </a:t>
            </a:r>
            <a:r>
              <a:rPr lang="en-US" dirty="0" err="1" smtClean="0"/>
              <a:t>job</a:t>
            </a:r>
            <a:r>
              <a:rPr lang="en-US" dirty="0" smtClean="0"/>
              <a:t> : jobs)</a:t>
            </a:r>
          </a:p>
          <a:p>
            <a:pPr>
              <a:buNone/>
            </a:pPr>
            <a:r>
              <a:rPr lang="en-US" dirty="0" smtClean="0"/>
              <a:t>      </a:t>
            </a:r>
            <a:r>
              <a:rPr lang="en-US" dirty="0" err="1" smtClean="0"/>
              <a:t>maxDeadline</a:t>
            </a:r>
            <a:r>
              <a:rPr lang="en-US" dirty="0" smtClean="0"/>
              <a:t> = Math.max(</a:t>
            </a:r>
            <a:r>
              <a:rPr lang="en-US" dirty="0" err="1" smtClean="0"/>
              <a:t>maxDeadline</a:t>
            </a:r>
            <a:r>
              <a:rPr lang="en-US" dirty="0" smtClean="0"/>
              <a:t>,   </a:t>
            </a:r>
            <a:r>
              <a:rPr lang="en-US" dirty="0" err="1" smtClean="0"/>
              <a:t>job.deadline</a:t>
            </a:r>
            <a:r>
              <a:rPr lang="en-US" dirty="0" smtClean="0"/>
              <a:t>);</a:t>
            </a:r>
          </a:p>
          <a:p>
            <a:pPr>
              <a:buNone/>
            </a:pPr>
            <a:r>
              <a:rPr lang="en-US" dirty="0" smtClean="0"/>
              <a:t>        return </a:t>
            </a:r>
            <a:r>
              <a:rPr lang="en-US" dirty="0" err="1" smtClean="0"/>
              <a:t>maxDeadline</a:t>
            </a:r>
            <a:r>
              <a:rPr lang="en-US" dirty="0" smtClean="0"/>
              <a:t>;</a:t>
            </a:r>
          </a:p>
          <a:p>
            <a:pPr>
              <a:buNone/>
            </a:pPr>
            <a:r>
              <a:rPr lang="en-US" dirty="0" smtClean="0"/>
              <a:t>    }</a:t>
            </a:r>
          </a:p>
          <a:p>
            <a:pPr>
              <a:buNone/>
            </a:pPr>
            <a:r>
              <a:rPr lang="en-US" b="1" dirty="0" smtClean="0"/>
              <a:t>// Function to perform Job Sequencing (Worst Case)</a:t>
            </a:r>
          </a:p>
          <a:p>
            <a:pPr>
              <a:buNone/>
            </a:pPr>
            <a:r>
              <a:rPr lang="en-US" dirty="0" smtClean="0"/>
              <a:t>    static void </a:t>
            </a:r>
            <a:r>
              <a:rPr lang="en-US" dirty="0" err="1" smtClean="0"/>
              <a:t>jobSequencing</a:t>
            </a:r>
            <a:r>
              <a:rPr lang="en-US" dirty="0" smtClean="0"/>
              <a:t>(Job[] jobs, int n) {</a:t>
            </a:r>
          </a:p>
          <a:p>
            <a:pPr>
              <a:buNone/>
            </a:pPr>
            <a:r>
              <a:rPr lang="en-US" dirty="0" smtClean="0"/>
              <a:t>        // Step 1: Sort jobs by profit (Descending)</a:t>
            </a:r>
          </a:p>
          <a:p>
            <a:pPr>
              <a:buNone/>
            </a:pPr>
            <a:r>
              <a:rPr lang="en-US" dirty="0" smtClean="0"/>
              <a:t>        </a:t>
            </a:r>
            <a:r>
              <a:rPr lang="en-US" dirty="0" err="1" smtClean="0"/>
              <a:t>sortJobsByProfit</a:t>
            </a:r>
            <a:r>
              <a:rPr lang="en-US" dirty="0" smtClean="0"/>
              <a:t>(jobs);</a:t>
            </a:r>
          </a:p>
          <a:p>
            <a:pPr>
              <a:buNone/>
            </a:pPr>
            <a:endParaRPr lang="en-US" dirty="0" smtClean="0"/>
          </a:p>
          <a:p>
            <a:pPr>
              <a:buNone/>
            </a:pPr>
            <a:r>
              <a:rPr lang="en-US" b="1" dirty="0" smtClean="0"/>
              <a:t>        // Step 2: Find max deadline</a:t>
            </a:r>
          </a:p>
          <a:p>
            <a:pPr>
              <a:buNone/>
            </a:pPr>
            <a:r>
              <a:rPr lang="en-US" dirty="0" smtClean="0"/>
              <a:t>        int </a:t>
            </a:r>
            <a:r>
              <a:rPr lang="en-US" dirty="0" err="1" smtClean="0"/>
              <a:t>maxDeadline</a:t>
            </a:r>
            <a:r>
              <a:rPr lang="en-US" dirty="0" smtClean="0"/>
              <a:t> = </a:t>
            </a:r>
            <a:r>
              <a:rPr lang="en-US" dirty="0" err="1" smtClean="0"/>
              <a:t>getMaxDeadline</a:t>
            </a:r>
            <a:r>
              <a:rPr lang="en-US" dirty="0" smtClean="0"/>
              <a:t>(jobs);</a:t>
            </a:r>
          </a:p>
          <a:p>
            <a:pPr>
              <a:buNone/>
            </a:pPr>
            <a:r>
              <a:rPr lang="en-US" dirty="0" smtClean="0"/>
              <a:t>        int[] slots = new int[</a:t>
            </a:r>
            <a:r>
              <a:rPr lang="en-US" dirty="0" err="1" smtClean="0"/>
              <a:t>maxDeadline</a:t>
            </a:r>
            <a:r>
              <a:rPr lang="en-US" dirty="0" smtClean="0"/>
              <a:t>]; // Slot array</a:t>
            </a:r>
          </a:p>
          <a:p>
            <a:pPr>
              <a:buNone/>
            </a:pPr>
            <a:r>
              <a:rPr lang="en-US" dirty="0" smtClean="0"/>
              <a:t>        </a:t>
            </a:r>
            <a:r>
              <a:rPr lang="en-US" dirty="0" err="1" smtClean="0"/>
              <a:t>Arrays.fill</a:t>
            </a:r>
            <a:r>
              <a:rPr lang="en-US" dirty="0" smtClean="0"/>
              <a:t>(slots, -1); // Initialize slots as empty</a:t>
            </a:r>
          </a:p>
          <a:p>
            <a:pPr>
              <a:buNone/>
            </a:pPr>
            <a:endParaRPr lang="en-US" dirty="0" smtClean="0"/>
          </a:p>
          <a:p>
            <a:pPr>
              <a:buNone/>
            </a:pPr>
            <a:r>
              <a:rPr lang="en-US" dirty="0" smtClean="0"/>
              <a:t>        int </a:t>
            </a:r>
            <a:r>
              <a:rPr lang="en-US" dirty="0" err="1" smtClean="0"/>
              <a:t>totalProfit</a:t>
            </a:r>
            <a:r>
              <a:rPr lang="en-US" dirty="0" smtClean="0"/>
              <a:t> = 0;</a:t>
            </a:r>
          </a:p>
          <a:p>
            <a:pPr>
              <a:buNone/>
            </a:pPr>
            <a:r>
              <a:rPr lang="en-US" dirty="0" smtClean="0"/>
              <a:t>        int[] </a:t>
            </a:r>
            <a:r>
              <a:rPr lang="en-US" dirty="0" err="1" smtClean="0"/>
              <a:t>jobSlot</a:t>
            </a:r>
            <a:r>
              <a:rPr lang="en-US" dirty="0" smtClean="0"/>
              <a:t> = new int[n]; // Store allocated slot for each job</a:t>
            </a:r>
          </a:p>
        </p:txBody>
      </p:sp>
      <p:sp>
        <p:nvSpPr>
          <p:cNvPr id="6" name="Rectangle 5"/>
          <p:cNvSpPr/>
          <p:nvPr/>
        </p:nvSpPr>
        <p:spPr>
          <a:xfrm>
            <a:off x="533400" y="76200"/>
            <a:ext cx="4352923" cy="461665"/>
          </a:xfrm>
          <a:prstGeom prst="rect">
            <a:avLst/>
          </a:prstGeom>
        </p:spPr>
        <p:txBody>
          <a:bodyPr wrap="none">
            <a:spAutoFit/>
          </a:bodyPr>
          <a:lstStyle/>
          <a:p>
            <a:r>
              <a:rPr lang="en-US" sz="2400" b="1" dirty="0" smtClean="0">
                <a:solidFill>
                  <a:srgbClr val="C00000"/>
                </a:solidFill>
              </a:rPr>
              <a:t>Program for worst case scenario:</a:t>
            </a:r>
            <a:endParaRPr lang="en-US" sz="2400" b="1" dirty="0">
              <a:solidFill>
                <a:srgbClr val="C00000"/>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191000" y="221694"/>
            <a:ext cx="4572000" cy="5909310"/>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r>
              <a:rPr lang="en-US" dirty="0" smtClean="0"/>
              <a:t> </a:t>
            </a:r>
          </a:p>
          <a:p>
            <a:r>
              <a:rPr lang="en-US" dirty="0" smtClean="0"/>
              <a:t>        System.out.println("Maximum Profit: " + </a:t>
            </a:r>
            <a:r>
              <a:rPr lang="en-US" dirty="0" err="1" smtClean="0"/>
              <a:t>totalProfit</a:t>
            </a:r>
            <a:r>
              <a:rPr lang="en-US" dirty="0" smtClean="0"/>
              <a:t>);</a:t>
            </a:r>
          </a:p>
          <a:p>
            <a:r>
              <a:rPr lang="en-US" dirty="0" smtClean="0"/>
              <a:t>    }</a:t>
            </a:r>
          </a:p>
          <a:p>
            <a:r>
              <a:rPr lang="en-US" b="1" dirty="0" smtClean="0"/>
              <a:t>    // Driver Code (Worst Case Scenario)</a:t>
            </a:r>
          </a:p>
          <a:p>
            <a:r>
              <a:rPr lang="en-US" dirty="0" smtClean="0"/>
              <a:t>    public static void main(String[] args) {</a:t>
            </a:r>
          </a:p>
          <a:p>
            <a:r>
              <a:rPr lang="en-US" dirty="0" smtClean="0"/>
              <a:t>        int n = 7; // Number of jobs (Increase N for testing worst case)</a:t>
            </a:r>
          </a:p>
          <a:p>
            <a:r>
              <a:rPr lang="en-US" b="1" dirty="0" smtClean="0"/>
              <a:t>        // Worst case: All jobs have the same large deadline (N)</a:t>
            </a:r>
          </a:p>
          <a:p>
            <a:r>
              <a:rPr lang="en-US" dirty="0" smtClean="0"/>
              <a:t>        Job[] jobs = {</a:t>
            </a:r>
          </a:p>
          <a:p>
            <a:r>
              <a:rPr lang="en-US" dirty="0" smtClean="0"/>
              <a:t>            new Job(1, 50, 7),</a:t>
            </a:r>
          </a:p>
          <a:p>
            <a:r>
              <a:rPr lang="en-US" dirty="0" smtClean="0"/>
              <a:t>            new Job(2, 40, 7),</a:t>
            </a:r>
          </a:p>
          <a:p>
            <a:r>
              <a:rPr lang="en-US" dirty="0" smtClean="0"/>
              <a:t>            new Job(3, 30, 7),</a:t>
            </a:r>
          </a:p>
          <a:p>
            <a:r>
              <a:rPr lang="en-US" dirty="0" smtClean="0"/>
              <a:t>            new Job(4, 20, 7),</a:t>
            </a:r>
          </a:p>
          <a:p>
            <a:r>
              <a:rPr lang="en-US" dirty="0" smtClean="0"/>
              <a:t>            new Job(5, 10, 7),</a:t>
            </a:r>
          </a:p>
          <a:p>
            <a:r>
              <a:rPr lang="en-US" dirty="0" smtClean="0"/>
              <a:t>            new Job(6, 5, 7),</a:t>
            </a:r>
          </a:p>
          <a:p>
            <a:r>
              <a:rPr lang="en-US" dirty="0" smtClean="0"/>
              <a:t>            new Job(7, 1, 7)</a:t>
            </a:r>
          </a:p>
          <a:p>
            <a:r>
              <a:rPr lang="en-US" dirty="0" smtClean="0"/>
              <a:t>        };</a:t>
            </a:r>
          </a:p>
          <a:p>
            <a:r>
              <a:rPr lang="en-US" dirty="0" smtClean="0"/>
              <a:t>        </a:t>
            </a:r>
            <a:r>
              <a:rPr lang="en-US" dirty="0" err="1" smtClean="0"/>
              <a:t>jobSequencing</a:t>
            </a:r>
            <a:r>
              <a:rPr lang="en-US" dirty="0" smtClean="0"/>
              <a:t>(jobs, n);</a:t>
            </a:r>
          </a:p>
          <a:p>
            <a:r>
              <a:rPr lang="en-US" dirty="0" smtClean="0"/>
              <a:t>    }}</a:t>
            </a:r>
          </a:p>
        </p:txBody>
      </p:sp>
      <p:sp>
        <p:nvSpPr>
          <p:cNvPr id="6" name="Rectangle 5"/>
          <p:cNvSpPr/>
          <p:nvPr/>
        </p:nvSpPr>
        <p:spPr>
          <a:xfrm>
            <a:off x="152400" y="304800"/>
            <a:ext cx="3886200" cy="618630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b="1" dirty="0" smtClean="0"/>
              <a:t>// Step 3: Assign jobs (Worst Case - Scan all slots)</a:t>
            </a:r>
          </a:p>
          <a:p>
            <a:r>
              <a:rPr lang="en-US" dirty="0" smtClean="0"/>
              <a:t>        for (int i = 0; i &lt; n; i++) {</a:t>
            </a:r>
          </a:p>
          <a:p>
            <a:r>
              <a:rPr lang="en-US" dirty="0" smtClean="0"/>
              <a:t>            for (int j = jobs[i].deadline - 1; j &gt;= 0; j--) </a:t>
            </a:r>
          </a:p>
          <a:p>
            <a:r>
              <a:rPr lang="en-US" b="1" dirty="0" smtClean="0"/>
              <a:t>{ // Scan from deadline down</a:t>
            </a:r>
          </a:p>
          <a:p>
            <a:r>
              <a:rPr lang="en-US" dirty="0" smtClean="0"/>
              <a:t>   if (slots[j] == -1) { </a:t>
            </a:r>
            <a:r>
              <a:rPr lang="en-US" b="1" dirty="0" smtClean="0"/>
              <a:t>// If slot is empty</a:t>
            </a:r>
          </a:p>
          <a:p>
            <a:r>
              <a:rPr lang="en-US" dirty="0" smtClean="0"/>
              <a:t>        slots[j] = jobs[i].id;</a:t>
            </a:r>
          </a:p>
          <a:p>
            <a:r>
              <a:rPr lang="en-US" dirty="0" smtClean="0"/>
              <a:t>       </a:t>
            </a:r>
            <a:r>
              <a:rPr lang="en-US" dirty="0" err="1" smtClean="0"/>
              <a:t>totalProfit</a:t>
            </a:r>
            <a:r>
              <a:rPr lang="en-US" dirty="0" smtClean="0"/>
              <a:t> += jobs[i].profit;</a:t>
            </a:r>
          </a:p>
          <a:p>
            <a:r>
              <a:rPr lang="en-US" dirty="0" smtClean="0"/>
              <a:t>                    </a:t>
            </a:r>
            <a:r>
              <a:rPr lang="en-US" dirty="0" err="1" smtClean="0"/>
              <a:t>jobSlot</a:t>
            </a:r>
            <a:r>
              <a:rPr lang="en-US" dirty="0" smtClean="0"/>
              <a:t>[jobs[i].id - 1] = j + 1;</a:t>
            </a:r>
          </a:p>
          <a:p>
            <a:r>
              <a:rPr lang="en-US" dirty="0" smtClean="0"/>
              <a:t> </a:t>
            </a:r>
            <a:r>
              <a:rPr lang="en-US" b="1" dirty="0" smtClean="0"/>
              <a:t>// Store allocated slot (1-based index)</a:t>
            </a:r>
          </a:p>
          <a:p>
            <a:r>
              <a:rPr lang="en-US" dirty="0" smtClean="0"/>
              <a:t>                    break;</a:t>
            </a:r>
          </a:p>
          <a:p>
            <a:r>
              <a:rPr lang="en-US" dirty="0" smtClean="0"/>
              <a:t>                }} }</a:t>
            </a:r>
          </a:p>
          <a:p>
            <a:r>
              <a:rPr lang="en-US" b="1" dirty="0" smtClean="0"/>
              <a:t>  // Output scheduled jobs with allocated slots</a:t>
            </a:r>
          </a:p>
          <a:p>
            <a:r>
              <a:rPr lang="en-US" dirty="0" smtClean="0"/>
              <a:t>        System.out.println("Job ID | Allocated Slot");</a:t>
            </a:r>
          </a:p>
          <a:p>
            <a:r>
              <a:rPr lang="en-US" dirty="0" smtClean="0"/>
              <a:t>        for (int i = 0; i &lt; n; i++) {</a:t>
            </a:r>
          </a:p>
          <a:p>
            <a:r>
              <a:rPr lang="en-US" dirty="0" smtClean="0"/>
              <a:t>            if (</a:t>
            </a:r>
            <a:r>
              <a:rPr lang="en-US" dirty="0" err="1" smtClean="0"/>
              <a:t>jobSlot</a:t>
            </a:r>
            <a:r>
              <a:rPr lang="en-US" dirty="0" smtClean="0"/>
              <a:t>[i] != 0)</a:t>
            </a:r>
          </a:p>
          <a:p>
            <a:r>
              <a:rPr lang="en-US" dirty="0" smtClean="0"/>
              <a:t>                System.out.println("J" + (i + 1) + "    | Slot " + </a:t>
            </a:r>
            <a:r>
              <a:rPr lang="en-US" dirty="0" err="1" smtClean="0"/>
              <a:t>jobSlot</a:t>
            </a:r>
            <a:r>
              <a:rPr lang="en-US" dirty="0" smtClean="0"/>
              <a:t>[i]);</a:t>
            </a:r>
          </a:p>
          <a:p>
            <a:r>
              <a:rPr lang="en-US" dirty="0" smtClean="0"/>
              <a:t>        }</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output</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Job ID | Allocated Slot</a:t>
            </a:r>
          </a:p>
          <a:p>
            <a:r>
              <a:rPr lang="en-US" dirty="0" smtClean="0"/>
              <a:t>J1    | Slot 7</a:t>
            </a:r>
          </a:p>
          <a:p>
            <a:r>
              <a:rPr lang="en-US" dirty="0" smtClean="0"/>
              <a:t>J2    | Slot 6</a:t>
            </a:r>
          </a:p>
          <a:p>
            <a:r>
              <a:rPr lang="en-US" dirty="0" smtClean="0"/>
              <a:t>J3    | Slot 5</a:t>
            </a:r>
          </a:p>
          <a:p>
            <a:r>
              <a:rPr lang="en-US" dirty="0" smtClean="0"/>
              <a:t>J4    | Slot 4</a:t>
            </a:r>
          </a:p>
          <a:p>
            <a:r>
              <a:rPr lang="en-US" dirty="0" smtClean="0"/>
              <a:t>J5    | Slot 3</a:t>
            </a:r>
          </a:p>
          <a:p>
            <a:r>
              <a:rPr lang="en-US" dirty="0" smtClean="0"/>
              <a:t>J6    | Slot 2</a:t>
            </a:r>
          </a:p>
          <a:p>
            <a:r>
              <a:rPr lang="en-US" dirty="0" smtClean="0"/>
              <a:t>J7    | Slot 1</a:t>
            </a:r>
          </a:p>
          <a:p>
            <a:r>
              <a:rPr lang="en-US" dirty="0" smtClean="0"/>
              <a:t>Maximum Profit: 156</a:t>
            </a:r>
          </a:p>
          <a:p>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ctr">
              <a:buNone/>
            </a:pPr>
            <a:endParaRPr lang="en-US" sz="4800" b="1" dirty="0" smtClean="0"/>
          </a:p>
          <a:p>
            <a:pPr algn="ctr">
              <a:buNone/>
            </a:pPr>
            <a:r>
              <a:rPr lang="en-US" sz="4800" b="1" dirty="0" smtClean="0"/>
              <a:t>minimum spanning tree-</a:t>
            </a:r>
            <a:r>
              <a:rPr lang="en-US" sz="4800" b="1" dirty="0" err="1" smtClean="0"/>
              <a:t>Kruskal’s</a:t>
            </a:r>
            <a:r>
              <a:rPr lang="en-US" sz="4800" b="1" dirty="0" smtClean="0"/>
              <a:t> and Prim’s algorithm</a:t>
            </a:r>
          </a:p>
          <a:p>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Minimum Spanning Tree (MST) Using Greedy Approach</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b="1" dirty="0" smtClean="0"/>
              <a:t>Minimum Spanning Tree (MST)</a:t>
            </a:r>
            <a:r>
              <a:rPr lang="en-US" dirty="0" smtClean="0"/>
              <a:t> is a subset of edges in a </a:t>
            </a:r>
            <a:r>
              <a:rPr lang="en-US" b="1" dirty="0" smtClean="0"/>
              <a:t>connected, weighted, and undirected graph</a:t>
            </a:r>
            <a:r>
              <a:rPr lang="en-US" dirty="0" smtClean="0"/>
              <a:t> that:</a:t>
            </a:r>
          </a:p>
          <a:p>
            <a:pPr lvl="1" algn="just"/>
            <a:r>
              <a:rPr lang="en-US" b="1" dirty="0" smtClean="0"/>
              <a:t>Connects all vertices</a:t>
            </a:r>
            <a:r>
              <a:rPr lang="en-US" dirty="0" smtClean="0"/>
              <a:t> without forming cycles.</a:t>
            </a:r>
          </a:p>
          <a:p>
            <a:pPr lvl="1" algn="just"/>
            <a:r>
              <a:rPr lang="en-US" b="1" dirty="0" smtClean="0"/>
              <a:t>Has minimum total edge weight</a:t>
            </a:r>
            <a:r>
              <a:rPr lang="en-US" dirty="0" smtClean="0"/>
              <a:t> among all spanning trees.</a:t>
            </a:r>
          </a:p>
          <a:p>
            <a:pPr algn="just"/>
            <a:r>
              <a:rPr lang="en-US" b="1" dirty="0" smtClean="0"/>
              <a:t>Why is it called Greedy Algorithm?</a:t>
            </a:r>
          </a:p>
          <a:p>
            <a:pPr algn="just"/>
            <a:r>
              <a:rPr lang="en-US" dirty="0" smtClean="0"/>
              <a:t>It is called greedy because it chooses the optimal solution present at the moment and not the optimal solution as a whole. </a:t>
            </a:r>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How to find cost of Minimum Spanning Tree?</a:t>
            </a:r>
            <a:br>
              <a:rPr lang="en-US" b="1" dirty="0" smtClean="0"/>
            </a:br>
            <a:endParaRPr lang="en-US" dirty="0"/>
          </a:p>
        </p:txBody>
      </p:sp>
      <p:sp>
        <p:nvSpPr>
          <p:cNvPr id="3" name="Content Placeholder 2"/>
          <p:cNvSpPr>
            <a:spLocks noGrp="1"/>
          </p:cNvSpPr>
          <p:nvPr>
            <p:ph idx="1"/>
          </p:nvPr>
        </p:nvSpPr>
        <p:spPr/>
        <p:txBody>
          <a:bodyPr/>
          <a:lstStyle/>
          <a:p>
            <a:r>
              <a:rPr lang="en-US" dirty="0" smtClean="0"/>
              <a:t>The </a:t>
            </a:r>
            <a:r>
              <a:rPr lang="en-US" b="1" dirty="0" smtClean="0"/>
              <a:t>cost of a spanning tree</a:t>
            </a:r>
            <a:r>
              <a:rPr lang="en-US" dirty="0" smtClean="0"/>
              <a:t> is the </a:t>
            </a:r>
            <a:r>
              <a:rPr lang="en-US" b="1" dirty="0" smtClean="0"/>
              <a:t>sum of the weights of its edges</a:t>
            </a:r>
            <a:r>
              <a:rPr lang="en-US" dirty="0" smtClean="0"/>
              <a:t>.</a:t>
            </a:r>
          </a:p>
          <a:p>
            <a:r>
              <a:rPr lang="en-US" dirty="0" smtClean="0"/>
              <a:t> A </a:t>
            </a:r>
            <a:r>
              <a:rPr lang="en-US" b="1" dirty="0" smtClean="0"/>
              <a:t>Minimum Spanning Tree (MST)</a:t>
            </a:r>
            <a:r>
              <a:rPr lang="en-US" dirty="0" smtClean="0"/>
              <a:t> is the spanning tree with the </a:t>
            </a:r>
            <a:r>
              <a:rPr lang="en-US" b="1" dirty="0" smtClean="0"/>
              <a:t>lowest cost</a:t>
            </a:r>
            <a:r>
              <a:rPr lang="en-US" dirty="0" smtClean="0"/>
              <a:t> among all possible spanning trees. </a:t>
            </a:r>
          </a:p>
          <a:p>
            <a:r>
              <a:rPr lang="en-US" dirty="0" smtClean="0"/>
              <a:t>There can be </a:t>
            </a:r>
            <a:r>
              <a:rPr lang="en-US" b="1" dirty="0" smtClean="0"/>
              <a:t>multiple MSTs</a:t>
            </a:r>
            <a:r>
              <a:rPr lang="en-US" dirty="0" smtClean="0"/>
              <a:t> for a graph. </a:t>
            </a:r>
          </a:p>
          <a:p>
            <a:r>
              <a:rPr lang="en-US" dirty="0" smtClean="0"/>
              <a:t>All vertices are connected without cycles.</a:t>
            </a:r>
          </a:p>
          <a:p>
            <a:r>
              <a:rPr lang="en-US" b="1" dirty="0" smtClean="0"/>
              <a:t>For n vertices, the MST has n-1 edges</a:t>
            </a:r>
            <a:r>
              <a:rPr lang="en-US" dirty="0" smtClean="0"/>
              <a:t>. </a:t>
            </a:r>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rmAutofit fontScale="92500" lnSpcReduction="10000"/>
          </a:bodyPr>
          <a:lstStyle/>
          <a:p>
            <a:r>
              <a:rPr lang="en-US" b="1" dirty="0" smtClean="0"/>
              <a:t>Algorithms to Find MST: </a:t>
            </a:r>
          </a:p>
          <a:p>
            <a:r>
              <a:rPr lang="en-US" b="1" dirty="0" smtClean="0"/>
              <a:t>Prim’s Algorithm</a:t>
            </a:r>
            <a:r>
              <a:rPr lang="en-US" dirty="0" smtClean="0"/>
              <a:t> – Greedy approach, builds MST one edge at a time.</a:t>
            </a:r>
          </a:p>
          <a:p>
            <a:r>
              <a:rPr lang="en-US" b="1" dirty="0" smtClean="0"/>
              <a:t>Kruskal’s Algorithm</a:t>
            </a:r>
            <a:r>
              <a:rPr lang="en-US" dirty="0" smtClean="0"/>
              <a:t> – Sorts edges by weight and picks the smallest while avoiding cycles.</a:t>
            </a:r>
          </a:p>
          <a:p>
            <a:pPr>
              <a:buNone/>
            </a:pPr>
            <a:r>
              <a:rPr lang="en-US" b="1" dirty="0" smtClean="0"/>
              <a:t>Applications of MST:</a:t>
            </a:r>
          </a:p>
          <a:p>
            <a:r>
              <a:rPr lang="en-US" b="1" dirty="0" smtClean="0"/>
              <a:t>Network Design</a:t>
            </a:r>
            <a:r>
              <a:rPr lang="en-US" dirty="0" smtClean="0"/>
              <a:t> (Internet, roads, electrical circuits).</a:t>
            </a:r>
          </a:p>
          <a:p>
            <a:r>
              <a:rPr lang="en-US" b="1" dirty="0" smtClean="0"/>
              <a:t>Clustering in Machine Learning</a:t>
            </a:r>
            <a:r>
              <a:rPr lang="en-US" dirty="0" smtClean="0"/>
              <a:t>.</a:t>
            </a:r>
          </a:p>
          <a:p>
            <a:r>
              <a:rPr lang="en-US" b="1" dirty="0" smtClean="0"/>
              <a:t>Approximation Algorithms for NP-Hard Problems</a:t>
            </a:r>
            <a:r>
              <a:rPr lang="en-US" dirty="0" smtClean="0"/>
              <a:t>.</a:t>
            </a:r>
          </a:p>
          <a:p>
            <a:r>
              <a:rPr lang="en-US" dirty="0" smtClean="0"/>
              <a:t>MST helps in </a:t>
            </a:r>
            <a:r>
              <a:rPr lang="en-US" b="1" dirty="0" smtClean="0"/>
              <a:t>efficiently connecting nodes</a:t>
            </a:r>
            <a:r>
              <a:rPr lang="en-US" dirty="0" smtClean="0"/>
              <a:t> with </a:t>
            </a:r>
            <a:r>
              <a:rPr lang="en-US" b="1" dirty="0" smtClean="0"/>
              <a:t>minimum cost</a:t>
            </a:r>
            <a:r>
              <a:rPr lang="en-US" dirty="0" smtClean="0"/>
              <a:t>.</a:t>
            </a:r>
          </a:p>
          <a:p>
            <a:endParaRPr lang="en-US" dirty="0" smtClean="0"/>
          </a:p>
          <a:p>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ctr">
              <a:buNone/>
            </a:pPr>
            <a:endParaRPr lang="en-US" sz="8000" b="1" dirty="0" smtClean="0"/>
          </a:p>
          <a:p>
            <a:pPr algn="ctr">
              <a:buNone/>
            </a:pPr>
            <a:r>
              <a:rPr lang="en-US" sz="8000" b="1" dirty="0" smtClean="0"/>
              <a:t>Prim’s Algorithm</a:t>
            </a:r>
            <a:endParaRPr lang="en-US" sz="80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b="1" dirty="0" smtClean="0"/>
              <a:t>Prim’s Algorithm</a:t>
            </a:r>
            <a:endParaRPr lang="en-US" dirty="0"/>
          </a:p>
        </p:txBody>
      </p:sp>
      <p:sp>
        <p:nvSpPr>
          <p:cNvPr id="3" name="Content Placeholder 2"/>
          <p:cNvSpPr>
            <a:spLocks noGrp="1"/>
          </p:cNvSpPr>
          <p:nvPr>
            <p:ph idx="1"/>
          </p:nvPr>
        </p:nvSpPr>
        <p:spPr>
          <a:xfrm>
            <a:off x="457200" y="1447800"/>
            <a:ext cx="8229600" cy="5105400"/>
          </a:xfrm>
        </p:spPr>
        <p:txBody>
          <a:bodyPr>
            <a:normAutofit lnSpcReduction="10000"/>
          </a:bodyPr>
          <a:lstStyle/>
          <a:p>
            <a:pPr>
              <a:buNone/>
            </a:pPr>
            <a:r>
              <a:rPr lang="en-US" b="1" dirty="0" smtClean="0"/>
              <a:t>What is Prim’s Algorithm?</a:t>
            </a:r>
          </a:p>
          <a:p>
            <a:r>
              <a:rPr lang="en-US" dirty="0" smtClean="0"/>
              <a:t>Prim’s Algorithm is a </a:t>
            </a:r>
            <a:r>
              <a:rPr lang="en-US" b="1" dirty="0" smtClean="0"/>
              <a:t>Greedy Algorithm</a:t>
            </a:r>
            <a:r>
              <a:rPr lang="en-US" dirty="0" smtClean="0"/>
              <a:t> used to find the </a:t>
            </a:r>
            <a:r>
              <a:rPr lang="en-US" b="1" dirty="0" smtClean="0"/>
              <a:t>Minimum Spanning Tree (MST)</a:t>
            </a:r>
            <a:r>
              <a:rPr lang="en-US" dirty="0" smtClean="0"/>
              <a:t> of a </a:t>
            </a:r>
            <a:r>
              <a:rPr lang="en-US" b="1" dirty="0" smtClean="0"/>
              <a:t>connected, weighted, undirected graph</a:t>
            </a:r>
            <a:r>
              <a:rPr lang="en-US" dirty="0" smtClean="0"/>
              <a:t>.</a:t>
            </a:r>
          </a:p>
          <a:p>
            <a:pPr>
              <a:buNone/>
            </a:pPr>
            <a:r>
              <a:rPr lang="en-US" b="1" dirty="0" smtClean="0"/>
              <a:t>How Prim’s Algorithm Works?</a:t>
            </a:r>
          </a:p>
          <a:p>
            <a:r>
              <a:rPr lang="en-US" b="1" dirty="0" smtClean="0"/>
              <a:t>Start with any vertex</a:t>
            </a:r>
            <a:r>
              <a:rPr lang="en-US" dirty="0" smtClean="0"/>
              <a:t> as the initial MST.</a:t>
            </a:r>
          </a:p>
          <a:p>
            <a:r>
              <a:rPr lang="en-US" b="1" dirty="0" smtClean="0"/>
              <a:t>Select the smallest edge</a:t>
            </a:r>
            <a:r>
              <a:rPr lang="en-US" dirty="0" smtClean="0"/>
              <a:t> that connects a new vertex to the MST.</a:t>
            </a:r>
          </a:p>
          <a:p>
            <a:r>
              <a:rPr lang="en-US" b="1" dirty="0" smtClean="0"/>
              <a:t>Repeat until all vertices are included</a:t>
            </a:r>
            <a:r>
              <a:rPr lang="en-US" dirty="0" smtClean="0"/>
              <a:t> in the MST.</a:t>
            </a:r>
          </a:p>
          <a:p>
            <a:endParaRPr lang="en-US" dirty="0" smtClean="0"/>
          </a:p>
          <a:p>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Prim’s Algorithm</a:t>
            </a:r>
            <a:endParaRPr lang="en-US" dirty="0"/>
          </a:p>
        </p:txBody>
      </p:sp>
      <p:sp>
        <p:nvSpPr>
          <p:cNvPr id="3" name="Content Placeholder 2"/>
          <p:cNvSpPr>
            <a:spLocks noGrp="1"/>
          </p:cNvSpPr>
          <p:nvPr>
            <p:ph idx="1"/>
          </p:nvPr>
        </p:nvSpPr>
        <p:spPr>
          <a:xfrm>
            <a:off x="457200" y="1371600"/>
            <a:ext cx="8229600" cy="4953000"/>
          </a:xfrm>
        </p:spPr>
        <p:txBody>
          <a:bodyPr>
            <a:noAutofit/>
          </a:bodyPr>
          <a:lstStyle/>
          <a:p>
            <a:pPr>
              <a:buNone/>
            </a:pPr>
            <a:r>
              <a:rPr lang="en-US" sz="2400" b="1" dirty="0" smtClean="0"/>
              <a:t>Properties of Prim’s Algorithm</a:t>
            </a:r>
          </a:p>
          <a:p>
            <a:r>
              <a:rPr lang="en-US" sz="2400" dirty="0" smtClean="0"/>
              <a:t>Always maintains a </a:t>
            </a:r>
            <a:r>
              <a:rPr lang="en-US" sz="2400" b="1" dirty="0" smtClean="0"/>
              <a:t>connected MST</a:t>
            </a:r>
            <a:r>
              <a:rPr lang="en-US" sz="2400" dirty="0" smtClean="0"/>
              <a:t> while adding edges.</a:t>
            </a:r>
          </a:p>
          <a:p>
            <a:r>
              <a:rPr lang="en-US" sz="2400" dirty="0" smtClean="0"/>
              <a:t>Uses </a:t>
            </a:r>
            <a:r>
              <a:rPr lang="en-US" sz="2400" b="1" dirty="0" smtClean="0"/>
              <a:t>Priority Queue (Min Heap)</a:t>
            </a:r>
            <a:r>
              <a:rPr lang="en-US" sz="2400" dirty="0" smtClean="0"/>
              <a:t> for efficiency.</a:t>
            </a:r>
          </a:p>
          <a:p>
            <a:pPr>
              <a:buNone/>
            </a:pPr>
            <a:r>
              <a:rPr lang="en-US" sz="2400" b="1" dirty="0" smtClean="0"/>
              <a:t>Why Prim’s is a Greedy Algorithm?</a:t>
            </a:r>
          </a:p>
          <a:p>
            <a:r>
              <a:rPr lang="en-US" sz="2400" dirty="0" smtClean="0"/>
              <a:t>At each step, it </a:t>
            </a:r>
            <a:r>
              <a:rPr lang="en-US" sz="2400" b="1" dirty="0" smtClean="0"/>
              <a:t>chooses the smallest edge</a:t>
            </a:r>
            <a:r>
              <a:rPr lang="en-US" sz="2400" dirty="0" smtClean="0"/>
              <a:t> that expands the MST.</a:t>
            </a:r>
          </a:p>
          <a:p>
            <a:r>
              <a:rPr lang="en-US" sz="2400" dirty="0" smtClean="0"/>
              <a:t>The </a:t>
            </a:r>
            <a:r>
              <a:rPr lang="en-US" sz="2400" b="1" dirty="0" smtClean="0"/>
              <a:t>local optimal choice</a:t>
            </a:r>
            <a:r>
              <a:rPr lang="en-US" sz="2400" dirty="0" smtClean="0"/>
              <a:t> leads to a </a:t>
            </a:r>
            <a:r>
              <a:rPr lang="en-US" sz="2400" b="1" dirty="0" smtClean="0"/>
              <a:t>globally optimal MST</a:t>
            </a:r>
            <a:r>
              <a:rPr lang="en-US" sz="2400" dirty="0" smtClean="0"/>
              <a:t>.</a:t>
            </a:r>
          </a:p>
          <a:p>
            <a:r>
              <a:rPr lang="en-US" sz="2400" b="1" dirty="0" smtClean="0"/>
              <a:t>Prim’s Algorithm is used for network design, clustering, and efficient connectivity.</a:t>
            </a:r>
            <a:endParaRPr lang="en-US" sz="2400" dirty="0" smtClean="0"/>
          </a:p>
          <a:p>
            <a:endParaRPr lang="en-US" sz="24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Example of prim's algorithm</a:t>
            </a:r>
            <a:br>
              <a:rPr lang="en-US" dirty="0" smtClean="0"/>
            </a:br>
            <a:endParaRPr lang="en-US"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1143000" y="1295400"/>
            <a:ext cx="6934200" cy="4572000"/>
          </a:xfrm>
          <a:prstGeom prst="rect">
            <a:avLst/>
          </a:prstGeom>
          <a:noFill/>
          <a:ln w="9525">
            <a:noFill/>
            <a:miter lim="800000"/>
            <a:headEnd/>
            <a:tailEnd/>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248400"/>
          </a:xfrm>
        </p:spPr>
        <p:txBody>
          <a:bodyPr/>
          <a:lstStyle/>
          <a:p>
            <a:r>
              <a:rPr lang="en-US" b="1" dirty="0" smtClean="0"/>
              <a:t>Step 1 -</a:t>
            </a:r>
            <a:r>
              <a:rPr lang="en-US" dirty="0" smtClean="0"/>
              <a:t> First, we have to choose a vertex from the above graph. Let's choose B.</a:t>
            </a:r>
          </a:p>
          <a:p>
            <a:pPr algn="just"/>
            <a:r>
              <a:rPr lang="en-US" b="1" dirty="0" smtClean="0"/>
              <a:t>Step 2 -</a:t>
            </a:r>
            <a:r>
              <a:rPr lang="en-US" dirty="0" smtClean="0"/>
              <a:t> Now, we have to choose and add the shortest edge from vertex B. </a:t>
            </a:r>
          </a:p>
          <a:p>
            <a:pPr algn="just"/>
            <a:r>
              <a:rPr lang="en-US" dirty="0" smtClean="0"/>
              <a:t>There are two edges from vertex B that are B to C with weight 10 and edge B to D with weight 4.</a:t>
            </a:r>
          </a:p>
          <a:p>
            <a:pPr algn="just"/>
            <a:r>
              <a:rPr lang="en-US" dirty="0" smtClean="0"/>
              <a:t> Among the edges, the edge BD has the minimum weight. So, add it to the MST.</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6858000" y="838200"/>
            <a:ext cx="990600" cy="685800"/>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3276600" y="5257800"/>
            <a:ext cx="1371600" cy="1351429"/>
          </a:xfrm>
          <a:prstGeom prst="rect">
            <a:avLst/>
          </a:prstGeom>
          <a:noFill/>
          <a:ln w="9525">
            <a:noFill/>
            <a:miter lim="800000"/>
            <a:headEnd/>
            <a:tailEnd/>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algn="just"/>
            <a:r>
              <a:rPr lang="en-US" b="1" dirty="0" smtClean="0"/>
              <a:t>Step 3 -</a:t>
            </a:r>
            <a:r>
              <a:rPr lang="en-US" dirty="0" smtClean="0"/>
              <a:t> Now, again, choose the edge with the minimum weight among all the other edges. </a:t>
            </a:r>
          </a:p>
          <a:p>
            <a:pPr algn="just"/>
            <a:r>
              <a:rPr lang="en-US" dirty="0" smtClean="0"/>
              <a:t>In this case, the edges DE and CD are such edges. </a:t>
            </a:r>
          </a:p>
          <a:p>
            <a:pPr algn="just"/>
            <a:r>
              <a:rPr lang="en-US" dirty="0" smtClean="0"/>
              <a:t>Add them to MST and explore the adjacent of C, i.e., E and A. </a:t>
            </a:r>
          </a:p>
          <a:p>
            <a:pPr algn="just"/>
            <a:r>
              <a:rPr lang="en-US" dirty="0" smtClean="0"/>
              <a:t>So, select the edge DE and add it to the MST.</a:t>
            </a:r>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2514600" y="4267200"/>
            <a:ext cx="3352800" cy="2352675"/>
          </a:xfrm>
          <a:prstGeom prst="rect">
            <a:avLst/>
          </a:prstGeom>
          <a:noFill/>
          <a:ln w="9525">
            <a:noFill/>
            <a:miter lim="800000"/>
            <a:headEnd/>
            <a:tailEnd/>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r>
              <a:rPr lang="en-US" b="1" dirty="0" smtClean="0"/>
              <a:t>Step 4 -</a:t>
            </a:r>
            <a:r>
              <a:rPr lang="en-US" dirty="0" smtClean="0"/>
              <a:t> Now, select the edge CD, and add it to the MST.</a:t>
            </a:r>
          </a:p>
          <a:p>
            <a:endParaRPr lang="en-US" dirty="0" smtClean="0"/>
          </a:p>
          <a:p>
            <a:endParaRPr lang="en-US" dirty="0" smtClean="0"/>
          </a:p>
          <a:p>
            <a:endParaRPr lang="en-US" dirty="0" smtClean="0"/>
          </a:p>
          <a:p>
            <a:endParaRPr lang="en-US" dirty="0" smtClean="0"/>
          </a:p>
        </p:txBody>
      </p:sp>
      <p:pic>
        <p:nvPicPr>
          <p:cNvPr id="4098" name="Picture 2"/>
          <p:cNvPicPr>
            <a:picLocks noChangeAspect="1" noChangeArrowheads="1"/>
          </p:cNvPicPr>
          <p:nvPr/>
        </p:nvPicPr>
        <p:blipFill>
          <a:blip r:embed="rId2" cstate="print"/>
          <a:srcRect/>
          <a:stretch>
            <a:fillRect/>
          </a:stretch>
        </p:blipFill>
        <p:spPr bwMode="auto">
          <a:xfrm>
            <a:off x="1371600" y="1905000"/>
            <a:ext cx="5133975" cy="3886200"/>
          </a:xfrm>
          <a:prstGeom prst="rect">
            <a:avLst/>
          </a:prstGeom>
          <a:noFill/>
          <a:ln w="9525">
            <a:noFill/>
            <a:miter lim="800000"/>
            <a:headEnd/>
            <a:tailEnd/>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172200"/>
          </a:xfrm>
        </p:spPr>
        <p:txBody>
          <a:bodyPr>
            <a:normAutofit fontScale="92500" lnSpcReduction="20000"/>
          </a:bodyPr>
          <a:lstStyle/>
          <a:p>
            <a:pPr algn="just"/>
            <a:r>
              <a:rPr lang="en-US" b="1" dirty="0" smtClean="0"/>
              <a:t>Step 5 -</a:t>
            </a:r>
            <a:r>
              <a:rPr lang="en-US" dirty="0" smtClean="0"/>
              <a:t> Now, choose the edge CA. Here, we cannot select the edge CE as it would create a cycle to the graph. So, choose the edge CA and add it to the MST</a:t>
            </a:r>
          </a:p>
          <a:p>
            <a:pPr algn="just"/>
            <a:endParaRPr lang="en-US" dirty="0" smtClean="0"/>
          </a:p>
          <a:p>
            <a:pPr algn="just"/>
            <a:endParaRPr lang="en-US" dirty="0" smtClean="0"/>
          </a:p>
          <a:p>
            <a:pPr algn="just"/>
            <a:endParaRPr lang="en-US" dirty="0" smtClean="0"/>
          </a:p>
          <a:p>
            <a:pPr algn="just"/>
            <a:endParaRPr lang="en-US" dirty="0" smtClean="0"/>
          </a:p>
          <a:p>
            <a:pPr algn="just"/>
            <a:endParaRPr lang="en-US" dirty="0" smtClean="0"/>
          </a:p>
          <a:p>
            <a:endParaRPr lang="en-US" dirty="0" smtClean="0"/>
          </a:p>
          <a:p>
            <a:r>
              <a:rPr lang="en-US" dirty="0" smtClean="0"/>
              <a:t>So, the graph produced in step 5 is the minimum spanning tree of the given graph. The cost of the MST is given below -</a:t>
            </a:r>
          </a:p>
          <a:p>
            <a:r>
              <a:rPr lang="en-US" b="1" dirty="0" smtClean="0"/>
              <a:t>Cost of MST = 4 + 2 + 1 + 3 = 10 </a:t>
            </a:r>
            <a:r>
              <a:rPr lang="en-US" dirty="0" smtClean="0"/>
              <a:t>units.</a:t>
            </a:r>
          </a:p>
          <a:p>
            <a:pPr algn="just"/>
            <a:endParaRPr lang="en-US" dirty="0"/>
          </a:p>
        </p:txBody>
      </p:sp>
      <p:pic>
        <p:nvPicPr>
          <p:cNvPr id="5122" name="Picture 2"/>
          <p:cNvPicPr>
            <a:picLocks noChangeAspect="1" noChangeArrowheads="1"/>
          </p:cNvPicPr>
          <p:nvPr/>
        </p:nvPicPr>
        <p:blipFill>
          <a:blip r:embed="rId2" cstate="print"/>
          <a:srcRect/>
          <a:stretch>
            <a:fillRect/>
          </a:stretch>
        </p:blipFill>
        <p:spPr bwMode="auto">
          <a:xfrm>
            <a:off x="1219200" y="2057400"/>
            <a:ext cx="6629400" cy="2143125"/>
          </a:xfrm>
          <a:prstGeom prst="rect">
            <a:avLst/>
          </a:prstGeom>
          <a:noFill/>
          <a:ln w="9525">
            <a:noFill/>
            <a:miter lim="800000"/>
            <a:headEnd/>
            <a:tailEnd/>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Prim’s Algorithm</a:t>
            </a:r>
            <a:endParaRPr lang="en-US" dirty="0"/>
          </a:p>
        </p:txBody>
      </p:sp>
      <p:sp>
        <p:nvSpPr>
          <p:cNvPr id="3" name="Content Placeholder 2"/>
          <p:cNvSpPr>
            <a:spLocks noGrp="1"/>
          </p:cNvSpPr>
          <p:nvPr>
            <p:ph idx="1"/>
          </p:nvPr>
        </p:nvSpPr>
        <p:spPr>
          <a:xfrm>
            <a:off x="457200" y="1600200"/>
            <a:ext cx="8534400" cy="4525963"/>
          </a:xfrm>
        </p:spPr>
        <p:txBody>
          <a:bodyPr>
            <a:normAutofit fontScale="92500" lnSpcReduction="20000"/>
          </a:bodyPr>
          <a:lstStyle/>
          <a:p>
            <a:pPr>
              <a:buNone/>
            </a:pPr>
            <a:r>
              <a:rPr lang="en-US" dirty="0" smtClean="0"/>
              <a:t>A = ∅;  </a:t>
            </a:r>
            <a:r>
              <a:rPr lang="en-US" sz="2400" dirty="0" smtClean="0"/>
              <a:t>//A stores the edges of the MST (initially empty).</a:t>
            </a:r>
            <a:endParaRPr lang="en-US" dirty="0" smtClean="0"/>
          </a:p>
          <a:p>
            <a:pPr>
              <a:buNone/>
            </a:pPr>
            <a:r>
              <a:rPr lang="en-US" dirty="0" smtClean="0"/>
              <a:t>U = {1}; </a:t>
            </a:r>
            <a:r>
              <a:rPr lang="en-US" sz="2400" dirty="0" smtClean="0"/>
              <a:t>//U starts with a single vertex (let’s say vertex 1).</a:t>
            </a:r>
          </a:p>
          <a:p>
            <a:pPr>
              <a:buNone/>
            </a:pPr>
            <a:r>
              <a:rPr lang="en-US" dirty="0" smtClean="0"/>
              <a:t> while (U ≠ V) </a:t>
            </a:r>
            <a:r>
              <a:rPr lang="en-US" sz="2400" dirty="0" smtClean="0"/>
              <a:t>//Loop Until All Vertices are in U</a:t>
            </a:r>
          </a:p>
          <a:p>
            <a:pPr>
              <a:buNone/>
            </a:pPr>
            <a:r>
              <a:rPr lang="en-US" dirty="0" smtClean="0"/>
              <a:t>	let (u, v) be the least weighted edge such that  //</a:t>
            </a:r>
            <a:r>
              <a:rPr lang="en-US" b="1" dirty="0" smtClean="0"/>
              <a:t>Find the smallest edge (u, v)</a:t>
            </a:r>
            <a:r>
              <a:rPr lang="en-US" dirty="0" smtClean="0"/>
              <a:t> where</a:t>
            </a:r>
          </a:p>
          <a:p>
            <a:pPr>
              <a:buNone/>
            </a:pPr>
            <a:r>
              <a:rPr lang="en-US" dirty="0" smtClean="0"/>
              <a:t>	v ∈ V - U and u ∈ U;  </a:t>
            </a:r>
            <a:r>
              <a:rPr lang="en-US" b="1" dirty="0" smtClean="0"/>
              <a:t>//u is in U (already in MST). And v is in V - U (not yet in MST).</a:t>
            </a:r>
          </a:p>
          <a:p>
            <a:pPr>
              <a:buNone/>
            </a:pPr>
            <a:r>
              <a:rPr lang="en-US" dirty="0" smtClean="0"/>
              <a:t>	A = A ∪ {(u, v)}  //Add the edge (u, v) to MST (A).</a:t>
            </a:r>
          </a:p>
          <a:p>
            <a:pPr>
              <a:buNone/>
            </a:pPr>
            <a:r>
              <a:rPr lang="en-US" dirty="0" smtClean="0"/>
              <a:t>	U = U ∪ {v} </a:t>
            </a:r>
            <a:r>
              <a:rPr lang="en-US" sz="2600" dirty="0" smtClean="0"/>
              <a:t>//add vertex v to U (mark v as included in MST).</a:t>
            </a:r>
          </a:p>
          <a:p>
            <a:pPr>
              <a:buNone/>
            </a:pPr>
            <a:r>
              <a:rPr lang="en-US" sz="2400" dirty="0" smtClean="0"/>
              <a:t>                                   //Repeat Until U Contains All Vertices (U = V)</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2</a:t>
            </a:r>
            <a:endParaRPr lang="en-US" dirty="0"/>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cstate="print"/>
          <a:srcRect/>
          <a:stretch>
            <a:fillRect/>
          </a:stretch>
        </p:blipFill>
        <p:spPr bwMode="auto">
          <a:xfrm>
            <a:off x="1219200" y="2133601"/>
            <a:ext cx="6858000" cy="3810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ChangeAspect="1" noChangeArrowheads="1"/>
          </p:cNvPicPr>
          <p:nvPr/>
        </p:nvPicPr>
        <p:blipFill>
          <a:blip r:embed="rId2" cstate="print"/>
          <a:srcRect/>
          <a:stretch>
            <a:fillRect/>
          </a:stretch>
        </p:blipFill>
        <p:spPr bwMode="auto">
          <a:xfrm>
            <a:off x="609600" y="228600"/>
            <a:ext cx="6553200" cy="3124200"/>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990600" y="3733800"/>
            <a:ext cx="7315200" cy="2743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ChangeAspect="1" noChangeArrowheads="1"/>
          </p:cNvPicPr>
          <p:nvPr/>
        </p:nvPicPr>
        <p:blipFill>
          <a:blip r:embed="rId2" cstate="print"/>
          <a:srcRect/>
          <a:stretch>
            <a:fillRect/>
          </a:stretch>
        </p:blipFill>
        <p:spPr bwMode="auto">
          <a:xfrm>
            <a:off x="838200" y="457200"/>
            <a:ext cx="6781800" cy="2971800"/>
          </a:xfrm>
          <a:prstGeom prst="rect">
            <a:avLst/>
          </a:prstGeom>
          <a:noFill/>
          <a:ln w="9525">
            <a:noFill/>
            <a:miter lim="800000"/>
            <a:headEnd/>
            <a:tailEnd/>
          </a:ln>
        </p:spPr>
      </p:pic>
      <p:pic>
        <p:nvPicPr>
          <p:cNvPr id="3075" name="Picture 3"/>
          <p:cNvPicPr>
            <a:picLocks noChangeAspect="1" noChangeArrowheads="1"/>
          </p:cNvPicPr>
          <p:nvPr/>
        </p:nvPicPr>
        <p:blipFill>
          <a:blip r:embed="rId3" cstate="print"/>
          <a:srcRect/>
          <a:stretch>
            <a:fillRect/>
          </a:stretch>
        </p:blipFill>
        <p:spPr bwMode="auto">
          <a:xfrm>
            <a:off x="914400" y="3657600"/>
            <a:ext cx="7162800" cy="2895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8" name="Picture 2"/>
          <p:cNvPicPr>
            <a:picLocks noChangeAspect="1" noChangeArrowheads="1"/>
          </p:cNvPicPr>
          <p:nvPr/>
        </p:nvPicPr>
        <p:blipFill>
          <a:blip r:embed="rId2" cstate="print"/>
          <a:srcRect/>
          <a:stretch>
            <a:fillRect/>
          </a:stretch>
        </p:blipFill>
        <p:spPr bwMode="auto">
          <a:xfrm>
            <a:off x="1143000" y="457200"/>
            <a:ext cx="6477000" cy="2819400"/>
          </a:xfrm>
          <a:prstGeom prst="rect">
            <a:avLst/>
          </a:prstGeom>
          <a:noFill/>
          <a:ln w="9525">
            <a:noFill/>
            <a:miter lim="800000"/>
            <a:headEnd/>
            <a:tailEnd/>
          </a:ln>
        </p:spPr>
      </p:pic>
      <p:pic>
        <p:nvPicPr>
          <p:cNvPr id="4099" name="Picture 3"/>
          <p:cNvPicPr>
            <a:picLocks noChangeAspect="1" noChangeArrowheads="1"/>
          </p:cNvPicPr>
          <p:nvPr/>
        </p:nvPicPr>
        <p:blipFill>
          <a:blip r:embed="rId3" cstate="print"/>
          <a:srcRect/>
          <a:stretch>
            <a:fillRect/>
          </a:stretch>
        </p:blipFill>
        <p:spPr bwMode="auto">
          <a:xfrm>
            <a:off x="1371600" y="3581400"/>
            <a:ext cx="6553200" cy="2971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122" name="Picture 2"/>
          <p:cNvPicPr>
            <a:picLocks noChangeAspect="1" noChangeArrowheads="1"/>
          </p:cNvPicPr>
          <p:nvPr/>
        </p:nvPicPr>
        <p:blipFill>
          <a:blip r:embed="rId2" cstate="print"/>
          <a:srcRect/>
          <a:stretch>
            <a:fillRect/>
          </a:stretch>
        </p:blipFill>
        <p:spPr bwMode="auto">
          <a:xfrm>
            <a:off x="1295400" y="228600"/>
            <a:ext cx="6629400" cy="3048000"/>
          </a:xfrm>
          <a:prstGeom prst="rect">
            <a:avLst/>
          </a:prstGeom>
          <a:noFill/>
          <a:ln w="9525">
            <a:noFill/>
            <a:miter lim="800000"/>
            <a:headEnd/>
            <a:tailEnd/>
          </a:ln>
        </p:spPr>
      </p:pic>
      <p:pic>
        <p:nvPicPr>
          <p:cNvPr id="5123" name="Picture 3"/>
          <p:cNvPicPr>
            <a:picLocks noChangeAspect="1" noChangeArrowheads="1"/>
          </p:cNvPicPr>
          <p:nvPr/>
        </p:nvPicPr>
        <p:blipFill>
          <a:blip r:embed="rId3" cstate="print"/>
          <a:srcRect/>
          <a:stretch>
            <a:fillRect/>
          </a:stretch>
        </p:blipFill>
        <p:spPr bwMode="auto">
          <a:xfrm>
            <a:off x="990600" y="3429000"/>
            <a:ext cx="6858000" cy="2971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6" name="Picture 2"/>
          <p:cNvPicPr>
            <a:picLocks noChangeAspect="1" noChangeArrowheads="1"/>
          </p:cNvPicPr>
          <p:nvPr/>
        </p:nvPicPr>
        <p:blipFill>
          <a:blip r:embed="rId2" cstate="print"/>
          <a:srcRect/>
          <a:stretch>
            <a:fillRect/>
          </a:stretch>
        </p:blipFill>
        <p:spPr bwMode="auto">
          <a:xfrm>
            <a:off x="762000" y="304800"/>
            <a:ext cx="7086600" cy="3352800"/>
          </a:xfrm>
          <a:prstGeom prst="rect">
            <a:avLst/>
          </a:prstGeom>
          <a:noFill/>
          <a:ln w="9525">
            <a:noFill/>
            <a:miter lim="800000"/>
            <a:headEnd/>
            <a:tailEnd/>
          </a:ln>
        </p:spPr>
      </p:pic>
      <p:pic>
        <p:nvPicPr>
          <p:cNvPr id="6148" name="Picture 4"/>
          <p:cNvPicPr>
            <a:picLocks noChangeAspect="1" noChangeArrowheads="1"/>
          </p:cNvPicPr>
          <p:nvPr/>
        </p:nvPicPr>
        <p:blipFill>
          <a:blip r:embed="rId3" cstate="print"/>
          <a:srcRect/>
          <a:stretch>
            <a:fillRect/>
          </a:stretch>
        </p:blipFill>
        <p:spPr bwMode="auto">
          <a:xfrm>
            <a:off x="4629150" y="3962400"/>
            <a:ext cx="4362450" cy="2352675"/>
          </a:xfrm>
          <a:prstGeom prst="rect">
            <a:avLst/>
          </a:prstGeom>
          <a:noFill/>
          <a:ln w="9525">
            <a:noFill/>
            <a:miter lim="800000"/>
            <a:headEnd/>
            <a:tailEnd/>
          </a:ln>
        </p:spPr>
      </p:pic>
      <p:pic>
        <p:nvPicPr>
          <p:cNvPr id="6149" name="Picture 5"/>
          <p:cNvPicPr>
            <a:picLocks noChangeAspect="1" noChangeArrowheads="1"/>
          </p:cNvPicPr>
          <p:nvPr/>
        </p:nvPicPr>
        <p:blipFill>
          <a:blip r:embed="rId4" cstate="print"/>
          <a:srcRect/>
          <a:stretch>
            <a:fillRect/>
          </a:stretch>
        </p:blipFill>
        <p:spPr bwMode="auto">
          <a:xfrm>
            <a:off x="200025" y="3962400"/>
            <a:ext cx="4371975" cy="24574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7170" name="Picture 2"/>
          <p:cNvPicPr>
            <a:picLocks noChangeAspect="1" noChangeArrowheads="1"/>
          </p:cNvPicPr>
          <p:nvPr/>
        </p:nvPicPr>
        <p:blipFill>
          <a:blip r:embed="rId2" cstate="print"/>
          <a:srcRect/>
          <a:stretch>
            <a:fillRect/>
          </a:stretch>
        </p:blipFill>
        <p:spPr bwMode="auto">
          <a:xfrm>
            <a:off x="533400" y="304800"/>
            <a:ext cx="7772400" cy="5410200"/>
          </a:xfrm>
          <a:prstGeom prst="rect">
            <a:avLst/>
          </a:prstGeom>
          <a:noFill/>
          <a:ln w="9525">
            <a:noFill/>
            <a:miter lim="800000"/>
            <a:headEnd/>
            <a:tailEnd/>
          </a:ln>
        </p:spPr>
      </p:pic>
      <p:cxnSp>
        <p:nvCxnSpPr>
          <p:cNvPr id="10" name="Straight Connector 9"/>
          <p:cNvCxnSpPr/>
          <p:nvPr/>
        </p:nvCxnSpPr>
        <p:spPr>
          <a:xfrm>
            <a:off x="4724400" y="762000"/>
            <a:ext cx="1066800" cy="0"/>
          </a:xfrm>
          <a:prstGeom prst="line">
            <a:avLst/>
          </a:prstGeom>
        </p:spPr>
        <p:style>
          <a:lnRef idx="3">
            <a:schemeClr val="dk1"/>
          </a:lnRef>
          <a:fillRef idx="0">
            <a:schemeClr val="dk1"/>
          </a:fillRef>
          <a:effectRef idx="2">
            <a:schemeClr val="dk1"/>
          </a:effectRef>
          <a:fontRef idx="minor">
            <a:schemeClr val="tx1"/>
          </a:fontRef>
        </p:style>
      </p:cxnSp>
      <p:grpSp>
        <p:nvGrpSpPr>
          <p:cNvPr id="33" name="Group 32"/>
          <p:cNvGrpSpPr/>
          <p:nvPr/>
        </p:nvGrpSpPr>
        <p:grpSpPr>
          <a:xfrm>
            <a:off x="838200" y="762000"/>
            <a:ext cx="7010400" cy="4419600"/>
            <a:chOff x="838200" y="762000"/>
            <a:chExt cx="7010400" cy="4419600"/>
          </a:xfrm>
        </p:grpSpPr>
        <p:cxnSp>
          <p:nvCxnSpPr>
            <p:cNvPr id="6" name="Straight Connector 5"/>
            <p:cNvCxnSpPr/>
            <p:nvPr/>
          </p:nvCxnSpPr>
          <p:spPr>
            <a:xfrm flipV="1">
              <a:off x="914400" y="1066800"/>
              <a:ext cx="1752600" cy="1447800"/>
            </a:xfrm>
            <a:prstGeom prst="line">
              <a:avLst/>
            </a:prstGeom>
          </p:spPr>
          <p:style>
            <a:lnRef idx="3">
              <a:schemeClr val="dk1"/>
            </a:lnRef>
            <a:fillRef idx="0">
              <a:schemeClr val="dk1"/>
            </a:fillRef>
            <a:effectRef idx="2">
              <a:schemeClr val="dk1"/>
            </a:effectRef>
            <a:fontRef idx="minor">
              <a:schemeClr val="tx1"/>
            </a:fontRef>
          </p:style>
        </p:cxnSp>
        <p:cxnSp>
          <p:nvCxnSpPr>
            <p:cNvPr id="8" name="Straight Connector 7"/>
            <p:cNvCxnSpPr/>
            <p:nvPr/>
          </p:nvCxnSpPr>
          <p:spPr>
            <a:xfrm flipV="1">
              <a:off x="2895600" y="762000"/>
              <a:ext cx="1676400" cy="228600"/>
            </a:xfrm>
            <a:prstGeom prst="line">
              <a:avLst/>
            </a:prstGeom>
          </p:spPr>
          <p:style>
            <a:lnRef idx="3">
              <a:schemeClr val="dk1"/>
            </a:lnRef>
            <a:fillRef idx="0">
              <a:schemeClr val="dk1"/>
            </a:fillRef>
            <a:effectRef idx="2">
              <a:schemeClr val="dk1"/>
            </a:effectRef>
            <a:fontRef idx="minor">
              <a:schemeClr val="tx1"/>
            </a:fontRef>
          </p:style>
        </p:cxnSp>
        <p:cxnSp>
          <p:nvCxnSpPr>
            <p:cNvPr id="14" name="Straight Connector 13"/>
            <p:cNvCxnSpPr/>
            <p:nvPr/>
          </p:nvCxnSpPr>
          <p:spPr>
            <a:xfrm>
              <a:off x="838200" y="2667000"/>
              <a:ext cx="1066800" cy="1447800"/>
            </a:xfrm>
            <a:prstGeom prst="line">
              <a:avLst/>
            </a:prstGeom>
          </p:spPr>
          <p:style>
            <a:lnRef idx="3">
              <a:schemeClr val="dk1"/>
            </a:lnRef>
            <a:fillRef idx="0">
              <a:schemeClr val="dk1"/>
            </a:fillRef>
            <a:effectRef idx="2">
              <a:schemeClr val="dk1"/>
            </a:effectRef>
            <a:fontRef idx="minor">
              <a:schemeClr val="tx1"/>
            </a:fontRef>
          </p:style>
        </p:cxnSp>
        <p:cxnSp>
          <p:nvCxnSpPr>
            <p:cNvPr id="16" name="Straight Connector 15"/>
            <p:cNvCxnSpPr/>
            <p:nvPr/>
          </p:nvCxnSpPr>
          <p:spPr>
            <a:xfrm flipV="1">
              <a:off x="1905000" y="1143000"/>
              <a:ext cx="838200" cy="2895600"/>
            </a:xfrm>
            <a:prstGeom prst="line">
              <a:avLst/>
            </a:prstGeom>
          </p:spPr>
          <p:style>
            <a:lnRef idx="3">
              <a:schemeClr val="dk1"/>
            </a:lnRef>
            <a:fillRef idx="0">
              <a:schemeClr val="dk1"/>
            </a:fillRef>
            <a:effectRef idx="2">
              <a:schemeClr val="dk1"/>
            </a:effectRef>
            <a:fontRef idx="minor">
              <a:schemeClr val="tx1"/>
            </a:fontRef>
          </p:style>
        </p:cxnSp>
        <p:cxnSp>
          <p:nvCxnSpPr>
            <p:cNvPr id="18" name="Straight Connector 17"/>
            <p:cNvCxnSpPr/>
            <p:nvPr/>
          </p:nvCxnSpPr>
          <p:spPr>
            <a:xfrm flipV="1">
              <a:off x="2057400" y="2895600"/>
              <a:ext cx="3886200" cy="1219200"/>
            </a:xfrm>
            <a:prstGeom prst="line">
              <a:avLst/>
            </a:prstGeom>
          </p:spPr>
          <p:style>
            <a:lnRef idx="3">
              <a:schemeClr val="dk1"/>
            </a:lnRef>
            <a:fillRef idx="0">
              <a:schemeClr val="dk1"/>
            </a:fillRef>
            <a:effectRef idx="2">
              <a:schemeClr val="dk1"/>
            </a:effectRef>
            <a:fontRef idx="minor">
              <a:schemeClr val="tx1"/>
            </a:fontRef>
          </p:style>
        </p:cxnSp>
        <p:cxnSp>
          <p:nvCxnSpPr>
            <p:cNvPr id="20" name="Straight Connector 19"/>
            <p:cNvCxnSpPr/>
            <p:nvPr/>
          </p:nvCxnSpPr>
          <p:spPr>
            <a:xfrm>
              <a:off x="2895600" y="1066800"/>
              <a:ext cx="3048000" cy="1676400"/>
            </a:xfrm>
            <a:prstGeom prst="line">
              <a:avLst/>
            </a:prstGeom>
          </p:spPr>
          <p:style>
            <a:lnRef idx="3">
              <a:schemeClr val="dk1"/>
            </a:lnRef>
            <a:fillRef idx="0">
              <a:schemeClr val="dk1"/>
            </a:fillRef>
            <a:effectRef idx="2">
              <a:schemeClr val="dk1"/>
            </a:effectRef>
            <a:fontRef idx="minor">
              <a:schemeClr val="tx1"/>
            </a:fontRef>
          </p:style>
        </p:cxnSp>
        <p:cxnSp>
          <p:nvCxnSpPr>
            <p:cNvPr id="26" name="Straight Connector 25"/>
            <p:cNvCxnSpPr/>
            <p:nvPr/>
          </p:nvCxnSpPr>
          <p:spPr>
            <a:xfrm>
              <a:off x="1981200" y="4191000"/>
              <a:ext cx="1981200" cy="990600"/>
            </a:xfrm>
            <a:prstGeom prst="line">
              <a:avLst/>
            </a:prstGeom>
          </p:spPr>
          <p:style>
            <a:lnRef idx="3">
              <a:schemeClr val="dk1"/>
            </a:lnRef>
            <a:fillRef idx="0">
              <a:schemeClr val="dk1"/>
            </a:fillRef>
            <a:effectRef idx="2">
              <a:schemeClr val="dk1"/>
            </a:effectRef>
            <a:fontRef idx="minor">
              <a:schemeClr val="tx1"/>
            </a:fontRef>
          </p:style>
        </p:cxnSp>
        <p:cxnSp>
          <p:nvCxnSpPr>
            <p:cNvPr id="28" name="Straight Connector 27"/>
            <p:cNvCxnSpPr/>
            <p:nvPr/>
          </p:nvCxnSpPr>
          <p:spPr>
            <a:xfrm flipH="1">
              <a:off x="4114800" y="2971800"/>
              <a:ext cx="1828800" cy="2209800"/>
            </a:xfrm>
            <a:prstGeom prst="line">
              <a:avLst/>
            </a:prstGeom>
          </p:spPr>
          <p:style>
            <a:lnRef idx="3">
              <a:schemeClr val="dk1"/>
            </a:lnRef>
            <a:fillRef idx="0">
              <a:schemeClr val="dk1"/>
            </a:fillRef>
            <a:effectRef idx="2">
              <a:schemeClr val="dk1"/>
            </a:effectRef>
            <a:fontRef idx="minor">
              <a:schemeClr val="tx1"/>
            </a:fontRef>
          </p:style>
        </p:cxnSp>
        <p:grpSp>
          <p:nvGrpSpPr>
            <p:cNvPr id="32" name="Group 31"/>
            <p:cNvGrpSpPr/>
            <p:nvPr/>
          </p:nvGrpSpPr>
          <p:grpSpPr>
            <a:xfrm>
              <a:off x="4191000" y="838200"/>
              <a:ext cx="3657600" cy="4343400"/>
              <a:chOff x="4191000" y="838200"/>
              <a:chExt cx="3657600" cy="4343400"/>
            </a:xfrm>
          </p:grpSpPr>
          <p:cxnSp>
            <p:nvCxnSpPr>
              <p:cNvPr id="12" name="Straight Connector 11"/>
              <p:cNvCxnSpPr/>
              <p:nvPr/>
            </p:nvCxnSpPr>
            <p:spPr>
              <a:xfrm>
                <a:off x="5943600" y="838200"/>
                <a:ext cx="1828800" cy="2209800"/>
              </a:xfrm>
              <a:prstGeom prst="line">
                <a:avLst/>
              </a:prstGeom>
            </p:spPr>
            <p:style>
              <a:lnRef idx="3">
                <a:schemeClr val="dk1"/>
              </a:lnRef>
              <a:fillRef idx="0">
                <a:schemeClr val="dk1"/>
              </a:fillRef>
              <a:effectRef idx="2">
                <a:schemeClr val="dk1"/>
              </a:effectRef>
              <a:fontRef idx="minor">
                <a:schemeClr val="tx1"/>
              </a:fontRef>
            </p:style>
          </p:cxnSp>
          <p:cxnSp>
            <p:nvCxnSpPr>
              <p:cNvPr id="22" name="Straight Connector 21"/>
              <p:cNvCxnSpPr/>
              <p:nvPr/>
            </p:nvCxnSpPr>
            <p:spPr>
              <a:xfrm>
                <a:off x="4724400" y="914400"/>
                <a:ext cx="1219200" cy="1828800"/>
              </a:xfrm>
              <a:prstGeom prst="line">
                <a:avLst/>
              </a:prstGeom>
            </p:spPr>
            <p:style>
              <a:lnRef idx="3">
                <a:schemeClr val="dk1"/>
              </a:lnRef>
              <a:fillRef idx="0">
                <a:schemeClr val="dk1"/>
              </a:fillRef>
              <a:effectRef idx="2">
                <a:schemeClr val="dk1"/>
              </a:effectRef>
              <a:fontRef idx="minor">
                <a:schemeClr val="tx1"/>
              </a:fontRef>
            </p:style>
          </p:cxnSp>
          <p:grpSp>
            <p:nvGrpSpPr>
              <p:cNvPr id="31" name="Group 30"/>
              <p:cNvGrpSpPr/>
              <p:nvPr/>
            </p:nvGrpSpPr>
            <p:grpSpPr>
              <a:xfrm>
                <a:off x="4191000" y="2819400"/>
                <a:ext cx="3657600" cy="2362200"/>
                <a:chOff x="4191000" y="2819400"/>
                <a:chExt cx="3657600" cy="2362200"/>
              </a:xfrm>
            </p:grpSpPr>
            <p:cxnSp>
              <p:nvCxnSpPr>
                <p:cNvPr id="24" name="Straight Connector 23"/>
                <p:cNvCxnSpPr/>
                <p:nvPr/>
              </p:nvCxnSpPr>
              <p:spPr>
                <a:xfrm>
                  <a:off x="6172200" y="2819400"/>
                  <a:ext cx="1676400" cy="304800"/>
                </a:xfrm>
                <a:prstGeom prst="line">
                  <a:avLst/>
                </a:prstGeom>
              </p:spPr>
              <p:style>
                <a:lnRef idx="3">
                  <a:schemeClr val="dk1"/>
                </a:lnRef>
                <a:fillRef idx="0">
                  <a:schemeClr val="dk1"/>
                </a:fillRef>
                <a:effectRef idx="2">
                  <a:schemeClr val="dk1"/>
                </a:effectRef>
                <a:fontRef idx="minor">
                  <a:schemeClr val="tx1"/>
                </a:fontRef>
              </p:style>
            </p:cxnSp>
            <p:cxnSp>
              <p:nvCxnSpPr>
                <p:cNvPr id="30" name="Straight Connector 29"/>
                <p:cNvCxnSpPr/>
                <p:nvPr/>
              </p:nvCxnSpPr>
              <p:spPr>
                <a:xfrm flipV="1">
                  <a:off x="4191000" y="3276600"/>
                  <a:ext cx="3581400" cy="1905000"/>
                </a:xfrm>
                <a:prstGeom prst="line">
                  <a:avLst/>
                </a:prstGeom>
              </p:spPr>
              <p:style>
                <a:lnRef idx="3">
                  <a:schemeClr val="dk1"/>
                </a:lnRef>
                <a:fillRef idx="0">
                  <a:schemeClr val="dk1"/>
                </a:fillRef>
                <a:effectRef idx="2">
                  <a:schemeClr val="dk1"/>
                </a:effectRef>
                <a:fontRef idx="minor">
                  <a:schemeClr val="tx1"/>
                </a:fontRef>
              </p:style>
            </p:cxnSp>
          </p:grpSp>
        </p:grpSp>
      </p:gr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8194" name="Picture 2"/>
          <p:cNvPicPr>
            <a:picLocks noChangeAspect="1" noChangeArrowheads="1"/>
          </p:cNvPicPr>
          <p:nvPr/>
        </p:nvPicPr>
        <p:blipFill>
          <a:blip r:embed="rId2" cstate="print"/>
          <a:srcRect/>
          <a:stretch>
            <a:fillRect/>
          </a:stretch>
        </p:blipFill>
        <p:spPr bwMode="auto">
          <a:xfrm>
            <a:off x="1143000" y="990600"/>
            <a:ext cx="7086600" cy="4953000"/>
          </a:xfrm>
          <a:prstGeom prst="rect">
            <a:avLst/>
          </a:prstGeom>
          <a:noFill/>
          <a:ln w="9525">
            <a:noFill/>
            <a:miter lim="800000"/>
            <a:headEnd/>
            <a:tailEnd/>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dirty="0" smtClean="0"/>
              <a:t>Time complexity of Prim’s algorithm</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The time complexity of Prim’s algorithm depends on the data structures used for the </a:t>
            </a:r>
            <a:r>
              <a:rPr lang="en-US" b="1" dirty="0" smtClean="0"/>
              <a:t>priority queue (min-heap)</a:t>
            </a:r>
            <a:r>
              <a:rPr lang="en-US" dirty="0" smtClean="0"/>
              <a:t> and </a:t>
            </a:r>
            <a:r>
              <a:rPr lang="en-US" b="1" dirty="0" smtClean="0"/>
              <a:t>adjacency representation</a:t>
            </a:r>
            <a:r>
              <a:rPr lang="en-US" dirty="0" smtClean="0"/>
              <a:t>.</a:t>
            </a:r>
          </a:p>
          <a:p>
            <a:r>
              <a:rPr lang="en-US" b="1" dirty="0" smtClean="0"/>
              <a:t>Best and Worst Case Time Complexity</a:t>
            </a:r>
          </a:p>
          <a:p>
            <a:r>
              <a:rPr lang="en-US" b="1" dirty="0" smtClean="0"/>
              <a:t>1. Using an Adjacency Matrix + Simple Min Selection (O(V²))</a:t>
            </a:r>
          </a:p>
          <a:p>
            <a:pPr lvl="1"/>
            <a:r>
              <a:rPr lang="en-US" dirty="0" smtClean="0"/>
              <a:t>Each vertex is checked for the minimum edge, leading to </a:t>
            </a:r>
            <a:r>
              <a:rPr lang="en-US" b="1" dirty="0" smtClean="0"/>
              <a:t>O(V²)</a:t>
            </a:r>
            <a:r>
              <a:rPr lang="en-US" dirty="0" smtClean="0"/>
              <a:t> complexity.</a:t>
            </a:r>
          </a:p>
          <a:p>
            <a:pPr lvl="1"/>
            <a:r>
              <a:rPr lang="en-US" b="1" dirty="0" smtClean="0"/>
              <a:t>Best Case:</a:t>
            </a:r>
            <a:r>
              <a:rPr lang="en-US" dirty="0" smtClean="0"/>
              <a:t> O(V²)</a:t>
            </a:r>
          </a:p>
          <a:p>
            <a:pPr lvl="1"/>
            <a:r>
              <a:rPr lang="en-US" b="1" dirty="0" smtClean="0"/>
              <a:t>Worst Case:</a:t>
            </a:r>
            <a:r>
              <a:rPr lang="en-US" dirty="0" smtClean="0"/>
              <a:t> O(V²)</a:t>
            </a:r>
          </a:p>
          <a:p>
            <a:endParaRPr 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85000" lnSpcReduction="20000"/>
          </a:bodyPr>
          <a:lstStyle/>
          <a:p>
            <a:r>
              <a:rPr lang="en-US" dirty="0" smtClean="0"/>
              <a:t>Complexity O(E log V) for Prim’s Algorithm Using a Min-Heap </a:t>
            </a:r>
            <a:r>
              <a:rPr lang="en-US" smtClean="0"/>
              <a:t>and  Adjacency List</a:t>
            </a:r>
            <a:endParaRPr lang="en-US" dirty="0" smtClean="0"/>
          </a:p>
          <a:p>
            <a:pPr marL="514350" indent="-514350">
              <a:buFont typeface="+mj-lt"/>
              <a:buAutoNum type="arabicPeriod"/>
            </a:pPr>
            <a:r>
              <a:rPr lang="en-US" b="1" dirty="0" smtClean="0"/>
              <a:t>Extract-Min Operation (O(log V))</a:t>
            </a:r>
            <a:endParaRPr lang="en-US" dirty="0" smtClean="0"/>
          </a:p>
          <a:p>
            <a:r>
              <a:rPr lang="en-US" dirty="0" smtClean="0"/>
              <a:t>The algorithm picks the minimum-weight edge </a:t>
            </a:r>
            <a:r>
              <a:rPr lang="en-US" b="1" dirty="0" smtClean="0"/>
              <a:t>V times</a:t>
            </a:r>
            <a:r>
              <a:rPr lang="en-US" dirty="0" smtClean="0"/>
              <a:t> from a </a:t>
            </a:r>
            <a:r>
              <a:rPr lang="en-US" b="1" dirty="0" smtClean="0"/>
              <a:t>priority queue (min-heap)</a:t>
            </a:r>
            <a:r>
              <a:rPr lang="en-US" dirty="0" smtClean="0"/>
              <a:t>.</a:t>
            </a:r>
          </a:p>
          <a:p>
            <a:r>
              <a:rPr lang="en-US" dirty="0" smtClean="0"/>
              <a:t>Each extraction takes </a:t>
            </a:r>
            <a:r>
              <a:rPr lang="en-US" b="1" dirty="0" smtClean="0"/>
              <a:t>O(log V)</a:t>
            </a:r>
            <a:r>
              <a:rPr lang="en-US" dirty="0" smtClean="0"/>
              <a:t>.</a:t>
            </a:r>
          </a:p>
          <a:p>
            <a:r>
              <a:rPr lang="en-US" b="1" dirty="0" smtClean="0"/>
              <a:t>Total contribution:</a:t>
            </a:r>
            <a:r>
              <a:rPr lang="en-US" dirty="0" smtClean="0"/>
              <a:t> </a:t>
            </a:r>
            <a:r>
              <a:rPr lang="en-US" b="1" dirty="0" smtClean="0"/>
              <a:t>O(V log V)</a:t>
            </a:r>
            <a:r>
              <a:rPr lang="en-US" dirty="0" smtClean="0"/>
              <a:t>.</a:t>
            </a:r>
          </a:p>
          <a:p>
            <a:pPr marL="514350" indent="-514350">
              <a:buNone/>
            </a:pPr>
            <a:r>
              <a:rPr lang="en-US" b="1" dirty="0" smtClean="0"/>
              <a:t>2. Edge Relaxation(short distance found)  (O(log V) per edge update)</a:t>
            </a:r>
            <a:endParaRPr lang="en-US" dirty="0" smtClean="0"/>
          </a:p>
          <a:p>
            <a:r>
              <a:rPr lang="en-US" dirty="0" smtClean="0"/>
              <a:t>Every vertex is connected through </a:t>
            </a:r>
            <a:r>
              <a:rPr lang="en-US" b="1" dirty="0" smtClean="0"/>
              <a:t>E edges in total</a:t>
            </a:r>
            <a:r>
              <a:rPr lang="en-US" dirty="0" smtClean="0"/>
              <a:t>.</a:t>
            </a:r>
          </a:p>
          <a:p>
            <a:r>
              <a:rPr lang="en-US" dirty="0" smtClean="0"/>
              <a:t>Each edge update in the priority queue (decrease-key operation) takes </a:t>
            </a:r>
            <a:r>
              <a:rPr lang="en-US" b="1" dirty="0" smtClean="0"/>
              <a:t>O(log V)</a:t>
            </a:r>
            <a:r>
              <a:rPr lang="en-US" dirty="0" smtClean="0"/>
              <a:t>.</a:t>
            </a:r>
          </a:p>
          <a:p>
            <a:pPr>
              <a:buNone/>
            </a:pPr>
            <a:r>
              <a:rPr lang="en-US" b="1" dirty="0" smtClean="0"/>
              <a:t>3. Total contribution:</a:t>
            </a:r>
            <a:r>
              <a:rPr lang="en-US" dirty="0" smtClean="0"/>
              <a:t> </a:t>
            </a:r>
            <a:r>
              <a:rPr lang="en-US" b="1" dirty="0" smtClean="0"/>
              <a:t>O(E log V)</a:t>
            </a:r>
            <a:r>
              <a:rPr lang="en-US" dirty="0" smtClean="0"/>
              <a:t>.</a:t>
            </a:r>
          </a:p>
          <a:p>
            <a:r>
              <a:rPr lang="en-US" b="1" dirty="0" smtClean="0"/>
              <a:t>Final Complexity:</a:t>
            </a:r>
            <a:r>
              <a:rPr lang="en-US" dirty="0" smtClean="0"/>
              <a:t> </a:t>
            </a:r>
            <a:r>
              <a:rPr lang="en-US" b="1" dirty="0" smtClean="0"/>
              <a:t>O</a:t>
            </a:r>
            <a:r>
              <a:rPr lang="en-US" dirty="0" smtClean="0"/>
              <a:t>(V log V + E log V) = </a:t>
            </a:r>
            <a:r>
              <a:rPr lang="en-US" b="1" dirty="0" smtClean="0"/>
              <a:t>O(E log V)</a:t>
            </a:r>
            <a:r>
              <a:rPr lang="en-US" dirty="0" smtClean="0"/>
              <a:t> (since E ≥ V in a connected graph).</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endParaRPr lang="en-US" sz="7200" b="1" dirty="0" smtClean="0"/>
          </a:p>
          <a:p>
            <a:pPr algn="ctr">
              <a:buNone/>
            </a:pPr>
            <a:r>
              <a:rPr lang="en-US" sz="7200" b="1" dirty="0" smtClean="0"/>
              <a:t>Kruskal's Algorithm</a:t>
            </a:r>
          </a:p>
          <a:p>
            <a:pPr algn="ctr">
              <a:buNone/>
            </a:pPr>
            <a:endParaRPr lang="en-US" sz="72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Kruskal's algorithm</a:t>
            </a:r>
            <a:endParaRPr lang="en-US" dirty="0"/>
          </a:p>
        </p:txBody>
      </p:sp>
      <p:sp>
        <p:nvSpPr>
          <p:cNvPr id="3" name="Content Placeholder 2"/>
          <p:cNvSpPr>
            <a:spLocks noGrp="1"/>
          </p:cNvSpPr>
          <p:nvPr>
            <p:ph idx="1"/>
          </p:nvPr>
        </p:nvSpPr>
        <p:spPr/>
        <p:txBody>
          <a:bodyPr/>
          <a:lstStyle/>
          <a:p>
            <a:r>
              <a:rPr lang="en-US" dirty="0" smtClean="0"/>
              <a:t>Kruskal's algorithm is a </a:t>
            </a:r>
            <a:r>
              <a:rPr lang="en-US" dirty="0" smtClean="0">
                <a:hlinkClick r:id="rId2"/>
              </a:rPr>
              <a:t>minimum spanning tree</a:t>
            </a:r>
            <a:r>
              <a:rPr lang="en-US" dirty="0" smtClean="0"/>
              <a:t> algorithm that takes a graph as input and finds the subset of the edges of that graph which</a:t>
            </a:r>
          </a:p>
          <a:p>
            <a:r>
              <a:rPr lang="en-US" dirty="0" smtClean="0"/>
              <a:t>form a tree that includes every vertex</a:t>
            </a:r>
          </a:p>
          <a:p>
            <a:r>
              <a:rPr lang="en-US" dirty="0" smtClean="0"/>
              <a:t>has the minimum sum of weights among all the trees that can be formed from the graph</a:t>
            </a:r>
          </a:p>
          <a:p>
            <a:endParaRPr 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How Kruskal's algorithm works</a:t>
            </a:r>
            <a:br>
              <a:rPr lang="en-US" b="1" dirty="0" smtClean="0"/>
            </a:br>
            <a:endParaRPr lang="en-US" dirty="0"/>
          </a:p>
        </p:txBody>
      </p:sp>
      <p:sp>
        <p:nvSpPr>
          <p:cNvPr id="3" name="Content Placeholder 2"/>
          <p:cNvSpPr>
            <a:spLocks noGrp="1"/>
          </p:cNvSpPr>
          <p:nvPr>
            <p:ph idx="1"/>
          </p:nvPr>
        </p:nvSpPr>
        <p:spPr/>
        <p:txBody>
          <a:bodyPr/>
          <a:lstStyle/>
          <a:p>
            <a:r>
              <a:rPr lang="en-US" dirty="0" smtClean="0"/>
              <a:t>It falls under a class of algorithms called </a:t>
            </a:r>
            <a:r>
              <a:rPr lang="en-US" dirty="0" smtClean="0">
                <a:hlinkClick r:id="rId2"/>
              </a:rPr>
              <a:t>greedy algorithms</a:t>
            </a:r>
            <a:r>
              <a:rPr lang="en-US" dirty="0" smtClean="0"/>
              <a:t> that find the local optimum in the hopes of finding a global optimum.</a:t>
            </a:r>
          </a:p>
          <a:p>
            <a:r>
              <a:rPr lang="en-US" dirty="0" smtClean="0"/>
              <a:t>We start from the edges with the lowest weight and keep adding edges until we reach our goal.</a:t>
            </a:r>
          </a:p>
          <a:p>
            <a:endParaRPr 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How Kruskal's algorithm works</a:t>
            </a:r>
            <a:br>
              <a:rPr lang="en-US" b="1" dirty="0" smtClean="0"/>
            </a:br>
            <a:endParaRPr lang="en-US" dirty="0"/>
          </a:p>
        </p:txBody>
      </p:sp>
      <p:sp>
        <p:nvSpPr>
          <p:cNvPr id="3" name="Content Placeholder 2"/>
          <p:cNvSpPr>
            <a:spLocks noGrp="1"/>
          </p:cNvSpPr>
          <p:nvPr>
            <p:ph idx="1"/>
          </p:nvPr>
        </p:nvSpPr>
        <p:spPr/>
        <p:txBody>
          <a:bodyPr/>
          <a:lstStyle/>
          <a:p>
            <a:r>
              <a:rPr lang="en-US" dirty="0" smtClean="0"/>
              <a:t>The steps for implementing Kruskal's algorithm are as follows:</a:t>
            </a:r>
          </a:p>
          <a:p>
            <a:r>
              <a:rPr lang="en-US" dirty="0" smtClean="0"/>
              <a:t>Sort all the edges from low weight to high</a:t>
            </a:r>
          </a:p>
          <a:p>
            <a:r>
              <a:rPr lang="en-US" dirty="0" smtClean="0"/>
              <a:t>Take the edge with the lowest weight and add it to the spanning tree. If adding the edge created a cycle, then reject this edge.</a:t>
            </a:r>
          </a:p>
          <a:p>
            <a:r>
              <a:rPr lang="en-US" dirty="0" smtClean="0"/>
              <a:t>Keep adding edges until we reach all vertices.</a:t>
            </a:r>
          </a:p>
          <a:p>
            <a:endParaRPr 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381000" y="228600"/>
            <a:ext cx="8077200" cy="6248400"/>
          </a:xfrm>
          <a:prstGeom prst="rect">
            <a:avLst/>
          </a:prstGeom>
          <a:noFill/>
          <a:ln w="9525">
            <a:noFill/>
            <a:miter lim="800000"/>
            <a:headEnd/>
            <a:tailEnd/>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457200" y="228600"/>
            <a:ext cx="2895600" cy="1295400"/>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914400" y="2057400"/>
            <a:ext cx="2428875" cy="2009775"/>
          </a:xfrm>
          <a:prstGeom prst="rect">
            <a:avLst/>
          </a:prstGeom>
          <a:noFill/>
          <a:ln w="9525">
            <a:noFill/>
            <a:miter lim="800000"/>
            <a:headEnd/>
            <a:tailEnd/>
          </a:ln>
        </p:spPr>
      </p:pic>
      <p:pic>
        <p:nvPicPr>
          <p:cNvPr id="2052" name="Picture 4"/>
          <p:cNvPicPr>
            <a:picLocks noChangeAspect="1" noChangeArrowheads="1"/>
          </p:cNvPicPr>
          <p:nvPr/>
        </p:nvPicPr>
        <p:blipFill>
          <a:blip r:embed="rId4" cstate="print"/>
          <a:srcRect/>
          <a:stretch>
            <a:fillRect/>
          </a:stretch>
        </p:blipFill>
        <p:spPr bwMode="auto">
          <a:xfrm>
            <a:off x="1219200" y="4572000"/>
            <a:ext cx="2533650" cy="1743075"/>
          </a:xfrm>
          <a:prstGeom prst="rect">
            <a:avLst/>
          </a:prstGeom>
          <a:noFill/>
          <a:ln w="9525">
            <a:noFill/>
            <a:miter lim="800000"/>
            <a:headEnd/>
            <a:tailEnd/>
          </a:ln>
        </p:spPr>
      </p:pic>
      <p:pic>
        <p:nvPicPr>
          <p:cNvPr id="2053" name="Picture 5"/>
          <p:cNvPicPr>
            <a:picLocks noChangeAspect="1" noChangeArrowheads="1"/>
          </p:cNvPicPr>
          <p:nvPr/>
        </p:nvPicPr>
        <p:blipFill>
          <a:blip r:embed="rId5" cstate="print"/>
          <a:srcRect/>
          <a:stretch>
            <a:fillRect/>
          </a:stretch>
        </p:blipFill>
        <p:spPr bwMode="auto">
          <a:xfrm>
            <a:off x="4876800" y="609600"/>
            <a:ext cx="3114675" cy="1971675"/>
          </a:xfrm>
          <a:prstGeom prst="rect">
            <a:avLst/>
          </a:prstGeom>
          <a:noFill/>
          <a:ln w="9525">
            <a:noFill/>
            <a:miter lim="800000"/>
            <a:headEnd/>
            <a:tailEnd/>
          </a:ln>
        </p:spPr>
      </p:pic>
      <p:pic>
        <p:nvPicPr>
          <p:cNvPr id="2054" name="Picture 6"/>
          <p:cNvPicPr>
            <a:picLocks noChangeAspect="1" noChangeArrowheads="1"/>
          </p:cNvPicPr>
          <p:nvPr/>
        </p:nvPicPr>
        <p:blipFill>
          <a:blip r:embed="rId6" cstate="print"/>
          <a:srcRect/>
          <a:stretch>
            <a:fillRect/>
          </a:stretch>
        </p:blipFill>
        <p:spPr bwMode="auto">
          <a:xfrm>
            <a:off x="4953000" y="2819400"/>
            <a:ext cx="3143250" cy="1981200"/>
          </a:xfrm>
          <a:prstGeom prst="rect">
            <a:avLst/>
          </a:prstGeom>
          <a:noFill/>
          <a:ln w="9525">
            <a:noFill/>
            <a:miter lim="800000"/>
            <a:headEnd/>
            <a:tailEnd/>
          </a:ln>
        </p:spPr>
      </p:pic>
      <p:pic>
        <p:nvPicPr>
          <p:cNvPr id="2055" name="Picture 7"/>
          <p:cNvPicPr>
            <a:picLocks noChangeAspect="1" noChangeArrowheads="1"/>
          </p:cNvPicPr>
          <p:nvPr/>
        </p:nvPicPr>
        <p:blipFill>
          <a:blip r:embed="rId7" cstate="print"/>
          <a:srcRect/>
          <a:stretch>
            <a:fillRect/>
          </a:stretch>
        </p:blipFill>
        <p:spPr bwMode="auto">
          <a:xfrm>
            <a:off x="4876800" y="4924425"/>
            <a:ext cx="3162300" cy="19335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a:stretch>
            <a:fillRect/>
          </a:stretch>
        </p:blipFill>
        <p:spPr bwMode="auto">
          <a:xfrm>
            <a:off x="1066800" y="838200"/>
            <a:ext cx="3219450" cy="1914525"/>
          </a:xfrm>
          <a:prstGeom prst="rect">
            <a:avLst/>
          </a:prstGeom>
          <a:noFill/>
          <a:ln w="9525">
            <a:noFill/>
            <a:miter lim="800000"/>
            <a:headEnd/>
            <a:tailEnd/>
          </a:ln>
        </p:spPr>
      </p:pic>
      <p:pic>
        <p:nvPicPr>
          <p:cNvPr id="3075" name="Picture 3"/>
          <p:cNvPicPr>
            <a:picLocks noChangeAspect="1" noChangeArrowheads="1"/>
          </p:cNvPicPr>
          <p:nvPr/>
        </p:nvPicPr>
        <p:blipFill>
          <a:blip r:embed="rId3" cstate="print"/>
          <a:srcRect/>
          <a:stretch>
            <a:fillRect/>
          </a:stretch>
        </p:blipFill>
        <p:spPr bwMode="auto">
          <a:xfrm>
            <a:off x="1219200" y="3657600"/>
            <a:ext cx="3724275" cy="2076450"/>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2445</TotalTime>
  <Words>3868</Words>
  <Application>Microsoft Office PowerPoint</Application>
  <PresentationFormat>On-screen Show (4:3)</PresentationFormat>
  <Paragraphs>999</Paragraphs>
  <Slides>100</Slides>
  <Notes>0</Notes>
  <HiddenSlides>1</HiddenSlides>
  <MMClips>0</MMClips>
  <ScaleCrop>false</ScaleCrop>
  <HeadingPairs>
    <vt:vector size="4" baseType="variant">
      <vt:variant>
        <vt:lpstr>Theme</vt:lpstr>
      </vt:variant>
      <vt:variant>
        <vt:i4>1</vt:i4>
      </vt:variant>
      <vt:variant>
        <vt:lpstr>Slide Titles</vt:lpstr>
      </vt:variant>
      <vt:variant>
        <vt:i4>100</vt:i4>
      </vt:variant>
    </vt:vector>
  </HeadingPairs>
  <TitlesOfParts>
    <vt:vector size="101" baseType="lpstr">
      <vt:lpstr>Office Theme</vt:lpstr>
      <vt:lpstr>Unit 3 Greedy strategy</vt:lpstr>
      <vt:lpstr>Contents</vt:lpstr>
      <vt:lpstr>Greedy Approach</vt:lpstr>
      <vt:lpstr>Characteristics of Greedy method</vt:lpstr>
      <vt:lpstr>Characteristics of Greedy method</vt:lpstr>
      <vt:lpstr>Characteristics of Greedy method</vt:lpstr>
      <vt:lpstr>Will greedy always give optimal solution-no</vt:lpstr>
      <vt:lpstr>Will greedy always give optimal solution</vt:lpstr>
      <vt:lpstr>Example</vt:lpstr>
      <vt:lpstr>Example</vt:lpstr>
      <vt:lpstr>Slide 11</vt:lpstr>
      <vt:lpstr>Feasible-optimal ?</vt:lpstr>
      <vt:lpstr>Feasible-optimal ?</vt:lpstr>
      <vt:lpstr>General approach</vt:lpstr>
      <vt:lpstr>Example of Greedy method</vt:lpstr>
      <vt:lpstr>fractional knapsack problem using greedy method</vt:lpstr>
      <vt:lpstr>fractional knapsack problem using greedy method</vt:lpstr>
      <vt:lpstr>Example </vt:lpstr>
      <vt:lpstr>Slide 19</vt:lpstr>
      <vt:lpstr>Slide 20</vt:lpstr>
      <vt:lpstr>Slide 21</vt:lpstr>
      <vt:lpstr>Slide 22</vt:lpstr>
      <vt:lpstr>Algorithm</vt:lpstr>
      <vt:lpstr>Algorithm</vt:lpstr>
      <vt:lpstr>Example</vt:lpstr>
      <vt:lpstr>Step 1: Calculate P/W and Sort in Non-Increasing Order</vt:lpstr>
      <vt:lpstr>After sorting based on P/W ratio:</vt:lpstr>
      <vt:lpstr>Step 2: Greedy Selection</vt:lpstr>
      <vt:lpstr>Slide 29</vt:lpstr>
      <vt:lpstr>Huffman Coding</vt:lpstr>
      <vt:lpstr>Huffman Coding</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Decoding the code </vt:lpstr>
      <vt:lpstr>Huffman Coding Algorithm </vt:lpstr>
      <vt:lpstr>Huffman Coding Algorithm </vt:lpstr>
      <vt:lpstr>Huffman Coding Algorithm </vt:lpstr>
      <vt:lpstr>Huffman Coding complexity analysis </vt:lpstr>
      <vt:lpstr>Example</vt:lpstr>
      <vt:lpstr>the Huffman Code Prefix-Free </vt:lpstr>
      <vt:lpstr>the Huffman Code Prefix-Free </vt:lpstr>
      <vt:lpstr>Slide 55</vt:lpstr>
      <vt:lpstr>Job Sequencing Problem</vt:lpstr>
      <vt:lpstr>Slide 57</vt:lpstr>
      <vt:lpstr>Constraints</vt:lpstr>
      <vt:lpstr>Algorithm </vt:lpstr>
      <vt:lpstr>Examples </vt:lpstr>
      <vt:lpstr>Slide 61</vt:lpstr>
      <vt:lpstr>Slide 62</vt:lpstr>
      <vt:lpstr>Example 2</vt:lpstr>
      <vt:lpstr>Slide 64</vt:lpstr>
      <vt:lpstr>Example 3</vt:lpstr>
      <vt:lpstr>Slide 66</vt:lpstr>
      <vt:lpstr>Time Complexity</vt:lpstr>
      <vt:lpstr>Slide 68</vt:lpstr>
      <vt:lpstr>Slide 69</vt:lpstr>
      <vt:lpstr>output</vt:lpstr>
      <vt:lpstr>Slide 71</vt:lpstr>
      <vt:lpstr>Minimum Spanning Tree (MST) Using Greedy Approach</vt:lpstr>
      <vt:lpstr>How to find cost of Minimum Spanning Tree? </vt:lpstr>
      <vt:lpstr>Slide 74</vt:lpstr>
      <vt:lpstr>Slide 75</vt:lpstr>
      <vt:lpstr>Prim’s Algorithm</vt:lpstr>
      <vt:lpstr>Prim’s Algorithm</vt:lpstr>
      <vt:lpstr>Example of prim's algorithm </vt:lpstr>
      <vt:lpstr>Slide 79</vt:lpstr>
      <vt:lpstr>Slide 80</vt:lpstr>
      <vt:lpstr>Slide 81</vt:lpstr>
      <vt:lpstr>Slide 82</vt:lpstr>
      <vt:lpstr>Prim’s Algorithm</vt:lpstr>
      <vt:lpstr>Example 2</vt:lpstr>
      <vt:lpstr>Slide 85</vt:lpstr>
      <vt:lpstr>Slide 86</vt:lpstr>
      <vt:lpstr>Slide 87</vt:lpstr>
      <vt:lpstr>Slide 88</vt:lpstr>
      <vt:lpstr>Slide 89</vt:lpstr>
      <vt:lpstr>Slide 90</vt:lpstr>
      <vt:lpstr>Slide 91</vt:lpstr>
      <vt:lpstr>Time complexity of Prim’s algorithm</vt:lpstr>
      <vt:lpstr>Slide 93</vt:lpstr>
      <vt:lpstr>Slide 94</vt:lpstr>
      <vt:lpstr>Kruskal's algorithm</vt:lpstr>
      <vt:lpstr>How Kruskal's algorithm works </vt:lpstr>
      <vt:lpstr>How Kruskal's algorithm works </vt:lpstr>
      <vt:lpstr>Slide 98</vt:lpstr>
      <vt:lpstr>Slide 99</vt:lpstr>
      <vt:lpstr>Slide 100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dc:title>
  <dc:creator>Rahul Dange</dc:creator>
  <cp:lastModifiedBy>Rahul Dange</cp:lastModifiedBy>
  <cp:revision>297</cp:revision>
  <dcterms:created xsi:type="dcterms:W3CDTF">2025-02-13T05:31:45Z</dcterms:created>
  <dcterms:modified xsi:type="dcterms:W3CDTF">2025-08-28T11:08:37Z</dcterms:modified>
</cp:coreProperties>
</file>