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60" r:id="rId4"/>
    <p:sldId id="311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72" r:id="rId24"/>
    <p:sldId id="271" r:id="rId25"/>
    <p:sldId id="273" r:id="rId26"/>
    <p:sldId id="274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309" r:id="rId40"/>
    <p:sldId id="308" r:id="rId41"/>
    <p:sldId id="296" r:id="rId42"/>
    <p:sldId id="297" r:id="rId43"/>
    <p:sldId id="298" r:id="rId44"/>
    <p:sldId id="299" r:id="rId45"/>
    <p:sldId id="302" r:id="rId46"/>
    <p:sldId id="303" r:id="rId47"/>
    <p:sldId id="304" r:id="rId48"/>
    <p:sldId id="305" r:id="rId49"/>
    <p:sldId id="312" r:id="rId50"/>
    <p:sldId id="300" r:id="rId51"/>
    <p:sldId id="301" r:id="rId52"/>
    <p:sldId id="306" r:id="rId53"/>
    <p:sldId id="310" r:id="rId5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5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06A34-B8B7-40CA-B96E-2786EE491EF0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4F151-115F-4BD5-9498-81AF306948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4F151-115F-4BD5-9498-81AF3069489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18D93-BFFD-4CCB-A9FF-D32ED93EEFA4}" type="datetimeFigureOut">
              <a:rPr lang="en-US" smtClean="0"/>
              <a:pPr/>
              <a:t>18/09/2025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9B758-7416-48C2-82D8-43FF1F782C2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structures_algorithms/travelling_salesman_problem_dynamic_programming.htm" TargetMode="External"/><Relationship Id="rId2" Type="http://schemas.openxmlformats.org/officeDocument/2006/relationships/hyperlink" Target="https://www.tutorialspoint.com/data_structures_algorithms/01_knapsack_problem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utorialspoint.com/data_structures_algorithms/matrix_chain_multiplication.htm" TargetMode="External"/><Relationship Id="rId5" Type="http://schemas.openxmlformats.org/officeDocument/2006/relationships/hyperlink" Target="https://www.tutorialspoint.com/data_structures_algorithms/floyd_warshall_algorithm.htm" TargetMode="External"/><Relationship Id="rId4" Type="http://schemas.openxmlformats.org/officeDocument/2006/relationships/hyperlink" Target="https://www.tutorialspoint.com/data_structures_algorithms/longest_common_subsequence.ht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/>
              <a:t>Unit </a:t>
            </a:r>
            <a:r>
              <a:rPr lang="en-US" sz="5400" b="1" dirty="0" smtClean="0"/>
              <a:t>4</a:t>
            </a:r>
            <a:br>
              <a:rPr lang="en-US" sz="5400" b="1" dirty="0" smtClean="0"/>
            </a:br>
            <a:r>
              <a:rPr lang="en-US" sz="54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Dynamic programming</a:t>
            </a:r>
            <a:br>
              <a:rPr lang="en-US" sz="54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54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-Dr. Varsha R.Dange</a:t>
            </a:r>
            <a:endParaRPr lang="en-US" sz="54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Contents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strategy, </a:t>
            </a:r>
            <a:endParaRPr lang="en-US" dirty="0" smtClean="0"/>
          </a:p>
          <a:p>
            <a:r>
              <a:rPr lang="en-US" dirty="0" smtClean="0"/>
              <a:t>Fibonacci </a:t>
            </a:r>
            <a:r>
              <a:rPr lang="en-US" dirty="0"/>
              <a:t>sequence example dynamic and recursive with comparison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Travelling </a:t>
            </a:r>
            <a:r>
              <a:rPr lang="en-US" dirty="0"/>
              <a:t>salesman problem by dynamic programming. And </a:t>
            </a:r>
            <a:endParaRPr lang="en-US" dirty="0" smtClean="0"/>
          </a:p>
          <a:p>
            <a:r>
              <a:rPr lang="en-US" dirty="0" smtClean="0"/>
              <a:t>0-1 </a:t>
            </a:r>
            <a:r>
              <a:rPr lang="en-US" dirty="0"/>
              <a:t>knapsack problem using dynamic programming.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General strategy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 smtClean="0"/>
              <a:t>Dynamic Programming (DP) </a:t>
            </a:r>
            <a:r>
              <a:rPr lang="en-US" dirty="0" smtClean="0"/>
              <a:t>is an optimization technique used in algorithm design to solve complex problems by breaking them down into simpler sub-problems and saves the result for future purposes so that we do not need to compute the result again. </a:t>
            </a:r>
          </a:p>
          <a:p>
            <a:pPr algn="just"/>
            <a:r>
              <a:rPr lang="en-US" dirty="0" smtClean="0"/>
              <a:t>DP is widely used to improve the efficiency of recursive solutions by avoiding redundant calculations.</a:t>
            </a:r>
          </a:p>
          <a:p>
            <a:pPr algn="just"/>
            <a:r>
              <a:rPr lang="en-US" dirty="0" smtClean="0"/>
              <a:t>It is particularly useful for problems that have </a:t>
            </a:r>
            <a:r>
              <a:rPr lang="en-US" b="1" dirty="0" smtClean="0">
                <a:solidFill>
                  <a:srgbClr val="C00000"/>
                </a:solidFill>
              </a:rPr>
              <a:t>overlapping sub-problems and optimal substructure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General strategy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/>
              <a:t>Dynamic Programming (DP) </a:t>
            </a:r>
            <a:r>
              <a:rPr lang="en-US" dirty="0" smtClean="0"/>
              <a:t>Follows “</a:t>
            </a:r>
            <a:r>
              <a:rPr lang="en-US" b="1" dirty="0" smtClean="0"/>
              <a:t>principle of optimality”</a:t>
            </a:r>
          </a:p>
          <a:p>
            <a:pPr algn="just"/>
            <a:r>
              <a:rPr lang="en-US" dirty="0" smtClean="0">
                <a:solidFill>
                  <a:srgbClr val="C00000"/>
                </a:solidFill>
              </a:rPr>
              <a:t>It means :</a:t>
            </a:r>
          </a:p>
          <a:p>
            <a:pPr algn="just"/>
            <a:r>
              <a:rPr lang="en-US" dirty="0" smtClean="0">
                <a:solidFill>
                  <a:srgbClr val="C00000"/>
                </a:solidFill>
              </a:rPr>
              <a:t>It will take decision at each stage to find </a:t>
            </a:r>
            <a:r>
              <a:rPr lang="en-US" smtClean="0">
                <a:solidFill>
                  <a:srgbClr val="C00000"/>
                </a:solidFill>
              </a:rPr>
              <a:t>optimal solution.</a:t>
            </a:r>
            <a:endParaRPr lang="en-US" dirty="0" smtClean="0">
              <a:solidFill>
                <a:srgbClr val="C00000"/>
              </a:solidFill>
            </a:endParaRP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381000"/>
            <a:ext cx="8839200" cy="57451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Overlapping Subproblems</a:t>
            </a:r>
          </a:p>
          <a:p>
            <a:pPr lvl="1"/>
            <a:r>
              <a:rPr lang="en-US" dirty="0" smtClean="0"/>
              <a:t>A problem has </a:t>
            </a:r>
            <a:r>
              <a:rPr lang="en-US" b="1" dirty="0" smtClean="0"/>
              <a:t>overlapping sub-</a:t>
            </a:r>
          </a:p>
          <a:p>
            <a:pPr marL="457200" lvl="1" indent="0">
              <a:buNone/>
            </a:pPr>
            <a:r>
              <a:rPr lang="en-US" b="1" dirty="0" smtClean="0"/>
              <a:t>  problems</a:t>
            </a:r>
            <a:r>
              <a:rPr lang="en-US" dirty="0" smtClean="0"/>
              <a:t> if it solves the same smaller 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problems multiple times.</a:t>
            </a:r>
          </a:p>
          <a:p>
            <a:r>
              <a:rPr lang="en-US" b="1" dirty="0" smtClean="0"/>
              <a:t>Example: Fibonacci Numbers</a:t>
            </a:r>
          </a:p>
          <a:p>
            <a:pPr lvl="1"/>
            <a:r>
              <a:rPr lang="en-US" dirty="0" smtClean="0"/>
              <a:t>The Fibonacci sequence is:</a:t>
            </a:r>
          </a:p>
          <a:p>
            <a:pPr lvl="1"/>
            <a:r>
              <a:rPr lang="en-US" dirty="0" smtClean="0"/>
              <a:t>F(n)=F(n−1)+F(n−2)</a:t>
            </a:r>
          </a:p>
          <a:p>
            <a:pPr lvl="1"/>
            <a:r>
              <a:rPr lang="en-US" dirty="0" smtClean="0"/>
              <a:t>Let’s compute F(5)using recursion:</a:t>
            </a:r>
          </a:p>
          <a:p>
            <a:pPr marL="346075" lvl="1" indent="-346075">
              <a:buNone/>
            </a:pPr>
            <a:r>
              <a:rPr lang="en-US" sz="3200" b="1" dirty="0" smtClean="0"/>
              <a:t>2.Opti</a:t>
            </a:r>
            <a:r>
              <a:rPr lang="en-US" b="1" dirty="0" smtClean="0"/>
              <a:t>mal Substructure</a:t>
            </a:r>
            <a:r>
              <a:rPr lang="en-US" dirty="0" smtClean="0"/>
              <a:t> → The best solution is built from the best solutions of subproblems.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381000"/>
            <a:ext cx="2743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pPr algn="just"/>
            <a:r>
              <a:rPr lang="en-US" dirty="0"/>
              <a:t>Dynamic programming approach is similar to divide and conquer in breaking down the problem into smaller and yet smaller possible sub-problems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But </a:t>
            </a:r>
            <a:r>
              <a:rPr lang="en-US" dirty="0"/>
              <a:t>unlike divide and conquer, these sub-problems are not solved independently. </a:t>
            </a:r>
            <a:endParaRPr lang="en-US" dirty="0" smtClean="0"/>
          </a:p>
          <a:p>
            <a:pPr algn="just"/>
            <a:r>
              <a:rPr lang="en-US" dirty="0" smtClean="0"/>
              <a:t>Rather</a:t>
            </a:r>
            <a:r>
              <a:rPr lang="en-US" dirty="0"/>
              <a:t>, results of these smaller sub-problems are </a:t>
            </a:r>
            <a:r>
              <a:rPr lang="en-US" dirty="0" smtClean="0"/>
              <a:t>remembered (Memoization) </a:t>
            </a:r>
            <a:r>
              <a:rPr lang="en-US" dirty="0"/>
              <a:t>and used for similar or overlapping sub-problems.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Applications of Dynamic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hlinkClick r:id="rId2"/>
              </a:rPr>
              <a:t>0-1 </a:t>
            </a:r>
            <a:r>
              <a:rPr lang="en-US" dirty="0">
                <a:hlinkClick r:id="rId2"/>
              </a:rPr>
              <a:t>Knapsack Problem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hlinkClick r:id="rId3"/>
              </a:rPr>
              <a:t>Travelling </a:t>
            </a:r>
            <a:r>
              <a:rPr lang="en-US" dirty="0">
                <a:hlinkClick r:id="rId3"/>
              </a:rPr>
              <a:t>Salesman Problem (Dynamic Approach)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4"/>
              </a:rPr>
              <a:t>Longest Common Subsequence Algorithm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5"/>
              </a:rPr>
              <a:t>Floyd </a:t>
            </a:r>
            <a:r>
              <a:rPr lang="en-US" dirty="0" err="1">
                <a:hlinkClick r:id="rId5"/>
              </a:rPr>
              <a:t>Warshall</a:t>
            </a:r>
            <a:r>
              <a:rPr lang="en-US" dirty="0">
                <a:hlinkClick r:id="rId5"/>
              </a:rPr>
              <a:t> Algorithm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6"/>
              </a:rPr>
              <a:t>Matrix Chain Multiplication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does the dynamic programming approach work?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The </a:t>
            </a:r>
            <a:r>
              <a:rPr lang="en-US" dirty="0"/>
              <a:t>following are the steps that the dynamic programming follows: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breaks down the complex problem into simpler subproblems.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finds the optimal solution to these sub-problems.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stores the results of subproblems </a:t>
            </a:r>
            <a:r>
              <a:rPr lang="en-US" dirty="0" smtClean="0"/>
              <a:t>. </a:t>
            </a:r>
            <a:r>
              <a:rPr lang="en-US" dirty="0"/>
              <a:t>The process of storing the results of subproblems is known as </a:t>
            </a:r>
            <a:r>
              <a:rPr lang="en-US" b="1" dirty="0" smtClean="0"/>
              <a:t>memoization</a:t>
            </a:r>
            <a:r>
              <a:rPr lang="en-US" b="1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It reuses them so that same sub-problem is calculated </a:t>
            </a:r>
            <a:r>
              <a:rPr lang="en-US" dirty="0" smtClean="0"/>
              <a:t>not more </a:t>
            </a:r>
            <a:r>
              <a:rPr lang="en-US" dirty="0"/>
              <a:t>than once.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Finally, calculate the result of the complex problem</a:t>
            </a:r>
            <a:r>
              <a:rPr lang="en-US" dirty="0" smtClean="0"/>
              <a:t>.</a:t>
            </a:r>
          </a:p>
          <a:p>
            <a:pPr marL="514350" indent="-514350">
              <a:buNone/>
            </a:pPr>
            <a:r>
              <a:rPr lang="en-US" dirty="0" smtClean="0"/>
              <a:t>    In </a:t>
            </a:r>
            <a:r>
              <a:rPr lang="en-US" dirty="0"/>
              <a:t>the case of dynamic programming, the space complexity would be increased as we are storing the intermediate results, </a:t>
            </a:r>
            <a:r>
              <a:rPr lang="en-US" dirty="0" smtClean="0"/>
              <a:t>but </a:t>
            </a:r>
            <a:r>
              <a:rPr lang="en-US" dirty="0"/>
              <a:t>the time complexity would be decreased.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Approaches of dynamic programming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dirty="0" smtClean="0"/>
              <a:t>There </a:t>
            </a:r>
            <a:r>
              <a:rPr lang="en-US" dirty="0"/>
              <a:t>are two approaches to dynamic programming:</a:t>
            </a:r>
          </a:p>
          <a:p>
            <a:r>
              <a:rPr lang="en-US" dirty="0"/>
              <a:t>Top-down approach</a:t>
            </a:r>
          </a:p>
          <a:p>
            <a:r>
              <a:rPr lang="en-US" dirty="0"/>
              <a:t>Bottom-up approach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Top-down approach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Autofit/>
          </a:bodyPr>
          <a:lstStyle/>
          <a:p>
            <a:r>
              <a:rPr lang="en-US" sz="2200" dirty="0" smtClean="0"/>
              <a:t>The </a:t>
            </a:r>
            <a:r>
              <a:rPr lang="en-US" sz="2200" dirty="0"/>
              <a:t>top-down approach follows the </a:t>
            </a:r>
            <a:r>
              <a:rPr lang="en-US" sz="2200" b="1" dirty="0"/>
              <a:t>memorization </a:t>
            </a:r>
            <a:r>
              <a:rPr lang="en-US" sz="2200" b="1" dirty="0" smtClean="0"/>
              <a:t>technique</a:t>
            </a:r>
          </a:p>
          <a:p>
            <a:r>
              <a:rPr lang="en-US" sz="2200" dirty="0" smtClean="0"/>
              <a:t> </a:t>
            </a:r>
            <a:r>
              <a:rPr lang="en-US" sz="2200" dirty="0"/>
              <a:t>while bottom-up approach follows the </a:t>
            </a:r>
            <a:r>
              <a:rPr lang="en-US" sz="2200" b="1" dirty="0"/>
              <a:t>tabulation method. </a:t>
            </a:r>
            <a:endParaRPr lang="en-US" sz="2200" b="1" dirty="0" smtClean="0"/>
          </a:p>
          <a:p>
            <a:pPr>
              <a:buNone/>
            </a:pPr>
            <a:r>
              <a:rPr lang="en-US" sz="2200" b="1" dirty="0" smtClean="0"/>
              <a:t>Advantages</a:t>
            </a:r>
            <a:endParaRPr lang="en-US" sz="2200" dirty="0"/>
          </a:p>
          <a:p>
            <a:r>
              <a:rPr lang="en-US" sz="2200" dirty="0"/>
              <a:t>It is very easy to understand and implement.</a:t>
            </a:r>
          </a:p>
          <a:p>
            <a:r>
              <a:rPr lang="en-US" sz="2200" dirty="0"/>
              <a:t>It solves the subproblems only when it is required.</a:t>
            </a:r>
          </a:p>
          <a:p>
            <a:r>
              <a:rPr lang="en-US" sz="2200" dirty="0"/>
              <a:t>It is easy to debug</a:t>
            </a:r>
            <a:r>
              <a:rPr lang="en-US" sz="2200" dirty="0" smtClean="0"/>
              <a:t>.</a:t>
            </a:r>
          </a:p>
          <a:p>
            <a:pPr>
              <a:buNone/>
            </a:pPr>
            <a:r>
              <a:rPr lang="en-US" sz="2200" b="1" dirty="0" smtClean="0"/>
              <a:t> </a:t>
            </a:r>
            <a:r>
              <a:rPr lang="en-US" sz="2200" b="1" dirty="0"/>
              <a:t>Disadvantages</a:t>
            </a:r>
            <a:endParaRPr lang="en-US" sz="2200" dirty="0"/>
          </a:p>
          <a:p>
            <a:r>
              <a:rPr lang="en-US" sz="2200" dirty="0"/>
              <a:t>It uses the recursion technique that occupies more memory in the call stack. </a:t>
            </a:r>
            <a:endParaRPr lang="en-US" sz="2200" dirty="0" smtClean="0"/>
          </a:p>
          <a:p>
            <a:r>
              <a:rPr lang="en-US" sz="2200" dirty="0" smtClean="0"/>
              <a:t>Sometimes </a:t>
            </a:r>
            <a:r>
              <a:rPr lang="en-US" sz="2200" dirty="0"/>
              <a:t>when the recursion is too deep, the stack overflow condition will occur.</a:t>
            </a:r>
          </a:p>
          <a:p>
            <a:r>
              <a:rPr lang="en-US" sz="2200" dirty="0"/>
              <a:t>It occupies more memory that degrades the overall performance.</a:t>
            </a:r>
          </a:p>
          <a:p>
            <a:endParaRPr lang="en-US" sz="2200" dirty="0"/>
          </a:p>
          <a:p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Bottom-Up approach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bottom-up approach is also one of the techniques which can be used to implement the dynamic programming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uses the tabulation technique to implement the dynamic programming approach.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solves the same kind of problems but it removes the recursion.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we remove the recursion, there is no stack overflow issue and no overhead of the recursive functions.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tabulation technique, we solve the problems and store the results in a matrix.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5638800" cy="58213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b="1" dirty="0" smtClean="0"/>
              <a:t>Why is it called "Top-Down"?</a:t>
            </a:r>
            <a:endParaRPr lang="en-US" dirty="0" smtClean="0"/>
          </a:p>
          <a:p>
            <a:pPr algn="just"/>
            <a:r>
              <a:rPr lang="en-US" dirty="0" smtClean="0"/>
              <a:t>We </a:t>
            </a:r>
            <a:r>
              <a:rPr lang="en-US" b="1" dirty="0" smtClean="0"/>
              <a:t>start from the main problem</a:t>
            </a:r>
            <a:r>
              <a:rPr lang="en-US" dirty="0" smtClean="0"/>
              <a:t> and </a:t>
            </a:r>
            <a:r>
              <a:rPr lang="en-US" b="1" dirty="0" smtClean="0"/>
              <a:t>break it into smaller subproblems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If a subproblem has been solved before, we </a:t>
            </a:r>
            <a:r>
              <a:rPr lang="en-US" b="1" dirty="0" smtClean="0"/>
              <a:t>reuse the stored result</a:t>
            </a:r>
            <a:r>
              <a:rPr lang="en-US" dirty="0" smtClean="0"/>
              <a:t> (</a:t>
            </a:r>
            <a:r>
              <a:rPr lang="en-US" b="1" dirty="0" smtClean="0"/>
              <a:t>memoization</a:t>
            </a:r>
            <a:r>
              <a:rPr lang="en-US" dirty="0" smtClean="0"/>
              <a:t>).</a:t>
            </a:r>
          </a:p>
          <a:p>
            <a:pPr algn="just"/>
            <a:r>
              <a:rPr lang="en-US" dirty="0" smtClean="0"/>
              <a:t>This follows a </a:t>
            </a:r>
            <a:r>
              <a:rPr lang="en-US" b="1" dirty="0" smtClean="0"/>
              <a:t>recursive</a:t>
            </a:r>
            <a:r>
              <a:rPr lang="en-US" dirty="0" smtClean="0"/>
              <a:t> approach.</a:t>
            </a:r>
          </a:p>
          <a:p>
            <a:pPr algn="just"/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609600"/>
            <a:ext cx="2819400" cy="5181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04800"/>
            <a:ext cx="5334000" cy="58213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 smtClean="0"/>
              <a:t>Why is it called "Bottom-Up"?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b="1" dirty="0" smtClean="0"/>
              <a:t>start solving the smallest subproblems first</a:t>
            </a:r>
            <a:r>
              <a:rPr lang="en-US" dirty="0" smtClean="0"/>
              <a:t> and build up to the final solution.</a:t>
            </a:r>
          </a:p>
          <a:p>
            <a:r>
              <a:rPr lang="en-US" dirty="0" smtClean="0"/>
              <a:t>Uses </a:t>
            </a:r>
            <a:r>
              <a:rPr lang="en-US" b="1" dirty="0" smtClean="0"/>
              <a:t>iteration instead of recursion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Stores all results in a </a:t>
            </a:r>
            <a:r>
              <a:rPr lang="en-US" b="1" dirty="0" smtClean="0"/>
              <a:t>table (array </a:t>
            </a:r>
            <a:r>
              <a:rPr lang="en-US" b="1" dirty="0" err="1" smtClean="0"/>
              <a:t>dp</a:t>
            </a:r>
            <a:r>
              <a:rPr lang="en-US" b="1" dirty="0" smtClean="0"/>
              <a:t>[])</a:t>
            </a:r>
            <a:r>
              <a:rPr lang="en-US" dirty="0" smtClean="0"/>
              <a:t> to avoid re-computation.</a:t>
            </a:r>
          </a:p>
          <a:p>
            <a:pPr algn="just"/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304800"/>
            <a:ext cx="2819400" cy="5943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6000" b="1" dirty="0" smtClean="0"/>
          </a:p>
          <a:p>
            <a:pPr algn="ctr">
              <a:buNone/>
            </a:pPr>
            <a:r>
              <a:rPr lang="en-US" sz="6000" b="1" dirty="0" smtClean="0"/>
              <a:t>      Fibonacci sequence using DP</a:t>
            </a:r>
            <a:endParaRPr lang="en-US" sz="60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7400" y="228600"/>
            <a:ext cx="2819400" cy="6324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0,1,1,2,3,5,8,13…. Now we want to find out nth term for </a:t>
            </a:r>
            <a:r>
              <a:rPr lang="en-US" sz="2800" dirty="0" err="1" smtClean="0"/>
              <a:t>eg</a:t>
            </a:r>
            <a:r>
              <a:rPr lang="en-US" sz="2800" dirty="0" smtClean="0"/>
              <a:t>.</a:t>
            </a:r>
            <a:br>
              <a:rPr lang="en-US" sz="2800" dirty="0" smtClean="0"/>
            </a:br>
            <a:r>
              <a:rPr lang="en-US" sz="2800" dirty="0" smtClean="0"/>
              <a:t>Fib(5) ,total 15 calls done</a:t>
            </a:r>
            <a:endParaRPr lang="en-US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381000"/>
            <a:ext cx="48006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800" y="3505200"/>
            <a:ext cx="36195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recurrence relation </a:t>
            </a:r>
            <a:br>
              <a:rPr lang="en-US" dirty="0" smtClean="0"/>
            </a:br>
            <a:r>
              <a:rPr lang="en-US" dirty="0" smtClean="0"/>
              <a:t>T(n)=2T(n-1)+1</a:t>
            </a:r>
          </a:p>
          <a:p>
            <a:r>
              <a:rPr lang="en-US" dirty="0" err="1" smtClean="0"/>
              <a:t>Ans</a:t>
            </a:r>
            <a:r>
              <a:rPr lang="en-US" dirty="0" smtClean="0"/>
              <a:t>=O(2^n)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So can we minimize it ? YES using DP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Memoization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we take Global Array, initially empty so -1 used </a:t>
            </a:r>
            <a:r>
              <a:rPr lang="en-US" dirty="0" err="1" smtClean="0"/>
              <a:t>i.e</a:t>
            </a:r>
            <a:r>
              <a:rPr lang="en-US" dirty="0" smtClean="0"/>
              <a:t> not known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Now trace the tree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6400" y="2971800"/>
          <a:ext cx="60960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5400" dirty="0" smtClean="0"/>
                        <a:t>-1</a:t>
                      </a:r>
                      <a:endParaRPr lang="en-US" sz="5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en-US" sz="5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en-US" sz="5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en-US" sz="5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81200" y="419100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971800" y="4191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962400" y="4191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53000" y="4191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19800" y="4191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162800" y="4191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Fib5, -1 ,we don’t know it value ,so call the function Fib3 -1 ,Fib4=-1 ,Fib1 now in code it is given base case as it return n.</a:t>
            </a:r>
            <a:br>
              <a:rPr lang="en-US" dirty="0" smtClean="0"/>
            </a:br>
            <a:r>
              <a:rPr lang="en-US" dirty="0" smtClean="0"/>
              <a:t>for Fib1 =1 ,store in array.</a:t>
            </a:r>
          </a:p>
          <a:p>
            <a:r>
              <a:rPr lang="en-US" dirty="0" smtClean="0"/>
              <a:t>Fib2,unknown,Fib0=0….use the stored value for calculations.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76400" y="4754880"/>
          <a:ext cx="60960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5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5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1981200" y="5879068"/>
            <a:ext cx="5715000" cy="369332"/>
            <a:chOff x="1981200" y="4191000"/>
            <a:chExt cx="5715000" cy="369332"/>
          </a:xfrm>
        </p:grpSpPr>
        <p:sp>
          <p:nvSpPr>
            <p:cNvPr id="5" name="TextBox 4"/>
            <p:cNvSpPr txBox="1"/>
            <p:nvPr/>
          </p:nvSpPr>
          <p:spPr>
            <a:xfrm>
              <a:off x="19812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71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624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9530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019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162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 smtClean="0"/>
              <a:t>By storing the result ,we have minimize the repeated calls .</a:t>
            </a:r>
            <a:br>
              <a:rPr lang="en-US" dirty="0" smtClean="0"/>
            </a:br>
            <a:r>
              <a:rPr lang="en-US" dirty="0" smtClean="0"/>
              <a:t>Here we have done 6 calls ,</a:t>
            </a:r>
            <a:r>
              <a:rPr lang="en-US" dirty="0" err="1" smtClean="0"/>
              <a:t>i.e</a:t>
            </a:r>
            <a:r>
              <a:rPr lang="en-US" dirty="0" smtClean="0"/>
              <a:t> n+1 calls.</a:t>
            </a:r>
            <a:br>
              <a:rPr lang="en-US" dirty="0" smtClean="0"/>
            </a:br>
            <a:r>
              <a:rPr lang="en-US" dirty="0" smtClean="0"/>
              <a:t>So Time complexity reduced to </a:t>
            </a:r>
            <a:r>
              <a:rPr lang="en-US" b="1" dirty="0" smtClean="0"/>
              <a:t>O(n) </a:t>
            </a:r>
            <a:r>
              <a:rPr lang="en-US" dirty="0" smtClean="0"/>
              <a:t>i.e. exponential to linear.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00"/>
            <a:ext cx="80010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dirty="0" smtClean="0"/>
              <a:t>Memoization follows top down approach ,here we have started with Fib(5) then goes down .</a:t>
            </a:r>
          </a:p>
          <a:p>
            <a:r>
              <a:rPr lang="en-US" dirty="0" smtClean="0"/>
              <a:t>But it is now commonly used.</a:t>
            </a:r>
          </a:p>
          <a:p>
            <a:r>
              <a:rPr lang="en-US" dirty="0" smtClean="0"/>
              <a:t>Tabulation method is common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Tabulation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this code :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09800"/>
            <a:ext cx="4114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05400" y="1371600"/>
          <a:ext cx="35052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4200"/>
                <a:gridCol w="584200"/>
                <a:gridCol w="584200"/>
                <a:gridCol w="584200"/>
                <a:gridCol w="584200"/>
                <a:gridCol w="5842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5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5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5248274" y="2495788"/>
            <a:ext cx="3286125" cy="369332"/>
            <a:chOff x="1981200" y="4191000"/>
            <a:chExt cx="5715000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19812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71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624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530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19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62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105400" y="3200400"/>
          <a:ext cx="33528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4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0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0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0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5181600" y="4038600"/>
            <a:ext cx="3143250" cy="369332"/>
            <a:chOff x="1981200" y="4191000"/>
            <a:chExt cx="5715000" cy="369332"/>
          </a:xfrm>
        </p:grpSpPr>
        <p:sp>
          <p:nvSpPr>
            <p:cNvPr id="15" name="TextBox 14"/>
            <p:cNvSpPr txBox="1"/>
            <p:nvPr/>
          </p:nvSpPr>
          <p:spPr>
            <a:xfrm>
              <a:off x="19812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971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624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530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019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162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6324600" y="42672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</a:t>
            </a:r>
            <a:endParaRPr lang="en-US" b="1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953000" y="5105400"/>
          <a:ext cx="33528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endParaRPr 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6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5257800" y="5867400"/>
            <a:ext cx="3143250" cy="369332"/>
            <a:chOff x="1981200" y="4191000"/>
            <a:chExt cx="5715000" cy="369332"/>
          </a:xfrm>
        </p:grpSpPr>
        <p:sp>
          <p:nvSpPr>
            <p:cNvPr id="24" name="TextBox 23"/>
            <p:cNvSpPr txBox="1"/>
            <p:nvPr/>
          </p:nvSpPr>
          <p:spPr>
            <a:xfrm>
              <a:off x="19812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971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624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9530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19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162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781800" y="60198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</a:t>
            </a:r>
            <a:endParaRPr lang="en-US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Tabulation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this code :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09800"/>
            <a:ext cx="4114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05400" y="1371600"/>
          <a:ext cx="350520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84200"/>
                <a:gridCol w="584200"/>
                <a:gridCol w="584200"/>
                <a:gridCol w="584200"/>
                <a:gridCol w="584200"/>
                <a:gridCol w="584200"/>
              </a:tblGrid>
              <a:tr h="990600">
                <a:tc>
                  <a:txBody>
                    <a:bodyPr/>
                    <a:lstStyle/>
                    <a:p>
                      <a:pPr algn="ctr"/>
                      <a:r>
                        <a:rPr lang="en-US" sz="54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5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" name="Group 5"/>
          <p:cNvGrpSpPr/>
          <p:nvPr/>
        </p:nvGrpSpPr>
        <p:grpSpPr>
          <a:xfrm>
            <a:off x="5248274" y="2495788"/>
            <a:ext cx="3286125" cy="369332"/>
            <a:chOff x="1981200" y="4191000"/>
            <a:chExt cx="5715000" cy="369332"/>
          </a:xfrm>
        </p:grpSpPr>
        <p:sp>
          <p:nvSpPr>
            <p:cNvPr id="7" name="TextBox 6"/>
            <p:cNvSpPr txBox="1"/>
            <p:nvPr/>
          </p:nvSpPr>
          <p:spPr>
            <a:xfrm>
              <a:off x="19812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71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624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530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19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62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7620000" y="28194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</a:t>
            </a:r>
            <a:endParaRPr lang="en-US" b="1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953000" y="3581400"/>
          <a:ext cx="335280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8800"/>
                <a:gridCol w="558800"/>
                <a:gridCol w="558800"/>
                <a:gridCol w="558800"/>
                <a:gridCol w="558800"/>
                <a:gridCol w="5588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  <a:p>
                      <a:endParaRPr lang="en-US" sz="7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4" name="Group 22"/>
          <p:cNvGrpSpPr/>
          <p:nvPr/>
        </p:nvGrpSpPr>
        <p:grpSpPr>
          <a:xfrm>
            <a:off x="5257800" y="4343400"/>
            <a:ext cx="3143250" cy="369332"/>
            <a:chOff x="1981200" y="4191000"/>
            <a:chExt cx="5715000" cy="369332"/>
          </a:xfrm>
        </p:grpSpPr>
        <p:sp>
          <p:nvSpPr>
            <p:cNvPr id="24" name="TextBox 23"/>
            <p:cNvSpPr txBox="1"/>
            <p:nvPr/>
          </p:nvSpPr>
          <p:spPr>
            <a:xfrm>
              <a:off x="19812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0</a:t>
              </a:r>
              <a:endParaRPr lang="en-US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971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624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2</a:t>
              </a:r>
              <a:endParaRPr lang="en-US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9530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3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019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4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162800" y="41910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5</a:t>
              </a:r>
              <a:endParaRPr lang="en-US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7848600" y="4572000"/>
            <a:ext cx="38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i</a:t>
            </a:r>
            <a:endParaRPr lang="en-US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4876800" y="5257800"/>
            <a:ext cx="3733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It uses bottom up approach ,we started with base condition 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6600" b="1" dirty="0" smtClean="0"/>
              <a:t>   0-1 Knapsack problem using dynamic programming</a:t>
            </a:r>
            <a:endParaRPr lang="en-US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0-1 Knapsack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Unlike in fractional knapsack, the items are always stored fully without using the fractional part of them. </a:t>
            </a:r>
          </a:p>
          <a:p>
            <a:pPr algn="just"/>
            <a:r>
              <a:rPr lang="en-US" dirty="0" smtClean="0"/>
              <a:t>Its either the item is added to the knapsack or not. Its not divisible .</a:t>
            </a:r>
          </a:p>
          <a:p>
            <a:pPr algn="just"/>
            <a:r>
              <a:rPr lang="en-US" dirty="0" smtClean="0"/>
              <a:t>that is why, this method is known as the</a:t>
            </a:r>
            <a:r>
              <a:rPr lang="en-US" b="1" dirty="0" smtClean="0"/>
              <a:t> 0-1 Knapsack problem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Aim for this is to maximize the total value of items placed in a knapsack of limited capacity.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Problem Statement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Given:</a:t>
            </a:r>
          </a:p>
          <a:p>
            <a:r>
              <a:rPr lang="en-US" dirty="0" smtClean="0"/>
              <a:t>N items/objects, each with a weight (w[i]) and a value/profit  (p[i]).</a:t>
            </a:r>
          </a:p>
          <a:p>
            <a:r>
              <a:rPr lang="en-US" dirty="0" smtClean="0"/>
              <a:t>A knapsack with a maximum weight capacity of M.</a:t>
            </a:r>
          </a:p>
          <a:p>
            <a:r>
              <a:rPr lang="en-US" dirty="0" smtClean="0"/>
              <a:t>Find the maximum value/profit that can be obtained by selecting some items, ensuring that their total weight does not exceed M.</a:t>
            </a:r>
          </a:p>
          <a:p>
            <a:r>
              <a:rPr lang="en-US" dirty="0" smtClean="0"/>
              <a:t> Each item can be </a:t>
            </a:r>
            <a:r>
              <a:rPr lang="en-US" b="1" dirty="0" smtClean="0"/>
              <a:t>either included (1) or not included (0)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Dynamic Programming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In this we take decision at every stage that items include or not, represented as 1or 0.</a:t>
            </a:r>
          </a:p>
          <a:p>
            <a:r>
              <a:rPr lang="en-US" dirty="0" smtClean="0"/>
              <a:t>W=8   n=4</a:t>
            </a:r>
          </a:p>
          <a:p>
            <a:r>
              <a:rPr lang="en-US" dirty="0" smtClean="0"/>
              <a:t>P={1,2,5,6}</a:t>
            </a:r>
          </a:p>
          <a:p>
            <a:r>
              <a:rPr lang="en-US" dirty="0" smtClean="0"/>
              <a:t>w={2,3,4,5}</a:t>
            </a:r>
          </a:p>
          <a:p>
            <a:r>
              <a:rPr lang="en-US" dirty="0" smtClean="0"/>
              <a:t>If we apply brute force here then we can find possible combinations like</a:t>
            </a:r>
          </a:p>
          <a:p>
            <a:r>
              <a:rPr lang="en-US" dirty="0" smtClean="0"/>
              <a:t>{0,0,0,0}</a:t>
            </a:r>
          </a:p>
          <a:p>
            <a:r>
              <a:rPr lang="en-US" dirty="0" smtClean="0"/>
              <a:t>{0,0,0,1}</a:t>
            </a:r>
          </a:p>
          <a:p>
            <a:r>
              <a:rPr lang="en-US" dirty="0" smtClean="0"/>
              <a:t>{0,1,0,1}</a:t>
            </a:r>
          </a:p>
          <a:p>
            <a:r>
              <a:rPr lang="en-US" dirty="0" smtClean="0"/>
              <a:t>{1,0,1,0} like wise ,n choose which one will give max profit.  It will required 2^n solutions .So using DP we can min it.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2590800" cy="29718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Tabulation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mtd</a:t>
            </a:r>
            <a:r>
              <a:rPr lang="en-US" dirty="0" smtClean="0"/>
              <a:t>:</a:t>
            </a:r>
          </a:p>
          <a:p>
            <a:r>
              <a:rPr lang="en-US" dirty="0" smtClean="0"/>
              <a:t>M=8   n=4   </a:t>
            </a:r>
          </a:p>
          <a:p>
            <a:r>
              <a:rPr lang="en-US" dirty="0" smtClean="0"/>
              <a:t>P={1,2,5,6}</a:t>
            </a:r>
          </a:p>
          <a:p>
            <a:r>
              <a:rPr lang="en-US" dirty="0" smtClean="0"/>
              <a:t>w={2,3,4,5}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4038600"/>
          <a:ext cx="7010397" cy="2514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5814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4114800"/>
          <a:ext cx="10668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09463"/>
                <a:gridCol w="557337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40386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361" name="Rectangle 1"/>
          <p:cNvSpPr>
            <a:spLocks noChangeArrowheads="1"/>
          </p:cNvSpPr>
          <p:nvPr/>
        </p:nvSpPr>
        <p:spPr bwMode="auto">
          <a:xfrm>
            <a:off x="3352800" y="156762"/>
            <a:ext cx="5410200" cy="301621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The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DP table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V[i][w]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is a 2D array where: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i represents items (0 to 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w represents knapsack capacity (0 to 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400" b="1" dirty="0" smtClean="0">
                <a:latin typeface="Arial" pitchFamily="34" charset="0"/>
                <a:cs typeface="Arial" pitchFamily="34" charset="0"/>
              </a:rPr>
              <a:t> V[i][w] stores the maximum profit we can get by considering the first i items and a knapsack of capacity 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67200" y="3124200"/>
            <a:ext cx="41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W</a:t>
            </a:r>
            <a:endParaRPr lang="en-US" sz="32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705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M=8   n=4       Here we can use formula to solve</a:t>
            </a:r>
          </a:p>
          <a:p>
            <a:r>
              <a:rPr lang="en-US" sz="2800" dirty="0" smtClean="0"/>
              <a:t>P={1,2,5,6}</a:t>
            </a:r>
          </a:p>
          <a:p>
            <a:r>
              <a:rPr lang="en-US" sz="2800" dirty="0" smtClean="0"/>
              <a:t>w={2,3,4,5} </a:t>
            </a:r>
          </a:p>
          <a:p>
            <a:r>
              <a:rPr lang="en-US" sz="2800" dirty="0" smtClean="0"/>
              <a:t>Initially we are not filling any </a:t>
            </a:r>
            <a:r>
              <a:rPr lang="en-US" sz="2800" dirty="0" err="1" smtClean="0"/>
              <a:t>obj</a:t>
            </a:r>
            <a:r>
              <a:rPr lang="en-US" sz="2800" dirty="0" smtClean="0"/>
              <a:t> in bag, so no profit</a:t>
            </a:r>
          </a:p>
          <a:p>
            <a:pPr>
              <a:buNone/>
            </a:pPr>
            <a:r>
              <a:rPr lang="en-US" dirty="0" smtClean="0"/>
              <a:t>                                       w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2004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27432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2766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2004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7056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Now we consider 1</a:t>
            </a:r>
            <a:r>
              <a:rPr lang="en-US" sz="2800" baseline="30000" dirty="0" smtClean="0"/>
              <a:t>st</a:t>
            </a:r>
            <a:r>
              <a:rPr lang="en-US" sz="2800" dirty="0" smtClean="0"/>
              <a:t> object &amp; ignore other </a:t>
            </a:r>
            <a:r>
              <a:rPr lang="en-US" sz="2800" dirty="0" err="1" smtClean="0"/>
              <a:t>obj</a:t>
            </a:r>
            <a:r>
              <a:rPr lang="en-US" sz="2800" dirty="0" smtClean="0"/>
              <a:t> .Similarly goes to 2</a:t>
            </a:r>
            <a:r>
              <a:rPr lang="en-US" sz="2800" baseline="30000" dirty="0" smtClean="0"/>
              <a:t>nd</a:t>
            </a:r>
            <a:r>
              <a:rPr lang="en-US" sz="2800" dirty="0" smtClean="0"/>
              <a:t> </a:t>
            </a:r>
            <a:r>
              <a:rPr lang="en-US" sz="2800" dirty="0" err="1" smtClean="0"/>
              <a:t>obj</a:t>
            </a:r>
            <a:r>
              <a:rPr lang="en-US" sz="2800" dirty="0" smtClean="0"/>
              <a:t> consider  &amp; 1</a:t>
            </a:r>
            <a:r>
              <a:rPr lang="en-US" sz="2800" baseline="30000" dirty="0" smtClean="0"/>
              <a:t>st</a:t>
            </a:r>
            <a:r>
              <a:rPr lang="en-US" sz="2800" dirty="0" smtClean="0"/>
              <a:t> is also be considered and ignored remaining ,means </a:t>
            </a:r>
          </a:p>
          <a:p>
            <a:r>
              <a:rPr lang="en-US" sz="2800" dirty="0" smtClean="0"/>
              <a:t>If we at </a:t>
            </a:r>
            <a:r>
              <a:rPr lang="en-US" sz="2800" dirty="0" err="1" smtClean="0"/>
              <a:t>i</a:t>
            </a:r>
            <a:r>
              <a:rPr lang="en-US" sz="2800" baseline="30000" dirty="0" err="1" smtClean="0"/>
              <a:t>th</a:t>
            </a:r>
            <a:r>
              <a:rPr lang="en-US" sz="2800" baseline="30000" dirty="0" smtClean="0"/>
              <a:t> </a:t>
            </a:r>
            <a:r>
              <a:rPr lang="en-US" sz="2800" dirty="0" smtClean="0"/>
              <a:t>row means we consider all the objects also</a:t>
            </a:r>
            <a:r>
              <a:rPr lang="en-US" dirty="0" smtClean="0"/>
              <a:t>                                          </a:t>
            </a:r>
          </a:p>
          <a:p>
            <a:pPr>
              <a:buNone/>
            </a:pPr>
            <a:r>
              <a:rPr lang="en-US" dirty="0" smtClean="0"/>
              <a:t>                                             w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2004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27432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2766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2004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705600"/>
          </a:xfrm>
        </p:spPr>
        <p:txBody>
          <a:bodyPr>
            <a:normAutofit/>
          </a:bodyPr>
          <a:lstStyle/>
          <a:p>
            <a:r>
              <a:rPr lang="en-US" dirty="0" smtClean="0"/>
              <a:t>Now first weight 2, it can be filled if capacity is 2 ,so profit will be one .Write it in table ,1 will be as previous </a:t>
            </a:r>
            <a:r>
              <a:rPr lang="en-US" dirty="0" err="1" smtClean="0"/>
              <a:t>i.e</a:t>
            </a:r>
            <a:r>
              <a:rPr lang="en-US" dirty="0" smtClean="0"/>
              <a:t> 0. and remaining row values will be 1 because at this stage we are having only one </a:t>
            </a:r>
            <a:r>
              <a:rPr lang="en-US" dirty="0" err="1" smtClean="0"/>
              <a:t>obj</a:t>
            </a:r>
            <a:r>
              <a:rPr lang="en-US" dirty="0" smtClean="0"/>
              <a:t> to fill</a:t>
            </a:r>
          </a:p>
          <a:p>
            <a:endParaRPr lang="en-US" dirty="0" smtClean="0"/>
          </a:p>
          <a:p>
            <a:pPr algn="ctr"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2004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27432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2766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2004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2961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11" name="Group 10"/>
          <p:cNvGrpSpPr/>
          <p:nvPr/>
        </p:nvGrpSpPr>
        <p:grpSpPr>
          <a:xfrm>
            <a:off x="304800" y="3886200"/>
            <a:ext cx="990600" cy="304800"/>
            <a:chOff x="381000" y="4419600"/>
            <a:chExt cx="990600" cy="3048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371600" y="4419600"/>
              <a:ext cx="0" cy="304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381000" y="4419600"/>
              <a:ext cx="0" cy="304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Consider 2</a:t>
            </a:r>
            <a:r>
              <a:rPr lang="en-US" sz="2400" baseline="30000" dirty="0" smtClean="0"/>
              <a:t>nd</a:t>
            </a:r>
            <a:r>
              <a:rPr lang="en-US" sz="2400" dirty="0" smtClean="0"/>
              <a:t> </a:t>
            </a:r>
            <a:r>
              <a:rPr lang="en-US" sz="2400" dirty="0" err="1" smtClean="0"/>
              <a:t>obj</a:t>
            </a:r>
            <a:r>
              <a:rPr lang="en-US" sz="2400" dirty="0" smtClean="0"/>
              <a:t> ,it can be filled when M=3 so profit =2 ,write it in table and previous values will be same 0,1 </a:t>
            </a:r>
          </a:p>
          <a:p>
            <a:r>
              <a:rPr lang="en-US" sz="2400" dirty="0" smtClean="0"/>
              <a:t>now we have consider 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also .</a:t>
            </a:r>
          </a:p>
          <a:p>
            <a:r>
              <a:rPr lang="en-US" sz="2400" dirty="0" smtClean="0"/>
              <a:t>So w=5 and M=5 p=3 so from 5 to 8 al values will be 3 .</a:t>
            </a:r>
          </a:p>
          <a:p>
            <a:r>
              <a:rPr lang="en-US" sz="2400" dirty="0" smtClean="0"/>
              <a:t>At 4 ,we can from upper value 1 or its previous 2 ,whichever is max ,so 2</a:t>
            </a:r>
          </a:p>
          <a:p>
            <a:endParaRPr lang="en-US" dirty="0" smtClean="0"/>
          </a:p>
          <a:p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7338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3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2766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8100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7338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8295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18" name="Group 17"/>
          <p:cNvGrpSpPr/>
          <p:nvPr/>
        </p:nvGrpSpPr>
        <p:grpSpPr>
          <a:xfrm>
            <a:off x="304800" y="4419600"/>
            <a:ext cx="990600" cy="838200"/>
            <a:chOff x="381000" y="3886200"/>
            <a:chExt cx="990600" cy="8382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71600" y="3886200"/>
              <a:ext cx="0" cy="8382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1000" y="3886200"/>
              <a:ext cx="0" cy="8382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3</a:t>
            </a:r>
            <a:r>
              <a:rPr lang="en-US" sz="2800" baseline="30000" dirty="0" smtClean="0"/>
              <a:t>rd</a:t>
            </a:r>
            <a:r>
              <a:rPr lang="en-US" sz="2800" dirty="0" smtClean="0"/>
              <a:t> </a:t>
            </a:r>
            <a:r>
              <a:rPr lang="en-US" sz="2800" dirty="0" err="1" smtClean="0"/>
              <a:t>obj</a:t>
            </a:r>
            <a:r>
              <a:rPr lang="en-US" sz="2800" dirty="0" smtClean="0"/>
              <a:t> ,this </a:t>
            </a:r>
            <a:r>
              <a:rPr lang="en-US" sz="2800" dirty="0" err="1" smtClean="0"/>
              <a:t>obj</a:t>
            </a:r>
            <a:r>
              <a:rPr lang="en-US" sz="2800" dirty="0" smtClean="0"/>
              <a:t> can fill in the bag if capacity is 4,so profit is 5 .</a:t>
            </a:r>
          </a:p>
          <a:p>
            <a:r>
              <a:rPr lang="en-US" sz="2800" dirty="0" smtClean="0"/>
              <a:t>Now we consider 1 n 2</a:t>
            </a:r>
            <a:r>
              <a:rPr lang="en-US" sz="2800" baseline="30000" dirty="0" smtClean="0"/>
              <a:t>nd</a:t>
            </a:r>
            <a:r>
              <a:rPr lang="en-US" sz="2800" dirty="0" smtClean="0"/>
              <a:t> </a:t>
            </a:r>
            <a:r>
              <a:rPr lang="en-US" sz="2800" dirty="0" err="1" smtClean="0"/>
              <a:t>obj</a:t>
            </a:r>
            <a:r>
              <a:rPr lang="en-US" sz="2800" dirty="0" smtClean="0"/>
              <a:t> as </a:t>
            </a:r>
            <a:r>
              <a:rPr lang="en-US" sz="2800" dirty="0" err="1" smtClean="0"/>
              <a:t>well.check</a:t>
            </a:r>
            <a:r>
              <a:rPr lang="en-US" sz="2800" dirty="0" smtClean="0"/>
              <a:t> for combination</a:t>
            </a:r>
          </a:p>
          <a:p>
            <a:r>
              <a:rPr lang="en-US" sz="2800" dirty="0" smtClean="0"/>
              <a:t>If we take 1st n 3</a:t>
            </a:r>
            <a:r>
              <a:rPr lang="en-US" sz="2800" baseline="30000" dirty="0" smtClean="0"/>
              <a:t>rd</a:t>
            </a:r>
            <a:r>
              <a:rPr lang="en-US" sz="2800" dirty="0" smtClean="0"/>
              <a:t> </a:t>
            </a:r>
            <a:r>
              <a:rPr lang="en-US" sz="2800" dirty="0" err="1" smtClean="0"/>
              <a:t>obj</a:t>
            </a:r>
            <a:r>
              <a:rPr lang="en-US" sz="2800" dirty="0" smtClean="0"/>
              <a:t> the weight =6 ,p=6</a:t>
            </a:r>
          </a:p>
          <a:p>
            <a:r>
              <a:rPr lang="en-US" dirty="0" smtClean="0"/>
              <a:t>If we take 2nd n 3</a:t>
            </a:r>
            <a:r>
              <a:rPr lang="en-US" baseline="30000" dirty="0" smtClean="0"/>
              <a:t>rd</a:t>
            </a:r>
            <a:r>
              <a:rPr lang="en-US" dirty="0" smtClean="0"/>
              <a:t> </a:t>
            </a:r>
            <a:r>
              <a:rPr lang="en-US" dirty="0" err="1" smtClean="0"/>
              <a:t>obj</a:t>
            </a:r>
            <a:r>
              <a:rPr lang="en-US" dirty="0" smtClean="0"/>
              <a:t> the weight =7 ,p=7</a:t>
            </a:r>
          </a:p>
          <a:p>
            <a:endParaRPr lang="en-US" dirty="0" smtClean="0"/>
          </a:p>
          <a:p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7338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3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6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2766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8100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7338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8295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2" name="Group 17"/>
          <p:cNvGrpSpPr/>
          <p:nvPr/>
        </p:nvGrpSpPr>
        <p:grpSpPr>
          <a:xfrm>
            <a:off x="304800" y="4343400"/>
            <a:ext cx="990600" cy="1447800"/>
            <a:chOff x="381000" y="3276600"/>
            <a:chExt cx="990600" cy="14478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71600" y="3352800"/>
              <a:ext cx="0" cy="1371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1000" y="3276600"/>
              <a:ext cx="0" cy="1447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Now Formula :if we call table as V then</a:t>
            </a:r>
          </a:p>
          <a:p>
            <a:r>
              <a:rPr lang="en-US" sz="4000" dirty="0" smtClean="0"/>
              <a:t>V[</a:t>
            </a:r>
            <a:r>
              <a:rPr lang="en-US" sz="4000" dirty="0" err="1" smtClean="0"/>
              <a:t>i,w</a:t>
            </a:r>
            <a:r>
              <a:rPr lang="en-US" sz="4000" dirty="0" smtClean="0"/>
              <a:t>] =max       V[i-1,w],</a:t>
            </a:r>
          </a:p>
          <a:p>
            <a:pPr>
              <a:buNone/>
            </a:pPr>
            <a:r>
              <a:rPr lang="en-US" sz="4000" dirty="0" smtClean="0"/>
              <a:t>                               V[i-1,w-w[i]]+</a:t>
            </a:r>
            <a:r>
              <a:rPr lang="en-US" sz="4000" smtClean="0"/>
              <a:t>p[i]</a:t>
            </a:r>
            <a:endParaRPr lang="en-US" sz="4000" dirty="0" smtClean="0"/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smtClean="0"/>
              <a:t>i=row </a:t>
            </a:r>
            <a:r>
              <a:rPr lang="en-US" sz="2800" dirty="0" err="1" smtClean="0"/>
              <a:t>no,w</a:t>
            </a:r>
            <a:r>
              <a:rPr lang="en-US" sz="2800" dirty="0" smtClean="0"/>
              <a:t>=column no.</a:t>
            </a:r>
            <a:endParaRPr lang="en-US" dirty="0" smtClean="0"/>
          </a:p>
          <a:p>
            <a:endParaRPr lang="en-US" dirty="0" smtClean="0"/>
          </a:p>
          <a:p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7338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3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6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2766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8100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7338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8295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2" name="Group 17"/>
          <p:cNvGrpSpPr/>
          <p:nvPr/>
        </p:nvGrpSpPr>
        <p:grpSpPr>
          <a:xfrm>
            <a:off x="304800" y="4419600"/>
            <a:ext cx="990600" cy="1828800"/>
            <a:chOff x="381000" y="2895600"/>
            <a:chExt cx="990600" cy="18288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71600" y="2971800"/>
              <a:ext cx="0" cy="1752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1000" y="2895600"/>
              <a:ext cx="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Left Brace 11"/>
          <p:cNvSpPr/>
          <p:nvPr/>
        </p:nvSpPr>
        <p:spPr>
          <a:xfrm>
            <a:off x="3352800" y="762000"/>
            <a:ext cx="533400" cy="1066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V[</a:t>
            </a:r>
            <a:r>
              <a:rPr lang="en-US" sz="2400" b="1" dirty="0" err="1" smtClean="0"/>
              <a:t>i,w</a:t>
            </a:r>
            <a:r>
              <a:rPr lang="en-US" sz="2400" b="1" dirty="0" smtClean="0"/>
              <a:t>] =max{V[i-1,w],V[i-1,w-w[i]]+p[i]}</a:t>
            </a:r>
          </a:p>
          <a:p>
            <a:r>
              <a:rPr lang="en-US" sz="2400" dirty="0" smtClean="0"/>
              <a:t>Now 4</a:t>
            </a:r>
            <a:r>
              <a:rPr lang="en-US" sz="2400" baseline="30000" dirty="0" smtClean="0"/>
              <a:t>th</a:t>
            </a:r>
            <a:r>
              <a:rPr lang="en-US" sz="2400" dirty="0" smtClean="0"/>
              <a:t> </a:t>
            </a:r>
            <a:r>
              <a:rPr lang="en-US" sz="2400" dirty="0" err="1" smtClean="0"/>
              <a:t>obj</a:t>
            </a:r>
            <a:r>
              <a:rPr lang="en-US" sz="2400" dirty="0" smtClean="0"/>
              <a:t>,</a:t>
            </a:r>
          </a:p>
          <a:p>
            <a:r>
              <a:rPr lang="en-US" sz="2800" dirty="0" smtClean="0"/>
              <a:t>V[4,1]=max{V[3,1],</a:t>
            </a:r>
            <a:r>
              <a:rPr lang="en-US" sz="2800" dirty="0" smtClean="0">
                <a:solidFill>
                  <a:srgbClr val="FF0000"/>
                </a:solidFill>
              </a:rPr>
              <a:t>V[3,1-5]+</a:t>
            </a:r>
            <a:r>
              <a:rPr lang="en-US" sz="2800" dirty="0" smtClean="0"/>
              <a:t>6}   it become V[3,-4],this value is undefined so we take V[3,1]as max</a:t>
            </a:r>
          </a:p>
          <a:p>
            <a:r>
              <a:rPr lang="en-US" sz="2800" dirty="0" err="1" smtClean="0"/>
              <a:t>upto</a:t>
            </a:r>
            <a:r>
              <a:rPr lang="en-US" sz="2800" dirty="0" smtClean="0"/>
              <a:t> 5</a:t>
            </a:r>
            <a:r>
              <a:rPr lang="en-US" sz="2800" baseline="30000" dirty="0" smtClean="0"/>
              <a:t>th</a:t>
            </a:r>
            <a:r>
              <a:rPr lang="en-US" sz="2800" dirty="0" smtClean="0"/>
              <a:t> weight we get –</a:t>
            </a:r>
            <a:r>
              <a:rPr lang="en-US" sz="2800" dirty="0" err="1" smtClean="0"/>
              <a:t>ve</a:t>
            </a:r>
            <a:r>
              <a:rPr lang="en-US" sz="2800" dirty="0" smtClean="0"/>
              <a:t> no. so fill as it is.</a:t>
            </a:r>
          </a:p>
          <a:p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7338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3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6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2766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8100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7338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8295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2" name="Group 17"/>
          <p:cNvGrpSpPr/>
          <p:nvPr/>
        </p:nvGrpSpPr>
        <p:grpSpPr>
          <a:xfrm>
            <a:off x="304800" y="4419600"/>
            <a:ext cx="990600" cy="1828800"/>
            <a:chOff x="381000" y="2895600"/>
            <a:chExt cx="990600" cy="18288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71600" y="2971800"/>
              <a:ext cx="0" cy="1752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1000" y="2895600"/>
              <a:ext cx="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V[</a:t>
            </a:r>
            <a:r>
              <a:rPr lang="en-US" sz="2400" b="1" dirty="0" err="1" smtClean="0"/>
              <a:t>i,w</a:t>
            </a:r>
            <a:r>
              <a:rPr lang="en-US" sz="2400" b="1" dirty="0" smtClean="0"/>
              <a:t>] =max{V[i-1,w],V[i-1,w-w[i]]+p[i]}</a:t>
            </a:r>
          </a:p>
          <a:p>
            <a:r>
              <a:rPr lang="en-US" sz="2400" b="1" dirty="0" smtClean="0"/>
              <a:t>V[4,5]=max{V[3,5],V[3,5-5]+6}= max{V[3,7],V[3,0]+6}</a:t>
            </a:r>
          </a:p>
          <a:p>
            <a:r>
              <a:rPr lang="en-US" sz="2400" b="1" dirty="0" smtClean="0"/>
              <a:t>               max{  5,0+6=6}=6</a:t>
            </a:r>
          </a:p>
          <a:p>
            <a:pPr>
              <a:buNone/>
            </a:pPr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7338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3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6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6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2766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8100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7338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8295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2" name="Group 17"/>
          <p:cNvGrpSpPr/>
          <p:nvPr/>
        </p:nvGrpSpPr>
        <p:grpSpPr>
          <a:xfrm>
            <a:off x="304800" y="4419600"/>
            <a:ext cx="990600" cy="1828800"/>
            <a:chOff x="381000" y="2895600"/>
            <a:chExt cx="990600" cy="18288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71600" y="2971800"/>
              <a:ext cx="0" cy="1752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1000" y="2895600"/>
              <a:ext cx="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V[</a:t>
            </a:r>
            <a:r>
              <a:rPr lang="en-US" sz="2400" b="1" dirty="0" err="1" smtClean="0"/>
              <a:t>i,w</a:t>
            </a:r>
            <a:r>
              <a:rPr lang="en-US" sz="2400" b="1" dirty="0" smtClean="0"/>
              <a:t>] =max{V[i-1,w],V[i-1,w-w[i]]+p[i]}</a:t>
            </a:r>
          </a:p>
          <a:p>
            <a:r>
              <a:rPr lang="en-US" sz="2400" b="1" dirty="0" smtClean="0"/>
              <a:t>V[4,6]=max{V[3,6],V[3,6-5]+6}= max{V[3,7],V[3,1]+6}</a:t>
            </a:r>
          </a:p>
          <a:p>
            <a:r>
              <a:rPr lang="en-US" sz="2400" b="1" dirty="0" smtClean="0"/>
              <a:t>               max{  6,0+6=6}=6</a:t>
            </a:r>
          </a:p>
          <a:p>
            <a:pPr>
              <a:buNone/>
            </a:pPr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7338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3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6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2766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8100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7338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8295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2" name="Group 17"/>
          <p:cNvGrpSpPr/>
          <p:nvPr/>
        </p:nvGrpSpPr>
        <p:grpSpPr>
          <a:xfrm>
            <a:off x="304800" y="4419600"/>
            <a:ext cx="990600" cy="1828800"/>
            <a:chOff x="381000" y="2895600"/>
            <a:chExt cx="990600" cy="18288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71600" y="2971800"/>
              <a:ext cx="0" cy="1752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1000" y="2895600"/>
              <a:ext cx="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V[</a:t>
            </a:r>
            <a:r>
              <a:rPr lang="en-US" sz="2400" b="1" dirty="0" err="1" smtClean="0"/>
              <a:t>i,w</a:t>
            </a:r>
            <a:r>
              <a:rPr lang="en-US" sz="2400" b="1" dirty="0" smtClean="0"/>
              <a:t>] =max{V[i-1,w],V[i-1,w-w[i]]+p[i]}</a:t>
            </a:r>
          </a:p>
          <a:p>
            <a:r>
              <a:rPr lang="en-US" sz="2400" b="1" dirty="0" smtClean="0"/>
              <a:t>V[4,7]=max{V[3,7],V[3,7-5]+6}= max{V[3,7],V[3,2]+6}</a:t>
            </a:r>
          </a:p>
          <a:p>
            <a:r>
              <a:rPr lang="en-US" sz="2400" b="1" dirty="0" smtClean="0"/>
              <a:t>               max{ 7,1+6=7}=7</a:t>
            </a:r>
          </a:p>
          <a:p>
            <a:pPr>
              <a:buNone/>
            </a:pPr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7338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3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sz="3200" b="1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7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6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2766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8100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7338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8295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2" name="Group 17"/>
          <p:cNvGrpSpPr/>
          <p:nvPr/>
        </p:nvGrpSpPr>
        <p:grpSpPr>
          <a:xfrm>
            <a:off x="304800" y="4419600"/>
            <a:ext cx="990600" cy="1828800"/>
            <a:chOff x="381000" y="2895600"/>
            <a:chExt cx="990600" cy="18288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71600" y="2971800"/>
              <a:ext cx="0" cy="1752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1000" y="2895600"/>
              <a:ext cx="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V[</a:t>
            </a:r>
            <a:r>
              <a:rPr lang="en-US" sz="2400" b="1" dirty="0" err="1" smtClean="0"/>
              <a:t>i,w</a:t>
            </a:r>
            <a:r>
              <a:rPr lang="en-US" sz="2400" b="1" dirty="0" smtClean="0"/>
              <a:t>] =max{V[i-1,w],V[i-1,w-w[i]]+p[i]}</a:t>
            </a:r>
          </a:p>
          <a:p>
            <a:r>
              <a:rPr lang="en-US" sz="2400" b="1" dirty="0" smtClean="0"/>
              <a:t>V[4,8]=max{V[3,8],V[3,8-5]+6}=max{V[3,8],V[3,3]+6}</a:t>
            </a:r>
          </a:p>
          <a:p>
            <a:r>
              <a:rPr lang="en-US" sz="2400" b="1" dirty="0" smtClean="0"/>
              <a:t>               max{  7,2+6=8}=8  final answer is 8   so sequence of weight ={0,1,0,1) it 2 and 4</a:t>
            </a:r>
            <a:r>
              <a:rPr lang="en-US" sz="2400" b="1" baseline="30000" dirty="0" smtClean="0"/>
              <a:t>th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obj</a:t>
            </a:r>
            <a:r>
              <a:rPr lang="en-US" sz="2400" b="1" dirty="0" smtClean="0"/>
              <a:t> </a:t>
            </a:r>
          </a:p>
          <a:p>
            <a:pPr>
              <a:buNone/>
            </a:pPr>
            <a:endParaRPr lang="en-US" sz="16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3" y="3733800"/>
          <a:ext cx="7010397" cy="289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 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0</a:t>
                      </a:r>
                      <a:endParaRPr lang="en-US" sz="3200" b="1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3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3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</a:t>
                      </a:r>
                      <a:r>
                        <a:rPr lang="en-US" sz="3200" b="1" dirty="0" smtClean="0"/>
                        <a:t>1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2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5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 smtClean="0"/>
                        <a:t>6</a:t>
                      </a:r>
                      <a:endParaRPr lang="en-US" sz="3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dirty="0" smtClean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</a:t>
                      </a:r>
                      <a:r>
                        <a:rPr lang="en-US" sz="3200" b="1" dirty="0" smtClean="0"/>
                        <a:t>8</a:t>
                      </a:r>
                      <a:endParaRPr lang="en-US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3" y="3276600"/>
          <a:ext cx="7010397" cy="3962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  <a:gridCol w="7789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       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5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6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7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8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3810000"/>
          <a:ext cx="1219200" cy="25298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82244"/>
                <a:gridCol w="636956"/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Pi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wi</a:t>
                      </a:r>
                      <a:endParaRPr lang="en-US" sz="2800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0" y="3733800"/>
          <a:ext cx="3810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0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1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2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3</a:t>
                      </a:r>
                      <a:endParaRPr lang="en-US" sz="2000" b="1" dirty="0"/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4</a:t>
                      </a:r>
                      <a:endParaRPr lang="en-US" sz="20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24400" y="2829580"/>
            <a:ext cx="4523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w</a:t>
            </a:r>
            <a:endParaRPr lang="en-US" b="1" dirty="0"/>
          </a:p>
        </p:txBody>
      </p:sp>
      <p:grpSp>
        <p:nvGrpSpPr>
          <p:cNvPr id="2" name="Group 17"/>
          <p:cNvGrpSpPr/>
          <p:nvPr/>
        </p:nvGrpSpPr>
        <p:grpSpPr>
          <a:xfrm>
            <a:off x="304800" y="4419600"/>
            <a:ext cx="990600" cy="1828800"/>
            <a:chOff x="381000" y="2895600"/>
            <a:chExt cx="990600" cy="18288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381000" y="4724400"/>
              <a:ext cx="99060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371600" y="2971800"/>
              <a:ext cx="0" cy="17526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81000" y="2895600"/>
              <a:ext cx="0" cy="18288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Step-by-Step Process to Find Selected Items</a:t>
            </a:r>
            <a:br>
              <a:rPr lang="en-US" sz="3200" b="1" dirty="0" smtClean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Start from the last cell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v[n][W], where n is the number of items and W is the total knapsack capacity.</a:t>
            </a:r>
          </a:p>
          <a:p>
            <a:r>
              <a:rPr lang="en-US" b="1" dirty="0" smtClean="0"/>
              <a:t>Compare the value from the previous row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If v[i][w]≠v[i−1][w], it means </a:t>
            </a:r>
            <a:r>
              <a:rPr lang="en-US" b="1" dirty="0" smtClean="0">
                <a:solidFill>
                  <a:srgbClr val="FF0000"/>
                </a:solidFill>
              </a:rPr>
              <a:t>item  was included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dirty="0" smtClean="0"/>
              <a:t>If v[i][w]=v[i−1][w], </a:t>
            </a:r>
            <a:r>
              <a:rPr lang="en-US" dirty="0" smtClean="0">
                <a:solidFill>
                  <a:srgbClr val="FF0000"/>
                </a:solidFill>
              </a:rPr>
              <a:t>the item was </a:t>
            </a:r>
            <a:r>
              <a:rPr lang="en-US" b="1" dirty="0" smtClean="0">
                <a:solidFill>
                  <a:srgbClr val="FF0000"/>
                </a:solidFill>
              </a:rPr>
              <a:t>not included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b="1" dirty="0" smtClean="0"/>
              <a:t>If an item was not included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Move to the previous row:</a:t>
            </a:r>
          </a:p>
          <a:p>
            <a:pPr lvl="1">
              <a:buNone/>
            </a:pPr>
            <a:r>
              <a:rPr lang="en-US" dirty="0" smtClean="0"/>
              <a:t>     i = i−1 </a:t>
            </a:r>
          </a:p>
          <a:p>
            <a:r>
              <a:rPr lang="en-US" b="1" dirty="0" smtClean="0"/>
              <a:t>If an item was included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Subtract its weight from the remaining capacity:</a:t>
            </a:r>
          </a:p>
          <a:p>
            <a:pPr lvl="1">
              <a:buNone/>
            </a:pPr>
            <a:r>
              <a:rPr lang="en-US" dirty="0" smtClean="0"/>
              <a:t>     w = w−w[i−1]</a:t>
            </a:r>
          </a:p>
          <a:p>
            <a:pPr lvl="1"/>
            <a:r>
              <a:rPr lang="en-US" dirty="0" smtClean="0"/>
              <a:t>Move to the previous row:</a:t>
            </a:r>
          </a:p>
          <a:p>
            <a:pPr lvl="1">
              <a:buNone/>
            </a:pPr>
            <a:r>
              <a:rPr lang="en-US" dirty="0" smtClean="0"/>
              <a:t>     i = i−1 </a:t>
            </a:r>
          </a:p>
          <a:p>
            <a:r>
              <a:rPr lang="en-US" b="1" dirty="0" smtClean="0"/>
              <a:t>Repeat until i=0 or remaining capacity w=0.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Find Selected Items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maximum value obtained</a:t>
            </a:r>
            <a:r>
              <a:rPr lang="en-US" dirty="0" smtClean="0"/>
              <a:t> is </a:t>
            </a:r>
            <a:r>
              <a:rPr lang="en-US" b="1" dirty="0" smtClean="0"/>
              <a:t>8</a:t>
            </a:r>
            <a:r>
              <a:rPr lang="en-US" dirty="0" smtClean="0"/>
              <a:t> (from v[4][8]).</a:t>
            </a:r>
          </a:p>
          <a:p>
            <a:r>
              <a:rPr lang="en-US" b="1" dirty="0" smtClean="0"/>
              <a:t>to find selected items:</a:t>
            </a:r>
            <a:endParaRPr lang="en-US" dirty="0" smtClean="0"/>
          </a:p>
          <a:p>
            <a:pPr lvl="1"/>
            <a:r>
              <a:rPr lang="en-US" dirty="0" smtClean="0"/>
              <a:t>v[4][8]=8 and v[3][8]=7 </a:t>
            </a:r>
            <a:r>
              <a:rPr lang="en-US" dirty="0" err="1" smtClean="0"/>
              <a:t>i.e</a:t>
            </a:r>
            <a:r>
              <a:rPr lang="en-US" dirty="0" smtClean="0"/>
              <a:t> 8 ≠ 7 so </a:t>
            </a:r>
            <a:r>
              <a:rPr lang="en-US" b="1" dirty="0" smtClean="0"/>
              <a:t>Item 4 (</a:t>
            </a:r>
            <a:r>
              <a:rPr lang="en-US" b="1" dirty="0" err="1" smtClean="0"/>
              <a:t>wi</a:t>
            </a:r>
            <a:r>
              <a:rPr lang="en-US" b="1" dirty="0" smtClean="0"/>
              <a:t>=5, Pi=6) is included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Remaining weight: 8−5=3. now </a:t>
            </a:r>
          </a:p>
          <a:p>
            <a:pPr lvl="1"/>
            <a:r>
              <a:rPr lang="en-US" dirty="0" smtClean="0"/>
              <a:t>v[3][3]=2 and v[2][3]=2, so </a:t>
            </a:r>
            <a:r>
              <a:rPr lang="en-US" b="1" dirty="0" smtClean="0"/>
              <a:t>Item 2 (</a:t>
            </a:r>
            <a:r>
              <a:rPr lang="en-US" b="1" dirty="0" err="1" smtClean="0"/>
              <a:t>wi</a:t>
            </a:r>
            <a:r>
              <a:rPr lang="en-US" b="1" dirty="0" smtClean="0"/>
              <a:t>=3, Pi=2) is included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Remaining weight: 3−3=0.</a:t>
            </a:r>
          </a:p>
          <a:p>
            <a:pPr lvl="1"/>
            <a:r>
              <a:rPr lang="en-US" b="1" dirty="0" smtClean="0"/>
              <a:t>Stop (since W=0)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 Final Answer</a:t>
            </a:r>
          </a:p>
          <a:p>
            <a:r>
              <a:rPr lang="en-US" b="1" dirty="0" smtClean="0"/>
              <a:t>Maximum Value:</a:t>
            </a:r>
            <a:r>
              <a:rPr lang="en-US" dirty="0" smtClean="0"/>
              <a:t> </a:t>
            </a:r>
            <a:r>
              <a:rPr lang="en-US" b="1" dirty="0" smtClean="0"/>
              <a:t>8</a:t>
            </a:r>
            <a:endParaRPr lang="en-US" dirty="0" smtClean="0"/>
          </a:p>
          <a:p>
            <a:r>
              <a:rPr lang="en-US" b="1" dirty="0" smtClean="0"/>
              <a:t>Selected Items: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b="1" dirty="0" smtClean="0"/>
              <a:t>Item 4 (w=5, P=6)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b="1" dirty="0" smtClean="0"/>
              <a:t>Item 2 (w=3, P=2)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Time complexity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0/1 Knapsack problem</a:t>
            </a:r>
            <a:r>
              <a:rPr lang="en-US" dirty="0" smtClean="0"/>
              <a:t> using </a:t>
            </a:r>
            <a:r>
              <a:rPr lang="en-US" b="1" dirty="0" smtClean="0"/>
              <a:t>Dynamic Programming (DP)</a:t>
            </a:r>
            <a:r>
              <a:rPr lang="en-US" dirty="0" smtClean="0"/>
              <a:t> has a </a:t>
            </a:r>
            <a:r>
              <a:rPr lang="en-US" b="1" dirty="0" smtClean="0"/>
              <a:t>time complexity of O(</a:t>
            </a:r>
            <a:r>
              <a:rPr lang="en-US" b="1" dirty="0" err="1" smtClean="0"/>
              <a:t>nW</a:t>
            </a:r>
            <a:r>
              <a:rPr lang="en-US" b="1" dirty="0" smtClean="0"/>
              <a:t>)</a:t>
            </a:r>
            <a:r>
              <a:rPr lang="en-US" dirty="0" smtClean="0"/>
              <a:t>, where:</a:t>
            </a:r>
          </a:p>
          <a:p>
            <a:r>
              <a:rPr lang="en-US" dirty="0" smtClean="0"/>
              <a:t>n is the number of items.</a:t>
            </a:r>
          </a:p>
          <a:p>
            <a:r>
              <a:rPr lang="en-US" dirty="0" smtClean="0"/>
              <a:t>W is the total capacity of the knapsack.</a:t>
            </a:r>
          </a:p>
          <a:p>
            <a:r>
              <a:rPr lang="en-US" dirty="0" smtClean="0"/>
              <a:t>We use a </a:t>
            </a:r>
            <a:r>
              <a:rPr lang="en-US" b="1" dirty="0" smtClean="0"/>
              <a:t>2D DP table</a:t>
            </a:r>
            <a:r>
              <a:rPr lang="en-US" dirty="0" smtClean="0"/>
              <a:t> of size (n+1)×(W+1), where:</a:t>
            </a:r>
          </a:p>
          <a:p>
            <a:pPr lvl="1"/>
            <a:r>
              <a:rPr lang="en-US" dirty="0" smtClean="0"/>
              <a:t>Rows represent items (from 0 to n).</a:t>
            </a:r>
          </a:p>
          <a:p>
            <a:pPr lvl="1"/>
            <a:r>
              <a:rPr lang="en-US" dirty="0" smtClean="0"/>
              <a:t>Columns represent capacities (from 0 to W).</a:t>
            </a:r>
          </a:p>
          <a:p>
            <a:r>
              <a:rPr lang="en-US" b="1" dirty="0" smtClean="0"/>
              <a:t>Nested Loop Execution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b="1" dirty="0" smtClean="0"/>
              <a:t>outer loop</a:t>
            </a:r>
            <a:r>
              <a:rPr lang="en-US" dirty="0" smtClean="0"/>
              <a:t> runs for each item O(n).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smtClean="0"/>
              <a:t>inner loop</a:t>
            </a:r>
            <a:r>
              <a:rPr lang="en-US" dirty="0" smtClean="0"/>
              <a:t> runs for each weight capacity O(W).</a:t>
            </a:r>
          </a:p>
          <a:p>
            <a:pPr lvl="1"/>
            <a:r>
              <a:rPr lang="en-US" dirty="0" smtClean="0"/>
              <a:t>Since each cell in the table is filled </a:t>
            </a:r>
            <a:r>
              <a:rPr lang="en-US" b="1" dirty="0" smtClean="0"/>
              <a:t>once</a:t>
            </a:r>
            <a:r>
              <a:rPr lang="en-US" dirty="0" smtClean="0"/>
              <a:t> using a constant-time operation O(1), </a:t>
            </a:r>
          </a:p>
          <a:p>
            <a:pPr lvl="1"/>
            <a:r>
              <a:rPr lang="en-US" dirty="0" smtClean="0"/>
              <a:t>the total time complexity is:</a:t>
            </a:r>
          </a:p>
          <a:p>
            <a:pPr lvl="1" algn="ctr">
              <a:buNone/>
            </a:pPr>
            <a:r>
              <a:rPr lang="en-US" dirty="0" smtClean="0"/>
              <a:t>     </a:t>
            </a:r>
            <a:r>
              <a:rPr lang="en-US" sz="4600" b="1" dirty="0" smtClean="0"/>
              <a:t>O(</a:t>
            </a:r>
            <a:r>
              <a:rPr lang="en-US" sz="4600" b="1" dirty="0" err="1" smtClean="0"/>
              <a:t>n×W</a:t>
            </a:r>
            <a:r>
              <a:rPr lang="en-US" sz="4600" b="1" dirty="0" smtClean="0"/>
              <a:t>) </a:t>
            </a:r>
          </a:p>
          <a:p>
            <a:pPr lvl="1" algn="ctr"/>
            <a:r>
              <a:rPr lang="en-US" dirty="0" smtClean="0"/>
              <a:t>Unlike the </a:t>
            </a:r>
            <a:r>
              <a:rPr lang="en-US" b="1" dirty="0" smtClean="0"/>
              <a:t>exponential</a:t>
            </a:r>
            <a:r>
              <a:rPr lang="en-US" dirty="0" smtClean="0"/>
              <a:t> time </a:t>
            </a:r>
            <a:r>
              <a:rPr lang="en-US" smtClean="0"/>
              <a:t>complexity O(2^n</a:t>
            </a:r>
            <a:r>
              <a:rPr lang="en-US" dirty="0" smtClean="0"/>
              <a:t>) of the </a:t>
            </a:r>
            <a:r>
              <a:rPr lang="en-US" b="1" dirty="0" smtClean="0"/>
              <a:t>recursive approach</a:t>
            </a:r>
            <a:r>
              <a:rPr lang="en-US" dirty="0" smtClean="0"/>
              <a:t>, the DP approach significantly improves efficiency.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US" dirty="0" smtClean="0"/>
              <a:t>If the item </a:t>
            </a:r>
            <a:r>
              <a:rPr lang="en-US" b="1" dirty="0" smtClean="0"/>
              <a:t>is not included</a:t>
            </a:r>
            <a:r>
              <a:rPr lang="en-US" dirty="0" smtClean="0"/>
              <a:t> → take previous value V[i-1, w]</a:t>
            </a:r>
          </a:p>
          <a:p>
            <a:r>
              <a:rPr lang="en-US" dirty="0" smtClean="0"/>
              <a:t>If the item </a:t>
            </a:r>
            <a:r>
              <a:rPr lang="en-US" b="1" dirty="0" smtClean="0"/>
              <a:t>is included</a:t>
            </a:r>
            <a:r>
              <a:rPr lang="en-US" dirty="0" smtClean="0"/>
              <a:t> → take V[i-1, w - weight[i]] + p [i]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b="1" dirty="0" smtClean="0"/>
              <a:t>// Function to solve 0/1 Knapsack problem using 2D DP table</a:t>
            </a:r>
          </a:p>
          <a:p>
            <a:pPr>
              <a:buNone/>
            </a:pPr>
            <a:r>
              <a:rPr lang="en-US" sz="2000" dirty="0" smtClean="0"/>
              <a:t>int knapsack(int W, int weight[], int value[], int n) {</a:t>
            </a:r>
          </a:p>
          <a:p>
            <a:pPr>
              <a:buNone/>
            </a:pPr>
            <a:r>
              <a:rPr lang="en-US" sz="2000" dirty="0" smtClean="0"/>
              <a:t>    int V[n + 1][W + 1];  </a:t>
            </a:r>
            <a:r>
              <a:rPr lang="en-US" sz="2000" b="1" dirty="0" smtClean="0"/>
              <a:t>// DP table</a:t>
            </a:r>
          </a:p>
          <a:p>
            <a:pPr>
              <a:buNone/>
            </a:pPr>
            <a:r>
              <a:rPr lang="en-US" sz="2000" dirty="0" smtClean="0"/>
              <a:t>    </a:t>
            </a:r>
            <a:r>
              <a:rPr lang="en-US" sz="2000" b="1" dirty="0" smtClean="0"/>
              <a:t>// Initialize the table</a:t>
            </a:r>
          </a:p>
          <a:p>
            <a:pPr>
              <a:buNone/>
            </a:pPr>
            <a:r>
              <a:rPr lang="en-US" sz="2000" dirty="0" smtClean="0"/>
              <a:t>    for (int i = 0; i &lt;= n; i++) {</a:t>
            </a:r>
          </a:p>
          <a:p>
            <a:pPr>
              <a:buNone/>
            </a:pPr>
            <a:r>
              <a:rPr lang="en-US" sz="2000" dirty="0" smtClean="0"/>
              <a:t>        for (int w = 0; w &lt;= W; w++) {</a:t>
            </a:r>
          </a:p>
          <a:p>
            <a:pPr>
              <a:buNone/>
            </a:pPr>
            <a:r>
              <a:rPr lang="en-US" sz="2000" dirty="0" smtClean="0"/>
              <a:t>            if (i == 0 || w == 0) {  </a:t>
            </a:r>
            <a:r>
              <a:rPr lang="en-US" sz="2000" b="1" dirty="0" smtClean="0"/>
              <a:t>// Base case: No items or 0 capacity</a:t>
            </a:r>
          </a:p>
          <a:p>
            <a:pPr>
              <a:buNone/>
            </a:pPr>
            <a:r>
              <a:rPr lang="en-US" sz="2000" dirty="0" smtClean="0"/>
              <a:t>                V[i][w] = 0;</a:t>
            </a:r>
          </a:p>
          <a:p>
            <a:pPr>
              <a:buNone/>
            </a:pPr>
            <a:r>
              <a:rPr lang="en-US" sz="2000" dirty="0" smtClean="0"/>
              <a:t>            } else if (weight[i - 1] &lt;= w) {  </a:t>
            </a:r>
            <a:r>
              <a:rPr lang="en-US" sz="2000" b="1" dirty="0" smtClean="0"/>
              <a:t>// checking If item can fit (index i-1,    </a:t>
            </a:r>
          </a:p>
          <a:p>
            <a:pPr>
              <a:buNone/>
            </a:pPr>
            <a:r>
              <a:rPr lang="en-US" sz="2000" dirty="0" smtClean="0"/>
              <a:t>                                                                   </a:t>
            </a:r>
            <a:r>
              <a:rPr lang="en-US" sz="2000" b="1" dirty="0" smtClean="0"/>
              <a:t>because indexing starts from 0)</a:t>
            </a:r>
          </a:p>
          <a:p>
            <a:pPr>
              <a:buNone/>
            </a:pPr>
            <a:r>
              <a:rPr lang="en-US" sz="2000" dirty="0" smtClean="0"/>
              <a:t>                if (V[i - 1][w] &gt; p[i - 1] + V[i - 1][w - weight[i - 1]]) {</a:t>
            </a:r>
          </a:p>
          <a:p>
            <a:pPr>
              <a:buNone/>
            </a:pPr>
            <a:r>
              <a:rPr lang="en-US" sz="2000" dirty="0" smtClean="0"/>
              <a:t>                    V[i][w] = V[i - 1][w];  </a:t>
            </a:r>
            <a:r>
              <a:rPr lang="en-US" sz="2000" b="1" dirty="0" smtClean="0"/>
              <a:t>// Do not include the item</a:t>
            </a:r>
          </a:p>
          <a:p>
            <a:pPr>
              <a:buNone/>
            </a:pPr>
            <a:r>
              <a:rPr lang="en-US" sz="2000" dirty="0" smtClean="0"/>
              <a:t>                } else {</a:t>
            </a:r>
          </a:p>
          <a:p>
            <a:pPr>
              <a:buNone/>
            </a:pPr>
            <a:r>
              <a:rPr lang="en-US" sz="2000" dirty="0" smtClean="0"/>
              <a:t>                    V[i][w] = p[i - 1] + V[i - 1][w - weight[i - 1]];  </a:t>
            </a:r>
            <a:r>
              <a:rPr lang="en-US" sz="2000" b="1" dirty="0" smtClean="0"/>
              <a:t>// Include the item</a:t>
            </a:r>
          </a:p>
          <a:p>
            <a:pPr>
              <a:buNone/>
            </a:pPr>
            <a:r>
              <a:rPr lang="en-US" sz="2000" dirty="0" smtClean="0"/>
              <a:t>                }} else {</a:t>
            </a:r>
          </a:p>
          <a:p>
            <a:pPr>
              <a:buNone/>
            </a:pPr>
            <a:r>
              <a:rPr lang="en-US" sz="2000" dirty="0" smtClean="0"/>
              <a:t>                           V[i][w] = V[i - 1][w</a:t>
            </a:r>
            <a:r>
              <a:rPr lang="en-US" sz="2000" b="1" dirty="0" smtClean="0"/>
              <a:t>];  // Item cannot be included</a:t>
            </a:r>
          </a:p>
          <a:p>
            <a:pPr>
              <a:buNone/>
            </a:pPr>
            <a:r>
              <a:rPr lang="en-US" sz="2000" dirty="0" smtClean="0"/>
              <a:t>            } } }     return V[n][W];  </a:t>
            </a:r>
            <a:r>
              <a:rPr lang="en-US" sz="2000" b="1" dirty="0" smtClean="0"/>
              <a:t>// Maximum value for the full knapsack     </a:t>
            </a:r>
            <a:r>
              <a:rPr lang="en-US" sz="2000" dirty="0" smtClean="0"/>
              <a:t>}</a:t>
            </a:r>
          </a:p>
          <a:p>
            <a:pPr>
              <a:buNone/>
            </a:pP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r>
              <a:rPr lang="en-US" dirty="0" smtClean="0"/>
              <a:t>We check whether the </a:t>
            </a:r>
            <a:r>
              <a:rPr lang="en-US" b="1" dirty="0" smtClean="0"/>
              <a:t>current item</a:t>
            </a:r>
            <a:r>
              <a:rPr lang="en-US" dirty="0" smtClean="0"/>
              <a:t> (index i-1, because indexing starts from 0) </a:t>
            </a:r>
            <a:r>
              <a:rPr lang="en-US" b="1" dirty="0" smtClean="0"/>
              <a:t>can fit in the knapsack</a:t>
            </a:r>
            <a:r>
              <a:rPr lang="en-US" dirty="0" smtClean="0"/>
              <a:t> with the given capacity w.</a:t>
            </a:r>
          </a:p>
          <a:p>
            <a:r>
              <a:rPr lang="en-US" dirty="0" smtClean="0"/>
              <a:t>If </a:t>
            </a:r>
            <a:r>
              <a:rPr lang="en-US" b="1" dirty="0" smtClean="0"/>
              <a:t>weight[i-1] ≤ w</a:t>
            </a:r>
            <a:r>
              <a:rPr lang="en-US" dirty="0" smtClean="0"/>
              <a:t>, we have two choices:</a:t>
            </a:r>
          </a:p>
          <a:p>
            <a:pPr lvl="1"/>
            <a:r>
              <a:rPr lang="en-US" b="1" dirty="0" smtClean="0"/>
              <a:t>Exclude the item</a:t>
            </a:r>
            <a:r>
              <a:rPr lang="en-US" dirty="0" smtClean="0"/>
              <a:t> → Take the value from the previous row: V[i-1][w]</a:t>
            </a:r>
          </a:p>
          <a:p>
            <a:pPr lvl="1"/>
            <a:r>
              <a:rPr lang="en-US" b="1" dirty="0" smtClean="0"/>
              <a:t>Include the item</a:t>
            </a:r>
            <a:r>
              <a:rPr lang="en-US" dirty="0" smtClean="0"/>
              <a:t> → Add its value to the best solution without this item: p[i-1] + V[i-1][w - weight[i-1]].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b="1" i="1" dirty="0" smtClean="0"/>
              <a:t>weight[] = {1, 2, 3}, profit[] = {10, 15, 40}, Capacity = 6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766888"/>
            <a:ext cx="7924800" cy="448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b="1" i="1" dirty="0" smtClean="0"/>
              <a:t>weight[] = {1, 2, 3}, profit[] = {10, 15, 40}, Capacity = 6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885950"/>
            <a:ext cx="67056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276600"/>
            <a:ext cx="70104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457200"/>
            <a:ext cx="79248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038600"/>
            <a:ext cx="7848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81000"/>
            <a:ext cx="82296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0"/>
            <a:ext cx="8458200" cy="6553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6600" dirty="0" smtClean="0"/>
              <a:t>Traveling Salesman Problem using Dynamic Programming </a:t>
            </a:r>
            <a:endParaRPr lang="en-US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Traveling Salesman Problem (TSP)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b="1" dirty="0" smtClean="0"/>
              <a:t>Traveling Salesman Problem (TSP)</a:t>
            </a:r>
            <a:r>
              <a:rPr lang="en-US" dirty="0" smtClean="0"/>
              <a:t> is a famous optimization problem where a salesman must visit </a:t>
            </a:r>
            <a:r>
              <a:rPr lang="en-US" b="1" dirty="0" smtClean="0"/>
              <a:t>N cities exactly once</a:t>
            </a:r>
            <a:r>
              <a:rPr lang="en-US" dirty="0" smtClean="0"/>
              <a:t> and return to the starting city while minimizing the total travel cost (distance or time).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"/>
            <a:ext cx="83058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886200"/>
            <a:ext cx="8229600" cy="2239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g(</a:t>
            </a:r>
            <a:r>
              <a:rPr lang="en-US" sz="3200" dirty="0" err="1" smtClean="0"/>
              <a:t>i,S</a:t>
            </a:r>
            <a:r>
              <a:rPr lang="en-US" sz="3200" dirty="0" smtClean="0"/>
              <a:t>)- min. cost of visiting cities in s and ending at city 1.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S-set of cities to visit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i-starting city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c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lang="en-US" sz="3200" dirty="0" smtClean="0"/>
              <a:t>i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,k] – cost of travelling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from city i to k city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 smtClean="0"/>
              <a:t>S-{k}-subset of S excluding k city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 complexity = O(n² * 2^n)</a:t>
            </a:r>
          </a:p>
          <a:p>
            <a:pPr>
              <a:buNone/>
            </a:pPr>
            <a:r>
              <a:rPr lang="en-US" dirty="0" smtClean="0"/>
              <a:t>Time complexity= no. of unique subproblems * time taken by each unique subproblem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1933</TotalTime>
  <Words>3228</Words>
  <Application>Microsoft Office PowerPoint</Application>
  <PresentationFormat>On-screen Show (4:3)</PresentationFormat>
  <Paragraphs>1051</Paragraphs>
  <Slides>53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Unit 4 Dynamic programming </vt:lpstr>
      <vt:lpstr>Contents</vt:lpstr>
      <vt:lpstr>General strategy</vt:lpstr>
      <vt:lpstr>General strategy</vt:lpstr>
      <vt:lpstr>Slide 5</vt:lpstr>
      <vt:lpstr>Slide 6</vt:lpstr>
      <vt:lpstr>Applications of Dynamic Programming</vt:lpstr>
      <vt:lpstr>How does the dynamic programming approach work? </vt:lpstr>
      <vt:lpstr>Approaches of dynamic programming </vt:lpstr>
      <vt:lpstr>Top-down approach </vt:lpstr>
      <vt:lpstr>Bottom-Up approach </vt:lpstr>
      <vt:lpstr>Slide 12</vt:lpstr>
      <vt:lpstr>Slide 13</vt:lpstr>
      <vt:lpstr>Slide 14</vt:lpstr>
      <vt:lpstr>Slide 15</vt:lpstr>
      <vt:lpstr>Slide 16</vt:lpstr>
      <vt:lpstr>Memoization Method</vt:lpstr>
      <vt:lpstr>Slide 18</vt:lpstr>
      <vt:lpstr>Slide 19</vt:lpstr>
      <vt:lpstr>Slide 20</vt:lpstr>
      <vt:lpstr>Tabulation Method</vt:lpstr>
      <vt:lpstr>Tabulation Method</vt:lpstr>
      <vt:lpstr>Slide 23</vt:lpstr>
      <vt:lpstr>0-1 Knapsack problem</vt:lpstr>
      <vt:lpstr>Problem Statement </vt:lpstr>
      <vt:lpstr>Dynamic Programming Approach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Step-by-Step Process to Find Selected Items </vt:lpstr>
      <vt:lpstr>Find Selected Items </vt:lpstr>
      <vt:lpstr>Time complexity analysis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Traveling Salesman Problem (TSP)</vt:lpstr>
      <vt:lpstr>Slide 52</vt:lpstr>
      <vt:lpstr>Slide 53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Dynamic programming </dc:title>
  <dc:creator>Rahul Dange</dc:creator>
  <cp:lastModifiedBy>Rahul Dange</cp:lastModifiedBy>
  <cp:revision>151</cp:revision>
  <dcterms:created xsi:type="dcterms:W3CDTF">2025-02-26T04:08:28Z</dcterms:created>
  <dcterms:modified xsi:type="dcterms:W3CDTF">2025-09-18T17:18:44Z</dcterms:modified>
</cp:coreProperties>
</file>