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93" r:id="rId12"/>
    <p:sldId id="264" r:id="rId13"/>
    <p:sldId id="269" r:id="rId14"/>
    <p:sldId id="270" r:id="rId15"/>
    <p:sldId id="267" r:id="rId16"/>
    <p:sldId id="268" r:id="rId17"/>
    <p:sldId id="271" r:id="rId18"/>
    <p:sldId id="272" r:id="rId19"/>
    <p:sldId id="273" r:id="rId20"/>
    <p:sldId id="274" r:id="rId21"/>
    <p:sldId id="292" r:id="rId22"/>
    <p:sldId id="277" r:id="rId23"/>
    <p:sldId id="282" r:id="rId24"/>
    <p:sldId id="276" r:id="rId25"/>
    <p:sldId id="283" r:id="rId26"/>
    <p:sldId id="278" r:id="rId27"/>
    <p:sldId id="279" r:id="rId28"/>
    <p:sldId id="275" r:id="rId29"/>
    <p:sldId id="284" r:id="rId30"/>
    <p:sldId id="285" r:id="rId31"/>
    <p:sldId id="280" r:id="rId32"/>
    <p:sldId id="286" r:id="rId33"/>
    <p:sldId id="287" r:id="rId34"/>
    <p:sldId id="288" r:id="rId35"/>
    <p:sldId id="289" r:id="rId36"/>
    <p:sldId id="290" r:id="rId37"/>
    <p:sldId id="294" r:id="rId38"/>
    <p:sldId id="299" r:id="rId39"/>
    <p:sldId id="295" r:id="rId40"/>
    <p:sldId id="296" r:id="rId41"/>
    <p:sldId id="297" r:id="rId42"/>
    <p:sldId id="298" r:id="rId43"/>
    <p:sldId id="291" r:id="rId44"/>
    <p:sldId id="300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DEE32-E240-47D2-A092-24820F4DB817}" type="datetimeFigureOut">
              <a:rPr lang="en-US" smtClean="0"/>
              <a:pPr/>
              <a:t>11/09/2025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6715-ADF4-4BD6-B777-24115AD6EDB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introduction-to-np-completeness/" TargetMode="External"/><Relationship Id="rId2" Type="http://schemas.openxmlformats.org/officeDocument/2006/relationships/hyperlink" Target="https://www.geeksforgeeks.org/dsa/np-hard-clas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maximum-bipartite-matching/" TargetMode="External"/><Relationship Id="rId2" Type="http://schemas.openxmlformats.org/officeDocument/2006/relationships/hyperlink" Target="https://www.geeksforgeeks.org/dsa/program-to-find-gcd-or-hcf-of-two-number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dsa/merge-sort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introduction-to-np-completeness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introduction-to-np-completeness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introduction-to-np-completeness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6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362200"/>
          </a:xfrm>
        </p:spPr>
        <p:txBody>
          <a:bodyPr/>
          <a:lstStyle/>
          <a:p>
            <a:r>
              <a:rPr lang="en-US" b="1" dirty="0"/>
              <a:t>Complexity classes and Randomized </a:t>
            </a:r>
            <a:r>
              <a:rPr lang="en-US" b="1" dirty="0" smtClean="0"/>
              <a:t>algorithms</a:t>
            </a:r>
          </a:p>
          <a:p>
            <a:endParaRPr lang="en-US" dirty="0"/>
          </a:p>
          <a:p>
            <a:r>
              <a:rPr lang="en-US" dirty="0" smtClean="0"/>
              <a:t>                                 -Dr. Varsha Dange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Complexity classes and Randomized algorithms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P, NP, NPC and NP-Hard problems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their interrelations, </a:t>
            </a:r>
            <a:endParaRPr lang="en-US" dirty="0" smtClean="0"/>
          </a:p>
          <a:p>
            <a:r>
              <a:rPr lang="en-IN" dirty="0" smtClean="0"/>
              <a:t>Randomized </a:t>
            </a:r>
            <a:r>
              <a:rPr lang="en-IN" dirty="0"/>
              <a:t>algorithms- Las Vegas and </a:t>
            </a:r>
            <a:endParaRPr lang="en-IN" dirty="0" smtClean="0"/>
          </a:p>
          <a:p>
            <a:r>
              <a:rPr lang="en-IN" dirty="0" smtClean="0"/>
              <a:t>Monte </a:t>
            </a:r>
            <a:r>
              <a:rPr lang="en-IN" dirty="0"/>
              <a:t>Carlo </a:t>
            </a:r>
            <a:endParaRPr lang="en-IN" dirty="0" smtClean="0"/>
          </a:p>
          <a:p>
            <a:r>
              <a:rPr lang="en-IN" dirty="0" smtClean="0"/>
              <a:t>simple </a:t>
            </a:r>
            <a:r>
              <a:rPr lang="en-IN" dirty="0"/>
              <a:t>examples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91200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In computer science, problems are divided into classes known as </a:t>
            </a:r>
            <a:r>
              <a:rPr lang="en-US" b="1" dirty="0"/>
              <a:t>Complexity Classes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 </a:t>
            </a:r>
            <a:r>
              <a:rPr lang="en-US" dirty="0"/>
              <a:t>In complexity theory, a Complexity Class is a set of problems with related complexity. </a:t>
            </a:r>
            <a:endParaRPr lang="en-US" dirty="0" smtClean="0"/>
          </a:p>
          <a:p>
            <a:pPr fontAlgn="base"/>
            <a:r>
              <a:rPr lang="en-US" dirty="0" smtClean="0"/>
              <a:t>With </a:t>
            </a:r>
            <a:r>
              <a:rPr lang="en-US" dirty="0"/>
              <a:t>the help of complexity theory, we try to cover the following</a:t>
            </a:r>
            <a:r>
              <a:rPr lang="en-US" dirty="0" smtClean="0"/>
              <a:t>.---</a:t>
            </a:r>
            <a:endParaRPr lang="en-US" dirty="0"/>
          </a:p>
          <a:p>
            <a:pPr lvl="1" fontAlgn="base"/>
            <a:r>
              <a:rPr lang="en-US" dirty="0" smtClean="0"/>
              <a:t>Problems that can be efficiently solved (solved in Polynomial time) by computers.</a:t>
            </a:r>
          </a:p>
          <a:p>
            <a:pPr lvl="1" fontAlgn="base"/>
            <a:r>
              <a:rPr lang="en-US" dirty="0" smtClean="0"/>
              <a:t>Problems </a:t>
            </a:r>
            <a:r>
              <a:rPr lang="en-US" dirty="0"/>
              <a:t>for which no efficient solution (only exponential time algorithms) exist</a:t>
            </a:r>
            <a:r>
              <a:rPr lang="en-US" dirty="0" smtClean="0"/>
              <a:t>.</a:t>
            </a:r>
          </a:p>
          <a:p>
            <a:pPr lvl="1" fontAlgn="base"/>
            <a:r>
              <a:rPr lang="en-US" dirty="0" smtClean="0"/>
              <a:t>Problems that cannot be solved by computers.</a:t>
            </a:r>
          </a:p>
          <a:p>
            <a:pPr lvl="1" fontAlgn="base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common resources required by a solution are </a:t>
            </a:r>
            <a:r>
              <a:rPr lang="en-US" dirty="0" smtClean="0"/>
              <a:t>time </a:t>
            </a:r>
            <a:r>
              <a:rPr lang="en-US" dirty="0"/>
              <a:t>and space, </a:t>
            </a:r>
            <a:endParaRPr lang="en-US" dirty="0" smtClean="0"/>
          </a:p>
          <a:p>
            <a:r>
              <a:rPr lang="en-US" dirty="0" smtClean="0"/>
              <a:t>meaning </a:t>
            </a:r>
            <a:r>
              <a:rPr lang="en-US" dirty="0"/>
              <a:t>how much time the algorithm takes to solve a problem and the corresponding memory usage.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u="sng" dirty="0"/>
              <a:t>Types of Complexity Classes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 Class</a:t>
            </a:r>
          </a:p>
          <a:p>
            <a:r>
              <a:rPr lang="en-US" b="1" dirty="0"/>
              <a:t>NP Class</a:t>
            </a:r>
          </a:p>
          <a:p>
            <a:r>
              <a:rPr lang="en-US" b="1" u="sng" dirty="0">
                <a:hlinkClick r:id="rId2"/>
              </a:rPr>
              <a:t>NP-hard class</a:t>
            </a:r>
            <a:endParaRPr lang="en-US" b="1" dirty="0"/>
          </a:p>
          <a:p>
            <a:r>
              <a:rPr lang="en-US" b="1" u="sng" dirty="0">
                <a:hlinkClick r:id="rId3"/>
              </a:rPr>
              <a:t>NP-complete class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 Class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</a:t>
            </a:r>
            <a:r>
              <a:rPr lang="en-US" dirty="0"/>
              <a:t>P class </a:t>
            </a:r>
            <a:r>
              <a:rPr lang="en-US" dirty="0" smtClean="0"/>
              <a:t>, </a:t>
            </a:r>
            <a:r>
              <a:rPr lang="en-US" dirty="0" smtClean="0"/>
              <a:t>P </a:t>
            </a:r>
            <a:r>
              <a:rPr lang="en-US" dirty="0" smtClean="0"/>
              <a:t>in stands </a:t>
            </a:r>
            <a:r>
              <a:rPr lang="en-US" dirty="0"/>
              <a:t>for </a:t>
            </a:r>
            <a:r>
              <a:rPr lang="en-US" b="1" dirty="0"/>
              <a:t>Polynomial Time</a:t>
            </a:r>
            <a:r>
              <a:rPr lang="en-US" b="1" dirty="0" smtClean="0"/>
              <a:t>.</a:t>
            </a:r>
          </a:p>
          <a:p>
            <a:r>
              <a:rPr lang="en-US" dirty="0"/>
              <a:t> It is the collection of decision </a:t>
            </a:r>
            <a:r>
              <a:rPr lang="en-US" dirty="0" smtClean="0"/>
              <a:t>problems (</a:t>
            </a:r>
            <a:r>
              <a:rPr lang="en-US" dirty="0"/>
              <a:t>problems with a "yes" or "no" answer) </a:t>
            </a:r>
            <a:endParaRPr lang="en-US" dirty="0" smtClean="0"/>
          </a:p>
          <a:p>
            <a:r>
              <a:rPr lang="en-US" dirty="0" smtClean="0"/>
              <a:t>that </a:t>
            </a:r>
            <a:r>
              <a:rPr lang="en-US" dirty="0"/>
              <a:t>can be solved by a deterministic machine (our computers) in polynomial </a:t>
            </a:r>
            <a:r>
              <a:rPr lang="en-US" dirty="0" smtClean="0"/>
              <a:t>time such as           (</a:t>
            </a:r>
            <a:r>
              <a:rPr lang="en-US" dirty="0" smtClean="0"/>
              <a:t>O(n), O(n²), O(n³), … but not exponential like O(2ⁿ)).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 solution to </a:t>
            </a:r>
            <a:r>
              <a:rPr lang="en-US" b="1" dirty="0"/>
              <a:t>P problem</a:t>
            </a:r>
            <a:r>
              <a:rPr lang="en-US" dirty="0"/>
              <a:t>s is easy to find. </a:t>
            </a:r>
          </a:p>
          <a:p>
            <a:pPr fontAlgn="base"/>
            <a:r>
              <a:rPr lang="en-US" b="1" dirty="0"/>
              <a:t>P</a:t>
            </a:r>
            <a:r>
              <a:rPr lang="en-US" dirty="0"/>
              <a:t> is often a class of computational problems that are solvable and tractable. </a:t>
            </a:r>
            <a:endParaRPr lang="en-US" dirty="0" smtClean="0"/>
          </a:p>
          <a:p>
            <a:pPr fontAlgn="base"/>
            <a:r>
              <a:rPr lang="en-US" dirty="0" smtClean="0"/>
              <a:t>Tractable -the </a:t>
            </a:r>
            <a:r>
              <a:rPr lang="en-US" dirty="0"/>
              <a:t>problems can be solved in theory as well as in practice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 </a:t>
            </a:r>
            <a:r>
              <a:rPr lang="en-US" dirty="0"/>
              <a:t>But the problems that can be solved in theory but not in practice are known as intractable.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Examples: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Sorting numbers using Quick Sort / Merge Sort (O(n log n)).</a:t>
            </a:r>
          </a:p>
          <a:p>
            <a:r>
              <a:rPr lang="en-US" dirty="0" smtClean="0"/>
              <a:t> Finding the shortest path in a graph using </a:t>
            </a:r>
            <a:r>
              <a:rPr lang="en-US" dirty="0" err="1" smtClean="0"/>
              <a:t>Dijkstra’s</a:t>
            </a:r>
            <a:r>
              <a:rPr lang="en-US" dirty="0" smtClean="0"/>
              <a:t> algorithm.</a:t>
            </a:r>
          </a:p>
          <a:p>
            <a:r>
              <a:rPr lang="en-US" dirty="0" smtClean="0"/>
              <a:t> Checking if a number </a:t>
            </a:r>
            <a:r>
              <a:rPr lang="en-US" smtClean="0"/>
              <a:t>is </a:t>
            </a:r>
            <a:r>
              <a:rPr lang="en-US" smtClean="0"/>
              <a:t>prime</a:t>
            </a:r>
            <a:endParaRPr lang="en-US" dirty="0" smtClean="0"/>
          </a:p>
          <a:p>
            <a:r>
              <a:rPr lang="en-US" dirty="0" smtClean="0"/>
              <a:t> Matrix multiplication.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Examples: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Real-life examples:</a:t>
            </a:r>
          </a:p>
          <a:p>
            <a:r>
              <a:rPr lang="en-US" dirty="0" smtClean="0"/>
              <a:t> </a:t>
            </a:r>
            <a:r>
              <a:rPr lang="en-US" b="1" dirty="0" smtClean="0"/>
              <a:t>Google Maps shortest route: </a:t>
            </a:r>
            <a:r>
              <a:rPr lang="en-US" dirty="0" smtClean="0"/>
              <a:t>Given a map with roads (graph), find the shortest route between two locations. This is solvable efficiently.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Spell checker: </a:t>
            </a:r>
            <a:r>
              <a:rPr lang="en-US" dirty="0" smtClean="0"/>
              <a:t>Checking if a word exists in a dictionary (using hashing or binary search).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Most of the coding problems that we solve fall in this category like the below.</a:t>
            </a:r>
          </a:p>
          <a:p>
            <a:pPr fontAlgn="base"/>
            <a:r>
              <a:rPr lang="en-US" u="sng" dirty="0">
                <a:hlinkClick r:id="rId2"/>
              </a:rPr>
              <a:t>Calculating the greatest common divisor.</a:t>
            </a:r>
            <a:endParaRPr lang="en-US" dirty="0"/>
          </a:p>
          <a:p>
            <a:pPr fontAlgn="base"/>
            <a:r>
              <a:rPr lang="en-US" u="sng" dirty="0">
                <a:hlinkClick r:id="rId3"/>
              </a:rPr>
              <a:t>Finding a maximum matching.</a:t>
            </a:r>
            <a:endParaRPr lang="en-US" dirty="0"/>
          </a:p>
          <a:p>
            <a:pPr fontAlgn="base"/>
            <a:r>
              <a:rPr lang="en-US" u="sng" dirty="0">
                <a:hlinkClick r:id="rId4"/>
              </a:rPr>
              <a:t>Merge Sort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09800"/>
            <a:ext cx="8229600" cy="1143000"/>
          </a:xfrm>
        </p:spPr>
        <p:txBody>
          <a:bodyPr>
            <a:noAutofit/>
          </a:bodyPr>
          <a:lstStyle/>
          <a:p>
            <a:r>
              <a:rPr lang="en-US" sz="8000" dirty="0" smtClean="0"/>
              <a:t>NP CLASS</a:t>
            </a:r>
            <a:endParaRPr lang="en-US" sz="8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NP Class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NP in NP class stands for </a:t>
            </a:r>
            <a:r>
              <a:rPr lang="en-US" b="1" dirty="0"/>
              <a:t>Non-deterministic Polynomial 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Collection of decision problems.</a:t>
            </a:r>
          </a:p>
          <a:p>
            <a:r>
              <a:rPr lang="en-US" dirty="0" smtClean="0"/>
              <a:t> If a solution is given, it can be verified in polynomial time.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Equivalent definition: </a:t>
            </a:r>
            <a:r>
              <a:rPr lang="en-US" dirty="0" smtClean="0"/>
              <a:t>solvable in polynomial time on a Non-Deterministic Turing Machine (NDTM).</a:t>
            </a:r>
          </a:p>
          <a:p>
            <a:r>
              <a:rPr lang="en-US" dirty="0" smtClean="0"/>
              <a:t> Hard to find → Easy to verify.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NP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If a solution is given, it can be verified in polynomial time =</a:t>
            </a:r>
          </a:p>
          <a:p>
            <a:r>
              <a:rPr lang="en-US" dirty="0" smtClean="0"/>
              <a:t>Imagine a problem where finding the answer is hard, but if someone gives you a possible answer, you can check whether it is correct quickly (polynomial time).</a:t>
            </a:r>
          </a:p>
          <a:p>
            <a:r>
              <a:rPr lang="en-US" b="1" dirty="0" smtClean="0"/>
              <a:t>Example:</a:t>
            </a:r>
          </a:p>
          <a:p>
            <a:r>
              <a:rPr lang="en-US" b="1" dirty="0" smtClean="0"/>
              <a:t>  Sudoku:</a:t>
            </a:r>
          </a:p>
          <a:p>
            <a:r>
              <a:rPr lang="en-US" dirty="0" smtClean="0"/>
              <a:t> Solving it (finding the arrangement) may take a long time.</a:t>
            </a:r>
          </a:p>
          <a:p>
            <a:r>
              <a:rPr lang="en-US" dirty="0" smtClean="0"/>
              <a:t>But if someone gives you a filled Sudoku, you can check row-wise, column-wise, and box-wise in polynomial time (O(n²)).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NP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Equivalent to: solvable in polynomial time on a non-deterministic Turing machine =</a:t>
            </a:r>
          </a:p>
          <a:p>
            <a:r>
              <a:rPr lang="en-US" dirty="0" smtClean="0"/>
              <a:t>For </a:t>
            </a:r>
            <a:r>
              <a:rPr lang="en-US" dirty="0" err="1" smtClean="0"/>
              <a:t>Eg</a:t>
            </a:r>
            <a:r>
              <a:rPr lang="en-US" dirty="0" smtClean="0"/>
              <a:t>.: Example: Guessing a password</a:t>
            </a:r>
          </a:p>
          <a:p>
            <a:r>
              <a:rPr lang="en-US" dirty="0" smtClean="0"/>
              <a:t> Your computer tries passwords one by one until it finds the right one.</a:t>
            </a:r>
          </a:p>
          <a:p>
            <a:r>
              <a:rPr lang="en-US" dirty="0" smtClean="0"/>
              <a:t>   If the password has 6 letters, it may take a very long time.</a:t>
            </a:r>
          </a:p>
          <a:p>
            <a:endParaRPr lang="en-US" dirty="0" smtClean="0"/>
          </a:p>
          <a:p>
            <a:r>
              <a:rPr lang="en-US" b="1" dirty="0" smtClean="0"/>
              <a:t>Non-Deterministic Machine (like imaginary “magic” computer)</a:t>
            </a:r>
          </a:p>
          <a:p>
            <a:r>
              <a:rPr lang="en-US" dirty="0" smtClean="0"/>
              <a:t>  Can try all possibilities at the same time.</a:t>
            </a:r>
          </a:p>
          <a:p>
            <a:r>
              <a:rPr lang="en-US" dirty="0" smtClean="0"/>
              <a:t>This machine “magically” guesses the correct password instantly.</a:t>
            </a:r>
          </a:p>
          <a:p>
            <a:r>
              <a:rPr lang="en-US" dirty="0" smtClean="0"/>
              <a:t>   Then it only needs to check if it works, which is quick.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Deterministic vs. Non-Deterministic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Deterministic Algorithm / Machine (DTM):</a:t>
            </a:r>
          </a:p>
          <a:p>
            <a:r>
              <a:rPr lang="en-US" dirty="0" smtClean="0"/>
              <a:t>For every input and every step, there is only one unique transition.</a:t>
            </a:r>
          </a:p>
          <a:p>
            <a:r>
              <a:rPr lang="en-US" dirty="0" smtClean="0"/>
              <a:t> Time complexity is measured in terms of number of steps taken sequentially.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This is what our actual computers implement.</a:t>
            </a:r>
          </a:p>
          <a:p>
            <a:r>
              <a:rPr lang="en-US" dirty="0" smtClean="0"/>
              <a:t> Example: Linear search – for each element, only one action (compare and move to next).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Deterministic vs. Non-Deterministic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Non-Deterministic Algorithm / Machine (NDTM)</a:t>
            </a:r>
          </a:p>
          <a:p>
            <a:r>
              <a:rPr lang="en-US" dirty="0" smtClean="0"/>
              <a:t> </a:t>
            </a:r>
            <a:r>
              <a:rPr lang="en-US" sz="3800" dirty="0" smtClean="0"/>
              <a:t>At each step, the machine may have multiple possible transitions.</a:t>
            </a:r>
          </a:p>
          <a:p>
            <a:r>
              <a:rPr lang="en-US" sz="3800" dirty="0" smtClean="0"/>
              <a:t> </a:t>
            </a:r>
            <a:r>
              <a:rPr lang="en-US" sz="3800" b="1" dirty="0" smtClean="0"/>
              <a:t>The machine is allowed to “explore all possibilities simultaneously.”</a:t>
            </a:r>
          </a:p>
          <a:p>
            <a:r>
              <a:rPr lang="en-US" sz="3800" dirty="0" smtClean="0"/>
              <a:t> If any branch leads to an accepting (yes) state, the machine accepts.</a:t>
            </a:r>
          </a:p>
          <a:p>
            <a:r>
              <a:rPr lang="en-US" sz="3800" dirty="0" smtClean="0"/>
              <a:t> </a:t>
            </a:r>
            <a:r>
              <a:rPr lang="en-US" sz="3800" b="1" dirty="0" smtClean="0"/>
              <a:t>It is only a theoretical model used to classify complexity, not a real computer.</a:t>
            </a:r>
          </a:p>
          <a:p>
            <a:r>
              <a:rPr lang="en-US" sz="3800" dirty="0" smtClean="0"/>
              <a:t> Example: For the Subset Sum Problem, the NDTM can “guess” the correct subset in one step and then verify it in polynomial time.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Real-life Examples of NP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1. Sudoku Puzzle </a:t>
            </a:r>
          </a:p>
          <a:p>
            <a:pPr>
              <a:buNone/>
            </a:pPr>
            <a:r>
              <a:rPr lang="en-US" dirty="0" smtClean="0"/>
              <a:t> Problem: Fill a 9×9 grid so that each row, column, and 3×3 box has digits 1–9 exactly once.</a:t>
            </a:r>
          </a:p>
          <a:p>
            <a:pPr>
              <a:buNone/>
            </a:pPr>
            <a:r>
              <a:rPr lang="en-US" b="1" dirty="0" smtClean="0"/>
              <a:t> Why NP?</a:t>
            </a:r>
          </a:p>
          <a:p>
            <a:pPr>
              <a:buNone/>
            </a:pPr>
            <a:r>
              <a:rPr lang="en-US" dirty="0" smtClean="0"/>
              <a:t> Solving from scratch is hard.</a:t>
            </a:r>
          </a:p>
          <a:p>
            <a:pPr>
              <a:buNone/>
            </a:pPr>
            <a:r>
              <a:rPr lang="en-US" dirty="0" smtClean="0"/>
              <a:t>   But if someone gives you a filled grid, you can verify correctness quickly.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Real-life Examples of NP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2. Password Cracking</a:t>
            </a:r>
          </a:p>
          <a:p>
            <a:r>
              <a:rPr lang="en-US" dirty="0" smtClean="0"/>
              <a:t>Problem: Find the correct password from all possible combinations.</a:t>
            </a:r>
          </a:p>
          <a:p>
            <a:r>
              <a:rPr lang="en-US" b="1" dirty="0" smtClean="0"/>
              <a:t> Why NP?</a:t>
            </a:r>
          </a:p>
          <a:p>
            <a:r>
              <a:rPr lang="en-US" dirty="0" smtClean="0"/>
              <a:t>  Trying all possibilities is exponential.</a:t>
            </a:r>
          </a:p>
          <a:p>
            <a:r>
              <a:rPr lang="en-US" dirty="0" smtClean="0"/>
              <a:t>   Checking if a guessed password is correct is instant (polynomial time).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Real-life Examples of NP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3. Subset Sum Problem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Problem: Given a set of numbers, is there a subset whose sum = K?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Why NP?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  Hard to find the subset when n is large.</a:t>
            </a:r>
          </a:p>
          <a:p>
            <a:r>
              <a:rPr lang="en-US" dirty="0" smtClean="0"/>
              <a:t>   If someone gives a subset, adding numbers to check sum = K is quick.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P And NP Summary 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1752600" y="3962399"/>
            <a:ext cx="6324600" cy="762001"/>
            <a:chOff x="1752600" y="3962399"/>
            <a:chExt cx="6324600" cy="762001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239000" y="3962399"/>
              <a:ext cx="838200" cy="568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52600" y="4343399"/>
              <a:ext cx="2514600" cy="381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066800"/>
            <a:ext cx="853439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>
            <a:noAutofit/>
          </a:bodyPr>
          <a:lstStyle/>
          <a:p>
            <a:r>
              <a:rPr lang="en-US" sz="8000" dirty="0" smtClean="0"/>
              <a:t>NP HARD</a:t>
            </a:r>
            <a:endParaRPr lang="en-US" sz="8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NP HARD</a:t>
            </a:r>
            <a:endParaRPr lang="en-US" dirty="0"/>
          </a:p>
        </p:txBody>
      </p:sp>
      <p:grpSp>
        <p:nvGrpSpPr>
          <p:cNvPr id="3" name="Group 10"/>
          <p:cNvGrpSpPr/>
          <p:nvPr/>
        </p:nvGrpSpPr>
        <p:grpSpPr>
          <a:xfrm>
            <a:off x="1752600" y="3962399"/>
            <a:ext cx="6324600" cy="762001"/>
            <a:chOff x="1752600" y="3962399"/>
            <a:chExt cx="6324600" cy="762001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239000" y="3962399"/>
              <a:ext cx="838200" cy="568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52600" y="4343399"/>
              <a:ext cx="2514600" cy="381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NP-Hard = The hardest problems related to NP. Solving them efficiently means all NP problems can be solved efficiently </a:t>
            </a:r>
          </a:p>
          <a:p>
            <a:r>
              <a:rPr lang="en-US" dirty="0" smtClean="0"/>
              <a:t>NP-Hard problems are at least as hard as the hardest problems in NP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NP HARD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3" name="Group 10"/>
          <p:cNvGrpSpPr/>
          <p:nvPr/>
        </p:nvGrpSpPr>
        <p:grpSpPr>
          <a:xfrm>
            <a:off x="1752600" y="3962399"/>
            <a:ext cx="6324600" cy="762001"/>
            <a:chOff x="1752600" y="3962399"/>
            <a:chExt cx="6324600" cy="762001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239000" y="3962399"/>
              <a:ext cx="838200" cy="568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52600" y="4343399"/>
              <a:ext cx="2514600" cy="381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685800"/>
            <a:ext cx="8382000" cy="5867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Think of NP problems and NP-Hard problems like puzzles or games:</a:t>
            </a:r>
          </a:p>
          <a:p>
            <a:r>
              <a:rPr lang="en-US" dirty="0" smtClean="0"/>
              <a:t> </a:t>
            </a:r>
            <a:r>
              <a:rPr lang="en-US" b="1" dirty="0" smtClean="0"/>
              <a:t> Step 1: NP problems</a:t>
            </a:r>
          </a:p>
          <a:p>
            <a:r>
              <a:rPr lang="en-US" dirty="0" smtClean="0"/>
              <a:t>  Imagine a Sudoku puzzle.</a:t>
            </a:r>
          </a:p>
          <a:p>
            <a:r>
              <a:rPr lang="en-US" dirty="0" smtClean="0"/>
              <a:t> If someone gives you a completed Sudoku, you can quickly check whether it’s correct.</a:t>
            </a:r>
          </a:p>
          <a:p>
            <a:r>
              <a:rPr lang="en-US" dirty="0" smtClean="0"/>
              <a:t> So, NP problems = solutions can be verified quickly, even if solving from scratch may be hard.</a:t>
            </a:r>
          </a:p>
          <a:p>
            <a:r>
              <a:rPr lang="en-US" dirty="0" smtClean="0"/>
              <a:t> </a:t>
            </a:r>
            <a:r>
              <a:rPr lang="en-US" b="1" dirty="0" smtClean="0"/>
              <a:t> Step 2: NP-Hard problems</a:t>
            </a:r>
          </a:p>
          <a:p>
            <a:r>
              <a:rPr lang="en-US" dirty="0" smtClean="0"/>
              <a:t>  Now imagine a super-complicated chess endgame with 100 pieces.</a:t>
            </a:r>
          </a:p>
          <a:p>
            <a:r>
              <a:rPr lang="en-US" dirty="0" smtClean="0"/>
              <a:t> Finding the perfect strategy is extremely difficult.</a:t>
            </a:r>
          </a:p>
          <a:p>
            <a:r>
              <a:rPr lang="en-US" dirty="0" smtClean="0"/>
              <a:t> Even if someone claims “I found the perfect strategy,” verifying that it’s the absolute best might take a lot of time, maybe more than polynomial time.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NP HARD</a:t>
            </a:r>
            <a:endParaRPr lang="en-US" dirty="0"/>
          </a:p>
        </p:txBody>
      </p:sp>
      <p:grpSp>
        <p:nvGrpSpPr>
          <p:cNvPr id="3" name="Group 10"/>
          <p:cNvGrpSpPr/>
          <p:nvPr/>
        </p:nvGrpSpPr>
        <p:grpSpPr>
          <a:xfrm>
            <a:off x="1752600" y="3962399"/>
            <a:ext cx="6324600" cy="762001"/>
            <a:chOff x="1752600" y="3962399"/>
            <a:chExt cx="6324600" cy="762001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239000" y="3962399"/>
              <a:ext cx="838200" cy="568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52600" y="4343399"/>
              <a:ext cx="2514600" cy="381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What does NP-hard mean? – </a:t>
            </a:r>
          </a:p>
          <a:p>
            <a:r>
              <a:rPr lang="en-US" dirty="0" smtClean="0"/>
              <a:t>A lot of times you can solve a problem by reducing it to a different problem. </a:t>
            </a:r>
          </a:p>
          <a:p>
            <a:r>
              <a:rPr lang="en-US" dirty="0" smtClean="0"/>
              <a:t>I can reduce Problem B to Problem A if, given a solution to Problem A, I can easily construct a solution to Problem B. </a:t>
            </a:r>
          </a:p>
          <a:p>
            <a:r>
              <a:rPr lang="en-US" dirty="0" smtClean="0"/>
              <a:t>(In this case, "easily" means "in polynomial time.“). </a:t>
            </a:r>
          </a:p>
          <a:p>
            <a:r>
              <a:rPr lang="en-US" dirty="0" smtClean="0"/>
              <a:t>A problem is NP-hard if all problems in NP are polynomial time reducible to it, ... </a:t>
            </a:r>
          </a:p>
          <a:p>
            <a:r>
              <a:rPr lang="en-US" dirty="0" smtClean="0"/>
              <a:t> Every problem in NP is reducible to Hamiltonian Cycle in polynomial time. Ex:- TSP is reducible to HC.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NP HARD</a:t>
            </a:r>
            <a:endParaRPr lang="en-US" dirty="0"/>
          </a:p>
        </p:txBody>
      </p:sp>
      <p:grpSp>
        <p:nvGrpSpPr>
          <p:cNvPr id="3" name="Group 10"/>
          <p:cNvGrpSpPr/>
          <p:nvPr/>
        </p:nvGrpSpPr>
        <p:grpSpPr>
          <a:xfrm>
            <a:off x="1752600" y="3962399"/>
            <a:ext cx="6324600" cy="762001"/>
            <a:chOff x="1752600" y="3962399"/>
            <a:chExt cx="6324600" cy="762001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239000" y="3962399"/>
              <a:ext cx="838200" cy="568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52600" y="4343399"/>
              <a:ext cx="2514600" cy="381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 Definition: Problems at least as hard as NP problems.</a:t>
            </a:r>
          </a:p>
          <a:p>
            <a:r>
              <a:rPr lang="en-US" b="1" dirty="0" smtClean="0"/>
              <a:t> Key Point:</a:t>
            </a:r>
          </a:p>
          <a:p>
            <a:r>
              <a:rPr lang="en-US" dirty="0" smtClean="0"/>
              <a:t>   They may or may not be in NP.</a:t>
            </a:r>
          </a:p>
          <a:p>
            <a:r>
              <a:rPr lang="en-US" dirty="0" smtClean="0"/>
              <a:t>   Not necessarily decision problems.</a:t>
            </a:r>
          </a:p>
          <a:p>
            <a:r>
              <a:rPr lang="en-US" dirty="0" smtClean="0"/>
              <a:t>   Some are even undecidable.</a:t>
            </a:r>
          </a:p>
          <a:p>
            <a:r>
              <a:rPr lang="en-US" dirty="0" smtClean="0"/>
              <a:t> Examples:</a:t>
            </a:r>
          </a:p>
          <a:p>
            <a:r>
              <a:rPr lang="en-US" dirty="0" smtClean="0"/>
              <a:t>    Travelling Salesman Problem (optimization TSP : Finding shortest tour of minimum cost (not just yes/no).</a:t>
            </a:r>
          </a:p>
          <a:p>
            <a:pPr>
              <a:buNone/>
            </a:pPr>
            <a:r>
              <a:rPr lang="en-US" dirty="0" smtClean="0"/>
              <a:t>     is NP-Hard.</a:t>
            </a:r>
          </a:p>
          <a:p>
            <a:r>
              <a:rPr lang="en-US" dirty="0" smtClean="0"/>
              <a:t>   Halting Problem: No algorithm exists.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Halting Problem: Given a computer program and an input, can we determine whether the program will eventually stop (halt) or keep running forever?</a:t>
            </a:r>
          </a:p>
          <a:p>
            <a:r>
              <a:rPr lang="en-US" dirty="0" smtClean="0"/>
              <a:t>For </a:t>
            </a:r>
            <a:r>
              <a:rPr lang="en-US" dirty="0" err="1" smtClean="0"/>
              <a:t>Eg:Your</a:t>
            </a:r>
            <a:r>
              <a:rPr lang="en-US" dirty="0" smtClean="0"/>
              <a:t> friend writes a program and asks:</a:t>
            </a:r>
          </a:p>
          <a:p>
            <a:pPr>
              <a:buNone/>
            </a:pPr>
            <a:r>
              <a:rPr lang="en-US" dirty="0" smtClean="0"/>
              <a:t>  Will this program ever stop running?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/>
              <a:t>Simple case:</a:t>
            </a:r>
          </a:p>
          <a:p>
            <a:pPr>
              <a:buNone/>
            </a:pPr>
            <a:r>
              <a:rPr lang="en-US" b="1" dirty="0" smtClean="0"/>
              <a:t>print(Hello)  :  Stops immediately → halts.</a:t>
            </a:r>
          </a:p>
          <a:p>
            <a:r>
              <a:rPr lang="en-US" dirty="0" smtClean="0"/>
              <a:t> Infinite loop  :  </a:t>
            </a:r>
          </a:p>
          <a:p>
            <a:pPr>
              <a:buNone/>
            </a:pPr>
            <a:r>
              <a:rPr lang="en-US" dirty="0" smtClean="0"/>
              <a:t> while(True):    </a:t>
            </a:r>
          </a:p>
          <a:p>
            <a:pPr>
              <a:buNone/>
            </a:pPr>
            <a:r>
              <a:rPr lang="en-US" dirty="0" smtClean="0"/>
              <a:t>   print(Hello) : </a:t>
            </a:r>
            <a:r>
              <a:rPr lang="en-US" b="1" dirty="0" smtClean="0"/>
              <a:t>Never stops → does not halt.</a:t>
            </a:r>
            <a:endParaRPr lang="en-US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Complex case:</a:t>
            </a:r>
          </a:p>
          <a:p>
            <a:r>
              <a:rPr lang="en-US" dirty="0" smtClean="0"/>
              <a:t>    Program has many loops, conditions, or depends on unknown input.</a:t>
            </a:r>
          </a:p>
          <a:p>
            <a:r>
              <a:rPr lang="en-US" dirty="0" smtClean="0"/>
              <a:t>   No general way to know if it will stop → Halting Problem.</a:t>
            </a:r>
          </a:p>
          <a:p>
            <a:r>
              <a:rPr lang="en-US" dirty="0" smtClean="0"/>
              <a:t>Even We can’t predict</a:t>
            </a:r>
            <a:br>
              <a:rPr lang="en-US" dirty="0" smtClean="0"/>
            </a:br>
            <a:r>
              <a:rPr lang="en-US" b="1" dirty="0" smtClean="0"/>
              <a:t>Real life problem for halting problem</a:t>
            </a:r>
          </a:p>
          <a:p>
            <a:r>
              <a:rPr lang="en-US" dirty="0" smtClean="0"/>
              <a:t>Washing Machine Program  → Will the wash cycle finish or get stuck?</a:t>
            </a:r>
          </a:p>
          <a:p>
            <a:r>
              <a:rPr lang="en-US" dirty="0" smtClean="0"/>
              <a:t> Microwave Timer Program  → Will it stop cooking correctly?</a:t>
            </a:r>
          </a:p>
          <a:p>
            <a:endParaRPr lang="en-US" dirty="0" smtClean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3535362"/>
          </a:xfrm>
        </p:spPr>
        <p:txBody>
          <a:bodyPr>
            <a:normAutofit/>
          </a:bodyPr>
          <a:lstStyle/>
          <a:p>
            <a:pPr fontAlgn="base"/>
            <a:r>
              <a:rPr lang="en-US" sz="6600" b="1" u="sng" dirty="0" smtClean="0">
                <a:hlinkClick r:id="rId2"/>
              </a:rPr>
              <a:t>NP-complete class</a:t>
            </a:r>
            <a:endParaRPr lang="en-US" sz="66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u="sng" dirty="0" smtClean="0">
                <a:hlinkClick r:id="rId2"/>
              </a:rPr>
              <a:t>NP-complete class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problem is NP-Complete if it satisfies both of these conditions:</a:t>
            </a:r>
          </a:p>
          <a:p>
            <a:r>
              <a:rPr lang="en-US" dirty="0" smtClean="0"/>
              <a:t> </a:t>
            </a:r>
            <a:r>
              <a:rPr lang="en-US" b="1" dirty="0" smtClean="0"/>
              <a:t>1. It belongs to NP</a:t>
            </a:r>
          </a:p>
          <a:p>
            <a:r>
              <a:rPr lang="en-US" dirty="0" smtClean="0"/>
              <a:t>     That means: If someone gives you a solution, you can verify it in polynomial time.</a:t>
            </a:r>
          </a:p>
          <a:p>
            <a:r>
              <a:rPr lang="en-US" dirty="0" smtClean="0"/>
              <a:t> </a:t>
            </a:r>
          </a:p>
          <a:p>
            <a:r>
              <a:rPr lang="en-US" b="1" dirty="0" smtClean="0"/>
              <a:t>2. It is NP-Hard</a:t>
            </a:r>
          </a:p>
          <a:p>
            <a:r>
              <a:rPr lang="en-US" dirty="0" smtClean="0"/>
              <a:t>     That means: Every problem in NP can be reduced to this problem in polynomial time.</a:t>
            </a:r>
          </a:p>
          <a:p>
            <a:r>
              <a:rPr lang="en-US" dirty="0" smtClean="0"/>
              <a:t>    In other words, it’s at least as hard as the hardest problems in NP.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u="sng" dirty="0" smtClean="0">
                <a:hlinkClick r:id="rId2"/>
              </a:rPr>
              <a:t>NP-complete class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 NP = all problems where solutions can be verified quickly.</a:t>
            </a:r>
          </a:p>
          <a:p>
            <a:r>
              <a:rPr lang="en-US" dirty="0" smtClean="0"/>
              <a:t> NP-Hard = problems at least as hard as NP problems.</a:t>
            </a:r>
          </a:p>
          <a:p>
            <a:r>
              <a:rPr lang="en-US" dirty="0" smtClean="0"/>
              <a:t> NP-Complete = problems that are both NP and NP-Hard.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NP-Complete (NPC)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How to prove a problem is NP-Complete</a:t>
            </a:r>
          </a:p>
          <a:p>
            <a:r>
              <a:rPr lang="en-US" dirty="0" smtClean="0"/>
              <a:t> </a:t>
            </a:r>
            <a:r>
              <a:rPr lang="en-US" b="1" dirty="0" smtClean="0"/>
              <a:t>Two steps:</a:t>
            </a:r>
          </a:p>
          <a:p>
            <a:r>
              <a:rPr lang="en-US" dirty="0" smtClean="0"/>
              <a:t>1. Given a solution, you can verify it in polynomial time.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2. Show it’s NP-Hard: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    Pick a known NP-Complete problem (TSP  optimization)</a:t>
            </a:r>
          </a:p>
          <a:p>
            <a:r>
              <a:rPr lang="en-US" dirty="0" smtClean="0"/>
              <a:t>    Reduce it to your problem in polynomial time.</a:t>
            </a:r>
          </a:p>
          <a:p>
            <a:r>
              <a:rPr lang="en-US" dirty="0" smtClean="0"/>
              <a:t>    This shows solving your problem lets you solve all NP problems.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NP-Complete (NPC)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fontScale="85000" lnSpcReduction="10000"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IMP:</a:t>
            </a:r>
          </a:p>
          <a:p>
            <a:r>
              <a:rPr lang="en-US" b="1" dirty="0" smtClean="0"/>
              <a:t>1. All NP-Complete problems are NP-Hard, but not all NP-Hard problems are NP-Complete.</a:t>
            </a:r>
          </a:p>
          <a:p>
            <a:r>
              <a:rPr lang="en-US" b="1" dirty="0" smtClean="0"/>
              <a:t> </a:t>
            </a:r>
            <a:r>
              <a:rPr lang="en-US" dirty="0" smtClean="0"/>
              <a:t>    Example: TSP optimization → NP-Hard but not in NP.</a:t>
            </a:r>
          </a:p>
          <a:p>
            <a:endParaRPr lang="en-US" dirty="0" smtClean="0"/>
          </a:p>
          <a:p>
            <a:r>
              <a:rPr lang="en-US" dirty="0" smtClean="0"/>
              <a:t> </a:t>
            </a:r>
            <a:r>
              <a:rPr lang="en-US" b="1" dirty="0" smtClean="0"/>
              <a:t>2. Solving even one NP-Complete problem efficiently (polynomial time) → all NP problems can be solved efficiently.</a:t>
            </a:r>
            <a:br>
              <a:rPr lang="en-US" b="1" dirty="0" smtClean="0"/>
            </a:br>
            <a:r>
              <a:rPr lang="en-US" dirty="0" smtClean="0"/>
              <a:t>Ex: NP problem as different kind of puzzles and </a:t>
            </a:r>
            <a:br>
              <a:rPr lang="en-US" dirty="0" smtClean="0"/>
            </a:br>
            <a:r>
              <a:rPr lang="en-US" dirty="0" smtClean="0"/>
              <a:t>NP-complete problem=the master puzzle ,</a:t>
            </a:r>
          </a:p>
          <a:p>
            <a:r>
              <a:rPr lang="en-US" dirty="0" smtClean="0"/>
              <a:t>If you learn the trick to </a:t>
            </a:r>
            <a:r>
              <a:rPr lang="en-US" dirty="0" err="1" smtClean="0"/>
              <a:t>solv</a:t>
            </a:r>
            <a:r>
              <a:rPr lang="en-US" dirty="0" smtClean="0"/>
              <a:t> master puzzle means you can solve all the puzzles quickly.</a:t>
            </a:r>
          </a:p>
          <a:p>
            <a:r>
              <a:rPr lang="en-US" dirty="0" smtClean="0"/>
              <a:t>    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NP-Complete (NPC)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IMP: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r>
              <a:rPr lang="en-US" dirty="0" smtClean="0"/>
              <a:t>3. </a:t>
            </a:r>
            <a:r>
              <a:rPr lang="en-US" b="1" dirty="0" smtClean="0"/>
              <a:t>Decision </a:t>
            </a:r>
            <a:r>
              <a:rPr lang="en-US" b="1" dirty="0" err="1" smtClean="0"/>
              <a:t>vs</a:t>
            </a:r>
            <a:r>
              <a:rPr lang="en-US" b="1" dirty="0" smtClean="0"/>
              <a:t> Optimization:</a:t>
            </a:r>
          </a:p>
          <a:p>
            <a:r>
              <a:rPr lang="en-US" dirty="0" smtClean="0"/>
              <a:t>     NPC usually refers to decision version of a problem (YES/NO).</a:t>
            </a:r>
          </a:p>
          <a:p>
            <a:r>
              <a:rPr lang="en-US" dirty="0" smtClean="0"/>
              <a:t>    Optimization version may be NP-Hard but not necessarily in NP.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for NP-Complete (NPC)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a) Hamiltonian Cycle (HC)</a:t>
            </a:r>
          </a:p>
          <a:p>
            <a:r>
              <a:rPr lang="en-US" dirty="0" smtClean="0"/>
              <a:t>  </a:t>
            </a:r>
            <a:r>
              <a:rPr lang="en-US" b="1" dirty="0" smtClean="0"/>
              <a:t>Problem: </a:t>
            </a:r>
            <a:r>
              <a:rPr lang="en-US" dirty="0" smtClean="0"/>
              <a:t>Given a graph, can you find a cycle that visits every vertex exactly once and comes back to the start?</a:t>
            </a:r>
          </a:p>
          <a:p>
            <a:r>
              <a:rPr lang="en-US" b="1" dirty="0" smtClean="0"/>
              <a:t> Example: </a:t>
            </a:r>
            <a:r>
              <a:rPr lang="en-US" dirty="0" smtClean="0"/>
              <a:t>Imagine cities connected by roads. Can a salesman visit every city exactly once and return home?</a:t>
            </a:r>
          </a:p>
          <a:p>
            <a:r>
              <a:rPr lang="en-US" b="1" dirty="0" smtClean="0"/>
              <a:t> Why it’s NP: </a:t>
            </a:r>
            <a:r>
              <a:rPr lang="en-US" dirty="0" smtClean="0"/>
              <a:t>If someone gives you a cycle, you can quickly check if it really visits every vertex once.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Why it’s hard: </a:t>
            </a:r>
            <a:r>
              <a:rPr lang="en-US" dirty="0" smtClean="0"/>
              <a:t>Finding such a cycle is very difficult — no known fast (polynomial-time) method exists.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for NP-Complete (NPC)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b) Traveling Salesman Problem (TSP) – Decision Version</a:t>
            </a:r>
          </a:p>
          <a:p>
            <a:r>
              <a:rPr lang="en-US" dirty="0" smtClean="0"/>
              <a:t>  </a:t>
            </a:r>
            <a:r>
              <a:rPr lang="en-US" b="1" dirty="0" smtClean="0"/>
              <a:t>Problem: </a:t>
            </a:r>
            <a:r>
              <a:rPr lang="en-US" dirty="0" smtClean="0"/>
              <a:t>Given distances between cities and a number k, is there a tour visiting all cities exactly once with total distance ≤ k?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Example:</a:t>
            </a:r>
            <a:r>
              <a:rPr lang="en-US" dirty="0" smtClean="0"/>
              <a:t> You have 5 cities and distances between them. Can you travel all cities once and keep the total distance ≤ 20 km?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Why it’s NP: </a:t>
            </a:r>
            <a:r>
              <a:rPr lang="en-US" dirty="0" smtClean="0"/>
              <a:t>If someone gives you a route, you can add up distances quickly to check if ≤ k.</a:t>
            </a:r>
          </a:p>
          <a:p>
            <a:r>
              <a:rPr lang="en-US" b="1" dirty="0" smtClean="0"/>
              <a:t> Why it’s hard: </a:t>
            </a:r>
            <a:r>
              <a:rPr lang="en-US" dirty="0" smtClean="0"/>
              <a:t>Finding a route that meets the condition is very difficult — as hard as HC.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for NP-Complete (NPC)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C) Subset Sum Problem</a:t>
            </a:r>
          </a:p>
          <a:p>
            <a:r>
              <a:rPr lang="en-US" b="1" dirty="0" smtClean="0"/>
              <a:t>  Problem: </a:t>
            </a:r>
            <a:r>
              <a:rPr lang="en-US" dirty="0" smtClean="0"/>
              <a:t>Given a set of numbers and a target sum S, is there a subset of numbers that adds up to S?</a:t>
            </a:r>
          </a:p>
          <a:p>
            <a:r>
              <a:rPr lang="en-US" b="1" dirty="0" smtClean="0"/>
              <a:t> Example:</a:t>
            </a:r>
            <a:r>
              <a:rPr lang="en-US" dirty="0" smtClean="0"/>
              <a:t> Numbers = {3, 7, 1, 8, 5}, target = 12.</a:t>
            </a:r>
          </a:p>
          <a:p>
            <a:r>
              <a:rPr lang="en-US" dirty="0" smtClean="0"/>
              <a:t>    Subset {7, 5} sums to 12 → solution exists.</a:t>
            </a:r>
          </a:p>
          <a:p>
            <a:r>
              <a:rPr lang="en-US" b="1" dirty="0" smtClean="0"/>
              <a:t> Why it’s NP: </a:t>
            </a:r>
            <a:r>
              <a:rPr lang="en-US" dirty="0" smtClean="0"/>
              <a:t>If someone gives you a subset, you can add the numbers quickly to check if it equals S.</a:t>
            </a:r>
          </a:p>
          <a:p>
            <a:r>
              <a:rPr lang="en-US" dirty="0" smtClean="0"/>
              <a:t> Why it’s hard: Trying all possible subsets yourself can take a very long time when </a:t>
            </a:r>
            <a:r>
              <a:rPr lang="en-US" b="1" dirty="0" smtClean="0"/>
              <a:t>there are many </a:t>
            </a:r>
            <a:r>
              <a:rPr lang="en-US" dirty="0" smtClean="0"/>
              <a:t>numbers.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95600"/>
            <a:ext cx="8229600" cy="1143000"/>
          </a:xfrm>
        </p:spPr>
        <p:txBody>
          <a:bodyPr/>
          <a:lstStyle/>
          <a:p>
            <a:r>
              <a:rPr lang="en-US" dirty="0" smtClean="0"/>
              <a:t>Relation between P,NP,NPC,NPH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371600"/>
            <a:ext cx="8305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533400" y="381000"/>
            <a:ext cx="753879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/>
              <a:t>Relation between P,NP,NPC,NPH</a:t>
            </a:r>
            <a:endParaRPr lang="en-US" sz="4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Relationship between P and NP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 If a problem is in P, then:</a:t>
            </a:r>
          </a:p>
          <a:p>
            <a:r>
              <a:rPr lang="en-US" dirty="0" smtClean="0"/>
              <a:t>   1. You can solve it quickly.</a:t>
            </a:r>
          </a:p>
          <a:p>
            <a:r>
              <a:rPr lang="en-US" dirty="0" smtClean="0"/>
              <a:t>  2. Naturally, you can verify a solution quickly (just solve it and check).</a:t>
            </a:r>
          </a:p>
          <a:p>
            <a:r>
              <a:rPr lang="en-US" dirty="0" smtClean="0"/>
              <a:t>  Therefore, every problem in P is automatically in NP.</a:t>
            </a:r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P ⊆ NP (all P problems are in NP).</a:t>
            </a:r>
          </a:p>
          <a:p>
            <a:r>
              <a:rPr lang="en-US" dirty="0" smtClean="0"/>
              <a:t> NP may contain harder problems than P, like NP-Complete problems.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P = “Easy to solve and easy to check.”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 NP = “Maybe hard to solve, but easy to check.”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Relationship between NP and NPC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Definitions Recap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NP (Nondeterministic Polynomial-time):</a:t>
            </a:r>
          </a:p>
          <a:p>
            <a:r>
              <a:rPr lang="en-US" dirty="0" smtClean="0"/>
              <a:t>  Problems for which a solution can be verified in polynomial time.</a:t>
            </a:r>
          </a:p>
          <a:p>
            <a:r>
              <a:rPr lang="en-US" dirty="0" smtClean="0"/>
              <a:t>   Example: Sudoku, shortest path (verification).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 smtClean="0"/>
              <a:t>NP-Complete (NPC):</a:t>
            </a:r>
          </a:p>
          <a:p>
            <a:r>
              <a:rPr lang="en-US" dirty="0" smtClean="0"/>
              <a:t>  Problems that are both in NP and NP-Hard.</a:t>
            </a:r>
          </a:p>
          <a:p>
            <a:r>
              <a:rPr lang="en-US" dirty="0" smtClean="0"/>
              <a:t>   Hardest problems in NP.</a:t>
            </a:r>
          </a:p>
          <a:p>
            <a:r>
              <a:rPr lang="en-US" dirty="0" smtClean="0"/>
              <a:t>   Example: Hamiltonian Cycle (HC)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Relationship between NP and NPC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1. All NP-Complete problems are in NP. </a:t>
            </a:r>
          </a:p>
          <a:p>
            <a:r>
              <a:rPr lang="en-US" dirty="0" smtClean="0"/>
              <a:t>     Meaning: If someone gives a solution for an NPC problem, you can verify it quickly.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2. NPC problems are the “hardest” problems in NP. </a:t>
            </a:r>
          </a:p>
          <a:p>
            <a:r>
              <a:rPr lang="en-US" dirty="0" smtClean="0"/>
              <a:t>     If you could solve any NPC problem efficiently, you could solve all NP problems efficiently.</a:t>
            </a:r>
          </a:p>
          <a:p>
            <a:endParaRPr lang="en-US" dirty="0" smtClean="0"/>
          </a:p>
          <a:p>
            <a:r>
              <a:rPr lang="en-US" b="1" dirty="0" smtClean="0"/>
              <a:t>3. Not all NP problems are NPC. </a:t>
            </a:r>
          </a:p>
          <a:p>
            <a:r>
              <a:rPr lang="en-US" dirty="0" smtClean="0"/>
              <a:t>     Some NP problems are easy (polynomial-time solvable) → not NP-Hard → not NP-Complete.</a:t>
            </a:r>
          </a:p>
          <a:p>
            <a:r>
              <a:rPr lang="en-US" dirty="0" smtClean="0"/>
              <a:t>    Example: Sorting a list, finding shortest path.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Relationship between NP and NPC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 NPC ⊆ NP</a:t>
            </a:r>
          </a:p>
          <a:p>
            <a:r>
              <a:rPr lang="en-US" dirty="0" smtClean="0"/>
              <a:t> Everything in NPC is in NP, but not everything in NP is NPC.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Every NP problem is NP hard?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No, not every NP problem is NP-Hard. 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NP = all puzzles you can check quickly if someone gives the solution.</a:t>
            </a:r>
          </a:p>
          <a:p>
            <a:r>
              <a:rPr lang="en-US" dirty="0" smtClean="0"/>
              <a:t> NP-Hard = the super hard puzzles, at least as hard as any NP puzzle.</a:t>
            </a:r>
          </a:p>
          <a:p>
            <a:r>
              <a:rPr lang="en-US" dirty="0" smtClean="0"/>
              <a:t> Not all puzzles in NP are super hard 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u="sng" dirty="0" smtClean="0"/>
              <a:t>Difference between NP-Hard and NP-Complete</a:t>
            </a:r>
            <a:r>
              <a:rPr lang="en-US" sz="2800" dirty="0" smtClean="0"/>
              <a:t>:</a:t>
            </a:r>
            <a:endParaRPr 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609600"/>
          <a:ext cx="8382000" cy="591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/>
                <a:gridCol w="4191000"/>
              </a:tblGrid>
              <a:tr h="487444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NP-hard</a:t>
                      </a: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NP-Complete</a:t>
                      </a:r>
                    </a:p>
                  </a:txBody>
                  <a:tcPr marL="95250" marR="95250" marT="95250" marB="95250" anchor="ctr"/>
                </a:tc>
              </a:tr>
              <a:tr h="15157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Polynomial time verification by a deterministic machine is not 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necessary</a:t>
                      </a:r>
                      <a:r>
                        <a:rPr lang="en-US" sz="2400" b="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(</a:t>
                      </a:r>
                      <a:r>
                        <a:rPr lang="en-US" sz="2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</a:t>
                      </a:r>
                      <a:r>
                        <a:rPr lang="en-US" sz="2400" b="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may not be </a:t>
                      </a:r>
                      <a:r>
                        <a:rPr lang="en-US" sz="2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possible to </a:t>
                      </a:r>
                      <a:r>
                        <a:rPr lang="en-US" sz="2400" b="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 sol. </a:t>
                      </a:r>
                      <a:r>
                        <a:rPr lang="en-US" sz="2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quickly  )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be verified in Polynomial time by a deterministic machine.</a:t>
                      </a:r>
                    </a:p>
                  </a:txBody>
                  <a:tcPr marL="95250" marR="95250" marT="133350" marB="133350" anchor="ctr"/>
                </a:tc>
              </a:tr>
              <a:tr h="8747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dirty="0"/>
                        <a:t>NP-hard is not a decision problem.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/>
                        <a:t>NP-Complete is exclusively a decision problem.</a:t>
                      </a:r>
                    </a:p>
                  </a:txBody>
                  <a:tcPr marL="95250" marR="95250" marT="133350" marB="133350" anchor="ctr"/>
                </a:tc>
              </a:tr>
              <a:tr h="8747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dirty="0"/>
                        <a:t>Not all NP-hard problems are NP-complete.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dirty="0"/>
                        <a:t>All NP-complete problems are NP-hard</a:t>
                      </a:r>
                    </a:p>
                  </a:txBody>
                  <a:tcPr marL="95250" marR="95250" marT="133350" marB="133350" anchor="ctr"/>
                </a:tc>
              </a:tr>
              <a:tr h="554218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 dirty="0"/>
                        <a:t>Need not to be a NP problem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 dirty="0"/>
                        <a:t>Must be NP</a:t>
                      </a:r>
                    </a:p>
                  </a:txBody>
                  <a:tcPr marL="95250" marR="95250" marT="133350" marB="133350" anchor="ctr"/>
                </a:tc>
              </a:tr>
              <a:tr h="8747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dirty="0"/>
                        <a:t>Example: Halting </a:t>
                      </a:r>
                      <a:r>
                        <a:rPr lang="en-US" sz="2400" b="0" dirty="0" smtClean="0"/>
                        <a:t>problem, TSP optimization </a:t>
                      </a:r>
                      <a:r>
                        <a:rPr lang="en-US" sz="2400" b="0" dirty="0"/>
                        <a:t>etc.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dirty="0" smtClean="0"/>
                        <a:t>Example: HC, subset sum</a:t>
                      </a:r>
                      <a:endParaRPr lang="en-US" sz="2400" b="0" dirty="0"/>
                    </a:p>
                  </a:txBody>
                  <a:tcPr marL="95250" marR="95250" marT="133350" marB="13335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1086</Words>
  <Application>Microsoft Office PowerPoint</Application>
  <PresentationFormat>On-screen Show (4:3)</PresentationFormat>
  <Paragraphs>257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Unit 6</vt:lpstr>
      <vt:lpstr>Complexity classes and Randomized algorithms </vt:lpstr>
      <vt:lpstr>Slide 3</vt:lpstr>
      <vt:lpstr>Slide 4</vt:lpstr>
      <vt:lpstr>Types of Complexity Classes</vt:lpstr>
      <vt:lpstr>P Class </vt:lpstr>
      <vt:lpstr>Features:</vt:lpstr>
      <vt:lpstr>Examples: </vt:lpstr>
      <vt:lpstr>Examples: </vt:lpstr>
      <vt:lpstr>Features:</vt:lpstr>
      <vt:lpstr>NP CLASS</vt:lpstr>
      <vt:lpstr>NP Class </vt:lpstr>
      <vt:lpstr>NP Class</vt:lpstr>
      <vt:lpstr>NP Class</vt:lpstr>
      <vt:lpstr>Deterministic vs. Non-Deterministic </vt:lpstr>
      <vt:lpstr>Deterministic vs. Non-Deterministic </vt:lpstr>
      <vt:lpstr>Real-life Examples of NP Problems</vt:lpstr>
      <vt:lpstr>Real-life Examples of NP Problems</vt:lpstr>
      <vt:lpstr>Real-life Examples of NP Problems</vt:lpstr>
      <vt:lpstr>P And NP Summary </vt:lpstr>
      <vt:lpstr>NP HARD</vt:lpstr>
      <vt:lpstr>NP HARD</vt:lpstr>
      <vt:lpstr>NP HARD</vt:lpstr>
      <vt:lpstr>NP HARD</vt:lpstr>
      <vt:lpstr>NP HARD</vt:lpstr>
      <vt:lpstr>Slide 26</vt:lpstr>
      <vt:lpstr>Slide 27</vt:lpstr>
      <vt:lpstr>NP-complete class</vt:lpstr>
      <vt:lpstr>NP-complete class</vt:lpstr>
      <vt:lpstr>NP-complete class</vt:lpstr>
      <vt:lpstr>NP-Complete (NPC)</vt:lpstr>
      <vt:lpstr>NP-Complete (NPC)</vt:lpstr>
      <vt:lpstr>NP-Complete (NPC)</vt:lpstr>
      <vt:lpstr>Example for NP-Complete (NPC)</vt:lpstr>
      <vt:lpstr>Example for NP-Complete (NPC)</vt:lpstr>
      <vt:lpstr>Example for NP-Complete (NPC)</vt:lpstr>
      <vt:lpstr>Relation between P,NP,NPC,NPH</vt:lpstr>
      <vt:lpstr>Slide 38</vt:lpstr>
      <vt:lpstr>Relationship between P and NP </vt:lpstr>
      <vt:lpstr>Relationship between NP and NPC </vt:lpstr>
      <vt:lpstr>Relationship between NP and NPC </vt:lpstr>
      <vt:lpstr>Relationship between NP and NPC </vt:lpstr>
      <vt:lpstr>Every NP problem is NP hard?</vt:lpstr>
      <vt:lpstr>Difference between NP-Hard and NP-Complete: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</dc:title>
  <dc:creator>Rahul Dange</dc:creator>
  <cp:lastModifiedBy>Rahul Dange</cp:lastModifiedBy>
  <cp:revision>65</cp:revision>
  <dcterms:created xsi:type="dcterms:W3CDTF">2025-09-04T18:08:03Z</dcterms:created>
  <dcterms:modified xsi:type="dcterms:W3CDTF">2025-09-11T04:24:17Z</dcterms:modified>
</cp:coreProperties>
</file>